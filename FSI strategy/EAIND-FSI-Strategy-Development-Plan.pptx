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FOR THE TEAM — do not put on the slide.
The portfolio is EAIND: Engineering, AI and Data. It is a consulting portfolio — think technology advisory and delivery. We design, advise on and implement end-to-end technology transformation for the financial services industry, primarily banking.
Three pillars:
1. Industry Solutions — core-led transformation: core modernisation, core banking and other core packages. Also full systems-integration capability: we can take the SI role and own the end-to-end setup, including design governance, functional governance, delivery management and individual stream management, to stand up a greenfield bank or modernise an incumbent.
2. Data and AI — enterprise AI, core AI, AI use-case activation, and standard data work: data platforms, warehouses, ETL, reporting, all for banking.
3. Engineering and Cloud — cloud advisory and implementation, plus custom engineered solutions: integration management, microservices, API gateways, and bespoke core engineering. Less common in banking; likeliest in investments and wealth.
This deck is the plan for developing the FSI strategy, not the strategy. Target: strategy finalised within three weeks.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pack in two halves. Sections 1 to 5 are the method: what this document is, the questions, the principles, the approach and the workstreams. Sections 6 to 8 are the dimensions that were called out as needing their own treatment — talent, eminence and alliances. Sections 9 and 10 are the plan and the governance.
If time is short, the three slides that carry the decision are: the eight questions, the five-step approach, and how we run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given: this pack carries no answers. We know things already — focus markets, likely accounts — but none of it belongs here. Everything is a blank to be filled through the cycle, so reviewers engage with the method first and do not anchor on half-formed conclusions.
Still open before we finalise this pack:
- Audience: leadership approval pack, or team working document?
- What "partner" means where we say account ownership: our own consulting partners (the people who carry accounts) versus alliance and vendor partners. Both matter; they are different lists.
- Start date for the three-week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is loosely a strategy cascade (where to play, how to play), extended for a consulting portfolio with commercial, coverage, talent and eminence dimensions.
Context we already hold, to be validated rather than assumed during the cycle:
- Primary markets: Saudi Arabia, UAE, Qatar.
- Secondary markets: Kuwait, Oman, Jordan — where we focus our key relationships.
- The output must go further than markets: a specific, named target account list, with account mapping — who covers whom.
- Offerings must be expressed as products and services with a buyer attached: who buys this, and what do they typically pay.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hard rule from the portfolio: no siloed solutions. Our primary go-to-market catalogue is integrated propositions across the three pillars. Even where we sell a focused solution — enterprise AI, for example — it is sold as an entry point into an integrated play, and the catalogue is built that way. Flavours and partial offerings are permitted as variants of an integrated proposition, not as the default.
Delivery model: we expect to inherit the standard firm delivery model rather than invent one. The work here is to confirm it and note where FSI-specific governance (design authority, functional governance, stream management on large SI programmes) needs to be explicit.
Confirm all five principles at kick-off; they bound every later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steps are the process view; the workstream and calendar views that follow are the same journey cut by owner and by week.
Note on Quantify: pricing will not reduce to a single number per offering. Core banking modernisation and migration varies by retail, corporate or SME scope; by single-country versus multi-country; and by whether full data migration is in scope. So the artefact is price bands and deal-size ranges with the drivers named, not a price list. Same logic for AI and data platform work, and for cloud and integration engagements.
Baseline also covers people: who we have today, dedicated and shared.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Artefact templates are blank at this stage and are populated during the cycle.
Notes per workstream:
- WS1 Proposition and catalogue: integrated propositions first, permitted variants second. Must cover all three pillars and the cross-pillar plays.
- WS2 Market and account targeting: markets are broadly known (primary: Saudi, UAE, Qatar; secondary: Kuwait, Oman, Jordan). The real output is the named account list and the segment logic behind it.
- WS3 Commercial sizing and pricing: size of each product, who buys it, and the typical price the market pays — with the variation drivers spelled out (retail/corporate/SME, single/multi-country, data migration in or out of scope).
- WS4 Coverage and ownership: two distinct mappings — our partners to accounts (who owns the relationship) and alliance partners to accounts (who we go to market with, and what they drive).
- WS5 Delivery model and readiness: largely inherited; confirm and note gaps.
- WS6 Team and talent: see the talent slide.
- WS7 Eminence and positioning: see the eminence slide.
- WS8 Alliances: see the alliances slide. Primary alliances today are Oracle, Google and Amazon; specialised alliances are Temenos and Intellect.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Costing and delivery model are treated as one topic because they determine each other: the price the market will pay only becomes a business if the delivery construct behind it produces the blended ADR and the gross margin we want.
The chain to work through, per offering: target price band, then the delivery construct it assumes (the split across onshore, nearshore and offshore or global delivery centres), then the blended average daily rate that construct implies, then the gross margin that falls out. If the margin is short, one of the first three has to change — usually the construct.
Nuance to carry: this varies sharply by offering. A core banking modernisation with heavy onshore functional and governance presence looks nothing like an AI use-case activation or an integration build that can run largely offshore. Regulatory and data-residency rules in Saudi and the UAE constrain what can leave the country, and some clients contractually require onshore staffing — both drive the construct before commercial preference does.
The delivery model itself is largely inherited from the firm; what we are setting here is the construct and the economics per offering, plus the margin floor and the approval route when a deal prices below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was called out as an important dimension in its own right.
Three things to establish:
1. The dedicated team — who in the portfolio works on FSI exclusively, across Industry Solutions, Data and AI, and Engineering and Cloud. Roles, levels, and what we can credibly deliver with them alone.
2. Generic and shared capacity — who we can draw on from the wider portfolio and firm, how much of their time we can actually count on, and which skills we borrow rather than own.
3. The recruitment gap — what remains once dedicated and shared capacity is counted, expressed by level: partners, directors, and other delivery staff. Then build, borrow or buy, and by when.
The link to the rest of the strategy is direct: a revenue target we cannot staff is not a target. Capacity is sized against the targets set in the commercial workstream.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Raised as a distinct part of the plan: how we enhance our positioning in the market, specifically in FSI, around what we do.
Channels mentioned: workshops, seminars, podcasts, articles, and participation in key industry events — Money20/20 was named as an example of the class of event we should consider. The plan should decide which of these are relevant to us rather than assume all of them.
For each channel the plan answers: do we commit, how often, who fronts it, which accounts or markets it targets, and how we measure return — inbound enquiries, meetings created, inclusion on shortlists and RFP invitations.
Worth linking eminence to the account list: eminence activity should point at the accounts and markets the strategy has prioritised, not at general brand awareness.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Alliances were called out as important in implementation and technology work.
Current alliances named: Oracle, Google and Amazon as the primary ones; Temenos and Intellect as specialised, banking-platform alliances. They are on the slide as current state, not as a conclusion — what we do with each is the open question.
The work is to decide, per alliance: what we leverage it for, which of our integrated propositions it sits behind, what kind of relationship it is (co-sell, resell, delivery, referral), which markets and accounts it opens, and what it demands from us in certifications, trained staff and pipeline commitments.
Two links to the rest of the strategy: the alliance map must reconcile with the account coverage map (an alliance that opens an account should show up against that account), and with the talent plan (certifications and accredited staff are a recruitment and training cost).
If other alliances belong here — hyperscaler or platform vendors we do not yet work with, or regional players — the cycle is where we add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weeks is the timebox given: the strategy should be finalised in no more than about three weeks. The constraint is deliberate — it forces decisions rather than analysis.
Each week ends at a gate, and a gate is a decision taken, not a document circulated. If a gate cannot be closed, we escalate at the checkpoint rather than let the week slip.
Start date to be set at kick-off.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Added because a strategy that is signed off and then unmanaged reverts to whatever the pipeline happens to offer. This is the management-system layer: the rhythm, the measures and the decision rights that keep the choices alive.
Three loops, deliberately different in purpose: weekly is deal-level and run by the account owners; monthly is coverage and progress against target, including talent and alliance commitments; quarterly re-tests the choices themselves — markets, accounts, propositions — rather than just the numbers.
The scorecard is designed so that the strategy's own principles are measurable. The mix KPI is the important one: if the share of revenue from integrated propositions does not move, we are back to selling in silos whatever the catalogue says.
Still to set at sign-off: who chairs each forum, what decisions each can take without escalation, and where the strategy log lives so it stays current rather than being rebuilt each quarter.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two asks: confirm the principles, and nominate the workstream owners.
Inputs are the long pole — pipeline, revenue by pillar and market, existing relationships, alliance status, delivery capacity and historical deal values all sit with different people. Chase them in the first 48 hours or week 1 slips.
Decisions requested at sign-off: priority markets and segments, the target account list, revenue and margin targets, account ownership, and the investment and hiring asks coming out of the talent and eminence workstreams.
Open items to resolve at kick-off: audience for this pack, the definition of partner for account ownership, and the start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appendix is the strategy log: the templates we fill in as the cycle runs. Each one maps to a workstream artefact, so at sign-off the completed appendix is the strategy itself, not a separate write-up.
Keep them as living tables — one file, versioned, updated at each weekly checkpoint rather than rebuilt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 one row per market under consideration, including the ones we decide against — the rejected rows are as useful as the accepted ones when this is revisited.
Context: Saudi Arabia, UAE and Qatar are the expected primary markets; Kuwait, Oman and Jordan the secondary set where our key relationships sit. Both to be confirmed against evidence in week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artefact of the whole exercise — the named account list with account mapping.
Rules: one owner per account, never two. The propositions column names what we lead with, not everything we could sell. The alliance column links to the alliance map, so we can see which accounts a partner opens.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principle bites hardest here: the catalogue is integrated propositions across Industry Solutions, Data and AI, and Engineering and Cloud. Focused offers such as enterprise AI are recorded as permitted variants of an integrated proposition and sold as entry points.
Buyer means the actual role that signs: COO, CIO, head of retail banking, chief data officer, and so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Pricing will not reduce to one number per offering. For core banking modernisation and migration the drivers include retail versus corporate versus SME scope, single-country versus multi-country, and whether full data migration is in scope. Record the drivers alongside the band so the number can be reconstructed.
Same discipline for data platform work, AI activation, and cloud and integration engagements.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integrated column is deliberate: if most revenue sits in single-pillar columns, the strategy has not been followed.
Reconcile every target against the talent template before sign-off. A number we cannot staff is not a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different mappings live side by side here: our own consulting partners, who own the client relationship, and the alliance or vendor partner we go to market with on that account.
Cadence keeps this honest — an owner with no contact rhythm is a name on a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numbers per row: who is ours exclusively, what we can draw on from the wider portfolio, and what is missing once both are counted.
The gap is expressed by level — partners, directors, managers, specialists — because that is how recruitment is approved. Each gap then gets a route (build from within, borrow from another portfolio, or hire) and a date tied to the targets it supports.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Channels in scope: published views and articles, conference stages and flagship FSI events, executive workshops, seminars and roundtables, podcasts and webinars, and joint activity with alliance partners.
Measurement should be concrete: inbound enquiries, meetings created, shortlist and RFP invitations — not impressions.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bridge between what the market pays and what we keep. One row per offering, because the construct differs sharply between a core banking programme, a data platform build and an AI activation.
Price basis: fixed price, time and materials, outcome-based or a managed service — it changes how margin is earned and where the risk sits.
Keep the onshore split honest. Regulatory and data-residency requirements in Saudi and the UAE, and client contractual terms, often set the floor for onshore presence before commercial preference does.
Record both the target gross margin and the floor, and note the approval route for anything below it. A margin floor that nobody enforces is not a floor.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scorecard behind the operating rhythm. Keep it short — six to eight measures — so the review stays a decision meeting rather than a reporting one.
The measure to fight for is the mix: share of revenue coming from integrated propositions. It is the only number that tells us whether the integrated-not-siloed principle survived contact with the 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from the alliances we already hold: Oracle, Google and Amazon as primary; Temenos and Intellect as specialised banking-platform alliances. Add any others the cycle identifies.
The last column matters as much as the rest — certifications, accredited staff and pipeline commitments are a cost that lands in the talent plan and the budget.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8503920" y="-1645920"/>
            <a:ext cx="6035040" cy="6035040"/>
          </a:xfrm>
          <a:prstGeom prst="ellipse">
            <a:avLst/>
          </a:prstGeom>
          <a:solidFill>
            <a:srgbClr val="3E5C8A">
              <a:alpha val="55000"/>
            </a:srgbClr>
          </a:solidFill>
          <a:ln/>
        </p:spPr>
      </p:sp>
      <p:sp>
        <p:nvSpPr>
          <p:cNvPr id="3" name="Shape 1"/>
          <p:cNvSpPr/>
          <p:nvPr/>
        </p:nvSpPr>
        <p:spPr>
          <a:xfrm>
            <a:off x="10058400" y="3566160"/>
            <a:ext cx="3291840" cy="3291840"/>
          </a:xfrm>
          <a:prstGeom prst="ellipse">
            <a:avLst/>
          </a:prstGeom>
          <a:solidFill>
            <a:srgbClr val="CADCFC">
              <a:alpha val="20000"/>
            </a:srgbClr>
          </a:solidFill>
          <a:ln/>
        </p:spPr>
      </p:sp>
      <p:sp>
        <p:nvSpPr>
          <p:cNvPr id="4" name="Text 2"/>
          <p:cNvSpPr txBox="1"/>
          <p:nvPr/>
        </p:nvSpPr>
        <p:spPr>
          <a:xfrm>
            <a:off x="822960" y="1737360"/>
            <a:ext cx="8229600" cy="411480"/>
          </a:xfrm>
          <a:prstGeom prst="rect">
            <a:avLst/>
          </a:prstGeom>
          <a:noFill/>
          <a:ln/>
        </p:spPr>
        <p:txBody>
          <a:bodyPr wrap="square" lIns="0" tIns="0" rIns="0" bIns="0" rtlCol="0" anchor="ctr"/>
          <a:lstStyle/>
          <a:p>
            <a:pPr indent="0" marL="0">
              <a:buNone/>
            </a:pPr>
            <a:r>
              <a:rPr lang="en-US" sz="1600" spc="200" kern="0" dirty="0">
                <a:solidFill>
                  <a:srgbClr val="CADCFC"/>
                </a:solidFill>
                <a:latin typeface="Calibri" pitchFamily="34" charset="0"/>
                <a:ea typeface="Calibri" pitchFamily="34" charset="-122"/>
                <a:cs typeface="Calibri" pitchFamily="34" charset="-120"/>
              </a:rPr>
              <a:t>Engineering, AI and Data</a:t>
            </a:r>
            <a:endParaRPr lang="en-US" sz="1600" dirty="0"/>
          </a:p>
        </p:txBody>
      </p:sp>
      <p:sp>
        <p:nvSpPr>
          <p:cNvPr id="5" name="Text 3"/>
          <p:cNvSpPr txBox="1"/>
          <p:nvPr/>
        </p:nvSpPr>
        <p:spPr>
          <a:xfrm>
            <a:off x="804672" y="2240280"/>
            <a:ext cx="8229600" cy="1828800"/>
          </a:xfrm>
          <a:prstGeom prst="rect">
            <a:avLst/>
          </a:prstGeom>
          <a:noFill/>
          <a:ln/>
        </p:spPr>
        <p:txBody>
          <a:bodyPr wrap="square" lIns="0" tIns="0" rIns="0" bIns="0" rtlCol="0" anchor="ctr"/>
          <a:lstStyle/>
          <a:p>
            <a:pPr indent="0" marL="0">
              <a:lnSpc>
                <a:spcPts val="5200"/>
              </a:lnSpc>
              <a:buNone/>
            </a:pPr>
            <a:r>
              <a:rPr lang="en-US" sz="4800" b="1" dirty="0">
                <a:solidFill>
                  <a:srgbClr val="FFFFFF"/>
                </a:solidFill>
                <a:latin typeface="Cambria" pitchFamily="34" charset="0"/>
                <a:ea typeface="Cambria" pitchFamily="34" charset="-122"/>
                <a:cs typeface="Cambria" pitchFamily="34" charset="-120"/>
              </a:rPr>
              <a:t>FSI Strategy</a:t>
            </a:r>
            <a:endParaRPr lang="en-US" sz="4800" dirty="0"/>
          </a:p>
          <a:p>
            <a:pPr indent="0" marL="0">
              <a:lnSpc>
                <a:spcPts val="5200"/>
              </a:lnSpc>
              <a:buNone/>
            </a:pPr>
            <a:r>
              <a:rPr lang="en-US" sz="4800" b="1" dirty="0">
                <a:solidFill>
                  <a:srgbClr val="FFFFFF"/>
                </a:solidFill>
                <a:latin typeface="Cambria" pitchFamily="34" charset="0"/>
                <a:ea typeface="Cambria" pitchFamily="34" charset="-122"/>
                <a:cs typeface="Cambria" pitchFamily="34" charset="-120"/>
              </a:rPr>
              <a:t>Development Plan</a:t>
            </a:r>
            <a:endParaRPr lang="en-US" sz="4800" dirty="0"/>
          </a:p>
        </p:txBody>
      </p:sp>
      <p:sp>
        <p:nvSpPr>
          <p:cNvPr id="6" name="Text 4"/>
          <p:cNvSpPr txBox="1"/>
          <p:nvPr/>
        </p:nvSpPr>
        <p:spPr>
          <a:xfrm>
            <a:off x="850392" y="4160520"/>
            <a:ext cx="7863840" cy="548640"/>
          </a:xfrm>
          <a:prstGeom prst="rect">
            <a:avLst/>
          </a:prstGeom>
          <a:noFill/>
          <a:ln/>
        </p:spPr>
        <p:txBody>
          <a:bodyPr wrap="square" lIns="0" tIns="0" rIns="0" bIns="0" rtlCol="0" anchor="ctr"/>
          <a:lstStyle/>
          <a:p>
            <a:pPr indent="0" marL="0">
              <a:buNone/>
            </a:pPr>
            <a:r>
              <a:rPr lang="en-US" sz="1500" i="1" dirty="0">
                <a:solidFill>
                  <a:srgbClr val="CADCFC"/>
                </a:solidFill>
                <a:latin typeface="Calibri" pitchFamily="34" charset="0"/>
                <a:ea typeface="Calibri" pitchFamily="34" charset="-122"/>
                <a:cs typeface="Calibri" pitchFamily="34" charset="-120"/>
              </a:rPr>
              <a:t>The journey to a defined go-to-market and activation strategy for financial services</a:t>
            </a:r>
            <a:endParaRPr lang="en-US" sz="1500" dirty="0"/>
          </a:p>
        </p:txBody>
      </p:sp>
      <p:sp>
        <p:nvSpPr>
          <p:cNvPr id="7" name="Text 5"/>
          <p:cNvSpPr txBox="1"/>
          <p:nvPr/>
        </p:nvSpPr>
        <p:spPr>
          <a:xfrm>
            <a:off x="850392" y="5806440"/>
            <a:ext cx="7315200" cy="365760"/>
          </a:xfrm>
          <a:prstGeom prst="rect">
            <a:avLst/>
          </a:prstGeom>
          <a:noFill/>
          <a:ln/>
        </p:spPr>
        <p:txBody>
          <a:bodyPr wrap="square" lIns="0" tIns="0" rIns="0" bIns="0" rtlCol="0" anchor="ctr"/>
          <a:lstStyle/>
          <a:p>
            <a:pPr indent="0" marL="0">
              <a:buNone/>
            </a:pPr>
            <a:r>
              <a:rPr lang="en-US" sz="1200" dirty="0">
                <a:solidFill>
                  <a:srgbClr val="9AA7C4"/>
                </a:solidFill>
                <a:latin typeface="Calibri" pitchFamily="34" charset="0"/>
                <a:ea typeface="Calibri" pitchFamily="34" charset="-122"/>
                <a:cs typeface="Calibri" pitchFamily="34" charset="-120"/>
              </a:rPr>
              <a:t>Framework only — content to be developed over a three-week cycle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685800"/>
          </a:xfrm>
          <a:prstGeom prst="rect">
            <a:avLst/>
          </a:prstGeom>
          <a:noFill/>
          <a:ln/>
        </p:spPr>
        <p:txBody>
          <a:bodyPr wrap="square" lIns="0" tIns="0" rIns="0" bIns="0" rtlCol="0" anchor="ctr"/>
          <a:lstStyle/>
          <a:p>
            <a:pPr indent="0" marL="0">
              <a:buNone/>
            </a:pPr>
            <a:r>
              <a:rPr lang="en-US" sz="3600" b="1" dirty="0">
                <a:solidFill>
                  <a:srgbClr val="16203A"/>
                </a:solidFill>
                <a:latin typeface="Cambria" pitchFamily="34" charset="0"/>
                <a:ea typeface="Cambria" pitchFamily="34" charset="-122"/>
                <a:cs typeface="Cambria" pitchFamily="34" charset="-120"/>
              </a:rPr>
              <a:t>What is in this pack</a:t>
            </a:r>
            <a:endParaRPr lang="en-US" sz="3600" dirty="0"/>
          </a:p>
        </p:txBody>
      </p:sp>
      <p:sp>
        <p:nvSpPr>
          <p:cNvPr id="3" name="Text 1"/>
          <p:cNvSpPr txBox="1"/>
          <p:nvPr/>
        </p:nvSpPr>
        <p:spPr>
          <a:xfrm>
            <a:off x="640080" y="1133856"/>
            <a:ext cx="10881360" cy="411480"/>
          </a:xfrm>
          <a:prstGeom prst="rect">
            <a:avLst/>
          </a:prstGeom>
          <a:noFill/>
          <a:ln/>
        </p:spPr>
        <p:txBody>
          <a:bodyPr wrap="square" lIns="0" tIns="0" rIns="0" bIns="0" rtlCol="0" anchor="ctr"/>
          <a:lstStyle/>
          <a:p>
            <a:pPr indent="0" marL="0">
              <a:buNone/>
            </a:pPr>
            <a:r>
              <a:rPr lang="en-US" sz="1450" dirty="0">
                <a:solidFill>
                  <a:srgbClr val="8792AB"/>
                </a:solidFill>
                <a:latin typeface="Calibri" pitchFamily="34" charset="0"/>
                <a:ea typeface="Calibri" pitchFamily="34" charset="-122"/>
                <a:cs typeface="Calibri" pitchFamily="34" charset="-120"/>
              </a:rPr>
              <a:t>Twelve sections, plus an appendix of blank templates.</a:t>
            </a:r>
            <a:endParaRPr lang="en-US" sz="1450" dirty="0"/>
          </a:p>
        </p:txBody>
      </p:sp>
      <p:sp>
        <p:nvSpPr>
          <p:cNvPr id="4" name="Shape 2"/>
          <p:cNvSpPr/>
          <p:nvPr/>
        </p:nvSpPr>
        <p:spPr>
          <a:xfrm>
            <a:off x="640080" y="1783080"/>
            <a:ext cx="5257800" cy="621792"/>
          </a:xfrm>
          <a:prstGeom prst="roundRect">
            <a:avLst>
              <a:gd name="adj" fmla="val 11765"/>
            </a:avLst>
          </a:prstGeom>
          <a:solidFill>
            <a:srgbClr val="F2F6FC"/>
          </a:solidFill>
          <a:ln/>
        </p:spPr>
      </p:sp>
      <p:sp>
        <p:nvSpPr>
          <p:cNvPr id="5" name="Shape 3"/>
          <p:cNvSpPr/>
          <p:nvPr/>
        </p:nvSpPr>
        <p:spPr>
          <a:xfrm>
            <a:off x="841248" y="1892808"/>
            <a:ext cx="384048" cy="384048"/>
          </a:xfrm>
          <a:prstGeom prst="ellipse">
            <a:avLst/>
          </a:prstGeom>
          <a:solidFill>
            <a:srgbClr val="1E2761"/>
          </a:solidFill>
          <a:ln/>
        </p:spPr>
      </p:sp>
      <p:sp>
        <p:nvSpPr>
          <p:cNvPr id="6" name="Text 4"/>
          <p:cNvSpPr txBox="1"/>
          <p:nvPr/>
        </p:nvSpPr>
        <p:spPr>
          <a:xfrm>
            <a:off x="841248" y="189280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txBox="1"/>
          <p:nvPr/>
        </p:nvSpPr>
        <p:spPr>
          <a:xfrm>
            <a:off x="1417320" y="1828800"/>
            <a:ext cx="4297680" cy="310896"/>
          </a:xfrm>
          <a:prstGeom prst="rect">
            <a:avLst/>
          </a:prstGeom>
          <a:noFill/>
          <a:ln/>
        </p:spPr>
        <p:txBody>
          <a:bodyPr wrap="square" lIns="0" tIns="0" rIns="0" bIns="0" rtlCol="0" anchor="ctr"/>
          <a:lstStyle/>
          <a:p>
            <a:pPr indent="0" marL="0">
              <a:buNone/>
            </a:pPr>
            <a:r>
              <a:rPr lang="en-US" sz="1450" b="1" dirty="0">
                <a:solidFill>
                  <a:srgbClr val="16203A"/>
                </a:solidFill>
                <a:latin typeface="Calibri" pitchFamily="34" charset="0"/>
                <a:ea typeface="Calibri" pitchFamily="34" charset="-122"/>
                <a:cs typeface="Calibri" pitchFamily="34" charset="-120"/>
              </a:rPr>
              <a:t>What this document is</a:t>
            </a:r>
            <a:endParaRPr lang="en-US" sz="1450" dirty="0"/>
          </a:p>
        </p:txBody>
      </p:sp>
      <p:sp>
        <p:nvSpPr>
          <p:cNvPr id="8" name="Text 6"/>
          <p:cNvSpPr txBox="1"/>
          <p:nvPr/>
        </p:nvSpPr>
        <p:spPr>
          <a:xfrm>
            <a:off x="1417320" y="2112264"/>
            <a:ext cx="4297680" cy="274320"/>
          </a:xfrm>
          <a:prstGeom prst="rect">
            <a:avLst/>
          </a:prstGeom>
          <a:noFill/>
          <a:ln/>
        </p:spPr>
        <p:txBody>
          <a:bodyPr wrap="square" lIns="0" tIns="0" rIns="0" bIns="0" rtlCol="0" anchor="ctr"/>
          <a:lstStyle/>
          <a:p>
            <a:pPr indent="0" marL="0">
              <a:buNone/>
            </a:pPr>
            <a:r>
              <a:rPr lang="en-US" sz="1100" dirty="0">
                <a:solidFill>
                  <a:srgbClr val="8792AB"/>
                </a:solidFill>
                <a:latin typeface="Calibri" pitchFamily="34" charset="0"/>
                <a:ea typeface="Calibri" pitchFamily="34" charset="-122"/>
                <a:cs typeface="Calibri" pitchFamily="34" charset="-120"/>
              </a:rPr>
              <a:t>Method, not conclusion</a:t>
            </a:r>
            <a:endParaRPr lang="en-US" sz="1100" dirty="0"/>
          </a:p>
        </p:txBody>
      </p:sp>
      <p:sp>
        <p:nvSpPr>
          <p:cNvPr id="9" name="Shape 7"/>
          <p:cNvSpPr/>
          <p:nvPr/>
        </p:nvSpPr>
        <p:spPr>
          <a:xfrm>
            <a:off x="6263640" y="1783080"/>
            <a:ext cx="5257800" cy="621792"/>
          </a:xfrm>
          <a:prstGeom prst="roundRect">
            <a:avLst>
              <a:gd name="adj" fmla="val 11765"/>
            </a:avLst>
          </a:prstGeom>
          <a:solidFill>
            <a:srgbClr val="EDF2FA"/>
          </a:solidFill>
          <a:ln/>
        </p:spPr>
      </p:sp>
      <p:sp>
        <p:nvSpPr>
          <p:cNvPr id="10" name="Shape 8"/>
          <p:cNvSpPr/>
          <p:nvPr/>
        </p:nvSpPr>
        <p:spPr>
          <a:xfrm>
            <a:off x="6464808" y="1892808"/>
            <a:ext cx="384048" cy="384048"/>
          </a:xfrm>
          <a:prstGeom prst="ellipse">
            <a:avLst/>
          </a:prstGeom>
          <a:solidFill>
            <a:srgbClr val="3E5C8A"/>
          </a:solidFill>
          <a:ln/>
        </p:spPr>
      </p:sp>
      <p:sp>
        <p:nvSpPr>
          <p:cNvPr id="11" name="Text 9"/>
          <p:cNvSpPr txBox="1"/>
          <p:nvPr/>
        </p:nvSpPr>
        <p:spPr>
          <a:xfrm>
            <a:off x="6464808" y="189280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txBox="1"/>
          <p:nvPr/>
        </p:nvSpPr>
        <p:spPr>
          <a:xfrm>
            <a:off x="7040880" y="1828800"/>
            <a:ext cx="4297680" cy="310896"/>
          </a:xfrm>
          <a:prstGeom prst="rect">
            <a:avLst/>
          </a:prstGeom>
          <a:noFill/>
          <a:ln/>
        </p:spPr>
        <p:txBody>
          <a:bodyPr wrap="square" lIns="0" tIns="0" rIns="0" bIns="0" rtlCol="0" anchor="ctr"/>
          <a:lstStyle/>
          <a:p>
            <a:pPr indent="0" marL="0">
              <a:buNone/>
            </a:pPr>
            <a:r>
              <a:rPr lang="en-US" sz="1450" b="1" dirty="0">
                <a:solidFill>
                  <a:srgbClr val="16203A"/>
                </a:solidFill>
                <a:latin typeface="Calibri" pitchFamily="34" charset="0"/>
                <a:ea typeface="Calibri" pitchFamily="34" charset="-122"/>
                <a:cs typeface="Calibri" pitchFamily="34" charset="-120"/>
              </a:rPr>
              <a:t>Eleven questions, in five layers</a:t>
            </a:r>
            <a:endParaRPr lang="en-US" sz="1450" dirty="0"/>
          </a:p>
        </p:txBody>
      </p:sp>
      <p:sp>
        <p:nvSpPr>
          <p:cNvPr id="13" name="Text 11"/>
          <p:cNvSpPr txBox="1"/>
          <p:nvPr/>
        </p:nvSpPr>
        <p:spPr>
          <a:xfrm>
            <a:off x="7040880" y="2112264"/>
            <a:ext cx="4297680" cy="274320"/>
          </a:xfrm>
          <a:prstGeom prst="rect">
            <a:avLst/>
          </a:prstGeom>
          <a:noFill/>
          <a:ln/>
        </p:spPr>
        <p:txBody>
          <a:bodyPr wrap="square" lIns="0" tIns="0" rIns="0" bIns="0" rtlCol="0" anchor="ctr"/>
          <a:lstStyle/>
          <a:p>
            <a:pPr indent="0" marL="0">
              <a:buNone/>
            </a:pPr>
            <a:r>
              <a:rPr lang="en-US" sz="1100" dirty="0">
                <a:solidFill>
                  <a:srgbClr val="8792AB"/>
                </a:solidFill>
                <a:latin typeface="Calibri" pitchFamily="34" charset="0"/>
                <a:ea typeface="Calibri" pitchFamily="34" charset="-122"/>
                <a:cs typeface="Calibri" pitchFamily="34" charset="-120"/>
              </a:rPr>
              <a:t>Ambition, choices, commercial, enablers, execution</a:t>
            </a:r>
            <a:endParaRPr lang="en-US" sz="1100" dirty="0"/>
          </a:p>
        </p:txBody>
      </p:sp>
      <p:sp>
        <p:nvSpPr>
          <p:cNvPr id="14" name="Shape 12"/>
          <p:cNvSpPr/>
          <p:nvPr/>
        </p:nvSpPr>
        <p:spPr>
          <a:xfrm>
            <a:off x="640080" y="2514600"/>
            <a:ext cx="5257800" cy="621792"/>
          </a:xfrm>
          <a:prstGeom prst="roundRect">
            <a:avLst>
              <a:gd name="adj" fmla="val 11765"/>
            </a:avLst>
          </a:prstGeom>
          <a:solidFill>
            <a:srgbClr val="F2F6FC"/>
          </a:solidFill>
          <a:ln/>
        </p:spPr>
      </p:sp>
      <p:sp>
        <p:nvSpPr>
          <p:cNvPr id="15" name="Shape 13"/>
          <p:cNvSpPr/>
          <p:nvPr/>
        </p:nvSpPr>
        <p:spPr>
          <a:xfrm>
            <a:off x="841248" y="2624328"/>
            <a:ext cx="384048" cy="384048"/>
          </a:xfrm>
          <a:prstGeom prst="ellipse">
            <a:avLst/>
          </a:prstGeom>
          <a:solidFill>
            <a:srgbClr val="1E2761"/>
          </a:solidFill>
          <a:ln/>
        </p:spPr>
      </p:sp>
      <p:sp>
        <p:nvSpPr>
          <p:cNvPr id="16" name="Text 14"/>
          <p:cNvSpPr txBox="1"/>
          <p:nvPr/>
        </p:nvSpPr>
        <p:spPr>
          <a:xfrm>
            <a:off x="841248" y="262432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txBox="1"/>
          <p:nvPr/>
        </p:nvSpPr>
        <p:spPr>
          <a:xfrm>
            <a:off x="1417320" y="2560320"/>
            <a:ext cx="4297680" cy="310896"/>
          </a:xfrm>
          <a:prstGeom prst="rect">
            <a:avLst/>
          </a:prstGeom>
          <a:noFill/>
          <a:ln/>
        </p:spPr>
        <p:txBody>
          <a:bodyPr wrap="square" lIns="0" tIns="0" rIns="0" bIns="0" rtlCol="0" anchor="ctr"/>
          <a:lstStyle/>
          <a:p>
            <a:pPr indent="0" marL="0">
              <a:buNone/>
            </a:pPr>
            <a:r>
              <a:rPr lang="en-US" sz="1450" b="1" dirty="0">
                <a:solidFill>
                  <a:srgbClr val="16203A"/>
                </a:solidFill>
                <a:latin typeface="Calibri" pitchFamily="34" charset="0"/>
                <a:ea typeface="Calibri" pitchFamily="34" charset="-122"/>
                <a:cs typeface="Calibri" pitchFamily="34" charset="-120"/>
              </a:rPr>
              <a:t>Principles we hold going in</a:t>
            </a:r>
            <a:endParaRPr lang="en-US" sz="1450" dirty="0"/>
          </a:p>
        </p:txBody>
      </p:sp>
      <p:sp>
        <p:nvSpPr>
          <p:cNvPr id="18" name="Text 16"/>
          <p:cNvSpPr txBox="1"/>
          <p:nvPr/>
        </p:nvSpPr>
        <p:spPr>
          <a:xfrm>
            <a:off x="1417320" y="2843784"/>
            <a:ext cx="4297680" cy="274320"/>
          </a:xfrm>
          <a:prstGeom prst="rect">
            <a:avLst/>
          </a:prstGeom>
          <a:noFill/>
          <a:ln/>
        </p:spPr>
        <p:txBody>
          <a:bodyPr wrap="square" lIns="0" tIns="0" rIns="0" bIns="0" rtlCol="0" anchor="ctr"/>
          <a:lstStyle/>
          <a:p>
            <a:pPr indent="0" marL="0">
              <a:buNone/>
            </a:pPr>
            <a:r>
              <a:rPr lang="en-US" sz="1100" dirty="0">
                <a:solidFill>
                  <a:srgbClr val="8792AB"/>
                </a:solidFill>
                <a:latin typeface="Calibri" pitchFamily="34" charset="0"/>
                <a:ea typeface="Calibri" pitchFamily="34" charset="-122"/>
                <a:cs typeface="Calibri" pitchFamily="34" charset="-120"/>
              </a:rPr>
              <a:t>Constraints agreed before the work starts</a:t>
            </a:r>
            <a:endParaRPr lang="en-US" sz="1100" dirty="0"/>
          </a:p>
        </p:txBody>
      </p:sp>
      <p:sp>
        <p:nvSpPr>
          <p:cNvPr id="19" name="Shape 17"/>
          <p:cNvSpPr/>
          <p:nvPr/>
        </p:nvSpPr>
        <p:spPr>
          <a:xfrm>
            <a:off x="6263640" y="2514600"/>
            <a:ext cx="5257800" cy="621792"/>
          </a:xfrm>
          <a:prstGeom prst="roundRect">
            <a:avLst>
              <a:gd name="adj" fmla="val 11765"/>
            </a:avLst>
          </a:prstGeom>
          <a:solidFill>
            <a:srgbClr val="EDF2FA"/>
          </a:solidFill>
          <a:ln/>
        </p:spPr>
      </p:sp>
      <p:sp>
        <p:nvSpPr>
          <p:cNvPr id="20" name="Shape 18"/>
          <p:cNvSpPr/>
          <p:nvPr/>
        </p:nvSpPr>
        <p:spPr>
          <a:xfrm>
            <a:off x="6464808" y="2624328"/>
            <a:ext cx="384048" cy="384048"/>
          </a:xfrm>
          <a:prstGeom prst="ellipse">
            <a:avLst/>
          </a:prstGeom>
          <a:solidFill>
            <a:srgbClr val="3E5C8A"/>
          </a:solidFill>
          <a:ln/>
        </p:spPr>
      </p:sp>
      <p:sp>
        <p:nvSpPr>
          <p:cNvPr id="21" name="Text 19"/>
          <p:cNvSpPr txBox="1"/>
          <p:nvPr/>
        </p:nvSpPr>
        <p:spPr>
          <a:xfrm>
            <a:off x="6464808" y="262432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20"/>
          <p:cNvSpPr txBox="1"/>
          <p:nvPr/>
        </p:nvSpPr>
        <p:spPr>
          <a:xfrm>
            <a:off x="7040880" y="2560320"/>
            <a:ext cx="4297680" cy="310896"/>
          </a:xfrm>
          <a:prstGeom prst="rect">
            <a:avLst/>
          </a:prstGeom>
          <a:noFill/>
          <a:ln/>
        </p:spPr>
        <p:txBody>
          <a:bodyPr wrap="square" lIns="0" tIns="0" rIns="0" bIns="0" rtlCol="0" anchor="ctr"/>
          <a:lstStyle/>
          <a:p>
            <a:pPr indent="0" marL="0">
              <a:buNone/>
            </a:pPr>
            <a:r>
              <a:rPr lang="en-US" sz="1450" b="1" dirty="0">
                <a:solidFill>
                  <a:srgbClr val="16203A"/>
                </a:solidFill>
                <a:latin typeface="Calibri" pitchFamily="34" charset="0"/>
                <a:ea typeface="Calibri" pitchFamily="34" charset="-122"/>
                <a:cs typeface="Calibri" pitchFamily="34" charset="-120"/>
              </a:rPr>
              <a:t>How we will get there</a:t>
            </a:r>
            <a:endParaRPr lang="en-US" sz="1450" dirty="0"/>
          </a:p>
        </p:txBody>
      </p:sp>
      <p:sp>
        <p:nvSpPr>
          <p:cNvPr id="23" name="Text 21"/>
          <p:cNvSpPr txBox="1"/>
          <p:nvPr/>
        </p:nvSpPr>
        <p:spPr>
          <a:xfrm>
            <a:off x="7040880" y="2843784"/>
            <a:ext cx="4297680" cy="274320"/>
          </a:xfrm>
          <a:prstGeom prst="rect">
            <a:avLst/>
          </a:prstGeom>
          <a:noFill/>
          <a:ln/>
        </p:spPr>
        <p:txBody>
          <a:bodyPr wrap="square" lIns="0" tIns="0" rIns="0" bIns="0" rtlCol="0" anchor="ctr"/>
          <a:lstStyle/>
          <a:p>
            <a:pPr indent="0" marL="0">
              <a:buNone/>
            </a:pPr>
            <a:r>
              <a:rPr lang="en-US" sz="1100" dirty="0">
                <a:solidFill>
                  <a:srgbClr val="8792AB"/>
                </a:solidFill>
                <a:latin typeface="Calibri" pitchFamily="34" charset="0"/>
                <a:ea typeface="Calibri" pitchFamily="34" charset="-122"/>
                <a:cs typeface="Calibri" pitchFamily="34" charset="-120"/>
              </a:rPr>
              <a:t>The five-step approach</a:t>
            </a:r>
            <a:endParaRPr lang="en-US" sz="1100" dirty="0"/>
          </a:p>
        </p:txBody>
      </p:sp>
      <p:sp>
        <p:nvSpPr>
          <p:cNvPr id="24" name="Shape 22"/>
          <p:cNvSpPr/>
          <p:nvPr/>
        </p:nvSpPr>
        <p:spPr>
          <a:xfrm>
            <a:off x="640080" y="3246120"/>
            <a:ext cx="5257800" cy="621792"/>
          </a:xfrm>
          <a:prstGeom prst="roundRect">
            <a:avLst>
              <a:gd name="adj" fmla="val 11765"/>
            </a:avLst>
          </a:prstGeom>
          <a:solidFill>
            <a:srgbClr val="F2F6FC"/>
          </a:solidFill>
          <a:ln/>
        </p:spPr>
      </p:sp>
      <p:sp>
        <p:nvSpPr>
          <p:cNvPr id="25" name="Shape 23"/>
          <p:cNvSpPr/>
          <p:nvPr/>
        </p:nvSpPr>
        <p:spPr>
          <a:xfrm>
            <a:off x="841248" y="3355848"/>
            <a:ext cx="384048" cy="384048"/>
          </a:xfrm>
          <a:prstGeom prst="ellipse">
            <a:avLst/>
          </a:prstGeom>
          <a:solidFill>
            <a:srgbClr val="1E2761"/>
          </a:solidFill>
          <a:ln/>
        </p:spPr>
      </p:sp>
      <p:sp>
        <p:nvSpPr>
          <p:cNvPr id="26" name="Text 24"/>
          <p:cNvSpPr txBox="1"/>
          <p:nvPr/>
        </p:nvSpPr>
        <p:spPr>
          <a:xfrm>
            <a:off x="841248" y="335584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7" name="Text 25"/>
          <p:cNvSpPr txBox="1"/>
          <p:nvPr/>
        </p:nvSpPr>
        <p:spPr>
          <a:xfrm>
            <a:off x="1417320" y="3291840"/>
            <a:ext cx="4297680" cy="310896"/>
          </a:xfrm>
          <a:prstGeom prst="rect">
            <a:avLst/>
          </a:prstGeom>
          <a:noFill/>
          <a:ln/>
        </p:spPr>
        <p:txBody>
          <a:bodyPr wrap="square" lIns="0" tIns="0" rIns="0" bIns="0" rtlCol="0" anchor="ctr"/>
          <a:lstStyle/>
          <a:p>
            <a:pPr indent="0" marL="0">
              <a:buNone/>
            </a:pPr>
            <a:r>
              <a:rPr lang="en-US" sz="1450" b="1" dirty="0">
                <a:solidFill>
                  <a:srgbClr val="16203A"/>
                </a:solidFill>
                <a:latin typeface="Calibri" pitchFamily="34" charset="0"/>
                <a:ea typeface="Calibri" pitchFamily="34" charset="-122"/>
                <a:cs typeface="Calibri" pitchFamily="34" charset="-120"/>
              </a:rPr>
              <a:t>Nine workstreams, nine artefacts</a:t>
            </a:r>
            <a:endParaRPr lang="en-US" sz="1450" dirty="0"/>
          </a:p>
        </p:txBody>
      </p:sp>
      <p:sp>
        <p:nvSpPr>
          <p:cNvPr id="28" name="Text 26"/>
          <p:cNvSpPr txBox="1"/>
          <p:nvPr/>
        </p:nvSpPr>
        <p:spPr>
          <a:xfrm>
            <a:off x="1417320" y="3575304"/>
            <a:ext cx="4297680" cy="274320"/>
          </a:xfrm>
          <a:prstGeom prst="rect">
            <a:avLst/>
          </a:prstGeom>
          <a:noFill/>
          <a:ln/>
        </p:spPr>
        <p:txBody>
          <a:bodyPr wrap="square" lIns="0" tIns="0" rIns="0" bIns="0" rtlCol="0" anchor="ctr"/>
          <a:lstStyle/>
          <a:p>
            <a:pPr indent="0" marL="0">
              <a:buNone/>
            </a:pPr>
            <a:r>
              <a:rPr lang="en-US" sz="1100" dirty="0">
                <a:solidFill>
                  <a:srgbClr val="8792AB"/>
                </a:solidFill>
                <a:latin typeface="Calibri" pitchFamily="34" charset="0"/>
                <a:ea typeface="Calibri" pitchFamily="34" charset="-122"/>
                <a:cs typeface="Calibri" pitchFamily="34" charset="-120"/>
              </a:rPr>
              <a:t>Who owns what, and what each produces</a:t>
            </a:r>
            <a:endParaRPr lang="en-US" sz="1100" dirty="0"/>
          </a:p>
        </p:txBody>
      </p:sp>
      <p:sp>
        <p:nvSpPr>
          <p:cNvPr id="29" name="Shape 27"/>
          <p:cNvSpPr/>
          <p:nvPr/>
        </p:nvSpPr>
        <p:spPr>
          <a:xfrm>
            <a:off x="6263640" y="3246120"/>
            <a:ext cx="5257800" cy="621792"/>
          </a:xfrm>
          <a:prstGeom prst="roundRect">
            <a:avLst>
              <a:gd name="adj" fmla="val 11765"/>
            </a:avLst>
          </a:prstGeom>
          <a:solidFill>
            <a:srgbClr val="EDF2FA"/>
          </a:solidFill>
          <a:ln/>
        </p:spPr>
      </p:sp>
      <p:sp>
        <p:nvSpPr>
          <p:cNvPr id="30" name="Shape 28"/>
          <p:cNvSpPr/>
          <p:nvPr/>
        </p:nvSpPr>
        <p:spPr>
          <a:xfrm>
            <a:off x="6464808" y="3355848"/>
            <a:ext cx="384048" cy="384048"/>
          </a:xfrm>
          <a:prstGeom prst="ellipse">
            <a:avLst/>
          </a:prstGeom>
          <a:solidFill>
            <a:srgbClr val="3E5C8A"/>
          </a:solidFill>
          <a:ln/>
        </p:spPr>
      </p:sp>
      <p:sp>
        <p:nvSpPr>
          <p:cNvPr id="31" name="Text 29"/>
          <p:cNvSpPr txBox="1"/>
          <p:nvPr/>
        </p:nvSpPr>
        <p:spPr>
          <a:xfrm>
            <a:off x="6464808" y="335584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2" name="Text 30"/>
          <p:cNvSpPr txBox="1"/>
          <p:nvPr/>
        </p:nvSpPr>
        <p:spPr>
          <a:xfrm>
            <a:off x="7040880" y="3291840"/>
            <a:ext cx="4297680" cy="310896"/>
          </a:xfrm>
          <a:prstGeom prst="rect">
            <a:avLst/>
          </a:prstGeom>
          <a:noFill/>
          <a:ln/>
        </p:spPr>
        <p:txBody>
          <a:bodyPr wrap="square" lIns="0" tIns="0" rIns="0" bIns="0" rtlCol="0" anchor="ctr"/>
          <a:lstStyle/>
          <a:p>
            <a:pPr indent="0" marL="0">
              <a:buNone/>
            </a:pPr>
            <a:r>
              <a:rPr lang="en-US" sz="1450" b="1" dirty="0">
                <a:solidFill>
                  <a:srgbClr val="16203A"/>
                </a:solidFill>
                <a:latin typeface="Calibri" pitchFamily="34" charset="0"/>
                <a:ea typeface="Calibri" pitchFamily="34" charset="-122"/>
                <a:cs typeface="Calibri" pitchFamily="34" charset="-120"/>
              </a:rPr>
              <a:t>Pricing and delivery economics</a:t>
            </a:r>
            <a:endParaRPr lang="en-US" sz="1450" dirty="0"/>
          </a:p>
        </p:txBody>
      </p:sp>
      <p:sp>
        <p:nvSpPr>
          <p:cNvPr id="33" name="Text 31"/>
          <p:cNvSpPr txBox="1"/>
          <p:nvPr/>
        </p:nvSpPr>
        <p:spPr>
          <a:xfrm>
            <a:off x="7040880" y="3575304"/>
            <a:ext cx="4297680" cy="274320"/>
          </a:xfrm>
          <a:prstGeom prst="rect">
            <a:avLst/>
          </a:prstGeom>
          <a:noFill/>
          <a:ln/>
        </p:spPr>
        <p:txBody>
          <a:bodyPr wrap="square" lIns="0" tIns="0" rIns="0" bIns="0" rtlCol="0" anchor="ctr"/>
          <a:lstStyle/>
          <a:p>
            <a:pPr indent="0" marL="0">
              <a:buNone/>
            </a:pPr>
            <a:r>
              <a:rPr lang="en-US" sz="1100" dirty="0">
                <a:solidFill>
                  <a:srgbClr val="8792AB"/>
                </a:solidFill>
                <a:latin typeface="Calibri" pitchFamily="34" charset="0"/>
                <a:ea typeface="Calibri" pitchFamily="34" charset="-122"/>
                <a:cs typeface="Calibri" pitchFamily="34" charset="-120"/>
              </a:rPr>
              <a:t>Price, construct, ADR and margin</a:t>
            </a:r>
            <a:endParaRPr lang="en-US" sz="1100" dirty="0"/>
          </a:p>
        </p:txBody>
      </p:sp>
      <p:sp>
        <p:nvSpPr>
          <p:cNvPr id="34" name="Shape 32"/>
          <p:cNvSpPr/>
          <p:nvPr/>
        </p:nvSpPr>
        <p:spPr>
          <a:xfrm>
            <a:off x="640080" y="3977640"/>
            <a:ext cx="5257800" cy="621792"/>
          </a:xfrm>
          <a:prstGeom prst="roundRect">
            <a:avLst>
              <a:gd name="adj" fmla="val 11765"/>
            </a:avLst>
          </a:prstGeom>
          <a:solidFill>
            <a:srgbClr val="F2F6FC"/>
          </a:solidFill>
          <a:ln/>
        </p:spPr>
      </p:sp>
      <p:sp>
        <p:nvSpPr>
          <p:cNvPr id="35" name="Shape 33"/>
          <p:cNvSpPr/>
          <p:nvPr/>
        </p:nvSpPr>
        <p:spPr>
          <a:xfrm>
            <a:off x="841248" y="4087368"/>
            <a:ext cx="384048" cy="384048"/>
          </a:xfrm>
          <a:prstGeom prst="ellipse">
            <a:avLst/>
          </a:prstGeom>
          <a:solidFill>
            <a:srgbClr val="1E2761"/>
          </a:solidFill>
          <a:ln/>
        </p:spPr>
      </p:sp>
      <p:sp>
        <p:nvSpPr>
          <p:cNvPr id="36" name="Text 34"/>
          <p:cNvSpPr txBox="1"/>
          <p:nvPr/>
        </p:nvSpPr>
        <p:spPr>
          <a:xfrm>
            <a:off x="841248" y="408736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37" name="Text 35"/>
          <p:cNvSpPr txBox="1"/>
          <p:nvPr/>
        </p:nvSpPr>
        <p:spPr>
          <a:xfrm>
            <a:off x="1417320" y="4023360"/>
            <a:ext cx="4297680" cy="310896"/>
          </a:xfrm>
          <a:prstGeom prst="rect">
            <a:avLst/>
          </a:prstGeom>
          <a:noFill/>
          <a:ln/>
        </p:spPr>
        <p:txBody>
          <a:bodyPr wrap="square" lIns="0" tIns="0" rIns="0" bIns="0" rtlCol="0" anchor="ctr"/>
          <a:lstStyle/>
          <a:p>
            <a:pPr indent="0" marL="0">
              <a:buNone/>
            </a:pPr>
            <a:r>
              <a:rPr lang="en-US" sz="1450" b="1" dirty="0">
                <a:solidFill>
                  <a:srgbClr val="16203A"/>
                </a:solidFill>
                <a:latin typeface="Calibri" pitchFamily="34" charset="0"/>
                <a:ea typeface="Calibri" pitchFamily="34" charset="-122"/>
                <a:cs typeface="Calibri" pitchFamily="34" charset="-120"/>
              </a:rPr>
              <a:t>Team and talent</a:t>
            </a:r>
            <a:endParaRPr lang="en-US" sz="1450" dirty="0"/>
          </a:p>
        </p:txBody>
      </p:sp>
      <p:sp>
        <p:nvSpPr>
          <p:cNvPr id="38" name="Text 36"/>
          <p:cNvSpPr txBox="1"/>
          <p:nvPr/>
        </p:nvSpPr>
        <p:spPr>
          <a:xfrm>
            <a:off x="1417320" y="4306824"/>
            <a:ext cx="4297680" cy="274320"/>
          </a:xfrm>
          <a:prstGeom prst="rect">
            <a:avLst/>
          </a:prstGeom>
          <a:noFill/>
          <a:ln/>
        </p:spPr>
        <p:txBody>
          <a:bodyPr wrap="square" lIns="0" tIns="0" rIns="0" bIns="0" rtlCol="0" anchor="ctr"/>
          <a:lstStyle/>
          <a:p>
            <a:pPr indent="0" marL="0">
              <a:buNone/>
            </a:pPr>
            <a:r>
              <a:rPr lang="en-US" sz="1100" dirty="0">
                <a:solidFill>
                  <a:srgbClr val="8792AB"/>
                </a:solidFill>
                <a:latin typeface="Calibri" pitchFamily="34" charset="0"/>
                <a:ea typeface="Calibri" pitchFamily="34" charset="-122"/>
                <a:cs typeface="Calibri" pitchFamily="34" charset="-120"/>
              </a:rPr>
              <a:t>Dedicated, shared and the gap to close</a:t>
            </a:r>
            <a:endParaRPr lang="en-US" sz="1100" dirty="0"/>
          </a:p>
        </p:txBody>
      </p:sp>
      <p:sp>
        <p:nvSpPr>
          <p:cNvPr id="39" name="Shape 37"/>
          <p:cNvSpPr/>
          <p:nvPr/>
        </p:nvSpPr>
        <p:spPr>
          <a:xfrm>
            <a:off x="6263640" y="3977640"/>
            <a:ext cx="5257800" cy="621792"/>
          </a:xfrm>
          <a:prstGeom prst="roundRect">
            <a:avLst>
              <a:gd name="adj" fmla="val 11765"/>
            </a:avLst>
          </a:prstGeom>
          <a:solidFill>
            <a:srgbClr val="EDF2FA"/>
          </a:solidFill>
          <a:ln/>
        </p:spPr>
      </p:sp>
      <p:sp>
        <p:nvSpPr>
          <p:cNvPr id="40" name="Shape 38"/>
          <p:cNvSpPr/>
          <p:nvPr/>
        </p:nvSpPr>
        <p:spPr>
          <a:xfrm>
            <a:off x="6464808" y="4087368"/>
            <a:ext cx="384048" cy="384048"/>
          </a:xfrm>
          <a:prstGeom prst="ellipse">
            <a:avLst/>
          </a:prstGeom>
          <a:solidFill>
            <a:srgbClr val="3E5C8A"/>
          </a:solidFill>
          <a:ln/>
        </p:spPr>
      </p:sp>
      <p:sp>
        <p:nvSpPr>
          <p:cNvPr id="41" name="Text 39"/>
          <p:cNvSpPr txBox="1"/>
          <p:nvPr/>
        </p:nvSpPr>
        <p:spPr>
          <a:xfrm>
            <a:off x="6464808" y="408736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
        <p:nvSpPr>
          <p:cNvPr id="42" name="Text 40"/>
          <p:cNvSpPr txBox="1"/>
          <p:nvPr/>
        </p:nvSpPr>
        <p:spPr>
          <a:xfrm>
            <a:off x="7040880" y="4023360"/>
            <a:ext cx="4297680" cy="310896"/>
          </a:xfrm>
          <a:prstGeom prst="rect">
            <a:avLst/>
          </a:prstGeom>
          <a:noFill/>
          <a:ln/>
        </p:spPr>
        <p:txBody>
          <a:bodyPr wrap="square" lIns="0" tIns="0" rIns="0" bIns="0" rtlCol="0" anchor="ctr"/>
          <a:lstStyle/>
          <a:p>
            <a:pPr indent="0" marL="0">
              <a:buNone/>
            </a:pPr>
            <a:r>
              <a:rPr lang="en-US" sz="1450" b="1" dirty="0">
                <a:solidFill>
                  <a:srgbClr val="16203A"/>
                </a:solidFill>
                <a:latin typeface="Calibri" pitchFamily="34" charset="0"/>
                <a:ea typeface="Calibri" pitchFamily="34" charset="-122"/>
                <a:cs typeface="Calibri" pitchFamily="34" charset="-120"/>
              </a:rPr>
              <a:t>Eminence and positioning</a:t>
            </a:r>
            <a:endParaRPr lang="en-US" sz="1450" dirty="0"/>
          </a:p>
        </p:txBody>
      </p:sp>
      <p:sp>
        <p:nvSpPr>
          <p:cNvPr id="43" name="Text 41"/>
          <p:cNvSpPr txBox="1"/>
          <p:nvPr/>
        </p:nvSpPr>
        <p:spPr>
          <a:xfrm>
            <a:off x="7040880" y="4306824"/>
            <a:ext cx="4297680" cy="274320"/>
          </a:xfrm>
          <a:prstGeom prst="rect">
            <a:avLst/>
          </a:prstGeom>
          <a:noFill/>
          <a:ln/>
        </p:spPr>
        <p:txBody>
          <a:bodyPr wrap="square" lIns="0" tIns="0" rIns="0" bIns="0" rtlCol="0" anchor="ctr"/>
          <a:lstStyle/>
          <a:p>
            <a:pPr indent="0" marL="0">
              <a:buNone/>
            </a:pPr>
            <a:r>
              <a:rPr lang="en-US" sz="1100" dirty="0">
                <a:solidFill>
                  <a:srgbClr val="8792AB"/>
                </a:solidFill>
                <a:latin typeface="Calibri" pitchFamily="34" charset="0"/>
                <a:ea typeface="Calibri" pitchFamily="34" charset="-122"/>
                <a:cs typeface="Calibri" pitchFamily="34" charset="-120"/>
              </a:rPr>
              <a:t>How the market comes to know us</a:t>
            </a:r>
            <a:endParaRPr lang="en-US" sz="1100" dirty="0"/>
          </a:p>
        </p:txBody>
      </p:sp>
      <p:sp>
        <p:nvSpPr>
          <p:cNvPr id="44" name="Shape 42"/>
          <p:cNvSpPr/>
          <p:nvPr/>
        </p:nvSpPr>
        <p:spPr>
          <a:xfrm>
            <a:off x="640080" y="4709160"/>
            <a:ext cx="5257800" cy="621792"/>
          </a:xfrm>
          <a:prstGeom prst="roundRect">
            <a:avLst>
              <a:gd name="adj" fmla="val 11765"/>
            </a:avLst>
          </a:prstGeom>
          <a:solidFill>
            <a:srgbClr val="F2F6FC"/>
          </a:solidFill>
          <a:ln/>
        </p:spPr>
      </p:sp>
      <p:sp>
        <p:nvSpPr>
          <p:cNvPr id="45" name="Shape 43"/>
          <p:cNvSpPr/>
          <p:nvPr/>
        </p:nvSpPr>
        <p:spPr>
          <a:xfrm>
            <a:off x="841248" y="4818888"/>
            <a:ext cx="384048" cy="384048"/>
          </a:xfrm>
          <a:prstGeom prst="ellipse">
            <a:avLst/>
          </a:prstGeom>
          <a:solidFill>
            <a:srgbClr val="1E2761"/>
          </a:solidFill>
          <a:ln/>
        </p:spPr>
      </p:sp>
      <p:sp>
        <p:nvSpPr>
          <p:cNvPr id="46" name="Text 44"/>
          <p:cNvSpPr txBox="1"/>
          <p:nvPr/>
        </p:nvSpPr>
        <p:spPr>
          <a:xfrm>
            <a:off x="841248" y="481888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9</a:t>
            </a:r>
            <a:endParaRPr lang="en-US" sz="1200" dirty="0"/>
          </a:p>
        </p:txBody>
      </p:sp>
      <p:sp>
        <p:nvSpPr>
          <p:cNvPr id="47" name="Text 45"/>
          <p:cNvSpPr txBox="1"/>
          <p:nvPr/>
        </p:nvSpPr>
        <p:spPr>
          <a:xfrm>
            <a:off x="1417320" y="4754880"/>
            <a:ext cx="4297680" cy="310896"/>
          </a:xfrm>
          <a:prstGeom prst="rect">
            <a:avLst/>
          </a:prstGeom>
          <a:noFill/>
          <a:ln/>
        </p:spPr>
        <p:txBody>
          <a:bodyPr wrap="square" lIns="0" tIns="0" rIns="0" bIns="0" rtlCol="0" anchor="ctr"/>
          <a:lstStyle/>
          <a:p>
            <a:pPr indent="0" marL="0">
              <a:buNone/>
            </a:pPr>
            <a:r>
              <a:rPr lang="en-US" sz="1450" b="1" dirty="0">
                <a:solidFill>
                  <a:srgbClr val="16203A"/>
                </a:solidFill>
                <a:latin typeface="Calibri" pitchFamily="34" charset="0"/>
                <a:ea typeface="Calibri" pitchFamily="34" charset="-122"/>
                <a:cs typeface="Calibri" pitchFamily="34" charset="-120"/>
              </a:rPr>
              <a:t>Alliances</a:t>
            </a:r>
            <a:endParaRPr lang="en-US" sz="1450" dirty="0"/>
          </a:p>
        </p:txBody>
      </p:sp>
      <p:sp>
        <p:nvSpPr>
          <p:cNvPr id="48" name="Text 46"/>
          <p:cNvSpPr txBox="1"/>
          <p:nvPr/>
        </p:nvSpPr>
        <p:spPr>
          <a:xfrm>
            <a:off x="1417320" y="5038344"/>
            <a:ext cx="4297680" cy="274320"/>
          </a:xfrm>
          <a:prstGeom prst="rect">
            <a:avLst/>
          </a:prstGeom>
          <a:noFill/>
          <a:ln/>
        </p:spPr>
        <p:txBody>
          <a:bodyPr wrap="square" lIns="0" tIns="0" rIns="0" bIns="0" rtlCol="0" anchor="ctr"/>
          <a:lstStyle/>
          <a:p>
            <a:pPr indent="0" marL="0">
              <a:buNone/>
            </a:pPr>
            <a:r>
              <a:rPr lang="en-US" sz="1100" dirty="0">
                <a:solidFill>
                  <a:srgbClr val="8792AB"/>
                </a:solidFill>
                <a:latin typeface="Calibri" pitchFamily="34" charset="0"/>
                <a:ea typeface="Calibri" pitchFamily="34" charset="-122"/>
                <a:cs typeface="Calibri" pitchFamily="34" charset="-120"/>
              </a:rPr>
              <a:t>Who we go to market with, and for what</a:t>
            </a:r>
            <a:endParaRPr lang="en-US" sz="1100" dirty="0"/>
          </a:p>
        </p:txBody>
      </p:sp>
      <p:sp>
        <p:nvSpPr>
          <p:cNvPr id="49" name="Shape 47"/>
          <p:cNvSpPr/>
          <p:nvPr/>
        </p:nvSpPr>
        <p:spPr>
          <a:xfrm>
            <a:off x="6263640" y="4709160"/>
            <a:ext cx="5257800" cy="621792"/>
          </a:xfrm>
          <a:prstGeom prst="roundRect">
            <a:avLst>
              <a:gd name="adj" fmla="val 11765"/>
            </a:avLst>
          </a:prstGeom>
          <a:solidFill>
            <a:srgbClr val="EDF2FA"/>
          </a:solidFill>
          <a:ln/>
        </p:spPr>
      </p:sp>
      <p:sp>
        <p:nvSpPr>
          <p:cNvPr id="50" name="Shape 48"/>
          <p:cNvSpPr/>
          <p:nvPr/>
        </p:nvSpPr>
        <p:spPr>
          <a:xfrm>
            <a:off x="6464808" y="4818888"/>
            <a:ext cx="384048" cy="384048"/>
          </a:xfrm>
          <a:prstGeom prst="ellipse">
            <a:avLst/>
          </a:prstGeom>
          <a:solidFill>
            <a:srgbClr val="3E5C8A"/>
          </a:solidFill>
          <a:ln/>
        </p:spPr>
      </p:sp>
      <p:sp>
        <p:nvSpPr>
          <p:cNvPr id="51" name="Text 49"/>
          <p:cNvSpPr txBox="1"/>
          <p:nvPr/>
        </p:nvSpPr>
        <p:spPr>
          <a:xfrm>
            <a:off x="6464808" y="481888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a:t>
            </a:r>
            <a:endParaRPr lang="en-US" sz="1200" dirty="0"/>
          </a:p>
        </p:txBody>
      </p:sp>
      <p:sp>
        <p:nvSpPr>
          <p:cNvPr id="52" name="Text 50"/>
          <p:cNvSpPr txBox="1"/>
          <p:nvPr/>
        </p:nvSpPr>
        <p:spPr>
          <a:xfrm>
            <a:off x="7040880" y="4754880"/>
            <a:ext cx="4297680" cy="310896"/>
          </a:xfrm>
          <a:prstGeom prst="rect">
            <a:avLst/>
          </a:prstGeom>
          <a:noFill/>
          <a:ln/>
        </p:spPr>
        <p:txBody>
          <a:bodyPr wrap="square" lIns="0" tIns="0" rIns="0" bIns="0" rtlCol="0" anchor="ctr"/>
          <a:lstStyle/>
          <a:p>
            <a:pPr indent="0" marL="0">
              <a:buNone/>
            </a:pPr>
            <a:r>
              <a:rPr lang="en-US" sz="1450" b="1" dirty="0">
                <a:solidFill>
                  <a:srgbClr val="16203A"/>
                </a:solidFill>
                <a:latin typeface="Calibri" pitchFamily="34" charset="0"/>
                <a:ea typeface="Calibri" pitchFamily="34" charset="-122"/>
                <a:cs typeface="Calibri" pitchFamily="34" charset="-120"/>
              </a:rPr>
              <a:t>The three-week journey</a:t>
            </a:r>
            <a:endParaRPr lang="en-US" sz="1450" dirty="0"/>
          </a:p>
        </p:txBody>
      </p:sp>
      <p:sp>
        <p:nvSpPr>
          <p:cNvPr id="53" name="Text 51"/>
          <p:cNvSpPr txBox="1"/>
          <p:nvPr/>
        </p:nvSpPr>
        <p:spPr>
          <a:xfrm>
            <a:off x="7040880" y="5038344"/>
            <a:ext cx="4297680" cy="274320"/>
          </a:xfrm>
          <a:prstGeom prst="rect">
            <a:avLst/>
          </a:prstGeom>
          <a:noFill/>
          <a:ln/>
        </p:spPr>
        <p:txBody>
          <a:bodyPr wrap="square" lIns="0" tIns="0" rIns="0" bIns="0" rtlCol="0" anchor="ctr"/>
          <a:lstStyle/>
          <a:p>
            <a:pPr indent="0" marL="0">
              <a:buNone/>
            </a:pPr>
            <a:r>
              <a:rPr lang="en-US" sz="1100" dirty="0">
                <a:solidFill>
                  <a:srgbClr val="8792AB"/>
                </a:solidFill>
                <a:latin typeface="Calibri" pitchFamily="34" charset="0"/>
                <a:ea typeface="Calibri" pitchFamily="34" charset="-122"/>
                <a:cs typeface="Calibri" pitchFamily="34" charset="-120"/>
              </a:rPr>
              <a:t>Week by week, with a gate each week</a:t>
            </a:r>
            <a:endParaRPr lang="en-US" sz="1100" dirty="0"/>
          </a:p>
        </p:txBody>
      </p:sp>
      <p:sp>
        <p:nvSpPr>
          <p:cNvPr id="54" name="Shape 52"/>
          <p:cNvSpPr/>
          <p:nvPr/>
        </p:nvSpPr>
        <p:spPr>
          <a:xfrm>
            <a:off x="640080" y="5440680"/>
            <a:ext cx="5257800" cy="621792"/>
          </a:xfrm>
          <a:prstGeom prst="roundRect">
            <a:avLst>
              <a:gd name="adj" fmla="val 11765"/>
            </a:avLst>
          </a:prstGeom>
          <a:solidFill>
            <a:srgbClr val="F2F6FC"/>
          </a:solidFill>
          <a:ln/>
        </p:spPr>
      </p:sp>
      <p:sp>
        <p:nvSpPr>
          <p:cNvPr id="55" name="Shape 53"/>
          <p:cNvSpPr/>
          <p:nvPr/>
        </p:nvSpPr>
        <p:spPr>
          <a:xfrm>
            <a:off x="841248" y="5550408"/>
            <a:ext cx="384048" cy="384048"/>
          </a:xfrm>
          <a:prstGeom prst="ellipse">
            <a:avLst/>
          </a:prstGeom>
          <a:solidFill>
            <a:srgbClr val="1E2761"/>
          </a:solidFill>
          <a:ln/>
        </p:spPr>
      </p:sp>
      <p:sp>
        <p:nvSpPr>
          <p:cNvPr id="56" name="Text 54"/>
          <p:cNvSpPr txBox="1"/>
          <p:nvPr/>
        </p:nvSpPr>
        <p:spPr>
          <a:xfrm>
            <a:off x="841248" y="555040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11</a:t>
            </a:r>
            <a:endParaRPr lang="en-US" sz="1200" dirty="0"/>
          </a:p>
        </p:txBody>
      </p:sp>
      <p:sp>
        <p:nvSpPr>
          <p:cNvPr id="57" name="Text 55"/>
          <p:cNvSpPr txBox="1"/>
          <p:nvPr/>
        </p:nvSpPr>
        <p:spPr>
          <a:xfrm>
            <a:off x="1417320" y="5486400"/>
            <a:ext cx="4297680" cy="310896"/>
          </a:xfrm>
          <a:prstGeom prst="rect">
            <a:avLst/>
          </a:prstGeom>
          <a:noFill/>
          <a:ln/>
        </p:spPr>
        <p:txBody>
          <a:bodyPr wrap="square" lIns="0" tIns="0" rIns="0" bIns="0" rtlCol="0" anchor="ctr"/>
          <a:lstStyle/>
          <a:p>
            <a:pPr indent="0" marL="0">
              <a:buNone/>
            </a:pPr>
            <a:r>
              <a:rPr lang="en-US" sz="1450" b="1" dirty="0">
                <a:solidFill>
                  <a:srgbClr val="16203A"/>
                </a:solidFill>
                <a:latin typeface="Calibri" pitchFamily="34" charset="0"/>
                <a:ea typeface="Calibri" pitchFamily="34" charset="-122"/>
                <a:cs typeface="Calibri" pitchFamily="34" charset="-120"/>
              </a:rPr>
              <a:t>Governing the execution</a:t>
            </a:r>
            <a:endParaRPr lang="en-US" sz="1450" dirty="0"/>
          </a:p>
        </p:txBody>
      </p:sp>
      <p:sp>
        <p:nvSpPr>
          <p:cNvPr id="58" name="Text 56"/>
          <p:cNvSpPr txBox="1"/>
          <p:nvPr/>
        </p:nvSpPr>
        <p:spPr>
          <a:xfrm>
            <a:off x="1417320" y="5769864"/>
            <a:ext cx="4297680" cy="274320"/>
          </a:xfrm>
          <a:prstGeom prst="rect">
            <a:avLst/>
          </a:prstGeom>
          <a:noFill/>
          <a:ln/>
        </p:spPr>
        <p:txBody>
          <a:bodyPr wrap="square" lIns="0" tIns="0" rIns="0" bIns="0" rtlCol="0" anchor="ctr"/>
          <a:lstStyle/>
          <a:p>
            <a:pPr indent="0" marL="0">
              <a:buNone/>
            </a:pPr>
            <a:r>
              <a:rPr lang="en-US" sz="1100" dirty="0">
                <a:solidFill>
                  <a:srgbClr val="8792AB"/>
                </a:solidFill>
                <a:latin typeface="Calibri" pitchFamily="34" charset="0"/>
                <a:ea typeface="Calibri" pitchFamily="34" charset="-122"/>
                <a:cs typeface="Calibri" pitchFamily="34" charset="-120"/>
              </a:rPr>
              <a:t>The rhythm and scorecard after sign-off</a:t>
            </a:r>
            <a:endParaRPr lang="en-US" sz="1100" dirty="0"/>
          </a:p>
        </p:txBody>
      </p:sp>
      <p:sp>
        <p:nvSpPr>
          <p:cNvPr id="59" name="Shape 57"/>
          <p:cNvSpPr/>
          <p:nvPr/>
        </p:nvSpPr>
        <p:spPr>
          <a:xfrm>
            <a:off x="6263640" y="5440680"/>
            <a:ext cx="5257800" cy="621792"/>
          </a:xfrm>
          <a:prstGeom prst="roundRect">
            <a:avLst>
              <a:gd name="adj" fmla="val 11765"/>
            </a:avLst>
          </a:prstGeom>
          <a:solidFill>
            <a:srgbClr val="EDF2FA"/>
          </a:solidFill>
          <a:ln/>
        </p:spPr>
      </p:sp>
      <p:sp>
        <p:nvSpPr>
          <p:cNvPr id="60" name="Shape 58"/>
          <p:cNvSpPr/>
          <p:nvPr/>
        </p:nvSpPr>
        <p:spPr>
          <a:xfrm>
            <a:off x="6464808" y="5550408"/>
            <a:ext cx="384048" cy="384048"/>
          </a:xfrm>
          <a:prstGeom prst="ellipse">
            <a:avLst/>
          </a:prstGeom>
          <a:solidFill>
            <a:srgbClr val="3E5C8A"/>
          </a:solidFill>
          <a:ln/>
        </p:spPr>
      </p:sp>
      <p:sp>
        <p:nvSpPr>
          <p:cNvPr id="61" name="Text 59"/>
          <p:cNvSpPr txBox="1"/>
          <p:nvPr/>
        </p:nvSpPr>
        <p:spPr>
          <a:xfrm>
            <a:off x="6464808" y="555040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12</a:t>
            </a:r>
            <a:endParaRPr lang="en-US" sz="1200" dirty="0"/>
          </a:p>
        </p:txBody>
      </p:sp>
      <p:sp>
        <p:nvSpPr>
          <p:cNvPr id="62" name="Text 60"/>
          <p:cNvSpPr txBox="1"/>
          <p:nvPr/>
        </p:nvSpPr>
        <p:spPr>
          <a:xfrm>
            <a:off x="7040880" y="5486400"/>
            <a:ext cx="4297680" cy="310896"/>
          </a:xfrm>
          <a:prstGeom prst="rect">
            <a:avLst/>
          </a:prstGeom>
          <a:noFill/>
          <a:ln/>
        </p:spPr>
        <p:txBody>
          <a:bodyPr wrap="square" lIns="0" tIns="0" rIns="0" bIns="0" rtlCol="0" anchor="ctr"/>
          <a:lstStyle/>
          <a:p>
            <a:pPr indent="0" marL="0">
              <a:buNone/>
            </a:pPr>
            <a:r>
              <a:rPr lang="en-US" sz="1450" b="1" dirty="0">
                <a:solidFill>
                  <a:srgbClr val="16203A"/>
                </a:solidFill>
                <a:latin typeface="Calibri" pitchFamily="34" charset="0"/>
                <a:ea typeface="Calibri" pitchFamily="34" charset="-122"/>
                <a:cs typeface="Calibri" pitchFamily="34" charset="-120"/>
              </a:rPr>
              <a:t>How we run the cycle</a:t>
            </a:r>
            <a:endParaRPr lang="en-US" sz="1450" dirty="0"/>
          </a:p>
        </p:txBody>
      </p:sp>
      <p:sp>
        <p:nvSpPr>
          <p:cNvPr id="63" name="Text 61"/>
          <p:cNvSpPr txBox="1"/>
          <p:nvPr/>
        </p:nvSpPr>
        <p:spPr>
          <a:xfrm>
            <a:off x="7040880" y="5769864"/>
            <a:ext cx="4297680" cy="274320"/>
          </a:xfrm>
          <a:prstGeom prst="rect">
            <a:avLst/>
          </a:prstGeom>
          <a:noFill/>
          <a:ln/>
        </p:spPr>
        <p:txBody>
          <a:bodyPr wrap="square" lIns="0" tIns="0" rIns="0" bIns="0" rtlCol="0" anchor="ctr"/>
          <a:lstStyle/>
          <a:p>
            <a:pPr indent="0" marL="0">
              <a:buNone/>
            </a:pPr>
            <a:r>
              <a:rPr lang="en-US" sz="1100" dirty="0">
                <a:solidFill>
                  <a:srgbClr val="8792AB"/>
                </a:solidFill>
                <a:latin typeface="Calibri" pitchFamily="34" charset="0"/>
                <a:ea typeface="Calibri" pitchFamily="34" charset="-122"/>
                <a:cs typeface="Calibri" pitchFamily="34" charset="-120"/>
              </a:rPr>
              <a:t>Cadence, inputs and decisions requested</a:t>
            </a:r>
            <a:endParaRPr lang="en-US" sz="1100" dirty="0"/>
          </a:p>
        </p:txBody>
      </p:sp>
      <p:sp>
        <p:nvSpPr>
          <p:cNvPr id="64" name="Text 62"/>
          <p:cNvSpPr txBox="1"/>
          <p:nvPr/>
        </p:nvSpPr>
        <p:spPr>
          <a:xfrm>
            <a:off x="640080" y="6263640"/>
            <a:ext cx="10881360" cy="365760"/>
          </a:xfrm>
          <a:prstGeom prst="rect">
            <a:avLst/>
          </a:prstGeom>
          <a:noFill/>
          <a:ln/>
        </p:spPr>
        <p:txBody>
          <a:bodyPr wrap="square" lIns="0" tIns="0" rIns="0" bIns="0" rtlCol="0" anchor="ctr"/>
          <a:lstStyle/>
          <a:p>
            <a:pPr indent="0" marL="0">
              <a:buNone/>
            </a:pPr>
            <a:r>
              <a:rPr lang="en-US" sz="1250" i="1" dirty="0">
                <a:solidFill>
                  <a:srgbClr val="3E5C8A"/>
                </a:solidFill>
                <a:latin typeface="Calibri" pitchFamily="34" charset="0"/>
                <a:ea typeface="Calibri" pitchFamily="34" charset="-122"/>
                <a:cs typeface="Calibri" pitchFamily="34" charset="-120"/>
              </a:rPr>
              <a:t>Appendix: a blank template for every artefact the cycle produces — the strategy log itself.</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685800"/>
          </a:xfrm>
          <a:prstGeom prst="rect">
            <a:avLst/>
          </a:prstGeom>
          <a:noFill/>
          <a:ln/>
        </p:spPr>
        <p:txBody>
          <a:bodyPr wrap="square" lIns="0" tIns="0" rIns="0" bIns="0" rtlCol="0" anchor="ctr"/>
          <a:lstStyle/>
          <a:p>
            <a:pPr indent="0" marL="0">
              <a:buNone/>
            </a:pPr>
            <a:r>
              <a:rPr lang="en-US" sz="3600" b="1" dirty="0">
                <a:solidFill>
                  <a:srgbClr val="16203A"/>
                </a:solidFill>
                <a:latin typeface="Cambria" pitchFamily="34" charset="0"/>
                <a:ea typeface="Cambria" pitchFamily="34" charset="-122"/>
                <a:cs typeface="Cambria" pitchFamily="34" charset="-120"/>
              </a:rPr>
              <a:t>What this document is</a:t>
            </a:r>
            <a:endParaRPr lang="en-US" sz="3600" dirty="0"/>
          </a:p>
        </p:txBody>
      </p:sp>
      <p:sp>
        <p:nvSpPr>
          <p:cNvPr id="3" name="Text 1"/>
          <p:cNvSpPr txBox="1"/>
          <p:nvPr/>
        </p:nvSpPr>
        <p:spPr>
          <a:xfrm>
            <a:off x="640080" y="1133856"/>
            <a:ext cx="10881360" cy="411480"/>
          </a:xfrm>
          <a:prstGeom prst="rect">
            <a:avLst/>
          </a:prstGeom>
          <a:noFill/>
          <a:ln/>
        </p:spPr>
        <p:txBody>
          <a:bodyPr wrap="square" lIns="0" tIns="0" rIns="0" bIns="0" rtlCol="0" anchor="ctr"/>
          <a:lstStyle/>
          <a:p>
            <a:pPr indent="0" marL="0">
              <a:buNone/>
            </a:pPr>
            <a:r>
              <a:rPr lang="en-US" sz="1450" dirty="0">
                <a:solidFill>
                  <a:srgbClr val="8792AB"/>
                </a:solidFill>
                <a:latin typeface="Calibri" pitchFamily="34" charset="0"/>
                <a:ea typeface="Calibri" pitchFamily="34" charset="-122"/>
                <a:cs typeface="Calibri" pitchFamily="34" charset="-120"/>
              </a:rPr>
              <a:t>A method, not a conclusion.</a:t>
            </a:r>
            <a:endParaRPr lang="en-US" sz="1450" dirty="0"/>
          </a:p>
        </p:txBody>
      </p:sp>
      <p:sp>
        <p:nvSpPr>
          <p:cNvPr id="4" name="Shape 2"/>
          <p:cNvSpPr/>
          <p:nvPr/>
        </p:nvSpPr>
        <p:spPr>
          <a:xfrm>
            <a:off x="640080" y="1828800"/>
            <a:ext cx="457200" cy="457200"/>
          </a:xfrm>
          <a:prstGeom prst="ellipse">
            <a:avLst/>
          </a:prstGeom>
          <a:solidFill>
            <a:srgbClr val="1E2761"/>
          </a:solidFill>
          <a:ln/>
        </p:spPr>
      </p:sp>
      <p:sp>
        <p:nvSpPr>
          <p:cNvPr id="5" name="Text 3"/>
          <p:cNvSpPr txBox="1"/>
          <p:nvPr/>
        </p:nvSpPr>
        <p:spPr>
          <a:xfrm>
            <a:off x="640080"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325880" y="1801368"/>
            <a:ext cx="5943600" cy="365760"/>
          </a:xfrm>
          <a:prstGeom prst="rect">
            <a:avLst/>
          </a:prstGeom>
          <a:noFill/>
          <a:ln/>
        </p:spPr>
        <p:txBody>
          <a:bodyPr wrap="square" lIns="0" tIns="0" rIns="0" bIns="0" rtlCol="0" anchor="ctr"/>
          <a:lstStyle/>
          <a:p>
            <a:pPr indent="0" marL="0">
              <a:buNone/>
            </a:pPr>
            <a:r>
              <a:rPr lang="en-US" sz="1900" b="1" dirty="0">
                <a:solidFill>
                  <a:srgbClr val="16203A"/>
                </a:solidFill>
                <a:latin typeface="Calibri" pitchFamily="34" charset="0"/>
                <a:ea typeface="Calibri" pitchFamily="34" charset="-122"/>
                <a:cs typeface="Calibri" pitchFamily="34" charset="-120"/>
              </a:rPr>
              <a:t>A plan to build the strategy</a:t>
            </a:r>
            <a:endParaRPr lang="en-US" sz="1900" dirty="0"/>
          </a:p>
        </p:txBody>
      </p:sp>
      <p:sp>
        <p:nvSpPr>
          <p:cNvPr id="7" name="Text 5"/>
          <p:cNvSpPr txBox="1"/>
          <p:nvPr/>
        </p:nvSpPr>
        <p:spPr>
          <a:xfrm>
            <a:off x="1325880" y="2212848"/>
            <a:ext cx="6035040" cy="685800"/>
          </a:xfrm>
          <a:prstGeom prst="rect">
            <a:avLst/>
          </a:prstGeom>
          <a:noFill/>
          <a:ln/>
        </p:spPr>
        <p:txBody>
          <a:bodyPr wrap="square" lIns="0" tIns="0" rIns="0" bIns="0" rtlCol="0" anchor="ctr"/>
          <a:lstStyle/>
          <a:p>
            <a:pPr indent="0" marL="0">
              <a:buNone/>
            </a:pPr>
            <a:r>
              <a:rPr lang="en-US" sz="1400" dirty="0">
                <a:solidFill>
                  <a:srgbClr val="44506B"/>
                </a:solidFill>
                <a:latin typeface="Calibri" pitchFamily="34" charset="0"/>
                <a:ea typeface="Calibri" pitchFamily="34" charset="-122"/>
                <a:cs typeface="Calibri" pitchFamily="34" charset="-120"/>
              </a:rPr>
              <a:t>It describes the journey, the questions and the sequence — it does not pre-empt the answers.</a:t>
            </a:r>
            <a:endParaRPr lang="en-US" sz="1400" dirty="0"/>
          </a:p>
        </p:txBody>
      </p:sp>
      <p:sp>
        <p:nvSpPr>
          <p:cNvPr id="8" name="Shape 6"/>
          <p:cNvSpPr/>
          <p:nvPr/>
        </p:nvSpPr>
        <p:spPr>
          <a:xfrm>
            <a:off x="640080" y="3063240"/>
            <a:ext cx="457200" cy="457200"/>
          </a:xfrm>
          <a:prstGeom prst="ellipse">
            <a:avLst/>
          </a:prstGeom>
          <a:solidFill>
            <a:srgbClr val="3E5C8A"/>
          </a:solidFill>
          <a:ln/>
        </p:spPr>
      </p:sp>
      <p:sp>
        <p:nvSpPr>
          <p:cNvPr id="9" name="Text 7"/>
          <p:cNvSpPr txBox="1"/>
          <p:nvPr/>
        </p:nvSpPr>
        <p:spPr>
          <a:xfrm>
            <a:off x="640080" y="30632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0" name="Text 8"/>
          <p:cNvSpPr txBox="1"/>
          <p:nvPr/>
        </p:nvSpPr>
        <p:spPr>
          <a:xfrm>
            <a:off x="1325880" y="3035808"/>
            <a:ext cx="5943600" cy="365760"/>
          </a:xfrm>
          <a:prstGeom prst="rect">
            <a:avLst/>
          </a:prstGeom>
          <a:noFill/>
          <a:ln/>
        </p:spPr>
        <p:txBody>
          <a:bodyPr wrap="square" lIns="0" tIns="0" rIns="0" bIns="0" rtlCol="0" anchor="ctr"/>
          <a:lstStyle/>
          <a:p>
            <a:pPr indent="0" marL="0">
              <a:buNone/>
            </a:pPr>
            <a:r>
              <a:rPr lang="en-US" sz="1900" b="1" dirty="0">
                <a:solidFill>
                  <a:srgbClr val="16203A"/>
                </a:solidFill>
                <a:latin typeface="Calibri" pitchFamily="34" charset="0"/>
                <a:ea typeface="Calibri" pitchFamily="34" charset="-122"/>
                <a:cs typeface="Calibri" pitchFamily="34" charset="-120"/>
              </a:rPr>
              <a:t>Every element is deliberately open</a:t>
            </a:r>
            <a:endParaRPr lang="en-US" sz="1900" dirty="0"/>
          </a:p>
        </p:txBody>
      </p:sp>
      <p:sp>
        <p:nvSpPr>
          <p:cNvPr id="11" name="Text 9"/>
          <p:cNvSpPr txBox="1"/>
          <p:nvPr/>
        </p:nvSpPr>
        <p:spPr>
          <a:xfrm>
            <a:off x="1325880" y="3447288"/>
            <a:ext cx="6035040" cy="685800"/>
          </a:xfrm>
          <a:prstGeom prst="rect">
            <a:avLst/>
          </a:prstGeom>
          <a:noFill/>
          <a:ln/>
        </p:spPr>
        <p:txBody>
          <a:bodyPr wrap="square" lIns="0" tIns="0" rIns="0" bIns="0" rtlCol="0" anchor="ctr"/>
          <a:lstStyle/>
          <a:p>
            <a:pPr indent="0" marL="0">
              <a:buNone/>
            </a:pPr>
            <a:r>
              <a:rPr lang="en-US" sz="1400" dirty="0">
                <a:solidFill>
                  <a:srgbClr val="44506B"/>
                </a:solidFill>
                <a:latin typeface="Calibri" pitchFamily="34" charset="0"/>
                <a:ea typeface="Calibri" pitchFamily="34" charset="-122"/>
                <a:cs typeface="Calibri" pitchFamily="34" charset="-120"/>
              </a:rPr>
              <a:t>Markets, accounts, offerings, targets and owners are left blank by design and filled through the workstreams.</a:t>
            </a:r>
            <a:endParaRPr lang="en-US" sz="1400" dirty="0"/>
          </a:p>
        </p:txBody>
      </p:sp>
      <p:sp>
        <p:nvSpPr>
          <p:cNvPr id="12" name="Shape 10"/>
          <p:cNvSpPr/>
          <p:nvPr/>
        </p:nvSpPr>
        <p:spPr>
          <a:xfrm>
            <a:off x="640080" y="4297680"/>
            <a:ext cx="457200" cy="457200"/>
          </a:xfrm>
          <a:prstGeom prst="ellipse">
            <a:avLst/>
          </a:prstGeom>
          <a:solidFill>
            <a:srgbClr val="1E2761"/>
          </a:solidFill>
          <a:ln/>
        </p:spPr>
      </p:sp>
      <p:sp>
        <p:nvSpPr>
          <p:cNvPr id="13" name="Text 11"/>
          <p:cNvSpPr txBox="1"/>
          <p:nvPr/>
        </p:nvSpPr>
        <p:spPr>
          <a:xfrm>
            <a:off x="640080" y="42976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4" name="Text 12"/>
          <p:cNvSpPr txBox="1"/>
          <p:nvPr/>
        </p:nvSpPr>
        <p:spPr>
          <a:xfrm>
            <a:off x="1325880" y="4270248"/>
            <a:ext cx="5943600" cy="365760"/>
          </a:xfrm>
          <a:prstGeom prst="rect">
            <a:avLst/>
          </a:prstGeom>
          <a:noFill/>
          <a:ln/>
        </p:spPr>
        <p:txBody>
          <a:bodyPr wrap="square" lIns="0" tIns="0" rIns="0" bIns="0" rtlCol="0" anchor="ctr"/>
          <a:lstStyle/>
          <a:p>
            <a:pPr indent="0" marL="0">
              <a:buNone/>
            </a:pPr>
            <a:r>
              <a:rPr lang="en-US" sz="1900" b="1" dirty="0">
                <a:solidFill>
                  <a:srgbClr val="16203A"/>
                </a:solidFill>
                <a:latin typeface="Calibri" pitchFamily="34" charset="0"/>
                <a:ea typeface="Calibri" pitchFamily="34" charset="-122"/>
                <a:cs typeface="Calibri" pitchFamily="34" charset="-120"/>
              </a:rPr>
              <a:t>One cycle, one sign-off</a:t>
            </a:r>
            <a:endParaRPr lang="en-US" sz="1900" dirty="0"/>
          </a:p>
        </p:txBody>
      </p:sp>
      <p:sp>
        <p:nvSpPr>
          <p:cNvPr id="15" name="Text 13"/>
          <p:cNvSpPr txBox="1"/>
          <p:nvPr/>
        </p:nvSpPr>
        <p:spPr>
          <a:xfrm>
            <a:off x="1325880" y="4681728"/>
            <a:ext cx="6035040" cy="685800"/>
          </a:xfrm>
          <a:prstGeom prst="rect">
            <a:avLst/>
          </a:prstGeom>
          <a:noFill/>
          <a:ln/>
        </p:spPr>
        <p:txBody>
          <a:bodyPr wrap="square" lIns="0" tIns="0" rIns="0" bIns="0" rtlCol="0" anchor="ctr"/>
          <a:lstStyle/>
          <a:p>
            <a:pPr indent="0" marL="0">
              <a:buNone/>
            </a:pPr>
            <a:r>
              <a:rPr lang="en-US" sz="1400" dirty="0">
                <a:solidFill>
                  <a:srgbClr val="44506B"/>
                </a:solidFill>
                <a:latin typeface="Calibri" pitchFamily="34" charset="0"/>
                <a:ea typeface="Calibri" pitchFamily="34" charset="-122"/>
                <a:cs typeface="Calibri" pitchFamily="34" charset="-120"/>
              </a:rPr>
              <a:t>The strategy is treated as a single three-week cycle ending in a decision, not a rolling exercise.</a:t>
            </a:r>
            <a:endParaRPr lang="en-US" sz="1400" dirty="0"/>
          </a:p>
        </p:txBody>
      </p:sp>
      <p:sp>
        <p:nvSpPr>
          <p:cNvPr id="16" name="Shape 14"/>
          <p:cNvSpPr/>
          <p:nvPr/>
        </p:nvSpPr>
        <p:spPr>
          <a:xfrm>
            <a:off x="7863840" y="1783080"/>
            <a:ext cx="3657600" cy="3840480"/>
          </a:xfrm>
          <a:prstGeom prst="roundRect">
            <a:avLst>
              <a:gd name="adj" fmla="val 3000"/>
            </a:avLst>
          </a:prstGeom>
          <a:solidFill>
            <a:srgbClr val="EDF2FA"/>
          </a:solidFill>
          <a:ln/>
        </p:spPr>
      </p:sp>
      <p:sp>
        <p:nvSpPr>
          <p:cNvPr id="17" name="Text 15"/>
          <p:cNvSpPr txBox="1"/>
          <p:nvPr/>
        </p:nvSpPr>
        <p:spPr>
          <a:xfrm>
            <a:off x="8183880" y="2057400"/>
            <a:ext cx="3108960" cy="365760"/>
          </a:xfrm>
          <a:prstGeom prst="rect">
            <a:avLst/>
          </a:prstGeom>
          <a:noFill/>
          <a:ln/>
        </p:spPr>
        <p:txBody>
          <a:bodyPr wrap="square" lIns="0" tIns="0" rIns="0" bIns="0" rtlCol="0" anchor="ctr"/>
          <a:lstStyle/>
          <a:p>
            <a:pPr indent="0" marL="0">
              <a:buNone/>
            </a:pPr>
            <a:r>
              <a:rPr lang="en-US" sz="1700" b="1" dirty="0">
                <a:solidFill>
                  <a:srgbClr val="1E2761"/>
                </a:solidFill>
                <a:latin typeface="Calibri" pitchFamily="34" charset="0"/>
                <a:ea typeface="Calibri" pitchFamily="34" charset="-122"/>
                <a:cs typeface="Calibri" pitchFamily="34" charset="-120"/>
              </a:rPr>
              <a:t>What "done" looks like</a:t>
            </a:r>
            <a:endParaRPr lang="en-US" sz="1700" dirty="0"/>
          </a:p>
        </p:txBody>
      </p:sp>
      <p:sp>
        <p:nvSpPr>
          <p:cNvPr id="18" name="Text 16"/>
          <p:cNvSpPr txBox="1"/>
          <p:nvPr/>
        </p:nvSpPr>
        <p:spPr>
          <a:xfrm>
            <a:off x="8183880" y="2560320"/>
            <a:ext cx="3108960" cy="2743200"/>
          </a:xfrm>
          <a:prstGeom prst="rect">
            <a:avLst/>
          </a:prstGeom>
          <a:noFill/>
          <a:ln/>
        </p:spPr>
        <p:txBody>
          <a:bodyPr wrap="square" lIns="0" tIns="0" rIns="0" bIns="0" rtlCol="0" anchor="ctr"/>
          <a:lstStyle/>
          <a:p>
            <a:pPr marL="342900" indent="-342900">
              <a:spcAft>
                <a:spcPts val="1000"/>
              </a:spcAft>
              <a:buSzPct val="100000"/>
              <a:buChar char="•"/>
            </a:pPr>
            <a:r>
              <a:rPr lang="en-US" sz="1350" dirty="0">
                <a:solidFill>
                  <a:srgbClr val="44506B"/>
                </a:solidFill>
                <a:latin typeface="Calibri" pitchFamily="34" charset="0"/>
                <a:ea typeface="Calibri" pitchFamily="34" charset="-122"/>
                <a:cs typeface="Calibri" pitchFamily="34" charset="-120"/>
              </a:rPr>
              <a:t>An agreed service catalogue</a:t>
            </a:r>
            <a:endParaRPr lang="en-US" sz="1350" dirty="0"/>
          </a:p>
          <a:p>
            <a:pPr marL="342900" indent="-342900">
              <a:spcAft>
                <a:spcPts val="1000"/>
              </a:spcAft>
              <a:buSzPct val="100000"/>
              <a:buChar char="•"/>
            </a:pPr>
            <a:r>
              <a:rPr lang="en-US" sz="1350" dirty="0">
                <a:solidFill>
                  <a:srgbClr val="44506B"/>
                </a:solidFill>
                <a:latin typeface="Calibri" pitchFamily="34" charset="0"/>
                <a:ea typeface="Calibri" pitchFamily="34" charset="-122"/>
                <a:cs typeface="Calibri" pitchFamily="34" charset="-120"/>
              </a:rPr>
              <a:t>A named target account list</a:t>
            </a:r>
            <a:endParaRPr lang="en-US" sz="1350" dirty="0"/>
          </a:p>
          <a:p>
            <a:pPr marL="342900" indent="-342900">
              <a:spcAft>
                <a:spcPts val="1000"/>
              </a:spcAft>
              <a:buSzPct val="100000"/>
              <a:buChar char="•"/>
            </a:pPr>
            <a:r>
              <a:rPr lang="en-US" sz="1350" dirty="0">
                <a:solidFill>
                  <a:srgbClr val="44506B"/>
                </a:solidFill>
                <a:latin typeface="Calibri" pitchFamily="34" charset="0"/>
                <a:ea typeface="Calibri" pitchFamily="34" charset="-122"/>
                <a:cs typeface="Calibri" pitchFamily="34" charset="-120"/>
              </a:rPr>
              <a:t>Revenue and pricing targets</a:t>
            </a:r>
            <a:endParaRPr lang="en-US" sz="1350" dirty="0"/>
          </a:p>
          <a:p>
            <a:pPr marL="342900" indent="-342900">
              <a:spcAft>
                <a:spcPts val="1000"/>
              </a:spcAft>
              <a:buSzPct val="100000"/>
              <a:buChar char="•"/>
            </a:pPr>
            <a:r>
              <a:rPr lang="en-US" sz="1350" dirty="0">
                <a:solidFill>
                  <a:srgbClr val="44506B"/>
                </a:solidFill>
                <a:latin typeface="Calibri" pitchFamily="34" charset="0"/>
                <a:ea typeface="Calibri" pitchFamily="34" charset="-122"/>
                <a:cs typeface="Calibri" pitchFamily="34" charset="-120"/>
              </a:rPr>
              <a:t>An owner against every account</a:t>
            </a:r>
            <a:endParaRPr lang="en-US" sz="1350" dirty="0"/>
          </a:p>
          <a:p>
            <a:pPr marL="342900" indent="-342900">
              <a:spcAft>
                <a:spcPts val="1000"/>
              </a:spcAft>
              <a:buSzPct val="100000"/>
              <a:buChar char="•"/>
            </a:pPr>
            <a:r>
              <a:rPr lang="en-US" sz="1350" dirty="0">
                <a:solidFill>
                  <a:srgbClr val="44506B"/>
                </a:solidFill>
                <a:latin typeface="Calibri" pitchFamily="34" charset="0"/>
                <a:ea typeface="Calibri" pitchFamily="34" charset="-122"/>
                <a:cs typeface="Calibri" pitchFamily="34" charset="-120"/>
              </a:rPr>
              <a:t>A first-90-days activation plan</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685800"/>
          </a:xfrm>
          <a:prstGeom prst="rect">
            <a:avLst/>
          </a:prstGeom>
          <a:noFill/>
          <a:ln/>
        </p:spPr>
        <p:txBody>
          <a:bodyPr wrap="square" lIns="0" tIns="0" rIns="0" bIns="0" rtlCol="0" anchor="ctr"/>
          <a:lstStyle/>
          <a:p>
            <a:pPr indent="0" marL="0">
              <a:buNone/>
            </a:pPr>
            <a:r>
              <a:rPr lang="en-US" sz="3600" b="1" dirty="0">
                <a:solidFill>
                  <a:srgbClr val="16203A"/>
                </a:solidFill>
                <a:latin typeface="Cambria" pitchFamily="34" charset="0"/>
                <a:ea typeface="Cambria" pitchFamily="34" charset="-122"/>
                <a:cs typeface="Cambria" pitchFamily="34" charset="-120"/>
              </a:rPr>
              <a:t>Eleven questions, in five layers</a:t>
            </a:r>
            <a:endParaRPr lang="en-US" sz="3600" dirty="0"/>
          </a:p>
        </p:txBody>
      </p:sp>
      <p:sp>
        <p:nvSpPr>
          <p:cNvPr id="3" name="Text 1"/>
          <p:cNvSpPr txBox="1"/>
          <p:nvPr/>
        </p:nvSpPr>
        <p:spPr>
          <a:xfrm>
            <a:off x="640080" y="1133856"/>
            <a:ext cx="10881360" cy="411480"/>
          </a:xfrm>
          <a:prstGeom prst="rect">
            <a:avLst/>
          </a:prstGeom>
          <a:noFill/>
          <a:ln/>
        </p:spPr>
        <p:txBody>
          <a:bodyPr wrap="square" lIns="0" tIns="0" rIns="0" bIns="0" rtlCol="0" anchor="ctr"/>
          <a:lstStyle/>
          <a:p>
            <a:pPr indent="0" marL="0">
              <a:buNone/>
            </a:pPr>
            <a:r>
              <a:rPr lang="en-US" sz="1450" dirty="0">
                <a:solidFill>
                  <a:srgbClr val="8792AB"/>
                </a:solidFill>
                <a:latin typeface="Calibri" pitchFamily="34" charset="0"/>
                <a:ea typeface="Calibri" pitchFamily="34" charset="-122"/>
                <a:cs typeface="Calibri" pitchFamily="34" charset="-120"/>
              </a:rPr>
              <a:t>Ambition first, then the choices, then what makes them real.</a:t>
            </a:r>
            <a:endParaRPr lang="en-US" sz="1450" dirty="0"/>
          </a:p>
        </p:txBody>
      </p:sp>
      <p:sp>
        <p:nvSpPr>
          <p:cNvPr id="4" name="Shape 2"/>
          <p:cNvSpPr/>
          <p:nvPr/>
        </p:nvSpPr>
        <p:spPr>
          <a:xfrm>
            <a:off x="640080" y="1783080"/>
            <a:ext cx="2011680" cy="749808"/>
          </a:xfrm>
          <a:prstGeom prst="roundRect">
            <a:avLst>
              <a:gd name="adj" fmla="val 12195"/>
            </a:avLst>
          </a:prstGeom>
          <a:solidFill>
            <a:srgbClr val="1E2761"/>
          </a:solidFill>
          <a:ln/>
        </p:spPr>
      </p:sp>
      <p:sp>
        <p:nvSpPr>
          <p:cNvPr id="5" name="Text 3"/>
          <p:cNvSpPr txBox="1"/>
          <p:nvPr/>
        </p:nvSpPr>
        <p:spPr>
          <a:xfrm>
            <a:off x="640080" y="1783080"/>
            <a:ext cx="2011680" cy="7498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Ambition</a:t>
            </a:r>
            <a:endParaRPr lang="en-US" sz="1400" dirty="0"/>
          </a:p>
        </p:txBody>
      </p:sp>
      <p:sp>
        <p:nvSpPr>
          <p:cNvPr id="6" name="Shape 4"/>
          <p:cNvSpPr/>
          <p:nvPr/>
        </p:nvSpPr>
        <p:spPr>
          <a:xfrm>
            <a:off x="2743200" y="1783080"/>
            <a:ext cx="8778240" cy="749808"/>
          </a:xfrm>
          <a:prstGeom prst="roundRect">
            <a:avLst>
              <a:gd name="adj" fmla="val 12195"/>
            </a:avLst>
          </a:prstGeom>
          <a:solidFill>
            <a:srgbClr val="E4EBF7"/>
          </a:solidFill>
          <a:ln/>
        </p:spPr>
      </p:sp>
      <p:sp>
        <p:nvSpPr>
          <p:cNvPr id="7" name="Text 5"/>
          <p:cNvSpPr txBox="1"/>
          <p:nvPr/>
        </p:nvSpPr>
        <p:spPr>
          <a:xfrm>
            <a:off x="2907792" y="1856232"/>
            <a:ext cx="8458200" cy="292608"/>
          </a:xfrm>
          <a:prstGeom prst="rect">
            <a:avLst/>
          </a:prstGeom>
          <a:noFill/>
          <a:ln/>
        </p:spPr>
        <p:txBody>
          <a:bodyPr wrap="square" lIns="0" tIns="0" rIns="0" bIns="0" rtlCol="0" anchor="ctr"/>
          <a:lstStyle/>
          <a:p>
            <a:pPr indent="0" marL="0">
              <a:buNone/>
            </a:pPr>
            <a:r>
              <a:rPr lang="en-US" sz="1250" b="1" dirty="0">
                <a:solidFill>
                  <a:srgbClr val="16203A"/>
                </a:solidFill>
                <a:latin typeface="Calibri" pitchFamily="34" charset="0"/>
                <a:ea typeface="Calibri" pitchFamily="34" charset="-122"/>
                <a:cs typeface="Calibri" pitchFamily="34" charset="-120"/>
              </a:rPr>
              <a:t>1  What winning looks like</a:t>
            </a:r>
            <a:endParaRPr lang="en-US" sz="1250" dirty="0"/>
          </a:p>
        </p:txBody>
      </p:sp>
      <p:sp>
        <p:nvSpPr>
          <p:cNvPr id="8" name="Text 6"/>
          <p:cNvSpPr txBox="1"/>
          <p:nvPr/>
        </p:nvSpPr>
        <p:spPr>
          <a:xfrm>
            <a:off x="2907792" y="2167128"/>
            <a:ext cx="8458200" cy="310896"/>
          </a:xfrm>
          <a:prstGeom prst="rect">
            <a:avLst/>
          </a:prstGeom>
          <a:noFill/>
          <a:ln/>
        </p:spPr>
        <p:txBody>
          <a:bodyPr wrap="square" lIns="0" tIns="0" rIns="0" bIns="0" rtlCol="0" anchor="ctr"/>
          <a:lstStyle/>
          <a:p>
            <a:pPr indent="0" marL="0">
              <a:buNone/>
            </a:pPr>
            <a:r>
              <a:rPr lang="en-US" sz="1050" dirty="0">
                <a:solidFill>
                  <a:srgbClr val="44506B"/>
                </a:solidFill>
                <a:latin typeface="Calibri" pitchFamily="34" charset="0"/>
                <a:ea typeface="Calibri" pitchFamily="34" charset="-122"/>
                <a:cs typeface="Calibri" pitchFamily="34" charset="-120"/>
              </a:rPr>
              <a:t>What must be true in three years, in numbers?</a:t>
            </a:r>
            <a:endParaRPr lang="en-US" sz="1050" dirty="0"/>
          </a:p>
        </p:txBody>
      </p:sp>
      <p:sp>
        <p:nvSpPr>
          <p:cNvPr id="9" name="Shape 7"/>
          <p:cNvSpPr/>
          <p:nvPr/>
        </p:nvSpPr>
        <p:spPr>
          <a:xfrm>
            <a:off x="640080" y="2651760"/>
            <a:ext cx="2011680" cy="749808"/>
          </a:xfrm>
          <a:prstGeom prst="roundRect">
            <a:avLst>
              <a:gd name="adj" fmla="val 12195"/>
            </a:avLst>
          </a:prstGeom>
          <a:solidFill>
            <a:srgbClr val="1E2761"/>
          </a:solidFill>
          <a:ln/>
        </p:spPr>
      </p:sp>
      <p:sp>
        <p:nvSpPr>
          <p:cNvPr id="10" name="Text 8"/>
          <p:cNvSpPr txBox="1"/>
          <p:nvPr/>
        </p:nvSpPr>
        <p:spPr>
          <a:xfrm>
            <a:off x="640080" y="2651760"/>
            <a:ext cx="2011680" cy="7498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Choices</a:t>
            </a:r>
            <a:endParaRPr lang="en-US" sz="1400" dirty="0"/>
          </a:p>
        </p:txBody>
      </p:sp>
      <p:sp>
        <p:nvSpPr>
          <p:cNvPr id="11" name="Shape 9"/>
          <p:cNvSpPr/>
          <p:nvPr/>
        </p:nvSpPr>
        <p:spPr>
          <a:xfrm>
            <a:off x="2743200" y="2651760"/>
            <a:ext cx="2834640" cy="749808"/>
          </a:xfrm>
          <a:prstGeom prst="roundRect">
            <a:avLst>
              <a:gd name="adj" fmla="val 12195"/>
            </a:avLst>
          </a:prstGeom>
          <a:solidFill>
            <a:srgbClr val="EDF2FA"/>
          </a:solidFill>
          <a:ln/>
        </p:spPr>
      </p:sp>
      <p:sp>
        <p:nvSpPr>
          <p:cNvPr id="12" name="Text 10"/>
          <p:cNvSpPr txBox="1"/>
          <p:nvPr/>
        </p:nvSpPr>
        <p:spPr>
          <a:xfrm>
            <a:off x="2907792" y="2724912"/>
            <a:ext cx="2514600" cy="292608"/>
          </a:xfrm>
          <a:prstGeom prst="rect">
            <a:avLst/>
          </a:prstGeom>
          <a:noFill/>
          <a:ln/>
        </p:spPr>
        <p:txBody>
          <a:bodyPr wrap="square" lIns="0" tIns="0" rIns="0" bIns="0" rtlCol="0" anchor="ctr"/>
          <a:lstStyle/>
          <a:p>
            <a:pPr indent="0" marL="0">
              <a:buNone/>
            </a:pPr>
            <a:r>
              <a:rPr lang="en-US" sz="1250" b="1" dirty="0">
                <a:solidFill>
                  <a:srgbClr val="16203A"/>
                </a:solidFill>
                <a:latin typeface="Calibri" pitchFamily="34" charset="0"/>
                <a:ea typeface="Calibri" pitchFamily="34" charset="-122"/>
                <a:cs typeface="Calibri" pitchFamily="34" charset="-120"/>
              </a:rPr>
              <a:t>2  Where to play</a:t>
            </a:r>
            <a:endParaRPr lang="en-US" sz="1250" dirty="0"/>
          </a:p>
        </p:txBody>
      </p:sp>
      <p:sp>
        <p:nvSpPr>
          <p:cNvPr id="13" name="Text 11"/>
          <p:cNvSpPr txBox="1"/>
          <p:nvPr/>
        </p:nvSpPr>
        <p:spPr>
          <a:xfrm>
            <a:off x="2907792" y="3035808"/>
            <a:ext cx="2514600" cy="310896"/>
          </a:xfrm>
          <a:prstGeom prst="rect">
            <a:avLst/>
          </a:prstGeom>
          <a:noFill/>
          <a:ln/>
        </p:spPr>
        <p:txBody>
          <a:bodyPr wrap="square" lIns="0" tIns="0" rIns="0" bIns="0" rtlCol="0" anchor="ctr"/>
          <a:lstStyle/>
          <a:p>
            <a:pPr indent="0" marL="0">
              <a:buNone/>
            </a:pPr>
            <a:r>
              <a:rPr lang="en-US" sz="1050" dirty="0">
                <a:solidFill>
                  <a:srgbClr val="44506B"/>
                </a:solidFill>
                <a:latin typeface="Calibri" pitchFamily="34" charset="0"/>
                <a:ea typeface="Calibri" pitchFamily="34" charset="-122"/>
                <a:cs typeface="Calibri" pitchFamily="34" charset="-120"/>
              </a:rPr>
              <a:t>Which markets, segments and named accounts?</a:t>
            </a:r>
            <a:endParaRPr lang="en-US" sz="1050" dirty="0"/>
          </a:p>
        </p:txBody>
      </p:sp>
      <p:sp>
        <p:nvSpPr>
          <p:cNvPr id="14" name="Shape 12"/>
          <p:cNvSpPr/>
          <p:nvPr/>
        </p:nvSpPr>
        <p:spPr>
          <a:xfrm>
            <a:off x="5715000" y="2651760"/>
            <a:ext cx="2834640" cy="749808"/>
          </a:xfrm>
          <a:prstGeom prst="roundRect">
            <a:avLst>
              <a:gd name="adj" fmla="val 12195"/>
            </a:avLst>
          </a:prstGeom>
          <a:solidFill>
            <a:srgbClr val="EDF2FA"/>
          </a:solidFill>
          <a:ln/>
        </p:spPr>
      </p:sp>
      <p:sp>
        <p:nvSpPr>
          <p:cNvPr id="15" name="Text 13"/>
          <p:cNvSpPr txBox="1"/>
          <p:nvPr/>
        </p:nvSpPr>
        <p:spPr>
          <a:xfrm>
            <a:off x="5879592" y="2724912"/>
            <a:ext cx="2514600" cy="292608"/>
          </a:xfrm>
          <a:prstGeom prst="rect">
            <a:avLst/>
          </a:prstGeom>
          <a:noFill/>
          <a:ln/>
        </p:spPr>
        <p:txBody>
          <a:bodyPr wrap="square" lIns="0" tIns="0" rIns="0" bIns="0" rtlCol="0" anchor="ctr"/>
          <a:lstStyle/>
          <a:p>
            <a:pPr indent="0" marL="0">
              <a:buNone/>
            </a:pPr>
            <a:r>
              <a:rPr lang="en-US" sz="1250" b="1" dirty="0">
                <a:solidFill>
                  <a:srgbClr val="16203A"/>
                </a:solidFill>
                <a:latin typeface="Calibri" pitchFamily="34" charset="0"/>
                <a:ea typeface="Calibri" pitchFamily="34" charset="-122"/>
                <a:cs typeface="Calibri" pitchFamily="34" charset="-120"/>
              </a:rPr>
              <a:t>3  What we offer</a:t>
            </a:r>
            <a:endParaRPr lang="en-US" sz="1250" dirty="0"/>
          </a:p>
        </p:txBody>
      </p:sp>
      <p:sp>
        <p:nvSpPr>
          <p:cNvPr id="16" name="Text 14"/>
          <p:cNvSpPr txBox="1"/>
          <p:nvPr/>
        </p:nvSpPr>
        <p:spPr>
          <a:xfrm>
            <a:off x="5879592" y="3035808"/>
            <a:ext cx="2514600" cy="310896"/>
          </a:xfrm>
          <a:prstGeom prst="rect">
            <a:avLst/>
          </a:prstGeom>
          <a:noFill/>
          <a:ln/>
        </p:spPr>
        <p:txBody>
          <a:bodyPr wrap="square" lIns="0" tIns="0" rIns="0" bIns="0" rtlCol="0" anchor="ctr"/>
          <a:lstStyle/>
          <a:p>
            <a:pPr indent="0" marL="0">
              <a:buNone/>
            </a:pPr>
            <a:r>
              <a:rPr lang="en-US" sz="1050" dirty="0">
                <a:solidFill>
                  <a:srgbClr val="44506B"/>
                </a:solidFill>
                <a:latin typeface="Calibri" pitchFamily="34" charset="0"/>
                <a:ea typeface="Calibri" pitchFamily="34" charset="-122"/>
                <a:cs typeface="Calibri" pitchFamily="34" charset="-120"/>
              </a:rPr>
              <a:t>Which integrated propositions and variants?</a:t>
            </a:r>
            <a:endParaRPr lang="en-US" sz="1050" dirty="0"/>
          </a:p>
        </p:txBody>
      </p:sp>
      <p:sp>
        <p:nvSpPr>
          <p:cNvPr id="17" name="Shape 15"/>
          <p:cNvSpPr/>
          <p:nvPr/>
        </p:nvSpPr>
        <p:spPr>
          <a:xfrm>
            <a:off x="8686800" y="2651760"/>
            <a:ext cx="2834640" cy="749808"/>
          </a:xfrm>
          <a:prstGeom prst="roundRect">
            <a:avLst>
              <a:gd name="adj" fmla="val 12195"/>
            </a:avLst>
          </a:prstGeom>
          <a:solidFill>
            <a:srgbClr val="EDF2FA"/>
          </a:solidFill>
          <a:ln/>
        </p:spPr>
      </p:sp>
      <p:sp>
        <p:nvSpPr>
          <p:cNvPr id="18" name="Text 16"/>
          <p:cNvSpPr txBox="1"/>
          <p:nvPr/>
        </p:nvSpPr>
        <p:spPr>
          <a:xfrm>
            <a:off x="8851392" y="2724912"/>
            <a:ext cx="2514600" cy="292608"/>
          </a:xfrm>
          <a:prstGeom prst="rect">
            <a:avLst/>
          </a:prstGeom>
          <a:noFill/>
          <a:ln/>
        </p:spPr>
        <p:txBody>
          <a:bodyPr wrap="square" lIns="0" tIns="0" rIns="0" bIns="0" rtlCol="0" anchor="ctr"/>
          <a:lstStyle/>
          <a:p>
            <a:pPr indent="0" marL="0">
              <a:buNone/>
            </a:pPr>
            <a:r>
              <a:rPr lang="en-US" sz="1250" b="1" dirty="0">
                <a:solidFill>
                  <a:srgbClr val="16203A"/>
                </a:solidFill>
                <a:latin typeface="Calibri" pitchFamily="34" charset="0"/>
                <a:ea typeface="Calibri" pitchFamily="34" charset="-122"/>
                <a:cs typeface="Calibri" pitchFamily="34" charset="-120"/>
              </a:rPr>
              <a:t>4  How we win</a:t>
            </a:r>
            <a:endParaRPr lang="en-US" sz="1250" dirty="0"/>
          </a:p>
        </p:txBody>
      </p:sp>
      <p:sp>
        <p:nvSpPr>
          <p:cNvPr id="19" name="Text 17"/>
          <p:cNvSpPr txBox="1"/>
          <p:nvPr/>
        </p:nvSpPr>
        <p:spPr>
          <a:xfrm>
            <a:off x="8851392" y="3035808"/>
            <a:ext cx="2514600" cy="310896"/>
          </a:xfrm>
          <a:prstGeom prst="rect">
            <a:avLst/>
          </a:prstGeom>
          <a:noFill/>
          <a:ln/>
        </p:spPr>
        <p:txBody>
          <a:bodyPr wrap="square" lIns="0" tIns="0" rIns="0" bIns="0" rtlCol="0" anchor="ctr"/>
          <a:lstStyle/>
          <a:p>
            <a:pPr indent="0" marL="0">
              <a:buNone/>
            </a:pPr>
            <a:r>
              <a:rPr lang="en-US" sz="1050" dirty="0">
                <a:solidFill>
                  <a:srgbClr val="44506B"/>
                </a:solidFill>
                <a:latin typeface="Calibri" pitchFamily="34" charset="0"/>
                <a:ea typeface="Calibri" pitchFamily="34" charset="-122"/>
                <a:cs typeface="Calibri" pitchFamily="34" charset="-120"/>
              </a:rPr>
              <a:t>What differentiates us, and how do we deliver?</a:t>
            </a:r>
            <a:endParaRPr lang="en-US" sz="1050" dirty="0"/>
          </a:p>
        </p:txBody>
      </p:sp>
      <p:sp>
        <p:nvSpPr>
          <p:cNvPr id="20" name="Shape 18"/>
          <p:cNvSpPr/>
          <p:nvPr/>
        </p:nvSpPr>
        <p:spPr>
          <a:xfrm>
            <a:off x="640080" y="3520440"/>
            <a:ext cx="2011680" cy="749808"/>
          </a:xfrm>
          <a:prstGeom prst="roundRect">
            <a:avLst>
              <a:gd name="adj" fmla="val 12195"/>
            </a:avLst>
          </a:prstGeom>
          <a:solidFill>
            <a:srgbClr val="1E2761"/>
          </a:solidFill>
          <a:ln/>
        </p:spPr>
      </p:sp>
      <p:sp>
        <p:nvSpPr>
          <p:cNvPr id="21" name="Text 19"/>
          <p:cNvSpPr txBox="1"/>
          <p:nvPr/>
        </p:nvSpPr>
        <p:spPr>
          <a:xfrm>
            <a:off x="640080" y="3520440"/>
            <a:ext cx="2011680" cy="7498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Commercial</a:t>
            </a:r>
            <a:endParaRPr lang="en-US" sz="1400" dirty="0"/>
          </a:p>
        </p:txBody>
      </p:sp>
      <p:sp>
        <p:nvSpPr>
          <p:cNvPr id="22" name="Shape 20"/>
          <p:cNvSpPr/>
          <p:nvPr/>
        </p:nvSpPr>
        <p:spPr>
          <a:xfrm>
            <a:off x="2743200" y="3520440"/>
            <a:ext cx="4320540" cy="749808"/>
          </a:xfrm>
          <a:prstGeom prst="roundRect">
            <a:avLst>
              <a:gd name="adj" fmla="val 12195"/>
            </a:avLst>
          </a:prstGeom>
          <a:solidFill>
            <a:srgbClr val="E4EBF7"/>
          </a:solidFill>
          <a:ln/>
        </p:spPr>
      </p:sp>
      <p:sp>
        <p:nvSpPr>
          <p:cNvPr id="23" name="Text 21"/>
          <p:cNvSpPr txBox="1"/>
          <p:nvPr/>
        </p:nvSpPr>
        <p:spPr>
          <a:xfrm>
            <a:off x="2907792" y="3593592"/>
            <a:ext cx="4000500" cy="292608"/>
          </a:xfrm>
          <a:prstGeom prst="rect">
            <a:avLst/>
          </a:prstGeom>
          <a:noFill/>
          <a:ln/>
        </p:spPr>
        <p:txBody>
          <a:bodyPr wrap="square" lIns="0" tIns="0" rIns="0" bIns="0" rtlCol="0" anchor="ctr"/>
          <a:lstStyle/>
          <a:p>
            <a:pPr indent="0" marL="0">
              <a:buNone/>
            </a:pPr>
            <a:r>
              <a:rPr lang="en-US" sz="1250" b="1" dirty="0">
                <a:solidFill>
                  <a:srgbClr val="16203A"/>
                </a:solidFill>
                <a:latin typeface="Calibri" pitchFamily="34" charset="0"/>
                <a:ea typeface="Calibri" pitchFamily="34" charset="-122"/>
                <a:cs typeface="Calibri" pitchFamily="34" charset="-120"/>
              </a:rPr>
              <a:t>5  How much</a:t>
            </a:r>
            <a:endParaRPr lang="en-US" sz="1250" dirty="0"/>
          </a:p>
        </p:txBody>
      </p:sp>
      <p:sp>
        <p:nvSpPr>
          <p:cNvPr id="24" name="Text 22"/>
          <p:cNvSpPr txBox="1"/>
          <p:nvPr/>
        </p:nvSpPr>
        <p:spPr>
          <a:xfrm>
            <a:off x="2907792" y="3904488"/>
            <a:ext cx="4000500" cy="310896"/>
          </a:xfrm>
          <a:prstGeom prst="rect">
            <a:avLst/>
          </a:prstGeom>
          <a:noFill/>
          <a:ln/>
        </p:spPr>
        <p:txBody>
          <a:bodyPr wrap="square" lIns="0" tIns="0" rIns="0" bIns="0" rtlCol="0" anchor="ctr"/>
          <a:lstStyle/>
          <a:p>
            <a:pPr indent="0" marL="0">
              <a:buNone/>
            </a:pPr>
            <a:r>
              <a:rPr lang="en-US" sz="1050" dirty="0">
                <a:solidFill>
                  <a:srgbClr val="44506B"/>
                </a:solidFill>
                <a:latin typeface="Calibri" pitchFamily="34" charset="0"/>
                <a:ea typeface="Calibri" pitchFamily="34" charset="-122"/>
                <a:cs typeface="Calibri" pitchFamily="34" charset="-120"/>
              </a:rPr>
              <a:t>Revenue by market and offering, deal sizes, price bands</a:t>
            </a:r>
            <a:endParaRPr lang="en-US" sz="1050" dirty="0"/>
          </a:p>
        </p:txBody>
      </p:sp>
      <p:sp>
        <p:nvSpPr>
          <p:cNvPr id="25" name="Shape 23"/>
          <p:cNvSpPr/>
          <p:nvPr/>
        </p:nvSpPr>
        <p:spPr>
          <a:xfrm>
            <a:off x="7200900" y="3520440"/>
            <a:ext cx="4320540" cy="749808"/>
          </a:xfrm>
          <a:prstGeom prst="roundRect">
            <a:avLst>
              <a:gd name="adj" fmla="val 12195"/>
            </a:avLst>
          </a:prstGeom>
          <a:solidFill>
            <a:srgbClr val="E4EBF7"/>
          </a:solidFill>
          <a:ln/>
        </p:spPr>
      </p:sp>
      <p:sp>
        <p:nvSpPr>
          <p:cNvPr id="26" name="Text 24"/>
          <p:cNvSpPr txBox="1"/>
          <p:nvPr/>
        </p:nvSpPr>
        <p:spPr>
          <a:xfrm>
            <a:off x="7365492" y="3593592"/>
            <a:ext cx="4000500" cy="292608"/>
          </a:xfrm>
          <a:prstGeom prst="rect">
            <a:avLst/>
          </a:prstGeom>
          <a:noFill/>
          <a:ln/>
        </p:spPr>
        <p:txBody>
          <a:bodyPr wrap="square" lIns="0" tIns="0" rIns="0" bIns="0" rtlCol="0" anchor="ctr"/>
          <a:lstStyle/>
          <a:p>
            <a:pPr indent="0" marL="0">
              <a:buNone/>
            </a:pPr>
            <a:r>
              <a:rPr lang="en-US" sz="1250" b="1" dirty="0">
                <a:solidFill>
                  <a:srgbClr val="16203A"/>
                </a:solidFill>
                <a:latin typeface="Calibri" pitchFamily="34" charset="0"/>
                <a:ea typeface="Calibri" pitchFamily="34" charset="-122"/>
                <a:cs typeface="Calibri" pitchFamily="34" charset="-120"/>
              </a:rPr>
              <a:t>6  At what margin</a:t>
            </a:r>
            <a:endParaRPr lang="en-US" sz="1250" dirty="0"/>
          </a:p>
        </p:txBody>
      </p:sp>
      <p:sp>
        <p:nvSpPr>
          <p:cNvPr id="27" name="Text 25"/>
          <p:cNvSpPr txBox="1"/>
          <p:nvPr/>
        </p:nvSpPr>
        <p:spPr>
          <a:xfrm>
            <a:off x="7365492" y="3904488"/>
            <a:ext cx="4000500" cy="310896"/>
          </a:xfrm>
          <a:prstGeom prst="rect">
            <a:avLst/>
          </a:prstGeom>
          <a:noFill/>
          <a:ln/>
        </p:spPr>
        <p:txBody>
          <a:bodyPr wrap="square" lIns="0" tIns="0" rIns="0" bIns="0" rtlCol="0" anchor="ctr"/>
          <a:lstStyle/>
          <a:p>
            <a:pPr indent="0" marL="0">
              <a:buNone/>
            </a:pPr>
            <a:r>
              <a:rPr lang="en-US" sz="1050" dirty="0">
                <a:solidFill>
                  <a:srgbClr val="44506B"/>
                </a:solidFill>
                <a:latin typeface="Calibri" pitchFamily="34" charset="0"/>
                <a:ea typeface="Calibri" pitchFamily="34" charset="-122"/>
                <a:cs typeface="Calibri" pitchFamily="34" charset="-120"/>
              </a:rPr>
              <a:t>Delivery construct, blended ADR, target gross margin</a:t>
            </a:r>
            <a:endParaRPr lang="en-US" sz="1050" dirty="0"/>
          </a:p>
        </p:txBody>
      </p:sp>
      <p:sp>
        <p:nvSpPr>
          <p:cNvPr id="28" name="Shape 26"/>
          <p:cNvSpPr/>
          <p:nvPr/>
        </p:nvSpPr>
        <p:spPr>
          <a:xfrm>
            <a:off x="640080" y="4389120"/>
            <a:ext cx="2011680" cy="749808"/>
          </a:xfrm>
          <a:prstGeom prst="roundRect">
            <a:avLst>
              <a:gd name="adj" fmla="val 12195"/>
            </a:avLst>
          </a:prstGeom>
          <a:solidFill>
            <a:srgbClr val="1E2761"/>
          </a:solidFill>
          <a:ln/>
        </p:spPr>
      </p:sp>
      <p:sp>
        <p:nvSpPr>
          <p:cNvPr id="29" name="Text 27"/>
          <p:cNvSpPr txBox="1"/>
          <p:nvPr/>
        </p:nvSpPr>
        <p:spPr>
          <a:xfrm>
            <a:off x="640080" y="4389120"/>
            <a:ext cx="2011680" cy="7498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Enablers</a:t>
            </a:r>
            <a:endParaRPr lang="en-US" sz="1400" dirty="0"/>
          </a:p>
        </p:txBody>
      </p:sp>
      <p:sp>
        <p:nvSpPr>
          <p:cNvPr id="30" name="Shape 28"/>
          <p:cNvSpPr/>
          <p:nvPr/>
        </p:nvSpPr>
        <p:spPr>
          <a:xfrm>
            <a:off x="2743200" y="4389120"/>
            <a:ext cx="2091690" cy="749808"/>
          </a:xfrm>
          <a:prstGeom prst="roundRect">
            <a:avLst>
              <a:gd name="adj" fmla="val 12195"/>
            </a:avLst>
          </a:prstGeom>
          <a:solidFill>
            <a:srgbClr val="EDF2FA"/>
          </a:solidFill>
          <a:ln/>
        </p:spPr>
      </p:sp>
      <p:sp>
        <p:nvSpPr>
          <p:cNvPr id="31" name="Text 29"/>
          <p:cNvSpPr txBox="1"/>
          <p:nvPr/>
        </p:nvSpPr>
        <p:spPr>
          <a:xfrm>
            <a:off x="2907792" y="4462272"/>
            <a:ext cx="1771650" cy="292608"/>
          </a:xfrm>
          <a:prstGeom prst="rect">
            <a:avLst/>
          </a:prstGeom>
          <a:noFill/>
          <a:ln/>
        </p:spPr>
        <p:txBody>
          <a:bodyPr wrap="square" lIns="0" tIns="0" rIns="0" bIns="0" rtlCol="0" anchor="ctr"/>
          <a:lstStyle/>
          <a:p>
            <a:pPr indent="0" marL="0">
              <a:buNone/>
            </a:pPr>
            <a:r>
              <a:rPr lang="en-US" sz="1250" b="1" dirty="0">
                <a:solidFill>
                  <a:srgbClr val="16203A"/>
                </a:solidFill>
                <a:latin typeface="Calibri" pitchFamily="34" charset="0"/>
                <a:ea typeface="Calibri" pitchFamily="34" charset="-122"/>
                <a:cs typeface="Calibri" pitchFamily="34" charset="-120"/>
              </a:rPr>
              <a:t>7  Coverage</a:t>
            </a:r>
            <a:endParaRPr lang="en-US" sz="1250" dirty="0"/>
          </a:p>
        </p:txBody>
      </p:sp>
      <p:sp>
        <p:nvSpPr>
          <p:cNvPr id="32" name="Text 30"/>
          <p:cNvSpPr txBox="1"/>
          <p:nvPr/>
        </p:nvSpPr>
        <p:spPr>
          <a:xfrm>
            <a:off x="2907792" y="4773168"/>
            <a:ext cx="1771650" cy="310896"/>
          </a:xfrm>
          <a:prstGeom prst="rect">
            <a:avLst/>
          </a:prstGeom>
          <a:noFill/>
          <a:ln/>
        </p:spPr>
        <p:txBody>
          <a:bodyPr wrap="square" lIns="0" tIns="0" rIns="0" bIns="0" rtlCol="0" anchor="ctr"/>
          <a:lstStyle/>
          <a:p>
            <a:pPr indent="0" marL="0">
              <a:buNone/>
            </a:pPr>
            <a:r>
              <a:rPr lang="en-US" sz="1050" dirty="0">
                <a:solidFill>
                  <a:srgbClr val="44506B"/>
                </a:solidFill>
                <a:latin typeface="Calibri" pitchFamily="34" charset="0"/>
                <a:ea typeface="Calibri" pitchFamily="34" charset="-122"/>
                <a:cs typeface="Calibri" pitchFamily="34" charset="-120"/>
              </a:rPr>
              <a:t>Which partner owns which account?</a:t>
            </a:r>
            <a:endParaRPr lang="en-US" sz="1050" dirty="0"/>
          </a:p>
        </p:txBody>
      </p:sp>
      <p:sp>
        <p:nvSpPr>
          <p:cNvPr id="33" name="Shape 31"/>
          <p:cNvSpPr/>
          <p:nvPr/>
        </p:nvSpPr>
        <p:spPr>
          <a:xfrm>
            <a:off x="4972050" y="4389120"/>
            <a:ext cx="2091690" cy="749808"/>
          </a:xfrm>
          <a:prstGeom prst="roundRect">
            <a:avLst>
              <a:gd name="adj" fmla="val 12195"/>
            </a:avLst>
          </a:prstGeom>
          <a:solidFill>
            <a:srgbClr val="EDF2FA"/>
          </a:solidFill>
          <a:ln/>
        </p:spPr>
      </p:sp>
      <p:sp>
        <p:nvSpPr>
          <p:cNvPr id="34" name="Text 32"/>
          <p:cNvSpPr txBox="1"/>
          <p:nvPr/>
        </p:nvSpPr>
        <p:spPr>
          <a:xfrm>
            <a:off x="5136642" y="4462272"/>
            <a:ext cx="1771650" cy="292608"/>
          </a:xfrm>
          <a:prstGeom prst="rect">
            <a:avLst/>
          </a:prstGeom>
          <a:noFill/>
          <a:ln/>
        </p:spPr>
        <p:txBody>
          <a:bodyPr wrap="square" lIns="0" tIns="0" rIns="0" bIns="0" rtlCol="0" anchor="ctr"/>
          <a:lstStyle/>
          <a:p>
            <a:pPr indent="0" marL="0">
              <a:buNone/>
            </a:pPr>
            <a:r>
              <a:rPr lang="en-US" sz="1250" b="1" dirty="0">
                <a:solidFill>
                  <a:srgbClr val="16203A"/>
                </a:solidFill>
                <a:latin typeface="Calibri" pitchFamily="34" charset="0"/>
                <a:ea typeface="Calibri" pitchFamily="34" charset="-122"/>
                <a:cs typeface="Calibri" pitchFamily="34" charset="-120"/>
              </a:rPr>
              <a:t>8  People</a:t>
            </a:r>
            <a:endParaRPr lang="en-US" sz="1250" dirty="0"/>
          </a:p>
        </p:txBody>
      </p:sp>
      <p:sp>
        <p:nvSpPr>
          <p:cNvPr id="35" name="Text 33"/>
          <p:cNvSpPr txBox="1"/>
          <p:nvPr/>
        </p:nvSpPr>
        <p:spPr>
          <a:xfrm>
            <a:off x="5136642" y="4773168"/>
            <a:ext cx="1771650" cy="310896"/>
          </a:xfrm>
          <a:prstGeom prst="rect">
            <a:avLst/>
          </a:prstGeom>
          <a:noFill/>
          <a:ln/>
        </p:spPr>
        <p:txBody>
          <a:bodyPr wrap="square" lIns="0" tIns="0" rIns="0" bIns="0" rtlCol="0" anchor="ctr"/>
          <a:lstStyle/>
          <a:p>
            <a:pPr indent="0" marL="0">
              <a:buNone/>
            </a:pPr>
            <a:r>
              <a:rPr lang="en-US" sz="1050" dirty="0">
                <a:solidFill>
                  <a:srgbClr val="44506B"/>
                </a:solidFill>
                <a:latin typeface="Calibri" pitchFamily="34" charset="0"/>
                <a:ea typeface="Calibri" pitchFamily="34" charset="-122"/>
                <a:cs typeface="Calibri" pitchFamily="34" charset="-120"/>
              </a:rPr>
              <a:t>Dedicated, shared and recruited capacity</a:t>
            </a:r>
            <a:endParaRPr lang="en-US" sz="1050" dirty="0"/>
          </a:p>
        </p:txBody>
      </p:sp>
      <p:sp>
        <p:nvSpPr>
          <p:cNvPr id="36" name="Shape 34"/>
          <p:cNvSpPr/>
          <p:nvPr/>
        </p:nvSpPr>
        <p:spPr>
          <a:xfrm>
            <a:off x="7200900" y="4389120"/>
            <a:ext cx="2091690" cy="749808"/>
          </a:xfrm>
          <a:prstGeom prst="roundRect">
            <a:avLst>
              <a:gd name="adj" fmla="val 12195"/>
            </a:avLst>
          </a:prstGeom>
          <a:solidFill>
            <a:srgbClr val="EDF2FA"/>
          </a:solidFill>
          <a:ln/>
        </p:spPr>
      </p:sp>
      <p:sp>
        <p:nvSpPr>
          <p:cNvPr id="37" name="Text 35"/>
          <p:cNvSpPr txBox="1"/>
          <p:nvPr/>
        </p:nvSpPr>
        <p:spPr>
          <a:xfrm>
            <a:off x="7365492" y="4462272"/>
            <a:ext cx="1771650" cy="292608"/>
          </a:xfrm>
          <a:prstGeom prst="rect">
            <a:avLst/>
          </a:prstGeom>
          <a:noFill/>
          <a:ln/>
        </p:spPr>
        <p:txBody>
          <a:bodyPr wrap="square" lIns="0" tIns="0" rIns="0" bIns="0" rtlCol="0" anchor="ctr"/>
          <a:lstStyle/>
          <a:p>
            <a:pPr indent="0" marL="0">
              <a:buNone/>
            </a:pPr>
            <a:r>
              <a:rPr lang="en-US" sz="1250" b="1" dirty="0">
                <a:solidFill>
                  <a:srgbClr val="16203A"/>
                </a:solidFill>
                <a:latin typeface="Calibri" pitchFamily="34" charset="0"/>
                <a:ea typeface="Calibri" pitchFamily="34" charset="-122"/>
                <a:cs typeface="Calibri" pitchFamily="34" charset="-120"/>
              </a:rPr>
              <a:t>9  Alliances</a:t>
            </a:r>
            <a:endParaRPr lang="en-US" sz="1250" dirty="0"/>
          </a:p>
        </p:txBody>
      </p:sp>
      <p:sp>
        <p:nvSpPr>
          <p:cNvPr id="38" name="Text 36"/>
          <p:cNvSpPr txBox="1"/>
          <p:nvPr/>
        </p:nvSpPr>
        <p:spPr>
          <a:xfrm>
            <a:off x="7365492" y="4773168"/>
            <a:ext cx="1771650" cy="310896"/>
          </a:xfrm>
          <a:prstGeom prst="rect">
            <a:avLst/>
          </a:prstGeom>
          <a:noFill/>
          <a:ln/>
        </p:spPr>
        <p:txBody>
          <a:bodyPr wrap="square" lIns="0" tIns="0" rIns="0" bIns="0" rtlCol="0" anchor="ctr"/>
          <a:lstStyle/>
          <a:p>
            <a:pPr indent="0" marL="0">
              <a:buNone/>
            </a:pPr>
            <a:r>
              <a:rPr lang="en-US" sz="1050" dirty="0">
                <a:solidFill>
                  <a:srgbClr val="44506B"/>
                </a:solidFill>
                <a:latin typeface="Calibri" pitchFamily="34" charset="0"/>
                <a:ea typeface="Calibri" pitchFamily="34" charset="-122"/>
                <a:cs typeface="Calibri" pitchFamily="34" charset="-120"/>
              </a:rPr>
              <a:t>Who we go with, and what each unlocks</a:t>
            </a:r>
            <a:endParaRPr lang="en-US" sz="1050" dirty="0"/>
          </a:p>
        </p:txBody>
      </p:sp>
      <p:sp>
        <p:nvSpPr>
          <p:cNvPr id="39" name="Shape 37"/>
          <p:cNvSpPr/>
          <p:nvPr/>
        </p:nvSpPr>
        <p:spPr>
          <a:xfrm>
            <a:off x="9429750" y="4389120"/>
            <a:ext cx="2091690" cy="749808"/>
          </a:xfrm>
          <a:prstGeom prst="roundRect">
            <a:avLst>
              <a:gd name="adj" fmla="val 12195"/>
            </a:avLst>
          </a:prstGeom>
          <a:solidFill>
            <a:srgbClr val="EDF2FA"/>
          </a:solidFill>
          <a:ln/>
        </p:spPr>
      </p:sp>
      <p:sp>
        <p:nvSpPr>
          <p:cNvPr id="40" name="Text 38"/>
          <p:cNvSpPr txBox="1"/>
          <p:nvPr/>
        </p:nvSpPr>
        <p:spPr>
          <a:xfrm>
            <a:off x="9594342" y="4462272"/>
            <a:ext cx="1771650" cy="292608"/>
          </a:xfrm>
          <a:prstGeom prst="rect">
            <a:avLst/>
          </a:prstGeom>
          <a:noFill/>
          <a:ln/>
        </p:spPr>
        <p:txBody>
          <a:bodyPr wrap="square" lIns="0" tIns="0" rIns="0" bIns="0" rtlCol="0" anchor="ctr"/>
          <a:lstStyle/>
          <a:p>
            <a:pPr indent="0" marL="0">
              <a:buNone/>
            </a:pPr>
            <a:r>
              <a:rPr lang="en-US" sz="1250" b="1" dirty="0">
                <a:solidFill>
                  <a:srgbClr val="16203A"/>
                </a:solidFill>
                <a:latin typeface="Calibri" pitchFamily="34" charset="0"/>
                <a:ea typeface="Calibri" pitchFamily="34" charset="-122"/>
                <a:cs typeface="Calibri" pitchFamily="34" charset="-120"/>
              </a:rPr>
              <a:t>10  Eminence</a:t>
            </a:r>
            <a:endParaRPr lang="en-US" sz="1250" dirty="0"/>
          </a:p>
        </p:txBody>
      </p:sp>
      <p:sp>
        <p:nvSpPr>
          <p:cNvPr id="41" name="Text 39"/>
          <p:cNvSpPr txBox="1"/>
          <p:nvPr/>
        </p:nvSpPr>
        <p:spPr>
          <a:xfrm>
            <a:off x="9594342" y="4773168"/>
            <a:ext cx="1771650" cy="310896"/>
          </a:xfrm>
          <a:prstGeom prst="rect">
            <a:avLst/>
          </a:prstGeom>
          <a:noFill/>
          <a:ln/>
        </p:spPr>
        <p:txBody>
          <a:bodyPr wrap="square" lIns="0" tIns="0" rIns="0" bIns="0" rtlCol="0" anchor="ctr"/>
          <a:lstStyle/>
          <a:p>
            <a:pPr indent="0" marL="0">
              <a:buNone/>
            </a:pPr>
            <a:r>
              <a:rPr lang="en-US" sz="1050" dirty="0">
                <a:solidFill>
                  <a:srgbClr val="44506B"/>
                </a:solidFill>
                <a:latin typeface="Calibri" pitchFamily="34" charset="0"/>
                <a:ea typeface="Calibri" pitchFamily="34" charset="-122"/>
                <a:cs typeface="Calibri" pitchFamily="34" charset="-120"/>
              </a:rPr>
              <a:t>How the market comes to know us</a:t>
            </a:r>
            <a:endParaRPr lang="en-US" sz="1050" dirty="0"/>
          </a:p>
        </p:txBody>
      </p:sp>
      <p:sp>
        <p:nvSpPr>
          <p:cNvPr id="42" name="Shape 40"/>
          <p:cNvSpPr/>
          <p:nvPr/>
        </p:nvSpPr>
        <p:spPr>
          <a:xfrm>
            <a:off x="640080" y="5257800"/>
            <a:ext cx="2011680" cy="749808"/>
          </a:xfrm>
          <a:prstGeom prst="roundRect">
            <a:avLst>
              <a:gd name="adj" fmla="val 12195"/>
            </a:avLst>
          </a:prstGeom>
          <a:solidFill>
            <a:srgbClr val="1E2761"/>
          </a:solidFill>
          <a:ln/>
        </p:spPr>
      </p:sp>
      <p:sp>
        <p:nvSpPr>
          <p:cNvPr id="43" name="Text 41"/>
          <p:cNvSpPr txBox="1"/>
          <p:nvPr/>
        </p:nvSpPr>
        <p:spPr>
          <a:xfrm>
            <a:off x="640080" y="5257800"/>
            <a:ext cx="2011680" cy="7498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Execution</a:t>
            </a:r>
            <a:endParaRPr lang="en-US" sz="1400" dirty="0"/>
          </a:p>
        </p:txBody>
      </p:sp>
      <p:sp>
        <p:nvSpPr>
          <p:cNvPr id="44" name="Shape 42"/>
          <p:cNvSpPr/>
          <p:nvPr/>
        </p:nvSpPr>
        <p:spPr>
          <a:xfrm>
            <a:off x="2743200" y="5257800"/>
            <a:ext cx="8778240" cy="749808"/>
          </a:xfrm>
          <a:prstGeom prst="roundRect">
            <a:avLst>
              <a:gd name="adj" fmla="val 12195"/>
            </a:avLst>
          </a:prstGeom>
          <a:solidFill>
            <a:srgbClr val="E4EBF7"/>
          </a:solidFill>
          <a:ln/>
        </p:spPr>
      </p:sp>
      <p:sp>
        <p:nvSpPr>
          <p:cNvPr id="45" name="Text 43"/>
          <p:cNvSpPr txBox="1"/>
          <p:nvPr/>
        </p:nvSpPr>
        <p:spPr>
          <a:xfrm>
            <a:off x="2907792" y="5330952"/>
            <a:ext cx="8458200" cy="292608"/>
          </a:xfrm>
          <a:prstGeom prst="rect">
            <a:avLst/>
          </a:prstGeom>
          <a:noFill/>
          <a:ln/>
        </p:spPr>
        <p:txBody>
          <a:bodyPr wrap="square" lIns="0" tIns="0" rIns="0" bIns="0" rtlCol="0" anchor="ctr"/>
          <a:lstStyle/>
          <a:p>
            <a:pPr indent="0" marL="0">
              <a:buNone/>
            </a:pPr>
            <a:r>
              <a:rPr lang="en-US" sz="1250" b="1" dirty="0">
                <a:solidFill>
                  <a:srgbClr val="16203A"/>
                </a:solidFill>
                <a:latin typeface="Calibri" pitchFamily="34" charset="0"/>
                <a:ea typeface="Calibri" pitchFamily="34" charset="-122"/>
                <a:cs typeface="Calibri" pitchFamily="34" charset="-120"/>
              </a:rPr>
              <a:t>11  How we stay on course</a:t>
            </a:r>
            <a:endParaRPr lang="en-US" sz="1250" dirty="0"/>
          </a:p>
        </p:txBody>
      </p:sp>
      <p:sp>
        <p:nvSpPr>
          <p:cNvPr id="46" name="Text 44"/>
          <p:cNvSpPr txBox="1"/>
          <p:nvPr/>
        </p:nvSpPr>
        <p:spPr>
          <a:xfrm>
            <a:off x="2907792" y="5641848"/>
            <a:ext cx="8458200" cy="310896"/>
          </a:xfrm>
          <a:prstGeom prst="rect">
            <a:avLst/>
          </a:prstGeom>
          <a:noFill/>
          <a:ln/>
        </p:spPr>
        <p:txBody>
          <a:bodyPr wrap="square" lIns="0" tIns="0" rIns="0" bIns="0" rtlCol="0" anchor="ctr"/>
          <a:lstStyle/>
          <a:p>
            <a:pPr indent="0" marL="0">
              <a:buNone/>
            </a:pPr>
            <a:r>
              <a:rPr lang="en-US" sz="1050" dirty="0">
                <a:solidFill>
                  <a:srgbClr val="44506B"/>
                </a:solidFill>
                <a:latin typeface="Calibri" pitchFamily="34" charset="0"/>
                <a:ea typeface="Calibri" pitchFamily="34" charset="-122"/>
                <a:cs typeface="Calibri" pitchFamily="34" charset="-120"/>
              </a:rPr>
              <a:t>Operating rhythm, KPIs and review calendar</a:t>
            </a:r>
            <a:endParaRPr lang="en-US" sz="1050" dirty="0"/>
          </a:p>
        </p:txBody>
      </p:sp>
      <p:sp>
        <p:nvSpPr>
          <p:cNvPr id="47" name="Shape 45"/>
          <p:cNvSpPr/>
          <p:nvPr/>
        </p:nvSpPr>
        <p:spPr>
          <a:xfrm>
            <a:off x="4251960" y="6263640"/>
            <a:ext cx="3657600" cy="301752"/>
          </a:xfrm>
          <a:prstGeom prst="roundRect">
            <a:avLst>
              <a:gd name="adj" fmla="val 48485"/>
            </a:avLst>
          </a:prstGeom>
          <a:solidFill>
            <a:srgbClr val="FFFFFF"/>
          </a:solidFill>
          <a:ln w="12700">
            <a:solidFill>
              <a:srgbClr val="B8862B"/>
            </a:solidFill>
            <a:prstDash val="solid"/>
          </a:ln>
        </p:spPr>
      </p:sp>
      <p:sp>
        <p:nvSpPr>
          <p:cNvPr id="48" name="Text 46"/>
          <p:cNvSpPr txBox="1"/>
          <p:nvPr/>
        </p:nvSpPr>
        <p:spPr>
          <a:xfrm>
            <a:off x="4251960" y="6263640"/>
            <a:ext cx="3657600" cy="301752"/>
          </a:xfrm>
          <a:prstGeom prst="rect">
            <a:avLst/>
          </a:prstGeom>
          <a:noFill/>
          <a:ln/>
        </p:spPr>
        <p:txBody>
          <a:bodyPr wrap="square" lIns="0" tIns="0" rIns="0" bIns="0" rtlCol="0" anchor="ctr"/>
          <a:lstStyle/>
          <a:p>
            <a:pPr algn="ctr" indent="0" marL="0">
              <a:buNone/>
            </a:pPr>
            <a:r>
              <a:rPr lang="en-US" sz="1050" i="1" dirty="0">
                <a:solidFill>
                  <a:srgbClr val="B8862B"/>
                </a:solidFill>
                <a:latin typeface="Calibri" pitchFamily="34" charset="0"/>
                <a:ea typeface="Calibri" pitchFamily="34" charset="-122"/>
                <a:cs typeface="Calibri" pitchFamily="34" charset="-120"/>
              </a:rPr>
              <a:t>answers to be defined in the cycle</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685800"/>
          </a:xfrm>
          <a:prstGeom prst="rect">
            <a:avLst/>
          </a:prstGeom>
          <a:noFill/>
          <a:ln/>
        </p:spPr>
        <p:txBody>
          <a:bodyPr wrap="square" lIns="0" tIns="0" rIns="0" bIns="0" rtlCol="0" anchor="ctr"/>
          <a:lstStyle/>
          <a:p>
            <a:pPr indent="0" marL="0">
              <a:buNone/>
            </a:pPr>
            <a:r>
              <a:rPr lang="en-US" sz="3600" b="1" dirty="0">
                <a:solidFill>
                  <a:srgbClr val="16203A"/>
                </a:solidFill>
                <a:latin typeface="Cambria" pitchFamily="34" charset="0"/>
                <a:ea typeface="Cambria" pitchFamily="34" charset="-122"/>
                <a:cs typeface="Cambria" pitchFamily="34" charset="-120"/>
              </a:rPr>
              <a:t>Principles we hold going in</a:t>
            </a:r>
            <a:endParaRPr lang="en-US" sz="3600" dirty="0"/>
          </a:p>
        </p:txBody>
      </p:sp>
      <p:sp>
        <p:nvSpPr>
          <p:cNvPr id="3" name="Text 1"/>
          <p:cNvSpPr txBox="1"/>
          <p:nvPr/>
        </p:nvSpPr>
        <p:spPr>
          <a:xfrm>
            <a:off x="640080" y="1133856"/>
            <a:ext cx="10881360" cy="411480"/>
          </a:xfrm>
          <a:prstGeom prst="rect">
            <a:avLst/>
          </a:prstGeom>
          <a:noFill/>
          <a:ln/>
        </p:spPr>
        <p:txBody>
          <a:bodyPr wrap="square" lIns="0" tIns="0" rIns="0" bIns="0" rtlCol="0" anchor="ctr"/>
          <a:lstStyle/>
          <a:p>
            <a:pPr indent="0" marL="0">
              <a:buNone/>
            </a:pPr>
            <a:r>
              <a:rPr lang="en-US" sz="1450" dirty="0">
                <a:solidFill>
                  <a:srgbClr val="8792AB"/>
                </a:solidFill>
                <a:latin typeface="Calibri" pitchFamily="34" charset="0"/>
                <a:ea typeface="Calibri" pitchFamily="34" charset="-122"/>
                <a:cs typeface="Calibri" pitchFamily="34" charset="-120"/>
              </a:rPr>
              <a:t>Constraints on the answers, agreed before the work starts.</a:t>
            </a:r>
            <a:endParaRPr lang="en-US" sz="1450" dirty="0"/>
          </a:p>
        </p:txBody>
      </p:sp>
      <p:sp>
        <p:nvSpPr>
          <p:cNvPr id="4" name="Shape 2"/>
          <p:cNvSpPr/>
          <p:nvPr/>
        </p:nvSpPr>
        <p:spPr>
          <a:xfrm>
            <a:off x="640080" y="1783080"/>
            <a:ext cx="5257800" cy="1280160"/>
          </a:xfrm>
          <a:prstGeom prst="roundRect">
            <a:avLst>
              <a:gd name="adj" fmla="val 7143"/>
            </a:avLst>
          </a:prstGeom>
          <a:solidFill>
            <a:srgbClr val="EDF2FA"/>
          </a:solidFill>
          <a:ln/>
        </p:spPr>
      </p:sp>
      <p:sp>
        <p:nvSpPr>
          <p:cNvPr id="5" name="Shape 3"/>
          <p:cNvSpPr/>
          <p:nvPr/>
        </p:nvSpPr>
        <p:spPr>
          <a:xfrm>
            <a:off x="914400" y="2039112"/>
            <a:ext cx="384048" cy="384048"/>
          </a:xfrm>
          <a:prstGeom prst="ellipse">
            <a:avLst/>
          </a:prstGeom>
          <a:solidFill>
            <a:srgbClr val="1E2761"/>
          </a:solidFill>
          <a:ln/>
        </p:spPr>
      </p:sp>
      <p:sp>
        <p:nvSpPr>
          <p:cNvPr id="6" name="Text 4"/>
          <p:cNvSpPr txBox="1"/>
          <p:nvPr/>
        </p:nvSpPr>
        <p:spPr>
          <a:xfrm>
            <a:off x="914400" y="203911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txBox="1"/>
          <p:nvPr/>
        </p:nvSpPr>
        <p:spPr>
          <a:xfrm>
            <a:off x="1481328" y="1984248"/>
            <a:ext cx="4206240" cy="320040"/>
          </a:xfrm>
          <a:prstGeom prst="rect">
            <a:avLst/>
          </a:prstGeom>
          <a:noFill/>
          <a:ln/>
        </p:spPr>
        <p:txBody>
          <a:bodyPr wrap="square" lIns="0" tIns="0" rIns="0" bIns="0" rtlCol="0" anchor="ctr"/>
          <a:lstStyle/>
          <a:p>
            <a:pPr indent="0" marL="0">
              <a:buNone/>
            </a:pPr>
            <a:r>
              <a:rPr lang="en-US" sz="1700" b="1" dirty="0">
                <a:solidFill>
                  <a:srgbClr val="16203A"/>
                </a:solidFill>
                <a:latin typeface="Calibri" pitchFamily="34" charset="0"/>
                <a:ea typeface="Calibri" pitchFamily="34" charset="-122"/>
                <a:cs typeface="Calibri" pitchFamily="34" charset="-120"/>
              </a:rPr>
              <a:t>Integrated, not siloed</a:t>
            </a:r>
            <a:endParaRPr lang="en-US" sz="1700" dirty="0"/>
          </a:p>
        </p:txBody>
      </p:sp>
      <p:sp>
        <p:nvSpPr>
          <p:cNvPr id="8" name="Text 6"/>
          <p:cNvSpPr txBox="1"/>
          <p:nvPr/>
        </p:nvSpPr>
        <p:spPr>
          <a:xfrm>
            <a:off x="1481328" y="2359152"/>
            <a:ext cx="4160520" cy="594360"/>
          </a:xfrm>
          <a:prstGeom prst="rect">
            <a:avLst/>
          </a:prstGeom>
          <a:noFill/>
          <a:ln/>
        </p:spPr>
        <p:txBody>
          <a:bodyPr wrap="square" lIns="0" tIns="0" rIns="0" bIns="0" rtlCol="0" anchor="ctr"/>
          <a:lstStyle/>
          <a:p>
            <a:pPr indent="0" marL="0">
              <a:buNone/>
            </a:pPr>
            <a:r>
              <a:rPr lang="en-US" sz="1250" dirty="0">
                <a:solidFill>
                  <a:srgbClr val="44506B"/>
                </a:solidFill>
                <a:latin typeface="Calibri" pitchFamily="34" charset="0"/>
                <a:ea typeface="Calibri" pitchFamily="34" charset="-122"/>
                <a:cs typeface="Calibri" pitchFamily="34" charset="-120"/>
              </a:rPr>
              <a:t>Cross-pillar propositions are the default catalogue; single-pillar sales are an entry point, not the destination.</a:t>
            </a:r>
            <a:endParaRPr lang="en-US" sz="1250" dirty="0"/>
          </a:p>
        </p:txBody>
      </p:sp>
      <p:sp>
        <p:nvSpPr>
          <p:cNvPr id="9" name="Shape 7"/>
          <p:cNvSpPr/>
          <p:nvPr/>
        </p:nvSpPr>
        <p:spPr>
          <a:xfrm>
            <a:off x="6263640" y="1783080"/>
            <a:ext cx="5257800" cy="1280160"/>
          </a:xfrm>
          <a:prstGeom prst="roundRect">
            <a:avLst>
              <a:gd name="adj" fmla="val 7143"/>
            </a:avLst>
          </a:prstGeom>
          <a:solidFill>
            <a:srgbClr val="EDF2FA"/>
          </a:solidFill>
          <a:ln/>
        </p:spPr>
      </p:sp>
      <p:sp>
        <p:nvSpPr>
          <p:cNvPr id="10" name="Shape 8"/>
          <p:cNvSpPr/>
          <p:nvPr/>
        </p:nvSpPr>
        <p:spPr>
          <a:xfrm>
            <a:off x="6537960" y="2039112"/>
            <a:ext cx="384048" cy="384048"/>
          </a:xfrm>
          <a:prstGeom prst="ellipse">
            <a:avLst/>
          </a:prstGeom>
          <a:solidFill>
            <a:srgbClr val="3E5C8A"/>
          </a:solidFill>
          <a:ln/>
        </p:spPr>
      </p:sp>
      <p:sp>
        <p:nvSpPr>
          <p:cNvPr id="11" name="Text 9"/>
          <p:cNvSpPr txBox="1"/>
          <p:nvPr/>
        </p:nvSpPr>
        <p:spPr>
          <a:xfrm>
            <a:off x="6537960" y="203911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txBox="1"/>
          <p:nvPr/>
        </p:nvSpPr>
        <p:spPr>
          <a:xfrm>
            <a:off x="7104888" y="1984248"/>
            <a:ext cx="4206240" cy="320040"/>
          </a:xfrm>
          <a:prstGeom prst="rect">
            <a:avLst/>
          </a:prstGeom>
          <a:noFill/>
          <a:ln/>
        </p:spPr>
        <p:txBody>
          <a:bodyPr wrap="square" lIns="0" tIns="0" rIns="0" bIns="0" rtlCol="0" anchor="ctr"/>
          <a:lstStyle/>
          <a:p>
            <a:pPr indent="0" marL="0">
              <a:buNone/>
            </a:pPr>
            <a:r>
              <a:rPr lang="en-US" sz="1700" b="1" dirty="0">
                <a:solidFill>
                  <a:srgbClr val="16203A"/>
                </a:solidFill>
                <a:latin typeface="Calibri" pitchFamily="34" charset="0"/>
                <a:ea typeface="Calibri" pitchFamily="34" charset="-122"/>
                <a:cs typeface="Calibri" pitchFamily="34" charset="-120"/>
              </a:rPr>
              <a:t>Named accounts, not averages</a:t>
            </a:r>
            <a:endParaRPr lang="en-US" sz="1700" dirty="0"/>
          </a:p>
        </p:txBody>
      </p:sp>
      <p:sp>
        <p:nvSpPr>
          <p:cNvPr id="13" name="Text 11"/>
          <p:cNvSpPr txBox="1"/>
          <p:nvPr/>
        </p:nvSpPr>
        <p:spPr>
          <a:xfrm>
            <a:off x="7104888" y="2359152"/>
            <a:ext cx="4160520" cy="594360"/>
          </a:xfrm>
          <a:prstGeom prst="rect">
            <a:avLst/>
          </a:prstGeom>
          <a:noFill/>
          <a:ln/>
        </p:spPr>
        <p:txBody>
          <a:bodyPr wrap="square" lIns="0" tIns="0" rIns="0" bIns="0" rtlCol="0" anchor="ctr"/>
          <a:lstStyle/>
          <a:p>
            <a:pPr indent="0" marL="0">
              <a:buNone/>
            </a:pPr>
            <a:r>
              <a:rPr lang="en-US" sz="1250" dirty="0">
                <a:solidFill>
                  <a:srgbClr val="44506B"/>
                </a:solidFill>
                <a:latin typeface="Calibri" pitchFamily="34" charset="0"/>
                <a:ea typeface="Calibri" pitchFamily="34" charset="-122"/>
                <a:cs typeface="Calibri" pitchFamily="34" charset="-120"/>
              </a:rPr>
              <a:t>The output is a specific target list with owners, not a market-size view.</a:t>
            </a:r>
            <a:endParaRPr lang="en-US" sz="1250" dirty="0"/>
          </a:p>
        </p:txBody>
      </p:sp>
      <p:sp>
        <p:nvSpPr>
          <p:cNvPr id="14" name="Shape 12"/>
          <p:cNvSpPr/>
          <p:nvPr/>
        </p:nvSpPr>
        <p:spPr>
          <a:xfrm>
            <a:off x="640080" y="3264408"/>
            <a:ext cx="5257800" cy="1280160"/>
          </a:xfrm>
          <a:prstGeom prst="roundRect">
            <a:avLst>
              <a:gd name="adj" fmla="val 7143"/>
            </a:avLst>
          </a:prstGeom>
          <a:solidFill>
            <a:srgbClr val="EDF2FA"/>
          </a:solidFill>
          <a:ln/>
        </p:spPr>
      </p:sp>
      <p:sp>
        <p:nvSpPr>
          <p:cNvPr id="15" name="Shape 13"/>
          <p:cNvSpPr/>
          <p:nvPr/>
        </p:nvSpPr>
        <p:spPr>
          <a:xfrm>
            <a:off x="914400" y="3520440"/>
            <a:ext cx="384048" cy="384048"/>
          </a:xfrm>
          <a:prstGeom prst="ellipse">
            <a:avLst/>
          </a:prstGeom>
          <a:solidFill>
            <a:srgbClr val="1E2761"/>
          </a:solidFill>
          <a:ln/>
        </p:spPr>
      </p:sp>
      <p:sp>
        <p:nvSpPr>
          <p:cNvPr id="16" name="Text 14"/>
          <p:cNvSpPr txBox="1"/>
          <p:nvPr/>
        </p:nvSpPr>
        <p:spPr>
          <a:xfrm>
            <a:off x="914400" y="352044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txBox="1"/>
          <p:nvPr/>
        </p:nvSpPr>
        <p:spPr>
          <a:xfrm>
            <a:off x="1481328" y="3465576"/>
            <a:ext cx="4206240" cy="320040"/>
          </a:xfrm>
          <a:prstGeom prst="rect">
            <a:avLst/>
          </a:prstGeom>
          <a:noFill/>
          <a:ln/>
        </p:spPr>
        <p:txBody>
          <a:bodyPr wrap="square" lIns="0" tIns="0" rIns="0" bIns="0" rtlCol="0" anchor="ctr"/>
          <a:lstStyle/>
          <a:p>
            <a:pPr indent="0" marL="0">
              <a:buNone/>
            </a:pPr>
            <a:r>
              <a:rPr lang="en-US" sz="1700" b="1" dirty="0">
                <a:solidFill>
                  <a:srgbClr val="16203A"/>
                </a:solidFill>
                <a:latin typeface="Calibri" pitchFamily="34" charset="0"/>
                <a:ea typeface="Calibri" pitchFamily="34" charset="-122"/>
                <a:cs typeface="Calibri" pitchFamily="34" charset="-120"/>
              </a:rPr>
              <a:t>Sized and priced</a:t>
            </a:r>
            <a:endParaRPr lang="en-US" sz="1700" dirty="0"/>
          </a:p>
        </p:txBody>
      </p:sp>
      <p:sp>
        <p:nvSpPr>
          <p:cNvPr id="18" name="Text 16"/>
          <p:cNvSpPr txBox="1"/>
          <p:nvPr/>
        </p:nvSpPr>
        <p:spPr>
          <a:xfrm>
            <a:off x="1481328" y="3840480"/>
            <a:ext cx="4160520" cy="594360"/>
          </a:xfrm>
          <a:prstGeom prst="rect">
            <a:avLst/>
          </a:prstGeom>
          <a:noFill/>
          <a:ln/>
        </p:spPr>
        <p:txBody>
          <a:bodyPr wrap="square" lIns="0" tIns="0" rIns="0" bIns="0" rtlCol="0" anchor="ctr"/>
          <a:lstStyle/>
          <a:p>
            <a:pPr indent="0" marL="0">
              <a:buNone/>
            </a:pPr>
            <a:r>
              <a:rPr lang="en-US" sz="1250" dirty="0">
                <a:solidFill>
                  <a:srgbClr val="44506B"/>
                </a:solidFill>
                <a:latin typeface="Calibri" pitchFamily="34" charset="0"/>
                <a:ea typeface="Calibri" pitchFamily="34" charset="-122"/>
                <a:cs typeface="Calibri" pitchFamily="34" charset="-120"/>
              </a:rPr>
              <a:t>Every proposition carries a buyer, an indicative deal size and a price band.</a:t>
            </a:r>
            <a:endParaRPr lang="en-US" sz="1250" dirty="0"/>
          </a:p>
        </p:txBody>
      </p:sp>
      <p:sp>
        <p:nvSpPr>
          <p:cNvPr id="19" name="Shape 17"/>
          <p:cNvSpPr/>
          <p:nvPr/>
        </p:nvSpPr>
        <p:spPr>
          <a:xfrm>
            <a:off x="6263640" y="3264408"/>
            <a:ext cx="5257800" cy="1280160"/>
          </a:xfrm>
          <a:prstGeom prst="roundRect">
            <a:avLst>
              <a:gd name="adj" fmla="val 7143"/>
            </a:avLst>
          </a:prstGeom>
          <a:solidFill>
            <a:srgbClr val="EDF2FA"/>
          </a:solidFill>
          <a:ln/>
        </p:spPr>
      </p:sp>
      <p:sp>
        <p:nvSpPr>
          <p:cNvPr id="20" name="Shape 18"/>
          <p:cNvSpPr/>
          <p:nvPr/>
        </p:nvSpPr>
        <p:spPr>
          <a:xfrm>
            <a:off x="6537960" y="3520440"/>
            <a:ext cx="384048" cy="384048"/>
          </a:xfrm>
          <a:prstGeom prst="ellipse">
            <a:avLst/>
          </a:prstGeom>
          <a:solidFill>
            <a:srgbClr val="3E5C8A"/>
          </a:solidFill>
          <a:ln/>
        </p:spPr>
      </p:sp>
      <p:sp>
        <p:nvSpPr>
          <p:cNvPr id="21" name="Text 19"/>
          <p:cNvSpPr txBox="1"/>
          <p:nvPr/>
        </p:nvSpPr>
        <p:spPr>
          <a:xfrm>
            <a:off x="6537960" y="352044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20"/>
          <p:cNvSpPr txBox="1"/>
          <p:nvPr/>
        </p:nvSpPr>
        <p:spPr>
          <a:xfrm>
            <a:off x="7104888" y="3465576"/>
            <a:ext cx="4206240" cy="320040"/>
          </a:xfrm>
          <a:prstGeom prst="rect">
            <a:avLst/>
          </a:prstGeom>
          <a:noFill/>
          <a:ln/>
        </p:spPr>
        <p:txBody>
          <a:bodyPr wrap="square" lIns="0" tIns="0" rIns="0" bIns="0" rtlCol="0" anchor="ctr"/>
          <a:lstStyle/>
          <a:p>
            <a:pPr indent="0" marL="0">
              <a:buNone/>
            </a:pPr>
            <a:r>
              <a:rPr lang="en-US" sz="1700" b="1" dirty="0">
                <a:solidFill>
                  <a:srgbClr val="16203A"/>
                </a:solidFill>
                <a:latin typeface="Calibri" pitchFamily="34" charset="0"/>
                <a:ea typeface="Calibri" pitchFamily="34" charset="-122"/>
                <a:cs typeface="Calibri" pitchFamily="34" charset="-120"/>
              </a:rPr>
              <a:t>Covered by a partner</a:t>
            </a:r>
            <a:endParaRPr lang="en-US" sz="1700" dirty="0"/>
          </a:p>
        </p:txBody>
      </p:sp>
      <p:sp>
        <p:nvSpPr>
          <p:cNvPr id="23" name="Text 21"/>
          <p:cNvSpPr txBox="1"/>
          <p:nvPr/>
        </p:nvSpPr>
        <p:spPr>
          <a:xfrm>
            <a:off x="7104888" y="3840480"/>
            <a:ext cx="4160520" cy="594360"/>
          </a:xfrm>
          <a:prstGeom prst="rect">
            <a:avLst/>
          </a:prstGeom>
          <a:noFill/>
          <a:ln/>
        </p:spPr>
        <p:txBody>
          <a:bodyPr wrap="square" lIns="0" tIns="0" rIns="0" bIns="0" rtlCol="0" anchor="ctr"/>
          <a:lstStyle/>
          <a:p>
            <a:pPr indent="0" marL="0">
              <a:buNone/>
            </a:pPr>
            <a:r>
              <a:rPr lang="en-US" sz="1250" dirty="0">
                <a:solidFill>
                  <a:srgbClr val="44506B"/>
                </a:solidFill>
                <a:latin typeface="Calibri" pitchFamily="34" charset="0"/>
                <a:ea typeface="Calibri" pitchFamily="34" charset="-122"/>
                <a:cs typeface="Calibri" pitchFamily="34" charset="-120"/>
              </a:rPr>
              <a:t>Every priority account has one accountable owner and a defined partner play.</a:t>
            </a:r>
            <a:endParaRPr lang="en-US" sz="1250" dirty="0"/>
          </a:p>
        </p:txBody>
      </p:sp>
      <p:sp>
        <p:nvSpPr>
          <p:cNvPr id="24" name="Shape 22"/>
          <p:cNvSpPr/>
          <p:nvPr/>
        </p:nvSpPr>
        <p:spPr>
          <a:xfrm>
            <a:off x="640080" y="4745736"/>
            <a:ext cx="5257800" cy="1280160"/>
          </a:xfrm>
          <a:prstGeom prst="roundRect">
            <a:avLst>
              <a:gd name="adj" fmla="val 7143"/>
            </a:avLst>
          </a:prstGeom>
          <a:solidFill>
            <a:srgbClr val="EDF2FA"/>
          </a:solidFill>
          <a:ln/>
        </p:spPr>
      </p:sp>
      <p:sp>
        <p:nvSpPr>
          <p:cNvPr id="25" name="Shape 23"/>
          <p:cNvSpPr/>
          <p:nvPr/>
        </p:nvSpPr>
        <p:spPr>
          <a:xfrm>
            <a:off x="914400" y="5001768"/>
            <a:ext cx="384048" cy="384048"/>
          </a:xfrm>
          <a:prstGeom prst="ellipse">
            <a:avLst/>
          </a:prstGeom>
          <a:solidFill>
            <a:srgbClr val="1E2761"/>
          </a:solidFill>
          <a:ln/>
        </p:spPr>
      </p:sp>
      <p:sp>
        <p:nvSpPr>
          <p:cNvPr id="26" name="Text 24"/>
          <p:cNvSpPr txBox="1"/>
          <p:nvPr/>
        </p:nvSpPr>
        <p:spPr>
          <a:xfrm>
            <a:off x="914400" y="500176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7" name="Text 25"/>
          <p:cNvSpPr txBox="1"/>
          <p:nvPr/>
        </p:nvSpPr>
        <p:spPr>
          <a:xfrm>
            <a:off x="1481328" y="4946904"/>
            <a:ext cx="4206240" cy="320040"/>
          </a:xfrm>
          <a:prstGeom prst="rect">
            <a:avLst/>
          </a:prstGeom>
          <a:noFill/>
          <a:ln/>
        </p:spPr>
        <p:txBody>
          <a:bodyPr wrap="square" lIns="0" tIns="0" rIns="0" bIns="0" rtlCol="0" anchor="ctr"/>
          <a:lstStyle/>
          <a:p>
            <a:pPr indent="0" marL="0">
              <a:buNone/>
            </a:pPr>
            <a:r>
              <a:rPr lang="en-US" sz="1700" b="1" dirty="0">
                <a:solidFill>
                  <a:srgbClr val="16203A"/>
                </a:solidFill>
                <a:latin typeface="Calibri" pitchFamily="34" charset="0"/>
                <a:ea typeface="Calibri" pitchFamily="34" charset="-122"/>
                <a:cs typeface="Calibri" pitchFamily="34" charset="-120"/>
              </a:rPr>
              <a:t>Deliverable by design</a:t>
            </a:r>
            <a:endParaRPr lang="en-US" sz="1700" dirty="0"/>
          </a:p>
        </p:txBody>
      </p:sp>
      <p:sp>
        <p:nvSpPr>
          <p:cNvPr id="28" name="Text 26"/>
          <p:cNvSpPr txBox="1"/>
          <p:nvPr/>
        </p:nvSpPr>
        <p:spPr>
          <a:xfrm>
            <a:off x="1481328" y="5321808"/>
            <a:ext cx="4160520" cy="594360"/>
          </a:xfrm>
          <a:prstGeom prst="rect">
            <a:avLst/>
          </a:prstGeom>
          <a:noFill/>
          <a:ln/>
        </p:spPr>
        <p:txBody>
          <a:bodyPr wrap="square" lIns="0" tIns="0" rIns="0" bIns="0" rtlCol="0" anchor="ctr"/>
          <a:lstStyle/>
          <a:p>
            <a:pPr indent="0" marL="0">
              <a:buNone/>
            </a:pPr>
            <a:r>
              <a:rPr lang="en-US" sz="1250" dirty="0">
                <a:solidFill>
                  <a:srgbClr val="44506B"/>
                </a:solidFill>
                <a:latin typeface="Calibri" pitchFamily="34" charset="0"/>
                <a:ea typeface="Calibri" pitchFamily="34" charset="-122"/>
                <a:cs typeface="Calibri" pitchFamily="34" charset="-120"/>
              </a:rPr>
              <a:t>Nothing enters the catalogue that we cannot staff and deliver to standard.</a:t>
            </a:r>
            <a:endParaRPr lang="en-US" sz="1250" dirty="0"/>
          </a:p>
        </p:txBody>
      </p:sp>
      <p:sp>
        <p:nvSpPr>
          <p:cNvPr id="29" name="Text 27"/>
          <p:cNvSpPr txBox="1"/>
          <p:nvPr/>
        </p:nvSpPr>
        <p:spPr>
          <a:xfrm>
            <a:off x="6263640" y="5532120"/>
            <a:ext cx="5120640" cy="457200"/>
          </a:xfrm>
          <a:prstGeom prst="rect">
            <a:avLst/>
          </a:prstGeom>
          <a:noFill/>
          <a:ln/>
        </p:spPr>
        <p:txBody>
          <a:bodyPr wrap="square" lIns="0" tIns="0" rIns="0" bIns="0" rtlCol="0" anchor="ctr"/>
          <a:lstStyle/>
          <a:p>
            <a:pPr indent="0" marL="0">
              <a:buNone/>
            </a:pPr>
            <a:r>
              <a:rPr lang="en-US" sz="1350" i="1" dirty="0">
                <a:solidFill>
                  <a:srgbClr val="3E5C8A"/>
                </a:solidFill>
                <a:latin typeface="Calibri" pitchFamily="34" charset="0"/>
                <a:ea typeface="Calibri" pitchFamily="34" charset="-122"/>
                <a:cs typeface="Calibri" pitchFamily="34" charset="-120"/>
              </a:rPr>
              <a:t>These are the rules the strategy must obey. Anything else remains open.</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685800"/>
          </a:xfrm>
          <a:prstGeom prst="rect">
            <a:avLst/>
          </a:prstGeom>
          <a:noFill/>
          <a:ln/>
        </p:spPr>
        <p:txBody>
          <a:bodyPr wrap="square" lIns="0" tIns="0" rIns="0" bIns="0" rtlCol="0" anchor="ctr"/>
          <a:lstStyle/>
          <a:p>
            <a:pPr indent="0" marL="0">
              <a:buNone/>
            </a:pPr>
            <a:r>
              <a:rPr lang="en-US" sz="3600" b="1" dirty="0">
                <a:solidFill>
                  <a:srgbClr val="16203A"/>
                </a:solidFill>
                <a:latin typeface="Cambria" pitchFamily="34" charset="0"/>
                <a:ea typeface="Cambria" pitchFamily="34" charset="-122"/>
                <a:cs typeface="Cambria" pitchFamily="34" charset="-120"/>
              </a:rPr>
              <a:t>How we will get there</a:t>
            </a:r>
            <a:endParaRPr lang="en-US" sz="3600" dirty="0"/>
          </a:p>
        </p:txBody>
      </p:sp>
      <p:sp>
        <p:nvSpPr>
          <p:cNvPr id="3" name="Text 1"/>
          <p:cNvSpPr txBox="1"/>
          <p:nvPr/>
        </p:nvSpPr>
        <p:spPr>
          <a:xfrm>
            <a:off x="640080" y="1133856"/>
            <a:ext cx="10881360" cy="411480"/>
          </a:xfrm>
          <a:prstGeom prst="rect">
            <a:avLst/>
          </a:prstGeom>
          <a:noFill/>
          <a:ln/>
        </p:spPr>
        <p:txBody>
          <a:bodyPr wrap="square" lIns="0" tIns="0" rIns="0" bIns="0" rtlCol="0" anchor="ctr"/>
          <a:lstStyle/>
          <a:p>
            <a:pPr indent="0" marL="0">
              <a:buNone/>
            </a:pPr>
            <a:r>
              <a:rPr lang="en-US" sz="1450" dirty="0">
                <a:solidFill>
                  <a:srgbClr val="8792AB"/>
                </a:solidFill>
                <a:latin typeface="Calibri" pitchFamily="34" charset="0"/>
                <a:ea typeface="Calibri" pitchFamily="34" charset="-122"/>
                <a:cs typeface="Calibri" pitchFamily="34" charset="-120"/>
              </a:rPr>
              <a:t>A five-step approach, run once, end to end.</a:t>
            </a:r>
            <a:endParaRPr lang="en-US" sz="1450" dirty="0"/>
          </a:p>
        </p:txBody>
      </p:sp>
      <p:sp>
        <p:nvSpPr>
          <p:cNvPr id="4" name="Shape 2"/>
          <p:cNvSpPr/>
          <p:nvPr/>
        </p:nvSpPr>
        <p:spPr>
          <a:xfrm>
            <a:off x="640080" y="1874520"/>
            <a:ext cx="2029968" cy="713232"/>
          </a:xfrm>
          <a:prstGeom prst="chevron">
            <a:avLst/>
          </a:prstGeom>
          <a:solidFill>
            <a:srgbClr val="1E2761"/>
          </a:solidFill>
          <a:ln/>
        </p:spPr>
      </p:sp>
      <p:sp>
        <p:nvSpPr>
          <p:cNvPr id="5" name="Text 3"/>
          <p:cNvSpPr txBox="1"/>
          <p:nvPr/>
        </p:nvSpPr>
        <p:spPr>
          <a:xfrm>
            <a:off x="804672" y="1874520"/>
            <a:ext cx="1755648" cy="71323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Mobilise</a:t>
            </a:r>
            <a:endParaRPr lang="en-US" sz="1500" dirty="0"/>
          </a:p>
        </p:txBody>
      </p:sp>
      <p:sp>
        <p:nvSpPr>
          <p:cNvPr id="6" name="Shape 4"/>
          <p:cNvSpPr/>
          <p:nvPr/>
        </p:nvSpPr>
        <p:spPr>
          <a:xfrm>
            <a:off x="1481328" y="2788920"/>
            <a:ext cx="347472" cy="347472"/>
          </a:xfrm>
          <a:prstGeom prst="ellipse">
            <a:avLst/>
          </a:prstGeom>
          <a:solidFill>
            <a:srgbClr val="B8862B"/>
          </a:solidFill>
          <a:ln/>
        </p:spPr>
      </p:sp>
      <p:sp>
        <p:nvSpPr>
          <p:cNvPr id="7" name="Text 5"/>
          <p:cNvSpPr txBox="1"/>
          <p:nvPr/>
        </p:nvSpPr>
        <p:spPr>
          <a:xfrm>
            <a:off x="1481328" y="27889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txBox="1"/>
          <p:nvPr/>
        </p:nvSpPr>
        <p:spPr>
          <a:xfrm>
            <a:off x="640080" y="3337560"/>
            <a:ext cx="2029968" cy="1554480"/>
          </a:xfrm>
          <a:prstGeom prst="rect">
            <a:avLst/>
          </a:prstGeom>
          <a:noFill/>
          <a:ln/>
        </p:spPr>
        <p:txBody>
          <a:bodyPr wrap="square" lIns="0" tIns="0" rIns="0" bIns="0" rtlCol="0" anchor="ctr"/>
          <a:lstStyle/>
          <a:p>
            <a:pPr marL="342900" indent="-342900">
              <a:spcAft>
                <a:spcPts val="800"/>
              </a:spcAft>
              <a:buSzPct val="100000"/>
              <a:buChar char="•"/>
            </a:pPr>
            <a:r>
              <a:rPr lang="en-US" sz="1200" dirty="0">
                <a:solidFill>
                  <a:srgbClr val="44506B"/>
                </a:solidFill>
                <a:latin typeface="Calibri" pitchFamily="34" charset="0"/>
                <a:ea typeface="Calibri" pitchFamily="34" charset="-122"/>
                <a:cs typeface="Calibri" pitchFamily="34" charset="-120"/>
              </a:rPr>
              <a:t>Frame the ambition: what winning looks like</a:t>
            </a:r>
            <a:endParaRPr lang="en-US" sz="1200" dirty="0"/>
          </a:p>
          <a:p>
            <a:pPr marL="342900" indent="-342900">
              <a:spcAft>
                <a:spcPts val="800"/>
              </a:spcAft>
              <a:buSzPct val="100000"/>
              <a:buChar char="•"/>
            </a:pPr>
            <a:r>
              <a:rPr lang="en-US" sz="1200" dirty="0">
                <a:solidFill>
                  <a:srgbClr val="44506B"/>
                </a:solidFill>
                <a:latin typeface="Calibri" pitchFamily="34" charset="0"/>
                <a:ea typeface="Calibri" pitchFamily="34" charset="-122"/>
                <a:cs typeface="Calibri" pitchFamily="34" charset="-120"/>
              </a:rPr>
              <a:t>Confirm scope, principles and owners</a:t>
            </a:r>
            <a:endParaRPr lang="en-US" sz="1200" dirty="0"/>
          </a:p>
        </p:txBody>
      </p:sp>
      <p:sp>
        <p:nvSpPr>
          <p:cNvPr id="9" name="Text 7"/>
          <p:cNvSpPr txBox="1"/>
          <p:nvPr/>
        </p:nvSpPr>
        <p:spPr>
          <a:xfrm>
            <a:off x="640080" y="4983480"/>
            <a:ext cx="2029968" cy="320040"/>
          </a:xfrm>
          <a:prstGeom prst="rect">
            <a:avLst/>
          </a:prstGeom>
          <a:noFill/>
          <a:ln/>
        </p:spPr>
        <p:txBody>
          <a:bodyPr wrap="square" lIns="0" tIns="0" rIns="0" bIns="0" rtlCol="0" anchor="ctr"/>
          <a:lstStyle/>
          <a:p>
            <a:pPr algn="ctr" indent="0" marL="0">
              <a:buNone/>
            </a:pPr>
            <a:r>
              <a:rPr lang="en-US" sz="1150" b="1" dirty="0">
                <a:solidFill>
                  <a:srgbClr val="8792AB"/>
                </a:solidFill>
                <a:latin typeface="Calibri" pitchFamily="34" charset="0"/>
                <a:ea typeface="Calibri" pitchFamily="34" charset="-122"/>
                <a:cs typeface="Calibri" pitchFamily="34" charset="-120"/>
              </a:rPr>
              <a:t>Week 1</a:t>
            </a:r>
            <a:endParaRPr lang="en-US" sz="1150" dirty="0"/>
          </a:p>
        </p:txBody>
      </p:sp>
      <p:sp>
        <p:nvSpPr>
          <p:cNvPr id="10" name="Shape 8"/>
          <p:cNvSpPr/>
          <p:nvPr/>
        </p:nvSpPr>
        <p:spPr>
          <a:xfrm>
            <a:off x="2852928" y="1874520"/>
            <a:ext cx="2029968" cy="713232"/>
          </a:xfrm>
          <a:prstGeom prst="chevron">
            <a:avLst/>
          </a:prstGeom>
          <a:solidFill>
            <a:srgbClr val="3E5C8A"/>
          </a:solidFill>
          <a:ln/>
        </p:spPr>
      </p:sp>
      <p:sp>
        <p:nvSpPr>
          <p:cNvPr id="11" name="Text 9"/>
          <p:cNvSpPr txBox="1"/>
          <p:nvPr/>
        </p:nvSpPr>
        <p:spPr>
          <a:xfrm>
            <a:off x="3017520" y="1874520"/>
            <a:ext cx="1755648" cy="71323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Baseline</a:t>
            </a:r>
            <a:endParaRPr lang="en-US" sz="1500" dirty="0"/>
          </a:p>
        </p:txBody>
      </p:sp>
      <p:sp>
        <p:nvSpPr>
          <p:cNvPr id="12" name="Shape 10"/>
          <p:cNvSpPr/>
          <p:nvPr/>
        </p:nvSpPr>
        <p:spPr>
          <a:xfrm>
            <a:off x="3694176" y="2788920"/>
            <a:ext cx="347472" cy="347472"/>
          </a:xfrm>
          <a:prstGeom prst="ellipse">
            <a:avLst/>
          </a:prstGeom>
          <a:solidFill>
            <a:srgbClr val="B8862B"/>
          </a:solidFill>
          <a:ln/>
        </p:spPr>
      </p:sp>
      <p:sp>
        <p:nvSpPr>
          <p:cNvPr id="13" name="Text 11"/>
          <p:cNvSpPr txBox="1"/>
          <p:nvPr/>
        </p:nvSpPr>
        <p:spPr>
          <a:xfrm>
            <a:off x="3694176" y="27889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Text 12"/>
          <p:cNvSpPr txBox="1"/>
          <p:nvPr/>
        </p:nvSpPr>
        <p:spPr>
          <a:xfrm>
            <a:off x="2852928" y="3337560"/>
            <a:ext cx="2029968" cy="1554480"/>
          </a:xfrm>
          <a:prstGeom prst="rect">
            <a:avLst/>
          </a:prstGeom>
          <a:noFill/>
          <a:ln/>
        </p:spPr>
        <p:txBody>
          <a:bodyPr wrap="square" lIns="0" tIns="0" rIns="0" bIns="0" rtlCol="0" anchor="ctr"/>
          <a:lstStyle/>
          <a:p>
            <a:pPr marL="342900" indent="-342900">
              <a:spcAft>
                <a:spcPts val="800"/>
              </a:spcAft>
              <a:buSzPct val="100000"/>
              <a:buChar char="•"/>
            </a:pPr>
            <a:r>
              <a:rPr lang="en-US" sz="1200" dirty="0">
                <a:solidFill>
                  <a:srgbClr val="44506B"/>
                </a:solidFill>
                <a:latin typeface="Calibri" pitchFamily="34" charset="0"/>
                <a:ea typeface="Calibri" pitchFamily="34" charset="-122"/>
                <a:cs typeface="Calibri" pitchFamily="34" charset="-120"/>
              </a:rPr>
              <a:t>Credentials, pipeline and current wins</a:t>
            </a:r>
            <a:endParaRPr lang="en-US" sz="1200" dirty="0"/>
          </a:p>
          <a:p>
            <a:pPr marL="342900" indent="-342900">
              <a:spcAft>
                <a:spcPts val="800"/>
              </a:spcAft>
              <a:buSzPct val="100000"/>
              <a:buChar char="•"/>
            </a:pPr>
            <a:r>
              <a:rPr lang="en-US" sz="1200" dirty="0">
                <a:solidFill>
                  <a:srgbClr val="44506B"/>
                </a:solidFill>
                <a:latin typeface="Calibri" pitchFamily="34" charset="0"/>
                <a:ea typeface="Calibri" pitchFamily="34" charset="-122"/>
                <a:cs typeface="Calibri" pitchFamily="34" charset="-120"/>
              </a:rPr>
              <a:t>Who we have today: dedicated and shared</a:t>
            </a:r>
            <a:endParaRPr lang="en-US" sz="1200" dirty="0"/>
          </a:p>
        </p:txBody>
      </p:sp>
      <p:sp>
        <p:nvSpPr>
          <p:cNvPr id="15" name="Text 13"/>
          <p:cNvSpPr txBox="1"/>
          <p:nvPr/>
        </p:nvSpPr>
        <p:spPr>
          <a:xfrm>
            <a:off x="2852928" y="4983480"/>
            <a:ext cx="2029968" cy="320040"/>
          </a:xfrm>
          <a:prstGeom prst="rect">
            <a:avLst/>
          </a:prstGeom>
          <a:noFill/>
          <a:ln/>
        </p:spPr>
        <p:txBody>
          <a:bodyPr wrap="square" lIns="0" tIns="0" rIns="0" bIns="0" rtlCol="0" anchor="ctr"/>
          <a:lstStyle/>
          <a:p>
            <a:pPr algn="ctr" indent="0" marL="0">
              <a:buNone/>
            </a:pPr>
            <a:r>
              <a:rPr lang="en-US" sz="1150" b="1" dirty="0">
                <a:solidFill>
                  <a:srgbClr val="8792AB"/>
                </a:solidFill>
                <a:latin typeface="Calibri" pitchFamily="34" charset="0"/>
                <a:ea typeface="Calibri" pitchFamily="34" charset="-122"/>
                <a:cs typeface="Calibri" pitchFamily="34" charset="-120"/>
              </a:rPr>
              <a:t>Week 1</a:t>
            </a:r>
            <a:endParaRPr lang="en-US" sz="1150" dirty="0"/>
          </a:p>
        </p:txBody>
      </p:sp>
      <p:sp>
        <p:nvSpPr>
          <p:cNvPr id="16" name="Shape 14"/>
          <p:cNvSpPr/>
          <p:nvPr/>
        </p:nvSpPr>
        <p:spPr>
          <a:xfrm>
            <a:off x="5065776" y="1874520"/>
            <a:ext cx="2029968" cy="713232"/>
          </a:xfrm>
          <a:prstGeom prst="chevron">
            <a:avLst/>
          </a:prstGeom>
          <a:solidFill>
            <a:srgbClr val="1E2761"/>
          </a:solidFill>
          <a:ln/>
        </p:spPr>
      </p:sp>
      <p:sp>
        <p:nvSpPr>
          <p:cNvPr id="17" name="Text 15"/>
          <p:cNvSpPr txBox="1"/>
          <p:nvPr/>
        </p:nvSpPr>
        <p:spPr>
          <a:xfrm>
            <a:off x="5230368" y="1874520"/>
            <a:ext cx="1755648" cy="71323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Define</a:t>
            </a:r>
            <a:endParaRPr lang="en-US" sz="1500" dirty="0"/>
          </a:p>
        </p:txBody>
      </p:sp>
      <p:sp>
        <p:nvSpPr>
          <p:cNvPr id="18" name="Shape 16"/>
          <p:cNvSpPr/>
          <p:nvPr/>
        </p:nvSpPr>
        <p:spPr>
          <a:xfrm>
            <a:off x="5907024" y="2788920"/>
            <a:ext cx="347472" cy="347472"/>
          </a:xfrm>
          <a:prstGeom prst="ellipse">
            <a:avLst/>
          </a:prstGeom>
          <a:solidFill>
            <a:srgbClr val="B8862B"/>
          </a:solidFill>
          <a:ln/>
        </p:spPr>
      </p:sp>
      <p:sp>
        <p:nvSpPr>
          <p:cNvPr id="19" name="Text 17"/>
          <p:cNvSpPr txBox="1"/>
          <p:nvPr/>
        </p:nvSpPr>
        <p:spPr>
          <a:xfrm>
            <a:off x="5907024" y="27889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Text 18"/>
          <p:cNvSpPr txBox="1"/>
          <p:nvPr/>
        </p:nvSpPr>
        <p:spPr>
          <a:xfrm>
            <a:off x="5065776" y="3337560"/>
            <a:ext cx="2029968" cy="1554480"/>
          </a:xfrm>
          <a:prstGeom prst="rect">
            <a:avLst/>
          </a:prstGeom>
          <a:noFill/>
          <a:ln/>
        </p:spPr>
        <p:txBody>
          <a:bodyPr wrap="square" lIns="0" tIns="0" rIns="0" bIns="0" rtlCol="0" anchor="ctr"/>
          <a:lstStyle/>
          <a:p>
            <a:pPr marL="342900" indent="-342900">
              <a:spcAft>
                <a:spcPts val="800"/>
              </a:spcAft>
              <a:buSzPct val="100000"/>
              <a:buChar char="•"/>
            </a:pPr>
            <a:r>
              <a:rPr lang="en-US" sz="1200" dirty="0">
                <a:solidFill>
                  <a:srgbClr val="44506B"/>
                </a:solidFill>
                <a:latin typeface="Calibri" pitchFamily="34" charset="0"/>
                <a:ea typeface="Calibri" pitchFamily="34" charset="-122"/>
                <a:cs typeface="Calibri" pitchFamily="34" charset="-120"/>
              </a:rPr>
              <a:t>Markets, segments and candidate accounts</a:t>
            </a:r>
            <a:endParaRPr lang="en-US" sz="1200" dirty="0"/>
          </a:p>
          <a:p>
            <a:pPr marL="342900" indent="-342900">
              <a:spcAft>
                <a:spcPts val="800"/>
              </a:spcAft>
              <a:buSzPct val="100000"/>
              <a:buChar char="•"/>
            </a:pPr>
            <a:r>
              <a:rPr lang="en-US" sz="1200" dirty="0">
                <a:solidFill>
                  <a:srgbClr val="44506B"/>
                </a:solidFill>
                <a:latin typeface="Calibri" pitchFamily="34" charset="0"/>
                <a:ea typeface="Calibri" pitchFamily="34" charset="-122"/>
                <a:cs typeface="Calibri" pitchFamily="34" charset="-120"/>
              </a:rPr>
              <a:t>Integrated proposition catalogue</a:t>
            </a:r>
            <a:endParaRPr lang="en-US" sz="1200" dirty="0"/>
          </a:p>
        </p:txBody>
      </p:sp>
      <p:sp>
        <p:nvSpPr>
          <p:cNvPr id="21" name="Text 19"/>
          <p:cNvSpPr txBox="1"/>
          <p:nvPr/>
        </p:nvSpPr>
        <p:spPr>
          <a:xfrm>
            <a:off x="5065776" y="4983480"/>
            <a:ext cx="2029968" cy="320040"/>
          </a:xfrm>
          <a:prstGeom prst="rect">
            <a:avLst/>
          </a:prstGeom>
          <a:noFill/>
          <a:ln/>
        </p:spPr>
        <p:txBody>
          <a:bodyPr wrap="square" lIns="0" tIns="0" rIns="0" bIns="0" rtlCol="0" anchor="ctr"/>
          <a:lstStyle/>
          <a:p>
            <a:pPr algn="ctr" indent="0" marL="0">
              <a:buNone/>
            </a:pPr>
            <a:r>
              <a:rPr lang="en-US" sz="1150" b="1" dirty="0">
                <a:solidFill>
                  <a:srgbClr val="8792AB"/>
                </a:solidFill>
                <a:latin typeface="Calibri" pitchFamily="34" charset="0"/>
                <a:ea typeface="Calibri" pitchFamily="34" charset="-122"/>
                <a:cs typeface="Calibri" pitchFamily="34" charset="-120"/>
              </a:rPr>
              <a:t>Weeks 1–2</a:t>
            </a:r>
            <a:endParaRPr lang="en-US" sz="1150" dirty="0"/>
          </a:p>
        </p:txBody>
      </p:sp>
      <p:sp>
        <p:nvSpPr>
          <p:cNvPr id="22" name="Shape 20"/>
          <p:cNvSpPr/>
          <p:nvPr/>
        </p:nvSpPr>
        <p:spPr>
          <a:xfrm>
            <a:off x="7278624" y="1874520"/>
            <a:ext cx="2029968" cy="713232"/>
          </a:xfrm>
          <a:prstGeom prst="chevron">
            <a:avLst/>
          </a:prstGeom>
          <a:solidFill>
            <a:srgbClr val="3E5C8A"/>
          </a:solidFill>
          <a:ln/>
        </p:spPr>
      </p:sp>
      <p:sp>
        <p:nvSpPr>
          <p:cNvPr id="23" name="Text 21"/>
          <p:cNvSpPr txBox="1"/>
          <p:nvPr/>
        </p:nvSpPr>
        <p:spPr>
          <a:xfrm>
            <a:off x="7443216" y="1874520"/>
            <a:ext cx="1755648" cy="71323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Quantify</a:t>
            </a:r>
            <a:endParaRPr lang="en-US" sz="1500" dirty="0"/>
          </a:p>
        </p:txBody>
      </p:sp>
      <p:sp>
        <p:nvSpPr>
          <p:cNvPr id="24" name="Shape 22"/>
          <p:cNvSpPr/>
          <p:nvPr/>
        </p:nvSpPr>
        <p:spPr>
          <a:xfrm>
            <a:off x="8119872" y="2788920"/>
            <a:ext cx="347472" cy="347472"/>
          </a:xfrm>
          <a:prstGeom prst="ellipse">
            <a:avLst/>
          </a:prstGeom>
          <a:solidFill>
            <a:srgbClr val="B8862B"/>
          </a:solidFill>
          <a:ln/>
        </p:spPr>
      </p:sp>
      <p:sp>
        <p:nvSpPr>
          <p:cNvPr id="25" name="Text 23"/>
          <p:cNvSpPr txBox="1"/>
          <p:nvPr/>
        </p:nvSpPr>
        <p:spPr>
          <a:xfrm>
            <a:off x="8119872" y="27889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6" name="Text 24"/>
          <p:cNvSpPr txBox="1"/>
          <p:nvPr/>
        </p:nvSpPr>
        <p:spPr>
          <a:xfrm>
            <a:off x="7278624" y="3337560"/>
            <a:ext cx="2029968" cy="1554480"/>
          </a:xfrm>
          <a:prstGeom prst="rect">
            <a:avLst/>
          </a:prstGeom>
          <a:noFill/>
          <a:ln/>
        </p:spPr>
        <p:txBody>
          <a:bodyPr wrap="square" lIns="0" tIns="0" rIns="0" bIns="0" rtlCol="0" anchor="ctr"/>
          <a:lstStyle/>
          <a:p>
            <a:pPr marL="342900" indent="-342900">
              <a:spcAft>
                <a:spcPts val="800"/>
              </a:spcAft>
              <a:buSzPct val="100000"/>
              <a:buChar char="•"/>
            </a:pPr>
            <a:r>
              <a:rPr lang="en-US" sz="1200" dirty="0">
                <a:solidFill>
                  <a:srgbClr val="44506B"/>
                </a:solidFill>
                <a:latin typeface="Calibri" pitchFamily="34" charset="0"/>
                <a:ea typeface="Calibri" pitchFamily="34" charset="-122"/>
                <a:cs typeface="Calibri" pitchFamily="34" charset="-120"/>
              </a:rPr>
              <a:t>Price bands, ADR and target margin</a:t>
            </a:r>
            <a:endParaRPr lang="en-US" sz="1200" dirty="0"/>
          </a:p>
          <a:p>
            <a:pPr marL="342900" indent="-342900">
              <a:spcAft>
                <a:spcPts val="800"/>
              </a:spcAft>
              <a:buSzPct val="100000"/>
              <a:buChar char="•"/>
            </a:pPr>
            <a:r>
              <a:rPr lang="en-US" sz="1200" dirty="0">
                <a:solidFill>
                  <a:srgbClr val="44506B"/>
                </a:solidFill>
                <a:latin typeface="Calibri" pitchFamily="34" charset="0"/>
                <a:ea typeface="Calibri" pitchFamily="34" charset="-122"/>
                <a:cs typeface="Calibri" pitchFamily="34" charset="-120"/>
              </a:rPr>
              <a:t>Revenue targets and the capacity to service them</a:t>
            </a:r>
            <a:endParaRPr lang="en-US" sz="1200" dirty="0"/>
          </a:p>
        </p:txBody>
      </p:sp>
      <p:sp>
        <p:nvSpPr>
          <p:cNvPr id="27" name="Text 25"/>
          <p:cNvSpPr txBox="1"/>
          <p:nvPr/>
        </p:nvSpPr>
        <p:spPr>
          <a:xfrm>
            <a:off x="7278624" y="4983480"/>
            <a:ext cx="2029968" cy="320040"/>
          </a:xfrm>
          <a:prstGeom prst="rect">
            <a:avLst/>
          </a:prstGeom>
          <a:noFill/>
          <a:ln/>
        </p:spPr>
        <p:txBody>
          <a:bodyPr wrap="square" lIns="0" tIns="0" rIns="0" bIns="0" rtlCol="0" anchor="ctr"/>
          <a:lstStyle/>
          <a:p>
            <a:pPr algn="ctr" indent="0" marL="0">
              <a:buNone/>
            </a:pPr>
            <a:r>
              <a:rPr lang="en-US" sz="1150" b="1" dirty="0">
                <a:solidFill>
                  <a:srgbClr val="8792AB"/>
                </a:solidFill>
                <a:latin typeface="Calibri" pitchFamily="34" charset="0"/>
                <a:ea typeface="Calibri" pitchFamily="34" charset="-122"/>
                <a:cs typeface="Calibri" pitchFamily="34" charset="-120"/>
              </a:rPr>
              <a:t>Week 2</a:t>
            </a:r>
            <a:endParaRPr lang="en-US" sz="1150" dirty="0"/>
          </a:p>
        </p:txBody>
      </p:sp>
      <p:sp>
        <p:nvSpPr>
          <p:cNvPr id="28" name="Shape 26"/>
          <p:cNvSpPr/>
          <p:nvPr/>
        </p:nvSpPr>
        <p:spPr>
          <a:xfrm>
            <a:off x="9491472" y="1874520"/>
            <a:ext cx="2029968" cy="713232"/>
          </a:xfrm>
          <a:prstGeom prst="chevron">
            <a:avLst/>
          </a:prstGeom>
          <a:solidFill>
            <a:srgbClr val="1E2761"/>
          </a:solidFill>
          <a:ln/>
        </p:spPr>
      </p:sp>
      <p:sp>
        <p:nvSpPr>
          <p:cNvPr id="29" name="Text 27"/>
          <p:cNvSpPr txBox="1"/>
          <p:nvPr/>
        </p:nvSpPr>
        <p:spPr>
          <a:xfrm>
            <a:off x="9656064" y="1874520"/>
            <a:ext cx="1755648" cy="71323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Commit</a:t>
            </a:r>
            <a:endParaRPr lang="en-US" sz="1500" dirty="0"/>
          </a:p>
        </p:txBody>
      </p:sp>
      <p:sp>
        <p:nvSpPr>
          <p:cNvPr id="30" name="Shape 28"/>
          <p:cNvSpPr/>
          <p:nvPr/>
        </p:nvSpPr>
        <p:spPr>
          <a:xfrm>
            <a:off x="10332720" y="2788920"/>
            <a:ext cx="347472" cy="347472"/>
          </a:xfrm>
          <a:prstGeom prst="ellipse">
            <a:avLst/>
          </a:prstGeom>
          <a:solidFill>
            <a:srgbClr val="B8862B"/>
          </a:solidFill>
          <a:ln/>
        </p:spPr>
      </p:sp>
      <p:sp>
        <p:nvSpPr>
          <p:cNvPr id="31" name="Text 29"/>
          <p:cNvSpPr txBox="1"/>
          <p:nvPr/>
        </p:nvSpPr>
        <p:spPr>
          <a:xfrm>
            <a:off x="10332720" y="27889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2" name="Text 30"/>
          <p:cNvSpPr txBox="1"/>
          <p:nvPr/>
        </p:nvSpPr>
        <p:spPr>
          <a:xfrm>
            <a:off x="9491472" y="3337560"/>
            <a:ext cx="2029968" cy="1554480"/>
          </a:xfrm>
          <a:prstGeom prst="rect">
            <a:avLst/>
          </a:prstGeom>
          <a:noFill/>
          <a:ln/>
        </p:spPr>
        <p:txBody>
          <a:bodyPr wrap="square" lIns="0" tIns="0" rIns="0" bIns="0" rtlCol="0" anchor="ctr"/>
          <a:lstStyle/>
          <a:p>
            <a:pPr marL="342900" indent="-342900">
              <a:spcAft>
                <a:spcPts val="800"/>
              </a:spcAft>
              <a:buSzPct val="100000"/>
              <a:buChar char="•"/>
            </a:pPr>
            <a:r>
              <a:rPr lang="en-US" sz="1200" dirty="0">
                <a:solidFill>
                  <a:srgbClr val="44506B"/>
                </a:solidFill>
                <a:latin typeface="Calibri" pitchFamily="34" charset="0"/>
                <a:ea typeface="Calibri" pitchFamily="34" charset="-122"/>
                <a:cs typeface="Calibri" pitchFamily="34" charset="-120"/>
              </a:rPr>
              <a:t>Account ownership and coverage</a:t>
            </a:r>
            <a:endParaRPr lang="en-US" sz="1200" dirty="0"/>
          </a:p>
          <a:p>
            <a:pPr marL="342900" indent="-342900">
              <a:spcAft>
                <a:spcPts val="800"/>
              </a:spcAft>
              <a:buSzPct val="100000"/>
              <a:buChar char="•"/>
            </a:pPr>
            <a:r>
              <a:rPr lang="en-US" sz="1200" dirty="0">
                <a:solidFill>
                  <a:srgbClr val="44506B"/>
                </a:solidFill>
                <a:latin typeface="Calibri" pitchFamily="34" charset="0"/>
                <a:ea typeface="Calibri" pitchFamily="34" charset="-122"/>
                <a:cs typeface="Calibri" pitchFamily="34" charset="-120"/>
              </a:rPr>
              <a:t>Team, eminence and activation plans signed off</a:t>
            </a:r>
            <a:endParaRPr lang="en-US" sz="1200" dirty="0"/>
          </a:p>
        </p:txBody>
      </p:sp>
      <p:sp>
        <p:nvSpPr>
          <p:cNvPr id="33" name="Text 31"/>
          <p:cNvSpPr txBox="1"/>
          <p:nvPr/>
        </p:nvSpPr>
        <p:spPr>
          <a:xfrm>
            <a:off x="9491472" y="4983480"/>
            <a:ext cx="2029968" cy="320040"/>
          </a:xfrm>
          <a:prstGeom prst="rect">
            <a:avLst/>
          </a:prstGeom>
          <a:noFill/>
          <a:ln/>
        </p:spPr>
        <p:txBody>
          <a:bodyPr wrap="square" lIns="0" tIns="0" rIns="0" bIns="0" rtlCol="0" anchor="ctr"/>
          <a:lstStyle/>
          <a:p>
            <a:pPr algn="ctr" indent="0" marL="0">
              <a:buNone/>
            </a:pPr>
            <a:r>
              <a:rPr lang="en-US" sz="1150" b="1" dirty="0">
                <a:solidFill>
                  <a:srgbClr val="8792AB"/>
                </a:solidFill>
                <a:latin typeface="Calibri" pitchFamily="34" charset="0"/>
                <a:ea typeface="Calibri" pitchFamily="34" charset="-122"/>
                <a:cs typeface="Calibri" pitchFamily="34" charset="-120"/>
              </a:rPr>
              <a:t>Week 3</a:t>
            </a:r>
            <a:endParaRPr lang="en-US" sz="1150" dirty="0"/>
          </a:p>
        </p:txBody>
      </p:sp>
      <p:sp>
        <p:nvSpPr>
          <p:cNvPr id="34" name="Text 32"/>
          <p:cNvSpPr txBox="1"/>
          <p:nvPr/>
        </p:nvSpPr>
        <p:spPr>
          <a:xfrm>
            <a:off x="640080" y="5623560"/>
            <a:ext cx="10881360" cy="365760"/>
          </a:xfrm>
          <a:prstGeom prst="rect">
            <a:avLst/>
          </a:prstGeom>
          <a:noFill/>
          <a:ln/>
        </p:spPr>
        <p:txBody>
          <a:bodyPr wrap="square" lIns="0" tIns="0" rIns="0" bIns="0" rtlCol="0" anchor="ctr"/>
          <a:lstStyle/>
          <a:p>
            <a:pPr indent="0" marL="0">
              <a:buNone/>
            </a:pPr>
            <a:r>
              <a:rPr lang="en-US" sz="1350" i="1" dirty="0">
                <a:solidFill>
                  <a:srgbClr val="3E5C8A"/>
                </a:solidFill>
                <a:latin typeface="Calibri" pitchFamily="34" charset="0"/>
                <a:ea typeface="Calibri" pitchFamily="34" charset="-122"/>
                <a:cs typeface="Calibri" pitchFamily="34" charset="-120"/>
              </a:rPr>
              <a:t>Each step closes before the next opens; the gate is a decision, not a document.</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685800"/>
          </a:xfrm>
          <a:prstGeom prst="rect">
            <a:avLst/>
          </a:prstGeom>
          <a:noFill/>
          <a:ln/>
        </p:spPr>
        <p:txBody>
          <a:bodyPr wrap="square" lIns="0" tIns="0" rIns="0" bIns="0" rtlCol="0" anchor="ctr"/>
          <a:lstStyle/>
          <a:p>
            <a:pPr indent="0" marL="0">
              <a:buNone/>
            </a:pPr>
            <a:r>
              <a:rPr lang="en-US" sz="3600" b="1" dirty="0">
                <a:solidFill>
                  <a:srgbClr val="16203A"/>
                </a:solidFill>
                <a:latin typeface="Cambria" pitchFamily="34" charset="0"/>
                <a:ea typeface="Cambria" pitchFamily="34" charset="-122"/>
                <a:cs typeface="Cambria" pitchFamily="34" charset="-120"/>
              </a:rPr>
              <a:t>Nine workstreams, nine artefacts</a:t>
            </a:r>
            <a:endParaRPr lang="en-US" sz="3600" dirty="0"/>
          </a:p>
        </p:txBody>
      </p:sp>
      <p:sp>
        <p:nvSpPr>
          <p:cNvPr id="3" name="Text 1"/>
          <p:cNvSpPr txBox="1"/>
          <p:nvPr/>
        </p:nvSpPr>
        <p:spPr>
          <a:xfrm>
            <a:off x="640080" y="1133856"/>
            <a:ext cx="10881360" cy="411480"/>
          </a:xfrm>
          <a:prstGeom prst="rect">
            <a:avLst/>
          </a:prstGeom>
          <a:noFill/>
          <a:ln/>
        </p:spPr>
        <p:txBody>
          <a:bodyPr wrap="square" lIns="0" tIns="0" rIns="0" bIns="0" rtlCol="0" anchor="ctr"/>
          <a:lstStyle/>
          <a:p>
            <a:pPr indent="0" marL="0">
              <a:buNone/>
            </a:pPr>
            <a:r>
              <a:rPr lang="en-US" sz="1450" dirty="0">
                <a:solidFill>
                  <a:srgbClr val="8792AB"/>
                </a:solidFill>
                <a:latin typeface="Calibri" pitchFamily="34" charset="0"/>
                <a:ea typeface="Calibri" pitchFamily="34" charset="-122"/>
                <a:cs typeface="Calibri" pitchFamily="34" charset="-120"/>
              </a:rPr>
              <a:t>Each workstream owns one dimension and produces one deliverable.</a:t>
            </a:r>
            <a:endParaRPr lang="en-US" sz="14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881360" cy="914400"/>
        </p:xfrm>
        <a:graphic>
          <a:graphicData uri="http://schemas.openxmlformats.org/drawingml/2006/table">
            <a:tbl>
              <a:tblPr/>
              <a:tblGrid>
                <a:gridCol w="3017520"/>
                <a:gridCol w="2377440"/>
                <a:gridCol w="5486400"/>
              </a:tblGrid>
              <a:tr h="402336">
                <a:tc>
                  <a:txBody>
                    <a:bodyPr/>
                    <a:lstStyle/>
                    <a:p>
                      <a:pPr algn="l" indent="0" marL="0">
                        <a:buNone/>
                      </a:pPr>
                      <a:r>
                        <a:rPr lang="en-US" sz="1150" b="1" dirty="0">
                          <a:solidFill>
                            <a:srgbClr val="44506B"/>
                          </a:solidFill>
                          <a:latin typeface="Calibri" pitchFamily="34" charset="0"/>
                          <a:ea typeface="Calibri" pitchFamily="34" charset="-122"/>
                          <a:cs typeface="Calibri" pitchFamily="34" charset="-120"/>
                        </a:rPr>
                        <a:t>Workstream</a:t>
                      </a:r>
                      <a:endParaRPr lang="en-US" sz="1150" dirty="0">
                        <a:latin typeface="Calibri" charset="0"/>
                        <a:ea typeface="Calibri" charset="0"/>
                        <a:cs typeface="Calibri" charset="0"/>
                      </a:endParaRPr>
                    </a:p>
                  </a:txBody>
                  <a:tcPr marL="76200" marR="76200" marT="76200" marB="762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150" b="1" dirty="0">
                          <a:solidFill>
                            <a:srgbClr val="44506B"/>
                          </a:solidFill>
                          <a:latin typeface="Calibri" pitchFamily="34" charset="0"/>
                          <a:ea typeface="Calibri" pitchFamily="34" charset="-122"/>
                          <a:cs typeface="Calibri" pitchFamily="34" charset="-120"/>
                        </a:rPr>
                        <a:t>Question it closes</a:t>
                      </a:r>
                      <a:endParaRPr lang="en-US" sz="1150" dirty="0">
                        <a:latin typeface="Calibri" charset="0"/>
                        <a:ea typeface="Calibri" charset="0"/>
                        <a:cs typeface="Calibri" charset="0"/>
                      </a:endParaRPr>
                    </a:p>
                  </a:txBody>
                  <a:tcPr marL="76200" marR="76200" marT="76200" marB="762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150" b="1" dirty="0">
                          <a:solidFill>
                            <a:srgbClr val="44506B"/>
                          </a:solidFill>
                          <a:latin typeface="Calibri" pitchFamily="34" charset="0"/>
                          <a:ea typeface="Calibri" pitchFamily="34" charset="-122"/>
                          <a:cs typeface="Calibri" pitchFamily="34" charset="-120"/>
                        </a:rPr>
                        <a:t>Artefact produced</a:t>
                      </a:r>
                      <a:endParaRPr lang="en-US" sz="1150" dirty="0">
                        <a:latin typeface="Calibri" charset="0"/>
                        <a:ea typeface="Calibri" charset="0"/>
                        <a:cs typeface="Calibri" charset="0"/>
                      </a:endParaRPr>
                    </a:p>
                  </a:txBody>
                  <a:tcPr marL="76200" marR="76200" marT="76200" marB="762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429768">
                <a:tc>
                  <a:txBody>
                    <a:bodyPr/>
                    <a:lstStyle/>
                    <a:p>
                      <a:pPr algn="l" indent="0" marL="0">
                        <a:buNone/>
                      </a:pPr>
                      <a:r>
                        <a:rPr lang="en-US" sz="1150" dirty="0">
                          <a:solidFill>
                            <a:srgbClr val="44506B"/>
                          </a:solidFill>
                          <a:latin typeface="Calibri" pitchFamily="34" charset="0"/>
                          <a:ea typeface="Calibri" pitchFamily="34" charset="-122"/>
                          <a:cs typeface="Calibri" pitchFamily="34" charset="-120"/>
                        </a:rPr>
                        <a:t>1 · Proposition &amp; catalogue</a:t>
                      </a:r>
                      <a:endParaRPr lang="en-US" sz="1150" dirty="0">
                        <a:latin typeface="Calibri" charset="0"/>
                        <a:ea typeface="Calibri" charset="0"/>
                        <a:cs typeface="Calibri" charset="0"/>
                      </a:endParaRPr>
                    </a:p>
                  </a:txBody>
                  <a:tcPr marL="76200" marR="76200" marT="76200" marB="762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150" dirty="0">
                          <a:solidFill>
                            <a:srgbClr val="44506B"/>
                          </a:solidFill>
                          <a:latin typeface="Calibri" pitchFamily="34" charset="0"/>
                          <a:ea typeface="Calibri" pitchFamily="34" charset="-122"/>
                          <a:cs typeface="Calibri" pitchFamily="34" charset="-120"/>
                        </a:rPr>
                        <a:t>What we offer</a:t>
                      </a:r>
                      <a:endParaRPr lang="en-US" sz="1150" dirty="0">
                        <a:latin typeface="Calibri" charset="0"/>
                        <a:ea typeface="Calibri" charset="0"/>
                        <a:cs typeface="Calibri" charset="0"/>
                      </a:endParaRPr>
                    </a:p>
                  </a:txBody>
                  <a:tcPr marL="76200" marR="76200" marT="76200" marB="762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150" dirty="0">
                          <a:solidFill>
                            <a:srgbClr val="44506B"/>
                          </a:solidFill>
                          <a:latin typeface="Calibri" pitchFamily="34" charset="0"/>
                          <a:ea typeface="Calibri" pitchFamily="34" charset="-122"/>
                          <a:cs typeface="Calibri" pitchFamily="34" charset="-120"/>
                        </a:rPr>
                        <a:t>Integrated proposition catalogue with permitted variants</a:t>
                      </a:r>
                      <a:endParaRPr lang="en-US" sz="1150" dirty="0">
                        <a:latin typeface="Calibri" charset="0"/>
                        <a:ea typeface="Calibri" charset="0"/>
                        <a:cs typeface="Calibri" charset="0"/>
                      </a:endParaRPr>
                    </a:p>
                  </a:txBody>
                  <a:tcPr marL="76200" marR="76200" marT="76200" marB="762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429768">
                <a:tc>
                  <a:txBody>
                    <a:bodyPr/>
                    <a:lstStyle/>
                    <a:p>
                      <a:pPr algn="l" indent="0" marL="0">
                        <a:buNone/>
                      </a:pPr>
                      <a:r>
                        <a:rPr lang="en-US" sz="1150" dirty="0">
                          <a:solidFill>
                            <a:srgbClr val="44506B"/>
                          </a:solidFill>
                          <a:latin typeface="Calibri" pitchFamily="34" charset="0"/>
                          <a:ea typeface="Calibri" pitchFamily="34" charset="-122"/>
                          <a:cs typeface="Calibri" pitchFamily="34" charset="-120"/>
                        </a:rPr>
                        <a:t>2 · Market &amp; account targeting</a:t>
                      </a:r>
                      <a:endParaRPr lang="en-US" sz="1150" dirty="0">
                        <a:latin typeface="Calibri" charset="0"/>
                        <a:ea typeface="Calibri" charset="0"/>
                        <a:cs typeface="Calibri" charset="0"/>
                      </a:endParaRPr>
                    </a:p>
                  </a:txBody>
                  <a:tcPr marL="76200" marR="76200" marT="76200" marB="762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150" dirty="0">
                          <a:solidFill>
                            <a:srgbClr val="44506B"/>
                          </a:solidFill>
                          <a:latin typeface="Calibri" pitchFamily="34" charset="0"/>
                          <a:ea typeface="Calibri" pitchFamily="34" charset="-122"/>
                          <a:cs typeface="Calibri" pitchFamily="34" charset="-120"/>
                        </a:rPr>
                        <a:t>Where to play</a:t>
                      </a:r>
                      <a:endParaRPr lang="en-US" sz="1150" dirty="0">
                        <a:latin typeface="Calibri" charset="0"/>
                        <a:ea typeface="Calibri" charset="0"/>
                        <a:cs typeface="Calibri" charset="0"/>
                      </a:endParaRPr>
                    </a:p>
                  </a:txBody>
                  <a:tcPr marL="76200" marR="76200" marT="76200" marB="762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150" dirty="0">
                          <a:solidFill>
                            <a:srgbClr val="44506B"/>
                          </a:solidFill>
                          <a:latin typeface="Calibri" pitchFamily="34" charset="0"/>
                          <a:ea typeface="Calibri" pitchFamily="34" charset="-122"/>
                          <a:cs typeface="Calibri" pitchFamily="34" charset="-120"/>
                        </a:rPr>
                        <a:t>Prioritised markets, segments and named account list</a:t>
                      </a:r>
                      <a:endParaRPr lang="en-US" sz="1150" dirty="0">
                        <a:latin typeface="Calibri" charset="0"/>
                        <a:ea typeface="Calibri" charset="0"/>
                        <a:cs typeface="Calibri" charset="0"/>
                      </a:endParaRPr>
                    </a:p>
                  </a:txBody>
                  <a:tcPr marL="76200" marR="76200" marT="76200" marB="762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429768">
                <a:tc>
                  <a:txBody>
                    <a:bodyPr/>
                    <a:lstStyle/>
                    <a:p>
                      <a:pPr algn="l" indent="0" marL="0">
                        <a:buNone/>
                      </a:pPr>
                      <a:r>
                        <a:rPr lang="en-US" sz="1150" dirty="0">
                          <a:solidFill>
                            <a:srgbClr val="44506B"/>
                          </a:solidFill>
                          <a:latin typeface="Calibri" pitchFamily="34" charset="0"/>
                          <a:ea typeface="Calibri" pitchFamily="34" charset="-122"/>
                          <a:cs typeface="Calibri" pitchFamily="34" charset="-120"/>
                        </a:rPr>
                        <a:t>3 · Commercial model &amp; pricing</a:t>
                      </a:r>
                      <a:endParaRPr lang="en-US" sz="1150" dirty="0">
                        <a:latin typeface="Calibri" charset="0"/>
                        <a:ea typeface="Calibri" charset="0"/>
                        <a:cs typeface="Calibri" charset="0"/>
                      </a:endParaRPr>
                    </a:p>
                  </a:txBody>
                  <a:tcPr marL="76200" marR="76200" marT="76200" marB="762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150" dirty="0">
                          <a:solidFill>
                            <a:srgbClr val="44506B"/>
                          </a:solidFill>
                          <a:latin typeface="Calibri" pitchFamily="34" charset="0"/>
                          <a:ea typeface="Calibri" pitchFamily="34" charset="-122"/>
                          <a:cs typeface="Calibri" pitchFamily="34" charset="-120"/>
                        </a:rPr>
                        <a:t>How much</a:t>
                      </a:r>
                      <a:endParaRPr lang="en-US" sz="1150" dirty="0">
                        <a:latin typeface="Calibri" charset="0"/>
                        <a:ea typeface="Calibri" charset="0"/>
                        <a:cs typeface="Calibri" charset="0"/>
                      </a:endParaRPr>
                    </a:p>
                  </a:txBody>
                  <a:tcPr marL="76200" marR="76200" marT="76200" marB="762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150" dirty="0">
                          <a:solidFill>
                            <a:srgbClr val="44506B"/>
                          </a:solidFill>
                          <a:latin typeface="Calibri" pitchFamily="34" charset="0"/>
                          <a:ea typeface="Calibri" pitchFamily="34" charset="-122"/>
                          <a:cs typeface="Calibri" pitchFamily="34" charset="-120"/>
                        </a:rPr>
                        <a:t>Deal-size bands, price benchmarks, revenue targets</a:t>
                      </a:r>
                      <a:endParaRPr lang="en-US" sz="1150" dirty="0">
                        <a:latin typeface="Calibri" charset="0"/>
                        <a:ea typeface="Calibri" charset="0"/>
                        <a:cs typeface="Calibri" charset="0"/>
                      </a:endParaRPr>
                    </a:p>
                  </a:txBody>
                  <a:tcPr marL="76200" marR="76200" marT="76200" marB="762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429768">
                <a:tc>
                  <a:txBody>
                    <a:bodyPr/>
                    <a:lstStyle/>
                    <a:p>
                      <a:pPr algn="l" indent="0" marL="0">
                        <a:buNone/>
                      </a:pPr>
                      <a:r>
                        <a:rPr lang="en-US" sz="1150" dirty="0">
                          <a:solidFill>
                            <a:srgbClr val="44506B"/>
                          </a:solidFill>
                          <a:latin typeface="Calibri" pitchFamily="34" charset="0"/>
                          <a:ea typeface="Calibri" pitchFamily="34" charset="-122"/>
                          <a:cs typeface="Calibri" pitchFamily="34" charset="-120"/>
                        </a:rPr>
                        <a:t>4 · Coverage &amp; ownership</a:t>
                      </a:r>
                      <a:endParaRPr lang="en-US" sz="1150" dirty="0">
                        <a:latin typeface="Calibri" charset="0"/>
                        <a:ea typeface="Calibri" charset="0"/>
                        <a:cs typeface="Calibri" charset="0"/>
                      </a:endParaRPr>
                    </a:p>
                  </a:txBody>
                  <a:tcPr marL="76200" marR="76200" marT="76200" marB="762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150" dirty="0">
                          <a:solidFill>
                            <a:srgbClr val="44506B"/>
                          </a:solidFill>
                          <a:latin typeface="Calibri" pitchFamily="34" charset="0"/>
                          <a:ea typeface="Calibri" pitchFamily="34" charset="-122"/>
                          <a:cs typeface="Calibri" pitchFamily="34" charset="-120"/>
                        </a:rPr>
                        <a:t>Who covers what</a:t>
                      </a:r>
                      <a:endParaRPr lang="en-US" sz="1150" dirty="0">
                        <a:latin typeface="Calibri" charset="0"/>
                        <a:ea typeface="Calibri" charset="0"/>
                        <a:cs typeface="Calibri" charset="0"/>
                      </a:endParaRPr>
                    </a:p>
                  </a:txBody>
                  <a:tcPr marL="76200" marR="76200" marT="76200" marB="762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150" dirty="0">
                          <a:solidFill>
                            <a:srgbClr val="44506B"/>
                          </a:solidFill>
                          <a:latin typeface="Calibri" pitchFamily="34" charset="0"/>
                          <a:ea typeface="Calibri" pitchFamily="34" charset="-122"/>
                          <a:cs typeface="Calibri" pitchFamily="34" charset="-120"/>
                        </a:rPr>
                        <a:t>Account-to-partner map and coverage model</a:t>
                      </a:r>
                      <a:endParaRPr lang="en-US" sz="1150" dirty="0">
                        <a:latin typeface="Calibri" charset="0"/>
                        <a:ea typeface="Calibri" charset="0"/>
                        <a:cs typeface="Calibri" charset="0"/>
                      </a:endParaRPr>
                    </a:p>
                  </a:txBody>
                  <a:tcPr marL="76200" marR="76200" marT="76200" marB="762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429768">
                <a:tc>
                  <a:txBody>
                    <a:bodyPr/>
                    <a:lstStyle/>
                    <a:p>
                      <a:pPr algn="l" indent="0" marL="0">
                        <a:buNone/>
                      </a:pPr>
                      <a:r>
                        <a:rPr lang="en-US" sz="1150" dirty="0">
                          <a:solidFill>
                            <a:srgbClr val="44506B"/>
                          </a:solidFill>
                          <a:latin typeface="Calibri" pitchFamily="34" charset="0"/>
                          <a:ea typeface="Calibri" pitchFamily="34" charset="-122"/>
                          <a:cs typeface="Calibri" pitchFamily="34" charset="-120"/>
                        </a:rPr>
                        <a:t>5 · Delivery model &amp; economics</a:t>
                      </a:r>
                      <a:endParaRPr lang="en-US" sz="1150" dirty="0">
                        <a:latin typeface="Calibri" charset="0"/>
                        <a:ea typeface="Calibri" charset="0"/>
                        <a:cs typeface="Calibri" charset="0"/>
                      </a:endParaRPr>
                    </a:p>
                  </a:txBody>
                  <a:tcPr marL="76200" marR="76200" marT="76200" marB="762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150" dirty="0">
                          <a:solidFill>
                            <a:srgbClr val="44506B"/>
                          </a:solidFill>
                          <a:latin typeface="Calibri" pitchFamily="34" charset="0"/>
                          <a:ea typeface="Calibri" pitchFamily="34" charset="-122"/>
                          <a:cs typeface="Calibri" pitchFamily="34" charset="-120"/>
                        </a:rPr>
                        <a:t>At what margin</a:t>
                      </a:r>
                      <a:endParaRPr lang="en-US" sz="1150" dirty="0">
                        <a:latin typeface="Calibri" charset="0"/>
                        <a:ea typeface="Calibri" charset="0"/>
                        <a:cs typeface="Calibri" charset="0"/>
                      </a:endParaRPr>
                    </a:p>
                  </a:txBody>
                  <a:tcPr marL="76200" marR="76200" marT="76200" marB="762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150" dirty="0">
                          <a:solidFill>
                            <a:srgbClr val="44506B"/>
                          </a:solidFill>
                          <a:latin typeface="Calibri" pitchFamily="34" charset="0"/>
                          <a:ea typeface="Calibri" pitchFamily="34" charset="-122"/>
                          <a:cs typeface="Calibri" pitchFamily="34" charset="-120"/>
                        </a:rPr>
                        <a:t>Delivery construct, blended ADR and target margin per offering</a:t>
                      </a:r>
                      <a:endParaRPr lang="en-US" sz="1150" dirty="0">
                        <a:latin typeface="Calibri" charset="0"/>
                        <a:ea typeface="Calibri" charset="0"/>
                        <a:cs typeface="Calibri" charset="0"/>
                      </a:endParaRPr>
                    </a:p>
                  </a:txBody>
                  <a:tcPr marL="76200" marR="76200" marT="76200" marB="762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429768">
                <a:tc>
                  <a:txBody>
                    <a:bodyPr/>
                    <a:lstStyle/>
                    <a:p>
                      <a:pPr algn="l" indent="0" marL="0">
                        <a:buNone/>
                      </a:pPr>
                      <a:r>
                        <a:rPr lang="en-US" sz="1150" dirty="0">
                          <a:solidFill>
                            <a:srgbClr val="44506B"/>
                          </a:solidFill>
                          <a:latin typeface="Calibri" pitchFamily="34" charset="0"/>
                          <a:ea typeface="Calibri" pitchFamily="34" charset="-122"/>
                          <a:cs typeface="Calibri" pitchFamily="34" charset="-120"/>
                        </a:rPr>
                        <a:t>6 · Team &amp; talent</a:t>
                      </a:r>
                      <a:endParaRPr lang="en-US" sz="1150" dirty="0">
                        <a:latin typeface="Calibri" charset="0"/>
                        <a:ea typeface="Calibri" charset="0"/>
                        <a:cs typeface="Calibri" charset="0"/>
                      </a:endParaRPr>
                    </a:p>
                  </a:txBody>
                  <a:tcPr marL="76200" marR="76200" marT="76200" marB="762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150" dirty="0">
                          <a:solidFill>
                            <a:srgbClr val="44506B"/>
                          </a:solidFill>
                          <a:latin typeface="Calibri" pitchFamily="34" charset="0"/>
                          <a:ea typeface="Calibri" pitchFamily="34" charset="-122"/>
                          <a:cs typeface="Calibri" pitchFamily="34" charset="-120"/>
                        </a:rPr>
                        <a:t>Who delivers it</a:t>
                      </a:r>
                      <a:endParaRPr lang="en-US" sz="1150" dirty="0">
                        <a:latin typeface="Calibri" charset="0"/>
                        <a:ea typeface="Calibri" charset="0"/>
                        <a:cs typeface="Calibri" charset="0"/>
                      </a:endParaRPr>
                    </a:p>
                  </a:txBody>
                  <a:tcPr marL="76200" marR="76200" marT="76200" marB="762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150" dirty="0">
                          <a:solidFill>
                            <a:srgbClr val="44506B"/>
                          </a:solidFill>
                          <a:latin typeface="Calibri" pitchFamily="34" charset="0"/>
                          <a:ea typeface="Calibri" pitchFamily="34" charset="-122"/>
                          <a:cs typeface="Calibri" pitchFamily="34" charset="-120"/>
                        </a:rPr>
                        <a:t>Dedicated FSI team, shared capacity view, recruitment plan</a:t>
                      </a:r>
                      <a:endParaRPr lang="en-US" sz="1150" dirty="0">
                        <a:latin typeface="Calibri" charset="0"/>
                        <a:ea typeface="Calibri" charset="0"/>
                        <a:cs typeface="Calibri" charset="0"/>
                      </a:endParaRPr>
                    </a:p>
                  </a:txBody>
                  <a:tcPr marL="76200" marR="76200" marT="76200" marB="762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429768">
                <a:tc>
                  <a:txBody>
                    <a:bodyPr/>
                    <a:lstStyle/>
                    <a:p>
                      <a:pPr algn="l" indent="0" marL="0">
                        <a:buNone/>
                      </a:pPr>
                      <a:r>
                        <a:rPr lang="en-US" sz="1150" dirty="0">
                          <a:solidFill>
                            <a:srgbClr val="44506B"/>
                          </a:solidFill>
                          <a:latin typeface="Calibri" pitchFamily="34" charset="0"/>
                          <a:ea typeface="Calibri" pitchFamily="34" charset="-122"/>
                          <a:cs typeface="Calibri" pitchFamily="34" charset="-120"/>
                        </a:rPr>
                        <a:t>7 · Eminence &amp; positioning</a:t>
                      </a:r>
                      <a:endParaRPr lang="en-US" sz="1150" dirty="0">
                        <a:latin typeface="Calibri" charset="0"/>
                        <a:ea typeface="Calibri" charset="0"/>
                        <a:cs typeface="Calibri" charset="0"/>
                      </a:endParaRPr>
                    </a:p>
                  </a:txBody>
                  <a:tcPr marL="76200" marR="76200" marT="76200" marB="762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150" dirty="0">
                          <a:solidFill>
                            <a:srgbClr val="44506B"/>
                          </a:solidFill>
                          <a:latin typeface="Calibri" pitchFamily="34" charset="0"/>
                          <a:ea typeface="Calibri" pitchFamily="34" charset="-122"/>
                          <a:cs typeface="Calibri" pitchFamily="34" charset="-120"/>
                        </a:rPr>
                        <a:t>How we are known</a:t>
                      </a:r>
                      <a:endParaRPr lang="en-US" sz="1150" dirty="0">
                        <a:latin typeface="Calibri" charset="0"/>
                        <a:ea typeface="Calibri" charset="0"/>
                        <a:cs typeface="Calibri" charset="0"/>
                      </a:endParaRPr>
                    </a:p>
                  </a:txBody>
                  <a:tcPr marL="76200" marR="76200" marT="76200" marB="762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150" dirty="0">
                          <a:solidFill>
                            <a:srgbClr val="44506B"/>
                          </a:solidFill>
                          <a:latin typeface="Calibri" pitchFamily="34" charset="0"/>
                          <a:ea typeface="Calibri" pitchFamily="34" charset="-122"/>
                          <a:cs typeface="Calibri" pitchFamily="34" charset="-120"/>
                        </a:rPr>
                        <a:t>Eminence plan: content, events and speaking calendar</a:t>
                      </a:r>
                      <a:endParaRPr lang="en-US" sz="1150" dirty="0">
                        <a:latin typeface="Calibri" charset="0"/>
                        <a:ea typeface="Calibri" charset="0"/>
                        <a:cs typeface="Calibri" charset="0"/>
                      </a:endParaRPr>
                    </a:p>
                  </a:txBody>
                  <a:tcPr marL="76200" marR="76200" marT="76200" marB="762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429768">
                <a:tc>
                  <a:txBody>
                    <a:bodyPr/>
                    <a:lstStyle/>
                    <a:p>
                      <a:pPr algn="l" indent="0" marL="0">
                        <a:buNone/>
                      </a:pPr>
                      <a:r>
                        <a:rPr lang="en-US" sz="1150" dirty="0">
                          <a:solidFill>
                            <a:srgbClr val="44506B"/>
                          </a:solidFill>
                          <a:latin typeface="Calibri" pitchFamily="34" charset="0"/>
                          <a:ea typeface="Calibri" pitchFamily="34" charset="-122"/>
                          <a:cs typeface="Calibri" pitchFamily="34" charset="-120"/>
                        </a:rPr>
                        <a:t>8 · Alliances</a:t>
                      </a:r>
                      <a:endParaRPr lang="en-US" sz="1150" dirty="0">
                        <a:latin typeface="Calibri" charset="0"/>
                        <a:ea typeface="Calibri" charset="0"/>
                        <a:cs typeface="Calibri" charset="0"/>
                      </a:endParaRPr>
                    </a:p>
                  </a:txBody>
                  <a:tcPr marL="76200" marR="76200" marT="76200" marB="762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150" dirty="0">
                          <a:solidFill>
                            <a:srgbClr val="44506B"/>
                          </a:solidFill>
                          <a:latin typeface="Calibri" pitchFamily="34" charset="0"/>
                          <a:ea typeface="Calibri" pitchFamily="34" charset="-122"/>
                          <a:cs typeface="Calibri" pitchFamily="34" charset="-120"/>
                        </a:rPr>
                        <a:t>Who we go with</a:t>
                      </a:r>
                      <a:endParaRPr lang="en-US" sz="1150" dirty="0">
                        <a:latin typeface="Calibri" charset="0"/>
                        <a:ea typeface="Calibri" charset="0"/>
                        <a:cs typeface="Calibri" charset="0"/>
                      </a:endParaRPr>
                    </a:p>
                  </a:txBody>
                  <a:tcPr marL="76200" marR="76200" marT="76200" marB="762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150" dirty="0">
                          <a:solidFill>
                            <a:srgbClr val="44506B"/>
                          </a:solidFill>
                          <a:latin typeface="Calibri" pitchFamily="34" charset="0"/>
                          <a:ea typeface="Calibri" pitchFamily="34" charset="-122"/>
                          <a:cs typeface="Calibri" pitchFamily="34" charset="-120"/>
                        </a:rPr>
                        <a:t>Alliance map: role, offerings and accounts per partner</a:t>
                      </a:r>
                      <a:endParaRPr lang="en-US" sz="1150" dirty="0">
                        <a:latin typeface="Calibri" charset="0"/>
                        <a:ea typeface="Calibri" charset="0"/>
                        <a:cs typeface="Calibri" charset="0"/>
                      </a:endParaRPr>
                    </a:p>
                  </a:txBody>
                  <a:tcPr marL="76200" marR="76200" marT="76200" marB="762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429768">
                <a:tc>
                  <a:txBody>
                    <a:bodyPr/>
                    <a:lstStyle/>
                    <a:p>
                      <a:pPr algn="l" indent="0" marL="0">
                        <a:buNone/>
                      </a:pPr>
                      <a:r>
                        <a:rPr lang="en-US" sz="1150" dirty="0">
                          <a:solidFill>
                            <a:srgbClr val="44506B"/>
                          </a:solidFill>
                          <a:latin typeface="Calibri" pitchFamily="34" charset="0"/>
                          <a:ea typeface="Calibri" pitchFamily="34" charset="-122"/>
                          <a:cs typeface="Calibri" pitchFamily="34" charset="-120"/>
                        </a:rPr>
                        <a:t>9 · Execution governance</a:t>
                      </a:r>
                      <a:endParaRPr lang="en-US" sz="1150" dirty="0">
                        <a:latin typeface="Calibri" charset="0"/>
                        <a:ea typeface="Calibri" charset="0"/>
                        <a:cs typeface="Calibri" charset="0"/>
                      </a:endParaRPr>
                    </a:p>
                  </a:txBody>
                  <a:tcPr marL="76200" marR="76200" marT="76200" marB="762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150" dirty="0">
                          <a:solidFill>
                            <a:srgbClr val="44506B"/>
                          </a:solidFill>
                          <a:latin typeface="Calibri" pitchFamily="34" charset="0"/>
                          <a:ea typeface="Calibri" pitchFamily="34" charset="-122"/>
                          <a:cs typeface="Calibri" pitchFamily="34" charset="-120"/>
                        </a:rPr>
                        <a:t>How we stay on course</a:t>
                      </a:r>
                      <a:endParaRPr lang="en-US" sz="1150" dirty="0">
                        <a:latin typeface="Calibri" charset="0"/>
                        <a:ea typeface="Calibri" charset="0"/>
                        <a:cs typeface="Calibri" charset="0"/>
                      </a:endParaRPr>
                    </a:p>
                  </a:txBody>
                  <a:tcPr marL="76200" marR="76200" marT="76200" marB="762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150" dirty="0">
                          <a:solidFill>
                            <a:srgbClr val="44506B"/>
                          </a:solidFill>
                          <a:latin typeface="Calibri" pitchFamily="34" charset="0"/>
                          <a:ea typeface="Calibri" pitchFamily="34" charset="-122"/>
                          <a:cs typeface="Calibri" pitchFamily="34" charset="-120"/>
                        </a:rPr>
                        <a:t>Operating rhythm, KPI scorecard and review calendar</a:t>
                      </a:r>
                      <a:endParaRPr lang="en-US" sz="1150" dirty="0">
                        <a:latin typeface="Calibri" charset="0"/>
                        <a:ea typeface="Calibri" charset="0"/>
                        <a:cs typeface="Calibri" charset="0"/>
                      </a:endParaRPr>
                    </a:p>
                  </a:txBody>
                  <a:tcPr marL="76200" marR="76200" marT="76200" marB="762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bl>
          </a:graphicData>
        </a:graphic>
      </p:graphicFrame>
      <p:sp>
        <p:nvSpPr>
          <p:cNvPr id="5" name="Shape 2"/>
          <p:cNvSpPr/>
          <p:nvPr/>
        </p:nvSpPr>
        <p:spPr>
          <a:xfrm>
            <a:off x="640080" y="1783080"/>
            <a:ext cx="10881360" cy="402336"/>
          </a:xfrm>
          <a:prstGeom prst="rect">
            <a:avLst/>
          </a:prstGeom>
          <a:solidFill>
            <a:srgbClr val="1E2761"/>
          </a:solidFill>
          <a:ln/>
        </p:spPr>
      </p:sp>
      <p:sp>
        <p:nvSpPr>
          <p:cNvPr id="6" name="Text 3"/>
          <p:cNvSpPr txBox="1"/>
          <p:nvPr/>
        </p:nvSpPr>
        <p:spPr>
          <a:xfrm>
            <a:off x="777240" y="1783080"/>
            <a:ext cx="2926080" cy="402336"/>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Workstream</a:t>
            </a:r>
            <a:endParaRPr lang="en-US" sz="1150" dirty="0"/>
          </a:p>
        </p:txBody>
      </p:sp>
      <p:sp>
        <p:nvSpPr>
          <p:cNvPr id="7" name="Text 4"/>
          <p:cNvSpPr txBox="1"/>
          <p:nvPr/>
        </p:nvSpPr>
        <p:spPr>
          <a:xfrm>
            <a:off x="3794760" y="1783080"/>
            <a:ext cx="2286000" cy="402336"/>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Question it closes</a:t>
            </a:r>
            <a:endParaRPr lang="en-US" sz="1150" dirty="0"/>
          </a:p>
        </p:txBody>
      </p:sp>
      <p:sp>
        <p:nvSpPr>
          <p:cNvPr id="8" name="Text 5"/>
          <p:cNvSpPr txBox="1"/>
          <p:nvPr/>
        </p:nvSpPr>
        <p:spPr>
          <a:xfrm>
            <a:off x="6172200" y="1783080"/>
            <a:ext cx="5120640" cy="402336"/>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Artefact produced</a:t>
            </a:r>
            <a:endParaRPr lang="en-US" sz="1150" dirty="0"/>
          </a:p>
        </p:txBody>
      </p:sp>
      <p:sp>
        <p:nvSpPr>
          <p:cNvPr id="9" name="Text 6"/>
          <p:cNvSpPr txBox="1"/>
          <p:nvPr/>
        </p:nvSpPr>
        <p:spPr>
          <a:xfrm>
            <a:off x="640080" y="6080760"/>
            <a:ext cx="10881360" cy="365760"/>
          </a:xfrm>
          <a:prstGeom prst="rect">
            <a:avLst/>
          </a:prstGeom>
          <a:noFill/>
          <a:ln/>
        </p:spPr>
        <p:txBody>
          <a:bodyPr wrap="square" lIns="0" tIns="0" rIns="0" bIns="0" rtlCol="0" anchor="ctr"/>
          <a:lstStyle/>
          <a:p>
            <a:pPr indent="0" marL="0">
              <a:buNone/>
            </a:pPr>
            <a:r>
              <a:rPr lang="en-US" sz="1250" i="1" dirty="0">
                <a:solidFill>
                  <a:srgbClr val="8792AB"/>
                </a:solidFill>
                <a:latin typeface="Calibri" pitchFamily="34" charset="0"/>
                <a:ea typeface="Calibri" pitchFamily="34" charset="-122"/>
                <a:cs typeface="Calibri" pitchFamily="34" charset="-120"/>
              </a:rPr>
              <a:t>Workstreams run in parallel; dependencies are resolved at the weekly checkpoint.</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685800"/>
          </a:xfrm>
          <a:prstGeom prst="rect">
            <a:avLst/>
          </a:prstGeom>
          <a:noFill/>
          <a:ln/>
        </p:spPr>
        <p:txBody>
          <a:bodyPr wrap="square" lIns="0" tIns="0" rIns="0" bIns="0" rtlCol="0" anchor="ctr"/>
          <a:lstStyle/>
          <a:p>
            <a:pPr indent="0" marL="0">
              <a:buNone/>
            </a:pPr>
            <a:r>
              <a:rPr lang="en-US" sz="3600" b="1" dirty="0">
                <a:solidFill>
                  <a:srgbClr val="16203A"/>
                </a:solidFill>
                <a:latin typeface="Cambria" pitchFamily="34" charset="0"/>
                <a:ea typeface="Cambria" pitchFamily="34" charset="-122"/>
                <a:cs typeface="Cambria" pitchFamily="34" charset="-120"/>
              </a:rPr>
              <a:t>Pricing and delivery economics</a:t>
            </a:r>
            <a:endParaRPr lang="en-US" sz="3600" dirty="0"/>
          </a:p>
        </p:txBody>
      </p:sp>
      <p:sp>
        <p:nvSpPr>
          <p:cNvPr id="3" name="Text 1"/>
          <p:cNvSpPr txBox="1"/>
          <p:nvPr/>
        </p:nvSpPr>
        <p:spPr>
          <a:xfrm>
            <a:off x="640080" y="1133856"/>
            <a:ext cx="10881360" cy="411480"/>
          </a:xfrm>
          <a:prstGeom prst="rect">
            <a:avLst/>
          </a:prstGeom>
          <a:noFill/>
          <a:ln/>
        </p:spPr>
        <p:txBody>
          <a:bodyPr wrap="square" lIns="0" tIns="0" rIns="0" bIns="0" rtlCol="0" anchor="ctr"/>
          <a:lstStyle/>
          <a:p>
            <a:pPr indent="0" marL="0">
              <a:buNone/>
            </a:pPr>
            <a:r>
              <a:rPr lang="en-US" sz="1450" dirty="0">
                <a:solidFill>
                  <a:srgbClr val="8792AB"/>
                </a:solidFill>
                <a:latin typeface="Calibri" pitchFamily="34" charset="0"/>
                <a:ea typeface="Calibri" pitchFamily="34" charset="-122"/>
                <a:cs typeface="Calibri" pitchFamily="34" charset="-120"/>
              </a:rPr>
              <a:t>Price, delivery construct and margin are one decision, not three.</a:t>
            </a:r>
            <a:endParaRPr lang="en-US" sz="1450" dirty="0"/>
          </a:p>
        </p:txBody>
      </p:sp>
      <p:sp>
        <p:nvSpPr>
          <p:cNvPr id="4" name="Shape 2"/>
          <p:cNvSpPr/>
          <p:nvPr/>
        </p:nvSpPr>
        <p:spPr>
          <a:xfrm>
            <a:off x="640080" y="1828800"/>
            <a:ext cx="2468880" cy="1600200"/>
          </a:xfrm>
          <a:prstGeom prst="roundRect">
            <a:avLst>
              <a:gd name="adj" fmla="val 6857"/>
            </a:avLst>
          </a:prstGeom>
          <a:solidFill>
            <a:srgbClr val="E4EBF7"/>
          </a:solidFill>
          <a:ln/>
        </p:spPr>
      </p:sp>
      <p:sp>
        <p:nvSpPr>
          <p:cNvPr id="5" name="Shape 3"/>
          <p:cNvSpPr/>
          <p:nvPr/>
        </p:nvSpPr>
        <p:spPr>
          <a:xfrm>
            <a:off x="868680" y="2029968"/>
            <a:ext cx="365760" cy="365760"/>
          </a:xfrm>
          <a:prstGeom prst="ellipse">
            <a:avLst/>
          </a:prstGeom>
          <a:solidFill>
            <a:srgbClr val="1E2761"/>
          </a:solidFill>
          <a:ln/>
        </p:spPr>
      </p:sp>
      <p:sp>
        <p:nvSpPr>
          <p:cNvPr id="6" name="Text 4"/>
          <p:cNvSpPr txBox="1"/>
          <p:nvPr/>
        </p:nvSpPr>
        <p:spPr>
          <a:xfrm>
            <a:off x="868680" y="202996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txBox="1"/>
          <p:nvPr/>
        </p:nvSpPr>
        <p:spPr>
          <a:xfrm>
            <a:off x="868680" y="2487168"/>
            <a:ext cx="2011680" cy="320040"/>
          </a:xfrm>
          <a:prstGeom prst="rect">
            <a:avLst/>
          </a:prstGeom>
          <a:noFill/>
          <a:ln/>
        </p:spPr>
        <p:txBody>
          <a:bodyPr wrap="square" lIns="0" tIns="0" rIns="0" bIns="0" rtlCol="0" anchor="ctr"/>
          <a:lstStyle/>
          <a:p>
            <a:pPr indent="0" marL="0">
              <a:buNone/>
            </a:pPr>
            <a:r>
              <a:rPr lang="en-US" sz="1500" b="1" dirty="0">
                <a:solidFill>
                  <a:srgbClr val="16203A"/>
                </a:solidFill>
                <a:latin typeface="Calibri" pitchFamily="34" charset="0"/>
                <a:ea typeface="Calibri" pitchFamily="34" charset="-122"/>
                <a:cs typeface="Calibri" pitchFamily="34" charset="-120"/>
              </a:rPr>
              <a:t>Target price</a:t>
            </a:r>
            <a:endParaRPr lang="en-US" sz="1500" dirty="0"/>
          </a:p>
        </p:txBody>
      </p:sp>
      <p:sp>
        <p:nvSpPr>
          <p:cNvPr id="8" name="Text 6"/>
          <p:cNvSpPr txBox="1"/>
          <p:nvPr/>
        </p:nvSpPr>
        <p:spPr>
          <a:xfrm>
            <a:off x="868680" y="2834640"/>
            <a:ext cx="2057400" cy="548640"/>
          </a:xfrm>
          <a:prstGeom prst="rect">
            <a:avLst/>
          </a:prstGeom>
          <a:noFill/>
          <a:ln/>
        </p:spPr>
        <p:txBody>
          <a:bodyPr wrap="square" lIns="0" tIns="0" rIns="0" bIns="0" rtlCol="0" anchor="ctr"/>
          <a:lstStyle/>
          <a:p>
            <a:pPr indent="0" marL="0">
              <a:buNone/>
            </a:pPr>
            <a:r>
              <a:rPr lang="en-US" sz="1150" dirty="0">
                <a:solidFill>
                  <a:srgbClr val="44506B"/>
                </a:solidFill>
                <a:latin typeface="Calibri" pitchFamily="34" charset="0"/>
                <a:ea typeface="Calibri" pitchFamily="34" charset="-122"/>
                <a:cs typeface="Calibri" pitchFamily="34" charset="-120"/>
              </a:rPr>
              <a:t>What the market pays for this offering, in bands</a:t>
            </a:r>
            <a:endParaRPr lang="en-US" sz="1150" dirty="0"/>
          </a:p>
        </p:txBody>
      </p:sp>
      <p:sp>
        <p:nvSpPr>
          <p:cNvPr id="9" name="Text 7"/>
          <p:cNvSpPr txBox="1"/>
          <p:nvPr/>
        </p:nvSpPr>
        <p:spPr>
          <a:xfrm>
            <a:off x="3127248" y="2423160"/>
            <a:ext cx="274320" cy="365760"/>
          </a:xfrm>
          <a:prstGeom prst="rect">
            <a:avLst/>
          </a:prstGeom>
          <a:noFill/>
          <a:ln/>
        </p:spPr>
        <p:txBody>
          <a:bodyPr wrap="square" lIns="0" tIns="0" rIns="0" bIns="0" rtlCol="0" anchor="ctr"/>
          <a:lstStyle/>
          <a:p>
            <a:pPr algn="ctr" indent="0" marL="0">
              <a:buNone/>
            </a:pPr>
            <a:r>
              <a:rPr lang="en-US" sz="1800" dirty="0">
                <a:solidFill>
                  <a:srgbClr val="8792AB"/>
                </a:solidFill>
                <a:latin typeface="Calibri" pitchFamily="34" charset="0"/>
                <a:ea typeface="Calibri" pitchFamily="34" charset="-122"/>
                <a:cs typeface="Calibri" pitchFamily="34" charset="-120"/>
              </a:rPr>
              <a:t>→</a:t>
            </a:r>
            <a:endParaRPr lang="en-US" sz="1800" dirty="0"/>
          </a:p>
        </p:txBody>
      </p:sp>
      <p:sp>
        <p:nvSpPr>
          <p:cNvPr id="10" name="Shape 8"/>
          <p:cNvSpPr/>
          <p:nvPr/>
        </p:nvSpPr>
        <p:spPr>
          <a:xfrm>
            <a:off x="3429000" y="1828800"/>
            <a:ext cx="2468880" cy="1600200"/>
          </a:xfrm>
          <a:prstGeom prst="roundRect">
            <a:avLst>
              <a:gd name="adj" fmla="val 6857"/>
            </a:avLst>
          </a:prstGeom>
          <a:solidFill>
            <a:srgbClr val="EDF2FA"/>
          </a:solidFill>
          <a:ln/>
        </p:spPr>
      </p:sp>
      <p:sp>
        <p:nvSpPr>
          <p:cNvPr id="11" name="Shape 9"/>
          <p:cNvSpPr/>
          <p:nvPr/>
        </p:nvSpPr>
        <p:spPr>
          <a:xfrm>
            <a:off x="3657600" y="2029968"/>
            <a:ext cx="365760" cy="365760"/>
          </a:xfrm>
          <a:prstGeom prst="ellipse">
            <a:avLst/>
          </a:prstGeom>
          <a:solidFill>
            <a:srgbClr val="1E2761"/>
          </a:solidFill>
          <a:ln/>
        </p:spPr>
      </p:sp>
      <p:sp>
        <p:nvSpPr>
          <p:cNvPr id="12" name="Text 10"/>
          <p:cNvSpPr txBox="1"/>
          <p:nvPr/>
        </p:nvSpPr>
        <p:spPr>
          <a:xfrm>
            <a:off x="3657600" y="202996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txBox="1"/>
          <p:nvPr/>
        </p:nvSpPr>
        <p:spPr>
          <a:xfrm>
            <a:off x="3657600" y="2487168"/>
            <a:ext cx="2011680" cy="320040"/>
          </a:xfrm>
          <a:prstGeom prst="rect">
            <a:avLst/>
          </a:prstGeom>
          <a:noFill/>
          <a:ln/>
        </p:spPr>
        <p:txBody>
          <a:bodyPr wrap="square" lIns="0" tIns="0" rIns="0" bIns="0" rtlCol="0" anchor="ctr"/>
          <a:lstStyle/>
          <a:p>
            <a:pPr indent="0" marL="0">
              <a:buNone/>
            </a:pPr>
            <a:r>
              <a:rPr lang="en-US" sz="1500" b="1" dirty="0">
                <a:solidFill>
                  <a:srgbClr val="16203A"/>
                </a:solidFill>
                <a:latin typeface="Calibri" pitchFamily="34" charset="0"/>
                <a:ea typeface="Calibri" pitchFamily="34" charset="-122"/>
                <a:cs typeface="Calibri" pitchFamily="34" charset="-120"/>
              </a:rPr>
              <a:t>Delivery construct</a:t>
            </a:r>
            <a:endParaRPr lang="en-US" sz="1500" dirty="0"/>
          </a:p>
        </p:txBody>
      </p:sp>
      <p:sp>
        <p:nvSpPr>
          <p:cNvPr id="14" name="Text 12"/>
          <p:cNvSpPr txBox="1"/>
          <p:nvPr/>
        </p:nvSpPr>
        <p:spPr>
          <a:xfrm>
            <a:off x="3657600" y="2834640"/>
            <a:ext cx="2057400" cy="548640"/>
          </a:xfrm>
          <a:prstGeom prst="rect">
            <a:avLst/>
          </a:prstGeom>
          <a:noFill/>
          <a:ln/>
        </p:spPr>
        <p:txBody>
          <a:bodyPr wrap="square" lIns="0" tIns="0" rIns="0" bIns="0" rtlCol="0" anchor="ctr"/>
          <a:lstStyle/>
          <a:p>
            <a:pPr indent="0" marL="0">
              <a:buNone/>
            </a:pPr>
            <a:r>
              <a:rPr lang="en-US" sz="1150" dirty="0">
                <a:solidFill>
                  <a:srgbClr val="44506B"/>
                </a:solidFill>
                <a:latin typeface="Calibri" pitchFamily="34" charset="0"/>
                <a:ea typeface="Calibri" pitchFamily="34" charset="-122"/>
                <a:cs typeface="Calibri" pitchFamily="34" charset="-120"/>
              </a:rPr>
              <a:t>The onshore, nearshore and offshore mix it is priced on</a:t>
            </a:r>
            <a:endParaRPr lang="en-US" sz="1150" dirty="0"/>
          </a:p>
        </p:txBody>
      </p:sp>
      <p:sp>
        <p:nvSpPr>
          <p:cNvPr id="15" name="Text 13"/>
          <p:cNvSpPr txBox="1"/>
          <p:nvPr/>
        </p:nvSpPr>
        <p:spPr>
          <a:xfrm>
            <a:off x="5916168" y="2423160"/>
            <a:ext cx="274320" cy="365760"/>
          </a:xfrm>
          <a:prstGeom prst="rect">
            <a:avLst/>
          </a:prstGeom>
          <a:noFill/>
          <a:ln/>
        </p:spPr>
        <p:txBody>
          <a:bodyPr wrap="square" lIns="0" tIns="0" rIns="0" bIns="0" rtlCol="0" anchor="ctr"/>
          <a:lstStyle/>
          <a:p>
            <a:pPr algn="ctr" indent="0" marL="0">
              <a:buNone/>
            </a:pPr>
            <a:r>
              <a:rPr lang="en-US" sz="1800" dirty="0">
                <a:solidFill>
                  <a:srgbClr val="8792AB"/>
                </a:solidFill>
                <a:latin typeface="Calibri" pitchFamily="34" charset="0"/>
                <a:ea typeface="Calibri" pitchFamily="34" charset="-122"/>
                <a:cs typeface="Calibri" pitchFamily="34" charset="-120"/>
              </a:rPr>
              <a:t>→</a:t>
            </a:r>
            <a:endParaRPr lang="en-US" sz="1800" dirty="0"/>
          </a:p>
        </p:txBody>
      </p:sp>
      <p:sp>
        <p:nvSpPr>
          <p:cNvPr id="16" name="Shape 14"/>
          <p:cNvSpPr/>
          <p:nvPr/>
        </p:nvSpPr>
        <p:spPr>
          <a:xfrm>
            <a:off x="6217920" y="1828800"/>
            <a:ext cx="2468880" cy="1600200"/>
          </a:xfrm>
          <a:prstGeom prst="roundRect">
            <a:avLst>
              <a:gd name="adj" fmla="val 6857"/>
            </a:avLst>
          </a:prstGeom>
          <a:solidFill>
            <a:srgbClr val="E4EBF7"/>
          </a:solidFill>
          <a:ln/>
        </p:spPr>
      </p:sp>
      <p:sp>
        <p:nvSpPr>
          <p:cNvPr id="17" name="Shape 15"/>
          <p:cNvSpPr/>
          <p:nvPr/>
        </p:nvSpPr>
        <p:spPr>
          <a:xfrm>
            <a:off x="6446520" y="2029968"/>
            <a:ext cx="365760" cy="365760"/>
          </a:xfrm>
          <a:prstGeom prst="ellipse">
            <a:avLst/>
          </a:prstGeom>
          <a:solidFill>
            <a:srgbClr val="1E2761"/>
          </a:solidFill>
          <a:ln/>
        </p:spPr>
      </p:sp>
      <p:sp>
        <p:nvSpPr>
          <p:cNvPr id="18" name="Text 16"/>
          <p:cNvSpPr txBox="1"/>
          <p:nvPr/>
        </p:nvSpPr>
        <p:spPr>
          <a:xfrm>
            <a:off x="6446520" y="202996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6446520" y="2487168"/>
            <a:ext cx="2011680" cy="320040"/>
          </a:xfrm>
          <a:prstGeom prst="rect">
            <a:avLst/>
          </a:prstGeom>
          <a:noFill/>
          <a:ln/>
        </p:spPr>
        <p:txBody>
          <a:bodyPr wrap="square" lIns="0" tIns="0" rIns="0" bIns="0" rtlCol="0" anchor="ctr"/>
          <a:lstStyle/>
          <a:p>
            <a:pPr indent="0" marL="0">
              <a:buNone/>
            </a:pPr>
            <a:r>
              <a:rPr lang="en-US" sz="1500" b="1" dirty="0">
                <a:solidFill>
                  <a:srgbClr val="16203A"/>
                </a:solidFill>
                <a:latin typeface="Calibri" pitchFamily="34" charset="0"/>
                <a:ea typeface="Calibri" pitchFamily="34" charset="-122"/>
                <a:cs typeface="Calibri" pitchFamily="34" charset="-120"/>
              </a:rPr>
              <a:t>Blended ADR</a:t>
            </a:r>
            <a:endParaRPr lang="en-US" sz="1500" dirty="0"/>
          </a:p>
        </p:txBody>
      </p:sp>
      <p:sp>
        <p:nvSpPr>
          <p:cNvPr id="20" name="Text 18"/>
          <p:cNvSpPr txBox="1"/>
          <p:nvPr/>
        </p:nvSpPr>
        <p:spPr>
          <a:xfrm>
            <a:off x="6446520" y="2834640"/>
            <a:ext cx="2057400" cy="548640"/>
          </a:xfrm>
          <a:prstGeom prst="rect">
            <a:avLst/>
          </a:prstGeom>
          <a:noFill/>
          <a:ln/>
        </p:spPr>
        <p:txBody>
          <a:bodyPr wrap="square" lIns="0" tIns="0" rIns="0" bIns="0" rtlCol="0" anchor="ctr"/>
          <a:lstStyle/>
          <a:p>
            <a:pPr indent="0" marL="0">
              <a:buNone/>
            </a:pPr>
            <a:r>
              <a:rPr lang="en-US" sz="1150" dirty="0">
                <a:solidFill>
                  <a:srgbClr val="44506B"/>
                </a:solidFill>
                <a:latin typeface="Calibri" pitchFamily="34" charset="0"/>
                <a:ea typeface="Calibri" pitchFamily="34" charset="-122"/>
                <a:cs typeface="Calibri" pitchFamily="34" charset="-120"/>
              </a:rPr>
              <a:t>The average daily rate that construct implies</a:t>
            </a:r>
            <a:endParaRPr lang="en-US" sz="1150" dirty="0"/>
          </a:p>
        </p:txBody>
      </p:sp>
      <p:sp>
        <p:nvSpPr>
          <p:cNvPr id="21" name="Text 19"/>
          <p:cNvSpPr txBox="1"/>
          <p:nvPr/>
        </p:nvSpPr>
        <p:spPr>
          <a:xfrm>
            <a:off x="8705088" y="2423160"/>
            <a:ext cx="274320" cy="365760"/>
          </a:xfrm>
          <a:prstGeom prst="rect">
            <a:avLst/>
          </a:prstGeom>
          <a:noFill/>
          <a:ln/>
        </p:spPr>
        <p:txBody>
          <a:bodyPr wrap="square" lIns="0" tIns="0" rIns="0" bIns="0" rtlCol="0" anchor="ctr"/>
          <a:lstStyle/>
          <a:p>
            <a:pPr algn="ctr" indent="0" marL="0">
              <a:buNone/>
            </a:pPr>
            <a:r>
              <a:rPr lang="en-US" sz="1800" dirty="0">
                <a:solidFill>
                  <a:srgbClr val="8792AB"/>
                </a:solidFill>
                <a:latin typeface="Calibri" pitchFamily="34" charset="0"/>
                <a:ea typeface="Calibri" pitchFamily="34" charset="-122"/>
                <a:cs typeface="Calibri" pitchFamily="34" charset="-120"/>
              </a:rPr>
              <a:t>→</a:t>
            </a:r>
            <a:endParaRPr lang="en-US" sz="1800" dirty="0"/>
          </a:p>
        </p:txBody>
      </p:sp>
      <p:sp>
        <p:nvSpPr>
          <p:cNvPr id="22" name="Shape 20"/>
          <p:cNvSpPr/>
          <p:nvPr/>
        </p:nvSpPr>
        <p:spPr>
          <a:xfrm>
            <a:off x="9006840" y="1828800"/>
            <a:ext cx="2468880" cy="1600200"/>
          </a:xfrm>
          <a:prstGeom prst="roundRect">
            <a:avLst>
              <a:gd name="adj" fmla="val 6857"/>
            </a:avLst>
          </a:prstGeom>
          <a:solidFill>
            <a:srgbClr val="EDF2FA"/>
          </a:solidFill>
          <a:ln/>
        </p:spPr>
      </p:sp>
      <p:sp>
        <p:nvSpPr>
          <p:cNvPr id="23" name="Shape 21"/>
          <p:cNvSpPr/>
          <p:nvPr/>
        </p:nvSpPr>
        <p:spPr>
          <a:xfrm>
            <a:off x="9235440" y="2029968"/>
            <a:ext cx="365760" cy="365760"/>
          </a:xfrm>
          <a:prstGeom prst="ellipse">
            <a:avLst/>
          </a:prstGeom>
          <a:solidFill>
            <a:srgbClr val="1E2761"/>
          </a:solidFill>
          <a:ln/>
        </p:spPr>
      </p:sp>
      <p:sp>
        <p:nvSpPr>
          <p:cNvPr id="24" name="Text 22"/>
          <p:cNvSpPr txBox="1"/>
          <p:nvPr/>
        </p:nvSpPr>
        <p:spPr>
          <a:xfrm>
            <a:off x="9235440" y="202996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5" name="Text 23"/>
          <p:cNvSpPr txBox="1"/>
          <p:nvPr/>
        </p:nvSpPr>
        <p:spPr>
          <a:xfrm>
            <a:off x="9235440" y="2487168"/>
            <a:ext cx="2011680" cy="320040"/>
          </a:xfrm>
          <a:prstGeom prst="rect">
            <a:avLst/>
          </a:prstGeom>
          <a:noFill/>
          <a:ln/>
        </p:spPr>
        <p:txBody>
          <a:bodyPr wrap="square" lIns="0" tIns="0" rIns="0" bIns="0" rtlCol="0" anchor="ctr"/>
          <a:lstStyle/>
          <a:p>
            <a:pPr indent="0" marL="0">
              <a:buNone/>
            </a:pPr>
            <a:r>
              <a:rPr lang="en-US" sz="1500" b="1" dirty="0">
                <a:solidFill>
                  <a:srgbClr val="16203A"/>
                </a:solidFill>
                <a:latin typeface="Calibri" pitchFamily="34" charset="0"/>
                <a:ea typeface="Calibri" pitchFamily="34" charset="-122"/>
                <a:cs typeface="Calibri" pitchFamily="34" charset="-120"/>
              </a:rPr>
              <a:t>Target margin</a:t>
            </a:r>
            <a:endParaRPr lang="en-US" sz="1500" dirty="0"/>
          </a:p>
        </p:txBody>
      </p:sp>
      <p:sp>
        <p:nvSpPr>
          <p:cNvPr id="26" name="Text 24"/>
          <p:cNvSpPr txBox="1"/>
          <p:nvPr/>
        </p:nvSpPr>
        <p:spPr>
          <a:xfrm>
            <a:off x="9235440" y="2834640"/>
            <a:ext cx="2057400" cy="548640"/>
          </a:xfrm>
          <a:prstGeom prst="rect">
            <a:avLst/>
          </a:prstGeom>
          <a:noFill/>
          <a:ln/>
        </p:spPr>
        <p:txBody>
          <a:bodyPr wrap="square" lIns="0" tIns="0" rIns="0" bIns="0" rtlCol="0" anchor="ctr"/>
          <a:lstStyle/>
          <a:p>
            <a:pPr indent="0" marL="0">
              <a:buNone/>
            </a:pPr>
            <a:r>
              <a:rPr lang="en-US" sz="1150" dirty="0">
                <a:solidFill>
                  <a:srgbClr val="44506B"/>
                </a:solidFill>
                <a:latin typeface="Calibri" pitchFamily="34" charset="0"/>
                <a:ea typeface="Calibri" pitchFamily="34" charset="-122"/>
                <a:cs typeface="Calibri" pitchFamily="34" charset="-120"/>
              </a:rPr>
              <a:t>The gross margin we commit to for this offering</a:t>
            </a:r>
            <a:endParaRPr lang="en-US" sz="1150" dirty="0"/>
          </a:p>
        </p:txBody>
      </p:sp>
      <p:sp>
        <p:nvSpPr>
          <p:cNvPr id="27" name="Shape 25"/>
          <p:cNvSpPr/>
          <p:nvPr/>
        </p:nvSpPr>
        <p:spPr>
          <a:xfrm>
            <a:off x="640080" y="3611880"/>
            <a:ext cx="10881360" cy="685800"/>
          </a:xfrm>
          <a:prstGeom prst="roundRect">
            <a:avLst>
              <a:gd name="adj" fmla="val 13333"/>
            </a:avLst>
          </a:prstGeom>
          <a:solidFill>
            <a:srgbClr val="1E2761"/>
          </a:solidFill>
          <a:ln/>
        </p:spPr>
      </p:sp>
      <p:sp>
        <p:nvSpPr>
          <p:cNvPr id="28" name="Text 26"/>
          <p:cNvSpPr txBox="1"/>
          <p:nvPr/>
        </p:nvSpPr>
        <p:spPr>
          <a:xfrm>
            <a:off x="914400" y="3611880"/>
            <a:ext cx="10332720" cy="68580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Set per offering, not per portfolio: a core banking programme and an AI activation carry different constructs, different rates and different margins.</a:t>
            </a:r>
            <a:endParaRPr lang="en-US" sz="1300" dirty="0"/>
          </a:p>
        </p:txBody>
      </p:sp>
      <p:sp>
        <p:nvSpPr>
          <p:cNvPr id="29" name="Shape 27"/>
          <p:cNvSpPr/>
          <p:nvPr/>
        </p:nvSpPr>
        <p:spPr>
          <a:xfrm>
            <a:off x="640080" y="4572000"/>
            <a:ext cx="329184" cy="329184"/>
          </a:xfrm>
          <a:prstGeom prst="ellipse">
            <a:avLst/>
          </a:prstGeom>
          <a:solidFill>
            <a:srgbClr val="3E5C8A"/>
          </a:solidFill>
          <a:ln/>
        </p:spPr>
      </p:sp>
      <p:sp>
        <p:nvSpPr>
          <p:cNvPr id="30" name="Text 28"/>
          <p:cNvSpPr txBox="1"/>
          <p:nvPr/>
        </p:nvSpPr>
        <p:spPr>
          <a:xfrm>
            <a:off x="640080" y="457200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31" name="Text 29"/>
          <p:cNvSpPr txBox="1"/>
          <p:nvPr/>
        </p:nvSpPr>
        <p:spPr>
          <a:xfrm>
            <a:off x="1115568" y="4535424"/>
            <a:ext cx="2377440" cy="320040"/>
          </a:xfrm>
          <a:prstGeom prst="rect">
            <a:avLst/>
          </a:prstGeom>
          <a:noFill/>
          <a:ln/>
        </p:spPr>
        <p:txBody>
          <a:bodyPr wrap="square" lIns="0" tIns="0" rIns="0" bIns="0" rtlCol="0" anchor="ctr"/>
          <a:lstStyle/>
          <a:p>
            <a:pPr indent="0" marL="0">
              <a:buNone/>
            </a:pPr>
            <a:r>
              <a:rPr lang="en-US" sz="1300" b="1" dirty="0">
                <a:solidFill>
                  <a:srgbClr val="16203A"/>
                </a:solidFill>
                <a:latin typeface="Calibri" pitchFamily="34" charset="0"/>
                <a:ea typeface="Calibri" pitchFamily="34" charset="-122"/>
                <a:cs typeface="Calibri" pitchFamily="34" charset="-120"/>
              </a:rPr>
              <a:t>What must stay onshore</a:t>
            </a:r>
            <a:endParaRPr lang="en-US" sz="1300" dirty="0"/>
          </a:p>
        </p:txBody>
      </p:sp>
      <p:sp>
        <p:nvSpPr>
          <p:cNvPr id="32" name="Text 30"/>
          <p:cNvSpPr txBox="1"/>
          <p:nvPr/>
        </p:nvSpPr>
        <p:spPr>
          <a:xfrm>
            <a:off x="3520440" y="4535424"/>
            <a:ext cx="2468880" cy="502920"/>
          </a:xfrm>
          <a:prstGeom prst="rect">
            <a:avLst/>
          </a:prstGeom>
          <a:noFill/>
          <a:ln/>
        </p:spPr>
        <p:txBody>
          <a:bodyPr wrap="square" lIns="0" tIns="0" rIns="0" bIns="0" rtlCol="0" anchor="ctr"/>
          <a:lstStyle/>
          <a:p>
            <a:pPr indent="0" marL="0">
              <a:buNone/>
            </a:pPr>
            <a:r>
              <a:rPr lang="en-US" sz="1150" dirty="0">
                <a:solidFill>
                  <a:srgbClr val="44506B"/>
                </a:solidFill>
                <a:latin typeface="Calibri" pitchFamily="34" charset="0"/>
                <a:ea typeface="Calibri" pitchFamily="34" charset="-122"/>
                <a:cs typeface="Calibri" pitchFamily="34" charset="-120"/>
              </a:rPr>
              <a:t>Client-facing, regulatory and data-residency constrained roles</a:t>
            </a:r>
            <a:endParaRPr lang="en-US" sz="1150" dirty="0"/>
          </a:p>
        </p:txBody>
      </p:sp>
      <p:sp>
        <p:nvSpPr>
          <p:cNvPr id="33" name="Shape 31"/>
          <p:cNvSpPr/>
          <p:nvPr/>
        </p:nvSpPr>
        <p:spPr>
          <a:xfrm>
            <a:off x="6263640" y="4572000"/>
            <a:ext cx="329184" cy="329184"/>
          </a:xfrm>
          <a:prstGeom prst="ellipse">
            <a:avLst/>
          </a:prstGeom>
          <a:solidFill>
            <a:srgbClr val="3E5C8A"/>
          </a:solidFill>
          <a:ln/>
        </p:spPr>
      </p:sp>
      <p:sp>
        <p:nvSpPr>
          <p:cNvPr id="34" name="Text 32"/>
          <p:cNvSpPr txBox="1"/>
          <p:nvPr/>
        </p:nvSpPr>
        <p:spPr>
          <a:xfrm>
            <a:off x="6263640" y="457200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35" name="Text 33"/>
          <p:cNvSpPr txBox="1"/>
          <p:nvPr/>
        </p:nvSpPr>
        <p:spPr>
          <a:xfrm>
            <a:off x="6739128" y="4535424"/>
            <a:ext cx="2377440" cy="320040"/>
          </a:xfrm>
          <a:prstGeom prst="rect">
            <a:avLst/>
          </a:prstGeom>
          <a:noFill/>
          <a:ln/>
        </p:spPr>
        <p:txBody>
          <a:bodyPr wrap="square" lIns="0" tIns="0" rIns="0" bIns="0" rtlCol="0" anchor="ctr"/>
          <a:lstStyle/>
          <a:p>
            <a:pPr indent="0" marL="0">
              <a:buNone/>
            </a:pPr>
            <a:r>
              <a:rPr lang="en-US" sz="1300" b="1" dirty="0">
                <a:solidFill>
                  <a:srgbClr val="16203A"/>
                </a:solidFill>
                <a:latin typeface="Calibri" pitchFamily="34" charset="0"/>
                <a:ea typeface="Calibri" pitchFamily="34" charset="-122"/>
                <a:cs typeface="Calibri" pitchFamily="34" charset="-120"/>
              </a:rPr>
              <a:t>What can move</a:t>
            </a:r>
            <a:endParaRPr lang="en-US" sz="1300" dirty="0"/>
          </a:p>
        </p:txBody>
      </p:sp>
      <p:sp>
        <p:nvSpPr>
          <p:cNvPr id="36" name="Text 34"/>
          <p:cNvSpPr txBox="1"/>
          <p:nvPr/>
        </p:nvSpPr>
        <p:spPr>
          <a:xfrm>
            <a:off x="9144000" y="4535424"/>
            <a:ext cx="2468880" cy="502920"/>
          </a:xfrm>
          <a:prstGeom prst="rect">
            <a:avLst/>
          </a:prstGeom>
          <a:noFill/>
          <a:ln/>
        </p:spPr>
        <p:txBody>
          <a:bodyPr wrap="square" lIns="0" tIns="0" rIns="0" bIns="0" rtlCol="0" anchor="ctr"/>
          <a:lstStyle/>
          <a:p>
            <a:pPr indent="0" marL="0">
              <a:buNone/>
            </a:pPr>
            <a:r>
              <a:rPr lang="en-US" sz="1150" dirty="0">
                <a:solidFill>
                  <a:srgbClr val="44506B"/>
                </a:solidFill>
                <a:latin typeface="Calibri" pitchFamily="34" charset="0"/>
                <a:ea typeface="Calibri" pitchFamily="34" charset="-122"/>
                <a:cs typeface="Calibri" pitchFamily="34" charset="-120"/>
              </a:rPr>
              <a:t>Which roles run nearshore or offshore, and at what ratio</a:t>
            </a:r>
            <a:endParaRPr lang="en-US" sz="1150" dirty="0"/>
          </a:p>
        </p:txBody>
      </p:sp>
      <p:sp>
        <p:nvSpPr>
          <p:cNvPr id="37" name="Shape 35"/>
          <p:cNvSpPr/>
          <p:nvPr/>
        </p:nvSpPr>
        <p:spPr>
          <a:xfrm>
            <a:off x="640080" y="5394960"/>
            <a:ext cx="329184" cy="329184"/>
          </a:xfrm>
          <a:prstGeom prst="ellipse">
            <a:avLst/>
          </a:prstGeom>
          <a:solidFill>
            <a:srgbClr val="1E2761"/>
          </a:solidFill>
          <a:ln/>
        </p:spPr>
      </p:sp>
      <p:sp>
        <p:nvSpPr>
          <p:cNvPr id="38" name="Text 36"/>
          <p:cNvSpPr txBox="1"/>
          <p:nvPr/>
        </p:nvSpPr>
        <p:spPr>
          <a:xfrm>
            <a:off x="640080" y="539496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39" name="Text 37"/>
          <p:cNvSpPr txBox="1"/>
          <p:nvPr/>
        </p:nvSpPr>
        <p:spPr>
          <a:xfrm>
            <a:off x="1115568" y="5358384"/>
            <a:ext cx="2377440" cy="320040"/>
          </a:xfrm>
          <a:prstGeom prst="rect">
            <a:avLst/>
          </a:prstGeom>
          <a:noFill/>
          <a:ln/>
        </p:spPr>
        <p:txBody>
          <a:bodyPr wrap="square" lIns="0" tIns="0" rIns="0" bIns="0" rtlCol="0" anchor="ctr"/>
          <a:lstStyle/>
          <a:p>
            <a:pPr indent="0" marL="0">
              <a:buNone/>
            </a:pPr>
            <a:r>
              <a:rPr lang="en-US" sz="1300" b="1" dirty="0">
                <a:solidFill>
                  <a:srgbClr val="16203A"/>
                </a:solidFill>
                <a:latin typeface="Calibri" pitchFamily="34" charset="0"/>
                <a:ea typeface="Calibri" pitchFamily="34" charset="-122"/>
                <a:cs typeface="Calibri" pitchFamily="34" charset="-120"/>
              </a:rPr>
              <a:t>What margin we hold</a:t>
            </a:r>
            <a:endParaRPr lang="en-US" sz="1300" dirty="0"/>
          </a:p>
        </p:txBody>
      </p:sp>
      <p:sp>
        <p:nvSpPr>
          <p:cNvPr id="40" name="Text 38"/>
          <p:cNvSpPr txBox="1"/>
          <p:nvPr/>
        </p:nvSpPr>
        <p:spPr>
          <a:xfrm>
            <a:off x="3520440" y="5358384"/>
            <a:ext cx="2468880" cy="502920"/>
          </a:xfrm>
          <a:prstGeom prst="rect">
            <a:avLst/>
          </a:prstGeom>
          <a:noFill/>
          <a:ln/>
        </p:spPr>
        <p:txBody>
          <a:bodyPr wrap="square" lIns="0" tIns="0" rIns="0" bIns="0" rtlCol="0" anchor="ctr"/>
          <a:lstStyle/>
          <a:p>
            <a:pPr indent="0" marL="0">
              <a:buNone/>
            </a:pPr>
            <a:r>
              <a:rPr lang="en-US" sz="1150" dirty="0">
                <a:solidFill>
                  <a:srgbClr val="44506B"/>
                </a:solidFill>
                <a:latin typeface="Calibri" pitchFamily="34" charset="0"/>
                <a:ea typeface="Calibri" pitchFamily="34" charset="-122"/>
                <a:cs typeface="Calibri" pitchFamily="34" charset="-120"/>
              </a:rPr>
              <a:t>The target gross margin per offering, and the floor</a:t>
            </a:r>
            <a:endParaRPr lang="en-US" sz="1150" dirty="0"/>
          </a:p>
        </p:txBody>
      </p:sp>
      <p:sp>
        <p:nvSpPr>
          <p:cNvPr id="41" name="Shape 39"/>
          <p:cNvSpPr/>
          <p:nvPr/>
        </p:nvSpPr>
        <p:spPr>
          <a:xfrm>
            <a:off x="6263640" y="5394960"/>
            <a:ext cx="329184" cy="329184"/>
          </a:xfrm>
          <a:prstGeom prst="ellipse">
            <a:avLst/>
          </a:prstGeom>
          <a:solidFill>
            <a:srgbClr val="1E2761"/>
          </a:solidFill>
          <a:ln/>
        </p:spPr>
      </p:sp>
      <p:sp>
        <p:nvSpPr>
          <p:cNvPr id="42" name="Text 40"/>
          <p:cNvSpPr txBox="1"/>
          <p:nvPr/>
        </p:nvSpPr>
        <p:spPr>
          <a:xfrm>
            <a:off x="6263640" y="539496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43" name="Text 41"/>
          <p:cNvSpPr txBox="1"/>
          <p:nvPr/>
        </p:nvSpPr>
        <p:spPr>
          <a:xfrm>
            <a:off x="6739128" y="5358384"/>
            <a:ext cx="2377440" cy="320040"/>
          </a:xfrm>
          <a:prstGeom prst="rect">
            <a:avLst/>
          </a:prstGeom>
          <a:noFill/>
          <a:ln/>
        </p:spPr>
        <p:txBody>
          <a:bodyPr wrap="square" lIns="0" tIns="0" rIns="0" bIns="0" rtlCol="0" anchor="ctr"/>
          <a:lstStyle/>
          <a:p>
            <a:pPr indent="0" marL="0">
              <a:buNone/>
            </a:pPr>
            <a:r>
              <a:rPr lang="en-US" sz="1300" b="1" dirty="0">
                <a:solidFill>
                  <a:srgbClr val="16203A"/>
                </a:solidFill>
                <a:latin typeface="Calibri" pitchFamily="34" charset="0"/>
                <a:ea typeface="Calibri" pitchFamily="34" charset="-122"/>
                <a:cs typeface="Calibri" pitchFamily="34" charset="-120"/>
              </a:rPr>
              <a:t>What happens below it</a:t>
            </a:r>
            <a:endParaRPr lang="en-US" sz="1300" dirty="0"/>
          </a:p>
        </p:txBody>
      </p:sp>
      <p:sp>
        <p:nvSpPr>
          <p:cNvPr id="44" name="Text 42"/>
          <p:cNvSpPr txBox="1"/>
          <p:nvPr/>
        </p:nvSpPr>
        <p:spPr>
          <a:xfrm>
            <a:off x="9144000" y="5358384"/>
            <a:ext cx="2468880" cy="502920"/>
          </a:xfrm>
          <a:prstGeom prst="rect">
            <a:avLst/>
          </a:prstGeom>
          <a:noFill/>
          <a:ln/>
        </p:spPr>
        <p:txBody>
          <a:bodyPr wrap="square" lIns="0" tIns="0" rIns="0" bIns="0" rtlCol="0" anchor="ctr"/>
          <a:lstStyle/>
          <a:p>
            <a:pPr indent="0" marL="0">
              <a:buNone/>
            </a:pPr>
            <a:r>
              <a:rPr lang="en-US" sz="1150" dirty="0">
                <a:solidFill>
                  <a:srgbClr val="44506B"/>
                </a:solidFill>
                <a:latin typeface="Calibri" pitchFamily="34" charset="0"/>
                <a:ea typeface="Calibri" pitchFamily="34" charset="-122"/>
                <a:cs typeface="Calibri" pitchFamily="34" charset="-120"/>
              </a:rPr>
              <a:t>Approval route when a deal prices under the floor</a:t>
            </a:r>
            <a:endParaRPr lang="en-US" sz="1150" dirty="0"/>
          </a:p>
        </p:txBody>
      </p:sp>
      <p:sp>
        <p:nvSpPr>
          <p:cNvPr id="45" name="Text 43"/>
          <p:cNvSpPr txBox="1"/>
          <p:nvPr/>
        </p:nvSpPr>
        <p:spPr>
          <a:xfrm>
            <a:off x="640080" y="6263640"/>
            <a:ext cx="10881360" cy="320040"/>
          </a:xfrm>
          <a:prstGeom prst="rect">
            <a:avLst/>
          </a:prstGeom>
          <a:noFill/>
          <a:ln/>
        </p:spPr>
        <p:txBody>
          <a:bodyPr wrap="square" lIns="0" tIns="0" rIns="0" bIns="0" rtlCol="0" anchor="ctr"/>
          <a:lstStyle/>
          <a:p>
            <a:pPr indent="0" marL="0">
              <a:buNone/>
            </a:pPr>
            <a:r>
              <a:rPr lang="en-US" sz="1150" i="1" dirty="0">
                <a:solidFill>
                  <a:srgbClr val="8792AB"/>
                </a:solidFill>
                <a:latin typeface="Calibri" pitchFamily="34" charset="0"/>
                <a:ea typeface="Calibri" pitchFamily="34" charset="-122"/>
                <a:cs typeface="Calibri" pitchFamily="34" charset="-120"/>
              </a:rPr>
              <a:t>Rates, ratios and margin targets are set in the cycle and recorded in the offering economics template.</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685800"/>
          </a:xfrm>
          <a:prstGeom prst="rect">
            <a:avLst/>
          </a:prstGeom>
          <a:noFill/>
          <a:ln/>
        </p:spPr>
        <p:txBody>
          <a:bodyPr wrap="square" lIns="0" tIns="0" rIns="0" bIns="0" rtlCol="0" anchor="ctr"/>
          <a:lstStyle/>
          <a:p>
            <a:pPr indent="0" marL="0">
              <a:buNone/>
            </a:pPr>
            <a:r>
              <a:rPr lang="en-US" sz="3600" b="1" dirty="0">
                <a:solidFill>
                  <a:srgbClr val="16203A"/>
                </a:solidFill>
                <a:latin typeface="Cambria" pitchFamily="34" charset="0"/>
                <a:ea typeface="Cambria" pitchFamily="34" charset="-122"/>
                <a:cs typeface="Cambria" pitchFamily="34" charset="-120"/>
              </a:rPr>
              <a:t>Team and talent</a:t>
            </a:r>
            <a:endParaRPr lang="en-US" sz="3600" dirty="0"/>
          </a:p>
        </p:txBody>
      </p:sp>
      <p:sp>
        <p:nvSpPr>
          <p:cNvPr id="3" name="Text 1"/>
          <p:cNvSpPr txBox="1"/>
          <p:nvPr/>
        </p:nvSpPr>
        <p:spPr>
          <a:xfrm>
            <a:off x="640080" y="1133856"/>
            <a:ext cx="10881360" cy="411480"/>
          </a:xfrm>
          <a:prstGeom prst="rect">
            <a:avLst/>
          </a:prstGeom>
          <a:noFill/>
          <a:ln/>
        </p:spPr>
        <p:txBody>
          <a:bodyPr wrap="square" lIns="0" tIns="0" rIns="0" bIns="0" rtlCol="0" anchor="ctr"/>
          <a:lstStyle/>
          <a:p>
            <a:pPr indent="0" marL="0">
              <a:buNone/>
            </a:pPr>
            <a:r>
              <a:rPr lang="en-US" sz="1450" dirty="0">
                <a:solidFill>
                  <a:srgbClr val="8792AB"/>
                </a:solidFill>
                <a:latin typeface="Calibri" pitchFamily="34" charset="0"/>
                <a:ea typeface="Calibri" pitchFamily="34" charset="-122"/>
                <a:cs typeface="Calibri" pitchFamily="34" charset="-120"/>
              </a:rPr>
              <a:t>The capacity question, answered in three parts.</a:t>
            </a:r>
            <a:endParaRPr lang="en-US" sz="1450" dirty="0"/>
          </a:p>
        </p:txBody>
      </p:sp>
      <p:sp>
        <p:nvSpPr>
          <p:cNvPr id="4" name="Shape 2"/>
          <p:cNvSpPr/>
          <p:nvPr/>
        </p:nvSpPr>
        <p:spPr>
          <a:xfrm>
            <a:off x="640080" y="1828800"/>
            <a:ext cx="3429000" cy="3383280"/>
          </a:xfrm>
          <a:prstGeom prst="roundRect">
            <a:avLst>
              <a:gd name="adj" fmla="val 3243"/>
            </a:avLst>
          </a:prstGeom>
          <a:solidFill>
            <a:srgbClr val="EDF2FA"/>
          </a:solidFill>
          <a:ln/>
        </p:spPr>
      </p:sp>
      <p:sp>
        <p:nvSpPr>
          <p:cNvPr id="5" name="Shape 3"/>
          <p:cNvSpPr/>
          <p:nvPr/>
        </p:nvSpPr>
        <p:spPr>
          <a:xfrm>
            <a:off x="640080" y="1828800"/>
            <a:ext cx="3429000" cy="658368"/>
          </a:xfrm>
          <a:prstGeom prst="rect">
            <a:avLst/>
          </a:prstGeom>
          <a:solidFill>
            <a:srgbClr val="1E2761"/>
          </a:solidFill>
          <a:ln/>
        </p:spPr>
      </p:sp>
      <p:sp>
        <p:nvSpPr>
          <p:cNvPr id="6" name="Text 4"/>
          <p:cNvSpPr txBox="1"/>
          <p:nvPr/>
        </p:nvSpPr>
        <p:spPr>
          <a:xfrm>
            <a:off x="914400" y="1828800"/>
            <a:ext cx="2880360" cy="6583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The dedicated team</a:t>
            </a:r>
            <a:endParaRPr lang="en-US" sz="1700" dirty="0"/>
          </a:p>
        </p:txBody>
      </p:sp>
      <p:sp>
        <p:nvSpPr>
          <p:cNvPr id="7" name="Text 5"/>
          <p:cNvSpPr txBox="1"/>
          <p:nvPr/>
        </p:nvSpPr>
        <p:spPr>
          <a:xfrm>
            <a:off x="914400" y="2697480"/>
            <a:ext cx="2880360" cy="2286000"/>
          </a:xfrm>
          <a:prstGeom prst="rect">
            <a:avLst/>
          </a:prstGeom>
          <a:noFill/>
          <a:ln/>
        </p:spPr>
        <p:txBody>
          <a:bodyPr wrap="square" lIns="0" tIns="0" rIns="0" bIns="0" rtlCol="0" anchor="ctr"/>
          <a:lstStyle/>
          <a:p>
            <a:pPr marL="342900" indent="-342900">
              <a:spcAft>
                <a:spcPts val="1000"/>
              </a:spcAft>
              <a:buSzPct val="100000"/>
              <a:buChar char="•"/>
            </a:pPr>
            <a:r>
              <a:rPr lang="en-US" sz="1250" dirty="0">
                <a:solidFill>
                  <a:srgbClr val="44506B"/>
                </a:solidFill>
                <a:latin typeface="Calibri" pitchFamily="34" charset="0"/>
                <a:ea typeface="Calibri" pitchFamily="34" charset="-122"/>
                <a:cs typeface="Calibri" pitchFamily="34" charset="-120"/>
              </a:rPr>
              <a:t>Who works on FSI exclusively, across the three pillars?</a:t>
            </a:r>
            <a:endParaRPr lang="en-US" sz="1250" dirty="0"/>
          </a:p>
          <a:p>
            <a:pPr marL="342900" indent="-342900">
              <a:spcAft>
                <a:spcPts val="1000"/>
              </a:spcAft>
              <a:buSzPct val="100000"/>
              <a:buChar char="•"/>
            </a:pPr>
            <a:r>
              <a:rPr lang="en-US" sz="1250" dirty="0">
                <a:solidFill>
                  <a:srgbClr val="44506B"/>
                </a:solidFill>
                <a:latin typeface="Calibri" pitchFamily="34" charset="0"/>
                <a:ea typeface="Calibri" pitchFamily="34" charset="-122"/>
                <a:cs typeface="Calibri" pitchFamily="34" charset="-120"/>
              </a:rPr>
              <a:t>Which roles and levels do they hold?</a:t>
            </a:r>
            <a:endParaRPr lang="en-US" sz="1250" dirty="0"/>
          </a:p>
          <a:p>
            <a:pPr marL="342900" indent="-342900">
              <a:spcAft>
                <a:spcPts val="1000"/>
              </a:spcAft>
              <a:buSzPct val="100000"/>
              <a:buChar char="•"/>
            </a:pPr>
            <a:r>
              <a:rPr lang="en-US" sz="1250" dirty="0">
                <a:solidFill>
                  <a:srgbClr val="44506B"/>
                </a:solidFill>
                <a:latin typeface="Calibri" pitchFamily="34" charset="0"/>
                <a:ea typeface="Calibri" pitchFamily="34" charset="-122"/>
                <a:cs typeface="Calibri" pitchFamily="34" charset="-120"/>
              </a:rPr>
              <a:t>What is realistically deliverable with them alone?</a:t>
            </a:r>
            <a:endParaRPr lang="en-US" sz="1250" dirty="0"/>
          </a:p>
        </p:txBody>
      </p:sp>
      <p:sp>
        <p:nvSpPr>
          <p:cNvPr id="8" name="Shape 6"/>
          <p:cNvSpPr/>
          <p:nvPr/>
        </p:nvSpPr>
        <p:spPr>
          <a:xfrm>
            <a:off x="4361688" y="1828800"/>
            <a:ext cx="3429000" cy="3383280"/>
          </a:xfrm>
          <a:prstGeom prst="roundRect">
            <a:avLst>
              <a:gd name="adj" fmla="val 3243"/>
            </a:avLst>
          </a:prstGeom>
          <a:solidFill>
            <a:srgbClr val="EDF2FA"/>
          </a:solidFill>
          <a:ln/>
        </p:spPr>
      </p:sp>
      <p:sp>
        <p:nvSpPr>
          <p:cNvPr id="9" name="Shape 7"/>
          <p:cNvSpPr/>
          <p:nvPr/>
        </p:nvSpPr>
        <p:spPr>
          <a:xfrm>
            <a:off x="4361688" y="1828800"/>
            <a:ext cx="3429000" cy="658368"/>
          </a:xfrm>
          <a:prstGeom prst="rect">
            <a:avLst/>
          </a:prstGeom>
          <a:solidFill>
            <a:srgbClr val="3E5C8A"/>
          </a:solidFill>
          <a:ln/>
        </p:spPr>
      </p:sp>
      <p:sp>
        <p:nvSpPr>
          <p:cNvPr id="10" name="Text 8"/>
          <p:cNvSpPr txBox="1"/>
          <p:nvPr/>
        </p:nvSpPr>
        <p:spPr>
          <a:xfrm>
            <a:off x="4636008" y="1828800"/>
            <a:ext cx="2880360" cy="6583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Shared capacity</a:t>
            </a:r>
            <a:endParaRPr lang="en-US" sz="1700" dirty="0"/>
          </a:p>
        </p:txBody>
      </p:sp>
      <p:sp>
        <p:nvSpPr>
          <p:cNvPr id="11" name="Text 9"/>
          <p:cNvSpPr txBox="1"/>
          <p:nvPr/>
        </p:nvSpPr>
        <p:spPr>
          <a:xfrm>
            <a:off x="4636008" y="2697480"/>
            <a:ext cx="2880360" cy="2286000"/>
          </a:xfrm>
          <a:prstGeom prst="rect">
            <a:avLst/>
          </a:prstGeom>
          <a:noFill/>
          <a:ln/>
        </p:spPr>
        <p:txBody>
          <a:bodyPr wrap="square" lIns="0" tIns="0" rIns="0" bIns="0" rtlCol="0" anchor="ctr"/>
          <a:lstStyle/>
          <a:p>
            <a:pPr marL="342900" indent="-342900">
              <a:spcAft>
                <a:spcPts val="1000"/>
              </a:spcAft>
              <a:buSzPct val="100000"/>
              <a:buChar char="•"/>
            </a:pPr>
            <a:r>
              <a:rPr lang="en-US" sz="1250" dirty="0">
                <a:solidFill>
                  <a:srgbClr val="44506B"/>
                </a:solidFill>
                <a:latin typeface="Calibri" pitchFamily="34" charset="0"/>
                <a:ea typeface="Calibri" pitchFamily="34" charset="-122"/>
                <a:cs typeface="Calibri" pitchFamily="34" charset="-120"/>
              </a:rPr>
              <a:t>Which resources are shared with other portfolios?</a:t>
            </a:r>
            <a:endParaRPr lang="en-US" sz="1250" dirty="0"/>
          </a:p>
          <a:p>
            <a:pPr marL="342900" indent="-342900">
              <a:spcAft>
                <a:spcPts val="1000"/>
              </a:spcAft>
              <a:buSzPct val="100000"/>
              <a:buChar char="•"/>
            </a:pPr>
            <a:r>
              <a:rPr lang="en-US" sz="1250" dirty="0">
                <a:solidFill>
                  <a:srgbClr val="44506B"/>
                </a:solidFill>
                <a:latin typeface="Calibri" pitchFamily="34" charset="0"/>
                <a:ea typeface="Calibri" pitchFamily="34" charset="-122"/>
                <a:cs typeface="Calibri" pitchFamily="34" charset="-120"/>
              </a:rPr>
              <a:t>How much of their time can we count on?</a:t>
            </a:r>
            <a:endParaRPr lang="en-US" sz="1250" dirty="0"/>
          </a:p>
          <a:p>
            <a:pPr marL="342900" indent="-342900">
              <a:spcAft>
                <a:spcPts val="1000"/>
              </a:spcAft>
              <a:buSzPct val="100000"/>
              <a:buChar char="•"/>
            </a:pPr>
            <a:r>
              <a:rPr lang="en-US" sz="1250" dirty="0">
                <a:solidFill>
                  <a:srgbClr val="44506B"/>
                </a:solidFill>
                <a:latin typeface="Calibri" pitchFamily="34" charset="0"/>
                <a:ea typeface="Calibri" pitchFamily="34" charset="-122"/>
                <a:cs typeface="Calibri" pitchFamily="34" charset="-120"/>
              </a:rPr>
              <a:t>Which skills do we borrow rather than own?</a:t>
            </a:r>
            <a:endParaRPr lang="en-US" sz="1250" dirty="0"/>
          </a:p>
        </p:txBody>
      </p:sp>
      <p:sp>
        <p:nvSpPr>
          <p:cNvPr id="12" name="Shape 10"/>
          <p:cNvSpPr/>
          <p:nvPr/>
        </p:nvSpPr>
        <p:spPr>
          <a:xfrm>
            <a:off x="8083296" y="1828800"/>
            <a:ext cx="3429000" cy="3383280"/>
          </a:xfrm>
          <a:prstGeom prst="roundRect">
            <a:avLst>
              <a:gd name="adj" fmla="val 3243"/>
            </a:avLst>
          </a:prstGeom>
          <a:solidFill>
            <a:srgbClr val="EDF2FA"/>
          </a:solidFill>
          <a:ln/>
        </p:spPr>
      </p:sp>
      <p:sp>
        <p:nvSpPr>
          <p:cNvPr id="13" name="Shape 11"/>
          <p:cNvSpPr/>
          <p:nvPr/>
        </p:nvSpPr>
        <p:spPr>
          <a:xfrm>
            <a:off x="8083296" y="1828800"/>
            <a:ext cx="3429000" cy="658368"/>
          </a:xfrm>
          <a:prstGeom prst="rect">
            <a:avLst/>
          </a:prstGeom>
          <a:solidFill>
            <a:srgbClr val="1E2761"/>
          </a:solidFill>
          <a:ln/>
        </p:spPr>
      </p:sp>
      <p:sp>
        <p:nvSpPr>
          <p:cNvPr id="14" name="Text 12"/>
          <p:cNvSpPr txBox="1"/>
          <p:nvPr/>
        </p:nvSpPr>
        <p:spPr>
          <a:xfrm>
            <a:off x="8357616" y="1828800"/>
            <a:ext cx="2880360" cy="6583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The gap to close</a:t>
            </a:r>
            <a:endParaRPr lang="en-US" sz="1700" dirty="0"/>
          </a:p>
        </p:txBody>
      </p:sp>
      <p:sp>
        <p:nvSpPr>
          <p:cNvPr id="15" name="Text 13"/>
          <p:cNvSpPr txBox="1"/>
          <p:nvPr/>
        </p:nvSpPr>
        <p:spPr>
          <a:xfrm>
            <a:off x="8357616" y="2697480"/>
            <a:ext cx="2880360" cy="2286000"/>
          </a:xfrm>
          <a:prstGeom prst="rect">
            <a:avLst/>
          </a:prstGeom>
          <a:noFill/>
          <a:ln/>
        </p:spPr>
        <p:txBody>
          <a:bodyPr wrap="square" lIns="0" tIns="0" rIns="0" bIns="0" rtlCol="0" anchor="ctr"/>
          <a:lstStyle/>
          <a:p>
            <a:pPr marL="342900" indent="-342900">
              <a:spcAft>
                <a:spcPts val="1000"/>
              </a:spcAft>
              <a:buSzPct val="100000"/>
              <a:buChar char="•"/>
            </a:pPr>
            <a:r>
              <a:rPr lang="en-US" sz="1250" dirty="0">
                <a:solidFill>
                  <a:srgbClr val="44506B"/>
                </a:solidFill>
                <a:latin typeface="Calibri" pitchFamily="34" charset="0"/>
                <a:ea typeface="Calibri" pitchFamily="34" charset="-122"/>
                <a:cs typeface="Calibri" pitchFamily="34" charset="-120"/>
              </a:rPr>
              <a:t>How many partners, directors and delivery staff are missing?</a:t>
            </a:r>
            <a:endParaRPr lang="en-US" sz="1250" dirty="0"/>
          </a:p>
          <a:p>
            <a:pPr marL="342900" indent="-342900">
              <a:spcAft>
                <a:spcPts val="1000"/>
              </a:spcAft>
              <a:buSzPct val="100000"/>
              <a:buChar char="•"/>
            </a:pPr>
            <a:r>
              <a:rPr lang="en-US" sz="1250" dirty="0">
                <a:solidFill>
                  <a:srgbClr val="44506B"/>
                </a:solidFill>
                <a:latin typeface="Calibri" pitchFamily="34" charset="0"/>
                <a:ea typeface="Calibri" pitchFamily="34" charset="-122"/>
                <a:cs typeface="Calibri" pitchFamily="34" charset="-120"/>
              </a:rPr>
              <a:t>Build, borrow or buy for each gap?</a:t>
            </a:r>
            <a:endParaRPr lang="en-US" sz="1250" dirty="0"/>
          </a:p>
          <a:p>
            <a:pPr marL="342900" indent="-342900">
              <a:spcAft>
                <a:spcPts val="1000"/>
              </a:spcAft>
              <a:buSzPct val="100000"/>
              <a:buChar char="•"/>
            </a:pPr>
            <a:r>
              <a:rPr lang="en-US" sz="1250" dirty="0">
                <a:solidFill>
                  <a:srgbClr val="44506B"/>
                </a:solidFill>
                <a:latin typeface="Calibri" pitchFamily="34" charset="0"/>
                <a:ea typeface="Calibri" pitchFamily="34" charset="-122"/>
                <a:cs typeface="Calibri" pitchFamily="34" charset="-120"/>
              </a:rPr>
              <a:t>By when, to support the targets we set?</a:t>
            </a:r>
            <a:endParaRPr lang="en-US" sz="1250" dirty="0"/>
          </a:p>
        </p:txBody>
      </p:sp>
      <p:sp>
        <p:nvSpPr>
          <p:cNvPr id="16" name="Shape 14"/>
          <p:cNvSpPr/>
          <p:nvPr/>
        </p:nvSpPr>
        <p:spPr>
          <a:xfrm>
            <a:off x="3566160" y="5440680"/>
            <a:ext cx="5029200" cy="301752"/>
          </a:xfrm>
          <a:prstGeom prst="roundRect">
            <a:avLst>
              <a:gd name="adj" fmla="val 48485"/>
            </a:avLst>
          </a:prstGeom>
          <a:solidFill>
            <a:srgbClr val="FFFFFF"/>
          </a:solidFill>
          <a:ln w="12700">
            <a:solidFill>
              <a:srgbClr val="B8862B"/>
            </a:solidFill>
            <a:prstDash val="solid"/>
          </a:ln>
        </p:spPr>
      </p:sp>
      <p:sp>
        <p:nvSpPr>
          <p:cNvPr id="17" name="Text 15"/>
          <p:cNvSpPr txBox="1"/>
          <p:nvPr/>
        </p:nvSpPr>
        <p:spPr>
          <a:xfrm>
            <a:off x="3566160" y="5440680"/>
            <a:ext cx="5029200" cy="301752"/>
          </a:xfrm>
          <a:prstGeom prst="rect">
            <a:avLst/>
          </a:prstGeom>
          <a:noFill/>
          <a:ln/>
        </p:spPr>
        <p:txBody>
          <a:bodyPr wrap="square" lIns="0" tIns="0" rIns="0" bIns="0" rtlCol="0" anchor="ctr"/>
          <a:lstStyle/>
          <a:p>
            <a:pPr algn="ctr" indent="0" marL="0">
              <a:buNone/>
            </a:pPr>
            <a:r>
              <a:rPr lang="en-US" sz="1050" i="1" dirty="0">
                <a:solidFill>
                  <a:srgbClr val="B8862B"/>
                </a:solidFill>
                <a:latin typeface="Calibri" pitchFamily="34" charset="0"/>
                <a:ea typeface="Calibri" pitchFamily="34" charset="-122"/>
                <a:cs typeface="Calibri" pitchFamily="34" charset="-120"/>
              </a:rPr>
              <a:t>names, numbers and dates to be defined in the cycle</a:t>
            </a:r>
            <a:endParaRPr lang="en-US" sz="1050" dirty="0"/>
          </a:p>
        </p:txBody>
      </p:sp>
      <p:sp>
        <p:nvSpPr>
          <p:cNvPr id="18" name="Text 16"/>
          <p:cNvSpPr txBox="1"/>
          <p:nvPr/>
        </p:nvSpPr>
        <p:spPr>
          <a:xfrm>
            <a:off x="640080" y="5989320"/>
            <a:ext cx="10881360" cy="365760"/>
          </a:xfrm>
          <a:prstGeom prst="rect">
            <a:avLst/>
          </a:prstGeom>
          <a:noFill/>
          <a:ln/>
        </p:spPr>
        <p:txBody>
          <a:bodyPr wrap="square" lIns="0" tIns="0" rIns="0" bIns="0" rtlCol="0" anchor="ctr"/>
          <a:lstStyle/>
          <a:p>
            <a:pPr indent="0" marL="0">
              <a:buNone/>
            </a:pPr>
            <a:r>
              <a:rPr lang="en-US" sz="1300" i="1" dirty="0">
                <a:solidFill>
                  <a:srgbClr val="3E5C8A"/>
                </a:solidFill>
                <a:latin typeface="Calibri" pitchFamily="34" charset="0"/>
                <a:ea typeface="Calibri" pitchFamily="34" charset="-122"/>
                <a:cs typeface="Calibri" pitchFamily="34" charset="-120"/>
              </a:rPr>
              <a:t>Talent is treated as a strategy output, not an afterthought: targets we cannot staff are not targets.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685800"/>
          </a:xfrm>
          <a:prstGeom prst="rect">
            <a:avLst/>
          </a:prstGeom>
          <a:noFill/>
          <a:ln/>
        </p:spPr>
        <p:txBody>
          <a:bodyPr wrap="square" lIns="0" tIns="0" rIns="0" bIns="0" rtlCol="0" anchor="ctr"/>
          <a:lstStyle/>
          <a:p>
            <a:pPr indent="0" marL="0">
              <a:buNone/>
            </a:pPr>
            <a:r>
              <a:rPr lang="en-US" sz="3600" b="1" dirty="0">
                <a:solidFill>
                  <a:srgbClr val="16203A"/>
                </a:solidFill>
                <a:latin typeface="Cambria" pitchFamily="34" charset="0"/>
                <a:ea typeface="Cambria" pitchFamily="34" charset="-122"/>
                <a:cs typeface="Cambria" pitchFamily="34" charset="-120"/>
              </a:rPr>
              <a:t>Eminence and positioning</a:t>
            </a:r>
            <a:endParaRPr lang="en-US" sz="3600" dirty="0"/>
          </a:p>
        </p:txBody>
      </p:sp>
      <p:sp>
        <p:nvSpPr>
          <p:cNvPr id="3" name="Text 1"/>
          <p:cNvSpPr txBox="1"/>
          <p:nvPr/>
        </p:nvSpPr>
        <p:spPr>
          <a:xfrm>
            <a:off x="640080" y="1133856"/>
            <a:ext cx="10881360" cy="411480"/>
          </a:xfrm>
          <a:prstGeom prst="rect">
            <a:avLst/>
          </a:prstGeom>
          <a:noFill/>
          <a:ln/>
        </p:spPr>
        <p:txBody>
          <a:bodyPr wrap="square" lIns="0" tIns="0" rIns="0" bIns="0" rtlCol="0" anchor="ctr"/>
          <a:lstStyle/>
          <a:p>
            <a:pPr indent="0" marL="0">
              <a:buNone/>
            </a:pPr>
            <a:r>
              <a:rPr lang="en-US" sz="1450" dirty="0">
                <a:solidFill>
                  <a:srgbClr val="8792AB"/>
                </a:solidFill>
                <a:latin typeface="Calibri" pitchFamily="34" charset="0"/>
                <a:ea typeface="Calibri" pitchFamily="34" charset="-122"/>
                <a:cs typeface="Calibri" pitchFamily="34" charset="-120"/>
              </a:rPr>
              <a:t>How the market comes to know us for this.</a:t>
            </a:r>
            <a:endParaRPr lang="en-US" sz="1450" dirty="0"/>
          </a:p>
        </p:txBody>
      </p:sp>
      <p:sp>
        <p:nvSpPr>
          <p:cNvPr id="4" name="Shape 2"/>
          <p:cNvSpPr/>
          <p:nvPr/>
        </p:nvSpPr>
        <p:spPr>
          <a:xfrm>
            <a:off x="640080" y="1874520"/>
            <a:ext cx="2029968" cy="2651760"/>
          </a:xfrm>
          <a:prstGeom prst="roundRect">
            <a:avLst>
              <a:gd name="adj" fmla="val 5405"/>
            </a:avLst>
          </a:prstGeom>
          <a:solidFill>
            <a:srgbClr val="E4EBF7"/>
          </a:solidFill>
          <a:ln/>
        </p:spPr>
      </p:sp>
      <p:sp>
        <p:nvSpPr>
          <p:cNvPr id="5" name="Shape 3"/>
          <p:cNvSpPr/>
          <p:nvPr/>
        </p:nvSpPr>
        <p:spPr>
          <a:xfrm>
            <a:off x="868680" y="2103120"/>
            <a:ext cx="365760" cy="365760"/>
          </a:xfrm>
          <a:prstGeom prst="ellipse">
            <a:avLst/>
          </a:prstGeom>
          <a:solidFill>
            <a:srgbClr val="3E5C8A"/>
          </a:solidFill>
          <a:ln/>
        </p:spPr>
      </p:sp>
      <p:sp>
        <p:nvSpPr>
          <p:cNvPr id="6" name="Text 4"/>
          <p:cNvSpPr txBox="1"/>
          <p:nvPr/>
        </p:nvSpPr>
        <p:spPr>
          <a:xfrm>
            <a:off x="868680" y="210312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txBox="1"/>
          <p:nvPr/>
        </p:nvSpPr>
        <p:spPr>
          <a:xfrm>
            <a:off x="868680" y="2578608"/>
            <a:ext cx="1691640" cy="365760"/>
          </a:xfrm>
          <a:prstGeom prst="rect">
            <a:avLst/>
          </a:prstGeom>
          <a:noFill/>
          <a:ln/>
        </p:spPr>
        <p:txBody>
          <a:bodyPr wrap="square" lIns="0" tIns="0" rIns="0" bIns="0" rtlCol="0" anchor="ctr"/>
          <a:lstStyle/>
          <a:p>
            <a:pPr indent="0" marL="0">
              <a:buNone/>
            </a:pPr>
            <a:r>
              <a:rPr lang="en-US" sz="1500" b="1" dirty="0">
                <a:solidFill>
                  <a:srgbClr val="16203A"/>
                </a:solidFill>
                <a:latin typeface="Calibri" pitchFamily="34" charset="0"/>
                <a:ea typeface="Calibri" pitchFamily="34" charset="-122"/>
                <a:cs typeface="Calibri" pitchFamily="34" charset="-120"/>
              </a:rPr>
              <a:t>Published views</a:t>
            </a:r>
            <a:endParaRPr lang="en-US" sz="1500" dirty="0"/>
          </a:p>
        </p:txBody>
      </p:sp>
      <p:sp>
        <p:nvSpPr>
          <p:cNvPr id="8" name="Text 6"/>
          <p:cNvSpPr txBox="1"/>
          <p:nvPr/>
        </p:nvSpPr>
        <p:spPr>
          <a:xfrm>
            <a:off x="868680" y="3063240"/>
            <a:ext cx="1645920" cy="1280160"/>
          </a:xfrm>
          <a:prstGeom prst="rect">
            <a:avLst/>
          </a:prstGeom>
          <a:noFill/>
          <a:ln/>
        </p:spPr>
        <p:txBody>
          <a:bodyPr wrap="square" lIns="0" tIns="0" rIns="0" bIns="0" rtlCol="0" anchor="ctr"/>
          <a:lstStyle/>
          <a:p>
            <a:pPr marL="342900" indent="-342900">
              <a:spcAft>
                <a:spcPts val="600"/>
              </a:spcAft>
              <a:buSzPct val="100000"/>
              <a:buChar char="•"/>
            </a:pPr>
            <a:r>
              <a:rPr lang="en-US" sz="1150" dirty="0">
                <a:solidFill>
                  <a:srgbClr val="44506B"/>
                </a:solidFill>
                <a:latin typeface="Calibri" pitchFamily="34" charset="0"/>
                <a:ea typeface="Calibri" pitchFamily="34" charset="-122"/>
                <a:cs typeface="Calibri" pitchFamily="34" charset="-120"/>
              </a:rPr>
              <a:t>Points of view</a:t>
            </a:r>
            <a:endParaRPr lang="en-US" sz="1150" dirty="0"/>
          </a:p>
          <a:p>
            <a:pPr marL="342900" indent="-342900">
              <a:spcAft>
                <a:spcPts val="600"/>
              </a:spcAft>
              <a:buSzPct val="100000"/>
              <a:buChar char="•"/>
            </a:pPr>
            <a:r>
              <a:rPr lang="en-US" sz="1150" dirty="0">
                <a:solidFill>
                  <a:srgbClr val="44506B"/>
                </a:solidFill>
                <a:latin typeface="Calibri" pitchFamily="34" charset="0"/>
                <a:ea typeface="Calibri" pitchFamily="34" charset="-122"/>
                <a:cs typeface="Calibri" pitchFamily="34" charset="-120"/>
              </a:rPr>
              <a:t>Articles</a:t>
            </a:r>
            <a:endParaRPr lang="en-US" sz="1150" dirty="0"/>
          </a:p>
          <a:p>
            <a:pPr marL="342900" indent="-342900">
              <a:spcAft>
                <a:spcPts val="600"/>
              </a:spcAft>
              <a:buSzPct val="100000"/>
              <a:buChar char="•"/>
            </a:pPr>
            <a:r>
              <a:rPr lang="en-US" sz="1150" dirty="0">
                <a:solidFill>
                  <a:srgbClr val="44506B"/>
                </a:solidFill>
                <a:latin typeface="Calibri" pitchFamily="34" charset="0"/>
                <a:ea typeface="Calibri" pitchFamily="34" charset="-122"/>
                <a:cs typeface="Calibri" pitchFamily="34" charset="-120"/>
              </a:rPr>
              <a:t>Benchmark reports</a:t>
            </a:r>
            <a:endParaRPr lang="en-US" sz="1150" dirty="0"/>
          </a:p>
        </p:txBody>
      </p:sp>
      <p:sp>
        <p:nvSpPr>
          <p:cNvPr id="9" name="Shape 7"/>
          <p:cNvSpPr/>
          <p:nvPr/>
        </p:nvSpPr>
        <p:spPr>
          <a:xfrm>
            <a:off x="2852928" y="1874520"/>
            <a:ext cx="2029968" cy="2651760"/>
          </a:xfrm>
          <a:prstGeom prst="roundRect">
            <a:avLst>
              <a:gd name="adj" fmla="val 5405"/>
            </a:avLst>
          </a:prstGeom>
          <a:solidFill>
            <a:srgbClr val="EDF2FA"/>
          </a:solidFill>
          <a:ln/>
        </p:spPr>
      </p:sp>
      <p:sp>
        <p:nvSpPr>
          <p:cNvPr id="10" name="Shape 8"/>
          <p:cNvSpPr/>
          <p:nvPr/>
        </p:nvSpPr>
        <p:spPr>
          <a:xfrm>
            <a:off x="3081528" y="2103120"/>
            <a:ext cx="365760" cy="365760"/>
          </a:xfrm>
          <a:prstGeom prst="ellipse">
            <a:avLst/>
          </a:prstGeom>
          <a:solidFill>
            <a:srgbClr val="3E5C8A"/>
          </a:solidFill>
          <a:ln/>
        </p:spPr>
      </p:sp>
      <p:sp>
        <p:nvSpPr>
          <p:cNvPr id="11" name="Text 9"/>
          <p:cNvSpPr txBox="1"/>
          <p:nvPr/>
        </p:nvSpPr>
        <p:spPr>
          <a:xfrm>
            <a:off x="3081528" y="210312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txBox="1"/>
          <p:nvPr/>
        </p:nvSpPr>
        <p:spPr>
          <a:xfrm>
            <a:off x="3081528" y="2578608"/>
            <a:ext cx="1691640" cy="365760"/>
          </a:xfrm>
          <a:prstGeom prst="rect">
            <a:avLst/>
          </a:prstGeom>
          <a:noFill/>
          <a:ln/>
        </p:spPr>
        <p:txBody>
          <a:bodyPr wrap="square" lIns="0" tIns="0" rIns="0" bIns="0" rtlCol="0" anchor="ctr"/>
          <a:lstStyle/>
          <a:p>
            <a:pPr indent="0" marL="0">
              <a:buNone/>
            </a:pPr>
            <a:r>
              <a:rPr lang="en-US" sz="1500" b="1" dirty="0">
                <a:solidFill>
                  <a:srgbClr val="16203A"/>
                </a:solidFill>
                <a:latin typeface="Calibri" pitchFamily="34" charset="0"/>
                <a:ea typeface="Calibri" pitchFamily="34" charset="-122"/>
                <a:cs typeface="Calibri" pitchFamily="34" charset="-120"/>
              </a:rPr>
              <a:t>Stages</a:t>
            </a:r>
            <a:endParaRPr lang="en-US" sz="1500" dirty="0"/>
          </a:p>
        </p:txBody>
      </p:sp>
      <p:sp>
        <p:nvSpPr>
          <p:cNvPr id="13" name="Text 11"/>
          <p:cNvSpPr txBox="1"/>
          <p:nvPr/>
        </p:nvSpPr>
        <p:spPr>
          <a:xfrm>
            <a:off x="3081528" y="3063240"/>
            <a:ext cx="1645920" cy="1280160"/>
          </a:xfrm>
          <a:prstGeom prst="rect">
            <a:avLst/>
          </a:prstGeom>
          <a:noFill/>
          <a:ln/>
        </p:spPr>
        <p:txBody>
          <a:bodyPr wrap="square" lIns="0" tIns="0" rIns="0" bIns="0" rtlCol="0" anchor="ctr"/>
          <a:lstStyle/>
          <a:p>
            <a:pPr marL="342900" indent="-342900">
              <a:spcAft>
                <a:spcPts val="600"/>
              </a:spcAft>
              <a:buSzPct val="100000"/>
              <a:buChar char="•"/>
            </a:pPr>
            <a:r>
              <a:rPr lang="en-US" sz="1150" dirty="0">
                <a:solidFill>
                  <a:srgbClr val="44506B"/>
                </a:solidFill>
                <a:latin typeface="Calibri" pitchFamily="34" charset="0"/>
                <a:ea typeface="Calibri" pitchFamily="34" charset="-122"/>
                <a:cs typeface="Calibri" pitchFamily="34" charset="-120"/>
              </a:rPr>
              <a:t>Industry conferences</a:t>
            </a:r>
            <a:endParaRPr lang="en-US" sz="1150" dirty="0"/>
          </a:p>
          <a:p>
            <a:pPr marL="342900" indent="-342900">
              <a:spcAft>
                <a:spcPts val="600"/>
              </a:spcAft>
              <a:buSzPct val="100000"/>
              <a:buChar char="•"/>
            </a:pPr>
            <a:r>
              <a:rPr lang="en-US" sz="1150" dirty="0">
                <a:solidFill>
                  <a:srgbClr val="44506B"/>
                </a:solidFill>
                <a:latin typeface="Calibri" pitchFamily="34" charset="0"/>
                <a:ea typeface="Calibri" pitchFamily="34" charset="-122"/>
                <a:cs typeface="Calibri" pitchFamily="34" charset="-120"/>
              </a:rPr>
              <a:t>Flagship FSI events</a:t>
            </a:r>
            <a:endParaRPr lang="en-US" sz="1150" dirty="0"/>
          </a:p>
          <a:p>
            <a:pPr marL="342900" indent="-342900">
              <a:spcAft>
                <a:spcPts val="600"/>
              </a:spcAft>
              <a:buSzPct val="100000"/>
              <a:buChar char="•"/>
            </a:pPr>
            <a:r>
              <a:rPr lang="en-US" sz="1150" dirty="0">
                <a:solidFill>
                  <a:srgbClr val="44506B"/>
                </a:solidFill>
                <a:latin typeface="Calibri" pitchFamily="34" charset="0"/>
                <a:ea typeface="Calibri" pitchFamily="34" charset="-122"/>
                <a:cs typeface="Calibri" pitchFamily="34" charset="-120"/>
              </a:rPr>
              <a:t>Panels and keynotes</a:t>
            </a:r>
            <a:endParaRPr lang="en-US" sz="1150" dirty="0"/>
          </a:p>
        </p:txBody>
      </p:sp>
      <p:sp>
        <p:nvSpPr>
          <p:cNvPr id="14" name="Shape 12"/>
          <p:cNvSpPr/>
          <p:nvPr/>
        </p:nvSpPr>
        <p:spPr>
          <a:xfrm>
            <a:off x="5065776" y="1874520"/>
            <a:ext cx="2029968" cy="2651760"/>
          </a:xfrm>
          <a:prstGeom prst="roundRect">
            <a:avLst>
              <a:gd name="adj" fmla="val 5405"/>
            </a:avLst>
          </a:prstGeom>
          <a:solidFill>
            <a:srgbClr val="E4EBF7"/>
          </a:solidFill>
          <a:ln/>
        </p:spPr>
      </p:sp>
      <p:sp>
        <p:nvSpPr>
          <p:cNvPr id="15" name="Shape 13"/>
          <p:cNvSpPr/>
          <p:nvPr/>
        </p:nvSpPr>
        <p:spPr>
          <a:xfrm>
            <a:off x="5294376" y="2103120"/>
            <a:ext cx="365760" cy="365760"/>
          </a:xfrm>
          <a:prstGeom prst="ellipse">
            <a:avLst/>
          </a:prstGeom>
          <a:solidFill>
            <a:srgbClr val="3E5C8A"/>
          </a:solidFill>
          <a:ln/>
        </p:spPr>
      </p:sp>
      <p:sp>
        <p:nvSpPr>
          <p:cNvPr id="16" name="Text 14"/>
          <p:cNvSpPr txBox="1"/>
          <p:nvPr/>
        </p:nvSpPr>
        <p:spPr>
          <a:xfrm>
            <a:off x="5294376" y="210312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txBox="1"/>
          <p:nvPr/>
        </p:nvSpPr>
        <p:spPr>
          <a:xfrm>
            <a:off x="5294376" y="2578608"/>
            <a:ext cx="1691640" cy="365760"/>
          </a:xfrm>
          <a:prstGeom prst="rect">
            <a:avLst/>
          </a:prstGeom>
          <a:noFill/>
          <a:ln/>
        </p:spPr>
        <p:txBody>
          <a:bodyPr wrap="square" lIns="0" tIns="0" rIns="0" bIns="0" rtlCol="0" anchor="ctr"/>
          <a:lstStyle/>
          <a:p>
            <a:pPr indent="0" marL="0">
              <a:buNone/>
            </a:pPr>
            <a:r>
              <a:rPr lang="en-US" sz="1500" b="1" dirty="0">
                <a:solidFill>
                  <a:srgbClr val="16203A"/>
                </a:solidFill>
                <a:latin typeface="Calibri" pitchFamily="34" charset="0"/>
                <a:ea typeface="Calibri" pitchFamily="34" charset="-122"/>
                <a:cs typeface="Calibri" pitchFamily="34" charset="-120"/>
              </a:rPr>
              <a:t>Client formats</a:t>
            </a:r>
            <a:endParaRPr lang="en-US" sz="1500" dirty="0"/>
          </a:p>
        </p:txBody>
      </p:sp>
      <p:sp>
        <p:nvSpPr>
          <p:cNvPr id="18" name="Text 16"/>
          <p:cNvSpPr txBox="1"/>
          <p:nvPr/>
        </p:nvSpPr>
        <p:spPr>
          <a:xfrm>
            <a:off x="5294376" y="3063240"/>
            <a:ext cx="1645920" cy="1280160"/>
          </a:xfrm>
          <a:prstGeom prst="rect">
            <a:avLst/>
          </a:prstGeom>
          <a:noFill/>
          <a:ln/>
        </p:spPr>
        <p:txBody>
          <a:bodyPr wrap="square" lIns="0" tIns="0" rIns="0" bIns="0" rtlCol="0" anchor="ctr"/>
          <a:lstStyle/>
          <a:p>
            <a:pPr marL="342900" indent="-342900">
              <a:spcAft>
                <a:spcPts val="600"/>
              </a:spcAft>
              <a:buSzPct val="100000"/>
              <a:buChar char="•"/>
            </a:pPr>
            <a:r>
              <a:rPr lang="en-US" sz="1150" dirty="0">
                <a:solidFill>
                  <a:srgbClr val="44506B"/>
                </a:solidFill>
                <a:latin typeface="Calibri" pitchFamily="34" charset="0"/>
                <a:ea typeface="Calibri" pitchFamily="34" charset="-122"/>
                <a:cs typeface="Calibri" pitchFamily="34" charset="-120"/>
              </a:rPr>
              <a:t>Executive workshops</a:t>
            </a:r>
            <a:endParaRPr lang="en-US" sz="1150" dirty="0"/>
          </a:p>
          <a:p>
            <a:pPr marL="342900" indent="-342900">
              <a:spcAft>
                <a:spcPts val="600"/>
              </a:spcAft>
              <a:buSzPct val="100000"/>
              <a:buChar char="•"/>
            </a:pPr>
            <a:r>
              <a:rPr lang="en-US" sz="1150" dirty="0">
                <a:solidFill>
                  <a:srgbClr val="44506B"/>
                </a:solidFill>
                <a:latin typeface="Calibri" pitchFamily="34" charset="0"/>
                <a:ea typeface="Calibri" pitchFamily="34" charset="-122"/>
                <a:cs typeface="Calibri" pitchFamily="34" charset="-120"/>
              </a:rPr>
              <a:t>Seminars</a:t>
            </a:r>
            <a:endParaRPr lang="en-US" sz="1150" dirty="0"/>
          </a:p>
          <a:p>
            <a:pPr marL="342900" indent="-342900">
              <a:spcAft>
                <a:spcPts val="600"/>
              </a:spcAft>
              <a:buSzPct val="100000"/>
              <a:buChar char="•"/>
            </a:pPr>
            <a:r>
              <a:rPr lang="en-US" sz="1150" dirty="0">
                <a:solidFill>
                  <a:srgbClr val="44506B"/>
                </a:solidFill>
                <a:latin typeface="Calibri" pitchFamily="34" charset="0"/>
                <a:ea typeface="Calibri" pitchFamily="34" charset="-122"/>
                <a:cs typeface="Calibri" pitchFamily="34" charset="-120"/>
              </a:rPr>
              <a:t>Roundtables</a:t>
            </a:r>
            <a:endParaRPr lang="en-US" sz="1150" dirty="0"/>
          </a:p>
        </p:txBody>
      </p:sp>
      <p:sp>
        <p:nvSpPr>
          <p:cNvPr id="19" name="Shape 17"/>
          <p:cNvSpPr/>
          <p:nvPr/>
        </p:nvSpPr>
        <p:spPr>
          <a:xfrm>
            <a:off x="7278624" y="1874520"/>
            <a:ext cx="2029968" cy="2651760"/>
          </a:xfrm>
          <a:prstGeom prst="roundRect">
            <a:avLst>
              <a:gd name="adj" fmla="val 5405"/>
            </a:avLst>
          </a:prstGeom>
          <a:solidFill>
            <a:srgbClr val="EDF2FA"/>
          </a:solidFill>
          <a:ln/>
        </p:spPr>
      </p:sp>
      <p:sp>
        <p:nvSpPr>
          <p:cNvPr id="20" name="Shape 18"/>
          <p:cNvSpPr/>
          <p:nvPr/>
        </p:nvSpPr>
        <p:spPr>
          <a:xfrm>
            <a:off x="7507224" y="2103120"/>
            <a:ext cx="365760" cy="365760"/>
          </a:xfrm>
          <a:prstGeom prst="ellipse">
            <a:avLst/>
          </a:prstGeom>
          <a:solidFill>
            <a:srgbClr val="3E5C8A"/>
          </a:solidFill>
          <a:ln/>
        </p:spPr>
      </p:sp>
      <p:sp>
        <p:nvSpPr>
          <p:cNvPr id="21" name="Text 19"/>
          <p:cNvSpPr txBox="1"/>
          <p:nvPr/>
        </p:nvSpPr>
        <p:spPr>
          <a:xfrm>
            <a:off x="7507224" y="210312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20"/>
          <p:cNvSpPr txBox="1"/>
          <p:nvPr/>
        </p:nvSpPr>
        <p:spPr>
          <a:xfrm>
            <a:off x="7507224" y="2578608"/>
            <a:ext cx="1691640" cy="365760"/>
          </a:xfrm>
          <a:prstGeom prst="rect">
            <a:avLst/>
          </a:prstGeom>
          <a:noFill/>
          <a:ln/>
        </p:spPr>
        <p:txBody>
          <a:bodyPr wrap="square" lIns="0" tIns="0" rIns="0" bIns="0" rtlCol="0" anchor="ctr"/>
          <a:lstStyle/>
          <a:p>
            <a:pPr indent="0" marL="0">
              <a:buNone/>
            </a:pPr>
            <a:r>
              <a:rPr lang="en-US" sz="1500" b="1" dirty="0">
                <a:solidFill>
                  <a:srgbClr val="16203A"/>
                </a:solidFill>
                <a:latin typeface="Calibri" pitchFamily="34" charset="0"/>
                <a:ea typeface="Calibri" pitchFamily="34" charset="-122"/>
                <a:cs typeface="Calibri" pitchFamily="34" charset="-120"/>
              </a:rPr>
              <a:t>Digital</a:t>
            </a:r>
            <a:endParaRPr lang="en-US" sz="1500" dirty="0"/>
          </a:p>
        </p:txBody>
      </p:sp>
      <p:sp>
        <p:nvSpPr>
          <p:cNvPr id="23" name="Text 21"/>
          <p:cNvSpPr txBox="1"/>
          <p:nvPr/>
        </p:nvSpPr>
        <p:spPr>
          <a:xfrm>
            <a:off x="7507224" y="3063240"/>
            <a:ext cx="1645920" cy="1280160"/>
          </a:xfrm>
          <a:prstGeom prst="rect">
            <a:avLst/>
          </a:prstGeom>
          <a:noFill/>
          <a:ln/>
        </p:spPr>
        <p:txBody>
          <a:bodyPr wrap="square" lIns="0" tIns="0" rIns="0" bIns="0" rtlCol="0" anchor="ctr"/>
          <a:lstStyle/>
          <a:p>
            <a:pPr marL="342900" indent="-342900">
              <a:spcAft>
                <a:spcPts val="600"/>
              </a:spcAft>
              <a:buSzPct val="100000"/>
              <a:buChar char="•"/>
            </a:pPr>
            <a:r>
              <a:rPr lang="en-US" sz="1150" dirty="0">
                <a:solidFill>
                  <a:srgbClr val="44506B"/>
                </a:solidFill>
                <a:latin typeface="Calibri" pitchFamily="34" charset="0"/>
                <a:ea typeface="Calibri" pitchFamily="34" charset="-122"/>
                <a:cs typeface="Calibri" pitchFamily="34" charset="-120"/>
              </a:rPr>
              <a:t>Podcasts</a:t>
            </a:r>
            <a:endParaRPr lang="en-US" sz="1150" dirty="0"/>
          </a:p>
          <a:p>
            <a:pPr marL="342900" indent="-342900">
              <a:spcAft>
                <a:spcPts val="600"/>
              </a:spcAft>
              <a:buSzPct val="100000"/>
              <a:buChar char="•"/>
            </a:pPr>
            <a:r>
              <a:rPr lang="en-US" sz="1150" dirty="0">
                <a:solidFill>
                  <a:srgbClr val="44506B"/>
                </a:solidFill>
                <a:latin typeface="Calibri" pitchFamily="34" charset="0"/>
                <a:ea typeface="Calibri" pitchFamily="34" charset="-122"/>
                <a:cs typeface="Calibri" pitchFamily="34" charset="-120"/>
              </a:rPr>
              <a:t>Webinars</a:t>
            </a:r>
            <a:endParaRPr lang="en-US" sz="1150" dirty="0"/>
          </a:p>
          <a:p>
            <a:pPr marL="342900" indent="-342900">
              <a:spcAft>
                <a:spcPts val="600"/>
              </a:spcAft>
              <a:buSzPct val="100000"/>
              <a:buChar char="•"/>
            </a:pPr>
            <a:r>
              <a:rPr lang="en-US" sz="1150" dirty="0">
                <a:solidFill>
                  <a:srgbClr val="44506B"/>
                </a:solidFill>
                <a:latin typeface="Calibri" pitchFamily="34" charset="0"/>
                <a:ea typeface="Calibri" pitchFamily="34" charset="-122"/>
                <a:cs typeface="Calibri" pitchFamily="34" charset="-120"/>
              </a:rPr>
              <a:t>Social presence</a:t>
            </a:r>
            <a:endParaRPr lang="en-US" sz="1150" dirty="0"/>
          </a:p>
        </p:txBody>
      </p:sp>
      <p:sp>
        <p:nvSpPr>
          <p:cNvPr id="24" name="Shape 22"/>
          <p:cNvSpPr/>
          <p:nvPr/>
        </p:nvSpPr>
        <p:spPr>
          <a:xfrm>
            <a:off x="9491472" y="1874520"/>
            <a:ext cx="2029968" cy="2651760"/>
          </a:xfrm>
          <a:prstGeom prst="roundRect">
            <a:avLst>
              <a:gd name="adj" fmla="val 5405"/>
            </a:avLst>
          </a:prstGeom>
          <a:solidFill>
            <a:srgbClr val="E4EBF7"/>
          </a:solidFill>
          <a:ln/>
        </p:spPr>
      </p:sp>
      <p:sp>
        <p:nvSpPr>
          <p:cNvPr id="25" name="Shape 23"/>
          <p:cNvSpPr/>
          <p:nvPr/>
        </p:nvSpPr>
        <p:spPr>
          <a:xfrm>
            <a:off x="9720072" y="2103120"/>
            <a:ext cx="365760" cy="365760"/>
          </a:xfrm>
          <a:prstGeom prst="ellipse">
            <a:avLst/>
          </a:prstGeom>
          <a:solidFill>
            <a:srgbClr val="3E5C8A"/>
          </a:solidFill>
          <a:ln/>
        </p:spPr>
      </p:sp>
      <p:sp>
        <p:nvSpPr>
          <p:cNvPr id="26" name="Text 24"/>
          <p:cNvSpPr txBox="1"/>
          <p:nvPr/>
        </p:nvSpPr>
        <p:spPr>
          <a:xfrm>
            <a:off x="9720072" y="210312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7" name="Text 25"/>
          <p:cNvSpPr txBox="1"/>
          <p:nvPr/>
        </p:nvSpPr>
        <p:spPr>
          <a:xfrm>
            <a:off x="9720072" y="2578608"/>
            <a:ext cx="1691640" cy="365760"/>
          </a:xfrm>
          <a:prstGeom prst="rect">
            <a:avLst/>
          </a:prstGeom>
          <a:noFill/>
          <a:ln/>
        </p:spPr>
        <p:txBody>
          <a:bodyPr wrap="square" lIns="0" tIns="0" rIns="0" bIns="0" rtlCol="0" anchor="ctr"/>
          <a:lstStyle/>
          <a:p>
            <a:pPr indent="0" marL="0">
              <a:buNone/>
            </a:pPr>
            <a:r>
              <a:rPr lang="en-US" sz="1500" b="1" dirty="0">
                <a:solidFill>
                  <a:srgbClr val="16203A"/>
                </a:solidFill>
                <a:latin typeface="Calibri" pitchFamily="34" charset="0"/>
                <a:ea typeface="Calibri" pitchFamily="34" charset="-122"/>
                <a:cs typeface="Calibri" pitchFamily="34" charset="-120"/>
              </a:rPr>
              <a:t>Partner-led</a:t>
            </a:r>
            <a:endParaRPr lang="en-US" sz="1500" dirty="0"/>
          </a:p>
        </p:txBody>
      </p:sp>
      <p:sp>
        <p:nvSpPr>
          <p:cNvPr id="28" name="Text 26"/>
          <p:cNvSpPr txBox="1"/>
          <p:nvPr/>
        </p:nvSpPr>
        <p:spPr>
          <a:xfrm>
            <a:off x="9720072" y="3063240"/>
            <a:ext cx="1645920" cy="1280160"/>
          </a:xfrm>
          <a:prstGeom prst="rect">
            <a:avLst/>
          </a:prstGeom>
          <a:noFill/>
          <a:ln/>
        </p:spPr>
        <p:txBody>
          <a:bodyPr wrap="square" lIns="0" tIns="0" rIns="0" bIns="0" rtlCol="0" anchor="ctr"/>
          <a:lstStyle/>
          <a:p>
            <a:pPr marL="342900" indent="-342900">
              <a:spcAft>
                <a:spcPts val="600"/>
              </a:spcAft>
              <a:buSzPct val="100000"/>
              <a:buChar char="•"/>
            </a:pPr>
            <a:r>
              <a:rPr lang="en-US" sz="1150" dirty="0">
                <a:solidFill>
                  <a:srgbClr val="44506B"/>
                </a:solidFill>
                <a:latin typeface="Calibri" pitchFamily="34" charset="0"/>
                <a:ea typeface="Calibri" pitchFamily="34" charset="-122"/>
                <a:cs typeface="Calibri" pitchFamily="34" charset="-120"/>
              </a:rPr>
              <a:t>Joint content</a:t>
            </a:r>
            <a:endParaRPr lang="en-US" sz="1150" dirty="0"/>
          </a:p>
          <a:p>
            <a:pPr marL="342900" indent="-342900">
              <a:spcAft>
                <a:spcPts val="600"/>
              </a:spcAft>
              <a:buSzPct val="100000"/>
              <a:buChar char="•"/>
            </a:pPr>
            <a:r>
              <a:rPr lang="en-US" sz="1150" dirty="0">
                <a:solidFill>
                  <a:srgbClr val="44506B"/>
                </a:solidFill>
                <a:latin typeface="Calibri" pitchFamily="34" charset="0"/>
                <a:ea typeface="Calibri" pitchFamily="34" charset="-122"/>
                <a:cs typeface="Calibri" pitchFamily="34" charset="-120"/>
              </a:rPr>
              <a:t>Alliance events</a:t>
            </a:r>
            <a:endParaRPr lang="en-US" sz="1150" dirty="0"/>
          </a:p>
          <a:p>
            <a:pPr marL="342900" indent="-342900">
              <a:spcAft>
                <a:spcPts val="600"/>
              </a:spcAft>
              <a:buSzPct val="100000"/>
              <a:buChar char="•"/>
            </a:pPr>
            <a:r>
              <a:rPr lang="en-US" sz="1150" dirty="0">
                <a:solidFill>
                  <a:srgbClr val="44506B"/>
                </a:solidFill>
                <a:latin typeface="Calibri" pitchFamily="34" charset="0"/>
                <a:ea typeface="Calibri" pitchFamily="34" charset="-122"/>
                <a:cs typeface="Calibri" pitchFamily="34" charset="-120"/>
              </a:rPr>
              <a:t>Co-branded assets</a:t>
            </a:r>
            <a:endParaRPr lang="en-US" sz="1150" dirty="0"/>
          </a:p>
        </p:txBody>
      </p:sp>
      <p:sp>
        <p:nvSpPr>
          <p:cNvPr id="29" name="Shape 27"/>
          <p:cNvSpPr/>
          <p:nvPr/>
        </p:nvSpPr>
        <p:spPr>
          <a:xfrm>
            <a:off x="640080" y="4800600"/>
            <a:ext cx="10881360" cy="960120"/>
          </a:xfrm>
          <a:prstGeom prst="roundRect">
            <a:avLst>
              <a:gd name="adj" fmla="val 9524"/>
            </a:avLst>
          </a:prstGeom>
          <a:solidFill>
            <a:srgbClr val="1E2761"/>
          </a:solidFill>
          <a:ln/>
        </p:spPr>
      </p:sp>
      <p:sp>
        <p:nvSpPr>
          <p:cNvPr id="30" name="Text 28"/>
          <p:cNvSpPr txBox="1"/>
          <p:nvPr/>
        </p:nvSpPr>
        <p:spPr>
          <a:xfrm>
            <a:off x="914400" y="4800600"/>
            <a:ext cx="10332720" cy="960120"/>
          </a:xfrm>
          <a:prstGeom prst="rect">
            <a:avLst/>
          </a:prstGeom>
          <a:noFill/>
          <a:ln/>
        </p:spPr>
        <p:txBody>
          <a:bodyPr wrap="square" lIns="0" tIns="0" rIns="0" bIns="0" rtlCol="0" anchor="ctr"/>
          <a:lstStyle/>
          <a:p>
            <a:pPr indent="0" marL="0">
              <a:buNone/>
            </a:pPr>
            <a:r>
              <a:rPr lang="en-US" sz="1350" dirty="0">
                <a:solidFill>
                  <a:srgbClr val="CADCFC"/>
                </a:solidFill>
                <a:latin typeface="Calibri" pitchFamily="34" charset="0"/>
                <a:ea typeface="Calibri" pitchFamily="34" charset="-122"/>
                <a:cs typeface="Calibri" pitchFamily="34" charset="-120"/>
              </a:rPr>
              <a:t>For each channel the plan must answer: which ones we commit to, at what frequency, who fronts them, which accounts they target, and how we measure the return.</a:t>
            </a:r>
            <a:endParaRPr lang="en-US" sz="1350" dirty="0"/>
          </a:p>
        </p:txBody>
      </p:sp>
      <p:sp>
        <p:nvSpPr>
          <p:cNvPr id="31" name="Shape 29"/>
          <p:cNvSpPr/>
          <p:nvPr/>
        </p:nvSpPr>
        <p:spPr>
          <a:xfrm>
            <a:off x="4251960" y="5989320"/>
            <a:ext cx="3657600" cy="301752"/>
          </a:xfrm>
          <a:prstGeom prst="roundRect">
            <a:avLst>
              <a:gd name="adj" fmla="val 48485"/>
            </a:avLst>
          </a:prstGeom>
          <a:solidFill>
            <a:srgbClr val="FFFFFF"/>
          </a:solidFill>
          <a:ln w="12700">
            <a:solidFill>
              <a:srgbClr val="B8862B"/>
            </a:solidFill>
            <a:prstDash val="solid"/>
          </a:ln>
        </p:spPr>
      </p:sp>
      <p:sp>
        <p:nvSpPr>
          <p:cNvPr id="32" name="Text 30"/>
          <p:cNvSpPr txBox="1"/>
          <p:nvPr/>
        </p:nvSpPr>
        <p:spPr>
          <a:xfrm>
            <a:off x="4251960" y="5989320"/>
            <a:ext cx="3657600" cy="301752"/>
          </a:xfrm>
          <a:prstGeom prst="rect">
            <a:avLst/>
          </a:prstGeom>
          <a:noFill/>
          <a:ln/>
        </p:spPr>
        <p:txBody>
          <a:bodyPr wrap="square" lIns="0" tIns="0" rIns="0" bIns="0" rtlCol="0" anchor="ctr"/>
          <a:lstStyle/>
          <a:p>
            <a:pPr algn="ctr" indent="0" marL="0">
              <a:buNone/>
            </a:pPr>
            <a:r>
              <a:rPr lang="en-US" sz="1050" i="1" dirty="0">
                <a:solidFill>
                  <a:srgbClr val="B8862B"/>
                </a:solidFill>
                <a:latin typeface="Calibri" pitchFamily="34" charset="0"/>
                <a:ea typeface="Calibri" pitchFamily="34" charset="-122"/>
                <a:cs typeface="Calibri" pitchFamily="34" charset="-120"/>
              </a:rPr>
              <a:t>channel mix to be defined in the cycle</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685800"/>
          </a:xfrm>
          <a:prstGeom prst="rect">
            <a:avLst/>
          </a:prstGeom>
          <a:noFill/>
          <a:ln/>
        </p:spPr>
        <p:txBody>
          <a:bodyPr wrap="square" lIns="0" tIns="0" rIns="0" bIns="0" rtlCol="0" anchor="ctr"/>
          <a:lstStyle/>
          <a:p>
            <a:pPr indent="0" marL="0">
              <a:buNone/>
            </a:pPr>
            <a:r>
              <a:rPr lang="en-US" sz="3600" b="1" dirty="0">
                <a:solidFill>
                  <a:srgbClr val="16203A"/>
                </a:solidFill>
                <a:latin typeface="Cambria" pitchFamily="34" charset="0"/>
                <a:ea typeface="Cambria" pitchFamily="34" charset="-122"/>
                <a:cs typeface="Cambria" pitchFamily="34" charset="-120"/>
              </a:rPr>
              <a:t>Alliances</a:t>
            </a:r>
            <a:endParaRPr lang="en-US" sz="3600" dirty="0"/>
          </a:p>
        </p:txBody>
      </p:sp>
      <p:sp>
        <p:nvSpPr>
          <p:cNvPr id="3" name="Text 1"/>
          <p:cNvSpPr txBox="1"/>
          <p:nvPr/>
        </p:nvSpPr>
        <p:spPr>
          <a:xfrm>
            <a:off x="640080" y="1133856"/>
            <a:ext cx="10881360" cy="411480"/>
          </a:xfrm>
          <a:prstGeom prst="rect">
            <a:avLst/>
          </a:prstGeom>
          <a:noFill/>
          <a:ln/>
        </p:spPr>
        <p:txBody>
          <a:bodyPr wrap="square" lIns="0" tIns="0" rIns="0" bIns="0" rtlCol="0" anchor="ctr"/>
          <a:lstStyle/>
          <a:p>
            <a:pPr indent="0" marL="0">
              <a:buNone/>
            </a:pPr>
            <a:r>
              <a:rPr lang="en-US" sz="1450" dirty="0">
                <a:solidFill>
                  <a:srgbClr val="8792AB"/>
                </a:solidFill>
                <a:latin typeface="Calibri" pitchFamily="34" charset="0"/>
                <a:ea typeface="Calibri" pitchFamily="34" charset="-122"/>
                <a:cs typeface="Calibri" pitchFamily="34" charset="-120"/>
              </a:rPr>
              <a:t>Who we go to market with, and what we use each one for.</a:t>
            </a:r>
            <a:endParaRPr lang="en-US" sz="1450" dirty="0"/>
          </a:p>
        </p:txBody>
      </p:sp>
      <p:sp>
        <p:nvSpPr>
          <p:cNvPr id="4" name="Shape 2"/>
          <p:cNvSpPr/>
          <p:nvPr/>
        </p:nvSpPr>
        <p:spPr>
          <a:xfrm>
            <a:off x="640080" y="1828800"/>
            <a:ext cx="5120640" cy="2057400"/>
          </a:xfrm>
          <a:prstGeom prst="roundRect">
            <a:avLst>
              <a:gd name="adj" fmla="val 5333"/>
            </a:avLst>
          </a:prstGeom>
          <a:solidFill>
            <a:srgbClr val="EDF2FA"/>
          </a:solidFill>
          <a:ln/>
        </p:spPr>
      </p:sp>
      <p:sp>
        <p:nvSpPr>
          <p:cNvPr id="5" name="Text 3"/>
          <p:cNvSpPr txBox="1"/>
          <p:nvPr/>
        </p:nvSpPr>
        <p:spPr>
          <a:xfrm>
            <a:off x="914400" y="1965960"/>
            <a:ext cx="4572000" cy="365760"/>
          </a:xfrm>
          <a:prstGeom prst="rect">
            <a:avLst/>
          </a:prstGeom>
          <a:noFill/>
          <a:ln/>
        </p:spPr>
        <p:txBody>
          <a:bodyPr wrap="square" lIns="0" tIns="0" rIns="0" bIns="0" rtlCol="0" anchor="ctr"/>
          <a:lstStyle/>
          <a:p>
            <a:pPr indent="0" marL="0">
              <a:buNone/>
            </a:pPr>
            <a:r>
              <a:rPr lang="en-US" sz="1700" b="1" dirty="0">
                <a:solidFill>
                  <a:srgbClr val="1E2761"/>
                </a:solidFill>
                <a:latin typeface="Calibri" pitchFamily="34" charset="0"/>
                <a:ea typeface="Calibri" pitchFamily="34" charset="-122"/>
                <a:cs typeface="Calibri" pitchFamily="34" charset="-120"/>
              </a:rPr>
              <a:t>Primary alliances</a:t>
            </a:r>
            <a:endParaRPr lang="en-US" sz="1700" dirty="0"/>
          </a:p>
        </p:txBody>
      </p:sp>
      <p:sp>
        <p:nvSpPr>
          <p:cNvPr id="6" name="Shape 4"/>
          <p:cNvSpPr/>
          <p:nvPr/>
        </p:nvSpPr>
        <p:spPr>
          <a:xfrm>
            <a:off x="914400" y="2468880"/>
            <a:ext cx="1402080" cy="1051560"/>
          </a:xfrm>
          <a:prstGeom prst="roundRect">
            <a:avLst>
              <a:gd name="adj" fmla="val 8696"/>
            </a:avLst>
          </a:prstGeom>
          <a:solidFill>
            <a:srgbClr val="1E2761"/>
          </a:solidFill>
          <a:ln/>
        </p:spPr>
      </p:sp>
      <p:sp>
        <p:nvSpPr>
          <p:cNvPr id="7" name="Text 5"/>
          <p:cNvSpPr txBox="1"/>
          <p:nvPr/>
        </p:nvSpPr>
        <p:spPr>
          <a:xfrm>
            <a:off x="914400" y="2468880"/>
            <a:ext cx="1402080" cy="105156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Oracle</a:t>
            </a:r>
            <a:endParaRPr lang="en-US" sz="1700" dirty="0"/>
          </a:p>
        </p:txBody>
      </p:sp>
      <p:sp>
        <p:nvSpPr>
          <p:cNvPr id="8" name="Shape 6"/>
          <p:cNvSpPr/>
          <p:nvPr/>
        </p:nvSpPr>
        <p:spPr>
          <a:xfrm>
            <a:off x="2499360" y="2468880"/>
            <a:ext cx="1402080" cy="1051560"/>
          </a:xfrm>
          <a:prstGeom prst="roundRect">
            <a:avLst>
              <a:gd name="adj" fmla="val 8696"/>
            </a:avLst>
          </a:prstGeom>
          <a:solidFill>
            <a:srgbClr val="1E2761"/>
          </a:solidFill>
          <a:ln/>
        </p:spPr>
      </p:sp>
      <p:sp>
        <p:nvSpPr>
          <p:cNvPr id="9" name="Text 7"/>
          <p:cNvSpPr txBox="1"/>
          <p:nvPr/>
        </p:nvSpPr>
        <p:spPr>
          <a:xfrm>
            <a:off x="2499360" y="2468880"/>
            <a:ext cx="1402080" cy="105156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Google</a:t>
            </a:r>
            <a:endParaRPr lang="en-US" sz="1700" dirty="0"/>
          </a:p>
        </p:txBody>
      </p:sp>
      <p:sp>
        <p:nvSpPr>
          <p:cNvPr id="10" name="Shape 8"/>
          <p:cNvSpPr/>
          <p:nvPr/>
        </p:nvSpPr>
        <p:spPr>
          <a:xfrm>
            <a:off x="4084320" y="2468880"/>
            <a:ext cx="1402080" cy="1051560"/>
          </a:xfrm>
          <a:prstGeom prst="roundRect">
            <a:avLst>
              <a:gd name="adj" fmla="val 8696"/>
            </a:avLst>
          </a:prstGeom>
          <a:solidFill>
            <a:srgbClr val="1E2761"/>
          </a:solidFill>
          <a:ln/>
        </p:spPr>
      </p:sp>
      <p:sp>
        <p:nvSpPr>
          <p:cNvPr id="11" name="Text 9"/>
          <p:cNvSpPr txBox="1"/>
          <p:nvPr/>
        </p:nvSpPr>
        <p:spPr>
          <a:xfrm>
            <a:off x="4084320" y="2468880"/>
            <a:ext cx="1402080" cy="105156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Amazon</a:t>
            </a:r>
            <a:endParaRPr lang="en-US" sz="1700" dirty="0"/>
          </a:p>
        </p:txBody>
      </p:sp>
      <p:sp>
        <p:nvSpPr>
          <p:cNvPr id="12" name="Shape 10"/>
          <p:cNvSpPr/>
          <p:nvPr/>
        </p:nvSpPr>
        <p:spPr>
          <a:xfrm>
            <a:off x="6309360" y="1828800"/>
            <a:ext cx="5212080" cy="2057400"/>
          </a:xfrm>
          <a:prstGeom prst="roundRect">
            <a:avLst>
              <a:gd name="adj" fmla="val 5333"/>
            </a:avLst>
          </a:prstGeom>
          <a:solidFill>
            <a:srgbClr val="EDF2FA"/>
          </a:solidFill>
          <a:ln/>
        </p:spPr>
      </p:sp>
      <p:sp>
        <p:nvSpPr>
          <p:cNvPr id="13" name="Text 11"/>
          <p:cNvSpPr txBox="1"/>
          <p:nvPr/>
        </p:nvSpPr>
        <p:spPr>
          <a:xfrm>
            <a:off x="6583680" y="1965960"/>
            <a:ext cx="4663440" cy="365760"/>
          </a:xfrm>
          <a:prstGeom prst="rect">
            <a:avLst/>
          </a:prstGeom>
          <a:noFill/>
          <a:ln/>
        </p:spPr>
        <p:txBody>
          <a:bodyPr wrap="square" lIns="0" tIns="0" rIns="0" bIns="0" rtlCol="0" anchor="ctr"/>
          <a:lstStyle/>
          <a:p>
            <a:pPr indent="0" marL="0">
              <a:buNone/>
            </a:pPr>
            <a:r>
              <a:rPr lang="en-US" sz="1700" b="1" dirty="0">
                <a:solidFill>
                  <a:srgbClr val="3E5C8A"/>
                </a:solidFill>
                <a:latin typeface="Calibri" pitchFamily="34" charset="0"/>
                <a:ea typeface="Calibri" pitchFamily="34" charset="-122"/>
                <a:cs typeface="Calibri" pitchFamily="34" charset="-120"/>
              </a:rPr>
              <a:t>Specialised alliances</a:t>
            </a:r>
            <a:endParaRPr lang="en-US" sz="1700" dirty="0"/>
          </a:p>
        </p:txBody>
      </p:sp>
      <p:sp>
        <p:nvSpPr>
          <p:cNvPr id="14" name="Shape 12"/>
          <p:cNvSpPr/>
          <p:nvPr/>
        </p:nvSpPr>
        <p:spPr>
          <a:xfrm>
            <a:off x="6583680" y="2468880"/>
            <a:ext cx="2240280" cy="1051560"/>
          </a:xfrm>
          <a:prstGeom prst="roundRect">
            <a:avLst>
              <a:gd name="adj" fmla="val 8696"/>
            </a:avLst>
          </a:prstGeom>
          <a:solidFill>
            <a:srgbClr val="3E5C8A"/>
          </a:solidFill>
          <a:ln/>
        </p:spPr>
      </p:sp>
      <p:sp>
        <p:nvSpPr>
          <p:cNvPr id="15" name="Text 13"/>
          <p:cNvSpPr txBox="1"/>
          <p:nvPr/>
        </p:nvSpPr>
        <p:spPr>
          <a:xfrm>
            <a:off x="6583680" y="2468880"/>
            <a:ext cx="2240280" cy="105156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Temenos</a:t>
            </a:r>
            <a:endParaRPr lang="en-US" sz="1700" dirty="0"/>
          </a:p>
        </p:txBody>
      </p:sp>
      <p:sp>
        <p:nvSpPr>
          <p:cNvPr id="16" name="Shape 14"/>
          <p:cNvSpPr/>
          <p:nvPr/>
        </p:nvSpPr>
        <p:spPr>
          <a:xfrm>
            <a:off x="9006840" y="2468880"/>
            <a:ext cx="2240280" cy="1051560"/>
          </a:xfrm>
          <a:prstGeom prst="roundRect">
            <a:avLst>
              <a:gd name="adj" fmla="val 8696"/>
            </a:avLst>
          </a:prstGeom>
          <a:solidFill>
            <a:srgbClr val="3E5C8A"/>
          </a:solidFill>
          <a:ln/>
        </p:spPr>
      </p:sp>
      <p:sp>
        <p:nvSpPr>
          <p:cNvPr id="17" name="Text 15"/>
          <p:cNvSpPr txBox="1"/>
          <p:nvPr/>
        </p:nvSpPr>
        <p:spPr>
          <a:xfrm>
            <a:off x="9006840" y="2468880"/>
            <a:ext cx="2240280" cy="105156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Intellect</a:t>
            </a:r>
            <a:endParaRPr lang="en-US" sz="1700" dirty="0"/>
          </a:p>
        </p:txBody>
      </p:sp>
      <p:sp>
        <p:nvSpPr>
          <p:cNvPr id="18" name="Shape 16"/>
          <p:cNvSpPr/>
          <p:nvPr/>
        </p:nvSpPr>
        <p:spPr>
          <a:xfrm>
            <a:off x="4023360" y="4023360"/>
            <a:ext cx="4114800" cy="301752"/>
          </a:xfrm>
          <a:prstGeom prst="roundRect">
            <a:avLst>
              <a:gd name="adj" fmla="val 48485"/>
            </a:avLst>
          </a:prstGeom>
          <a:solidFill>
            <a:srgbClr val="FFFFFF"/>
          </a:solidFill>
          <a:ln w="12700">
            <a:solidFill>
              <a:srgbClr val="B8862B"/>
            </a:solidFill>
            <a:prstDash val="solid"/>
          </a:ln>
        </p:spPr>
      </p:sp>
      <p:sp>
        <p:nvSpPr>
          <p:cNvPr id="19" name="Text 17"/>
          <p:cNvSpPr txBox="1"/>
          <p:nvPr/>
        </p:nvSpPr>
        <p:spPr>
          <a:xfrm>
            <a:off x="4023360" y="4023360"/>
            <a:ext cx="4114800" cy="301752"/>
          </a:xfrm>
          <a:prstGeom prst="rect">
            <a:avLst/>
          </a:prstGeom>
          <a:noFill/>
          <a:ln/>
        </p:spPr>
        <p:txBody>
          <a:bodyPr wrap="square" lIns="0" tIns="0" rIns="0" bIns="0" rtlCol="0" anchor="ctr"/>
          <a:lstStyle/>
          <a:p>
            <a:pPr algn="ctr" indent="0" marL="0">
              <a:buNone/>
            </a:pPr>
            <a:r>
              <a:rPr lang="en-US" sz="1050" i="1" dirty="0">
                <a:solidFill>
                  <a:srgbClr val="B8862B"/>
                </a:solidFill>
                <a:latin typeface="Calibri" pitchFamily="34" charset="0"/>
                <a:ea typeface="Calibri" pitchFamily="34" charset="-122"/>
                <a:cs typeface="Calibri" pitchFamily="34" charset="-120"/>
              </a:rPr>
              <a:t>further alliances to be defined in the cycle</a:t>
            </a:r>
            <a:endParaRPr lang="en-US" sz="1050" dirty="0"/>
          </a:p>
        </p:txBody>
      </p:sp>
      <p:sp>
        <p:nvSpPr>
          <p:cNvPr id="20" name="Text 18"/>
          <p:cNvSpPr txBox="1"/>
          <p:nvPr/>
        </p:nvSpPr>
        <p:spPr>
          <a:xfrm>
            <a:off x="640080" y="4617720"/>
            <a:ext cx="10881360" cy="320040"/>
          </a:xfrm>
          <a:prstGeom prst="rect">
            <a:avLst/>
          </a:prstGeom>
          <a:noFill/>
          <a:ln/>
        </p:spPr>
        <p:txBody>
          <a:bodyPr wrap="square" lIns="0" tIns="0" rIns="0" bIns="0" rtlCol="0" anchor="ctr"/>
          <a:lstStyle/>
          <a:p>
            <a:pPr indent="0" marL="0">
              <a:buNone/>
            </a:pPr>
            <a:r>
              <a:rPr lang="en-US" sz="1400" b="1" dirty="0">
                <a:solidFill>
                  <a:srgbClr val="16203A"/>
                </a:solidFill>
                <a:latin typeface="Calibri" pitchFamily="34" charset="0"/>
                <a:ea typeface="Calibri" pitchFamily="34" charset="-122"/>
                <a:cs typeface="Calibri" pitchFamily="34" charset="-120"/>
              </a:rPr>
              <a:t>For every alliance the plan must answer:</a:t>
            </a:r>
            <a:endParaRPr lang="en-US" sz="1400" dirty="0"/>
          </a:p>
        </p:txBody>
      </p:sp>
      <p:sp>
        <p:nvSpPr>
          <p:cNvPr id="21" name="Shape 19"/>
          <p:cNvSpPr/>
          <p:nvPr/>
        </p:nvSpPr>
        <p:spPr>
          <a:xfrm>
            <a:off x="640080" y="5029200"/>
            <a:ext cx="310896" cy="310896"/>
          </a:xfrm>
          <a:prstGeom prst="ellipse">
            <a:avLst/>
          </a:prstGeom>
          <a:solidFill>
            <a:srgbClr val="1E2761"/>
          </a:solidFill>
          <a:ln/>
        </p:spPr>
      </p:sp>
      <p:sp>
        <p:nvSpPr>
          <p:cNvPr id="22" name="Text 20"/>
          <p:cNvSpPr txBox="1"/>
          <p:nvPr/>
        </p:nvSpPr>
        <p:spPr>
          <a:xfrm>
            <a:off x="640080" y="502920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3" name="Text 21"/>
          <p:cNvSpPr txBox="1"/>
          <p:nvPr/>
        </p:nvSpPr>
        <p:spPr>
          <a:xfrm>
            <a:off x="1097280" y="4992624"/>
            <a:ext cx="2377440" cy="320040"/>
          </a:xfrm>
          <a:prstGeom prst="rect">
            <a:avLst/>
          </a:prstGeom>
          <a:noFill/>
          <a:ln/>
        </p:spPr>
        <p:txBody>
          <a:bodyPr wrap="square" lIns="0" tIns="0" rIns="0" bIns="0" rtlCol="0" anchor="ctr"/>
          <a:lstStyle/>
          <a:p>
            <a:pPr indent="0" marL="0">
              <a:buNone/>
            </a:pPr>
            <a:r>
              <a:rPr lang="en-US" sz="1300" b="1" dirty="0">
                <a:solidFill>
                  <a:srgbClr val="16203A"/>
                </a:solidFill>
                <a:latin typeface="Calibri" pitchFamily="34" charset="0"/>
                <a:ea typeface="Calibri" pitchFamily="34" charset="-122"/>
                <a:cs typeface="Calibri" pitchFamily="34" charset="-120"/>
              </a:rPr>
              <a:t>What we leverage it for</a:t>
            </a:r>
            <a:endParaRPr lang="en-US" sz="1300" dirty="0"/>
          </a:p>
        </p:txBody>
      </p:sp>
      <p:sp>
        <p:nvSpPr>
          <p:cNvPr id="24" name="Text 22"/>
          <p:cNvSpPr txBox="1"/>
          <p:nvPr/>
        </p:nvSpPr>
        <p:spPr>
          <a:xfrm>
            <a:off x="3474720" y="4992624"/>
            <a:ext cx="2514600" cy="411480"/>
          </a:xfrm>
          <a:prstGeom prst="rect">
            <a:avLst/>
          </a:prstGeom>
          <a:noFill/>
          <a:ln/>
        </p:spPr>
        <p:txBody>
          <a:bodyPr wrap="square" lIns="0" tIns="0" rIns="0" bIns="0" rtlCol="0" anchor="ctr"/>
          <a:lstStyle/>
          <a:p>
            <a:pPr indent="0" marL="0">
              <a:buNone/>
            </a:pPr>
            <a:r>
              <a:rPr lang="en-US" sz="1200" dirty="0">
                <a:solidFill>
                  <a:srgbClr val="44506B"/>
                </a:solidFill>
                <a:latin typeface="Calibri" pitchFamily="34" charset="0"/>
                <a:ea typeface="Calibri" pitchFamily="34" charset="-122"/>
                <a:cs typeface="Calibri" pitchFamily="34" charset="-120"/>
              </a:rPr>
              <a:t>Which propositions and which pillars it sits behind</a:t>
            </a:r>
            <a:endParaRPr lang="en-US" sz="1200" dirty="0"/>
          </a:p>
        </p:txBody>
      </p:sp>
      <p:sp>
        <p:nvSpPr>
          <p:cNvPr id="25" name="Shape 23"/>
          <p:cNvSpPr/>
          <p:nvPr/>
        </p:nvSpPr>
        <p:spPr>
          <a:xfrm>
            <a:off x="6263640" y="5029200"/>
            <a:ext cx="310896" cy="310896"/>
          </a:xfrm>
          <a:prstGeom prst="ellipse">
            <a:avLst/>
          </a:prstGeom>
          <a:solidFill>
            <a:srgbClr val="1E2761"/>
          </a:solidFill>
          <a:ln/>
        </p:spPr>
      </p:sp>
      <p:sp>
        <p:nvSpPr>
          <p:cNvPr id="26" name="Text 24"/>
          <p:cNvSpPr txBox="1"/>
          <p:nvPr/>
        </p:nvSpPr>
        <p:spPr>
          <a:xfrm>
            <a:off x="6263640" y="502920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7" name="Text 25"/>
          <p:cNvSpPr txBox="1"/>
          <p:nvPr/>
        </p:nvSpPr>
        <p:spPr>
          <a:xfrm>
            <a:off x="6720840" y="4992624"/>
            <a:ext cx="2377440" cy="320040"/>
          </a:xfrm>
          <a:prstGeom prst="rect">
            <a:avLst/>
          </a:prstGeom>
          <a:noFill/>
          <a:ln/>
        </p:spPr>
        <p:txBody>
          <a:bodyPr wrap="square" lIns="0" tIns="0" rIns="0" bIns="0" rtlCol="0" anchor="ctr"/>
          <a:lstStyle/>
          <a:p>
            <a:pPr indent="0" marL="0">
              <a:buNone/>
            </a:pPr>
            <a:r>
              <a:rPr lang="en-US" sz="1300" b="1" dirty="0">
                <a:solidFill>
                  <a:srgbClr val="16203A"/>
                </a:solidFill>
                <a:latin typeface="Calibri" pitchFamily="34" charset="0"/>
                <a:ea typeface="Calibri" pitchFamily="34" charset="-122"/>
                <a:cs typeface="Calibri" pitchFamily="34" charset="-120"/>
              </a:rPr>
              <a:t>What the relationship is</a:t>
            </a:r>
            <a:endParaRPr lang="en-US" sz="1300" dirty="0"/>
          </a:p>
        </p:txBody>
      </p:sp>
      <p:sp>
        <p:nvSpPr>
          <p:cNvPr id="28" name="Text 26"/>
          <p:cNvSpPr txBox="1"/>
          <p:nvPr/>
        </p:nvSpPr>
        <p:spPr>
          <a:xfrm>
            <a:off x="9098280" y="4992624"/>
            <a:ext cx="2514600" cy="411480"/>
          </a:xfrm>
          <a:prstGeom prst="rect">
            <a:avLst/>
          </a:prstGeom>
          <a:noFill/>
          <a:ln/>
        </p:spPr>
        <p:txBody>
          <a:bodyPr wrap="square" lIns="0" tIns="0" rIns="0" bIns="0" rtlCol="0" anchor="ctr"/>
          <a:lstStyle/>
          <a:p>
            <a:pPr indent="0" marL="0">
              <a:buNone/>
            </a:pPr>
            <a:r>
              <a:rPr lang="en-US" sz="1200" dirty="0">
                <a:solidFill>
                  <a:srgbClr val="44506B"/>
                </a:solidFill>
                <a:latin typeface="Calibri" pitchFamily="34" charset="0"/>
                <a:ea typeface="Calibri" pitchFamily="34" charset="-122"/>
                <a:cs typeface="Calibri" pitchFamily="34" charset="-120"/>
              </a:rPr>
              <a:t>Co-sell, resell, delivery partner or referral</a:t>
            </a:r>
            <a:endParaRPr lang="en-US" sz="1200" dirty="0"/>
          </a:p>
        </p:txBody>
      </p:sp>
      <p:sp>
        <p:nvSpPr>
          <p:cNvPr id="29" name="Shape 27"/>
          <p:cNvSpPr/>
          <p:nvPr/>
        </p:nvSpPr>
        <p:spPr>
          <a:xfrm>
            <a:off x="640080" y="5715000"/>
            <a:ext cx="310896" cy="310896"/>
          </a:xfrm>
          <a:prstGeom prst="ellipse">
            <a:avLst/>
          </a:prstGeom>
          <a:solidFill>
            <a:srgbClr val="3E5C8A"/>
          </a:solidFill>
          <a:ln/>
        </p:spPr>
      </p:sp>
      <p:sp>
        <p:nvSpPr>
          <p:cNvPr id="30" name="Text 28"/>
          <p:cNvSpPr txBox="1"/>
          <p:nvPr/>
        </p:nvSpPr>
        <p:spPr>
          <a:xfrm>
            <a:off x="640080" y="571500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1" name="Text 29"/>
          <p:cNvSpPr txBox="1"/>
          <p:nvPr/>
        </p:nvSpPr>
        <p:spPr>
          <a:xfrm>
            <a:off x="1097280" y="5678424"/>
            <a:ext cx="2377440" cy="320040"/>
          </a:xfrm>
          <a:prstGeom prst="rect">
            <a:avLst/>
          </a:prstGeom>
          <a:noFill/>
          <a:ln/>
        </p:spPr>
        <p:txBody>
          <a:bodyPr wrap="square" lIns="0" tIns="0" rIns="0" bIns="0" rtlCol="0" anchor="ctr"/>
          <a:lstStyle/>
          <a:p>
            <a:pPr indent="0" marL="0">
              <a:buNone/>
            </a:pPr>
            <a:r>
              <a:rPr lang="en-US" sz="1300" b="1" dirty="0">
                <a:solidFill>
                  <a:srgbClr val="16203A"/>
                </a:solidFill>
                <a:latin typeface="Calibri" pitchFamily="34" charset="0"/>
                <a:ea typeface="Calibri" pitchFamily="34" charset="-122"/>
                <a:cs typeface="Calibri" pitchFamily="34" charset="-120"/>
              </a:rPr>
              <a:t>Where it opens doors</a:t>
            </a:r>
            <a:endParaRPr lang="en-US" sz="1300" dirty="0"/>
          </a:p>
        </p:txBody>
      </p:sp>
      <p:sp>
        <p:nvSpPr>
          <p:cNvPr id="32" name="Text 30"/>
          <p:cNvSpPr txBox="1"/>
          <p:nvPr/>
        </p:nvSpPr>
        <p:spPr>
          <a:xfrm>
            <a:off x="3474720" y="5678424"/>
            <a:ext cx="2514600" cy="411480"/>
          </a:xfrm>
          <a:prstGeom prst="rect">
            <a:avLst/>
          </a:prstGeom>
          <a:noFill/>
          <a:ln/>
        </p:spPr>
        <p:txBody>
          <a:bodyPr wrap="square" lIns="0" tIns="0" rIns="0" bIns="0" rtlCol="0" anchor="ctr"/>
          <a:lstStyle/>
          <a:p>
            <a:pPr indent="0" marL="0">
              <a:buNone/>
            </a:pPr>
            <a:r>
              <a:rPr lang="en-US" sz="1200" dirty="0">
                <a:solidFill>
                  <a:srgbClr val="44506B"/>
                </a:solidFill>
                <a:latin typeface="Calibri" pitchFamily="34" charset="0"/>
                <a:ea typeface="Calibri" pitchFamily="34" charset="-122"/>
                <a:cs typeface="Calibri" pitchFamily="34" charset="-120"/>
              </a:rPr>
              <a:t>Which markets and which accounts it gives us access to</a:t>
            </a:r>
            <a:endParaRPr lang="en-US" sz="1200" dirty="0"/>
          </a:p>
        </p:txBody>
      </p:sp>
      <p:sp>
        <p:nvSpPr>
          <p:cNvPr id="33" name="Shape 31"/>
          <p:cNvSpPr/>
          <p:nvPr/>
        </p:nvSpPr>
        <p:spPr>
          <a:xfrm>
            <a:off x="6263640" y="5715000"/>
            <a:ext cx="310896" cy="310896"/>
          </a:xfrm>
          <a:prstGeom prst="ellipse">
            <a:avLst/>
          </a:prstGeom>
          <a:solidFill>
            <a:srgbClr val="3E5C8A"/>
          </a:solidFill>
          <a:ln/>
        </p:spPr>
      </p:sp>
      <p:sp>
        <p:nvSpPr>
          <p:cNvPr id="34" name="Text 32"/>
          <p:cNvSpPr txBox="1"/>
          <p:nvPr/>
        </p:nvSpPr>
        <p:spPr>
          <a:xfrm>
            <a:off x="6263640" y="571500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35" name="Text 33"/>
          <p:cNvSpPr txBox="1"/>
          <p:nvPr/>
        </p:nvSpPr>
        <p:spPr>
          <a:xfrm>
            <a:off x="6720840" y="5678424"/>
            <a:ext cx="2377440" cy="320040"/>
          </a:xfrm>
          <a:prstGeom prst="rect">
            <a:avLst/>
          </a:prstGeom>
          <a:noFill/>
          <a:ln/>
        </p:spPr>
        <p:txBody>
          <a:bodyPr wrap="square" lIns="0" tIns="0" rIns="0" bIns="0" rtlCol="0" anchor="ctr"/>
          <a:lstStyle/>
          <a:p>
            <a:pPr indent="0" marL="0">
              <a:buNone/>
            </a:pPr>
            <a:r>
              <a:rPr lang="en-US" sz="1300" b="1" dirty="0">
                <a:solidFill>
                  <a:srgbClr val="16203A"/>
                </a:solidFill>
                <a:latin typeface="Calibri" pitchFamily="34" charset="0"/>
                <a:ea typeface="Calibri" pitchFamily="34" charset="-122"/>
                <a:cs typeface="Calibri" pitchFamily="34" charset="-120"/>
              </a:rPr>
              <a:t>What it costs us</a:t>
            </a:r>
            <a:endParaRPr lang="en-US" sz="1300" dirty="0"/>
          </a:p>
        </p:txBody>
      </p:sp>
      <p:sp>
        <p:nvSpPr>
          <p:cNvPr id="36" name="Text 34"/>
          <p:cNvSpPr txBox="1"/>
          <p:nvPr/>
        </p:nvSpPr>
        <p:spPr>
          <a:xfrm>
            <a:off x="9098280" y="5678424"/>
            <a:ext cx="2514600" cy="411480"/>
          </a:xfrm>
          <a:prstGeom prst="rect">
            <a:avLst/>
          </a:prstGeom>
          <a:noFill/>
          <a:ln/>
        </p:spPr>
        <p:txBody>
          <a:bodyPr wrap="square" lIns="0" tIns="0" rIns="0" bIns="0" rtlCol="0" anchor="ctr"/>
          <a:lstStyle/>
          <a:p>
            <a:pPr indent="0" marL="0">
              <a:buNone/>
            </a:pPr>
            <a:r>
              <a:rPr lang="en-US" sz="1200" dirty="0">
                <a:solidFill>
                  <a:srgbClr val="44506B"/>
                </a:solidFill>
                <a:latin typeface="Calibri" pitchFamily="34" charset="0"/>
                <a:ea typeface="Calibri" pitchFamily="34" charset="-122"/>
                <a:cs typeface="Calibri" pitchFamily="34" charset="-120"/>
              </a:rPr>
              <a:t>Certifications, credentials and commitments they expect back</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685800"/>
          </a:xfrm>
          <a:prstGeom prst="rect">
            <a:avLst/>
          </a:prstGeom>
          <a:noFill/>
          <a:ln/>
        </p:spPr>
        <p:txBody>
          <a:bodyPr wrap="square" lIns="0" tIns="0" rIns="0" bIns="0" rtlCol="0" anchor="ctr"/>
          <a:lstStyle/>
          <a:p>
            <a:pPr indent="0" marL="0">
              <a:buNone/>
            </a:pPr>
            <a:r>
              <a:rPr lang="en-US" sz="3600" b="1" dirty="0">
                <a:solidFill>
                  <a:srgbClr val="16203A"/>
                </a:solidFill>
                <a:latin typeface="Cambria" pitchFamily="34" charset="0"/>
                <a:ea typeface="Cambria" pitchFamily="34" charset="-122"/>
                <a:cs typeface="Cambria" pitchFamily="34" charset="-120"/>
              </a:rPr>
              <a:t>The three-week journey</a:t>
            </a:r>
            <a:endParaRPr lang="en-US" sz="3600" dirty="0"/>
          </a:p>
        </p:txBody>
      </p:sp>
      <p:sp>
        <p:nvSpPr>
          <p:cNvPr id="3" name="Text 1"/>
          <p:cNvSpPr txBox="1"/>
          <p:nvPr/>
        </p:nvSpPr>
        <p:spPr>
          <a:xfrm>
            <a:off x="640080" y="1133856"/>
            <a:ext cx="10881360" cy="411480"/>
          </a:xfrm>
          <a:prstGeom prst="rect">
            <a:avLst/>
          </a:prstGeom>
          <a:noFill/>
          <a:ln/>
        </p:spPr>
        <p:txBody>
          <a:bodyPr wrap="square" lIns="0" tIns="0" rIns="0" bIns="0" rtlCol="0" anchor="ctr"/>
          <a:lstStyle/>
          <a:p>
            <a:pPr indent="0" marL="0">
              <a:buNone/>
            </a:pPr>
            <a:r>
              <a:rPr lang="en-US" sz="1450" dirty="0">
                <a:solidFill>
                  <a:srgbClr val="8792AB"/>
                </a:solidFill>
                <a:latin typeface="Calibri" pitchFamily="34" charset="0"/>
                <a:ea typeface="Calibri" pitchFamily="34" charset="-122"/>
                <a:cs typeface="Calibri" pitchFamily="34" charset="-120"/>
              </a:rPr>
              <a:t>Three weeks, three gates, one decision.</a:t>
            </a:r>
            <a:endParaRPr lang="en-US" sz="1450" dirty="0"/>
          </a:p>
        </p:txBody>
      </p:sp>
      <p:sp>
        <p:nvSpPr>
          <p:cNvPr id="4" name="Shape 2"/>
          <p:cNvSpPr/>
          <p:nvPr/>
        </p:nvSpPr>
        <p:spPr>
          <a:xfrm>
            <a:off x="640080" y="1828800"/>
            <a:ext cx="3429000" cy="3840480"/>
          </a:xfrm>
          <a:prstGeom prst="roundRect">
            <a:avLst>
              <a:gd name="adj" fmla="val 3200"/>
            </a:avLst>
          </a:prstGeom>
          <a:solidFill>
            <a:srgbClr val="EDF2FA"/>
          </a:solidFill>
          <a:ln/>
        </p:spPr>
      </p:sp>
      <p:sp>
        <p:nvSpPr>
          <p:cNvPr id="5" name="Shape 3"/>
          <p:cNvSpPr/>
          <p:nvPr/>
        </p:nvSpPr>
        <p:spPr>
          <a:xfrm>
            <a:off x="640080" y="1828800"/>
            <a:ext cx="3429000" cy="685800"/>
          </a:xfrm>
          <a:prstGeom prst="rect">
            <a:avLst/>
          </a:prstGeom>
          <a:solidFill>
            <a:srgbClr val="1E2761"/>
          </a:solidFill>
          <a:ln/>
        </p:spPr>
      </p:sp>
      <p:sp>
        <p:nvSpPr>
          <p:cNvPr id="6" name="Text 4"/>
          <p:cNvSpPr txBox="1"/>
          <p:nvPr/>
        </p:nvSpPr>
        <p:spPr>
          <a:xfrm>
            <a:off x="914400" y="1828800"/>
            <a:ext cx="2926080" cy="68580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Week 1  ·  Frame</a:t>
            </a:r>
            <a:endParaRPr lang="en-US" sz="1800" dirty="0"/>
          </a:p>
        </p:txBody>
      </p:sp>
      <p:sp>
        <p:nvSpPr>
          <p:cNvPr id="7" name="Text 5"/>
          <p:cNvSpPr txBox="1"/>
          <p:nvPr/>
        </p:nvSpPr>
        <p:spPr>
          <a:xfrm>
            <a:off x="914400" y="2743200"/>
            <a:ext cx="2880360" cy="1920240"/>
          </a:xfrm>
          <a:prstGeom prst="rect">
            <a:avLst/>
          </a:prstGeom>
          <a:noFill/>
          <a:ln/>
        </p:spPr>
        <p:txBody>
          <a:bodyPr wrap="square" lIns="0" tIns="0" rIns="0" bIns="0" rtlCol="0" anchor="ctr"/>
          <a:lstStyle/>
          <a:p>
            <a:pPr marL="342900" indent="-342900">
              <a:spcAft>
                <a:spcPts val="900"/>
              </a:spcAft>
              <a:buSzPct val="100000"/>
              <a:buChar char="•"/>
            </a:pPr>
            <a:r>
              <a:rPr lang="en-US" sz="1250" dirty="0">
                <a:solidFill>
                  <a:srgbClr val="44506B"/>
                </a:solidFill>
                <a:latin typeface="Calibri" pitchFamily="34" charset="0"/>
                <a:ea typeface="Calibri" pitchFamily="34" charset="-122"/>
                <a:cs typeface="Calibri" pitchFamily="34" charset="-120"/>
              </a:rPr>
              <a:t>Baseline current position and credentials</a:t>
            </a:r>
            <a:endParaRPr lang="en-US" sz="1250" dirty="0"/>
          </a:p>
          <a:p>
            <a:pPr marL="342900" indent="-342900">
              <a:spcAft>
                <a:spcPts val="900"/>
              </a:spcAft>
              <a:buSzPct val="100000"/>
              <a:buChar char="•"/>
            </a:pPr>
            <a:r>
              <a:rPr lang="en-US" sz="1250" dirty="0">
                <a:solidFill>
                  <a:srgbClr val="44506B"/>
                </a:solidFill>
                <a:latin typeface="Calibri" pitchFamily="34" charset="0"/>
                <a:ea typeface="Calibri" pitchFamily="34" charset="-122"/>
                <a:cs typeface="Calibri" pitchFamily="34" charset="-120"/>
              </a:rPr>
              <a:t>Prioritise markets and segments</a:t>
            </a:r>
            <a:endParaRPr lang="en-US" sz="1250" dirty="0"/>
          </a:p>
          <a:p>
            <a:pPr marL="342900" indent="-342900">
              <a:spcAft>
                <a:spcPts val="900"/>
              </a:spcAft>
              <a:buSzPct val="100000"/>
              <a:buChar char="•"/>
            </a:pPr>
            <a:r>
              <a:rPr lang="en-US" sz="1250" dirty="0">
                <a:solidFill>
                  <a:srgbClr val="44506B"/>
                </a:solidFill>
                <a:latin typeface="Calibri" pitchFamily="34" charset="0"/>
                <a:ea typeface="Calibri" pitchFamily="34" charset="-122"/>
                <a:cs typeface="Calibri" pitchFamily="34" charset="-120"/>
              </a:rPr>
              <a:t>Build the account longlist</a:t>
            </a:r>
            <a:endParaRPr lang="en-US" sz="1250" dirty="0"/>
          </a:p>
          <a:p>
            <a:pPr marL="342900" indent="-342900">
              <a:spcAft>
                <a:spcPts val="900"/>
              </a:spcAft>
              <a:buSzPct val="100000"/>
              <a:buChar char="•"/>
            </a:pPr>
            <a:r>
              <a:rPr lang="en-US" sz="1250" dirty="0">
                <a:solidFill>
                  <a:srgbClr val="44506B"/>
                </a:solidFill>
                <a:latin typeface="Calibri" pitchFamily="34" charset="0"/>
                <a:ea typeface="Calibri" pitchFamily="34" charset="-122"/>
                <a:cs typeface="Calibri" pitchFamily="34" charset="-120"/>
              </a:rPr>
              <a:t>Draft the proposition catalogue</a:t>
            </a:r>
            <a:endParaRPr lang="en-US" sz="1250" dirty="0"/>
          </a:p>
          <a:p>
            <a:pPr marL="342900" indent="-342900">
              <a:spcAft>
                <a:spcPts val="900"/>
              </a:spcAft>
              <a:buSzPct val="100000"/>
              <a:buChar char="•"/>
            </a:pPr>
            <a:r>
              <a:rPr lang="en-US" sz="1250" dirty="0">
                <a:solidFill>
                  <a:srgbClr val="44506B"/>
                </a:solidFill>
                <a:latin typeface="Calibri" pitchFamily="34" charset="0"/>
                <a:ea typeface="Calibri" pitchFamily="34" charset="-122"/>
                <a:cs typeface="Calibri" pitchFamily="34" charset="-120"/>
              </a:rPr>
              <a:t>Baseline the team we have today</a:t>
            </a:r>
            <a:endParaRPr lang="en-US" sz="1250" dirty="0"/>
          </a:p>
        </p:txBody>
      </p:sp>
      <p:sp>
        <p:nvSpPr>
          <p:cNvPr id="8" name="Text 6"/>
          <p:cNvSpPr txBox="1"/>
          <p:nvPr/>
        </p:nvSpPr>
        <p:spPr>
          <a:xfrm>
            <a:off x="914400" y="4892040"/>
            <a:ext cx="2880360" cy="594360"/>
          </a:xfrm>
          <a:prstGeom prst="rect">
            <a:avLst/>
          </a:prstGeom>
          <a:noFill/>
          <a:ln/>
        </p:spPr>
        <p:txBody>
          <a:bodyPr wrap="square" lIns="0" tIns="0" rIns="0" bIns="0" rtlCol="0" anchor="ctr"/>
          <a:lstStyle/>
          <a:p>
            <a:pPr indent="0" marL="0">
              <a:buNone/>
            </a:pPr>
            <a:r>
              <a:rPr lang="en-US" sz="1200" b="1" dirty="0">
                <a:solidFill>
                  <a:srgbClr val="B8862B"/>
                </a:solidFill>
                <a:latin typeface="Calibri" pitchFamily="34" charset="0"/>
                <a:ea typeface="Calibri" pitchFamily="34" charset="-122"/>
                <a:cs typeface="Calibri" pitchFamily="34" charset="-120"/>
              </a:rPr>
              <a:t>Gate: agreed market and segment priorities</a:t>
            </a:r>
            <a:endParaRPr lang="en-US" sz="1200" dirty="0"/>
          </a:p>
        </p:txBody>
      </p:sp>
      <p:sp>
        <p:nvSpPr>
          <p:cNvPr id="9" name="Text 7"/>
          <p:cNvSpPr txBox="1"/>
          <p:nvPr/>
        </p:nvSpPr>
        <p:spPr>
          <a:xfrm>
            <a:off x="4096512" y="3474720"/>
            <a:ext cx="256032" cy="457200"/>
          </a:xfrm>
          <a:prstGeom prst="rect">
            <a:avLst/>
          </a:prstGeom>
          <a:noFill/>
          <a:ln/>
        </p:spPr>
        <p:txBody>
          <a:bodyPr wrap="square" lIns="0" tIns="0" rIns="0" bIns="0" rtlCol="0" anchor="ctr"/>
          <a:lstStyle/>
          <a:p>
            <a:pPr algn="ctr" indent="0" marL="0">
              <a:buNone/>
            </a:pPr>
            <a:r>
              <a:rPr lang="en-US" sz="2000" dirty="0">
                <a:solidFill>
                  <a:srgbClr val="8792AB"/>
                </a:solidFill>
                <a:latin typeface="Calibri" pitchFamily="34" charset="0"/>
                <a:ea typeface="Calibri" pitchFamily="34" charset="-122"/>
                <a:cs typeface="Calibri" pitchFamily="34" charset="-120"/>
              </a:rPr>
              <a:t>→</a:t>
            </a:r>
            <a:endParaRPr lang="en-US" sz="2000" dirty="0"/>
          </a:p>
        </p:txBody>
      </p:sp>
      <p:sp>
        <p:nvSpPr>
          <p:cNvPr id="10" name="Shape 8"/>
          <p:cNvSpPr/>
          <p:nvPr/>
        </p:nvSpPr>
        <p:spPr>
          <a:xfrm>
            <a:off x="4361688" y="1828800"/>
            <a:ext cx="3429000" cy="3840480"/>
          </a:xfrm>
          <a:prstGeom prst="roundRect">
            <a:avLst>
              <a:gd name="adj" fmla="val 3200"/>
            </a:avLst>
          </a:prstGeom>
          <a:solidFill>
            <a:srgbClr val="EDF2FA"/>
          </a:solidFill>
          <a:ln/>
        </p:spPr>
      </p:sp>
      <p:sp>
        <p:nvSpPr>
          <p:cNvPr id="11" name="Shape 9"/>
          <p:cNvSpPr/>
          <p:nvPr/>
        </p:nvSpPr>
        <p:spPr>
          <a:xfrm>
            <a:off x="4361688" y="1828800"/>
            <a:ext cx="3429000" cy="685800"/>
          </a:xfrm>
          <a:prstGeom prst="rect">
            <a:avLst/>
          </a:prstGeom>
          <a:solidFill>
            <a:srgbClr val="3E5C8A"/>
          </a:solidFill>
          <a:ln/>
        </p:spPr>
      </p:sp>
      <p:sp>
        <p:nvSpPr>
          <p:cNvPr id="12" name="Text 10"/>
          <p:cNvSpPr txBox="1"/>
          <p:nvPr/>
        </p:nvSpPr>
        <p:spPr>
          <a:xfrm>
            <a:off x="4636008" y="1828800"/>
            <a:ext cx="2926080" cy="68580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Week 2  ·  Define</a:t>
            </a:r>
            <a:endParaRPr lang="en-US" sz="1800" dirty="0"/>
          </a:p>
        </p:txBody>
      </p:sp>
      <p:sp>
        <p:nvSpPr>
          <p:cNvPr id="13" name="Text 11"/>
          <p:cNvSpPr txBox="1"/>
          <p:nvPr/>
        </p:nvSpPr>
        <p:spPr>
          <a:xfrm>
            <a:off x="4636008" y="2743200"/>
            <a:ext cx="2880360" cy="1920240"/>
          </a:xfrm>
          <a:prstGeom prst="rect">
            <a:avLst/>
          </a:prstGeom>
          <a:noFill/>
          <a:ln/>
        </p:spPr>
        <p:txBody>
          <a:bodyPr wrap="square" lIns="0" tIns="0" rIns="0" bIns="0" rtlCol="0" anchor="ctr"/>
          <a:lstStyle/>
          <a:p>
            <a:pPr marL="342900" indent="-342900">
              <a:spcAft>
                <a:spcPts val="900"/>
              </a:spcAft>
              <a:buSzPct val="100000"/>
              <a:buChar char="•"/>
            </a:pPr>
            <a:r>
              <a:rPr lang="en-US" sz="1250" dirty="0">
                <a:solidFill>
                  <a:srgbClr val="44506B"/>
                </a:solidFill>
                <a:latin typeface="Calibri" pitchFamily="34" charset="0"/>
                <a:ea typeface="Calibri" pitchFamily="34" charset="-122"/>
                <a:cs typeface="Calibri" pitchFamily="34" charset="-120"/>
              </a:rPr>
              <a:t>Lock propositions and permitted variants</a:t>
            </a:r>
            <a:endParaRPr lang="en-US" sz="1250" dirty="0"/>
          </a:p>
          <a:p>
            <a:pPr marL="342900" indent="-342900">
              <a:spcAft>
                <a:spcPts val="900"/>
              </a:spcAft>
              <a:buSzPct val="100000"/>
              <a:buChar char="•"/>
            </a:pPr>
            <a:r>
              <a:rPr lang="en-US" sz="1250" dirty="0">
                <a:solidFill>
                  <a:srgbClr val="44506B"/>
                </a:solidFill>
                <a:latin typeface="Calibri" pitchFamily="34" charset="0"/>
                <a:ea typeface="Calibri" pitchFamily="34" charset="-122"/>
                <a:cs typeface="Calibri" pitchFamily="34" charset="-120"/>
              </a:rPr>
              <a:t>Benchmark deal sizes and pricing</a:t>
            </a:r>
            <a:endParaRPr lang="en-US" sz="1250" dirty="0"/>
          </a:p>
          <a:p>
            <a:pPr marL="342900" indent="-342900">
              <a:spcAft>
                <a:spcPts val="900"/>
              </a:spcAft>
              <a:buSzPct val="100000"/>
              <a:buChar char="•"/>
            </a:pPr>
            <a:r>
              <a:rPr lang="en-US" sz="1250" dirty="0">
                <a:solidFill>
                  <a:srgbClr val="44506B"/>
                </a:solidFill>
                <a:latin typeface="Calibri" pitchFamily="34" charset="0"/>
                <a:ea typeface="Calibri" pitchFamily="34" charset="-122"/>
                <a:cs typeface="Calibri" pitchFamily="34" charset="-120"/>
              </a:rPr>
              <a:t>Set delivery construct, ADR and margin</a:t>
            </a:r>
            <a:endParaRPr lang="en-US" sz="1250" dirty="0"/>
          </a:p>
          <a:p>
            <a:pPr marL="342900" indent="-342900">
              <a:spcAft>
                <a:spcPts val="900"/>
              </a:spcAft>
              <a:buSzPct val="100000"/>
              <a:buChar char="•"/>
            </a:pPr>
            <a:r>
              <a:rPr lang="en-US" sz="1250" dirty="0">
                <a:solidFill>
                  <a:srgbClr val="44506B"/>
                </a:solidFill>
                <a:latin typeface="Calibri" pitchFamily="34" charset="0"/>
                <a:ea typeface="Calibri" pitchFamily="34" charset="-122"/>
                <a:cs typeface="Calibri" pitchFamily="34" charset="-120"/>
              </a:rPr>
              <a:t>Shortlist target accounts</a:t>
            </a:r>
            <a:endParaRPr lang="en-US" sz="1250" dirty="0"/>
          </a:p>
          <a:p>
            <a:pPr marL="342900" indent="-342900">
              <a:spcAft>
                <a:spcPts val="900"/>
              </a:spcAft>
              <a:buSzPct val="100000"/>
              <a:buChar char="•"/>
            </a:pPr>
            <a:r>
              <a:rPr lang="en-US" sz="1250" dirty="0">
                <a:solidFill>
                  <a:srgbClr val="44506B"/>
                </a:solidFill>
                <a:latin typeface="Calibri" pitchFamily="34" charset="0"/>
                <a:ea typeface="Calibri" pitchFamily="34" charset="-122"/>
                <a:cs typeface="Calibri" pitchFamily="34" charset="-120"/>
              </a:rPr>
              <a:t>Map alliances to offerings</a:t>
            </a:r>
            <a:endParaRPr lang="en-US" sz="1250" dirty="0"/>
          </a:p>
          <a:p>
            <a:pPr marL="342900" indent="-342900">
              <a:spcAft>
                <a:spcPts val="900"/>
              </a:spcAft>
              <a:buSzPct val="100000"/>
              <a:buChar char="•"/>
            </a:pPr>
            <a:r>
              <a:rPr lang="en-US" sz="1250" dirty="0">
                <a:solidFill>
                  <a:srgbClr val="44506B"/>
                </a:solidFill>
                <a:latin typeface="Calibri" pitchFamily="34" charset="0"/>
                <a:ea typeface="Calibri" pitchFamily="34" charset="-122"/>
                <a:cs typeface="Calibri" pitchFamily="34" charset="-120"/>
              </a:rPr>
              <a:t>Size the capacity each target implies</a:t>
            </a:r>
            <a:endParaRPr lang="en-US" sz="1250" dirty="0"/>
          </a:p>
        </p:txBody>
      </p:sp>
      <p:sp>
        <p:nvSpPr>
          <p:cNvPr id="14" name="Text 12"/>
          <p:cNvSpPr txBox="1"/>
          <p:nvPr/>
        </p:nvSpPr>
        <p:spPr>
          <a:xfrm>
            <a:off x="4636008" y="4892040"/>
            <a:ext cx="2880360" cy="594360"/>
          </a:xfrm>
          <a:prstGeom prst="rect">
            <a:avLst/>
          </a:prstGeom>
          <a:noFill/>
          <a:ln/>
        </p:spPr>
        <p:txBody>
          <a:bodyPr wrap="square" lIns="0" tIns="0" rIns="0" bIns="0" rtlCol="0" anchor="ctr"/>
          <a:lstStyle/>
          <a:p>
            <a:pPr indent="0" marL="0">
              <a:buNone/>
            </a:pPr>
            <a:r>
              <a:rPr lang="en-US" sz="1200" b="1" dirty="0">
                <a:solidFill>
                  <a:srgbClr val="B8862B"/>
                </a:solidFill>
                <a:latin typeface="Calibri" pitchFamily="34" charset="0"/>
                <a:ea typeface="Calibri" pitchFamily="34" charset="-122"/>
                <a:cs typeface="Calibri" pitchFamily="34" charset="-120"/>
              </a:rPr>
              <a:t>Gate: agreed catalogue and shortlist</a:t>
            </a:r>
            <a:endParaRPr lang="en-US" sz="1200" dirty="0"/>
          </a:p>
        </p:txBody>
      </p:sp>
      <p:sp>
        <p:nvSpPr>
          <p:cNvPr id="15" name="Text 13"/>
          <p:cNvSpPr txBox="1"/>
          <p:nvPr/>
        </p:nvSpPr>
        <p:spPr>
          <a:xfrm>
            <a:off x="7818120" y="3474720"/>
            <a:ext cx="256032" cy="457200"/>
          </a:xfrm>
          <a:prstGeom prst="rect">
            <a:avLst/>
          </a:prstGeom>
          <a:noFill/>
          <a:ln/>
        </p:spPr>
        <p:txBody>
          <a:bodyPr wrap="square" lIns="0" tIns="0" rIns="0" bIns="0" rtlCol="0" anchor="ctr"/>
          <a:lstStyle/>
          <a:p>
            <a:pPr algn="ctr" indent="0" marL="0">
              <a:buNone/>
            </a:pPr>
            <a:r>
              <a:rPr lang="en-US" sz="2000" dirty="0">
                <a:solidFill>
                  <a:srgbClr val="8792AB"/>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8083296" y="1828800"/>
            <a:ext cx="3429000" cy="3840480"/>
          </a:xfrm>
          <a:prstGeom prst="roundRect">
            <a:avLst>
              <a:gd name="adj" fmla="val 3200"/>
            </a:avLst>
          </a:prstGeom>
          <a:solidFill>
            <a:srgbClr val="EDF2FA"/>
          </a:solidFill>
          <a:ln/>
        </p:spPr>
      </p:sp>
      <p:sp>
        <p:nvSpPr>
          <p:cNvPr id="17" name="Shape 15"/>
          <p:cNvSpPr/>
          <p:nvPr/>
        </p:nvSpPr>
        <p:spPr>
          <a:xfrm>
            <a:off x="8083296" y="1828800"/>
            <a:ext cx="3429000" cy="685800"/>
          </a:xfrm>
          <a:prstGeom prst="rect">
            <a:avLst/>
          </a:prstGeom>
          <a:solidFill>
            <a:srgbClr val="1E2761"/>
          </a:solidFill>
          <a:ln/>
        </p:spPr>
      </p:sp>
      <p:sp>
        <p:nvSpPr>
          <p:cNvPr id="18" name="Text 16"/>
          <p:cNvSpPr txBox="1"/>
          <p:nvPr/>
        </p:nvSpPr>
        <p:spPr>
          <a:xfrm>
            <a:off x="8357616" y="1828800"/>
            <a:ext cx="2926080" cy="68580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Week 3  ·  Commit</a:t>
            </a:r>
            <a:endParaRPr lang="en-US" sz="1800" dirty="0"/>
          </a:p>
        </p:txBody>
      </p:sp>
      <p:sp>
        <p:nvSpPr>
          <p:cNvPr id="19" name="Text 17"/>
          <p:cNvSpPr txBox="1"/>
          <p:nvPr/>
        </p:nvSpPr>
        <p:spPr>
          <a:xfrm>
            <a:off x="8357616" y="2743200"/>
            <a:ext cx="2880360" cy="1920240"/>
          </a:xfrm>
          <a:prstGeom prst="rect">
            <a:avLst/>
          </a:prstGeom>
          <a:noFill/>
          <a:ln/>
        </p:spPr>
        <p:txBody>
          <a:bodyPr wrap="square" lIns="0" tIns="0" rIns="0" bIns="0" rtlCol="0" anchor="ctr"/>
          <a:lstStyle/>
          <a:p>
            <a:pPr marL="342900" indent="-342900">
              <a:spcAft>
                <a:spcPts val="900"/>
              </a:spcAft>
              <a:buSzPct val="100000"/>
              <a:buChar char="•"/>
            </a:pPr>
            <a:r>
              <a:rPr lang="en-US" sz="1250" dirty="0">
                <a:solidFill>
                  <a:srgbClr val="44506B"/>
                </a:solidFill>
                <a:latin typeface="Calibri" pitchFamily="34" charset="0"/>
                <a:ea typeface="Calibri" pitchFamily="34" charset="-122"/>
                <a:cs typeface="Calibri" pitchFamily="34" charset="-120"/>
              </a:rPr>
              <a:t>Set revenue targets by market and offering</a:t>
            </a:r>
            <a:endParaRPr lang="en-US" sz="1250" dirty="0"/>
          </a:p>
          <a:p>
            <a:pPr marL="342900" indent="-342900">
              <a:spcAft>
                <a:spcPts val="900"/>
              </a:spcAft>
              <a:buSzPct val="100000"/>
              <a:buChar char="•"/>
            </a:pPr>
            <a:r>
              <a:rPr lang="en-US" sz="1250" dirty="0">
                <a:solidFill>
                  <a:srgbClr val="44506B"/>
                </a:solidFill>
                <a:latin typeface="Calibri" pitchFamily="34" charset="0"/>
                <a:ea typeface="Calibri" pitchFamily="34" charset="-122"/>
                <a:cs typeface="Calibri" pitchFamily="34" charset="-120"/>
              </a:rPr>
              <a:t>Assign an owner to every account</a:t>
            </a:r>
            <a:endParaRPr lang="en-US" sz="1250" dirty="0"/>
          </a:p>
          <a:p>
            <a:pPr marL="342900" indent="-342900">
              <a:spcAft>
                <a:spcPts val="900"/>
              </a:spcAft>
              <a:buSzPct val="100000"/>
              <a:buChar char="•"/>
            </a:pPr>
            <a:r>
              <a:rPr lang="en-US" sz="1250" dirty="0">
                <a:solidFill>
                  <a:srgbClr val="44506B"/>
                </a:solidFill>
                <a:latin typeface="Calibri" pitchFamily="34" charset="0"/>
                <a:ea typeface="Calibri" pitchFamily="34" charset="-122"/>
                <a:cs typeface="Calibri" pitchFamily="34" charset="-120"/>
              </a:rPr>
              <a:t>Agree the team model and recruitment plan</a:t>
            </a:r>
            <a:endParaRPr lang="en-US" sz="1250" dirty="0"/>
          </a:p>
          <a:p>
            <a:pPr marL="342900" indent="-342900">
              <a:spcAft>
                <a:spcPts val="900"/>
              </a:spcAft>
              <a:buSzPct val="100000"/>
              <a:buChar char="•"/>
            </a:pPr>
            <a:r>
              <a:rPr lang="en-US" sz="1250" dirty="0">
                <a:solidFill>
                  <a:srgbClr val="44506B"/>
                </a:solidFill>
                <a:latin typeface="Calibri" pitchFamily="34" charset="0"/>
                <a:ea typeface="Calibri" pitchFamily="34" charset="-122"/>
                <a:cs typeface="Calibri" pitchFamily="34" charset="-120"/>
              </a:rPr>
              <a:t>Set the eminence calendar</a:t>
            </a:r>
            <a:endParaRPr lang="en-US" sz="1250" dirty="0"/>
          </a:p>
          <a:p>
            <a:pPr marL="342900" indent="-342900">
              <a:spcAft>
                <a:spcPts val="900"/>
              </a:spcAft>
              <a:buSzPct val="100000"/>
              <a:buChar char="•"/>
            </a:pPr>
            <a:r>
              <a:rPr lang="en-US" sz="1250" dirty="0">
                <a:solidFill>
                  <a:srgbClr val="44506B"/>
                </a:solidFill>
                <a:latin typeface="Calibri" pitchFamily="34" charset="0"/>
                <a:ea typeface="Calibri" pitchFamily="34" charset="-122"/>
                <a:cs typeface="Calibri" pitchFamily="34" charset="-120"/>
              </a:rPr>
              <a:t>Build the activation plan and sign off</a:t>
            </a:r>
            <a:endParaRPr lang="en-US" sz="1250" dirty="0"/>
          </a:p>
        </p:txBody>
      </p:sp>
      <p:sp>
        <p:nvSpPr>
          <p:cNvPr id="20" name="Text 18"/>
          <p:cNvSpPr txBox="1"/>
          <p:nvPr/>
        </p:nvSpPr>
        <p:spPr>
          <a:xfrm>
            <a:off x="8357616" y="4892040"/>
            <a:ext cx="2880360" cy="594360"/>
          </a:xfrm>
          <a:prstGeom prst="rect">
            <a:avLst/>
          </a:prstGeom>
          <a:noFill/>
          <a:ln/>
        </p:spPr>
        <p:txBody>
          <a:bodyPr wrap="square" lIns="0" tIns="0" rIns="0" bIns="0" rtlCol="0" anchor="ctr"/>
          <a:lstStyle/>
          <a:p>
            <a:pPr indent="0" marL="0">
              <a:buNone/>
            </a:pPr>
            <a:r>
              <a:rPr lang="en-US" sz="1200" b="1" dirty="0">
                <a:solidFill>
                  <a:srgbClr val="B8862B"/>
                </a:solidFill>
                <a:latin typeface="Calibri" pitchFamily="34" charset="0"/>
                <a:ea typeface="Calibri" pitchFamily="34" charset="-122"/>
                <a:cs typeface="Calibri" pitchFamily="34" charset="-120"/>
              </a:rPr>
              <a:t>Gate: strategy signed off</a:t>
            </a:r>
            <a:endParaRPr lang="en-US" sz="1200" dirty="0"/>
          </a:p>
        </p:txBody>
      </p:sp>
      <p:sp>
        <p:nvSpPr>
          <p:cNvPr id="21" name="Text 19"/>
          <p:cNvSpPr txBox="1"/>
          <p:nvPr/>
        </p:nvSpPr>
        <p:spPr>
          <a:xfrm>
            <a:off x="640080" y="5852160"/>
            <a:ext cx="5486400" cy="320040"/>
          </a:xfrm>
          <a:prstGeom prst="rect">
            <a:avLst/>
          </a:prstGeom>
          <a:noFill/>
          <a:ln/>
        </p:spPr>
        <p:txBody>
          <a:bodyPr wrap="square" lIns="0" tIns="0" rIns="0" bIns="0" rtlCol="0" anchor="ctr"/>
          <a:lstStyle/>
          <a:p>
            <a:pPr indent="0" marL="0">
              <a:buNone/>
            </a:pPr>
            <a:r>
              <a:rPr lang="en-US" sz="1200" i="1" dirty="0">
                <a:solidFill>
                  <a:srgbClr val="8792AB"/>
                </a:solidFill>
                <a:latin typeface="Calibri" pitchFamily="34" charset="0"/>
                <a:ea typeface="Calibri" pitchFamily="34" charset="-122"/>
                <a:cs typeface="Calibri" pitchFamily="34" charset="-120"/>
              </a:rPr>
              <a:t>Start date to be defined at kick-off.</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685800"/>
          </a:xfrm>
          <a:prstGeom prst="rect">
            <a:avLst/>
          </a:prstGeom>
          <a:noFill/>
          <a:ln/>
        </p:spPr>
        <p:txBody>
          <a:bodyPr wrap="square" lIns="0" tIns="0" rIns="0" bIns="0" rtlCol="0" anchor="ctr"/>
          <a:lstStyle/>
          <a:p>
            <a:pPr indent="0" marL="0">
              <a:buNone/>
            </a:pPr>
            <a:r>
              <a:rPr lang="en-US" sz="3600" b="1" dirty="0">
                <a:solidFill>
                  <a:srgbClr val="16203A"/>
                </a:solidFill>
                <a:latin typeface="Cambria" pitchFamily="34" charset="0"/>
                <a:ea typeface="Cambria" pitchFamily="34" charset="-122"/>
                <a:cs typeface="Cambria" pitchFamily="34" charset="-120"/>
              </a:rPr>
              <a:t>Governing the execution</a:t>
            </a:r>
            <a:endParaRPr lang="en-US" sz="3600" dirty="0"/>
          </a:p>
        </p:txBody>
      </p:sp>
      <p:sp>
        <p:nvSpPr>
          <p:cNvPr id="3" name="Text 1"/>
          <p:cNvSpPr txBox="1"/>
          <p:nvPr/>
        </p:nvSpPr>
        <p:spPr>
          <a:xfrm>
            <a:off x="640080" y="1133856"/>
            <a:ext cx="10881360" cy="411480"/>
          </a:xfrm>
          <a:prstGeom prst="rect">
            <a:avLst/>
          </a:prstGeom>
          <a:noFill/>
          <a:ln/>
        </p:spPr>
        <p:txBody>
          <a:bodyPr wrap="square" lIns="0" tIns="0" rIns="0" bIns="0" rtlCol="0" anchor="ctr"/>
          <a:lstStyle/>
          <a:p>
            <a:pPr indent="0" marL="0">
              <a:buNone/>
            </a:pPr>
            <a:r>
              <a:rPr lang="en-US" sz="1450" dirty="0">
                <a:solidFill>
                  <a:srgbClr val="8792AB"/>
                </a:solidFill>
                <a:latin typeface="Calibri" pitchFamily="34" charset="0"/>
                <a:ea typeface="Calibri" pitchFamily="34" charset="-122"/>
                <a:cs typeface="Calibri" pitchFamily="34" charset="-120"/>
              </a:rPr>
              <a:t>What happens after sign-off, so the strategy does not drift.</a:t>
            </a:r>
            <a:endParaRPr lang="en-US" sz="1450" dirty="0"/>
          </a:p>
        </p:txBody>
      </p:sp>
      <p:sp>
        <p:nvSpPr>
          <p:cNvPr id="4" name="Shape 2"/>
          <p:cNvSpPr/>
          <p:nvPr/>
        </p:nvSpPr>
        <p:spPr>
          <a:xfrm>
            <a:off x="640080" y="1828800"/>
            <a:ext cx="3429000" cy="2286000"/>
          </a:xfrm>
          <a:prstGeom prst="roundRect">
            <a:avLst>
              <a:gd name="adj" fmla="val 4800"/>
            </a:avLst>
          </a:prstGeom>
          <a:solidFill>
            <a:srgbClr val="EDF2FA"/>
          </a:solidFill>
          <a:ln/>
        </p:spPr>
      </p:sp>
      <p:sp>
        <p:nvSpPr>
          <p:cNvPr id="5" name="Shape 3"/>
          <p:cNvSpPr/>
          <p:nvPr/>
        </p:nvSpPr>
        <p:spPr>
          <a:xfrm>
            <a:off x="640080" y="1828800"/>
            <a:ext cx="3429000" cy="621792"/>
          </a:xfrm>
          <a:prstGeom prst="rect">
            <a:avLst/>
          </a:prstGeom>
          <a:solidFill>
            <a:srgbClr val="1E2761"/>
          </a:solidFill>
          <a:ln/>
        </p:spPr>
      </p:sp>
      <p:sp>
        <p:nvSpPr>
          <p:cNvPr id="6" name="Text 4"/>
          <p:cNvSpPr txBox="1"/>
          <p:nvPr/>
        </p:nvSpPr>
        <p:spPr>
          <a:xfrm>
            <a:off x="914400" y="1828800"/>
            <a:ext cx="2880360" cy="621792"/>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Weekly</a:t>
            </a:r>
            <a:endParaRPr lang="en-US" sz="1700" dirty="0"/>
          </a:p>
        </p:txBody>
      </p:sp>
      <p:sp>
        <p:nvSpPr>
          <p:cNvPr id="7" name="Text 5"/>
          <p:cNvSpPr txBox="1"/>
          <p:nvPr/>
        </p:nvSpPr>
        <p:spPr>
          <a:xfrm>
            <a:off x="914400" y="2651760"/>
            <a:ext cx="2880360" cy="1371600"/>
          </a:xfrm>
          <a:prstGeom prst="rect">
            <a:avLst/>
          </a:prstGeom>
          <a:noFill/>
          <a:ln/>
        </p:spPr>
        <p:txBody>
          <a:bodyPr wrap="square" lIns="0" tIns="0" rIns="0" bIns="0" rtlCol="0" anchor="ctr"/>
          <a:lstStyle/>
          <a:p>
            <a:pPr marL="342900" indent="-342900">
              <a:spcAft>
                <a:spcPts val="900"/>
              </a:spcAft>
              <a:buSzPct val="100000"/>
              <a:buChar char="•"/>
            </a:pPr>
            <a:r>
              <a:rPr lang="en-US" sz="1250" dirty="0">
                <a:solidFill>
                  <a:srgbClr val="44506B"/>
                </a:solidFill>
                <a:latin typeface="Calibri" pitchFamily="34" charset="0"/>
                <a:ea typeface="Calibri" pitchFamily="34" charset="-122"/>
                <a:cs typeface="Calibri" pitchFamily="34" charset="-120"/>
              </a:rPr>
              <a:t>Pursuit review: live deals, blockers, next actions</a:t>
            </a:r>
            <a:endParaRPr lang="en-US" sz="1250" dirty="0"/>
          </a:p>
          <a:p>
            <a:pPr marL="342900" indent="-342900">
              <a:spcAft>
                <a:spcPts val="900"/>
              </a:spcAft>
              <a:buSzPct val="100000"/>
              <a:buChar char="•"/>
            </a:pPr>
            <a:r>
              <a:rPr lang="en-US" sz="1250" dirty="0">
                <a:solidFill>
                  <a:srgbClr val="44506B"/>
                </a:solidFill>
                <a:latin typeface="Calibri" pitchFamily="34" charset="0"/>
                <a:ea typeface="Calibri" pitchFamily="34" charset="-122"/>
                <a:cs typeface="Calibri" pitchFamily="34" charset="-120"/>
              </a:rPr>
              <a:t>Owned by the account owners</a:t>
            </a:r>
            <a:endParaRPr lang="en-US" sz="1250" dirty="0"/>
          </a:p>
        </p:txBody>
      </p:sp>
      <p:sp>
        <p:nvSpPr>
          <p:cNvPr id="8" name="Shape 6"/>
          <p:cNvSpPr/>
          <p:nvPr/>
        </p:nvSpPr>
        <p:spPr>
          <a:xfrm>
            <a:off x="4361688" y="1828800"/>
            <a:ext cx="3429000" cy="2286000"/>
          </a:xfrm>
          <a:prstGeom prst="roundRect">
            <a:avLst>
              <a:gd name="adj" fmla="val 4800"/>
            </a:avLst>
          </a:prstGeom>
          <a:solidFill>
            <a:srgbClr val="EDF2FA"/>
          </a:solidFill>
          <a:ln/>
        </p:spPr>
      </p:sp>
      <p:sp>
        <p:nvSpPr>
          <p:cNvPr id="9" name="Shape 7"/>
          <p:cNvSpPr/>
          <p:nvPr/>
        </p:nvSpPr>
        <p:spPr>
          <a:xfrm>
            <a:off x="4361688" y="1828800"/>
            <a:ext cx="3429000" cy="621792"/>
          </a:xfrm>
          <a:prstGeom prst="rect">
            <a:avLst/>
          </a:prstGeom>
          <a:solidFill>
            <a:srgbClr val="3E5C8A"/>
          </a:solidFill>
          <a:ln/>
        </p:spPr>
      </p:sp>
      <p:sp>
        <p:nvSpPr>
          <p:cNvPr id="10" name="Text 8"/>
          <p:cNvSpPr txBox="1"/>
          <p:nvPr/>
        </p:nvSpPr>
        <p:spPr>
          <a:xfrm>
            <a:off x="4636008" y="1828800"/>
            <a:ext cx="2880360" cy="621792"/>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Monthly</a:t>
            </a:r>
            <a:endParaRPr lang="en-US" sz="1700" dirty="0"/>
          </a:p>
        </p:txBody>
      </p:sp>
      <p:sp>
        <p:nvSpPr>
          <p:cNvPr id="11" name="Text 9"/>
          <p:cNvSpPr txBox="1"/>
          <p:nvPr/>
        </p:nvSpPr>
        <p:spPr>
          <a:xfrm>
            <a:off x="4636008" y="2651760"/>
            <a:ext cx="2880360" cy="1371600"/>
          </a:xfrm>
          <a:prstGeom prst="rect">
            <a:avLst/>
          </a:prstGeom>
          <a:noFill/>
          <a:ln/>
        </p:spPr>
        <p:txBody>
          <a:bodyPr wrap="square" lIns="0" tIns="0" rIns="0" bIns="0" rtlCol="0" anchor="ctr"/>
          <a:lstStyle/>
          <a:p>
            <a:pPr marL="342900" indent="-342900">
              <a:spcAft>
                <a:spcPts val="900"/>
              </a:spcAft>
              <a:buSzPct val="100000"/>
              <a:buChar char="•"/>
            </a:pPr>
            <a:r>
              <a:rPr lang="en-US" sz="1250" dirty="0">
                <a:solidFill>
                  <a:srgbClr val="44506B"/>
                </a:solidFill>
                <a:latin typeface="Calibri" pitchFamily="34" charset="0"/>
                <a:ea typeface="Calibri" pitchFamily="34" charset="-122"/>
                <a:cs typeface="Calibri" pitchFamily="34" charset="-120"/>
              </a:rPr>
              <a:t>Pipeline and coverage against target by market and offering</a:t>
            </a:r>
            <a:endParaRPr lang="en-US" sz="1250" dirty="0"/>
          </a:p>
          <a:p>
            <a:pPr marL="342900" indent="-342900">
              <a:spcAft>
                <a:spcPts val="900"/>
              </a:spcAft>
              <a:buSzPct val="100000"/>
              <a:buChar char="•"/>
            </a:pPr>
            <a:r>
              <a:rPr lang="en-US" sz="1250" dirty="0">
                <a:solidFill>
                  <a:srgbClr val="44506B"/>
                </a:solidFill>
                <a:latin typeface="Calibri" pitchFamily="34" charset="0"/>
                <a:ea typeface="Calibri" pitchFamily="34" charset="-122"/>
                <a:cs typeface="Calibri" pitchFamily="34" charset="-120"/>
              </a:rPr>
              <a:t>Talent and alliance actions tracked to date</a:t>
            </a:r>
            <a:endParaRPr lang="en-US" sz="1250" dirty="0"/>
          </a:p>
        </p:txBody>
      </p:sp>
      <p:sp>
        <p:nvSpPr>
          <p:cNvPr id="12" name="Shape 10"/>
          <p:cNvSpPr/>
          <p:nvPr/>
        </p:nvSpPr>
        <p:spPr>
          <a:xfrm>
            <a:off x="8083296" y="1828800"/>
            <a:ext cx="3429000" cy="2286000"/>
          </a:xfrm>
          <a:prstGeom prst="roundRect">
            <a:avLst>
              <a:gd name="adj" fmla="val 4800"/>
            </a:avLst>
          </a:prstGeom>
          <a:solidFill>
            <a:srgbClr val="EDF2FA"/>
          </a:solidFill>
          <a:ln/>
        </p:spPr>
      </p:sp>
      <p:sp>
        <p:nvSpPr>
          <p:cNvPr id="13" name="Shape 11"/>
          <p:cNvSpPr/>
          <p:nvPr/>
        </p:nvSpPr>
        <p:spPr>
          <a:xfrm>
            <a:off x="8083296" y="1828800"/>
            <a:ext cx="3429000" cy="621792"/>
          </a:xfrm>
          <a:prstGeom prst="rect">
            <a:avLst/>
          </a:prstGeom>
          <a:solidFill>
            <a:srgbClr val="1E2761"/>
          </a:solidFill>
          <a:ln/>
        </p:spPr>
      </p:sp>
      <p:sp>
        <p:nvSpPr>
          <p:cNvPr id="14" name="Text 12"/>
          <p:cNvSpPr txBox="1"/>
          <p:nvPr/>
        </p:nvSpPr>
        <p:spPr>
          <a:xfrm>
            <a:off x="8357616" y="1828800"/>
            <a:ext cx="2880360" cy="621792"/>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Quarterly</a:t>
            </a:r>
            <a:endParaRPr lang="en-US" sz="1700" dirty="0"/>
          </a:p>
        </p:txBody>
      </p:sp>
      <p:sp>
        <p:nvSpPr>
          <p:cNvPr id="15" name="Text 13"/>
          <p:cNvSpPr txBox="1"/>
          <p:nvPr/>
        </p:nvSpPr>
        <p:spPr>
          <a:xfrm>
            <a:off x="8357616" y="2651760"/>
            <a:ext cx="2880360" cy="1371600"/>
          </a:xfrm>
          <a:prstGeom prst="rect">
            <a:avLst/>
          </a:prstGeom>
          <a:noFill/>
          <a:ln/>
        </p:spPr>
        <p:txBody>
          <a:bodyPr wrap="square" lIns="0" tIns="0" rIns="0" bIns="0" rtlCol="0" anchor="ctr"/>
          <a:lstStyle/>
          <a:p>
            <a:pPr marL="342900" indent="-342900">
              <a:spcAft>
                <a:spcPts val="900"/>
              </a:spcAft>
              <a:buSzPct val="100000"/>
              <a:buChar char="•"/>
            </a:pPr>
            <a:r>
              <a:rPr lang="en-US" sz="1250" dirty="0">
                <a:solidFill>
                  <a:srgbClr val="44506B"/>
                </a:solidFill>
                <a:latin typeface="Calibri" pitchFamily="34" charset="0"/>
                <a:ea typeface="Calibri" pitchFamily="34" charset="-122"/>
                <a:cs typeface="Calibri" pitchFamily="34" charset="-120"/>
              </a:rPr>
              <a:t>Strategy review: are the choices still right?</a:t>
            </a:r>
            <a:endParaRPr lang="en-US" sz="1250" dirty="0"/>
          </a:p>
          <a:p>
            <a:pPr marL="342900" indent="-342900">
              <a:spcAft>
                <a:spcPts val="900"/>
              </a:spcAft>
              <a:buSzPct val="100000"/>
              <a:buChar char="•"/>
            </a:pPr>
            <a:r>
              <a:rPr lang="en-US" sz="1250" dirty="0">
                <a:solidFill>
                  <a:srgbClr val="44506B"/>
                </a:solidFill>
                <a:latin typeface="Calibri" pitchFamily="34" charset="0"/>
                <a:ea typeface="Calibri" pitchFamily="34" charset="-122"/>
                <a:cs typeface="Calibri" pitchFamily="34" charset="-120"/>
              </a:rPr>
              <a:t>Reset targets, accounts and eminence calendar</a:t>
            </a:r>
            <a:endParaRPr lang="en-US" sz="1250" dirty="0"/>
          </a:p>
        </p:txBody>
      </p:sp>
      <p:sp>
        <p:nvSpPr>
          <p:cNvPr id="16" name="Text 14"/>
          <p:cNvSpPr txBox="1"/>
          <p:nvPr/>
        </p:nvSpPr>
        <p:spPr>
          <a:xfrm>
            <a:off x="640080" y="4343400"/>
            <a:ext cx="10881360" cy="320040"/>
          </a:xfrm>
          <a:prstGeom prst="rect">
            <a:avLst/>
          </a:prstGeom>
          <a:noFill/>
          <a:ln/>
        </p:spPr>
        <p:txBody>
          <a:bodyPr wrap="square" lIns="0" tIns="0" rIns="0" bIns="0" rtlCol="0" anchor="ctr"/>
          <a:lstStyle/>
          <a:p>
            <a:pPr indent="0" marL="0">
              <a:buNone/>
            </a:pPr>
            <a:r>
              <a:rPr lang="en-US" sz="1500" b="1" dirty="0">
                <a:solidFill>
                  <a:srgbClr val="16203A"/>
                </a:solidFill>
                <a:latin typeface="Calibri" pitchFamily="34" charset="0"/>
                <a:ea typeface="Calibri" pitchFamily="34" charset="-122"/>
                <a:cs typeface="Calibri" pitchFamily="34" charset="-120"/>
              </a:rPr>
              <a:t>The scorecard behind the rhythm</a:t>
            </a:r>
            <a:endParaRPr lang="en-US" sz="1500" dirty="0"/>
          </a:p>
        </p:txBody>
      </p:sp>
      <p:sp>
        <p:nvSpPr>
          <p:cNvPr id="17" name="Shape 15"/>
          <p:cNvSpPr/>
          <p:nvPr/>
        </p:nvSpPr>
        <p:spPr>
          <a:xfrm>
            <a:off x="640080" y="4754880"/>
            <a:ext cx="3429000" cy="548640"/>
          </a:xfrm>
          <a:prstGeom prst="roundRect">
            <a:avLst>
              <a:gd name="adj" fmla="val 13333"/>
            </a:avLst>
          </a:prstGeom>
          <a:solidFill>
            <a:srgbClr val="F2F6FC"/>
          </a:solidFill>
          <a:ln/>
        </p:spPr>
      </p:sp>
      <p:sp>
        <p:nvSpPr>
          <p:cNvPr id="18" name="Text 16"/>
          <p:cNvSpPr txBox="1"/>
          <p:nvPr/>
        </p:nvSpPr>
        <p:spPr>
          <a:xfrm>
            <a:off x="804672" y="4754880"/>
            <a:ext cx="1234440" cy="548640"/>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Commercial</a:t>
            </a:r>
            <a:endParaRPr lang="en-US" sz="1150" dirty="0"/>
          </a:p>
        </p:txBody>
      </p:sp>
      <p:sp>
        <p:nvSpPr>
          <p:cNvPr id="19" name="Text 17"/>
          <p:cNvSpPr txBox="1"/>
          <p:nvPr/>
        </p:nvSpPr>
        <p:spPr>
          <a:xfrm>
            <a:off x="2057400" y="4754880"/>
            <a:ext cx="1874520" cy="548640"/>
          </a:xfrm>
          <a:prstGeom prst="rect">
            <a:avLst/>
          </a:prstGeom>
          <a:noFill/>
          <a:ln/>
        </p:spPr>
        <p:txBody>
          <a:bodyPr wrap="square" lIns="0" tIns="0" rIns="0" bIns="0" rtlCol="0" anchor="ctr"/>
          <a:lstStyle/>
          <a:p>
            <a:pPr indent="0" marL="0">
              <a:buNone/>
            </a:pPr>
            <a:r>
              <a:rPr lang="en-US" sz="1050" dirty="0">
                <a:solidFill>
                  <a:srgbClr val="44506B"/>
                </a:solidFill>
                <a:latin typeface="Calibri" pitchFamily="34" charset="0"/>
                <a:ea typeface="Calibri" pitchFamily="34" charset="-122"/>
                <a:cs typeface="Calibri" pitchFamily="34" charset="-120"/>
              </a:rPr>
              <a:t>Pipeline, wins, revenue against target</a:t>
            </a:r>
            <a:endParaRPr lang="en-US" sz="1050" dirty="0"/>
          </a:p>
        </p:txBody>
      </p:sp>
      <p:sp>
        <p:nvSpPr>
          <p:cNvPr id="20" name="Shape 18"/>
          <p:cNvSpPr/>
          <p:nvPr/>
        </p:nvSpPr>
        <p:spPr>
          <a:xfrm>
            <a:off x="4361688" y="4754880"/>
            <a:ext cx="3429000" cy="548640"/>
          </a:xfrm>
          <a:prstGeom prst="roundRect">
            <a:avLst>
              <a:gd name="adj" fmla="val 13333"/>
            </a:avLst>
          </a:prstGeom>
          <a:solidFill>
            <a:srgbClr val="F2F6FC"/>
          </a:solidFill>
          <a:ln/>
        </p:spPr>
      </p:sp>
      <p:sp>
        <p:nvSpPr>
          <p:cNvPr id="21" name="Text 19"/>
          <p:cNvSpPr txBox="1"/>
          <p:nvPr/>
        </p:nvSpPr>
        <p:spPr>
          <a:xfrm>
            <a:off x="4526280" y="4754880"/>
            <a:ext cx="1234440" cy="548640"/>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Mix</a:t>
            </a:r>
            <a:endParaRPr lang="en-US" sz="1150" dirty="0"/>
          </a:p>
        </p:txBody>
      </p:sp>
      <p:sp>
        <p:nvSpPr>
          <p:cNvPr id="22" name="Text 20"/>
          <p:cNvSpPr txBox="1"/>
          <p:nvPr/>
        </p:nvSpPr>
        <p:spPr>
          <a:xfrm>
            <a:off x="5779008" y="4754880"/>
            <a:ext cx="1874520" cy="548640"/>
          </a:xfrm>
          <a:prstGeom prst="rect">
            <a:avLst/>
          </a:prstGeom>
          <a:noFill/>
          <a:ln/>
        </p:spPr>
        <p:txBody>
          <a:bodyPr wrap="square" lIns="0" tIns="0" rIns="0" bIns="0" rtlCol="0" anchor="ctr"/>
          <a:lstStyle/>
          <a:p>
            <a:pPr indent="0" marL="0">
              <a:buNone/>
            </a:pPr>
            <a:r>
              <a:rPr lang="en-US" sz="1050" dirty="0">
                <a:solidFill>
                  <a:srgbClr val="44506B"/>
                </a:solidFill>
                <a:latin typeface="Calibri" pitchFamily="34" charset="0"/>
                <a:ea typeface="Calibri" pitchFamily="34" charset="-122"/>
                <a:cs typeface="Calibri" pitchFamily="34" charset="-120"/>
              </a:rPr>
              <a:t>Share of revenue from integrated propositions</a:t>
            </a:r>
            <a:endParaRPr lang="en-US" sz="1050" dirty="0"/>
          </a:p>
        </p:txBody>
      </p:sp>
      <p:sp>
        <p:nvSpPr>
          <p:cNvPr id="23" name="Shape 21"/>
          <p:cNvSpPr/>
          <p:nvPr/>
        </p:nvSpPr>
        <p:spPr>
          <a:xfrm>
            <a:off x="8083296" y="4754880"/>
            <a:ext cx="3429000" cy="548640"/>
          </a:xfrm>
          <a:prstGeom prst="roundRect">
            <a:avLst>
              <a:gd name="adj" fmla="val 13333"/>
            </a:avLst>
          </a:prstGeom>
          <a:solidFill>
            <a:srgbClr val="F2F6FC"/>
          </a:solidFill>
          <a:ln/>
        </p:spPr>
      </p:sp>
      <p:sp>
        <p:nvSpPr>
          <p:cNvPr id="24" name="Text 22"/>
          <p:cNvSpPr txBox="1"/>
          <p:nvPr/>
        </p:nvSpPr>
        <p:spPr>
          <a:xfrm>
            <a:off x="8247888" y="4754880"/>
            <a:ext cx="1234440" cy="548640"/>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Coverage</a:t>
            </a:r>
            <a:endParaRPr lang="en-US" sz="1150" dirty="0"/>
          </a:p>
        </p:txBody>
      </p:sp>
      <p:sp>
        <p:nvSpPr>
          <p:cNvPr id="25" name="Text 23"/>
          <p:cNvSpPr txBox="1"/>
          <p:nvPr/>
        </p:nvSpPr>
        <p:spPr>
          <a:xfrm>
            <a:off x="9500616" y="4754880"/>
            <a:ext cx="1874520" cy="548640"/>
          </a:xfrm>
          <a:prstGeom prst="rect">
            <a:avLst/>
          </a:prstGeom>
          <a:noFill/>
          <a:ln/>
        </p:spPr>
        <p:txBody>
          <a:bodyPr wrap="square" lIns="0" tIns="0" rIns="0" bIns="0" rtlCol="0" anchor="ctr"/>
          <a:lstStyle/>
          <a:p>
            <a:pPr indent="0" marL="0">
              <a:buNone/>
            </a:pPr>
            <a:r>
              <a:rPr lang="en-US" sz="1050" dirty="0">
                <a:solidFill>
                  <a:srgbClr val="44506B"/>
                </a:solidFill>
                <a:latin typeface="Calibri" pitchFamily="34" charset="0"/>
                <a:ea typeface="Calibri" pitchFamily="34" charset="-122"/>
                <a:cs typeface="Calibri" pitchFamily="34" charset="-120"/>
              </a:rPr>
              <a:t>Target accounts with an active owner and contact</a:t>
            </a:r>
            <a:endParaRPr lang="en-US" sz="1050" dirty="0"/>
          </a:p>
        </p:txBody>
      </p:sp>
      <p:sp>
        <p:nvSpPr>
          <p:cNvPr id="26" name="Shape 24"/>
          <p:cNvSpPr/>
          <p:nvPr/>
        </p:nvSpPr>
        <p:spPr>
          <a:xfrm>
            <a:off x="640080" y="5413248"/>
            <a:ext cx="3429000" cy="548640"/>
          </a:xfrm>
          <a:prstGeom prst="roundRect">
            <a:avLst>
              <a:gd name="adj" fmla="val 13333"/>
            </a:avLst>
          </a:prstGeom>
          <a:solidFill>
            <a:srgbClr val="F2F6FC"/>
          </a:solidFill>
          <a:ln/>
        </p:spPr>
      </p:sp>
      <p:sp>
        <p:nvSpPr>
          <p:cNvPr id="27" name="Text 25"/>
          <p:cNvSpPr txBox="1"/>
          <p:nvPr/>
        </p:nvSpPr>
        <p:spPr>
          <a:xfrm>
            <a:off x="804672" y="5413248"/>
            <a:ext cx="1234440" cy="548640"/>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Capacity</a:t>
            </a:r>
            <a:endParaRPr lang="en-US" sz="1150" dirty="0"/>
          </a:p>
        </p:txBody>
      </p:sp>
      <p:sp>
        <p:nvSpPr>
          <p:cNvPr id="28" name="Text 26"/>
          <p:cNvSpPr txBox="1"/>
          <p:nvPr/>
        </p:nvSpPr>
        <p:spPr>
          <a:xfrm>
            <a:off x="2057400" y="5413248"/>
            <a:ext cx="1874520" cy="548640"/>
          </a:xfrm>
          <a:prstGeom prst="rect">
            <a:avLst/>
          </a:prstGeom>
          <a:noFill/>
          <a:ln/>
        </p:spPr>
        <p:txBody>
          <a:bodyPr wrap="square" lIns="0" tIns="0" rIns="0" bIns="0" rtlCol="0" anchor="ctr"/>
          <a:lstStyle/>
          <a:p>
            <a:pPr indent="0" marL="0">
              <a:buNone/>
            </a:pPr>
            <a:r>
              <a:rPr lang="en-US" sz="1050" dirty="0">
                <a:solidFill>
                  <a:srgbClr val="44506B"/>
                </a:solidFill>
                <a:latin typeface="Calibri" pitchFamily="34" charset="0"/>
                <a:ea typeface="Calibri" pitchFamily="34" charset="-122"/>
                <a:cs typeface="Calibri" pitchFamily="34" charset="-120"/>
              </a:rPr>
              <a:t>Recruitment against plan, utilisation</a:t>
            </a:r>
            <a:endParaRPr lang="en-US" sz="1050" dirty="0"/>
          </a:p>
        </p:txBody>
      </p:sp>
      <p:sp>
        <p:nvSpPr>
          <p:cNvPr id="29" name="Shape 27"/>
          <p:cNvSpPr/>
          <p:nvPr/>
        </p:nvSpPr>
        <p:spPr>
          <a:xfrm>
            <a:off x="4361688" y="5413248"/>
            <a:ext cx="3429000" cy="548640"/>
          </a:xfrm>
          <a:prstGeom prst="roundRect">
            <a:avLst>
              <a:gd name="adj" fmla="val 13333"/>
            </a:avLst>
          </a:prstGeom>
          <a:solidFill>
            <a:srgbClr val="F2F6FC"/>
          </a:solidFill>
          <a:ln/>
        </p:spPr>
      </p:sp>
      <p:sp>
        <p:nvSpPr>
          <p:cNvPr id="30" name="Text 28"/>
          <p:cNvSpPr txBox="1"/>
          <p:nvPr/>
        </p:nvSpPr>
        <p:spPr>
          <a:xfrm>
            <a:off x="4526280" y="5413248"/>
            <a:ext cx="1234440" cy="548640"/>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Alliances</a:t>
            </a:r>
            <a:endParaRPr lang="en-US" sz="1150" dirty="0"/>
          </a:p>
        </p:txBody>
      </p:sp>
      <p:sp>
        <p:nvSpPr>
          <p:cNvPr id="31" name="Text 29"/>
          <p:cNvSpPr txBox="1"/>
          <p:nvPr/>
        </p:nvSpPr>
        <p:spPr>
          <a:xfrm>
            <a:off x="5779008" y="5413248"/>
            <a:ext cx="1874520" cy="548640"/>
          </a:xfrm>
          <a:prstGeom prst="rect">
            <a:avLst/>
          </a:prstGeom>
          <a:noFill/>
          <a:ln/>
        </p:spPr>
        <p:txBody>
          <a:bodyPr wrap="square" lIns="0" tIns="0" rIns="0" bIns="0" rtlCol="0" anchor="ctr"/>
          <a:lstStyle/>
          <a:p>
            <a:pPr indent="0" marL="0">
              <a:buNone/>
            </a:pPr>
            <a:r>
              <a:rPr lang="en-US" sz="1050" dirty="0">
                <a:solidFill>
                  <a:srgbClr val="44506B"/>
                </a:solidFill>
                <a:latin typeface="Calibri" pitchFamily="34" charset="0"/>
                <a:ea typeface="Calibri" pitchFamily="34" charset="-122"/>
                <a:cs typeface="Calibri" pitchFamily="34" charset="-120"/>
              </a:rPr>
              <a:t>Partner-sourced pipeline and joint pursuits</a:t>
            </a:r>
            <a:endParaRPr lang="en-US" sz="1050" dirty="0"/>
          </a:p>
        </p:txBody>
      </p:sp>
      <p:sp>
        <p:nvSpPr>
          <p:cNvPr id="32" name="Shape 30"/>
          <p:cNvSpPr/>
          <p:nvPr/>
        </p:nvSpPr>
        <p:spPr>
          <a:xfrm>
            <a:off x="8083296" y="5413248"/>
            <a:ext cx="3429000" cy="548640"/>
          </a:xfrm>
          <a:prstGeom prst="roundRect">
            <a:avLst>
              <a:gd name="adj" fmla="val 13333"/>
            </a:avLst>
          </a:prstGeom>
          <a:solidFill>
            <a:srgbClr val="F2F6FC"/>
          </a:solidFill>
          <a:ln/>
        </p:spPr>
      </p:sp>
      <p:sp>
        <p:nvSpPr>
          <p:cNvPr id="33" name="Text 31"/>
          <p:cNvSpPr txBox="1"/>
          <p:nvPr/>
        </p:nvSpPr>
        <p:spPr>
          <a:xfrm>
            <a:off x="8247888" y="5413248"/>
            <a:ext cx="1234440" cy="548640"/>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Eminence</a:t>
            </a:r>
            <a:endParaRPr lang="en-US" sz="1150" dirty="0"/>
          </a:p>
        </p:txBody>
      </p:sp>
      <p:sp>
        <p:nvSpPr>
          <p:cNvPr id="34" name="Text 32"/>
          <p:cNvSpPr txBox="1"/>
          <p:nvPr/>
        </p:nvSpPr>
        <p:spPr>
          <a:xfrm>
            <a:off x="9500616" y="5413248"/>
            <a:ext cx="1874520" cy="548640"/>
          </a:xfrm>
          <a:prstGeom prst="rect">
            <a:avLst/>
          </a:prstGeom>
          <a:noFill/>
          <a:ln/>
        </p:spPr>
        <p:txBody>
          <a:bodyPr wrap="square" lIns="0" tIns="0" rIns="0" bIns="0" rtlCol="0" anchor="ctr"/>
          <a:lstStyle/>
          <a:p>
            <a:pPr indent="0" marL="0">
              <a:buNone/>
            </a:pPr>
            <a:r>
              <a:rPr lang="en-US" sz="1050" dirty="0">
                <a:solidFill>
                  <a:srgbClr val="44506B"/>
                </a:solidFill>
                <a:latin typeface="Calibri" pitchFamily="34" charset="0"/>
                <a:ea typeface="Calibri" pitchFamily="34" charset="-122"/>
                <a:cs typeface="Calibri" pitchFamily="34" charset="-120"/>
              </a:rPr>
              <a:t>Activities delivered, meetings they created</a:t>
            </a:r>
            <a:endParaRPr lang="en-US" sz="1050" dirty="0"/>
          </a:p>
        </p:txBody>
      </p:sp>
      <p:sp>
        <p:nvSpPr>
          <p:cNvPr id="35" name="Text 33"/>
          <p:cNvSpPr txBox="1"/>
          <p:nvPr/>
        </p:nvSpPr>
        <p:spPr>
          <a:xfrm>
            <a:off x="640080" y="6172200"/>
            <a:ext cx="10881360" cy="320040"/>
          </a:xfrm>
          <a:prstGeom prst="rect">
            <a:avLst/>
          </a:prstGeom>
          <a:noFill/>
          <a:ln/>
        </p:spPr>
        <p:txBody>
          <a:bodyPr wrap="square" lIns="0" tIns="0" rIns="0" bIns="0" rtlCol="0" anchor="ctr"/>
          <a:lstStyle/>
          <a:p>
            <a:pPr indent="0" marL="0">
              <a:buNone/>
            </a:pPr>
            <a:r>
              <a:rPr lang="en-US" sz="1150" i="1" dirty="0">
                <a:solidFill>
                  <a:srgbClr val="8792AB"/>
                </a:solidFill>
                <a:latin typeface="Calibri" pitchFamily="34" charset="0"/>
                <a:ea typeface="Calibri" pitchFamily="34" charset="-122"/>
                <a:cs typeface="Calibri" pitchFamily="34" charset="-120"/>
              </a:rPr>
              <a:t>Decision rights, chair and escalation route to be set at sign-off.</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2011680" y="4023360"/>
            <a:ext cx="5669280" cy="5669280"/>
          </a:xfrm>
          <a:prstGeom prst="ellipse">
            <a:avLst/>
          </a:prstGeom>
          <a:solidFill>
            <a:srgbClr val="3E5C8A">
              <a:alpha val="45000"/>
            </a:srgbClr>
          </a:solidFill>
          <a:ln/>
        </p:spPr>
      </p:sp>
      <p:sp>
        <p:nvSpPr>
          <p:cNvPr id="3" name="Text 1"/>
          <p:cNvSpPr txBox="1"/>
          <p:nvPr/>
        </p:nvSpPr>
        <p:spPr>
          <a:xfrm>
            <a:off x="731520" y="548640"/>
            <a:ext cx="1005840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How we run the cycle</a:t>
            </a:r>
            <a:endParaRPr lang="en-US" sz="3600" dirty="0"/>
          </a:p>
        </p:txBody>
      </p:sp>
      <p:sp>
        <p:nvSpPr>
          <p:cNvPr id="4" name="Text 2"/>
          <p:cNvSpPr txBox="1"/>
          <p:nvPr/>
        </p:nvSpPr>
        <p:spPr>
          <a:xfrm>
            <a:off x="731520" y="1298448"/>
            <a:ext cx="10058400" cy="411480"/>
          </a:xfrm>
          <a:prstGeom prst="rect">
            <a:avLst/>
          </a:prstGeom>
          <a:noFill/>
          <a:ln/>
        </p:spPr>
        <p:txBody>
          <a:bodyPr wrap="square" lIns="0" tIns="0" rIns="0" bIns="0" rtlCol="0" anchor="ctr"/>
          <a:lstStyle/>
          <a:p>
            <a:pPr indent="0" marL="0">
              <a:buNone/>
            </a:pPr>
            <a:r>
              <a:rPr lang="en-US" sz="1450" dirty="0">
                <a:solidFill>
                  <a:srgbClr val="CADCFC"/>
                </a:solidFill>
                <a:latin typeface="Calibri" pitchFamily="34" charset="0"/>
                <a:ea typeface="Calibri" pitchFamily="34" charset="-122"/>
                <a:cs typeface="Calibri" pitchFamily="34" charset="-120"/>
              </a:rPr>
              <a:t>Cadence, inputs and the decisions we are asking for.</a:t>
            </a:r>
            <a:endParaRPr lang="en-US" sz="1450" dirty="0"/>
          </a:p>
        </p:txBody>
      </p:sp>
      <p:sp>
        <p:nvSpPr>
          <p:cNvPr id="5" name="Shape 3"/>
          <p:cNvSpPr/>
          <p:nvPr/>
        </p:nvSpPr>
        <p:spPr>
          <a:xfrm>
            <a:off x="731520" y="1965960"/>
            <a:ext cx="384048" cy="384048"/>
          </a:xfrm>
          <a:prstGeom prst="ellipse">
            <a:avLst/>
          </a:prstGeom>
          <a:solidFill>
            <a:srgbClr val="3E5C8A"/>
          </a:solidFill>
          <a:ln/>
        </p:spPr>
      </p:sp>
      <p:sp>
        <p:nvSpPr>
          <p:cNvPr id="6" name="Text 4"/>
          <p:cNvSpPr txBox="1"/>
          <p:nvPr/>
        </p:nvSpPr>
        <p:spPr>
          <a:xfrm>
            <a:off x="731520" y="196596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txBox="1"/>
          <p:nvPr/>
        </p:nvSpPr>
        <p:spPr>
          <a:xfrm>
            <a:off x="1280160" y="1947672"/>
            <a:ext cx="2926080" cy="365760"/>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Cadence</a:t>
            </a:r>
            <a:endParaRPr lang="en-US" sz="1900" dirty="0"/>
          </a:p>
        </p:txBody>
      </p:sp>
      <p:sp>
        <p:nvSpPr>
          <p:cNvPr id="8" name="Text 6"/>
          <p:cNvSpPr txBox="1"/>
          <p:nvPr/>
        </p:nvSpPr>
        <p:spPr>
          <a:xfrm>
            <a:off x="731520" y="2606040"/>
            <a:ext cx="3291840" cy="2560320"/>
          </a:xfrm>
          <a:prstGeom prst="rect">
            <a:avLst/>
          </a:prstGeom>
          <a:noFill/>
          <a:ln/>
        </p:spPr>
        <p:txBody>
          <a:bodyPr wrap="square" lIns="0" tIns="0" rIns="0" bIns="0" rtlCol="0" anchor="ctr"/>
          <a:lstStyle/>
          <a:p>
            <a:pPr marL="342900" indent="-342900">
              <a:spcAft>
                <a:spcPts val="1000"/>
              </a:spcAft>
              <a:buSzPct val="100000"/>
              <a:buChar char="•"/>
            </a:pPr>
            <a:r>
              <a:rPr lang="en-US" sz="1300" dirty="0">
                <a:solidFill>
                  <a:srgbClr val="CADCFC"/>
                </a:solidFill>
                <a:latin typeface="Calibri" pitchFamily="34" charset="0"/>
                <a:ea typeface="Calibri" pitchFamily="34" charset="-122"/>
                <a:cs typeface="Calibri" pitchFamily="34" charset="-120"/>
              </a:rPr>
              <a:t>Kick-off to confirm scope and principles</a:t>
            </a:r>
            <a:endParaRPr lang="en-US" sz="1300" dirty="0"/>
          </a:p>
          <a:p>
            <a:pPr marL="342900" indent="-342900">
              <a:spcAft>
                <a:spcPts val="1000"/>
              </a:spcAft>
              <a:buSzPct val="100000"/>
              <a:buChar char="•"/>
            </a:pPr>
            <a:r>
              <a:rPr lang="en-US" sz="1300" dirty="0">
                <a:solidFill>
                  <a:srgbClr val="CADCFC"/>
                </a:solidFill>
                <a:latin typeface="Calibri" pitchFamily="34" charset="0"/>
                <a:ea typeface="Calibri" pitchFamily="34" charset="-122"/>
                <a:cs typeface="Calibri" pitchFamily="34" charset="-120"/>
              </a:rPr>
              <a:t>Weekly working session per workstream</a:t>
            </a:r>
            <a:endParaRPr lang="en-US" sz="1300" dirty="0"/>
          </a:p>
          <a:p>
            <a:pPr marL="342900" indent="-342900">
              <a:spcAft>
                <a:spcPts val="1000"/>
              </a:spcAft>
              <a:buSzPct val="100000"/>
              <a:buChar char="•"/>
            </a:pPr>
            <a:r>
              <a:rPr lang="en-US" sz="1300" dirty="0">
                <a:solidFill>
                  <a:srgbClr val="CADCFC"/>
                </a:solidFill>
                <a:latin typeface="Calibri" pitchFamily="34" charset="0"/>
                <a:ea typeface="Calibri" pitchFamily="34" charset="-122"/>
                <a:cs typeface="Calibri" pitchFamily="34" charset="-120"/>
              </a:rPr>
              <a:t>Checkpoint at the end of each week</a:t>
            </a:r>
            <a:endParaRPr lang="en-US" sz="1300" dirty="0"/>
          </a:p>
          <a:p>
            <a:pPr marL="342900" indent="-342900">
              <a:spcAft>
                <a:spcPts val="1000"/>
              </a:spcAft>
              <a:buSzPct val="100000"/>
              <a:buChar char="•"/>
            </a:pPr>
            <a:r>
              <a:rPr lang="en-US" sz="1300" dirty="0">
                <a:solidFill>
                  <a:srgbClr val="CADCFC"/>
                </a:solidFill>
                <a:latin typeface="Calibri" pitchFamily="34" charset="0"/>
                <a:ea typeface="Calibri" pitchFamily="34" charset="-122"/>
                <a:cs typeface="Calibri" pitchFamily="34" charset="-120"/>
              </a:rPr>
              <a:t>Sign-off session in week three</a:t>
            </a:r>
            <a:endParaRPr lang="en-US" sz="1300" dirty="0"/>
          </a:p>
        </p:txBody>
      </p:sp>
      <p:sp>
        <p:nvSpPr>
          <p:cNvPr id="9" name="Shape 7"/>
          <p:cNvSpPr/>
          <p:nvPr/>
        </p:nvSpPr>
        <p:spPr>
          <a:xfrm>
            <a:off x="4434840" y="1965960"/>
            <a:ext cx="384048" cy="384048"/>
          </a:xfrm>
          <a:prstGeom prst="ellipse">
            <a:avLst/>
          </a:prstGeom>
          <a:solidFill>
            <a:srgbClr val="3E5C8A"/>
          </a:solidFill>
          <a:ln/>
        </p:spPr>
      </p:sp>
      <p:sp>
        <p:nvSpPr>
          <p:cNvPr id="10" name="Text 8"/>
          <p:cNvSpPr txBox="1"/>
          <p:nvPr/>
        </p:nvSpPr>
        <p:spPr>
          <a:xfrm>
            <a:off x="4434840" y="196596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1" name="Text 9"/>
          <p:cNvSpPr txBox="1"/>
          <p:nvPr/>
        </p:nvSpPr>
        <p:spPr>
          <a:xfrm>
            <a:off x="4983480" y="1947672"/>
            <a:ext cx="2926080" cy="365760"/>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Inputs we need</a:t>
            </a:r>
            <a:endParaRPr lang="en-US" sz="1900" dirty="0"/>
          </a:p>
        </p:txBody>
      </p:sp>
      <p:sp>
        <p:nvSpPr>
          <p:cNvPr id="12" name="Text 10"/>
          <p:cNvSpPr txBox="1"/>
          <p:nvPr/>
        </p:nvSpPr>
        <p:spPr>
          <a:xfrm>
            <a:off x="4434840" y="2606040"/>
            <a:ext cx="3291840" cy="2560320"/>
          </a:xfrm>
          <a:prstGeom prst="rect">
            <a:avLst/>
          </a:prstGeom>
          <a:noFill/>
          <a:ln/>
        </p:spPr>
        <p:txBody>
          <a:bodyPr wrap="square" lIns="0" tIns="0" rIns="0" bIns="0" rtlCol="0" anchor="ctr"/>
          <a:lstStyle/>
          <a:p>
            <a:pPr marL="342900" indent="-342900">
              <a:spcAft>
                <a:spcPts val="1000"/>
              </a:spcAft>
              <a:buSzPct val="100000"/>
              <a:buChar char="•"/>
            </a:pPr>
            <a:r>
              <a:rPr lang="en-US" sz="1300" dirty="0">
                <a:solidFill>
                  <a:srgbClr val="CADCFC"/>
                </a:solidFill>
                <a:latin typeface="Calibri" pitchFamily="34" charset="0"/>
                <a:ea typeface="Calibri" pitchFamily="34" charset="-122"/>
                <a:cs typeface="Calibri" pitchFamily="34" charset="-120"/>
              </a:rPr>
              <a:t>Current pipeline and revenue by pillar</a:t>
            </a:r>
            <a:endParaRPr lang="en-US" sz="1300" dirty="0"/>
          </a:p>
          <a:p>
            <a:pPr marL="342900" indent="-342900">
              <a:spcAft>
                <a:spcPts val="1000"/>
              </a:spcAft>
              <a:buSzPct val="100000"/>
              <a:buChar char="•"/>
            </a:pPr>
            <a:r>
              <a:rPr lang="en-US" sz="1300" dirty="0">
                <a:solidFill>
                  <a:srgbClr val="CADCFC"/>
                </a:solidFill>
                <a:latin typeface="Calibri" pitchFamily="34" charset="0"/>
                <a:ea typeface="Calibri" pitchFamily="34" charset="-122"/>
                <a:cs typeface="Calibri" pitchFamily="34" charset="-120"/>
              </a:rPr>
              <a:t>Existing account relationships</a:t>
            </a:r>
            <a:endParaRPr lang="en-US" sz="1300" dirty="0"/>
          </a:p>
          <a:p>
            <a:pPr marL="342900" indent="-342900">
              <a:spcAft>
                <a:spcPts val="1000"/>
              </a:spcAft>
              <a:buSzPct val="100000"/>
              <a:buChar char="•"/>
            </a:pPr>
            <a:r>
              <a:rPr lang="en-US" sz="1300" dirty="0">
                <a:solidFill>
                  <a:srgbClr val="CADCFC"/>
                </a:solidFill>
                <a:latin typeface="Calibri" pitchFamily="34" charset="0"/>
                <a:ea typeface="Calibri" pitchFamily="34" charset="-122"/>
                <a:cs typeface="Calibri" pitchFamily="34" charset="-120"/>
              </a:rPr>
              <a:t>Alliance and partnership status</a:t>
            </a:r>
            <a:endParaRPr lang="en-US" sz="1300" dirty="0"/>
          </a:p>
          <a:p>
            <a:pPr marL="342900" indent="-342900">
              <a:spcAft>
                <a:spcPts val="1000"/>
              </a:spcAft>
              <a:buSzPct val="100000"/>
              <a:buChar char="•"/>
            </a:pPr>
            <a:r>
              <a:rPr lang="en-US" sz="1300" dirty="0">
                <a:solidFill>
                  <a:srgbClr val="CADCFC"/>
                </a:solidFill>
                <a:latin typeface="Calibri" pitchFamily="34" charset="0"/>
                <a:ea typeface="Calibri" pitchFamily="34" charset="-122"/>
                <a:cs typeface="Calibri" pitchFamily="34" charset="-120"/>
              </a:rPr>
              <a:t>Delivery capacity and skills view</a:t>
            </a:r>
            <a:endParaRPr lang="en-US" sz="1300" dirty="0"/>
          </a:p>
          <a:p>
            <a:pPr marL="342900" indent="-342900">
              <a:spcAft>
                <a:spcPts val="1000"/>
              </a:spcAft>
              <a:buSzPct val="100000"/>
              <a:buChar char="•"/>
            </a:pPr>
            <a:r>
              <a:rPr lang="en-US" sz="1300" dirty="0">
                <a:solidFill>
                  <a:srgbClr val="CADCFC"/>
                </a:solidFill>
                <a:latin typeface="Calibri" pitchFamily="34" charset="0"/>
                <a:ea typeface="Calibri" pitchFamily="34" charset="-122"/>
                <a:cs typeface="Calibri" pitchFamily="34" charset="-120"/>
              </a:rPr>
              <a:t>Historical deal values</a:t>
            </a:r>
            <a:endParaRPr lang="en-US" sz="1300" dirty="0"/>
          </a:p>
        </p:txBody>
      </p:sp>
      <p:sp>
        <p:nvSpPr>
          <p:cNvPr id="13" name="Shape 11"/>
          <p:cNvSpPr/>
          <p:nvPr/>
        </p:nvSpPr>
        <p:spPr>
          <a:xfrm>
            <a:off x="8138160" y="1965960"/>
            <a:ext cx="384048" cy="384048"/>
          </a:xfrm>
          <a:prstGeom prst="ellipse">
            <a:avLst/>
          </a:prstGeom>
          <a:solidFill>
            <a:srgbClr val="3E5C8A"/>
          </a:solidFill>
          <a:ln/>
        </p:spPr>
      </p:sp>
      <p:sp>
        <p:nvSpPr>
          <p:cNvPr id="14" name="Text 12"/>
          <p:cNvSpPr txBox="1"/>
          <p:nvPr/>
        </p:nvSpPr>
        <p:spPr>
          <a:xfrm>
            <a:off x="8138160" y="196596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5" name="Text 13"/>
          <p:cNvSpPr txBox="1"/>
          <p:nvPr/>
        </p:nvSpPr>
        <p:spPr>
          <a:xfrm>
            <a:off x="8686800" y="1947672"/>
            <a:ext cx="2926080" cy="365760"/>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Decisions requested</a:t>
            </a:r>
            <a:endParaRPr lang="en-US" sz="1900" dirty="0"/>
          </a:p>
        </p:txBody>
      </p:sp>
      <p:sp>
        <p:nvSpPr>
          <p:cNvPr id="16" name="Text 14"/>
          <p:cNvSpPr txBox="1"/>
          <p:nvPr/>
        </p:nvSpPr>
        <p:spPr>
          <a:xfrm>
            <a:off x="8138160" y="2606040"/>
            <a:ext cx="3291840" cy="2560320"/>
          </a:xfrm>
          <a:prstGeom prst="rect">
            <a:avLst/>
          </a:prstGeom>
          <a:noFill/>
          <a:ln/>
        </p:spPr>
        <p:txBody>
          <a:bodyPr wrap="square" lIns="0" tIns="0" rIns="0" bIns="0" rtlCol="0" anchor="ctr"/>
          <a:lstStyle/>
          <a:p>
            <a:pPr marL="342900" indent="-342900">
              <a:spcAft>
                <a:spcPts val="1000"/>
              </a:spcAft>
              <a:buSzPct val="100000"/>
              <a:buChar char="•"/>
            </a:pPr>
            <a:r>
              <a:rPr lang="en-US" sz="1300" dirty="0">
                <a:solidFill>
                  <a:srgbClr val="CADCFC"/>
                </a:solidFill>
                <a:latin typeface="Calibri" pitchFamily="34" charset="0"/>
                <a:ea typeface="Calibri" pitchFamily="34" charset="-122"/>
                <a:cs typeface="Calibri" pitchFamily="34" charset="-120"/>
              </a:rPr>
              <a:t>The ambition, in numbers</a:t>
            </a:r>
            <a:endParaRPr lang="en-US" sz="1300" dirty="0"/>
          </a:p>
          <a:p>
            <a:pPr marL="342900" indent="-342900">
              <a:spcAft>
                <a:spcPts val="1000"/>
              </a:spcAft>
              <a:buSzPct val="100000"/>
              <a:buChar char="•"/>
            </a:pPr>
            <a:r>
              <a:rPr lang="en-US" sz="1300" dirty="0">
                <a:solidFill>
                  <a:srgbClr val="CADCFC"/>
                </a:solidFill>
                <a:latin typeface="Calibri" pitchFamily="34" charset="0"/>
                <a:ea typeface="Calibri" pitchFamily="34" charset="-122"/>
                <a:cs typeface="Calibri" pitchFamily="34" charset="-120"/>
              </a:rPr>
              <a:t>Priority markets and segments</a:t>
            </a:r>
            <a:endParaRPr lang="en-US" sz="1300" dirty="0"/>
          </a:p>
          <a:p>
            <a:pPr marL="342900" indent="-342900">
              <a:spcAft>
                <a:spcPts val="1000"/>
              </a:spcAft>
              <a:buSzPct val="100000"/>
              <a:buChar char="•"/>
            </a:pPr>
            <a:r>
              <a:rPr lang="en-US" sz="1300" dirty="0">
                <a:solidFill>
                  <a:srgbClr val="CADCFC"/>
                </a:solidFill>
                <a:latin typeface="Calibri" pitchFamily="34" charset="0"/>
                <a:ea typeface="Calibri" pitchFamily="34" charset="-122"/>
                <a:cs typeface="Calibri" pitchFamily="34" charset="-120"/>
              </a:rPr>
              <a:t>Target account list</a:t>
            </a:r>
            <a:endParaRPr lang="en-US" sz="1300" dirty="0"/>
          </a:p>
          <a:p>
            <a:pPr marL="342900" indent="-342900">
              <a:spcAft>
                <a:spcPts val="1000"/>
              </a:spcAft>
              <a:buSzPct val="100000"/>
              <a:buChar char="•"/>
            </a:pPr>
            <a:r>
              <a:rPr lang="en-US" sz="1300" dirty="0">
                <a:solidFill>
                  <a:srgbClr val="CADCFC"/>
                </a:solidFill>
                <a:latin typeface="Calibri" pitchFamily="34" charset="0"/>
                <a:ea typeface="Calibri" pitchFamily="34" charset="-122"/>
                <a:cs typeface="Calibri" pitchFamily="34" charset="-120"/>
              </a:rPr>
              <a:t>Revenue and margin targets</a:t>
            </a:r>
            <a:endParaRPr lang="en-US" sz="1300" dirty="0"/>
          </a:p>
          <a:p>
            <a:pPr marL="342900" indent="-342900">
              <a:spcAft>
                <a:spcPts val="1000"/>
              </a:spcAft>
              <a:buSzPct val="100000"/>
              <a:buChar char="•"/>
            </a:pPr>
            <a:r>
              <a:rPr lang="en-US" sz="1300" dirty="0">
                <a:solidFill>
                  <a:srgbClr val="CADCFC"/>
                </a:solidFill>
                <a:latin typeface="Calibri" pitchFamily="34" charset="0"/>
                <a:ea typeface="Calibri" pitchFamily="34" charset="-122"/>
                <a:cs typeface="Calibri" pitchFamily="34" charset="-120"/>
              </a:rPr>
              <a:t>Account ownership</a:t>
            </a:r>
            <a:endParaRPr lang="en-US" sz="1300" dirty="0"/>
          </a:p>
          <a:p>
            <a:pPr marL="342900" indent="-342900">
              <a:spcAft>
                <a:spcPts val="1000"/>
              </a:spcAft>
              <a:buSzPct val="100000"/>
              <a:buChar char="•"/>
            </a:pPr>
            <a:r>
              <a:rPr lang="en-US" sz="1300" dirty="0">
                <a:solidFill>
                  <a:srgbClr val="CADCFC"/>
                </a:solidFill>
                <a:latin typeface="Calibri" pitchFamily="34" charset="0"/>
                <a:ea typeface="Calibri" pitchFamily="34" charset="-122"/>
                <a:cs typeface="Calibri" pitchFamily="34" charset="-120"/>
              </a:rPr>
              <a:t>Alliance priorities</a:t>
            </a:r>
            <a:endParaRPr lang="en-US" sz="1300" dirty="0"/>
          </a:p>
          <a:p>
            <a:pPr marL="342900" indent="-342900">
              <a:spcAft>
                <a:spcPts val="1000"/>
              </a:spcAft>
              <a:buSzPct val="100000"/>
              <a:buChar char="•"/>
            </a:pPr>
            <a:r>
              <a:rPr lang="en-US" sz="1300" dirty="0">
                <a:solidFill>
                  <a:srgbClr val="CADCFC"/>
                </a:solidFill>
                <a:latin typeface="Calibri" pitchFamily="34" charset="0"/>
                <a:ea typeface="Calibri" pitchFamily="34" charset="-122"/>
                <a:cs typeface="Calibri" pitchFamily="34" charset="-120"/>
              </a:rPr>
              <a:t>Investment and hiring asks</a:t>
            </a:r>
            <a:endParaRPr lang="en-US" sz="1300" dirty="0"/>
          </a:p>
        </p:txBody>
      </p:sp>
      <p:sp>
        <p:nvSpPr>
          <p:cNvPr id="17" name="Text 15"/>
          <p:cNvSpPr txBox="1"/>
          <p:nvPr/>
        </p:nvSpPr>
        <p:spPr>
          <a:xfrm>
            <a:off x="731520" y="5852160"/>
            <a:ext cx="6400800" cy="365760"/>
          </a:xfrm>
          <a:prstGeom prst="rect">
            <a:avLst/>
          </a:prstGeom>
          <a:noFill/>
          <a:ln/>
        </p:spPr>
        <p:txBody>
          <a:bodyPr wrap="square" lIns="0" tIns="0" rIns="0" bIns="0" rtlCol="0" anchor="ctr"/>
          <a:lstStyle/>
          <a:p>
            <a:pPr indent="0" marL="0">
              <a:buNone/>
            </a:pPr>
            <a:r>
              <a:rPr lang="en-US" sz="1200" i="1" dirty="0">
                <a:solidFill>
                  <a:srgbClr val="9AA7C4"/>
                </a:solidFill>
                <a:latin typeface="Calibri" pitchFamily="34" charset="0"/>
                <a:ea typeface="Calibri" pitchFamily="34" charset="-122"/>
                <a:cs typeface="Calibri" pitchFamily="34" charset="-120"/>
              </a:rPr>
              <a:t>Owners, dates and participants are set at kick-off.</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8778240" y="3291840"/>
            <a:ext cx="4754880" cy="4754880"/>
          </a:xfrm>
          <a:prstGeom prst="ellipse">
            <a:avLst/>
          </a:prstGeom>
          <a:solidFill>
            <a:srgbClr val="3E5C8A">
              <a:alpha val="50000"/>
            </a:srgbClr>
          </a:solidFill>
          <a:ln/>
        </p:spPr>
      </p:sp>
      <p:sp>
        <p:nvSpPr>
          <p:cNvPr id="3" name="Text 1"/>
          <p:cNvSpPr txBox="1"/>
          <p:nvPr/>
        </p:nvSpPr>
        <p:spPr>
          <a:xfrm>
            <a:off x="822960" y="2377440"/>
            <a:ext cx="7315200" cy="82296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Appendix</a:t>
            </a:r>
            <a:endParaRPr lang="en-US" sz="4400" dirty="0"/>
          </a:p>
        </p:txBody>
      </p:sp>
      <p:sp>
        <p:nvSpPr>
          <p:cNvPr id="4" name="Text 2"/>
          <p:cNvSpPr txBox="1"/>
          <p:nvPr/>
        </p:nvSpPr>
        <p:spPr>
          <a:xfrm>
            <a:off x="868680" y="3291840"/>
            <a:ext cx="7772400" cy="457200"/>
          </a:xfrm>
          <a:prstGeom prst="rect">
            <a:avLst/>
          </a:prstGeom>
          <a:noFill/>
          <a:ln/>
        </p:spPr>
        <p:txBody>
          <a:bodyPr wrap="square" lIns="0" tIns="0" rIns="0" bIns="0" rtlCol="0" anchor="ctr"/>
          <a:lstStyle/>
          <a:p>
            <a:pPr indent="0" marL="0">
              <a:buNone/>
            </a:pPr>
            <a:r>
              <a:rPr lang="en-US" sz="1700" dirty="0">
                <a:solidFill>
                  <a:srgbClr val="CADCFC"/>
                </a:solidFill>
                <a:latin typeface="Calibri" pitchFamily="34" charset="0"/>
                <a:ea typeface="Calibri" pitchFamily="34" charset="-122"/>
                <a:cs typeface="Calibri" pitchFamily="34" charset="-120"/>
              </a:rPr>
              <a:t>Blank templates for every artefact the cycle produces</a:t>
            </a:r>
            <a:endParaRPr lang="en-US" sz="1700" dirty="0"/>
          </a:p>
        </p:txBody>
      </p:sp>
      <p:sp>
        <p:nvSpPr>
          <p:cNvPr id="5" name="Text 3"/>
          <p:cNvSpPr txBox="1"/>
          <p:nvPr/>
        </p:nvSpPr>
        <p:spPr>
          <a:xfrm>
            <a:off x="868680" y="3886200"/>
            <a:ext cx="7772400" cy="548640"/>
          </a:xfrm>
          <a:prstGeom prst="rect">
            <a:avLst/>
          </a:prstGeom>
          <a:noFill/>
          <a:ln/>
        </p:spPr>
        <p:txBody>
          <a:bodyPr wrap="square" lIns="0" tIns="0" rIns="0" bIns="0" rtlCol="0" anchor="ctr"/>
          <a:lstStyle/>
          <a:p>
            <a:pPr indent="0" marL="0">
              <a:buNone/>
            </a:pPr>
            <a:r>
              <a:rPr lang="en-US" sz="1350" i="1" dirty="0">
                <a:solidFill>
                  <a:srgbClr val="9AA7C4"/>
                </a:solidFill>
                <a:latin typeface="Calibri" pitchFamily="34" charset="0"/>
                <a:ea typeface="Calibri" pitchFamily="34" charset="-122"/>
                <a:cs typeface="Calibri" pitchFamily="34" charset="-120"/>
              </a:rPr>
              <a:t>These are the working formats. They are filled during the three weeks and become the strategy record.</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685800"/>
          </a:xfrm>
          <a:prstGeom prst="rect">
            <a:avLst/>
          </a:prstGeom>
          <a:noFill/>
          <a:ln/>
        </p:spPr>
        <p:txBody>
          <a:bodyPr wrap="square" lIns="0" tIns="0" rIns="0" bIns="0" rtlCol="0" anchor="ctr"/>
          <a:lstStyle/>
          <a:p>
            <a:pPr indent="0" marL="0">
              <a:buNone/>
            </a:pPr>
            <a:r>
              <a:rPr lang="en-US" sz="3600" b="1" dirty="0">
                <a:solidFill>
                  <a:srgbClr val="16203A"/>
                </a:solidFill>
                <a:latin typeface="Cambria" pitchFamily="34" charset="0"/>
                <a:ea typeface="Cambria" pitchFamily="34" charset="-122"/>
                <a:cs typeface="Cambria" pitchFamily="34" charset="-120"/>
              </a:rPr>
              <a:t>Template — market prioritisation</a:t>
            </a:r>
            <a:endParaRPr lang="en-US" sz="3600" dirty="0"/>
          </a:p>
        </p:txBody>
      </p:sp>
      <p:sp>
        <p:nvSpPr>
          <p:cNvPr id="3" name="Text 1"/>
          <p:cNvSpPr txBox="1"/>
          <p:nvPr/>
        </p:nvSpPr>
        <p:spPr>
          <a:xfrm>
            <a:off x="640080" y="1133856"/>
            <a:ext cx="10881360" cy="411480"/>
          </a:xfrm>
          <a:prstGeom prst="rect">
            <a:avLst/>
          </a:prstGeom>
          <a:noFill/>
          <a:ln/>
        </p:spPr>
        <p:txBody>
          <a:bodyPr wrap="square" lIns="0" tIns="0" rIns="0" bIns="0" rtlCol="0" anchor="ctr"/>
          <a:lstStyle/>
          <a:p>
            <a:pPr indent="0" marL="0">
              <a:buNone/>
            </a:pPr>
            <a:r>
              <a:rPr lang="en-US" sz="1450" dirty="0">
                <a:solidFill>
                  <a:srgbClr val="8792AB"/>
                </a:solidFill>
                <a:latin typeface="Calibri" pitchFamily="34" charset="0"/>
                <a:ea typeface="Calibri" pitchFamily="34" charset="-122"/>
                <a:cs typeface="Calibri" pitchFamily="34" charset="-120"/>
              </a:rPr>
              <a:t>Workstream 2 · one row per market.</a:t>
            </a:r>
            <a:endParaRPr lang="en-US" sz="14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40080" y="1965960"/>
          <a:ext cx="10881360" cy="914400"/>
        </p:xfrm>
        <a:graphic>
          <a:graphicData uri="http://schemas.openxmlformats.org/drawingml/2006/table">
            <a:tbl>
              <a:tblPr/>
              <a:tblGrid>
                <a:gridCol w="2194560"/>
                <a:gridCol w="3200400"/>
                <a:gridCol w="3291840"/>
                <a:gridCol w="1097280"/>
                <a:gridCol w="1097280"/>
              </a:tblGrid>
              <a:tr h="420624">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Market</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Segments in focus</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Why this market</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Priority</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Owner</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bl>
          </a:graphicData>
        </a:graphic>
      </p:graphicFrame>
      <p:sp>
        <p:nvSpPr>
          <p:cNvPr id="5" name="Shape 2"/>
          <p:cNvSpPr/>
          <p:nvPr/>
        </p:nvSpPr>
        <p:spPr>
          <a:xfrm>
            <a:off x="640080" y="1965960"/>
            <a:ext cx="10881360" cy="420624"/>
          </a:xfrm>
          <a:prstGeom prst="rect">
            <a:avLst/>
          </a:prstGeom>
          <a:solidFill>
            <a:srgbClr val="1E2761"/>
          </a:solidFill>
          <a:ln/>
        </p:spPr>
      </p:sp>
      <p:sp>
        <p:nvSpPr>
          <p:cNvPr id="6" name="Text 3"/>
          <p:cNvSpPr txBox="1"/>
          <p:nvPr/>
        </p:nvSpPr>
        <p:spPr>
          <a:xfrm>
            <a:off x="749808" y="1965960"/>
            <a:ext cx="201168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Market</a:t>
            </a:r>
            <a:endParaRPr lang="en-US" sz="1150" dirty="0"/>
          </a:p>
        </p:txBody>
      </p:sp>
      <p:sp>
        <p:nvSpPr>
          <p:cNvPr id="7" name="Text 4"/>
          <p:cNvSpPr txBox="1"/>
          <p:nvPr/>
        </p:nvSpPr>
        <p:spPr>
          <a:xfrm>
            <a:off x="2944368" y="1965960"/>
            <a:ext cx="301752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Segments in focus</a:t>
            </a:r>
            <a:endParaRPr lang="en-US" sz="1150" dirty="0"/>
          </a:p>
        </p:txBody>
      </p:sp>
      <p:sp>
        <p:nvSpPr>
          <p:cNvPr id="8" name="Text 5"/>
          <p:cNvSpPr txBox="1"/>
          <p:nvPr/>
        </p:nvSpPr>
        <p:spPr>
          <a:xfrm>
            <a:off x="6144768" y="1965960"/>
            <a:ext cx="310896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Why this market</a:t>
            </a:r>
            <a:endParaRPr lang="en-US" sz="1150" dirty="0"/>
          </a:p>
        </p:txBody>
      </p:sp>
      <p:sp>
        <p:nvSpPr>
          <p:cNvPr id="9" name="Text 6"/>
          <p:cNvSpPr txBox="1"/>
          <p:nvPr/>
        </p:nvSpPr>
        <p:spPr>
          <a:xfrm>
            <a:off x="9436608" y="1965960"/>
            <a:ext cx="91440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Priority</a:t>
            </a:r>
            <a:endParaRPr lang="en-US" sz="1150" dirty="0"/>
          </a:p>
        </p:txBody>
      </p:sp>
      <p:sp>
        <p:nvSpPr>
          <p:cNvPr id="10" name="Text 7"/>
          <p:cNvSpPr txBox="1"/>
          <p:nvPr/>
        </p:nvSpPr>
        <p:spPr>
          <a:xfrm>
            <a:off x="10533888" y="1965960"/>
            <a:ext cx="91440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Owner</a:t>
            </a:r>
            <a:endParaRPr lang="en-US" sz="1150" dirty="0"/>
          </a:p>
        </p:txBody>
      </p:sp>
      <p:sp>
        <p:nvSpPr>
          <p:cNvPr id="11" name="Text 8"/>
          <p:cNvSpPr txBox="1"/>
          <p:nvPr/>
        </p:nvSpPr>
        <p:spPr>
          <a:xfrm>
            <a:off x="640080" y="5815584"/>
            <a:ext cx="10881360" cy="365760"/>
          </a:xfrm>
          <a:prstGeom prst="rect">
            <a:avLst/>
          </a:prstGeom>
          <a:noFill/>
          <a:ln/>
        </p:spPr>
        <p:txBody>
          <a:bodyPr wrap="square" lIns="0" tIns="0" rIns="0" bIns="0" rtlCol="0" anchor="ctr"/>
          <a:lstStyle/>
          <a:p>
            <a:pPr indent="0" marL="0">
              <a:buNone/>
            </a:pPr>
            <a:r>
              <a:rPr lang="en-US" sz="1200" i="1" dirty="0">
                <a:solidFill>
                  <a:srgbClr val="8792AB"/>
                </a:solidFill>
                <a:latin typeface="Calibri" pitchFamily="34" charset="0"/>
                <a:ea typeface="Calibri" pitchFamily="34" charset="-122"/>
                <a:cs typeface="Calibri" pitchFamily="34" charset="-120"/>
              </a:rPr>
              <a:t>Priority: primary, secondary or watch. Rationale should stand on evidence, not familiarity.</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685800"/>
          </a:xfrm>
          <a:prstGeom prst="rect">
            <a:avLst/>
          </a:prstGeom>
          <a:noFill/>
          <a:ln/>
        </p:spPr>
        <p:txBody>
          <a:bodyPr wrap="square" lIns="0" tIns="0" rIns="0" bIns="0" rtlCol="0" anchor="ctr"/>
          <a:lstStyle/>
          <a:p>
            <a:pPr indent="0" marL="0">
              <a:buNone/>
            </a:pPr>
            <a:r>
              <a:rPr lang="en-US" sz="3600" b="1" dirty="0">
                <a:solidFill>
                  <a:srgbClr val="16203A"/>
                </a:solidFill>
                <a:latin typeface="Cambria" pitchFamily="34" charset="0"/>
                <a:ea typeface="Cambria" pitchFamily="34" charset="-122"/>
                <a:cs typeface="Cambria" pitchFamily="34" charset="-120"/>
              </a:rPr>
              <a:t>Template — target accounts</a:t>
            </a:r>
            <a:endParaRPr lang="en-US" sz="3600" dirty="0"/>
          </a:p>
        </p:txBody>
      </p:sp>
      <p:sp>
        <p:nvSpPr>
          <p:cNvPr id="3" name="Text 1"/>
          <p:cNvSpPr txBox="1"/>
          <p:nvPr/>
        </p:nvSpPr>
        <p:spPr>
          <a:xfrm>
            <a:off x="640080" y="1133856"/>
            <a:ext cx="10881360" cy="411480"/>
          </a:xfrm>
          <a:prstGeom prst="rect">
            <a:avLst/>
          </a:prstGeom>
          <a:noFill/>
          <a:ln/>
        </p:spPr>
        <p:txBody>
          <a:bodyPr wrap="square" lIns="0" tIns="0" rIns="0" bIns="0" rtlCol="0" anchor="ctr"/>
          <a:lstStyle/>
          <a:p>
            <a:pPr indent="0" marL="0">
              <a:buNone/>
            </a:pPr>
            <a:r>
              <a:rPr lang="en-US" sz="1450" dirty="0">
                <a:solidFill>
                  <a:srgbClr val="8792AB"/>
                </a:solidFill>
                <a:latin typeface="Calibri" pitchFamily="34" charset="0"/>
                <a:ea typeface="Calibri" pitchFamily="34" charset="-122"/>
                <a:cs typeface="Calibri" pitchFamily="34" charset="-120"/>
              </a:rPr>
              <a:t>Workstream 2 · one row per named account.</a:t>
            </a:r>
            <a:endParaRPr lang="en-US" sz="14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40080" y="1965960"/>
          <a:ext cx="10881360" cy="914400"/>
        </p:xfrm>
        <a:graphic>
          <a:graphicData uri="http://schemas.openxmlformats.org/drawingml/2006/table">
            <a:tbl>
              <a:tblPr/>
              <a:tblGrid>
                <a:gridCol w="2103120"/>
                <a:gridCol w="1188720"/>
                <a:gridCol w="1280160"/>
                <a:gridCol w="2926080"/>
                <a:gridCol w="1371600"/>
                <a:gridCol w="1097280"/>
                <a:gridCol w="914400"/>
              </a:tblGrid>
              <a:tr h="420624">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Account</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Market</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Segment</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Propositions to lead with</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Alliance</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Owner</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Stage</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bl>
          </a:graphicData>
        </a:graphic>
      </p:graphicFrame>
      <p:sp>
        <p:nvSpPr>
          <p:cNvPr id="5" name="Shape 2"/>
          <p:cNvSpPr/>
          <p:nvPr/>
        </p:nvSpPr>
        <p:spPr>
          <a:xfrm>
            <a:off x="640080" y="1965960"/>
            <a:ext cx="10881360" cy="420624"/>
          </a:xfrm>
          <a:prstGeom prst="rect">
            <a:avLst/>
          </a:prstGeom>
          <a:solidFill>
            <a:srgbClr val="1E2761"/>
          </a:solidFill>
          <a:ln/>
        </p:spPr>
      </p:sp>
      <p:sp>
        <p:nvSpPr>
          <p:cNvPr id="6" name="Text 3"/>
          <p:cNvSpPr txBox="1"/>
          <p:nvPr/>
        </p:nvSpPr>
        <p:spPr>
          <a:xfrm>
            <a:off x="749808" y="1965960"/>
            <a:ext cx="192024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Account</a:t>
            </a:r>
            <a:endParaRPr lang="en-US" sz="1150" dirty="0"/>
          </a:p>
        </p:txBody>
      </p:sp>
      <p:sp>
        <p:nvSpPr>
          <p:cNvPr id="7" name="Text 4"/>
          <p:cNvSpPr txBox="1"/>
          <p:nvPr/>
        </p:nvSpPr>
        <p:spPr>
          <a:xfrm>
            <a:off x="2852928" y="1965960"/>
            <a:ext cx="100584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Market</a:t>
            </a:r>
            <a:endParaRPr lang="en-US" sz="1150" dirty="0"/>
          </a:p>
        </p:txBody>
      </p:sp>
      <p:sp>
        <p:nvSpPr>
          <p:cNvPr id="8" name="Text 5"/>
          <p:cNvSpPr txBox="1"/>
          <p:nvPr/>
        </p:nvSpPr>
        <p:spPr>
          <a:xfrm>
            <a:off x="4041648" y="1965960"/>
            <a:ext cx="109728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Segment</a:t>
            </a:r>
            <a:endParaRPr lang="en-US" sz="1150" dirty="0"/>
          </a:p>
        </p:txBody>
      </p:sp>
      <p:sp>
        <p:nvSpPr>
          <p:cNvPr id="9" name="Text 6"/>
          <p:cNvSpPr txBox="1"/>
          <p:nvPr/>
        </p:nvSpPr>
        <p:spPr>
          <a:xfrm>
            <a:off x="5321808" y="1965960"/>
            <a:ext cx="274320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Propositions to lead with</a:t>
            </a:r>
            <a:endParaRPr lang="en-US" sz="1150" dirty="0"/>
          </a:p>
        </p:txBody>
      </p:sp>
      <p:sp>
        <p:nvSpPr>
          <p:cNvPr id="10" name="Text 7"/>
          <p:cNvSpPr txBox="1"/>
          <p:nvPr/>
        </p:nvSpPr>
        <p:spPr>
          <a:xfrm>
            <a:off x="8247888" y="1965960"/>
            <a:ext cx="118872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Alliance</a:t>
            </a:r>
            <a:endParaRPr lang="en-US" sz="1150" dirty="0"/>
          </a:p>
        </p:txBody>
      </p:sp>
      <p:sp>
        <p:nvSpPr>
          <p:cNvPr id="11" name="Text 8"/>
          <p:cNvSpPr txBox="1"/>
          <p:nvPr/>
        </p:nvSpPr>
        <p:spPr>
          <a:xfrm>
            <a:off x="9619488" y="1965960"/>
            <a:ext cx="91440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Owner</a:t>
            </a:r>
            <a:endParaRPr lang="en-US" sz="1150" dirty="0"/>
          </a:p>
        </p:txBody>
      </p:sp>
      <p:sp>
        <p:nvSpPr>
          <p:cNvPr id="12" name="Text 9"/>
          <p:cNvSpPr txBox="1"/>
          <p:nvPr/>
        </p:nvSpPr>
        <p:spPr>
          <a:xfrm>
            <a:off x="10716768" y="1965960"/>
            <a:ext cx="73152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Stage</a:t>
            </a:r>
            <a:endParaRPr lang="en-US" sz="1150" dirty="0"/>
          </a:p>
        </p:txBody>
      </p:sp>
      <p:sp>
        <p:nvSpPr>
          <p:cNvPr id="13" name="Text 10"/>
          <p:cNvSpPr txBox="1"/>
          <p:nvPr/>
        </p:nvSpPr>
        <p:spPr>
          <a:xfrm>
            <a:off x="640080" y="5815584"/>
            <a:ext cx="10881360" cy="365760"/>
          </a:xfrm>
          <a:prstGeom prst="rect">
            <a:avLst/>
          </a:prstGeom>
          <a:noFill/>
          <a:ln/>
        </p:spPr>
        <p:txBody>
          <a:bodyPr wrap="square" lIns="0" tIns="0" rIns="0" bIns="0" rtlCol="0" anchor="ctr"/>
          <a:lstStyle/>
          <a:p>
            <a:pPr indent="0" marL="0">
              <a:buNone/>
            </a:pPr>
            <a:r>
              <a:rPr lang="en-US" sz="1200" i="1" dirty="0">
                <a:solidFill>
                  <a:srgbClr val="8792AB"/>
                </a:solidFill>
                <a:latin typeface="Calibri" pitchFamily="34" charset="0"/>
                <a:ea typeface="Calibri" pitchFamily="34" charset="-122"/>
                <a:cs typeface="Calibri" pitchFamily="34" charset="-120"/>
              </a:rPr>
              <a:t>Stage: relationship only, qualified, active pursuit. Every account carries exactly one owner.</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685800"/>
          </a:xfrm>
          <a:prstGeom prst="rect">
            <a:avLst/>
          </a:prstGeom>
          <a:noFill/>
          <a:ln/>
        </p:spPr>
        <p:txBody>
          <a:bodyPr wrap="square" lIns="0" tIns="0" rIns="0" bIns="0" rtlCol="0" anchor="ctr"/>
          <a:lstStyle/>
          <a:p>
            <a:pPr indent="0" marL="0">
              <a:buNone/>
            </a:pPr>
            <a:r>
              <a:rPr lang="en-US" sz="3600" b="1" dirty="0">
                <a:solidFill>
                  <a:srgbClr val="16203A"/>
                </a:solidFill>
                <a:latin typeface="Cambria" pitchFamily="34" charset="0"/>
                <a:ea typeface="Cambria" pitchFamily="34" charset="-122"/>
                <a:cs typeface="Cambria" pitchFamily="34" charset="-120"/>
              </a:rPr>
              <a:t>Template — proposition catalogue</a:t>
            </a:r>
            <a:endParaRPr lang="en-US" sz="3600" dirty="0"/>
          </a:p>
        </p:txBody>
      </p:sp>
      <p:sp>
        <p:nvSpPr>
          <p:cNvPr id="3" name="Text 1"/>
          <p:cNvSpPr txBox="1"/>
          <p:nvPr/>
        </p:nvSpPr>
        <p:spPr>
          <a:xfrm>
            <a:off x="640080" y="1133856"/>
            <a:ext cx="10881360" cy="411480"/>
          </a:xfrm>
          <a:prstGeom prst="rect">
            <a:avLst/>
          </a:prstGeom>
          <a:noFill/>
          <a:ln/>
        </p:spPr>
        <p:txBody>
          <a:bodyPr wrap="square" lIns="0" tIns="0" rIns="0" bIns="0" rtlCol="0" anchor="ctr"/>
          <a:lstStyle/>
          <a:p>
            <a:pPr indent="0" marL="0">
              <a:buNone/>
            </a:pPr>
            <a:r>
              <a:rPr lang="en-US" sz="1450" dirty="0">
                <a:solidFill>
                  <a:srgbClr val="8792AB"/>
                </a:solidFill>
                <a:latin typeface="Calibri" pitchFamily="34" charset="0"/>
                <a:ea typeface="Calibri" pitchFamily="34" charset="-122"/>
                <a:cs typeface="Calibri" pitchFamily="34" charset="-120"/>
              </a:rPr>
              <a:t>Workstream 1 · one row per integrated proposition.</a:t>
            </a:r>
            <a:endParaRPr lang="en-US" sz="14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40080" y="1965960"/>
          <a:ext cx="10881360" cy="914400"/>
        </p:xfrm>
        <a:graphic>
          <a:graphicData uri="http://schemas.openxmlformats.org/drawingml/2006/table">
            <a:tbl>
              <a:tblPr/>
              <a:tblGrid>
                <a:gridCol w="2651760"/>
                <a:gridCol w="2194560"/>
                <a:gridCol w="2011680"/>
                <a:gridCol w="2377440"/>
                <a:gridCol w="1645920"/>
              </a:tblGrid>
              <a:tr h="420624">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Proposition</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Pillars involved</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Buyer</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Permitted variants</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Lead pillar</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bl>
          </a:graphicData>
        </a:graphic>
      </p:graphicFrame>
      <p:sp>
        <p:nvSpPr>
          <p:cNvPr id="5" name="Shape 2"/>
          <p:cNvSpPr/>
          <p:nvPr/>
        </p:nvSpPr>
        <p:spPr>
          <a:xfrm>
            <a:off x="640080" y="1965960"/>
            <a:ext cx="10881360" cy="420624"/>
          </a:xfrm>
          <a:prstGeom prst="rect">
            <a:avLst/>
          </a:prstGeom>
          <a:solidFill>
            <a:srgbClr val="1E2761"/>
          </a:solidFill>
          <a:ln/>
        </p:spPr>
      </p:sp>
      <p:sp>
        <p:nvSpPr>
          <p:cNvPr id="6" name="Text 3"/>
          <p:cNvSpPr txBox="1"/>
          <p:nvPr/>
        </p:nvSpPr>
        <p:spPr>
          <a:xfrm>
            <a:off x="749808" y="1965960"/>
            <a:ext cx="246888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Proposition</a:t>
            </a:r>
            <a:endParaRPr lang="en-US" sz="1150" dirty="0"/>
          </a:p>
        </p:txBody>
      </p:sp>
      <p:sp>
        <p:nvSpPr>
          <p:cNvPr id="7" name="Text 4"/>
          <p:cNvSpPr txBox="1"/>
          <p:nvPr/>
        </p:nvSpPr>
        <p:spPr>
          <a:xfrm>
            <a:off x="3401568" y="1965960"/>
            <a:ext cx="201168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Pillars involved</a:t>
            </a:r>
            <a:endParaRPr lang="en-US" sz="1150" dirty="0"/>
          </a:p>
        </p:txBody>
      </p:sp>
      <p:sp>
        <p:nvSpPr>
          <p:cNvPr id="8" name="Text 5"/>
          <p:cNvSpPr txBox="1"/>
          <p:nvPr/>
        </p:nvSpPr>
        <p:spPr>
          <a:xfrm>
            <a:off x="5596128" y="1965960"/>
            <a:ext cx="182880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Buyer</a:t>
            </a:r>
            <a:endParaRPr lang="en-US" sz="1150" dirty="0"/>
          </a:p>
        </p:txBody>
      </p:sp>
      <p:sp>
        <p:nvSpPr>
          <p:cNvPr id="9" name="Text 6"/>
          <p:cNvSpPr txBox="1"/>
          <p:nvPr/>
        </p:nvSpPr>
        <p:spPr>
          <a:xfrm>
            <a:off x="7607808" y="1965960"/>
            <a:ext cx="219456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Permitted variants</a:t>
            </a:r>
            <a:endParaRPr lang="en-US" sz="1150" dirty="0"/>
          </a:p>
        </p:txBody>
      </p:sp>
      <p:sp>
        <p:nvSpPr>
          <p:cNvPr id="10" name="Text 7"/>
          <p:cNvSpPr txBox="1"/>
          <p:nvPr/>
        </p:nvSpPr>
        <p:spPr>
          <a:xfrm>
            <a:off x="9985248" y="1965960"/>
            <a:ext cx="146304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Lead pillar</a:t>
            </a:r>
            <a:endParaRPr lang="en-US" sz="1150" dirty="0"/>
          </a:p>
        </p:txBody>
      </p:sp>
      <p:sp>
        <p:nvSpPr>
          <p:cNvPr id="11" name="Text 8"/>
          <p:cNvSpPr txBox="1"/>
          <p:nvPr/>
        </p:nvSpPr>
        <p:spPr>
          <a:xfrm>
            <a:off x="640080" y="5815584"/>
            <a:ext cx="10881360" cy="365760"/>
          </a:xfrm>
          <a:prstGeom prst="rect">
            <a:avLst/>
          </a:prstGeom>
          <a:noFill/>
          <a:ln/>
        </p:spPr>
        <p:txBody>
          <a:bodyPr wrap="square" lIns="0" tIns="0" rIns="0" bIns="0" rtlCol="0" anchor="ctr"/>
          <a:lstStyle/>
          <a:p>
            <a:pPr indent="0" marL="0">
              <a:buNone/>
            </a:pPr>
            <a:r>
              <a:rPr lang="en-US" sz="1200" i="1" dirty="0">
                <a:solidFill>
                  <a:srgbClr val="8792AB"/>
                </a:solidFill>
                <a:latin typeface="Calibri" pitchFamily="34" charset="0"/>
                <a:ea typeface="Calibri" pitchFamily="34" charset="-122"/>
                <a:cs typeface="Calibri" pitchFamily="34" charset="-120"/>
              </a:rPr>
              <a:t>Integrated propositions first. A single-pillar offer is recorded as a variant, not as its own row.</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685800"/>
          </a:xfrm>
          <a:prstGeom prst="rect">
            <a:avLst/>
          </a:prstGeom>
          <a:noFill/>
          <a:ln/>
        </p:spPr>
        <p:txBody>
          <a:bodyPr wrap="square" lIns="0" tIns="0" rIns="0" bIns="0" rtlCol="0" anchor="ctr"/>
          <a:lstStyle/>
          <a:p>
            <a:pPr indent="0" marL="0">
              <a:buNone/>
            </a:pPr>
            <a:r>
              <a:rPr lang="en-US" sz="3600" b="1" dirty="0">
                <a:solidFill>
                  <a:srgbClr val="16203A"/>
                </a:solidFill>
                <a:latin typeface="Cambria" pitchFamily="34" charset="0"/>
                <a:ea typeface="Cambria" pitchFamily="34" charset="-122"/>
                <a:cs typeface="Cambria" pitchFamily="34" charset="-120"/>
              </a:rPr>
              <a:t>Template — sizing and pricing</a:t>
            </a:r>
            <a:endParaRPr lang="en-US" sz="3600" dirty="0"/>
          </a:p>
        </p:txBody>
      </p:sp>
      <p:sp>
        <p:nvSpPr>
          <p:cNvPr id="3" name="Text 1"/>
          <p:cNvSpPr txBox="1"/>
          <p:nvPr/>
        </p:nvSpPr>
        <p:spPr>
          <a:xfrm>
            <a:off x="640080" y="1133856"/>
            <a:ext cx="10881360" cy="411480"/>
          </a:xfrm>
          <a:prstGeom prst="rect">
            <a:avLst/>
          </a:prstGeom>
          <a:noFill/>
          <a:ln/>
        </p:spPr>
        <p:txBody>
          <a:bodyPr wrap="square" lIns="0" tIns="0" rIns="0" bIns="0" rtlCol="0" anchor="ctr"/>
          <a:lstStyle/>
          <a:p>
            <a:pPr indent="0" marL="0">
              <a:buNone/>
            </a:pPr>
            <a:r>
              <a:rPr lang="en-US" sz="1450" dirty="0">
                <a:solidFill>
                  <a:srgbClr val="8792AB"/>
                </a:solidFill>
                <a:latin typeface="Calibri" pitchFamily="34" charset="0"/>
                <a:ea typeface="Calibri" pitchFamily="34" charset="-122"/>
                <a:cs typeface="Calibri" pitchFamily="34" charset="-120"/>
              </a:rPr>
              <a:t>Workstream 3 · one row per offering.</a:t>
            </a:r>
            <a:endParaRPr lang="en-US" sz="14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40080" y="1965960"/>
          <a:ext cx="10881360" cy="914400"/>
        </p:xfrm>
        <a:graphic>
          <a:graphicData uri="http://schemas.openxmlformats.org/drawingml/2006/table">
            <a:tbl>
              <a:tblPr/>
              <a:tblGrid>
                <a:gridCol w="2377440"/>
                <a:gridCol w="2926080"/>
                <a:gridCol w="1828800"/>
                <a:gridCol w="1920240"/>
                <a:gridCol w="1828800"/>
              </a:tblGrid>
              <a:tr h="420624">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Offering</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What drives scope</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Typical deal size</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Market price band</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Notes</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bl>
          </a:graphicData>
        </a:graphic>
      </p:graphicFrame>
      <p:sp>
        <p:nvSpPr>
          <p:cNvPr id="5" name="Shape 2"/>
          <p:cNvSpPr/>
          <p:nvPr/>
        </p:nvSpPr>
        <p:spPr>
          <a:xfrm>
            <a:off x="640080" y="1965960"/>
            <a:ext cx="10881360" cy="420624"/>
          </a:xfrm>
          <a:prstGeom prst="rect">
            <a:avLst/>
          </a:prstGeom>
          <a:solidFill>
            <a:srgbClr val="1E2761"/>
          </a:solidFill>
          <a:ln/>
        </p:spPr>
      </p:sp>
      <p:sp>
        <p:nvSpPr>
          <p:cNvPr id="6" name="Text 3"/>
          <p:cNvSpPr txBox="1"/>
          <p:nvPr/>
        </p:nvSpPr>
        <p:spPr>
          <a:xfrm>
            <a:off x="749808" y="1965960"/>
            <a:ext cx="219456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Offering</a:t>
            </a:r>
            <a:endParaRPr lang="en-US" sz="1150" dirty="0"/>
          </a:p>
        </p:txBody>
      </p:sp>
      <p:sp>
        <p:nvSpPr>
          <p:cNvPr id="7" name="Text 4"/>
          <p:cNvSpPr txBox="1"/>
          <p:nvPr/>
        </p:nvSpPr>
        <p:spPr>
          <a:xfrm>
            <a:off x="3127248" y="1965960"/>
            <a:ext cx="274320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What drives scope</a:t>
            </a:r>
            <a:endParaRPr lang="en-US" sz="1150" dirty="0"/>
          </a:p>
        </p:txBody>
      </p:sp>
      <p:sp>
        <p:nvSpPr>
          <p:cNvPr id="8" name="Text 5"/>
          <p:cNvSpPr txBox="1"/>
          <p:nvPr/>
        </p:nvSpPr>
        <p:spPr>
          <a:xfrm>
            <a:off x="6053328" y="1965960"/>
            <a:ext cx="164592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Typical deal size</a:t>
            </a:r>
            <a:endParaRPr lang="en-US" sz="1150" dirty="0"/>
          </a:p>
        </p:txBody>
      </p:sp>
      <p:sp>
        <p:nvSpPr>
          <p:cNvPr id="9" name="Text 6"/>
          <p:cNvSpPr txBox="1"/>
          <p:nvPr/>
        </p:nvSpPr>
        <p:spPr>
          <a:xfrm>
            <a:off x="7882128" y="1965960"/>
            <a:ext cx="173736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Market price band</a:t>
            </a:r>
            <a:endParaRPr lang="en-US" sz="1150" dirty="0"/>
          </a:p>
        </p:txBody>
      </p:sp>
      <p:sp>
        <p:nvSpPr>
          <p:cNvPr id="10" name="Text 7"/>
          <p:cNvSpPr txBox="1"/>
          <p:nvPr/>
        </p:nvSpPr>
        <p:spPr>
          <a:xfrm>
            <a:off x="9802368" y="1965960"/>
            <a:ext cx="164592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Notes</a:t>
            </a:r>
            <a:endParaRPr lang="en-US" sz="1150" dirty="0"/>
          </a:p>
        </p:txBody>
      </p:sp>
      <p:sp>
        <p:nvSpPr>
          <p:cNvPr id="11" name="Text 8"/>
          <p:cNvSpPr txBox="1"/>
          <p:nvPr/>
        </p:nvSpPr>
        <p:spPr>
          <a:xfrm>
            <a:off x="640080" y="5815584"/>
            <a:ext cx="10881360" cy="365760"/>
          </a:xfrm>
          <a:prstGeom prst="rect">
            <a:avLst/>
          </a:prstGeom>
          <a:noFill/>
          <a:ln/>
        </p:spPr>
        <p:txBody>
          <a:bodyPr wrap="square" lIns="0" tIns="0" rIns="0" bIns="0" rtlCol="0" anchor="ctr"/>
          <a:lstStyle/>
          <a:p>
            <a:pPr indent="0" marL="0">
              <a:buNone/>
            </a:pPr>
            <a:r>
              <a:rPr lang="en-US" sz="1200" i="1" dirty="0">
                <a:solidFill>
                  <a:srgbClr val="8792AB"/>
                </a:solidFill>
                <a:latin typeface="Calibri" pitchFamily="34" charset="0"/>
                <a:ea typeface="Calibri" pitchFamily="34" charset="-122"/>
                <a:cs typeface="Calibri" pitchFamily="34" charset="-120"/>
              </a:rPr>
              <a:t>Bands, not point prices. Name the drivers that move the number.</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685800"/>
          </a:xfrm>
          <a:prstGeom prst="rect">
            <a:avLst/>
          </a:prstGeom>
          <a:noFill/>
          <a:ln/>
        </p:spPr>
        <p:txBody>
          <a:bodyPr wrap="square" lIns="0" tIns="0" rIns="0" bIns="0" rtlCol="0" anchor="ctr"/>
          <a:lstStyle/>
          <a:p>
            <a:pPr indent="0" marL="0">
              <a:buNone/>
            </a:pPr>
            <a:r>
              <a:rPr lang="en-US" sz="3600" b="1" dirty="0">
                <a:solidFill>
                  <a:srgbClr val="16203A"/>
                </a:solidFill>
                <a:latin typeface="Cambria" pitchFamily="34" charset="0"/>
                <a:ea typeface="Cambria" pitchFamily="34" charset="-122"/>
                <a:cs typeface="Cambria" pitchFamily="34" charset="-120"/>
              </a:rPr>
              <a:t>Template — revenue targets</a:t>
            </a:r>
            <a:endParaRPr lang="en-US" sz="3600" dirty="0"/>
          </a:p>
        </p:txBody>
      </p:sp>
      <p:sp>
        <p:nvSpPr>
          <p:cNvPr id="3" name="Text 1"/>
          <p:cNvSpPr txBox="1"/>
          <p:nvPr/>
        </p:nvSpPr>
        <p:spPr>
          <a:xfrm>
            <a:off x="640080" y="1133856"/>
            <a:ext cx="10881360" cy="411480"/>
          </a:xfrm>
          <a:prstGeom prst="rect">
            <a:avLst/>
          </a:prstGeom>
          <a:noFill/>
          <a:ln/>
        </p:spPr>
        <p:txBody>
          <a:bodyPr wrap="square" lIns="0" tIns="0" rIns="0" bIns="0" rtlCol="0" anchor="ctr"/>
          <a:lstStyle/>
          <a:p>
            <a:pPr indent="0" marL="0">
              <a:buNone/>
            </a:pPr>
            <a:r>
              <a:rPr lang="en-US" sz="1450" dirty="0">
                <a:solidFill>
                  <a:srgbClr val="8792AB"/>
                </a:solidFill>
                <a:latin typeface="Calibri" pitchFamily="34" charset="0"/>
                <a:ea typeface="Calibri" pitchFamily="34" charset="-122"/>
                <a:cs typeface="Calibri" pitchFamily="34" charset="-120"/>
              </a:rPr>
              <a:t>Workstream 3 · one row per market, one column per offering group.</a:t>
            </a:r>
            <a:endParaRPr lang="en-US" sz="145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40080" y="1965960"/>
          <a:ext cx="10881360" cy="914400"/>
        </p:xfrm>
        <a:graphic>
          <a:graphicData uri="http://schemas.openxmlformats.org/drawingml/2006/table">
            <a:tbl>
              <a:tblPr/>
              <a:tblGrid>
                <a:gridCol w="2194560"/>
                <a:gridCol w="1920240"/>
                <a:gridCol w="1737360"/>
                <a:gridCol w="2011680"/>
                <a:gridCol w="1554480"/>
                <a:gridCol w="1463040"/>
              </a:tblGrid>
              <a:tr h="420624">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Market</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Industry Solutions</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Data &amp; AI</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Engineering &amp; Cloud</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Integrated</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Total</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bl>
          </a:graphicData>
        </a:graphic>
      </p:graphicFrame>
      <p:sp>
        <p:nvSpPr>
          <p:cNvPr id="5" name="Shape 2"/>
          <p:cNvSpPr/>
          <p:nvPr/>
        </p:nvSpPr>
        <p:spPr>
          <a:xfrm>
            <a:off x="640080" y="1965960"/>
            <a:ext cx="10881360" cy="420624"/>
          </a:xfrm>
          <a:prstGeom prst="rect">
            <a:avLst/>
          </a:prstGeom>
          <a:solidFill>
            <a:srgbClr val="1E2761"/>
          </a:solidFill>
          <a:ln/>
        </p:spPr>
      </p:sp>
      <p:sp>
        <p:nvSpPr>
          <p:cNvPr id="6" name="Text 3"/>
          <p:cNvSpPr txBox="1"/>
          <p:nvPr/>
        </p:nvSpPr>
        <p:spPr>
          <a:xfrm>
            <a:off x="749808" y="1965960"/>
            <a:ext cx="201168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Market</a:t>
            </a:r>
            <a:endParaRPr lang="en-US" sz="1150" dirty="0"/>
          </a:p>
        </p:txBody>
      </p:sp>
      <p:sp>
        <p:nvSpPr>
          <p:cNvPr id="7" name="Text 4"/>
          <p:cNvSpPr txBox="1"/>
          <p:nvPr/>
        </p:nvSpPr>
        <p:spPr>
          <a:xfrm>
            <a:off x="2944368" y="1965960"/>
            <a:ext cx="173736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Industry Solutions</a:t>
            </a:r>
            <a:endParaRPr lang="en-US" sz="1150" dirty="0"/>
          </a:p>
        </p:txBody>
      </p:sp>
      <p:sp>
        <p:nvSpPr>
          <p:cNvPr id="8" name="Text 5"/>
          <p:cNvSpPr txBox="1"/>
          <p:nvPr/>
        </p:nvSpPr>
        <p:spPr>
          <a:xfrm>
            <a:off x="4864608" y="1965960"/>
            <a:ext cx="155448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Data &amp; AI</a:t>
            </a:r>
            <a:endParaRPr lang="en-US" sz="1150" dirty="0"/>
          </a:p>
        </p:txBody>
      </p:sp>
      <p:sp>
        <p:nvSpPr>
          <p:cNvPr id="9" name="Text 6"/>
          <p:cNvSpPr txBox="1"/>
          <p:nvPr/>
        </p:nvSpPr>
        <p:spPr>
          <a:xfrm>
            <a:off x="6601968" y="1965960"/>
            <a:ext cx="182880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Engineering &amp; Cloud</a:t>
            </a:r>
            <a:endParaRPr lang="en-US" sz="1150" dirty="0"/>
          </a:p>
        </p:txBody>
      </p:sp>
      <p:sp>
        <p:nvSpPr>
          <p:cNvPr id="10" name="Text 7"/>
          <p:cNvSpPr txBox="1"/>
          <p:nvPr/>
        </p:nvSpPr>
        <p:spPr>
          <a:xfrm>
            <a:off x="8613648" y="1965960"/>
            <a:ext cx="137160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Integrated</a:t>
            </a:r>
            <a:endParaRPr lang="en-US" sz="1150" dirty="0"/>
          </a:p>
        </p:txBody>
      </p:sp>
      <p:sp>
        <p:nvSpPr>
          <p:cNvPr id="11" name="Text 8"/>
          <p:cNvSpPr txBox="1"/>
          <p:nvPr/>
        </p:nvSpPr>
        <p:spPr>
          <a:xfrm>
            <a:off x="10168128" y="1965960"/>
            <a:ext cx="128016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Total</a:t>
            </a:r>
            <a:endParaRPr lang="en-US" sz="1150" dirty="0"/>
          </a:p>
        </p:txBody>
      </p:sp>
      <p:sp>
        <p:nvSpPr>
          <p:cNvPr id="12" name="Text 9"/>
          <p:cNvSpPr txBox="1"/>
          <p:nvPr/>
        </p:nvSpPr>
        <p:spPr>
          <a:xfrm>
            <a:off x="640080" y="5815584"/>
            <a:ext cx="10881360" cy="365760"/>
          </a:xfrm>
          <a:prstGeom prst="rect">
            <a:avLst/>
          </a:prstGeom>
          <a:noFill/>
          <a:ln/>
        </p:spPr>
        <p:txBody>
          <a:bodyPr wrap="square" lIns="0" tIns="0" rIns="0" bIns="0" rtlCol="0" anchor="ctr"/>
          <a:lstStyle/>
          <a:p>
            <a:pPr indent="0" marL="0">
              <a:buNone/>
            </a:pPr>
            <a:r>
              <a:rPr lang="en-US" sz="1200" i="1" dirty="0">
                <a:solidFill>
                  <a:srgbClr val="8792AB"/>
                </a:solidFill>
                <a:latin typeface="Calibri" pitchFamily="34" charset="0"/>
                <a:ea typeface="Calibri" pitchFamily="34" charset="-122"/>
                <a:cs typeface="Calibri" pitchFamily="34" charset="-120"/>
              </a:rPr>
              <a:t>Targets are set by market and by offering, then reconciled against capacity before they are agreed.</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685800"/>
          </a:xfrm>
          <a:prstGeom prst="rect">
            <a:avLst/>
          </a:prstGeom>
          <a:noFill/>
          <a:ln/>
        </p:spPr>
        <p:txBody>
          <a:bodyPr wrap="square" lIns="0" tIns="0" rIns="0" bIns="0" rtlCol="0" anchor="ctr"/>
          <a:lstStyle/>
          <a:p>
            <a:pPr indent="0" marL="0">
              <a:buNone/>
            </a:pPr>
            <a:r>
              <a:rPr lang="en-US" sz="3600" b="1" dirty="0">
                <a:solidFill>
                  <a:srgbClr val="16203A"/>
                </a:solidFill>
                <a:latin typeface="Cambria" pitchFamily="34" charset="0"/>
                <a:ea typeface="Cambria" pitchFamily="34" charset="-122"/>
                <a:cs typeface="Cambria" pitchFamily="34" charset="-120"/>
              </a:rPr>
              <a:t>Template — coverage and ownership</a:t>
            </a:r>
            <a:endParaRPr lang="en-US" sz="3600" dirty="0"/>
          </a:p>
        </p:txBody>
      </p:sp>
      <p:sp>
        <p:nvSpPr>
          <p:cNvPr id="3" name="Text 1"/>
          <p:cNvSpPr txBox="1"/>
          <p:nvPr/>
        </p:nvSpPr>
        <p:spPr>
          <a:xfrm>
            <a:off x="640080" y="1133856"/>
            <a:ext cx="10881360" cy="411480"/>
          </a:xfrm>
          <a:prstGeom prst="rect">
            <a:avLst/>
          </a:prstGeom>
          <a:noFill/>
          <a:ln/>
        </p:spPr>
        <p:txBody>
          <a:bodyPr wrap="square" lIns="0" tIns="0" rIns="0" bIns="0" rtlCol="0" anchor="ctr"/>
          <a:lstStyle/>
          <a:p>
            <a:pPr indent="0" marL="0">
              <a:buNone/>
            </a:pPr>
            <a:r>
              <a:rPr lang="en-US" sz="1450" dirty="0">
                <a:solidFill>
                  <a:srgbClr val="8792AB"/>
                </a:solidFill>
                <a:latin typeface="Calibri" pitchFamily="34" charset="0"/>
                <a:ea typeface="Calibri" pitchFamily="34" charset="-122"/>
                <a:cs typeface="Calibri" pitchFamily="34" charset="-120"/>
              </a:rPr>
              <a:t>Workstream 4 · one row per priority account.</a:t>
            </a:r>
            <a:endParaRPr lang="en-US" sz="145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40080" y="1965960"/>
          <a:ext cx="10881360" cy="914400"/>
        </p:xfrm>
        <a:graphic>
          <a:graphicData uri="http://schemas.openxmlformats.org/drawingml/2006/table">
            <a:tbl>
              <a:tblPr/>
              <a:tblGrid>
                <a:gridCol w="2651760"/>
                <a:gridCol w="2194560"/>
                <a:gridCol w="2103120"/>
                <a:gridCol w="2103120"/>
                <a:gridCol w="1828800"/>
              </a:tblGrid>
              <a:tr h="420624">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Account</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Partner owner</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Alliance lead</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Delivery lead</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Contact cadence</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bl>
          </a:graphicData>
        </a:graphic>
      </p:graphicFrame>
      <p:sp>
        <p:nvSpPr>
          <p:cNvPr id="5" name="Shape 2"/>
          <p:cNvSpPr/>
          <p:nvPr/>
        </p:nvSpPr>
        <p:spPr>
          <a:xfrm>
            <a:off x="640080" y="1965960"/>
            <a:ext cx="10881360" cy="420624"/>
          </a:xfrm>
          <a:prstGeom prst="rect">
            <a:avLst/>
          </a:prstGeom>
          <a:solidFill>
            <a:srgbClr val="1E2761"/>
          </a:solidFill>
          <a:ln/>
        </p:spPr>
      </p:sp>
      <p:sp>
        <p:nvSpPr>
          <p:cNvPr id="6" name="Text 3"/>
          <p:cNvSpPr txBox="1"/>
          <p:nvPr/>
        </p:nvSpPr>
        <p:spPr>
          <a:xfrm>
            <a:off x="749808" y="1965960"/>
            <a:ext cx="246888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Account</a:t>
            </a:r>
            <a:endParaRPr lang="en-US" sz="1150" dirty="0"/>
          </a:p>
        </p:txBody>
      </p:sp>
      <p:sp>
        <p:nvSpPr>
          <p:cNvPr id="7" name="Text 4"/>
          <p:cNvSpPr txBox="1"/>
          <p:nvPr/>
        </p:nvSpPr>
        <p:spPr>
          <a:xfrm>
            <a:off x="3401568" y="1965960"/>
            <a:ext cx="201168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Partner owner</a:t>
            </a:r>
            <a:endParaRPr lang="en-US" sz="1150" dirty="0"/>
          </a:p>
        </p:txBody>
      </p:sp>
      <p:sp>
        <p:nvSpPr>
          <p:cNvPr id="8" name="Text 5"/>
          <p:cNvSpPr txBox="1"/>
          <p:nvPr/>
        </p:nvSpPr>
        <p:spPr>
          <a:xfrm>
            <a:off x="5596128" y="1965960"/>
            <a:ext cx="192024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Alliance lead</a:t>
            </a:r>
            <a:endParaRPr lang="en-US" sz="1150" dirty="0"/>
          </a:p>
        </p:txBody>
      </p:sp>
      <p:sp>
        <p:nvSpPr>
          <p:cNvPr id="9" name="Text 6"/>
          <p:cNvSpPr txBox="1"/>
          <p:nvPr/>
        </p:nvSpPr>
        <p:spPr>
          <a:xfrm>
            <a:off x="7699248" y="1965960"/>
            <a:ext cx="192024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Delivery lead</a:t>
            </a:r>
            <a:endParaRPr lang="en-US" sz="1150" dirty="0"/>
          </a:p>
        </p:txBody>
      </p:sp>
      <p:sp>
        <p:nvSpPr>
          <p:cNvPr id="10" name="Text 7"/>
          <p:cNvSpPr txBox="1"/>
          <p:nvPr/>
        </p:nvSpPr>
        <p:spPr>
          <a:xfrm>
            <a:off x="9802368" y="1965960"/>
            <a:ext cx="164592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Contact cadence</a:t>
            </a:r>
            <a:endParaRPr lang="en-US" sz="1150" dirty="0"/>
          </a:p>
        </p:txBody>
      </p:sp>
      <p:sp>
        <p:nvSpPr>
          <p:cNvPr id="11" name="Text 8"/>
          <p:cNvSpPr txBox="1"/>
          <p:nvPr/>
        </p:nvSpPr>
        <p:spPr>
          <a:xfrm>
            <a:off x="640080" y="5815584"/>
            <a:ext cx="10881360" cy="365760"/>
          </a:xfrm>
          <a:prstGeom prst="rect">
            <a:avLst/>
          </a:prstGeom>
          <a:noFill/>
          <a:ln/>
        </p:spPr>
        <p:txBody>
          <a:bodyPr wrap="square" lIns="0" tIns="0" rIns="0" bIns="0" rtlCol="0" anchor="ctr"/>
          <a:lstStyle/>
          <a:p>
            <a:pPr indent="0" marL="0">
              <a:buNone/>
            </a:pPr>
            <a:r>
              <a:rPr lang="en-US" sz="1200" i="1" dirty="0">
                <a:solidFill>
                  <a:srgbClr val="8792AB"/>
                </a:solidFill>
                <a:latin typeface="Calibri" pitchFamily="34" charset="0"/>
                <a:ea typeface="Calibri" pitchFamily="34" charset="-122"/>
                <a:cs typeface="Calibri" pitchFamily="34" charset="-120"/>
              </a:rPr>
              <a:t>Partner owner means our accountable partner. Alliance lead is the vendor relationship behind the account.</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685800"/>
          </a:xfrm>
          <a:prstGeom prst="rect">
            <a:avLst/>
          </a:prstGeom>
          <a:noFill/>
          <a:ln/>
        </p:spPr>
        <p:txBody>
          <a:bodyPr wrap="square" lIns="0" tIns="0" rIns="0" bIns="0" rtlCol="0" anchor="ctr"/>
          <a:lstStyle/>
          <a:p>
            <a:pPr indent="0" marL="0">
              <a:buNone/>
            </a:pPr>
            <a:r>
              <a:rPr lang="en-US" sz="3600" b="1" dirty="0">
                <a:solidFill>
                  <a:srgbClr val="16203A"/>
                </a:solidFill>
                <a:latin typeface="Cambria" pitchFamily="34" charset="0"/>
                <a:ea typeface="Cambria" pitchFamily="34" charset="-122"/>
                <a:cs typeface="Cambria" pitchFamily="34" charset="-120"/>
              </a:rPr>
              <a:t>Template — team and talent</a:t>
            </a:r>
            <a:endParaRPr lang="en-US" sz="3600" dirty="0"/>
          </a:p>
        </p:txBody>
      </p:sp>
      <p:sp>
        <p:nvSpPr>
          <p:cNvPr id="3" name="Text 1"/>
          <p:cNvSpPr txBox="1"/>
          <p:nvPr/>
        </p:nvSpPr>
        <p:spPr>
          <a:xfrm>
            <a:off x="640080" y="1133856"/>
            <a:ext cx="10881360" cy="411480"/>
          </a:xfrm>
          <a:prstGeom prst="rect">
            <a:avLst/>
          </a:prstGeom>
          <a:noFill/>
          <a:ln/>
        </p:spPr>
        <p:txBody>
          <a:bodyPr wrap="square" lIns="0" tIns="0" rIns="0" bIns="0" rtlCol="0" anchor="ctr"/>
          <a:lstStyle/>
          <a:p>
            <a:pPr indent="0" marL="0">
              <a:buNone/>
            </a:pPr>
            <a:r>
              <a:rPr lang="en-US" sz="1450" dirty="0">
                <a:solidFill>
                  <a:srgbClr val="8792AB"/>
                </a:solidFill>
                <a:latin typeface="Calibri" pitchFamily="34" charset="0"/>
                <a:ea typeface="Calibri" pitchFamily="34" charset="-122"/>
                <a:cs typeface="Calibri" pitchFamily="34" charset="-120"/>
              </a:rPr>
              <a:t>Workstream 6 · one row per role and level.</a:t>
            </a:r>
            <a:endParaRPr lang="en-US" sz="145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40080" y="1965960"/>
          <a:ext cx="10881360" cy="914400"/>
        </p:xfrm>
        <a:graphic>
          <a:graphicData uri="http://schemas.openxmlformats.org/drawingml/2006/table">
            <a:tbl>
              <a:tblPr/>
              <a:tblGrid>
                <a:gridCol w="2377440"/>
                <a:gridCol w="1828800"/>
                <a:gridCol w="1828800"/>
                <a:gridCol w="1280160"/>
                <a:gridCol w="1920240"/>
                <a:gridCol w="1645920"/>
              </a:tblGrid>
              <a:tr h="420624">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Role and level</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Dedicated today</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Shared available</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Gap</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Build, borrow or buy</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By when</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bl>
          </a:graphicData>
        </a:graphic>
      </p:graphicFrame>
      <p:sp>
        <p:nvSpPr>
          <p:cNvPr id="5" name="Shape 2"/>
          <p:cNvSpPr/>
          <p:nvPr/>
        </p:nvSpPr>
        <p:spPr>
          <a:xfrm>
            <a:off x="640080" y="1965960"/>
            <a:ext cx="10881360" cy="420624"/>
          </a:xfrm>
          <a:prstGeom prst="rect">
            <a:avLst/>
          </a:prstGeom>
          <a:solidFill>
            <a:srgbClr val="1E2761"/>
          </a:solidFill>
          <a:ln/>
        </p:spPr>
      </p:sp>
      <p:sp>
        <p:nvSpPr>
          <p:cNvPr id="6" name="Text 3"/>
          <p:cNvSpPr txBox="1"/>
          <p:nvPr/>
        </p:nvSpPr>
        <p:spPr>
          <a:xfrm>
            <a:off x="749808" y="1965960"/>
            <a:ext cx="219456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Role and level</a:t>
            </a:r>
            <a:endParaRPr lang="en-US" sz="1150" dirty="0"/>
          </a:p>
        </p:txBody>
      </p:sp>
      <p:sp>
        <p:nvSpPr>
          <p:cNvPr id="7" name="Text 4"/>
          <p:cNvSpPr txBox="1"/>
          <p:nvPr/>
        </p:nvSpPr>
        <p:spPr>
          <a:xfrm>
            <a:off x="3127248" y="1965960"/>
            <a:ext cx="164592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Dedicated today</a:t>
            </a:r>
            <a:endParaRPr lang="en-US" sz="1150" dirty="0"/>
          </a:p>
        </p:txBody>
      </p:sp>
      <p:sp>
        <p:nvSpPr>
          <p:cNvPr id="8" name="Text 5"/>
          <p:cNvSpPr txBox="1"/>
          <p:nvPr/>
        </p:nvSpPr>
        <p:spPr>
          <a:xfrm>
            <a:off x="4956048" y="1965960"/>
            <a:ext cx="164592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Shared available</a:t>
            </a:r>
            <a:endParaRPr lang="en-US" sz="1150" dirty="0"/>
          </a:p>
        </p:txBody>
      </p:sp>
      <p:sp>
        <p:nvSpPr>
          <p:cNvPr id="9" name="Text 6"/>
          <p:cNvSpPr txBox="1"/>
          <p:nvPr/>
        </p:nvSpPr>
        <p:spPr>
          <a:xfrm>
            <a:off x="6784848" y="1965960"/>
            <a:ext cx="109728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Gap</a:t>
            </a:r>
            <a:endParaRPr lang="en-US" sz="1150" dirty="0"/>
          </a:p>
        </p:txBody>
      </p:sp>
      <p:sp>
        <p:nvSpPr>
          <p:cNvPr id="10" name="Text 7"/>
          <p:cNvSpPr txBox="1"/>
          <p:nvPr/>
        </p:nvSpPr>
        <p:spPr>
          <a:xfrm>
            <a:off x="8065008" y="1965960"/>
            <a:ext cx="173736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Build, borrow or buy</a:t>
            </a:r>
            <a:endParaRPr lang="en-US" sz="1150" dirty="0"/>
          </a:p>
        </p:txBody>
      </p:sp>
      <p:sp>
        <p:nvSpPr>
          <p:cNvPr id="11" name="Text 8"/>
          <p:cNvSpPr txBox="1"/>
          <p:nvPr/>
        </p:nvSpPr>
        <p:spPr>
          <a:xfrm>
            <a:off x="9985248" y="1965960"/>
            <a:ext cx="146304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By when</a:t>
            </a:r>
            <a:endParaRPr lang="en-US" sz="1150" dirty="0"/>
          </a:p>
        </p:txBody>
      </p:sp>
      <p:sp>
        <p:nvSpPr>
          <p:cNvPr id="12" name="Text 9"/>
          <p:cNvSpPr txBox="1"/>
          <p:nvPr/>
        </p:nvSpPr>
        <p:spPr>
          <a:xfrm>
            <a:off x="640080" y="5815584"/>
            <a:ext cx="10881360" cy="365760"/>
          </a:xfrm>
          <a:prstGeom prst="rect">
            <a:avLst/>
          </a:prstGeom>
          <a:noFill/>
          <a:ln/>
        </p:spPr>
        <p:txBody>
          <a:bodyPr wrap="square" lIns="0" tIns="0" rIns="0" bIns="0" rtlCol="0" anchor="ctr"/>
          <a:lstStyle/>
          <a:p>
            <a:pPr indent="0" marL="0">
              <a:buNone/>
            </a:pPr>
            <a:r>
              <a:rPr lang="en-US" sz="1200" i="1" dirty="0">
                <a:solidFill>
                  <a:srgbClr val="8792AB"/>
                </a:solidFill>
                <a:latin typeface="Calibri" pitchFamily="34" charset="0"/>
                <a:ea typeface="Calibri" pitchFamily="34" charset="-122"/>
                <a:cs typeface="Calibri" pitchFamily="34" charset="-120"/>
              </a:rPr>
              <a:t>Dedicated means FSI-exclusive. Shared means time we can genuinely count on, not headcount that exists.</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685800"/>
          </a:xfrm>
          <a:prstGeom prst="rect">
            <a:avLst/>
          </a:prstGeom>
          <a:noFill/>
          <a:ln/>
        </p:spPr>
        <p:txBody>
          <a:bodyPr wrap="square" lIns="0" tIns="0" rIns="0" bIns="0" rtlCol="0" anchor="ctr"/>
          <a:lstStyle/>
          <a:p>
            <a:pPr indent="0" marL="0">
              <a:buNone/>
            </a:pPr>
            <a:r>
              <a:rPr lang="en-US" sz="3600" b="1" dirty="0">
                <a:solidFill>
                  <a:srgbClr val="16203A"/>
                </a:solidFill>
                <a:latin typeface="Cambria" pitchFamily="34" charset="0"/>
                <a:ea typeface="Cambria" pitchFamily="34" charset="-122"/>
                <a:cs typeface="Cambria" pitchFamily="34" charset="-120"/>
              </a:rPr>
              <a:t>Template — eminence calendar</a:t>
            </a:r>
            <a:endParaRPr lang="en-US" sz="3600" dirty="0"/>
          </a:p>
        </p:txBody>
      </p:sp>
      <p:sp>
        <p:nvSpPr>
          <p:cNvPr id="3" name="Text 1"/>
          <p:cNvSpPr txBox="1"/>
          <p:nvPr/>
        </p:nvSpPr>
        <p:spPr>
          <a:xfrm>
            <a:off x="640080" y="1133856"/>
            <a:ext cx="10881360" cy="411480"/>
          </a:xfrm>
          <a:prstGeom prst="rect">
            <a:avLst/>
          </a:prstGeom>
          <a:noFill/>
          <a:ln/>
        </p:spPr>
        <p:txBody>
          <a:bodyPr wrap="square" lIns="0" tIns="0" rIns="0" bIns="0" rtlCol="0" anchor="ctr"/>
          <a:lstStyle/>
          <a:p>
            <a:pPr indent="0" marL="0">
              <a:buNone/>
            </a:pPr>
            <a:r>
              <a:rPr lang="en-US" sz="1450" dirty="0">
                <a:solidFill>
                  <a:srgbClr val="8792AB"/>
                </a:solidFill>
                <a:latin typeface="Calibri" pitchFamily="34" charset="0"/>
                <a:ea typeface="Calibri" pitchFamily="34" charset="-122"/>
                <a:cs typeface="Calibri" pitchFamily="34" charset="-120"/>
              </a:rPr>
              <a:t>Workstream 7 · one row per planned activity.</a:t>
            </a:r>
            <a:endParaRPr lang="en-US" sz="145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40080" y="1965960"/>
          <a:ext cx="10881360" cy="914400"/>
        </p:xfrm>
        <a:graphic>
          <a:graphicData uri="http://schemas.openxmlformats.org/drawingml/2006/table">
            <a:tbl>
              <a:tblPr/>
              <a:tblGrid>
                <a:gridCol w="2377440"/>
                <a:gridCol w="1645920"/>
                <a:gridCol w="2743200"/>
                <a:gridCol w="1371600"/>
                <a:gridCol w="1280160"/>
                <a:gridCol w="1463040"/>
              </a:tblGrid>
              <a:tr h="420624">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Activity</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Channel</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Target accounts or markets</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Owner</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Date</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How we measure it</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bl>
          </a:graphicData>
        </a:graphic>
      </p:graphicFrame>
      <p:sp>
        <p:nvSpPr>
          <p:cNvPr id="5" name="Shape 2"/>
          <p:cNvSpPr/>
          <p:nvPr/>
        </p:nvSpPr>
        <p:spPr>
          <a:xfrm>
            <a:off x="640080" y="1965960"/>
            <a:ext cx="10881360" cy="420624"/>
          </a:xfrm>
          <a:prstGeom prst="rect">
            <a:avLst/>
          </a:prstGeom>
          <a:solidFill>
            <a:srgbClr val="1E2761"/>
          </a:solidFill>
          <a:ln/>
        </p:spPr>
      </p:sp>
      <p:sp>
        <p:nvSpPr>
          <p:cNvPr id="6" name="Text 3"/>
          <p:cNvSpPr txBox="1"/>
          <p:nvPr/>
        </p:nvSpPr>
        <p:spPr>
          <a:xfrm>
            <a:off x="749808" y="1965960"/>
            <a:ext cx="219456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Activity</a:t>
            </a:r>
            <a:endParaRPr lang="en-US" sz="1150" dirty="0"/>
          </a:p>
        </p:txBody>
      </p:sp>
      <p:sp>
        <p:nvSpPr>
          <p:cNvPr id="7" name="Text 4"/>
          <p:cNvSpPr txBox="1"/>
          <p:nvPr/>
        </p:nvSpPr>
        <p:spPr>
          <a:xfrm>
            <a:off x="3127248" y="1965960"/>
            <a:ext cx="146304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Channel</a:t>
            </a:r>
            <a:endParaRPr lang="en-US" sz="1150" dirty="0"/>
          </a:p>
        </p:txBody>
      </p:sp>
      <p:sp>
        <p:nvSpPr>
          <p:cNvPr id="8" name="Text 5"/>
          <p:cNvSpPr txBox="1"/>
          <p:nvPr/>
        </p:nvSpPr>
        <p:spPr>
          <a:xfrm>
            <a:off x="4773168" y="1965960"/>
            <a:ext cx="256032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Target accounts or markets</a:t>
            </a:r>
            <a:endParaRPr lang="en-US" sz="1150" dirty="0"/>
          </a:p>
        </p:txBody>
      </p:sp>
      <p:sp>
        <p:nvSpPr>
          <p:cNvPr id="9" name="Text 6"/>
          <p:cNvSpPr txBox="1"/>
          <p:nvPr/>
        </p:nvSpPr>
        <p:spPr>
          <a:xfrm>
            <a:off x="7516368" y="1965960"/>
            <a:ext cx="118872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Owner</a:t>
            </a:r>
            <a:endParaRPr lang="en-US" sz="1150" dirty="0"/>
          </a:p>
        </p:txBody>
      </p:sp>
      <p:sp>
        <p:nvSpPr>
          <p:cNvPr id="10" name="Text 7"/>
          <p:cNvSpPr txBox="1"/>
          <p:nvPr/>
        </p:nvSpPr>
        <p:spPr>
          <a:xfrm>
            <a:off x="8887968" y="1965960"/>
            <a:ext cx="109728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Date</a:t>
            </a:r>
            <a:endParaRPr lang="en-US" sz="1150" dirty="0"/>
          </a:p>
        </p:txBody>
      </p:sp>
      <p:sp>
        <p:nvSpPr>
          <p:cNvPr id="11" name="Text 8"/>
          <p:cNvSpPr txBox="1"/>
          <p:nvPr/>
        </p:nvSpPr>
        <p:spPr>
          <a:xfrm>
            <a:off x="10168128" y="1965960"/>
            <a:ext cx="128016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How we measure it</a:t>
            </a:r>
            <a:endParaRPr lang="en-US" sz="1150" dirty="0"/>
          </a:p>
        </p:txBody>
      </p:sp>
      <p:sp>
        <p:nvSpPr>
          <p:cNvPr id="12" name="Text 9"/>
          <p:cNvSpPr txBox="1"/>
          <p:nvPr/>
        </p:nvSpPr>
        <p:spPr>
          <a:xfrm>
            <a:off x="640080" y="5815584"/>
            <a:ext cx="10881360" cy="365760"/>
          </a:xfrm>
          <a:prstGeom prst="rect">
            <a:avLst/>
          </a:prstGeom>
          <a:noFill/>
          <a:ln/>
        </p:spPr>
        <p:txBody>
          <a:bodyPr wrap="square" lIns="0" tIns="0" rIns="0" bIns="0" rtlCol="0" anchor="ctr"/>
          <a:lstStyle/>
          <a:p>
            <a:pPr indent="0" marL="0">
              <a:buNone/>
            </a:pPr>
            <a:r>
              <a:rPr lang="en-US" sz="1200" i="1" dirty="0">
                <a:solidFill>
                  <a:srgbClr val="8792AB"/>
                </a:solidFill>
                <a:latin typeface="Calibri" pitchFamily="34" charset="0"/>
                <a:ea typeface="Calibri" pitchFamily="34" charset="-122"/>
                <a:cs typeface="Calibri" pitchFamily="34" charset="-120"/>
              </a:rPr>
              <a:t>Every activity points at named accounts or markets. General brand-building does not earn a row.</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685800"/>
          </a:xfrm>
          <a:prstGeom prst="rect">
            <a:avLst/>
          </a:prstGeom>
          <a:noFill/>
          <a:ln/>
        </p:spPr>
        <p:txBody>
          <a:bodyPr wrap="square" lIns="0" tIns="0" rIns="0" bIns="0" rtlCol="0" anchor="ctr"/>
          <a:lstStyle/>
          <a:p>
            <a:pPr indent="0" marL="0">
              <a:buNone/>
            </a:pPr>
            <a:r>
              <a:rPr lang="en-US" sz="3600" b="1" dirty="0">
                <a:solidFill>
                  <a:srgbClr val="16203A"/>
                </a:solidFill>
                <a:latin typeface="Cambria" pitchFamily="34" charset="0"/>
                <a:ea typeface="Cambria" pitchFamily="34" charset="-122"/>
                <a:cs typeface="Cambria" pitchFamily="34" charset="-120"/>
              </a:rPr>
              <a:t>Template — offering economics</a:t>
            </a:r>
            <a:endParaRPr lang="en-US" sz="3600" dirty="0"/>
          </a:p>
        </p:txBody>
      </p:sp>
      <p:sp>
        <p:nvSpPr>
          <p:cNvPr id="3" name="Text 1"/>
          <p:cNvSpPr txBox="1"/>
          <p:nvPr/>
        </p:nvSpPr>
        <p:spPr>
          <a:xfrm>
            <a:off x="640080" y="1133856"/>
            <a:ext cx="10881360" cy="411480"/>
          </a:xfrm>
          <a:prstGeom prst="rect">
            <a:avLst/>
          </a:prstGeom>
          <a:noFill/>
          <a:ln/>
        </p:spPr>
        <p:txBody>
          <a:bodyPr wrap="square" lIns="0" tIns="0" rIns="0" bIns="0" rtlCol="0" anchor="ctr"/>
          <a:lstStyle/>
          <a:p>
            <a:pPr indent="0" marL="0">
              <a:buNone/>
            </a:pPr>
            <a:r>
              <a:rPr lang="en-US" sz="1450" dirty="0">
                <a:solidFill>
                  <a:srgbClr val="8792AB"/>
                </a:solidFill>
                <a:latin typeface="Calibri" pitchFamily="34" charset="0"/>
                <a:ea typeface="Calibri" pitchFamily="34" charset="-122"/>
                <a:cs typeface="Calibri" pitchFamily="34" charset="-120"/>
              </a:rPr>
              <a:t>Workstream 5 · one row per offering.</a:t>
            </a:r>
            <a:endParaRPr lang="en-US" sz="145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640080" y="1965960"/>
          <a:ext cx="10881360" cy="914400"/>
        </p:xfrm>
        <a:graphic>
          <a:graphicData uri="http://schemas.openxmlformats.org/drawingml/2006/table">
            <a:tbl>
              <a:tblPr/>
              <a:tblGrid>
                <a:gridCol w="2377440"/>
                <a:gridCol w="2103120"/>
                <a:gridCol w="1280160"/>
                <a:gridCol w="1371600"/>
                <a:gridCol w="1280160"/>
                <a:gridCol w="1280160"/>
                <a:gridCol w="1188720"/>
              </a:tblGrid>
              <a:tr h="420624">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Offering</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Price basis</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Onshore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Nearshore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Offshore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Blended ADR</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Target GM</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bl>
          </a:graphicData>
        </a:graphic>
      </p:graphicFrame>
      <p:sp>
        <p:nvSpPr>
          <p:cNvPr id="5" name="Shape 2"/>
          <p:cNvSpPr/>
          <p:nvPr/>
        </p:nvSpPr>
        <p:spPr>
          <a:xfrm>
            <a:off x="640080" y="1965960"/>
            <a:ext cx="10881360" cy="420624"/>
          </a:xfrm>
          <a:prstGeom prst="rect">
            <a:avLst/>
          </a:prstGeom>
          <a:solidFill>
            <a:srgbClr val="1E2761"/>
          </a:solidFill>
          <a:ln/>
        </p:spPr>
      </p:sp>
      <p:sp>
        <p:nvSpPr>
          <p:cNvPr id="6" name="Text 3"/>
          <p:cNvSpPr txBox="1"/>
          <p:nvPr/>
        </p:nvSpPr>
        <p:spPr>
          <a:xfrm>
            <a:off x="749808" y="1965960"/>
            <a:ext cx="219456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Offering</a:t>
            </a:r>
            <a:endParaRPr lang="en-US" sz="1150" dirty="0"/>
          </a:p>
        </p:txBody>
      </p:sp>
      <p:sp>
        <p:nvSpPr>
          <p:cNvPr id="7" name="Text 4"/>
          <p:cNvSpPr txBox="1"/>
          <p:nvPr/>
        </p:nvSpPr>
        <p:spPr>
          <a:xfrm>
            <a:off x="3127248" y="1965960"/>
            <a:ext cx="192024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Price basis</a:t>
            </a:r>
            <a:endParaRPr lang="en-US" sz="1150" dirty="0"/>
          </a:p>
        </p:txBody>
      </p:sp>
      <p:sp>
        <p:nvSpPr>
          <p:cNvPr id="8" name="Text 5"/>
          <p:cNvSpPr txBox="1"/>
          <p:nvPr/>
        </p:nvSpPr>
        <p:spPr>
          <a:xfrm>
            <a:off x="5230368" y="1965960"/>
            <a:ext cx="109728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Onshore %</a:t>
            </a:r>
            <a:endParaRPr lang="en-US" sz="1150" dirty="0"/>
          </a:p>
        </p:txBody>
      </p:sp>
      <p:sp>
        <p:nvSpPr>
          <p:cNvPr id="9" name="Text 6"/>
          <p:cNvSpPr txBox="1"/>
          <p:nvPr/>
        </p:nvSpPr>
        <p:spPr>
          <a:xfrm>
            <a:off x="6510528" y="1965960"/>
            <a:ext cx="118872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Nearshore %</a:t>
            </a:r>
            <a:endParaRPr lang="en-US" sz="1150" dirty="0"/>
          </a:p>
        </p:txBody>
      </p:sp>
      <p:sp>
        <p:nvSpPr>
          <p:cNvPr id="10" name="Text 7"/>
          <p:cNvSpPr txBox="1"/>
          <p:nvPr/>
        </p:nvSpPr>
        <p:spPr>
          <a:xfrm>
            <a:off x="7882128" y="1965960"/>
            <a:ext cx="109728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Offshore %</a:t>
            </a:r>
            <a:endParaRPr lang="en-US" sz="1150" dirty="0"/>
          </a:p>
        </p:txBody>
      </p:sp>
      <p:sp>
        <p:nvSpPr>
          <p:cNvPr id="11" name="Text 8"/>
          <p:cNvSpPr txBox="1"/>
          <p:nvPr/>
        </p:nvSpPr>
        <p:spPr>
          <a:xfrm>
            <a:off x="9162288" y="1965960"/>
            <a:ext cx="109728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Blended ADR</a:t>
            </a:r>
            <a:endParaRPr lang="en-US" sz="1150" dirty="0"/>
          </a:p>
        </p:txBody>
      </p:sp>
      <p:sp>
        <p:nvSpPr>
          <p:cNvPr id="12" name="Text 9"/>
          <p:cNvSpPr txBox="1"/>
          <p:nvPr/>
        </p:nvSpPr>
        <p:spPr>
          <a:xfrm>
            <a:off x="10442448" y="1965960"/>
            <a:ext cx="100584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Target GM</a:t>
            </a:r>
            <a:endParaRPr lang="en-US" sz="1150" dirty="0"/>
          </a:p>
        </p:txBody>
      </p:sp>
      <p:sp>
        <p:nvSpPr>
          <p:cNvPr id="13" name="Text 10"/>
          <p:cNvSpPr txBox="1"/>
          <p:nvPr/>
        </p:nvSpPr>
        <p:spPr>
          <a:xfrm>
            <a:off x="640080" y="5815584"/>
            <a:ext cx="10881360" cy="365760"/>
          </a:xfrm>
          <a:prstGeom prst="rect">
            <a:avLst/>
          </a:prstGeom>
          <a:noFill/>
          <a:ln/>
        </p:spPr>
        <p:txBody>
          <a:bodyPr wrap="square" lIns="0" tIns="0" rIns="0" bIns="0" rtlCol="0" anchor="ctr"/>
          <a:lstStyle/>
          <a:p>
            <a:pPr indent="0" marL="0">
              <a:buNone/>
            </a:pPr>
            <a:r>
              <a:rPr lang="en-US" sz="1200" i="1" dirty="0">
                <a:solidFill>
                  <a:srgbClr val="8792AB"/>
                </a:solidFill>
                <a:latin typeface="Calibri" pitchFamily="34" charset="0"/>
                <a:ea typeface="Calibri" pitchFamily="34" charset="-122"/>
                <a:cs typeface="Calibri" pitchFamily="34" charset="-120"/>
              </a:rPr>
              <a:t>The construct drives the rate, the rate drives the margin. Record the floor as well as the target.</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685800"/>
          </a:xfrm>
          <a:prstGeom prst="rect">
            <a:avLst/>
          </a:prstGeom>
          <a:noFill/>
          <a:ln/>
        </p:spPr>
        <p:txBody>
          <a:bodyPr wrap="square" lIns="0" tIns="0" rIns="0" bIns="0" rtlCol="0" anchor="ctr"/>
          <a:lstStyle/>
          <a:p>
            <a:pPr indent="0" marL="0">
              <a:buNone/>
            </a:pPr>
            <a:r>
              <a:rPr lang="en-US" sz="3600" b="1" dirty="0">
                <a:solidFill>
                  <a:srgbClr val="16203A"/>
                </a:solidFill>
                <a:latin typeface="Cambria" pitchFamily="34" charset="0"/>
                <a:ea typeface="Cambria" pitchFamily="34" charset="-122"/>
                <a:cs typeface="Cambria" pitchFamily="34" charset="-120"/>
              </a:rPr>
              <a:t>Template — execution scorecard</a:t>
            </a:r>
            <a:endParaRPr lang="en-US" sz="3600" dirty="0"/>
          </a:p>
        </p:txBody>
      </p:sp>
      <p:sp>
        <p:nvSpPr>
          <p:cNvPr id="3" name="Text 1"/>
          <p:cNvSpPr txBox="1"/>
          <p:nvPr/>
        </p:nvSpPr>
        <p:spPr>
          <a:xfrm>
            <a:off x="640080" y="1133856"/>
            <a:ext cx="10881360" cy="411480"/>
          </a:xfrm>
          <a:prstGeom prst="rect">
            <a:avLst/>
          </a:prstGeom>
          <a:noFill/>
          <a:ln/>
        </p:spPr>
        <p:txBody>
          <a:bodyPr wrap="square" lIns="0" tIns="0" rIns="0" bIns="0" rtlCol="0" anchor="ctr"/>
          <a:lstStyle/>
          <a:p>
            <a:pPr indent="0" marL="0">
              <a:buNone/>
            </a:pPr>
            <a:r>
              <a:rPr lang="en-US" sz="1450" dirty="0">
                <a:solidFill>
                  <a:srgbClr val="8792AB"/>
                </a:solidFill>
                <a:latin typeface="Calibri" pitchFamily="34" charset="0"/>
                <a:ea typeface="Calibri" pitchFamily="34" charset="-122"/>
                <a:cs typeface="Calibri" pitchFamily="34" charset="-120"/>
              </a:rPr>
              <a:t>Workstream 9 · one row per measure.</a:t>
            </a:r>
            <a:endParaRPr lang="en-US" sz="145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40080" y="1965960"/>
          <a:ext cx="10881360" cy="914400"/>
        </p:xfrm>
        <a:graphic>
          <a:graphicData uri="http://schemas.openxmlformats.org/drawingml/2006/table">
            <a:tbl>
              <a:tblPr/>
              <a:tblGrid>
                <a:gridCol w="2194560"/>
                <a:gridCol w="2926080"/>
                <a:gridCol w="1463040"/>
                <a:gridCol w="1371600"/>
                <a:gridCol w="1463040"/>
                <a:gridCol w="1463040"/>
              </a:tblGrid>
              <a:tr h="420624">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Measure</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What it tells us</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Target</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Frequency</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Owner</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Forum</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bl>
          </a:graphicData>
        </a:graphic>
      </p:graphicFrame>
      <p:sp>
        <p:nvSpPr>
          <p:cNvPr id="5" name="Shape 2"/>
          <p:cNvSpPr/>
          <p:nvPr/>
        </p:nvSpPr>
        <p:spPr>
          <a:xfrm>
            <a:off x="640080" y="1965960"/>
            <a:ext cx="10881360" cy="420624"/>
          </a:xfrm>
          <a:prstGeom prst="rect">
            <a:avLst/>
          </a:prstGeom>
          <a:solidFill>
            <a:srgbClr val="1E2761"/>
          </a:solidFill>
          <a:ln/>
        </p:spPr>
      </p:sp>
      <p:sp>
        <p:nvSpPr>
          <p:cNvPr id="6" name="Text 3"/>
          <p:cNvSpPr txBox="1"/>
          <p:nvPr/>
        </p:nvSpPr>
        <p:spPr>
          <a:xfrm>
            <a:off x="749808" y="1965960"/>
            <a:ext cx="201168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Measure</a:t>
            </a:r>
            <a:endParaRPr lang="en-US" sz="1150" dirty="0"/>
          </a:p>
        </p:txBody>
      </p:sp>
      <p:sp>
        <p:nvSpPr>
          <p:cNvPr id="7" name="Text 4"/>
          <p:cNvSpPr txBox="1"/>
          <p:nvPr/>
        </p:nvSpPr>
        <p:spPr>
          <a:xfrm>
            <a:off x="2944368" y="1965960"/>
            <a:ext cx="274320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What it tells us</a:t>
            </a:r>
            <a:endParaRPr lang="en-US" sz="1150" dirty="0"/>
          </a:p>
        </p:txBody>
      </p:sp>
      <p:sp>
        <p:nvSpPr>
          <p:cNvPr id="8" name="Text 5"/>
          <p:cNvSpPr txBox="1"/>
          <p:nvPr/>
        </p:nvSpPr>
        <p:spPr>
          <a:xfrm>
            <a:off x="5870448" y="1965960"/>
            <a:ext cx="128016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Target</a:t>
            </a:r>
            <a:endParaRPr lang="en-US" sz="1150" dirty="0"/>
          </a:p>
        </p:txBody>
      </p:sp>
      <p:sp>
        <p:nvSpPr>
          <p:cNvPr id="9" name="Text 6"/>
          <p:cNvSpPr txBox="1"/>
          <p:nvPr/>
        </p:nvSpPr>
        <p:spPr>
          <a:xfrm>
            <a:off x="7333488" y="1965960"/>
            <a:ext cx="118872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Frequency</a:t>
            </a:r>
            <a:endParaRPr lang="en-US" sz="1150" dirty="0"/>
          </a:p>
        </p:txBody>
      </p:sp>
      <p:sp>
        <p:nvSpPr>
          <p:cNvPr id="10" name="Text 7"/>
          <p:cNvSpPr txBox="1"/>
          <p:nvPr/>
        </p:nvSpPr>
        <p:spPr>
          <a:xfrm>
            <a:off x="8705088" y="1965960"/>
            <a:ext cx="128016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Owner</a:t>
            </a:r>
            <a:endParaRPr lang="en-US" sz="1150" dirty="0"/>
          </a:p>
        </p:txBody>
      </p:sp>
      <p:sp>
        <p:nvSpPr>
          <p:cNvPr id="11" name="Text 8"/>
          <p:cNvSpPr txBox="1"/>
          <p:nvPr/>
        </p:nvSpPr>
        <p:spPr>
          <a:xfrm>
            <a:off x="10168128" y="1965960"/>
            <a:ext cx="128016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Forum</a:t>
            </a:r>
            <a:endParaRPr lang="en-US" sz="1150" dirty="0"/>
          </a:p>
        </p:txBody>
      </p:sp>
      <p:sp>
        <p:nvSpPr>
          <p:cNvPr id="12" name="Text 9"/>
          <p:cNvSpPr txBox="1"/>
          <p:nvPr/>
        </p:nvSpPr>
        <p:spPr>
          <a:xfrm>
            <a:off x="640080" y="5815584"/>
            <a:ext cx="10881360" cy="365760"/>
          </a:xfrm>
          <a:prstGeom prst="rect">
            <a:avLst/>
          </a:prstGeom>
          <a:noFill/>
          <a:ln/>
        </p:spPr>
        <p:txBody>
          <a:bodyPr wrap="square" lIns="0" tIns="0" rIns="0" bIns="0" rtlCol="0" anchor="ctr"/>
          <a:lstStyle/>
          <a:p>
            <a:pPr indent="0" marL="0">
              <a:buNone/>
            </a:pPr>
            <a:r>
              <a:rPr lang="en-US" sz="1200" i="1" dirty="0">
                <a:solidFill>
                  <a:srgbClr val="8792AB"/>
                </a:solidFill>
                <a:latin typeface="Calibri" pitchFamily="34" charset="0"/>
                <a:ea typeface="Calibri" pitchFamily="34" charset="-122"/>
                <a:cs typeface="Calibri" pitchFamily="34" charset="-120"/>
              </a:rPr>
              <a:t>Every measure has an owner and a forum. A measure nobody presents is a measure nobody acts on.</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685800"/>
          </a:xfrm>
          <a:prstGeom prst="rect">
            <a:avLst/>
          </a:prstGeom>
          <a:noFill/>
          <a:ln/>
        </p:spPr>
        <p:txBody>
          <a:bodyPr wrap="square" lIns="0" tIns="0" rIns="0" bIns="0" rtlCol="0" anchor="ctr"/>
          <a:lstStyle/>
          <a:p>
            <a:pPr indent="0" marL="0">
              <a:buNone/>
            </a:pPr>
            <a:r>
              <a:rPr lang="en-US" sz="3600" b="1" dirty="0">
                <a:solidFill>
                  <a:srgbClr val="16203A"/>
                </a:solidFill>
                <a:latin typeface="Cambria" pitchFamily="34" charset="0"/>
                <a:ea typeface="Cambria" pitchFamily="34" charset="-122"/>
                <a:cs typeface="Cambria" pitchFamily="34" charset="-120"/>
              </a:rPr>
              <a:t>Template — alliance map</a:t>
            </a:r>
            <a:endParaRPr lang="en-US" sz="3600" dirty="0"/>
          </a:p>
        </p:txBody>
      </p:sp>
      <p:sp>
        <p:nvSpPr>
          <p:cNvPr id="3" name="Text 1"/>
          <p:cNvSpPr txBox="1"/>
          <p:nvPr/>
        </p:nvSpPr>
        <p:spPr>
          <a:xfrm>
            <a:off x="640080" y="1133856"/>
            <a:ext cx="10881360" cy="411480"/>
          </a:xfrm>
          <a:prstGeom prst="rect">
            <a:avLst/>
          </a:prstGeom>
          <a:noFill/>
          <a:ln/>
        </p:spPr>
        <p:txBody>
          <a:bodyPr wrap="square" lIns="0" tIns="0" rIns="0" bIns="0" rtlCol="0" anchor="ctr"/>
          <a:lstStyle/>
          <a:p>
            <a:pPr indent="0" marL="0">
              <a:buNone/>
            </a:pPr>
            <a:r>
              <a:rPr lang="en-US" sz="1450" dirty="0">
                <a:solidFill>
                  <a:srgbClr val="8792AB"/>
                </a:solidFill>
                <a:latin typeface="Calibri" pitchFamily="34" charset="0"/>
                <a:ea typeface="Calibri" pitchFamily="34" charset="-122"/>
                <a:cs typeface="Calibri" pitchFamily="34" charset="-120"/>
              </a:rPr>
              <a:t>Workstream 8 · one row per alliance.</a:t>
            </a:r>
            <a:endParaRPr lang="en-US" sz="145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640080" y="1965960"/>
          <a:ext cx="10881360" cy="914400"/>
        </p:xfrm>
        <a:graphic>
          <a:graphicData uri="http://schemas.openxmlformats.org/drawingml/2006/table">
            <a:tbl>
              <a:tblPr/>
              <a:tblGrid>
                <a:gridCol w="1645920"/>
                <a:gridCol w="1554480"/>
                <a:gridCol w="2651760"/>
                <a:gridCol w="1463040"/>
                <a:gridCol w="2011680"/>
                <a:gridCol w="1554480"/>
              </a:tblGrid>
              <a:tr h="420624">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Alliance</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Role</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Offerings it sits behind</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Markets</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Accounts it opens</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What we owe them</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bl>
          </a:graphicData>
        </a:graphic>
      </p:graphicFrame>
      <p:sp>
        <p:nvSpPr>
          <p:cNvPr id="5" name="Shape 2"/>
          <p:cNvSpPr/>
          <p:nvPr/>
        </p:nvSpPr>
        <p:spPr>
          <a:xfrm>
            <a:off x="640080" y="1965960"/>
            <a:ext cx="10881360" cy="420624"/>
          </a:xfrm>
          <a:prstGeom prst="rect">
            <a:avLst/>
          </a:prstGeom>
          <a:solidFill>
            <a:srgbClr val="1E2761"/>
          </a:solidFill>
          <a:ln/>
        </p:spPr>
      </p:sp>
      <p:sp>
        <p:nvSpPr>
          <p:cNvPr id="6" name="Text 3"/>
          <p:cNvSpPr txBox="1"/>
          <p:nvPr/>
        </p:nvSpPr>
        <p:spPr>
          <a:xfrm>
            <a:off x="749808" y="1965960"/>
            <a:ext cx="146304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Alliance</a:t>
            </a:r>
            <a:endParaRPr lang="en-US" sz="1150" dirty="0"/>
          </a:p>
        </p:txBody>
      </p:sp>
      <p:sp>
        <p:nvSpPr>
          <p:cNvPr id="7" name="Text 4"/>
          <p:cNvSpPr txBox="1"/>
          <p:nvPr/>
        </p:nvSpPr>
        <p:spPr>
          <a:xfrm>
            <a:off x="2395728" y="1965960"/>
            <a:ext cx="137160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Role</a:t>
            </a:r>
            <a:endParaRPr lang="en-US" sz="1150" dirty="0"/>
          </a:p>
        </p:txBody>
      </p:sp>
      <p:sp>
        <p:nvSpPr>
          <p:cNvPr id="8" name="Text 5"/>
          <p:cNvSpPr txBox="1"/>
          <p:nvPr/>
        </p:nvSpPr>
        <p:spPr>
          <a:xfrm>
            <a:off x="3950208" y="1965960"/>
            <a:ext cx="246888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Offerings it sits behind</a:t>
            </a:r>
            <a:endParaRPr lang="en-US" sz="1150" dirty="0"/>
          </a:p>
        </p:txBody>
      </p:sp>
      <p:sp>
        <p:nvSpPr>
          <p:cNvPr id="9" name="Text 6"/>
          <p:cNvSpPr txBox="1"/>
          <p:nvPr/>
        </p:nvSpPr>
        <p:spPr>
          <a:xfrm>
            <a:off x="6601968" y="1965960"/>
            <a:ext cx="128016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Markets</a:t>
            </a:r>
            <a:endParaRPr lang="en-US" sz="1150" dirty="0"/>
          </a:p>
        </p:txBody>
      </p:sp>
      <p:sp>
        <p:nvSpPr>
          <p:cNvPr id="10" name="Text 7"/>
          <p:cNvSpPr txBox="1"/>
          <p:nvPr/>
        </p:nvSpPr>
        <p:spPr>
          <a:xfrm>
            <a:off x="8065008" y="1965960"/>
            <a:ext cx="182880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Accounts it opens</a:t>
            </a:r>
            <a:endParaRPr lang="en-US" sz="1150" dirty="0"/>
          </a:p>
        </p:txBody>
      </p:sp>
      <p:sp>
        <p:nvSpPr>
          <p:cNvPr id="11" name="Text 8"/>
          <p:cNvSpPr txBox="1"/>
          <p:nvPr/>
        </p:nvSpPr>
        <p:spPr>
          <a:xfrm>
            <a:off x="10076688" y="1965960"/>
            <a:ext cx="137160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What we owe them</a:t>
            </a:r>
            <a:endParaRPr lang="en-US" sz="1150" dirty="0"/>
          </a:p>
        </p:txBody>
      </p:sp>
      <p:sp>
        <p:nvSpPr>
          <p:cNvPr id="12" name="Text 9"/>
          <p:cNvSpPr txBox="1"/>
          <p:nvPr/>
        </p:nvSpPr>
        <p:spPr>
          <a:xfrm>
            <a:off x="640080" y="5815584"/>
            <a:ext cx="10881360" cy="365760"/>
          </a:xfrm>
          <a:prstGeom prst="rect">
            <a:avLst/>
          </a:prstGeom>
          <a:noFill/>
          <a:ln/>
        </p:spPr>
        <p:txBody>
          <a:bodyPr wrap="square" lIns="0" tIns="0" rIns="0" bIns="0" rtlCol="0" anchor="ctr"/>
          <a:lstStyle/>
          <a:p>
            <a:pPr indent="0" marL="0">
              <a:buNone/>
            </a:pPr>
            <a:r>
              <a:rPr lang="en-US" sz="1200" i="1" dirty="0">
                <a:solidFill>
                  <a:srgbClr val="8792AB"/>
                </a:solidFill>
                <a:latin typeface="Calibri" pitchFamily="34" charset="0"/>
                <a:ea typeface="Calibri" pitchFamily="34" charset="-122"/>
                <a:cs typeface="Calibri" pitchFamily="34" charset="-120"/>
              </a:rPr>
              <a:t>Role: co-sell, resell, delivery partner or referral. Commitments run both ways.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EAIND — FSI Strategy Development Plan</dc:title>
  <dc:subject>PptxGenJS Presentation</dc:subject>
  <dc:creator>Engineering, AI and Data</dc:creator>
  <cp:lastModifiedBy>Engineering, AI and Data</cp:lastModifiedBy>
  <cp:revision>1</cp:revision>
  <dcterms:created xsi:type="dcterms:W3CDTF">2026-09-28T05:36:25Z</dcterms:created>
  <dcterms:modified xsi:type="dcterms:W3CDTF">2026-09-28T05:36:25Z</dcterms:modified>
</cp:coreProperties>
</file>