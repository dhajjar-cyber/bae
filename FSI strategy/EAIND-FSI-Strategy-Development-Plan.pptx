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sets out how we will build the FSI strategy. It deliberately carries no answers — markets, accounts, offerings, targets and owners are outputs of the cycle described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up front: reviewers should not look for answers in this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follows a standard strategy cascade, adapted to a consulting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these principles at kick-off; they bound every later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process view. The workstream and calendar views that follow are the same journey cut by owner and by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Artefact templates are blank at this stage; they are populated during the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Timebox is deliberate: three weeks forces decisions rather than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two asks: confirm the principles, and nominate the workstream owners.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645920"/>
            <a:ext cx="6035040" cy="6035040"/>
          </a:xfrm>
          <a:prstGeom prst="ellipse">
            <a:avLst/>
          </a:prstGeom>
          <a:solidFill>
            <a:srgbClr val="3E5C8A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566160"/>
            <a:ext cx="3291840" cy="3291840"/>
          </a:xfrm>
          <a:prstGeom prst="ellipse">
            <a:avLst/>
          </a:prstGeom>
          <a:solidFill>
            <a:srgbClr val="CADCFC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Engineering, AI and Data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22402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FSI Strategy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Plan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4160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 to a defined go-to-market and activation strategy for financial services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only — content to be developed over a three-week cycle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document is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3385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method, not a conclusion.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0136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to build the strategy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1284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describes the journey, the questions and the sequence — it does not pre-empt the answers.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0358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 is deliberately open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44728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Markets, accounts, offerings, targets and owners are left blank by design and filled through the workstreams.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702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cycle, one sign-off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68172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strategy is treated as a single three-week cycle ending in a decision, not a rolling exercise.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863840" y="1783080"/>
            <a:ext cx="3657600" cy="3840480"/>
          </a:xfrm>
          <a:prstGeom prst="roundRect">
            <a:avLst>
              <a:gd name="adj" fmla="val 3000"/>
            </a:avLst>
          </a:prstGeom>
          <a:solidFill>
            <a:srgbClr val="EDF2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8388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"done" looks like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56032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agreed service catalogue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target account list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and pricing targets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against every account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first-90-days activation plan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questions to answer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3385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dimension is owned by one workstream and closed at sign-off.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029968" cy="3520440"/>
          </a:xfrm>
          <a:prstGeom prst="roundRect">
            <a:avLst>
              <a:gd name="adj" fmla="val 5405"/>
            </a:avLst>
          </a:prstGeom>
          <a:solidFill>
            <a:srgbClr val="E4EB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03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06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play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00400"/>
            <a:ext cx="16276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markets, in what priority?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client segments?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named accounts?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52928" y="1874520"/>
            <a:ext cx="2029968" cy="3520440"/>
          </a:xfrm>
          <a:prstGeom prst="roundRect">
            <a:avLst>
              <a:gd name="adj" fmla="val 5405"/>
            </a:avLst>
          </a:prstGeom>
          <a:solidFill>
            <a:srgbClr val="EDF2FA"/>
          </a:solidFill>
          <a:ln/>
        </p:spPr>
      </p:sp>
      <p:sp>
        <p:nvSpPr>
          <p:cNvPr id="10" name="Shape 8"/>
          <p:cNvSpPr/>
          <p:nvPr/>
        </p:nvSpPr>
        <p:spPr>
          <a:xfrm>
            <a:off x="3081528" y="2103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81528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81528" y="2606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offer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81528" y="3200400"/>
            <a:ext cx="16276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integrated propositions across the three pillars?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partial offerings are permitted, and when?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65776" y="1874520"/>
            <a:ext cx="2029968" cy="3520440"/>
          </a:xfrm>
          <a:prstGeom prst="roundRect">
            <a:avLst>
              <a:gd name="adj" fmla="val 5405"/>
            </a:avLst>
          </a:prstGeom>
          <a:solidFill>
            <a:srgbClr val="E4EB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294376" y="2103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9437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94376" y="2606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win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94376" y="3200400"/>
            <a:ext cx="16276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differentiates us?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alliances and credentials are needed?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delivery model applies?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278624" y="1874520"/>
            <a:ext cx="2029968" cy="3520440"/>
          </a:xfrm>
          <a:prstGeom prst="roundRect">
            <a:avLst>
              <a:gd name="adj" fmla="val 5405"/>
            </a:avLst>
          </a:prstGeom>
          <a:solidFill>
            <a:srgbClr val="EDF2FA"/>
          </a:solidFill>
          <a:ln/>
        </p:spPr>
      </p:sp>
      <p:sp>
        <p:nvSpPr>
          <p:cNvPr id="20" name="Shape 18"/>
          <p:cNvSpPr/>
          <p:nvPr/>
        </p:nvSpPr>
        <p:spPr>
          <a:xfrm>
            <a:off x="7507224" y="2103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0722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07224" y="2606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507224" y="3200400"/>
            <a:ext cx="16276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revenue by market and by offering?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deal sizes and price bands does the market pay?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2029968" cy="3520440"/>
          </a:xfrm>
          <a:prstGeom prst="roundRect">
            <a:avLst>
              <a:gd name="adj" fmla="val 5405"/>
            </a:avLst>
          </a:prstGeom>
          <a:solidFill>
            <a:srgbClr val="E4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720072" y="2103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20072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720072" y="2606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covers what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20072" y="3200400"/>
            <a:ext cx="16276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partner owns which account?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coverage model across markets?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capacity is required?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251960" y="5623560"/>
            <a:ext cx="3657600" cy="301752"/>
          </a:xfrm>
          <a:prstGeom prst="roundRect">
            <a:avLst>
              <a:gd name="adj" fmla="val 48485"/>
            </a:avLst>
          </a:prstGeom>
          <a:solidFill>
            <a:srgbClr val="FFFFFF"/>
          </a:solidFill>
          <a:ln w="12700">
            <a:solidFill>
              <a:srgbClr val="B88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251960" y="5623560"/>
            <a:ext cx="3657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to be defined in the cycle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we hold going 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3385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on the answers, agreed before the work starts.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280160"/>
          </a:xfrm>
          <a:prstGeom prst="roundRect">
            <a:avLst>
              <a:gd name="adj" fmla="val 7143"/>
            </a:avLst>
          </a:prstGeom>
          <a:solidFill>
            <a:srgbClr val="EDF2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3911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98424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Integrated, not siloed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359152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Cross-pillar propositions are the default catalogue; single-pillar sales are an entry point, not the destination.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280160"/>
          </a:xfrm>
          <a:prstGeom prst="roundRect">
            <a:avLst>
              <a:gd name="adj" fmla="val 7143"/>
            </a:avLst>
          </a:prstGeom>
          <a:solidFill>
            <a:srgbClr val="EDF2FA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039112"/>
            <a:ext cx="384048" cy="38404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04888" y="198424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accounts, not averages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2359152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a specific target list with owners, not a market-size view.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264408"/>
            <a:ext cx="5257800" cy="1280160"/>
          </a:xfrm>
          <a:prstGeom prst="roundRect">
            <a:avLst>
              <a:gd name="adj" fmla="val 7143"/>
            </a:avLst>
          </a:prstGeom>
          <a:solidFill>
            <a:srgbClr val="EDF2FA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35204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46557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and priced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84048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proposition carries a buyer, an indicative deal size and a price band.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64408"/>
            <a:ext cx="5257800" cy="1280160"/>
          </a:xfrm>
          <a:prstGeom prst="roundRect">
            <a:avLst>
              <a:gd name="adj" fmla="val 7143"/>
            </a:avLst>
          </a:prstGeom>
          <a:solidFill>
            <a:srgbClr val="EDF2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520440"/>
            <a:ext cx="384048" cy="38404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379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346557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a partner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104888" y="384048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priority account has one accountable owner and a defined partner play.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745736"/>
            <a:ext cx="5257800" cy="1280160"/>
          </a:xfrm>
          <a:prstGeom prst="roundRect">
            <a:avLst>
              <a:gd name="adj" fmla="val 7143"/>
            </a:avLst>
          </a:prstGeom>
          <a:solidFill>
            <a:srgbClr val="EDF2FA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5001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49469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by design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5321808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enters the catalogue that we cannot staff and deliver to standard.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E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rules the strategy must obey. Anything else remains open.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will get there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3385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five-step approach, run once, end to end.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029968" cy="713232"/>
          </a:xfrm>
          <a:prstGeom prst="chevron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874520"/>
            <a:ext cx="17556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81328" y="2788920"/>
            <a:ext cx="347472" cy="347472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81328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37560"/>
            <a:ext cx="202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scope, principles and owners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inputs and cadence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983480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852928" y="1874520"/>
            <a:ext cx="2029968" cy="713232"/>
          </a:xfrm>
          <a:prstGeom prst="chevron">
            <a:avLst/>
          </a:prstGeom>
          <a:solidFill>
            <a:srgbClr val="3E5C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17520" y="1874520"/>
            <a:ext cx="17556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94176" y="2788920"/>
            <a:ext cx="347472" cy="347472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94176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852928" y="3337560"/>
            <a:ext cx="202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 today: credentials, pipeline, capability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already won, and where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852928" y="4983480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65776" y="1874520"/>
            <a:ext cx="2029968" cy="713232"/>
          </a:xfrm>
          <a:prstGeom prst="chevron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30368" y="1874520"/>
            <a:ext cx="17556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07024" y="2788920"/>
            <a:ext cx="347472" cy="347472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07024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65776" y="3337560"/>
            <a:ext cx="202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Markets, segments and candidate accounts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proposition catalogue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065776" y="4983480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278624" y="1874520"/>
            <a:ext cx="2029968" cy="713232"/>
          </a:xfrm>
          <a:prstGeom prst="chevron">
            <a:avLst/>
          </a:prstGeom>
          <a:solidFill>
            <a:srgbClr val="3E5C8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43216" y="1874520"/>
            <a:ext cx="17556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119872" y="2788920"/>
            <a:ext cx="347472" cy="347472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19872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278624" y="3337560"/>
            <a:ext cx="202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sizes and market price bands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targets by market and offering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278624" y="4983480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91472" y="1874520"/>
            <a:ext cx="2029968" cy="713232"/>
          </a:xfrm>
          <a:prstGeom prst="chevron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656064" y="1874520"/>
            <a:ext cx="17556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0332720" y="2788920"/>
            <a:ext cx="347472" cy="347472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32720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337560"/>
            <a:ext cx="2029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ownership and coverage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plan and sign-off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491472" y="4983480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E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closes before the next opens; the gate is a decision, not a document.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workstreams, five artefacts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3385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workstream owns one dimension and produces one deliverable.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it closes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Artefact produced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Proposition &amp; catalogue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offer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Integrated proposition catalogue with permitted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Market &amp; account targeting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play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Prioritised markets, segments and named account list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Commercial sizing &amp; pricing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Deal-size bands, price benchmarks, revenue targets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Coverage &amp; ownership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covers what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Account-to-partner map and coverage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Delivery model &amp; readiness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win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4450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 approach and capability or capacity gaps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1920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379476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 closes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1920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 produced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Workstreams run in parallel; dependencies are resolved at the weekly checkpoint.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three-week journey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33856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weeks, three gates, one decision.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EDF2F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3429000" cy="685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288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Frame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4320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current position and credentials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markets and segments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account longlist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proposition catalogue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8920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agreed market and segment priorities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96512" y="34747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61688" y="182880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EDF2FA"/>
          </a:solidFill>
          <a:ln/>
        </p:spPr>
      </p:sp>
      <p:sp>
        <p:nvSpPr>
          <p:cNvPr id="11" name="Shape 9"/>
          <p:cNvSpPr/>
          <p:nvPr/>
        </p:nvSpPr>
        <p:spPr>
          <a:xfrm>
            <a:off x="4361688" y="1828800"/>
            <a:ext cx="3429000" cy="685800"/>
          </a:xfrm>
          <a:prstGeom prst="rect">
            <a:avLst/>
          </a:prstGeom>
          <a:solidFill>
            <a:srgbClr val="3E5C8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36008" y="18288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Define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274320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propositions and permitted variants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deal sizes and pricing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target accounts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coverage map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636008" y="48920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agreed catalogue and shortlist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818120" y="34747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083296" y="182880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EDF2FA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3296" y="1828800"/>
            <a:ext cx="3429000" cy="685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57616" y="18288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Commit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274320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revenue targets by market and offering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owner to every account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first-90-days activation plan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sign off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357616" y="48920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strategy signed off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852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792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date to be defined at kick-off.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669280" cy="5669280"/>
          </a:xfrm>
          <a:prstGeom prst="ellipse">
            <a:avLst/>
          </a:prstGeom>
          <a:solidFill>
            <a:srgbClr val="3E5C8A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run it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29844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Cadence, inputs and the decisions we are asking for.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1965960"/>
            <a:ext cx="384048" cy="38404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47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0604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Kick-off to confirm scope and principles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working session per workstream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at the end of each week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session in week three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1965960"/>
            <a:ext cx="384048" cy="38404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348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1947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we need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60604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pipeline and revenue by pillar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account relationships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Alliance and partnership status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capacity and skills view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deal values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965960"/>
            <a:ext cx="384048" cy="38404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3816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1947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requested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60604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markets and segments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account list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and margin targets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ownership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and hiring asks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52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Owners, dates and participants are set at kick-off.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EAIND — FSI Strategy Development Plan</dc:title>
  <dc:subject>PptxGenJS Presentation</dc:subject>
  <dc:creator>Engineering, AI and Data</dc:creator>
  <cp:lastModifiedBy>Engineering, AI and Data</cp:lastModifiedBy>
  <cp:revision>1</cp:revision>
  <dcterms:created xsi:type="dcterms:W3CDTF">2026-09-27T18:43:05Z</dcterms:created>
  <dcterms:modified xsi:type="dcterms:W3CDTF">2026-09-27T18:43:05Z</dcterms:modified>
</cp:coreProperties>
</file>