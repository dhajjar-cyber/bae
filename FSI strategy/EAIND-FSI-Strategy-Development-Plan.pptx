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and banking in particular, is specialised enough that generic technology credentials do not travel. Clients expect the team in the room to know core banking, payments, regulatory reporting or wealth operations — not just cloud, data or integration in the abstract.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 core banking modernisation with heavy onshore functional and governance presence looks nothing like an AI use-case activation or an integration build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banking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COO, CIO, head of retail banking, chief data officer,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banking modernisation and migration the drivers include retail versus corporate versus SME scope,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banking programme, a data platform build and an AI activation.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banking-platform alliances. Add any others the cycle identifies.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Thirteen sections, plus an appendix of blank templates.</a:t>
            </a:r>
            <a:endParaRPr lang="en-US" sz="1450" dirty="0"/>
          </a:p>
        </p:txBody>
      </p:sp>
      <p:sp>
        <p:nvSpPr>
          <p:cNvPr id="4" name="Shape 2"/>
          <p:cNvSpPr/>
          <p:nvPr/>
        </p:nvSpPr>
        <p:spPr>
          <a:xfrm>
            <a:off x="640080" y="1737360"/>
            <a:ext cx="5257800" cy="576072"/>
          </a:xfrm>
          <a:prstGeom prst="roundRect">
            <a:avLst>
              <a:gd name="adj" fmla="val 12698"/>
            </a:avLst>
          </a:prstGeom>
          <a:solidFill>
            <a:srgbClr val="F2F6FC"/>
          </a:solidFill>
          <a:ln/>
        </p:spPr>
      </p:sp>
      <p:sp>
        <p:nvSpPr>
          <p:cNvPr id="5" name="Shape 3"/>
          <p:cNvSpPr/>
          <p:nvPr/>
        </p:nvSpPr>
        <p:spPr>
          <a:xfrm>
            <a:off x="822960" y="1837944"/>
            <a:ext cx="365760" cy="365760"/>
          </a:xfrm>
          <a:prstGeom prst="ellipse">
            <a:avLst/>
          </a:prstGeom>
          <a:solidFill>
            <a:srgbClr val="1E2761"/>
          </a:solidFill>
          <a:ln/>
        </p:spPr>
      </p:sp>
      <p:sp>
        <p:nvSpPr>
          <p:cNvPr id="6" name="Text 4"/>
          <p:cNvSpPr txBox="1"/>
          <p:nvPr/>
        </p:nvSpPr>
        <p:spPr>
          <a:xfrm>
            <a:off x="82296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this document is</a:t>
            </a:r>
            <a:endParaRPr lang="en-US" sz="1350" dirty="0"/>
          </a:p>
        </p:txBody>
      </p:sp>
      <p:sp>
        <p:nvSpPr>
          <p:cNvPr id="8" name="Text 6"/>
          <p:cNvSpPr txBox="1"/>
          <p:nvPr/>
        </p:nvSpPr>
        <p:spPr>
          <a:xfrm>
            <a:off x="135331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Method, not conclusion</a:t>
            </a:r>
            <a:endParaRPr lang="en-US" sz="1050" dirty="0"/>
          </a:p>
        </p:txBody>
      </p:sp>
      <p:sp>
        <p:nvSpPr>
          <p:cNvPr id="9" name="Shape 7"/>
          <p:cNvSpPr/>
          <p:nvPr/>
        </p:nvSpPr>
        <p:spPr>
          <a:xfrm>
            <a:off x="6263640" y="1737360"/>
            <a:ext cx="5257800" cy="576072"/>
          </a:xfrm>
          <a:prstGeom prst="roundRect">
            <a:avLst>
              <a:gd name="adj" fmla="val 12698"/>
            </a:avLst>
          </a:prstGeom>
          <a:solidFill>
            <a:srgbClr val="EDF2FA"/>
          </a:solidFill>
          <a:ln/>
        </p:spPr>
      </p:sp>
      <p:sp>
        <p:nvSpPr>
          <p:cNvPr id="10" name="Shape 8"/>
          <p:cNvSpPr/>
          <p:nvPr/>
        </p:nvSpPr>
        <p:spPr>
          <a:xfrm>
            <a:off x="6446520" y="1837944"/>
            <a:ext cx="365760" cy="365760"/>
          </a:xfrm>
          <a:prstGeom prst="ellipse">
            <a:avLst/>
          </a:prstGeom>
          <a:solidFill>
            <a:srgbClr val="3E5C8A"/>
          </a:solidFill>
          <a:ln/>
        </p:spPr>
      </p:sp>
      <p:sp>
        <p:nvSpPr>
          <p:cNvPr id="11" name="Text 9"/>
          <p:cNvSpPr txBox="1"/>
          <p:nvPr/>
        </p:nvSpPr>
        <p:spPr>
          <a:xfrm>
            <a:off x="644652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697687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the strategy must cover</a:t>
            </a:r>
            <a:endParaRPr lang="en-US" sz="1350" dirty="0"/>
          </a:p>
        </p:txBody>
      </p:sp>
      <p:sp>
        <p:nvSpPr>
          <p:cNvPr id="13" name="Text 11"/>
          <p:cNvSpPr txBox="1"/>
          <p:nvPr/>
        </p:nvSpPr>
        <p:spPr>
          <a:xfrm>
            <a:off x="697687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Ambition, four pillars, operating discipline</a:t>
            </a:r>
            <a:endParaRPr lang="en-US" sz="1050" dirty="0"/>
          </a:p>
        </p:txBody>
      </p:sp>
      <p:sp>
        <p:nvSpPr>
          <p:cNvPr id="14" name="Shape 12"/>
          <p:cNvSpPr/>
          <p:nvPr/>
        </p:nvSpPr>
        <p:spPr>
          <a:xfrm>
            <a:off x="640080" y="2395728"/>
            <a:ext cx="5257800" cy="576072"/>
          </a:xfrm>
          <a:prstGeom prst="roundRect">
            <a:avLst>
              <a:gd name="adj" fmla="val 12698"/>
            </a:avLst>
          </a:prstGeom>
          <a:solidFill>
            <a:srgbClr val="F2F6FC"/>
          </a:solidFill>
          <a:ln/>
        </p:spPr>
      </p:sp>
      <p:sp>
        <p:nvSpPr>
          <p:cNvPr id="15" name="Shape 13"/>
          <p:cNvSpPr/>
          <p:nvPr/>
        </p:nvSpPr>
        <p:spPr>
          <a:xfrm>
            <a:off x="822960" y="2496312"/>
            <a:ext cx="365760" cy="365760"/>
          </a:xfrm>
          <a:prstGeom prst="ellipse">
            <a:avLst/>
          </a:prstGeom>
          <a:solidFill>
            <a:srgbClr val="1E2761"/>
          </a:solidFill>
          <a:ln/>
        </p:spPr>
      </p:sp>
      <p:sp>
        <p:nvSpPr>
          <p:cNvPr id="16" name="Text 14"/>
          <p:cNvSpPr txBox="1"/>
          <p:nvPr/>
        </p:nvSpPr>
        <p:spPr>
          <a:xfrm>
            <a:off x="82296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35331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Principles we hold going in</a:t>
            </a:r>
            <a:endParaRPr lang="en-US" sz="1350" dirty="0"/>
          </a:p>
        </p:txBody>
      </p:sp>
      <p:sp>
        <p:nvSpPr>
          <p:cNvPr id="18" name="Text 16"/>
          <p:cNvSpPr txBox="1"/>
          <p:nvPr/>
        </p:nvSpPr>
        <p:spPr>
          <a:xfrm>
            <a:off x="135331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Constraints agreed before the work starts</a:t>
            </a:r>
            <a:endParaRPr lang="en-US" sz="1050" dirty="0"/>
          </a:p>
        </p:txBody>
      </p:sp>
      <p:sp>
        <p:nvSpPr>
          <p:cNvPr id="19" name="Shape 17"/>
          <p:cNvSpPr/>
          <p:nvPr/>
        </p:nvSpPr>
        <p:spPr>
          <a:xfrm>
            <a:off x="6263640" y="2395728"/>
            <a:ext cx="5257800" cy="576072"/>
          </a:xfrm>
          <a:prstGeom prst="roundRect">
            <a:avLst>
              <a:gd name="adj" fmla="val 12698"/>
            </a:avLst>
          </a:prstGeom>
          <a:solidFill>
            <a:srgbClr val="EDF2FA"/>
          </a:solidFill>
          <a:ln/>
        </p:spPr>
      </p:sp>
      <p:sp>
        <p:nvSpPr>
          <p:cNvPr id="20" name="Shape 18"/>
          <p:cNvSpPr/>
          <p:nvPr/>
        </p:nvSpPr>
        <p:spPr>
          <a:xfrm>
            <a:off x="6446520" y="2496312"/>
            <a:ext cx="365760" cy="365760"/>
          </a:xfrm>
          <a:prstGeom prst="ellipse">
            <a:avLst/>
          </a:prstGeom>
          <a:solidFill>
            <a:srgbClr val="3E5C8A"/>
          </a:solidFill>
          <a:ln/>
        </p:spPr>
      </p:sp>
      <p:sp>
        <p:nvSpPr>
          <p:cNvPr id="21" name="Text 19"/>
          <p:cNvSpPr txBox="1"/>
          <p:nvPr/>
        </p:nvSpPr>
        <p:spPr>
          <a:xfrm>
            <a:off x="644652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7687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will get there</a:t>
            </a:r>
            <a:endParaRPr lang="en-US" sz="1350" dirty="0"/>
          </a:p>
        </p:txBody>
      </p:sp>
      <p:sp>
        <p:nvSpPr>
          <p:cNvPr id="23" name="Text 21"/>
          <p:cNvSpPr txBox="1"/>
          <p:nvPr/>
        </p:nvSpPr>
        <p:spPr>
          <a:xfrm>
            <a:off x="697687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five-step approach</a:t>
            </a:r>
            <a:endParaRPr lang="en-US" sz="1050" dirty="0"/>
          </a:p>
        </p:txBody>
      </p:sp>
      <p:sp>
        <p:nvSpPr>
          <p:cNvPr id="24" name="Shape 22"/>
          <p:cNvSpPr/>
          <p:nvPr/>
        </p:nvSpPr>
        <p:spPr>
          <a:xfrm>
            <a:off x="640080" y="3054096"/>
            <a:ext cx="5257800" cy="576072"/>
          </a:xfrm>
          <a:prstGeom prst="roundRect">
            <a:avLst>
              <a:gd name="adj" fmla="val 12698"/>
            </a:avLst>
          </a:prstGeom>
          <a:solidFill>
            <a:srgbClr val="F2F6FC"/>
          </a:solidFill>
          <a:ln/>
        </p:spPr>
      </p:sp>
      <p:sp>
        <p:nvSpPr>
          <p:cNvPr id="25" name="Shape 23"/>
          <p:cNvSpPr/>
          <p:nvPr/>
        </p:nvSpPr>
        <p:spPr>
          <a:xfrm>
            <a:off x="822960" y="3154680"/>
            <a:ext cx="365760" cy="365760"/>
          </a:xfrm>
          <a:prstGeom prst="ellipse">
            <a:avLst/>
          </a:prstGeom>
          <a:solidFill>
            <a:srgbClr val="1E2761"/>
          </a:solidFill>
          <a:ln/>
        </p:spPr>
      </p:sp>
      <p:sp>
        <p:nvSpPr>
          <p:cNvPr id="26" name="Text 24"/>
          <p:cNvSpPr txBox="1"/>
          <p:nvPr/>
        </p:nvSpPr>
        <p:spPr>
          <a:xfrm>
            <a:off x="82296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35331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Five workstreams, one per pillar</a:t>
            </a:r>
            <a:endParaRPr lang="en-US" sz="1350" dirty="0"/>
          </a:p>
        </p:txBody>
      </p:sp>
      <p:sp>
        <p:nvSpPr>
          <p:cNvPr id="28" name="Text 26"/>
          <p:cNvSpPr txBox="1"/>
          <p:nvPr/>
        </p:nvSpPr>
        <p:spPr>
          <a:xfrm>
            <a:off x="135331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owns what, and what each produces</a:t>
            </a:r>
            <a:endParaRPr lang="en-US" sz="1050" dirty="0"/>
          </a:p>
        </p:txBody>
      </p:sp>
      <p:sp>
        <p:nvSpPr>
          <p:cNvPr id="29" name="Shape 27"/>
          <p:cNvSpPr/>
          <p:nvPr/>
        </p:nvSpPr>
        <p:spPr>
          <a:xfrm>
            <a:off x="6263640" y="3054096"/>
            <a:ext cx="5257800" cy="576072"/>
          </a:xfrm>
          <a:prstGeom prst="roundRect">
            <a:avLst>
              <a:gd name="adj" fmla="val 12698"/>
            </a:avLst>
          </a:prstGeom>
          <a:solidFill>
            <a:srgbClr val="EDF2FA"/>
          </a:solidFill>
          <a:ln/>
        </p:spPr>
      </p:sp>
      <p:sp>
        <p:nvSpPr>
          <p:cNvPr id="30" name="Shape 28"/>
          <p:cNvSpPr/>
          <p:nvPr/>
        </p:nvSpPr>
        <p:spPr>
          <a:xfrm>
            <a:off x="6446520" y="3154680"/>
            <a:ext cx="365760" cy="365760"/>
          </a:xfrm>
          <a:prstGeom prst="ellipse">
            <a:avLst/>
          </a:prstGeom>
          <a:solidFill>
            <a:srgbClr val="3E5C8A"/>
          </a:solidFill>
          <a:ln/>
        </p:spPr>
      </p:sp>
      <p:sp>
        <p:nvSpPr>
          <p:cNvPr id="31" name="Text 29"/>
          <p:cNvSpPr txBox="1"/>
          <p:nvPr/>
        </p:nvSpPr>
        <p:spPr>
          <a:xfrm>
            <a:off x="644652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97687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Who is doing this</a:t>
            </a:r>
            <a:endParaRPr lang="en-US" sz="1350" dirty="0"/>
          </a:p>
        </p:txBody>
      </p:sp>
      <p:sp>
        <p:nvSpPr>
          <p:cNvPr id="33" name="Text 31"/>
          <p:cNvSpPr txBox="1"/>
          <p:nvPr/>
        </p:nvSpPr>
        <p:spPr>
          <a:xfrm>
            <a:off x="697687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strategy development team</a:t>
            </a:r>
            <a:endParaRPr lang="en-US" sz="1050" dirty="0"/>
          </a:p>
        </p:txBody>
      </p:sp>
      <p:sp>
        <p:nvSpPr>
          <p:cNvPr id="34" name="Shape 32"/>
          <p:cNvSpPr/>
          <p:nvPr/>
        </p:nvSpPr>
        <p:spPr>
          <a:xfrm>
            <a:off x="640080" y="3712464"/>
            <a:ext cx="5257800" cy="576072"/>
          </a:xfrm>
          <a:prstGeom prst="roundRect">
            <a:avLst>
              <a:gd name="adj" fmla="val 12698"/>
            </a:avLst>
          </a:prstGeom>
          <a:solidFill>
            <a:srgbClr val="F2F6FC"/>
          </a:solidFill>
          <a:ln/>
        </p:spPr>
      </p:sp>
      <p:sp>
        <p:nvSpPr>
          <p:cNvPr id="35" name="Shape 33"/>
          <p:cNvSpPr/>
          <p:nvPr/>
        </p:nvSpPr>
        <p:spPr>
          <a:xfrm>
            <a:off x="822960" y="3813048"/>
            <a:ext cx="365760" cy="365760"/>
          </a:xfrm>
          <a:prstGeom prst="ellipse">
            <a:avLst/>
          </a:prstGeom>
          <a:solidFill>
            <a:srgbClr val="1E2761"/>
          </a:solidFill>
          <a:ln/>
        </p:spPr>
      </p:sp>
      <p:sp>
        <p:nvSpPr>
          <p:cNvPr id="36" name="Text 34"/>
          <p:cNvSpPr txBox="1"/>
          <p:nvPr/>
        </p:nvSpPr>
        <p:spPr>
          <a:xfrm>
            <a:off x="82296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Delivery and pricing economics</a:t>
            </a:r>
            <a:endParaRPr lang="en-US" sz="1350" dirty="0"/>
          </a:p>
        </p:txBody>
      </p:sp>
      <p:sp>
        <p:nvSpPr>
          <p:cNvPr id="38" name="Text 36"/>
          <p:cNvSpPr txBox="1"/>
          <p:nvPr/>
        </p:nvSpPr>
        <p:spPr>
          <a:xfrm>
            <a:off x="135331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price, ADR and margin</a:t>
            </a:r>
            <a:endParaRPr lang="en-US" sz="1050" dirty="0"/>
          </a:p>
        </p:txBody>
      </p:sp>
      <p:sp>
        <p:nvSpPr>
          <p:cNvPr id="39" name="Shape 37"/>
          <p:cNvSpPr/>
          <p:nvPr/>
        </p:nvSpPr>
        <p:spPr>
          <a:xfrm>
            <a:off x="6263640" y="3712464"/>
            <a:ext cx="5257800" cy="576072"/>
          </a:xfrm>
          <a:prstGeom prst="roundRect">
            <a:avLst>
              <a:gd name="adj" fmla="val 12698"/>
            </a:avLst>
          </a:prstGeom>
          <a:solidFill>
            <a:srgbClr val="EDF2FA"/>
          </a:solidFill>
          <a:ln/>
        </p:spPr>
      </p:sp>
      <p:sp>
        <p:nvSpPr>
          <p:cNvPr id="40" name="Shape 38"/>
          <p:cNvSpPr/>
          <p:nvPr/>
        </p:nvSpPr>
        <p:spPr>
          <a:xfrm>
            <a:off x="6446520" y="3813048"/>
            <a:ext cx="365760" cy="365760"/>
          </a:xfrm>
          <a:prstGeom prst="ellipse">
            <a:avLst/>
          </a:prstGeom>
          <a:solidFill>
            <a:srgbClr val="3E5C8A"/>
          </a:solidFill>
          <a:ln/>
        </p:spPr>
      </p:sp>
      <p:sp>
        <p:nvSpPr>
          <p:cNvPr id="41" name="Text 39"/>
          <p:cNvSpPr txBox="1"/>
          <p:nvPr/>
        </p:nvSpPr>
        <p:spPr>
          <a:xfrm>
            <a:off x="644652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697687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Team and talent</a:t>
            </a:r>
            <a:endParaRPr lang="en-US" sz="1350" dirty="0"/>
          </a:p>
        </p:txBody>
      </p:sp>
      <p:sp>
        <p:nvSpPr>
          <p:cNvPr id="43" name="Text 41"/>
          <p:cNvSpPr txBox="1"/>
          <p:nvPr/>
        </p:nvSpPr>
        <p:spPr>
          <a:xfrm>
            <a:off x="697687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Dedicated, shared and the gap to close</a:t>
            </a:r>
            <a:endParaRPr lang="en-US" sz="1050" dirty="0"/>
          </a:p>
        </p:txBody>
      </p:sp>
      <p:sp>
        <p:nvSpPr>
          <p:cNvPr id="44" name="Shape 42"/>
          <p:cNvSpPr/>
          <p:nvPr/>
        </p:nvSpPr>
        <p:spPr>
          <a:xfrm>
            <a:off x="640080" y="4370832"/>
            <a:ext cx="5257800" cy="576072"/>
          </a:xfrm>
          <a:prstGeom prst="roundRect">
            <a:avLst>
              <a:gd name="adj" fmla="val 12698"/>
            </a:avLst>
          </a:prstGeom>
          <a:solidFill>
            <a:srgbClr val="F2F6FC"/>
          </a:solidFill>
          <a:ln/>
        </p:spPr>
      </p:sp>
      <p:sp>
        <p:nvSpPr>
          <p:cNvPr id="45" name="Shape 43"/>
          <p:cNvSpPr/>
          <p:nvPr/>
        </p:nvSpPr>
        <p:spPr>
          <a:xfrm>
            <a:off x="822960" y="4471416"/>
            <a:ext cx="365760" cy="365760"/>
          </a:xfrm>
          <a:prstGeom prst="ellipse">
            <a:avLst/>
          </a:prstGeom>
          <a:solidFill>
            <a:srgbClr val="1E2761"/>
          </a:solidFill>
          <a:ln/>
        </p:spPr>
      </p:sp>
      <p:sp>
        <p:nvSpPr>
          <p:cNvPr id="46" name="Text 44"/>
          <p:cNvSpPr txBox="1"/>
          <p:nvPr/>
        </p:nvSpPr>
        <p:spPr>
          <a:xfrm>
            <a:off x="82296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35331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Eminence and positioning</a:t>
            </a:r>
            <a:endParaRPr lang="en-US" sz="1350" dirty="0"/>
          </a:p>
        </p:txBody>
      </p:sp>
      <p:sp>
        <p:nvSpPr>
          <p:cNvPr id="48" name="Text 46"/>
          <p:cNvSpPr txBox="1"/>
          <p:nvPr/>
        </p:nvSpPr>
        <p:spPr>
          <a:xfrm>
            <a:off x="135331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How the market comes to know us</a:t>
            </a:r>
            <a:endParaRPr lang="en-US" sz="1050" dirty="0"/>
          </a:p>
        </p:txBody>
      </p:sp>
      <p:sp>
        <p:nvSpPr>
          <p:cNvPr id="49" name="Shape 47"/>
          <p:cNvSpPr/>
          <p:nvPr/>
        </p:nvSpPr>
        <p:spPr>
          <a:xfrm>
            <a:off x="6263640" y="4370832"/>
            <a:ext cx="5257800" cy="576072"/>
          </a:xfrm>
          <a:prstGeom prst="roundRect">
            <a:avLst>
              <a:gd name="adj" fmla="val 12698"/>
            </a:avLst>
          </a:prstGeom>
          <a:solidFill>
            <a:srgbClr val="EDF2FA"/>
          </a:solidFill>
          <a:ln/>
        </p:spPr>
      </p:sp>
      <p:sp>
        <p:nvSpPr>
          <p:cNvPr id="50" name="Shape 48"/>
          <p:cNvSpPr/>
          <p:nvPr/>
        </p:nvSpPr>
        <p:spPr>
          <a:xfrm>
            <a:off x="6446520" y="4471416"/>
            <a:ext cx="365760" cy="365760"/>
          </a:xfrm>
          <a:prstGeom prst="ellipse">
            <a:avLst/>
          </a:prstGeom>
          <a:solidFill>
            <a:srgbClr val="3E5C8A"/>
          </a:solidFill>
          <a:ln/>
        </p:spPr>
      </p:sp>
      <p:sp>
        <p:nvSpPr>
          <p:cNvPr id="51" name="Text 49"/>
          <p:cNvSpPr txBox="1"/>
          <p:nvPr/>
        </p:nvSpPr>
        <p:spPr>
          <a:xfrm>
            <a:off x="644652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697687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Alliances</a:t>
            </a:r>
            <a:endParaRPr lang="en-US" sz="1350" dirty="0"/>
          </a:p>
        </p:txBody>
      </p:sp>
      <p:sp>
        <p:nvSpPr>
          <p:cNvPr id="53" name="Text 51"/>
          <p:cNvSpPr txBox="1"/>
          <p:nvPr/>
        </p:nvSpPr>
        <p:spPr>
          <a:xfrm>
            <a:off x="697687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we go to market with, and for what</a:t>
            </a:r>
            <a:endParaRPr lang="en-US" sz="1050" dirty="0"/>
          </a:p>
        </p:txBody>
      </p:sp>
      <p:sp>
        <p:nvSpPr>
          <p:cNvPr id="54" name="Shape 52"/>
          <p:cNvSpPr/>
          <p:nvPr/>
        </p:nvSpPr>
        <p:spPr>
          <a:xfrm>
            <a:off x="640080" y="5029200"/>
            <a:ext cx="5257800" cy="576072"/>
          </a:xfrm>
          <a:prstGeom prst="roundRect">
            <a:avLst>
              <a:gd name="adj" fmla="val 12698"/>
            </a:avLst>
          </a:prstGeom>
          <a:solidFill>
            <a:srgbClr val="F2F6FC"/>
          </a:solidFill>
          <a:ln/>
        </p:spPr>
      </p:sp>
      <p:sp>
        <p:nvSpPr>
          <p:cNvPr id="55" name="Shape 53"/>
          <p:cNvSpPr/>
          <p:nvPr/>
        </p:nvSpPr>
        <p:spPr>
          <a:xfrm>
            <a:off x="822960" y="5129784"/>
            <a:ext cx="365760" cy="365760"/>
          </a:xfrm>
          <a:prstGeom prst="ellipse">
            <a:avLst/>
          </a:prstGeom>
          <a:solidFill>
            <a:srgbClr val="1E2761"/>
          </a:solidFill>
          <a:ln/>
        </p:spPr>
      </p:sp>
      <p:sp>
        <p:nvSpPr>
          <p:cNvPr id="56" name="Text 54"/>
          <p:cNvSpPr txBox="1"/>
          <p:nvPr/>
        </p:nvSpPr>
        <p:spPr>
          <a:xfrm>
            <a:off x="82296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35331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three-week journey</a:t>
            </a:r>
            <a:endParaRPr lang="en-US" sz="1350" dirty="0"/>
          </a:p>
        </p:txBody>
      </p:sp>
      <p:sp>
        <p:nvSpPr>
          <p:cNvPr id="58" name="Text 56"/>
          <p:cNvSpPr txBox="1"/>
          <p:nvPr/>
        </p:nvSpPr>
        <p:spPr>
          <a:xfrm>
            <a:off x="135331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Week by week, with a gate each week</a:t>
            </a:r>
            <a:endParaRPr lang="en-US" sz="1050" dirty="0"/>
          </a:p>
        </p:txBody>
      </p:sp>
      <p:sp>
        <p:nvSpPr>
          <p:cNvPr id="59" name="Shape 57"/>
          <p:cNvSpPr/>
          <p:nvPr/>
        </p:nvSpPr>
        <p:spPr>
          <a:xfrm>
            <a:off x="6263640" y="5029200"/>
            <a:ext cx="5257800" cy="576072"/>
          </a:xfrm>
          <a:prstGeom prst="roundRect">
            <a:avLst>
              <a:gd name="adj" fmla="val 12698"/>
            </a:avLst>
          </a:prstGeom>
          <a:solidFill>
            <a:srgbClr val="EDF2FA"/>
          </a:solidFill>
          <a:ln/>
        </p:spPr>
      </p:sp>
      <p:sp>
        <p:nvSpPr>
          <p:cNvPr id="60" name="Shape 58"/>
          <p:cNvSpPr/>
          <p:nvPr/>
        </p:nvSpPr>
        <p:spPr>
          <a:xfrm>
            <a:off x="6446520" y="5129784"/>
            <a:ext cx="365760" cy="365760"/>
          </a:xfrm>
          <a:prstGeom prst="ellipse">
            <a:avLst/>
          </a:prstGeom>
          <a:solidFill>
            <a:srgbClr val="3E5C8A"/>
          </a:solidFill>
          <a:ln/>
        </p:spPr>
      </p:sp>
      <p:sp>
        <p:nvSpPr>
          <p:cNvPr id="61" name="Text 59"/>
          <p:cNvSpPr txBox="1"/>
          <p:nvPr/>
        </p:nvSpPr>
        <p:spPr>
          <a:xfrm>
            <a:off x="644652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697687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discipline · Governing the execution</a:t>
            </a:r>
            <a:endParaRPr lang="en-US" sz="1350" dirty="0"/>
          </a:p>
        </p:txBody>
      </p:sp>
      <p:sp>
        <p:nvSpPr>
          <p:cNvPr id="63" name="Text 61"/>
          <p:cNvSpPr txBox="1"/>
          <p:nvPr/>
        </p:nvSpPr>
        <p:spPr>
          <a:xfrm>
            <a:off x="697687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and scorecard after sign-off</a:t>
            </a:r>
            <a:endParaRPr lang="en-US" sz="1050" dirty="0"/>
          </a:p>
        </p:txBody>
      </p:sp>
      <p:sp>
        <p:nvSpPr>
          <p:cNvPr id="64" name="Shape 62"/>
          <p:cNvSpPr/>
          <p:nvPr/>
        </p:nvSpPr>
        <p:spPr>
          <a:xfrm>
            <a:off x="640080" y="5687568"/>
            <a:ext cx="5257800" cy="576072"/>
          </a:xfrm>
          <a:prstGeom prst="roundRect">
            <a:avLst>
              <a:gd name="adj" fmla="val 12698"/>
            </a:avLst>
          </a:prstGeom>
          <a:solidFill>
            <a:srgbClr val="F2F6FC"/>
          </a:solidFill>
          <a:ln/>
        </p:spPr>
      </p:sp>
      <p:sp>
        <p:nvSpPr>
          <p:cNvPr id="65" name="Shape 63"/>
          <p:cNvSpPr/>
          <p:nvPr/>
        </p:nvSpPr>
        <p:spPr>
          <a:xfrm>
            <a:off x="822960" y="5788152"/>
            <a:ext cx="365760" cy="365760"/>
          </a:xfrm>
          <a:prstGeom prst="ellipse">
            <a:avLst/>
          </a:prstGeom>
          <a:solidFill>
            <a:srgbClr val="1E2761"/>
          </a:solidFill>
          <a:ln/>
        </p:spPr>
      </p:sp>
      <p:sp>
        <p:nvSpPr>
          <p:cNvPr id="66" name="Text 64"/>
          <p:cNvSpPr txBox="1"/>
          <p:nvPr/>
        </p:nvSpPr>
        <p:spPr>
          <a:xfrm>
            <a:off x="82296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13</a:t>
            </a:r>
            <a:endParaRPr lang="en-US" sz="1200" dirty="0"/>
          </a:p>
        </p:txBody>
      </p:sp>
      <p:sp>
        <p:nvSpPr>
          <p:cNvPr id="67" name="Text 65"/>
          <p:cNvSpPr txBox="1"/>
          <p:nvPr/>
        </p:nvSpPr>
        <p:spPr>
          <a:xfrm>
            <a:off x="135331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run the cycle</a:t>
            </a:r>
            <a:endParaRPr lang="en-US" sz="1350" dirty="0"/>
          </a:p>
        </p:txBody>
      </p:sp>
      <p:sp>
        <p:nvSpPr>
          <p:cNvPr id="68" name="Text 66"/>
          <p:cNvSpPr txBox="1"/>
          <p:nvPr/>
        </p:nvSpPr>
        <p:spPr>
          <a:xfrm>
            <a:off x="135331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Cadence, inputs and decisions requested</a:t>
            </a:r>
            <a:endParaRPr lang="en-US" sz="1050" dirty="0"/>
          </a:p>
        </p:txBody>
      </p:sp>
      <p:sp>
        <p:nvSpPr>
          <p:cNvPr id="69" name="Text 67"/>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targeted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per account, gross and net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and construct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capacity and recruitment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is specialised and clients expect it: every proposition, credential and CV speaks the domain.</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Frame the ambition: what winning looks like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construct, pricing, margin, team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core banking and packages,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onshore, nearshore and offshore mix it is priced on</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not per portfolio: a core banking programme and an AI activation carry different constructs, different rates and different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Rates, ratios and margin targets are set in the cycle and recorded in the offering economics template.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practices?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Buyer and client segments</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ADR and target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Priority</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Priority: primary, secondary or watch. Rationale should stand on evidence, not familiarity.</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188720"/>
                <a:gridCol w="1280160"/>
                <a:gridCol w="2926080"/>
                <a:gridCol w="1371600"/>
                <a:gridCol w="1097280"/>
                <a:gridCol w="9144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8" name="Text 5"/>
          <p:cNvSpPr txBox="1"/>
          <p:nvPr/>
        </p:nvSpPr>
        <p:spPr>
          <a:xfrm>
            <a:off x="4041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9" name="Text 6"/>
          <p:cNvSpPr txBox="1"/>
          <p:nvPr/>
        </p:nvSpPr>
        <p:spPr>
          <a:xfrm>
            <a:off x="53218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0" name="Text 7"/>
          <p:cNvSpPr txBox="1"/>
          <p:nvPr/>
        </p:nvSpPr>
        <p:spPr>
          <a:xfrm>
            <a:off x="82478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1" name="Text 8"/>
          <p:cNvSpPr txBox="1"/>
          <p:nvPr/>
        </p:nvSpPr>
        <p:spPr>
          <a:xfrm>
            <a:off x="96194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1071676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Stage: relationship only, qualified, active pursuit. Every account carries exactly one owner.</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011680"/>
                <a:gridCol w="23774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Lead 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Pillars involved</a:t>
            </a:r>
            <a:endParaRPr lang="en-US" sz="1150" dirty="0"/>
          </a:p>
        </p:txBody>
      </p:sp>
      <p:sp>
        <p:nvSpPr>
          <p:cNvPr id="8" name="Text 5"/>
          <p:cNvSpPr txBox="1"/>
          <p:nvPr/>
        </p:nvSpPr>
        <p:spPr>
          <a:xfrm>
            <a:off x="55961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a:t>
            </a:r>
            <a:endParaRPr lang="en-US" sz="1150" dirty="0"/>
          </a:p>
        </p:txBody>
      </p:sp>
      <p:sp>
        <p:nvSpPr>
          <p:cNvPr id="9" name="Text 6"/>
          <p:cNvSpPr txBox="1"/>
          <p:nvPr/>
        </p:nvSpPr>
        <p:spPr>
          <a:xfrm>
            <a:off x="7607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Lead pillar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103120"/>
                <a:gridCol w="1280160"/>
                <a:gridCol w="1371600"/>
                <a:gridCol w="1280160"/>
                <a:gridCol w="128016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8" name="Text 5"/>
          <p:cNvSpPr txBox="1"/>
          <p:nvPr/>
        </p:nvSpPr>
        <p:spPr>
          <a:xfrm>
            <a:off x="52303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Onshore %</a:t>
            </a:r>
            <a:endParaRPr lang="en-US" sz="1150" dirty="0"/>
          </a:p>
        </p:txBody>
      </p:sp>
      <p:sp>
        <p:nvSpPr>
          <p:cNvPr id="9" name="Text 6"/>
          <p:cNvSpPr txBox="1"/>
          <p:nvPr/>
        </p:nvSpPr>
        <p:spPr>
          <a:xfrm>
            <a:off x="651052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Nearshore %</a:t>
            </a:r>
            <a:endParaRPr lang="en-US" sz="1150" dirty="0"/>
          </a:p>
        </p:txBody>
      </p:sp>
      <p:sp>
        <p:nvSpPr>
          <p:cNvPr id="10" name="Text 7"/>
          <p:cNvSpPr txBox="1"/>
          <p:nvPr/>
        </p:nvSpPr>
        <p:spPr>
          <a:xfrm>
            <a:off x="78821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Offshore %</a:t>
            </a:r>
            <a:endParaRPr lang="en-US" sz="1150" dirty="0"/>
          </a:p>
        </p:txBody>
      </p:sp>
      <p:sp>
        <p:nvSpPr>
          <p:cNvPr id="11" name="Text 8"/>
          <p:cNvSpPr txBox="1"/>
          <p:nvPr/>
        </p:nvSpPr>
        <p:spPr>
          <a:xfrm>
            <a:off x="91622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construct drives the rate, the rate drives the margin. Record the floor as well as the target.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920240"/>
                <a:gridCol w="1737360"/>
                <a:gridCol w="2011680"/>
                <a:gridCol w="155448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8" name="Text 5"/>
          <p:cNvSpPr txBox="1"/>
          <p:nvPr/>
        </p:nvSpPr>
        <p:spPr>
          <a:xfrm>
            <a:off x="48646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9" name="Text 6"/>
          <p:cNvSpPr txBox="1"/>
          <p:nvPr/>
        </p:nvSpPr>
        <p:spPr>
          <a:xfrm>
            <a:off x="660196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0" name="Text 7"/>
          <p:cNvSpPr txBox="1"/>
          <p:nvPr/>
        </p:nvSpPr>
        <p:spPr>
          <a:xfrm>
            <a:off x="861364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Set by market and offering, reconciled against the account revenue plan and against capacity.</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645920"/>
                <a:gridCol w="1554480"/>
                <a:gridCol w="2651760"/>
                <a:gridCol w="1463040"/>
                <a:gridCol w="20116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9572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txBox="1"/>
          <p:nvPr/>
        </p:nvSpPr>
        <p:spPr>
          <a:xfrm>
            <a:off x="39502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it sits behind</a:t>
            </a:r>
            <a:endParaRPr lang="en-US" sz="1150" dirty="0"/>
          </a:p>
        </p:txBody>
      </p:sp>
      <p:sp>
        <p:nvSpPr>
          <p:cNvPr id="9" name="Text 6"/>
          <p:cNvSpPr txBox="1"/>
          <p:nvPr/>
        </p:nvSpPr>
        <p:spPr>
          <a:xfrm>
            <a:off x="66019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Markets</a:t>
            </a:r>
            <a:endParaRPr lang="en-US" sz="1150" dirty="0"/>
          </a:p>
        </p:txBody>
      </p:sp>
      <p:sp>
        <p:nvSpPr>
          <p:cNvPr id="10" name="Text 7"/>
          <p:cNvSpPr txBox="1"/>
          <p:nvPr/>
        </p:nvSpPr>
        <p:spPr>
          <a:xfrm>
            <a:off x="806500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Role: co-sell, resell, delivery partner or referral. Commitments run both ways.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2026-09-28T12:55:05Z</dcterms:created>
  <dcterms:modified xsi:type="dcterms:W3CDTF">2026-09-28T12:55:05Z</dcterms:modified>
</cp:coreProperties>
</file>