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Artefact templates are blank at this stage and are populated during the cycle.
Notes per workstream:
- WS1 Proposition and catalogue: integrated propositions first, permitted variants second. Must cover all three pillars and the cross-pillar plays.
- WS2 Market and account targeting: markets are broadly known (primary: Saudi, UAE, Qatar; secondary: Kuwait, Oman, Jordan). The real output is the named account list and the segment logic behind it.
- WS3 Commercial sizing and pricing: size of each product, who buys it, and the typical price the market pays — with the variation drivers spelled out (retail/corporate/SME, single/multi-country, data migration in or out of scope).
- WS4 Coverage and ownership: two distinct mappings — our partners to accounts (who owns the relationship) and alliance partners to accounts (who we go to market with, and what they drive).
- WS5 Delivery model and readiness: largely inherited; confirm and note gaps.
- WS6 Team and talent: see the talent slide.
- WS7 Eminence and positioning: see the eminence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Seven questions to answer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dimension is owned by one workstream and closed at sign-off.</a:t>
            </a:r>
            <a:endParaRPr lang="en-US" sz="1450" dirty="0"/>
          </a:p>
        </p:txBody>
      </p:sp>
      <p:sp>
        <p:nvSpPr>
          <p:cNvPr id="4" name="Shape 2"/>
          <p:cNvSpPr/>
          <p:nvPr/>
        </p:nvSpPr>
        <p:spPr>
          <a:xfrm>
            <a:off x="640080" y="1828800"/>
            <a:ext cx="2606040" cy="1783080"/>
          </a:xfrm>
          <a:prstGeom prst="roundRect">
            <a:avLst>
              <a:gd name="adj" fmla="val 6154"/>
            </a:avLst>
          </a:prstGeom>
          <a:solidFill>
            <a:srgbClr val="E4EBF7"/>
          </a:solidFill>
          <a:ln/>
        </p:spPr>
      </p:sp>
      <p:sp>
        <p:nvSpPr>
          <p:cNvPr id="5" name="Shape 3"/>
          <p:cNvSpPr/>
          <p:nvPr/>
        </p:nvSpPr>
        <p:spPr>
          <a:xfrm>
            <a:off x="868680" y="2084832"/>
            <a:ext cx="365760" cy="365760"/>
          </a:xfrm>
          <a:prstGeom prst="ellipse">
            <a:avLst/>
          </a:prstGeom>
          <a:solidFill>
            <a:srgbClr val="1E2761"/>
          </a:solidFill>
          <a:ln/>
        </p:spPr>
      </p:sp>
      <p:sp>
        <p:nvSpPr>
          <p:cNvPr id="6" name="Text 4"/>
          <p:cNvSpPr txBox="1"/>
          <p:nvPr/>
        </p:nvSpPr>
        <p:spPr>
          <a:xfrm>
            <a:off x="8686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Where to play</a:t>
            </a:r>
            <a:endParaRPr lang="en-US" sz="1450" dirty="0"/>
          </a:p>
        </p:txBody>
      </p:sp>
      <p:sp>
        <p:nvSpPr>
          <p:cNvPr id="8" name="Text 6"/>
          <p:cNvSpPr txBox="1"/>
          <p:nvPr/>
        </p:nvSpPr>
        <p:spPr>
          <a:xfrm>
            <a:off x="8961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markets, in what priority?</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client segments?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named accounts?</a:t>
            </a:r>
            <a:endParaRPr lang="en-US" sz="1050" dirty="0"/>
          </a:p>
        </p:txBody>
      </p:sp>
      <p:sp>
        <p:nvSpPr>
          <p:cNvPr id="9" name="Shape 7"/>
          <p:cNvSpPr/>
          <p:nvPr/>
        </p:nvSpPr>
        <p:spPr>
          <a:xfrm>
            <a:off x="3383280" y="1828800"/>
            <a:ext cx="2606040" cy="1783080"/>
          </a:xfrm>
          <a:prstGeom prst="roundRect">
            <a:avLst>
              <a:gd name="adj" fmla="val 6154"/>
            </a:avLst>
          </a:prstGeom>
          <a:solidFill>
            <a:srgbClr val="EDF2FA"/>
          </a:solidFill>
          <a:ln/>
        </p:spPr>
      </p:sp>
      <p:sp>
        <p:nvSpPr>
          <p:cNvPr id="10" name="Shape 8"/>
          <p:cNvSpPr/>
          <p:nvPr/>
        </p:nvSpPr>
        <p:spPr>
          <a:xfrm>
            <a:off x="3611880" y="2084832"/>
            <a:ext cx="365760" cy="365760"/>
          </a:xfrm>
          <a:prstGeom prst="ellipse">
            <a:avLst/>
          </a:prstGeom>
          <a:solidFill>
            <a:srgbClr val="1E2761"/>
          </a:solidFill>
          <a:ln/>
        </p:spPr>
      </p:sp>
      <p:sp>
        <p:nvSpPr>
          <p:cNvPr id="11" name="Text 9"/>
          <p:cNvSpPr txBox="1"/>
          <p:nvPr/>
        </p:nvSpPr>
        <p:spPr>
          <a:xfrm>
            <a:off x="36118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0965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we offer</a:t>
            </a:r>
            <a:endParaRPr lang="en-US" sz="1450" dirty="0"/>
          </a:p>
        </p:txBody>
      </p:sp>
      <p:sp>
        <p:nvSpPr>
          <p:cNvPr id="13" name="Text 11"/>
          <p:cNvSpPr txBox="1"/>
          <p:nvPr/>
        </p:nvSpPr>
        <p:spPr>
          <a:xfrm>
            <a:off x="36393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integrated propositions across the three pillars?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partial offerings are permitted?</a:t>
            </a:r>
            <a:endParaRPr lang="en-US" sz="1050" dirty="0"/>
          </a:p>
        </p:txBody>
      </p:sp>
      <p:sp>
        <p:nvSpPr>
          <p:cNvPr id="14" name="Shape 12"/>
          <p:cNvSpPr/>
          <p:nvPr/>
        </p:nvSpPr>
        <p:spPr>
          <a:xfrm>
            <a:off x="6126480" y="1828800"/>
            <a:ext cx="2606040" cy="1783080"/>
          </a:xfrm>
          <a:prstGeom prst="roundRect">
            <a:avLst>
              <a:gd name="adj" fmla="val 6154"/>
            </a:avLst>
          </a:prstGeom>
          <a:solidFill>
            <a:srgbClr val="E4EBF7"/>
          </a:solidFill>
          <a:ln/>
        </p:spPr>
      </p:sp>
      <p:sp>
        <p:nvSpPr>
          <p:cNvPr id="15" name="Shape 13"/>
          <p:cNvSpPr/>
          <p:nvPr/>
        </p:nvSpPr>
        <p:spPr>
          <a:xfrm>
            <a:off x="6355080" y="2084832"/>
            <a:ext cx="365760" cy="365760"/>
          </a:xfrm>
          <a:prstGeom prst="ellipse">
            <a:avLst/>
          </a:prstGeom>
          <a:solidFill>
            <a:srgbClr val="1E2761"/>
          </a:solidFill>
          <a:ln/>
        </p:spPr>
      </p:sp>
      <p:sp>
        <p:nvSpPr>
          <p:cNvPr id="16" name="Text 14"/>
          <p:cNvSpPr txBox="1"/>
          <p:nvPr/>
        </p:nvSpPr>
        <p:spPr>
          <a:xfrm>
            <a:off x="63550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397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win</a:t>
            </a:r>
            <a:endParaRPr lang="en-US" sz="1450" dirty="0"/>
          </a:p>
        </p:txBody>
      </p:sp>
      <p:sp>
        <p:nvSpPr>
          <p:cNvPr id="18" name="Text 16"/>
          <p:cNvSpPr txBox="1"/>
          <p:nvPr/>
        </p:nvSpPr>
        <p:spPr>
          <a:xfrm>
            <a:off x="63825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differentiates us?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alliances and credentials are needed?</a:t>
            </a:r>
            <a:endParaRPr lang="en-US" sz="1050" dirty="0"/>
          </a:p>
        </p:txBody>
      </p:sp>
      <p:sp>
        <p:nvSpPr>
          <p:cNvPr id="19" name="Shape 17"/>
          <p:cNvSpPr/>
          <p:nvPr/>
        </p:nvSpPr>
        <p:spPr>
          <a:xfrm>
            <a:off x="8869680" y="1828800"/>
            <a:ext cx="2606040" cy="1783080"/>
          </a:xfrm>
          <a:prstGeom prst="roundRect">
            <a:avLst>
              <a:gd name="adj" fmla="val 6154"/>
            </a:avLst>
          </a:prstGeom>
          <a:solidFill>
            <a:srgbClr val="EDF2FA"/>
          </a:solidFill>
          <a:ln/>
        </p:spPr>
      </p:sp>
      <p:sp>
        <p:nvSpPr>
          <p:cNvPr id="20" name="Shape 18"/>
          <p:cNvSpPr/>
          <p:nvPr/>
        </p:nvSpPr>
        <p:spPr>
          <a:xfrm>
            <a:off x="9098280" y="2084832"/>
            <a:ext cx="365760" cy="365760"/>
          </a:xfrm>
          <a:prstGeom prst="ellipse">
            <a:avLst/>
          </a:prstGeom>
          <a:solidFill>
            <a:srgbClr val="1E2761"/>
          </a:solidFill>
          <a:ln/>
        </p:spPr>
      </p:sp>
      <p:sp>
        <p:nvSpPr>
          <p:cNvPr id="21" name="Text 19"/>
          <p:cNvSpPr txBox="1"/>
          <p:nvPr/>
        </p:nvSpPr>
        <p:spPr>
          <a:xfrm>
            <a:off x="90982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95829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much</a:t>
            </a:r>
            <a:endParaRPr lang="en-US" sz="1450" dirty="0"/>
          </a:p>
        </p:txBody>
      </p:sp>
      <p:sp>
        <p:nvSpPr>
          <p:cNvPr id="23" name="Text 21"/>
          <p:cNvSpPr txBox="1"/>
          <p:nvPr/>
        </p:nvSpPr>
        <p:spPr>
          <a:xfrm>
            <a:off x="91257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revenue by market and by offering?</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deal sizes and price bands does the market pay?</a:t>
            </a:r>
            <a:endParaRPr lang="en-US" sz="1050" dirty="0"/>
          </a:p>
        </p:txBody>
      </p:sp>
      <p:sp>
        <p:nvSpPr>
          <p:cNvPr id="24" name="Shape 22"/>
          <p:cNvSpPr/>
          <p:nvPr/>
        </p:nvSpPr>
        <p:spPr>
          <a:xfrm>
            <a:off x="640080" y="3794760"/>
            <a:ext cx="2606040" cy="1783080"/>
          </a:xfrm>
          <a:prstGeom prst="roundRect">
            <a:avLst>
              <a:gd name="adj" fmla="val 6154"/>
            </a:avLst>
          </a:prstGeom>
          <a:solidFill>
            <a:srgbClr val="E4EBF7"/>
          </a:solidFill>
          <a:ln/>
        </p:spPr>
      </p:sp>
      <p:sp>
        <p:nvSpPr>
          <p:cNvPr id="25" name="Shape 23"/>
          <p:cNvSpPr/>
          <p:nvPr/>
        </p:nvSpPr>
        <p:spPr>
          <a:xfrm>
            <a:off x="868680" y="4050792"/>
            <a:ext cx="365760" cy="365760"/>
          </a:xfrm>
          <a:prstGeom prst="ellipse">
            <a:avLst/>
          </a:prstGeom>
          <a:solidFill>
            <a:srgbClr val="1E2761"/>
          </a:solidFill>
          <a:ln/>
        </p:spPr>
      </p:sp>
      <p:sp>
        <p:nvSpPr>
          <p:cNvPr id="26" name="Text 24"/>
          <p:cNvSpPr txBox="1"/>
          <p:nvPr/>
        </p:nvSpPr>
        <p:spPr>
          <a:xfrm>
            <a:off x="8686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covers what</a:t>
            </a:r>
            <a:endParaRPr lang="en-US" sz="1450" dirty="0"/>
          </a:p>
        </p:txBody>
      </p:sp>
      <p:sp>
        <p:nvSpPr>
          <p:cNvPr id="28" name="Text 26"/>
          <p:cNvSpPr txBox="1"/>
          <p:nvPr/>
        </p:nvSpPr>
        <p:spPr>
          <a:xfrm>
            <a:off x="8961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partner owns which account?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coverage model across markets?</a:t>
            </a:r>
            <a:endParaRPr lang="en-US" sz="1050" dirty="0"/>
          </a:p>
        </p:txBody>
      </p:sp>
      <p:sp>
        <p:nvSpPr>
          <p:cNvPr id="29" name="Shape 27"/>
          <p:cNvSpPr/>
          <p:nvPr/>
        </p:nvSpPr>
        <p:spPr>
          <a:xfrm>
            <a:off x="3383280" y="3794760"/>
            <a:ext cx="2606040" cy="1783080"/>
          </a:xfrm>
          <a:prstGeom prst="roundRect">
            <a:avLst>
              <a:gd name="adj" fmla="val 6154"/>
            </a:avLst>
          </a:prstGeom>
          <a:solidFill>
            <a:srgbClr val="EDF2FA"/>
          </a:solidFill>
          <a:ln/>
        </p:spPr>
      </p:sp>
      <p:sp>
        <p:nvSpPr>
          <p:cNvPr id="30" name="Shape 28"/>
          <p:cNvSpPr/>
          <p:nvPr/>
        </p:nvSpPr>
        <p:spPr>
          <a:xfrm>
            <a:off x="3611880" y="4050792"/>
            <a:ext cx="365760" cy="365760"/>
          </a:xfrm>
          <a:prstGeom prst="ellipse">
            <a:avLst/>
          </a:prstGeom>
          <a:solidFill>
            <a:srgbClr val="1E2761"/>
          </a:solidFill>
          <a:ln/>
        </p:spPr>
      </p:sp>
      <p:sp>
        <p:nvSpPr>
          <p:cNvPr id="31" name="Text 29"/>
          <p:cNvSpPr txBox="1"/>
          <p:nvPr/>
        </p:nvSpPr>
        <p:spPr>
          <a:xfrm>
            <a:off x="36118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40965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delivers it</a:t>
            </a:r>
            <a:endParaRPr lang="en-US" sz="1450" dirty="0"/>
          </a:p>
        </p:txBody>
      </p:sp>
      <p:sp>
        <p:nvSpPr>
          <p:cNvPr id="33" name="Text 31"/>
          <p:cNvSpPr txBox="1"/>
          <p:nvPr/>
        </p:nvSpPr>
        <p:spPr>
          <a:xfrm>
            <a:off x="36393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Who is dedicated to FSI?</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shared capacity can we draw on?</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must we recruit?</a:t>
            </a:r>
            <a:endParaRPr lang="en-US" sz="1050" dirty="0"/>
          </a:p>
        </p:txBody>
      </p:sp>
      <p:sp>
        <p:nvSpPr>
          <p:cNvPr id="34" name="Shape 32"/>
          <p:cNvSpPr/>
          <p:nvPr/>
        </p:nvSpPr>
        <p:spPr>
          <a:xfrm>
            <a:off x="6126480" y="3794760"/>
            <a:ext cx="2606040" cy="1783080"/>
          </a:xfrm>
          <a:prstGeom prst="roundRect">
            <a:avLst>
              <a:gd name="adj" fmla="val 6154"/>
            </a:avLst>
          </a:prstGeom>
          <a:solidFill>
            <a:srgbClr val="E4EBF7"/>
          </a:solidFill>
          <a:ln/>
        </p:spPr>
      </p:sp>
      <p:sp>
        <p:nvSpPr>
          <p:cNvPr id="35" name="Shape 33"/>
          <p:cNvSpPr/>
          <p:nvPr/>
        </p:nvSpPr>
        <p:spPr>
          <a:xfrm>
            <a:off x="6355080" y="4050792"/>
            <a:ext cx="365760" cy="365760"/>
          </a:xfrm>
          <a:prstGeom prst="ellipse">
            <a:avLst/>
          </a:prstGeom>
          <a:solidFill>
            <a:srgbClr val="1E2761"/>
          </a:solidFill>
          <a:ln/>
        </p:spPr>
      </p:sp>
      <p:sp>
        <p:nvSpPr>
          <p:cNvPr id="36" name="Text 34"/>
          <p:cNvSpPr txBox="1"/>
          <p:nvPr/>
        </p:nvSpPr>
        <p:spPr>
          <a:xfrm>
            <a:off x="63550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68397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are known</a:t>
            </a:r>
            <a:endParaRPr lang="en-US" sz="1450" dirty="0"/>
          </a:p>
        </p:txBody>
      </p:sp>
      <p:sp>
        <p:nvSpPr>
          <p:cNvPr id="38" name="Text 36"/>
          <p:cNvSpPr txBox="1"/>
          <p:nvPr/>
        </p:nvSpPr>
        <p:spPr>
          <a:xfrm>
            <a:off x="63825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Where must we be visible?</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we publish, host or speak at?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How do we measure it?</a:t>
            </a:r>
            <a:endParaRPr lang="en-US" sz="1050" dirty="0"/>
          </a:p>
        </p:txBody>
      </p:sp>
      <p:sp>
        <p:nvSpPr>
          <p:cNvPr id="39" name="Shape 37"/>
          <p:cNvSpPr/>
          <p:nvPr/>
        </p:nvSpPr>
        <p:spPr>
          <a:xfrm>
            <a:off x="4251960" y="6035040"/>
            <a:ext cx="3657600" cy="301752"/>
          </a:xfrm>
          <a:prstGeom prst="roundRect">
            <a:avLst>
              <a:gd name="adj" fmla="val 48485"/>
            </a:avLst>
          </a:prstGeom>
          <a:solidFill>
            <a:srgbClr val="FFFFFF"/>
          </a:solidFill>
          <a:ln w="12700">
            <a:solidFill>
              <a:srgbClr val="B8862B"/>
            </a:solidFill>
            <a:prstDash val="solid"/>
          </a:ln>
        </p:spPr>
      </p:sp>
      <p:sp>
        <p:nvSpPr>
          <p:cNvPr id="40" name="Text 38"/>
          <p:cNvSpPr txBox="1"/>
          <p:nvPr/>
        </p:nvSpPr>
        <p:spPr>
          <a:xfrm>
            <a:off x="4251960" y="603504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answers to be defined in the cycle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Agree inputs and cadence</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Deal sizes and market price bands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Seven workstreams, seven artefacts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workstream owns one dimension and produces one deliverable.</a:t>
            </a:r>
            <a:endParaRPr lang="en-US" sz="14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881360" cy="914400"/>
        </p:xfrm>
        <a:graphic>
          <a:graphicData uri="http://schemas.openxmlformats.org/drawingml/2006/table">
            <a:tbl>
              <a:tblPr/>
              <a:tblGrid>
                <a:gridCol w="3017520"/>
                <a:gridCol w="2377440"/>
                <a:gridCol w="5486400"/>
              </a:tblGrid>
              <a:tr h="438912">
                <a:tc>
                  <a:txBody>
                    <a:bodyPr/>
                    <a:lstStyle/>
                    <a:p>
                      <a:pPr algn="l" indent="0" marL="0">
                        <a:buNone/>
                      </a:pPr>
                      <a:r>
                        <a:rPr lang="en-US" sz="1200" b="1" dirty="0">
                          <a:solidFill>
                            <a:srgbClr val="44506B"/>
                          </a:solidFill>
                          <a:latin typeface="Calibri" pitchFamily="34" charset="0"/>
                          <a:ea typeface="Calibri" pitchFamily="34" charset="-122"/>
                          <a:cs typeface="Calibri" pitchFamily="34" charset="-120"/>
                        </a:rPr>
                        <a:t>Workstream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44506B"/>
                          </a:solidFill>
                          <a:latin typeface="Calibri" pitchFamily="34" charset="0"/>
                          <a:ea typeface="Calibri" pitchFamily="34" charset="-122"/>
                          <a:cs typeface="Calibri" pitchFamily="34" charset="-120"/>
                        </a:rPr>
                        <a:t>Question it closes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44506B"/>
                          </a:solidFill>
                          <a:latin typeface="Calibri" pitchFamily="34" charset="0"/>
                          <a:ea typeface="Calibri" pitchFamily="34" charset="-122"/>
                          <a:cs typeface="Calibri" pitchFamily="34" charset="-120"/>
                        </a:rPr>
                        <a:t>Artefact produced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12064">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1 · Proposition &amp; catalogue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What we offer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Integrated proposition catalogue with 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12064">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2 · Market &amp; account targeting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Where to play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Prioritised markets, segments and named account list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12064">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3 · Commercial sizing &amp; pricing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How much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Deal-size bands, price benchmarks, revenue targets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12064">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4 · Coverage &amp; ownership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Who covers what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Account-to-partner map and coverage model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12064">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5 · Delivery model &amp; readiness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How we win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Delivery approach and delivery standards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12064">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6 · Team &amp; talent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Who delivers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Dedicated FSI team, shared capacity view, recruitment plan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12064">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7 · Eminence &amp; positioning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How we are known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Eminence plan: content, events and speaking calendar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828800"/>
            <a:ext cx="10881360" cy="438912"/>
          </a:xfrm>
          <a:prstGeom prst="rect">
            <a:avLst/>
          </a:prstGeom>
          <a:solidFill>
            <a:srgbClr val="1E2761"/>
          </a:solidFill>
          <a:ln/>
        </p:spPr>
      </p:sp>
      <p:sp>
        <p:nvSpPr>
          <p:cNvPr id="6" name="Text 3"/>
          <p:cNvSpPr txBox="1"/>
          <p:nvPr/>
        </p:nvSpPr>
        <p:spPr>
          <a:xfrm>
            <a:off x="777240" y="1828800"/>
            <a:ext cx="292608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Workstream</a:t>
            </a:r>
            <a:endParaRPr lang="en-US" sz="1250" dirty="0"/>
          </a:p>
        </p:txBody>
      </p:sp>
      <p:sp>
        <p:nvSpPr>
          <p:cNvPr id="7" name="Text 4"/>
          <p:cNvSpPr txBox="1"/>
          <p:nvPr/>
        </p:nvSpPr>
        <p:spPr>
          <a:xfrm>
            <a:off x="3794760" y="1828800"/>
            <a:ext cx="228600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Question it closes</a:t>
            </a:r>
            <a:endParaRPr lang="en-US" sz="1250" dirty="0"/>
          </a:p>
        </p:txBody>
      </p:sp>
      <p:sp>
        <p:nvSpPr>
          <p:cNvPr id="8" name="Text 5"/>
          <p:cNvSpPr txBox="1"/>
          <p:nvPr/>
        </p:nvSpPr>
        <p:spPr>
          <a:xfrm>
            <a:off x="6172200" y="1828800"/>
            <a:ext cx="512064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Artefact produced</a:t>
            </a:r>
            <a:endParaRPr lang="en-US" sz="1250" dirty="0"/>
          </a:p>
        </p:txBody>
      </p:sp>
      <p:sp>
        <p:nvSpPr>
          <p:cNvPr id="9" name="Text 6"/>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8792AB"/>
                </a:solidFill>
                <a:latin typeface="Calibri" pitchFamily="34" charset="0"/>
                <a:ea typeface="Calibri" pitchFamily="34" charset="-122"/>
                <a:cs typeface="Calibri" pitchFamily="34" charset="-120"/>
              </a:rPr>
              <a:t>Workstreams run in parallel; dependencies are resolved at the weekly checkpoint.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capacity question, answered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it</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2026-09-27T18:50:43Z</dcterms:created>
  <dcterms:modified xsi:type="dcterms:W3CDTF">2026-09-27T18:50:43Z</dcterms:modified>
</cp:coreProperties>
</file>