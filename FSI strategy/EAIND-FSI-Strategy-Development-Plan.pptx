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rules carry the most weight here.
Domain-specific, not agnostic: financial services, and banking in particular, is specialised enough that generic technology credentials do not travel. Clients expect the team in the room to know core banking, payments, regulatory reporting or wealth operations — not just cloud, data or integration in the abstract.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 core banking modernisation with heavy onshore functional and governance presence looks nothing like an AI use-case activation or an integration build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banking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COO, CIO, head of retail banking, chief data officer,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banking modernisation and migration the drivers include retail versus corporate versus SME scope,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banking programme, a data platform build and an AI activation.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banking-platform alliances. Add any others the cycle identifies.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Twelve sections, plus an appendix of blank templates.</a:t>
            </a:r>
            <a:endParaRPr lang="en-US" sz="1450" dirty="0"/>
          </a:p>
        </p:txBody>
      </p:sp>
      <p:sp>
        <p:nvSpPr>
          <p:cNvPr id="4" name="Shape 2"/>
          <p:cNvSpPr/>
          <p:nvPr/>
        </p:nvSpPr>
        <p:spPr>
          <a:xfrm>
            <a:off x="640080" y="1783080"/>
            <a:ext cx="5257800" cy="621792"/>
          </a:xfrm>
          <a:prstGeom prst="roundRect">
            <a:avLst>
              <a:gd name="adj" fmla="val 11765"/>
            </a:avLst>
          </a:prstGeom>
          <a:solidFill>
            <a:srgbClr val="F2F6FC"/>
          </a:solidFill>
          <a:ln/>
        </p:spPr>
      </p:sp>
      <p:sp>
        <p:nvSpPr>
          <p:cNvPr id="5" name="Shape 3"/>
          <p:cNvSpPr/>
          <p:nvPr/>
        </p:nvSpPr>
        <p:spPr>
          <a:xfrm>
            <a:off x="841248" y="1892808"/>
            <a:ext cx="384048" cy="384048"/>
          </a:xfrm>
          <a:prstGeom prst="ellipse">
            <a:avLst/>
          </a:prstGeom>
          <a:solidFill>
            <a:srgbClr val="1E2761"/>
          </a:solidFill>
          <a:ln/>
        </p:spPr>
      </p:sp>
      <p:sp>
        <p:nvSpPr>
          <p:cNvPr id="6" name="Text 4"/>
          <p:cNvSpPr txBox="1"/>
          <p:nvPr/>
        </p:nvSpPr>
        <p:spPr>
          <a:xfrm>
            <a:off x="84124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this document is</a:t>
            </a:r>
            <a:endParaRPr lang="en-US" sz="1450" dirty="0"/>
          </a:p>
        </p:txBody>
      </p:sp>
      <p:sp>
        <p:nvSpPr>
          <p:cNvPr id="8" name="Text 6"/>
          <p:cNvSpPr txBox="1"/>
          <p:nvPr/>
        </p:nvSpPr>
        <p:spPr>
          <a:xfrm>
            <a:off x="141732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Method, not conclusion</a:t>
            </a:r>
            <a:endParaRPr lang="en-US" sz="1100" dirty="0"/>
          </a:p>
        </p:txBody>
      </p:sp>
      <p:sp>
        <p:nvSpPr>
          <p:cNvPr id="9" name="Shape 7"/>
          <p:cNvSpPr/>
          <p:nvPr/>
        </p:nvSpPr>
        <p:spPr>
          <a:xfrm>
            <a:off x="6263640" y="1783080"/>
            <a:ext cx="5257800" cy="621792"/>
          </a:xfrm>
          <a:prstGeom prst="roundRect">
            <a:avLst>
              <a:gd name="adj" fmla="val 11765"/>
            </a:avLst>
          </a:prstGeom>
          <a:solidFill>
            <a:srgbClr val="EDF2FA"/>
          </a:solidFill>
          <a:ln/>
        </p:spPr>
      </p:sp>
      <p:sp>
        <p:nvSpPr>
          <p:cNvPr id="10" name="Shape 8"/>
          <p:cNvSpPr/>
          <p:nvPr/>
        </p:nvSpPr>
        <p:spPr>
          <a:xfrm>
            <a:off x="6464808" y="1892808"/>
            <a:ext cx="384048" cy="384048"/>
          </a:xfrm>
          <a:prstGeom prst="ellipse">
            <a:avLst/>
          </a:prstGeom>
          <a:solidFill>
            <a:srgbClr val="3E5C8A"/>
          </a:solidFill>
          <a:ln/>
        </p:spPr>
      </p:sp>
      <p:sp>
        <p:nvSpPr>
          <p:cNvPr id="11" name="Text 9"/>
          <p:cNvSpPr txBox="1"/>
          <p:nvPr/>
        </p:nvSpPr>
        <p:spPr>
          <a:xfrm>
            <a:off x="646480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the strategy must cover</a:t>
            </a:r>
            <a:endParaRPr lang="en-US" sz="1450" dirty="0"/>
          </a:p>
        </p:txBody>
      </p:sp>
      <p:sp>
        <p:nvSpPr>
          <p:cNvPr id="13" name="Text 11"/>
          <p:cNvSpPr txBox="1"/>
          <p:nvPr/>
        </p:nvSpPr>
        <p:spPr>
          <a:xfrm>
            <a:off x="704088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Ambition, four pillars, operating discipline</a:t>
            </a:r>
            <a:endParaRPr lang="en-US" sz="1100" dirty="0"/>
          </a:p>
        </p:txBody>
      </p:sp>
      <p:sp>
        <p:nvSpPr>
          <p:cNvPr id="14" name="Shape 12"/>
          <p:cNvSpPr/>
          <p:nvPr/>
        </p:nvSpPr>
        <p:spPr>
          <a:xfrm>
            <a:off x="640080" y="2514600"/>
            <a:ext cx="5257800" cy="621792"/>
          </a:xfrm>
          <a:prstGeom prst="roundRect">
            <a:avLst>
              <a:gd name="adj" fmla="val 11765"/>
            </a:avLst>
          </a:prstGeom>
          <a:solidFill>
            <a:srgbClr val="F2F6FC"/>
          </a:solidFill>
          <a:ln/>
        </p:spPr>
      </p:sp>
      <p:sp>
        <p:nvSpPr>
          <p:cNvPr id="15" name="Shape 13"/>
          <p:cNvSpPr/>
          <p:nvPr/>
        </p:nvSpPr>
        <p:spPr>
          <a:xfrm>
            <a:off x="841248" y="2624328"/>
            <a:ext cx="384048" cy="384048"/>
          </a:xfrm>
          <a:prstGeom prst="ellipse">
            <a:avLst/>
          </a:prstGeom>
          <a:solidFill>
            <a:srgbClr val="1E2761"/>
          </a:solidFill>
          <a:ln/>
        </p:spPr>
      </p:sp>
      <p:sp>
        <p:nvSpPr>
          <p:cNvPr id="16" name="Text 14"/>
          <p:cNvSpPr txBox="1"/>
          <p:nvPr/>
        </p:nvSpPr>
        <p:spPr>
          <a:xfrm>
            <a:off x="84124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Principles we hold going in</a:t>
            </a:r>
            <a:endParaRPr lang="en-US" sz="1450" dirty="0"/>
          </a:p>
        </p:txBody>
      </p:sp>
      <p:sp>
        <p:nvSpPr>
          <p:cNvPr id="18" name="Text 16"/>
          <p:cNvSpPr txBox="1"/>
          <p:nvPr/>
        </p:nvSpPr>
        <p:spPr>
          <a:xfrm>
            <a:off x="141732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Constraints agreed before the work starts</a:t>
            </a:r>
            <a:endParaRPr lang="en-US" sz="1100" dirty="0"/>
          </a:p>
        </p:txBody>
      </p:sp>
      <p:sp>
        <p:nvSpPr>
          <p:cNvPr id="19" name="Shape 17"/>
          <p:cNvSpPr/>
          <p:nvPr/>
        </p:nvSpPr>
        <p:spPr>
          <a:xfrm>
            <a:off x="6263640" y="2514600"/>
            <a:ext cx="5257800" cy="621792"/>
          </a:xfrm>
          <a:prstGeom prst="roundRect">
            <a:avLst>
              <a:gd name="adj" fmla="val 11765"/>
            </a:avLst>
          </a:prstGeom>
          <a:solidFill>
            <a:srgbClr val="EDF2FA"/>
          </a:solidFill>
          <a:ln/>
        </p:spPr>
      </p:sp>
      <p:sp>
        <p:nvSpPr>
          <p:cNvPr id="20" name="Shape 18"/>
          <p:cNvSpPr/>
          <p:nvPr/>
        </p:nvSpPr>
        <p:spPr>
          <a:xfrm>
            <a:off x="6464808" y="2624328"/>
            <a:ext cx="384048" cy="384048"/>
          </a:xfrm>
          <a:prstGeom prst="ellipse">
            <a:avLst/>
          </a:prstGeom>
          <a:solidFill>
            <a:srgbClr val="3E5C8A"/>
          </a:solidFill>
          <a:ln/>
        </p:spPr>
      </p:sp>
      <p:sp>
        <p:nvSpPr>
          <p:cNvPr id="21" name="Text 19"/>
          <p:cNvSpPr txBox="1"/>
          <p:nvPr/>
        </p:nvSpPr>
        <p:spPr>
          <a:xfrm>
            <a:off x="646480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will get there</a:t>
            </a:r>
            <a:endParaRPr lang="en-US" sz="1450" dirty="0"/>
          </a:p>
        </p:txBody>
      </p:sp>
      <p:sp>
        <p:nvSpPr>
          <p:cNvPr id="23" name="Text 21"/>
          <p:cNvSpPr txBox="1"/>
          <p:nvPr/>
        </p:nvSpPr>
        <p:spPr>
          <a:xfrm>
            <a:off x="704088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five-step approach</a:t>
            </a:r>
            <a:endParaRPr lang="en-US" sz="1100" dirty="0"/>
          </a:p>
        </p:txBody>
      </p:sp>
      <p:sp>
        <p:nvSpPr>
          <p:cNvPr id="24" name="Shape 22"/>
          <p:cNvSpPr/>
          <p:nvPr/>
        </p:nvSpPr>
        <p:spPr>
          <a:xfrm>
            <a:off x="640080" y="3246120"/>
            <a:ext cx="5257800" cy="621792"/>
          </a:xfrm>
          <a:prstGeom prst="roundRect">
            <a:avLst>
              <a:gd name="adj" fmla="val 11765"/>
            </a:avLst>
          </a:prstGeom>
          <a:solidFill>
            <a:srgbClr val="F2F6FC"/>
          </a:solidFill>
          <a:ln/>
        </p:spPr>
      </p:sp>
      <p:sp>
        <p:nvSpPr>
          <p:cNvPr id="25" name="Shape 23"/>
          <p:cNvSpPr/>
          <p:nvPr/>
        </p:nvSpPr>
        <p:spPr>
          <a:xfrm>
            <a:off x="841248" y="3355848"/>
            <a:ext cx="384048" cy="384048"/>
          </a:xfrm>
          <a:prstGeom prst="ellipse">
            <a:avLst/>
          </a:prstGeom>
          <a:solidFill>
            <a:srgbClr val="1E2761"/>
          </a:solidFill>
          <a:ln/>
        </p:spPr>
      </p:sp>
      <p:sp>
        <p:nvSpPr>
          <p:cNvPr id="26" name="Text 24"/>
          <p:cNvSpPr txBox="1"/>
          <p:nvPr/>
        </p:nvSpPr>
        <p:spPr>
          <a:xfrm>
            <a:off x="84124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Five workstreams, one per pillar</a:t>
            </a:r>
            <a:endParaRPr lang="en-US" sz="1450" dirty="0"/>
          </a:p>
        </p:txBody>
      </p:sp>
      <p:sp>
        <p:nvSpPr>
          <p:cNvPr id="28" name="Text 26"/>
          <p:cNvSpPr txBox="1"/>
          <p:nvPr/>
        </p:nvSpPr>
        <p:spPr>
          <a:xfrm>
            <a:off x="141732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owns what, and what each produces</a:t>
            </a:r>
            <a:endParaRPr lang="en-US" sz="1100" dirty="0"/>
          </a:p>
        </p:txBody>
      </p:sp>
      <p:sp>
        <p:nvSpPr>
          <p:cNvPr id="29" name="Shape 27"/>
          <p:cNvSpPr/>
          <p:nvPr/>
        </p:nvSpPr>
        <p:spPr>
          <a:xfrm>
            <a:off x="6263640" y="3246120"/>
            <a:ext cx="5257800" cy="621792"/>
          </a:xfrm>
          <a:prstGeom prst="roundRect">
            <a:avLst>
              <a:gd name="adj" fmla="val 11765"/>
            </a:avLst>
          </a:prstGeom>
          <a:solidFill>
            <a:srgbClr val="EDF2FA"/>
          </a:solidFill>
          <a:ln/>
        </p:spPr>
      </p:sp>
      <p:sp>
        <p:nvSpPr>
          <p:cNvPr id="30" name="Shape 28"/>
          <p:cNvSpPr/>
          <p:nvPr/>
        </p:nvSpPr>
        <p:spPr>
          <a:xfrm>
            <a:off x="6464808" y="3355848"/>
            <a:ext cx="384048" cy="384048"/>
          </a:xfrm>
          <a:prstGeom prst="ellipse">
            <a:avLst/>
          </a:prstGeom>
          <a:solidFill>
            <a:srgbClr val="3E5C8A"/>
          </a:solidFill>
          <a:ln/>
        </p:spPr>
      </p:sp>
      <p:sp>
        <p:nvSpPr>
          <p:cNvPr id="31" name="Text 29"/>
          <p:cNvSpPr txBox="1"/>
          <p:nvPr/>
        </p:nvSpPr>
        <p:spPr>
          <a:xfrm>
            <a:off x="646480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3 · Delivery and pricing economics</a:t>
            </a:r>
            <a:endParaRPr lang="en-US" sz="1450" dirty="0"/>
          </a:p>
        </p:txBody>
      </p:sp>
      <p:sp>
        <p:nvSpPr>
          <p:cNvPr id="33" name="Text 31"/>
          <p:cNvSpPr txBox="1"/>
          <p:nvPr/>
        </p:nvSpPr>
        <p:spPr>
          <a:xfrm>
            <a:off x="704088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Construct, price, ADR and margin</a:t>
            </a:r>
            <a:endParaRPr lang="en-US" sz="1100" dirty="0"/>
          </a:p>
        </p:txBody>
      </p:sp>
      <p:sp>
        <p:nvSpPr>
          <p:cNvPr id="34" name="Shape 32"/>
          <p:cNvSpPr/>
          <p:nvPr/>
        </p:nvSpPr>
        <p:spPr>
          <a:xfrm>
            <a:off x="640080" y="3977640"/>
            <a:ext cx="5257800" cy="621792"/>
          </a:xfrm>
          <a:prstGeom prst="roundRect">
            <a:avLst>
              <a:gd name="adj" fmla="val 11765"/>
            </a:avLst>
          </a:prstGeom>
          <a:solidFill>
            <a:srgbClr val="F2F6FC"/>
          </a:solidFill>
          <a:ln/>
        </p:spPr>
      </p:sp>
      <p:sp>
        <p:nvSpPr>
          <p:cNvPr id="35" name="Shape 33"/>
          <p:cNvSpPr/>
          <p:nvPr/>
        </p:nvSpPr>
        <p:spPr>
          <a:xfrm>
            <a:off x="841248" y="4087368"/>
            <a:ext cx="384048" cy="384048"/>
          </a:xfrm>
          <a:prstGeom prst="ellipse">
            <a:avLst/>
          </a:prstGeom>
          <a:solidFill>
            <a:srgbClr val="1E2761"/>
          </a:solidFill>
          <a:ln/>
        </p:spPr>
      </p:sp>
      <p:sp>
        <p:nvSpPr>
          <p:cNvPr id="36" name="Text 34"/>
          <p:cNvSpPr txBox="1"/>
          <p:nvPr/>
        </p:nvSpPr>
        <p:spPr>
          <a:xfrm>
            <a:off x="84124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3 · Team and talent</a:t>
            </a:r>
            <a:endParaRPr lang="en-US" sz="1450" dirty="0"/>
          </a:p>
        </p:txBody>
      </p:sp>
      <p:sp>
        <p:nvSpPr>
          <p:cNvPr id="38" name="Text 36"/>
          <p:cNvSpPr txBox="1"/>
          <p:nvPr/>
        </p:nvSpPr>
        <p:spPr>
          <a:xfrm>
            <a:off x="141732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Dedicated, shared and the gap to close</a:t>
            </a:r>
            <a:endParaRPr lang="en-US" sz="1100" dirty="0"/>
          </a:p>
        </p:txBody>
      </p:sp>
      <p:sp>
        <p:nvSpPr>
          <p:cNvPr id="39" name="Shape 37"/>
          <p:cNvSpPr/>
          <p:nvPr/>
        </p:nvSpPr>
        <p:spPr>
          <a:xfrm>
            <a:off x="6263640" y="3977640"/>
            <a:ext cx="5257800" cy="621792"/>
          </a:xfrm>
          <a:prstGeom prst="roundRect">
            <a:avLst>
              <a:gd name="adj" fmla="val 11765"/>
            </a:avLst>
          </a:prstGeom>
          <a:solidFill>
            <a:srgbClr val="EDF2FA"/>
          </a:solidFill>
          <a:ln/>
        </p:spPr>
      </p:sp>
      <p:sp>
        <p:nvSpPr>
          <p:cNvPr id="40" name="Shape 38"/>
          <p:cNvSpPr/>
          <p:nvPr/>
        </p:nvSpPr>
        <p:spPr>
          <a:xfrm>
            <a:off x="6464808" y="4087368"/>
            <a:ext cx="384048" cy="384048"/>
          </a:xfrm>
          <a:prstGeom prst="ellipse">
            <a:avLst/>
          </a:prstGeom>
          <a:solidFill>
            <a:srgbClr val="3E5C8A"/>
          </a:solidFill>
          <a:ln/>
        </p:spPr>
      </p:sp>
      <p:sp>
        <p:nvSpPr>
          <p:cNvPr id="41" name="Text 39"/>
          <p:cNvSpPr txBox="1"/>
          <p:nvPr/>
        </p:nvSpPr>
        <p:spPr>
          <a:xfrm>
            <a:off x="646480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4 · Eminence and positioning</a:t>
            </a:r>
            <a:endParaRPr lang="en-US" sz="1450" dirty="0"/>
          </a:p>
        </p:txBody>
      </p:sp>
      <p:sp>
        <p:nvSpPr>
          <p:cNvPr id="43" name="Text 41"/>
          <p:cNvSpPr txBox="1"/>
          <p:nvPr/>
        </p:nvSpPr>
        <p:spPr>
          <a:xfrm>
            <a:off x="704088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How the market comes to know us</a:t>
            </a:r>
            <a:endParaRPr lang="en-US" sz="1100" dirty="0"/>
          </a:p>
        </p:txBody>
      </p:sp>
      <p:sp>
        <p:nvSpPr>
          <p:cNvPr id="44" name="Shape 42"/>
          <p:cNvSpPr/>
          <p:nvPr/>
        </p:nvSpPr>
        <p:spPr>
          <a:xfrm>
            <a:off x="640080" y="4709160"/>
            <a:ext cx="5257800" cy="621792"/>
          </a:xfrm>
          <a:prstGeom prst="roundRect">
            <a:avLst>
              <a:gd name="adj" fmla="val 11765"/>
            </a:avLst>
          </a:prstGeom>
          <a:solidFill>
            <a:srgbClr val="F2F6FC"/>
          </a:solidFill>
          <a:ln/>
        </p:spPr>
      </p:sp>
      <p:sp>
        <p:nvSpPr>
          <p:cNvPr id="45" name="Shape 43"/>
          <p:cNvSpPr/>
          <p:nvPr/>
        </p:nvSpPr>
        <p:spPr>
          <a:xfrm>
            <a:off x="841248" y="4818888"/>
            <a:ext cx="384048" cy="384048"/>
          </a:xfrm>
          <a:prstGeom prst="ellipse">
            <a:avLst/>
          </a:prstGeom>
          <a:solidFill>
            <a:srgbClr val="1E2761"/>
          </a:solidFill>
          <a:ln/>
        </p:spPr>
      </p:sp>
      <p:sp>
        <p:nvSpPr>
          <p:cNvPr id="46" name="Text 44"/>
          <p:cNvSpPr txBox="1"/>
          <p:nvPr/>
        </p:nvSpPr>
        <p:spPr>
          <a:xfrm>
            <a:off x="84124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41732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4 · Alliances</a:t>
            </a:r>
            <a:endParaRPr lang="en-US" sz="1450" dirty="0"/>
          </a:p>
        </p:txBody>
      </p:sp>
      <p:sp>
        <p:nvSpPr>
          <p:cNvPr id="48" name="Text 46"/>
          <p:cNvSpPr txBox="1"/>
          <p:nvPr/>
        </p:nvSpPr>
        <p:spPr>
          <a:xfrm>
            <a:off x="141732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we go to market with, and for what</a:t>
            </a:r>
            <a:endParaRPr lang="en-US" sz="1100" dirty="0"/>
          </a:p>
        </p:txBody>
      </p:sp>
      <p:sp>
        <p:nvSpPr>
          <p:cNvPr id="49" name="Shape 47"/>
          <p:cNvSpPr/>
          <p:nvPr/>
        </p:nvSpPr>
        <p:spPr>
          <a:xfrm>
            <a:off x="6263640" y="4709160"/>
            <a:ext cx="5257800" cy="621792"/>
          </a:xfrm>
          <a:prstGeom prst="roundRect">
            <a:avLst>
              <a:gd name="adj" fmla="val 11765"/>
            </a:avLst>
          </a:prstGeom>
          <a:solidFill>
            <a:srgbClr val="EDF2FA"/>
          </a:solidFill>
          <a:ln/>
        </p:spPr>
      </p:sp>
      <p:sp>
        <p:nvSpPr>
          <p:cNvPr id="50" name="Shape 48"/>
          <p:cNvSpPr/>
          <p:nvPr/>
        </p:nvSpPr>
        <p:spPr>
          <a:xfrm>
            <a:off x="6464808" y="4818888"/>
            <a:ext cx="384048" cy="384048"/>
          </a:xfrm>
          <a:prstGeom prst="ellipse">
            <a:avLst/>
          </a:prstGeom>
          <a:solidFill>
            <a:srgbClr val="3E5C8A"/>
          </a:solidFill>
          <a:ln/>
        </p:spPr>
      </p:sp>
      <p:sp>
        <p:nvSpPr>
          <p:cNvPr id="51" name="Text 49"/>
          <p:cNvSpPr txBox="1"/>
          <p:nvPr/>
        </p:nvSpPr>
        <p:spPr>
          <a:xfrm>
            <a:off x="646480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704088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three-week journey</a:t>
            </a:r>
            <a:endParaRPr lang="en-US" sz="1450" dirty="0"/>
          </a:p>
        </p:txBody>
      </p:sp>
      <p:sp>
        <p:nvSpPr>
          <p:cNvPr id="53" name="Text 51"/>
          <p:cNvSpPr txBox="1"/>
          <p:nvPr/>
        </p:nvSpPr>
        <p:spPr>
          <a:xfrm>
            <a:off x="704088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Week by week, with a gate each week</a:t>
            </a:r>
            <a:endParaRPr lang="en-US" sz="1100" dirty="0"/>
          </a:p>
        </p:txBody>
      </p:sp>
      <p:sp>
        <p:nvSpPr>
          <p:cNvPr id="54" name="Shape 52"/>
          <p:cNvSpPr/>
          <p:nvPr/>
        </p:nvSpPr>
        <p:spPr>
          <a:xfrm>
            <a:off x="640080" y="5440680"/>
            <a:ext cx="5257800" cy="621792"/>
          </a:xfrm>
          <a:prstGeom prst="roundRect">
            <a:avLst>
              <a:gd name="adj" fmla="val 11765"/>
            </a:avLst>
          </a:prstGeom>
          <a:solidFill>
            <a:srgbClr val="F2F6FC"/>
          </a:solidFill>
          <a:ln/>
        </p:spPr>
      </p:sp>
      <p:sp>
        <p:nvSpPr>
          <p:cNvPr id="55" name="Shape 53"/>
          <p:cNvSpPr/>
          <p:nvPr/>
        </p:nvSpPr>
        <p:spPr>
          <a:xfrm>
            <a:off x="841248" y="5550408"/>
            <a:ext cx="384048" cy="384048"/>
          </a:xfrm>
          <a:prstGeom prst="ellipse">
            <a:avLst/>
          </a:prstGeom>
          <a:solidFill>
            <a:srgbClr val="1E2761"/>
          </a:solidFill>
          <a:ln/>
        </p:spPr>
      </p:sp>
      <p:sp>
        <p:nvSpPr>
          <p:cNvPr id="56" name="Text 54"/>
          <p:cNvSpPr txBox="1"/>
          <p:nvPr/>
        </p:nvSpPr>
        <p:spPr>
          <a:xfrm>
            <a:off x="841248" y="55504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417320" y="54864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discipline · Governing the execution</a:t>
            </a:r>
            <a:endParaRPr lang="en-US" sz="1450" dirty="0"/>
          </a:p>
        </p:txBody>
      </p:sp>
      <p:sp>
        <p:nvSpPr>
          <p:cNvPr id="58" name="Text 56"/>
          <p:cNvSpPr txBox="1"/>
          <p:nvPr/>
        </p:nvSpPr>
        <p:spPr>
          <a:xfrm>
            <a:off x="1417320" y="57698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Rhythm and scorecard after sign-off</a:t>
            </a:r>
            <a:endParaRPr lang="en-US" sz="1100" dirty="0"/>
          </a:p>
        </p:txBody>
      </p:sp>
      <p:sp>
        <p:nvSpPr>
          <p:cNvPr id="59" name="Shape 57"/>
          <p:cNvSpPr/>
          <p:nvPr/>
        </p:nvSpPr>
        <p:spPr>
          <a:xfrm>
            <a:off x="6263640" y="5440680"/>
            <a:ext cx="5257800" cy="621792"/>
          </a:xfrm>
          <a:prstGeom prst="roundRect">
            <a:avLst>
              <a:gd name="adj" fmla="val 11765"/>
            </a:avLst>
          </a:prstGeom>
          <a:solidFill>
            <a:srgbClr val="EDF2FA"/>
          </a:solidFill>
          <a:ln/>
        </p:spPr>
      </p:sp>
      <p:sp>
        <p:nvSpPr>
          <p:cNvPr id="60" name="Shape 58"/>
          <p:cNvSpPr/>
          <p:nvPr/>
        </p:nvSpPr>
        <p:spPr>
          <a:xfrm>
            <a:off x="6464808" y="5550408"/>
            <a:ext cx="384048" cy="384048"/>
          </a:xfrm>
          <a:prstGeom prst="ellipse">
            <a:avLst/>
          </a:prstGeom>
          <a:solidFill>
            <a:srgbClr val="3E5C8A"/>
          </a:solidFill>
          <a:ln/>
        </p:spPr>
      </p:sp>
      <p:sp>
        <p:nvSpPr>
          <p:cNvPr id="61" name="Text 59"/>
          <p:cNvSpPr txBox="1"/>
          <p:nvPr/>
        </p:nvSpPr>
        <p:spPr>
          <a:xfrm>
            <a:off x="6464808" y="55504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7040880" y="54864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run the cycle</a:t>
            </a:r>
            <a:endParaRPr lang="en-US" sz="1450" dirty="0"/>
          </a:p>
        </p:txBody>
      </p:sp>
      <p:sp>
        <p:nvSpPr>
          <p:cNvPr id="63" name="Text 61"/>
          <p:cNvSpPr txBox="1"/>
          <p:nvPr/>
        </p:nvSpPr>
        <p:spPr>
          <a:xfrm>
            <a:off x="7040880" y="57698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Cadence, inputs and decisions requested</a:t>
            </a:r>
            <a:endParaRPr lang="en-US" sz="1100" dirty="0"/>
          </a:p>
        </p:txBody>
      </p:sp>
      <p:sp>
        <p:nvSpPr>
          <p:cNvPr id="64" name="Text 62"/>
          <p:cNvSpPr txBox="1"/>
          <p:nvPr/>
        </p:nvSpPr>
        <p:spPr>
          <a:xfrm>
            <a:off x="640080" y="626364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targeted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per account, gross and net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and construct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capacity and recruitment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5257800" cy="1280160"/>
          </a:xfrm>
          <a:prstGeom prst="roundRect">
            <a:avLst>
              <a:gd name="adj" fmla="val 7143"/>
            </a:avLst>
          </a:prstGeom>
          <a:solidFill>
            <a:srgbClr val="EDF2FA"/>
          </a:solidFill>
          <a:ln/>
        </p:spPr>
      </p:sp>
      <p:sp>
        <p:nvSpPr>
          <p:cNvPr id="5" name="Shape 3"/>
          <p:cNvSpPr/>
          <p:nvPr/>
        </p:nvSpPr>
        <p:spPr>
          <a:xfrm>
            <a:off x="914400" y="2039112"/>
            <a:ext cx="384048" cy="384048"/>
          </a:xfrm>
          <a:prstGeom prst="ellipse">
            <a:avLst/>
          </a:prstGeom>
          <a:solidFill>
            <a:srgbClr val="1E2761"/>
          </a:solidFill>
          <a:ln/>
        </p:spPr>
      </p:sp>
      <p:sp>
        <p:nvSpPr>
          <p:cNvPr id="6" name="Text 4"/>
          <p:cNvSpPr txBox="1"/>
          <p:nvPr/>
        </p:nvSpPr>
        <p:spPr>
          <a:xfrm>
            <a:off x="91440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8132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Integrated, not siloed</a:t>
            </a:r>
            <a:endParaRPr lang="en-US" sz="1700" dirty="0"/>
          </a:p>
        </p:txBody>
      </p:sp>
      <p:sp>
        <p:nvSpPr>
          <p:cNvPr id="8" name="Text 6"/>
          <p:cNvSpPr txBox="1"/>
          <p:nvPr/>
        </p:nvSpPr>
        <p:spPr>
          <a:xfrm>
            <a:off x="148132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250" dirty="0"/>
          </a:p>
        </p:txBody>
      </p:sp>
      <p:sp>
        <p:nvSpPr>
          <p:cNvPr id="9" name="Shape 7"/>
          <p:cNvSpPr/>
          <p:nvPr/>
        </p:nvSpPr>
        <p:spPr>
          <a:xfrm>
            <a:off x="6263640" y="1783080"/>
            <a:ext cx="5257800" cy="1280160"/>
          </a:xfrm>
          <a:prstGeom prst="roundRect">
            <a:avLst>
              <a:gd name="adj" fmla="val 7143"/>
            </a:avLst>
          </a:prstGeom>
          <a:solidFill>
            <a:srgbClr val="EDF2FA"/>
          </a:solidFill>
          <a:ln/>
        </p:spPr>
      </p:sp>
      <p:sp>
        <p:nvSpPr>
          <p:cNvPr id="10" name="Shape 8"/>
          <p:cNvSpPr/>
          <p:nvPr/>
        </p:nvSpPr>
        <p:spPr>
          <a:xfrm>
            <a:off x="6537960" y="2039112"/>
            <a:ext cx="384048" cy="384048"/>
          </a:xfrm>
          <a:prstGeom prst="ellipse">
            <a:avLst/>
          </a:prstGeom>
          <a:solidFill>
            <a:srgbClr val="3E5C8A"/>
          </a:solidFill>
          <a:ln/>
        </p:spPr>
      </p:sp>
      <p:sp>
        <p:nvSpPr>
          <p:cNvPr id="11" name="Text 9"/>
          <p:cNvSpPr txBox="1"/>
          <p:nvPr/>
        </p:nvSpPr>
        <p:spPr>
          <a:xfrm>
            <a:off x="653796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10488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Named accounts, not averages</a:t>
            </a:r>
            <a:endParaRPr lang="en-US" sz="1700" dirty="0"/>
          </a:p>
        </p:txBody>
      </p:sp>
      <p:sp>
        <p:nvSpPr>
          <p:cNvPr id="13" name="Text 11"/>
          <p:cNvSpPr txBox="1"/>
          <p:nvPr/>
        </p:nvSpPr>
        <p:spPr>
          <a:xfrm>
            <a:off x="710488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250" dirty="0"/>
          </a:p>
        </p:txBody>
      </p:sp>
      <p:sp>
        <p:nvSpPr>
          <p:cNvPr id="14" name="Shape 12"/>
          <p:cNvSpPr/>
          <p:nvPr/>
        </p:nvSpPr>
        <p:spPr>
          <a:xfrm>
            <a:off x="640080" y="3264408"/>
            <a:ext cx="5257800" cy="1280160"/>
          </a:xfrm>
          <a:prstGeom prst="roundRect">
            <a:avLst>
              <a:gd name="adj" fmla="val 7143"/>
            </a:avLst>
          </a:prstGeom>
          <a:solidFill>
            <a:srgbClr val="EDF2FA"/>
          </a:solidFill>
          <a:ln/>
        </p:spPr>
      </p:sp>
      <p:sp>
        <p:nvSpPr>
          <p:cNvPr id="15" name="Shape 13"/>
          <p:cNvSpPr/>
          <p:nvPr/>
        </p:nvSpPr>
        <p:spPr>
          <a:xfrm>
            <a:off x="914400" y="3520440"/>
            <a:ext cx="384048" cy="384048"/>
          </a:xfrm>
          <a:prstGeom prst="ellipse">
            <a:avLst/>
          </a:prstGeom>
          <a:solidFill>
            <a:srgbClr val="1E2761"/>
          </a:solidFill>
          <a:ln/>
        </p:spPr>
      </p:sp>
      <p:sp>
        <p:nvSpPr>
          <p:cNvPr id="16" name="Text 14"/>
          <p:cNvSpPr txBox="1"/>
          <p:nvPr/>
        </p:nvSpPr>
        <p:spPr>
          <a:xfrm>
            <a:off x="91440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8132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Sized and priced</a:t>
            </a:r>
            <a:endParaRPr lang="en-US" sz="1700" dirty="0"/>
          </a:p>
        </p:txBody>
      </p:sp>
      <p:sp>
        <p:nvSpPr>
          <p:cNvPr id="18" name="Text 16"/>
          <p:cNvSpPr txBox="1"/>
          <p:nvPr/>
        </p:nvSpPr>
        <p:spPr>
          <a:xfrm>
            <a:off x="148132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250" dirty="0"/>
          </a:p>
        </p:txBody>
      </p:sp>
      <p:sp>
        <p:nvSpPr>
          <p:cNvPr id="19" name="Shape 17"/>
          <p:cNvSpPr/>
          <p:nvPr/>
        </p:nvSpPr>
        <p:spPr>
          <a:xfrm>
            <a:off x="6263640" y="3264408"/>
            <a:ext cx="5257800" cy="1280160"/>
          </a:xfrm>
          <a:prstGeom prst="roundRect">
            <a:avLst>
              <a:gd name="adj" fmla="val 7143"/>
            </a:avLst>
          </a:prstGeom>
          <a:solidFill>
            <a:srgbClr val="EDF2FA"/>
          </a:solidFill>
          <a:ln/>
        </p:spPr>
      </p:sp>
      <p:sp>
        <p:nvSpPr>
          <p:cNvPr id="20" name="Shape 18"/>
          <p:cNvSpPr/>
          <p:nvPr/>
        </p:nvSpPr>
        <p:spPr>
          <a:xfrm>
            <a:off x="6537960" y="3520440"/>
            <a:ext cx="384048" cy="384048"/>
          </a:xfrm>
          <a:prstGeom prst="ellipse">
            <a:avLst/>
          </a:prstGeom>
          <a:solidFill>
            <a:srgbClr val="3E5C8A"/>
          </a:solidFill>
          <a:ln/>
        </p:spPr>
      </p:sp>
      <p:sp>
        <p:nvSpPr>
          <p:cNvPr id="21" name="Text 19"/>
          <p:cNvSpPr txBox="1"/>
          <p:nvPr/>
        </p:nvSpPr>
        <p:spPr>
          <a:xfrm>
            <a:off x="653796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10488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Covered by a partner</a:t>
            </a:r>
            <a:endParaRPr lang="en-US" sz="1700" dirty="0"/>
          </a:p>
        </p:txBody>
      </p:sp>
      <p:sp>
        <p:nvSpPr>
          <p:cNvPr id="23" name="Text 21"/>
          <p:cNvSpPr txBox="1"/>
          <p:nvPr/>
        </p:nvSpPr>
        <p:spPr>
          <a:xfrm>
            <a:off x="710488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250" dirty="0"/>
          </a:p>
        </p:txBody>
      </p:sp>
      <p:sp>
        <p:nvSpPr>
          <p:cNvPr id="24" name="Shape 22"/>
          <p:cNvSpPr/>
          <p:nvPr/>
        </p:nvSpPr>
        <p:spPr>
          <a:xfrm>
            <a:off x="640080" y="4745736"/>
            <a:ext cx="5257800" cy="1280160"/>
          </a:xfrm>
          <a:prstGeom prst="roundRect">
            <a:avLst>
              <a:gd name="adj" fmla="val 7143"/>
            </a:avLst>
          </a:prstGeom>
          <a:solidFill>
            <a:srgbClr val="EDF2FA"/>
          </a:solidFill>
          <a:ln/>
        </p:spPr>
      </p:sp>
      <p:sp>
        <p:nvSpPr>
          <p:cNvPr id="25" name="Shape 23"/>
          <p:cNvSpPr/>
          <p:nvPr/>
        </p:nvSpPr>
        <p:spPr>
          <a:xfrm>
            <a:off x="914400" y="5001768"/>
            <a:ext cx="384048" cy="384048"/>
          </a:xfrm>
          <a:prstGeom prst="ellipse">
            <a:avLst/>
          </a:prstGeom>
          <a:solidFill>
            <a:srgbClr val="1E2761"/>
          </a:solidFill>
          <a:ln/>
        </p:spPr>
      </p:sp>
      <p:sp>
        <p:nvSpPr>
          <p:cNvPr id="26" name="Text 24"/>
          <p:cNvSpPr txBox="1"/>
          <p:nvPr/>
        </p:nvSpPr>
        <p:spPr>
          <a:xfrm>
            <a:off x="914400" y="5001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81328" y="4946904"/>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Deliverable by design</a:t>
            </a:r>
            <a:endParaRPr lang="en-US" sz="1700" dirty="0"/>
          </a:p>
        </p:txBody>
      </p:sp>
      <p:sp>
        <p:nvSpPr>
          <p:cNvPr id="28" name="Text 26"/>
          <p:cNvSpPr txBox="1"/>
          <p:nvPr/>
        </p:nvSpPr>
        <p:spPr>
          <a:xfrm>
            <a:off x="1481328" y="5321808"/>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250" dirty="0"/>
          </a:p>
        </p:txBody>
      </p:sp>
      <p:sp>
        <p:nvSpPr>
          <p:cNvPr id="29" name="Shape 27"/>
          <p:cNvSpPr/>
          <p:nvPr/>
        </p:nvSpPr>
        <p:spPr>
          <a:xfrm>
            <a:off x="6263640" y="4745736"/>
            <a:ext cx="5257800" cy="1280160"/>
          </a:xfrm>
          <a:prstGeom prst="roundRect">
            <a:avLst>
              <a:gd name="adj" fmla="val 7143"/>
            </a:avLst>
          </a:prstGeom>
          <a:solidFill>
            <a:srgbClr val="EDF2FA"/>
          </a:solidFill>
          <a:ln/>
        </p:spPr>
      </p:sp>
      <p:sp>
        <p:nvSpPr>
          <p:cNvPr id="30" name="Shape 28"/>
          <p:cNvSpPr/>
          <p:nvPr/>
        </p:nvSpPr>
        <p:spPr>
          <a:xfrm>
            <a:off x="6537960" y="5001768"/>
            <a:ext cx="384048" cy="384048"/>
          </a:xfrm>
          <a:prstGeom prst="ellipse">
            <a:avLst/>
          </a:prstGeom>
          <a:solidFill>
            <a:srgbClr val="3E5C8A"/>
          </a:solidFill>
          <a:ln/>
        </p:spPr>
      </p:sp>
      <p:sp>
        <p:nvSpPr>
          <p:cNvPr id="31" name="Text 29"/>
          <p:cNvSpPr txBox="1"/>
          <p:nvPr/>
        </p:nvSpPr>
        <p:spPr>
          <a:xfrm>
            <a:off x="6537960" y="5001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104888" y="4946904"/>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Domain-specific, not agnostic</a:t>
            </a:r>
            <a:endParaRPr lang="en-US" sz="1700" dirty="0"/>
          </a:p>
        </p:txBody>
      </p:sp>
      <p:sp>
        <p:nvSpPr>
          <p:cNvPr id="33" name="Text 31"/>
          <p:cNvSpPr txBox="1"/>
          <p:nvPr/>
        </p:nvSpPr>
        <p:spPr>
          <a:xfrm>
            <a:off x="7104888" y="5321808"/>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Banking is specialised and clients expect it: every proposition, credential and CV speaks the domain.</a:t>
            </a:r>
            <a:endParaRPr lang="en-US" sz="1250" dirty="0"/>
          </a:p>
        </p:txBody>
      </p:sp>
      <p:sp>
        <p:nvSpPr>
          <p:cNvPr id="34" name="Text 3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Frame the ambition: what winning looks like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construct, pricing, margin, team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onshore, nearshore and offshore mix it is priced on</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not per portfolio: a core banking programme and an AI activation carry different constructs, different rates and different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Rates, ratios and margin targets are set in the cycle and recorded in the offering economics template.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Owners, dates and participants are set at kick-off.</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Priority: primary, secondary or watch. Rationale should stand on evidence, not familiarity.</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188720"/>
                <a:gridCol w="1280160"/>
                <a:gridCol w="2926080"/>
                <a:gridCol w="1371600"/>
                <a:gridCol w="1097280"/>
                <a:gridCol w="9144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8" name="Text 5"/>
          <p:cNvSpPr txBox="1"/>
          <p:nvPr/>
        </p:nvSpPr>
        <p:spPr>
          <a:xfrm>
            <a:off x="4041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9" name="Text 6"/>
          <p:cNvSpPr txBox="1"/>
          <p:nvPr/>
        </p:nvSpPr>
        <p:spPr>
          <a:xfrm>
            <a:off x="53218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0" name="Text 7"/>
          <p:cNvSpPr txBox="1"/>
          <p:nvPr/>
        </p:nvSpPr>
        <p:spPr>
          <a:xfrm>
            <a:off x="82478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1" name="Text 8"/>
          <p:cNvSpPr txBox="1"/>
          <p:nvPr/>
        </p:nvSpPr>
        <p:spPr>
          <a:xfrm>
            <a:off x="96194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1071676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Stage: relationship only, qualified, active pursuit. Every account carries exactly one owner.</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011680"/>
                <a:gridCol w="23774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Lead 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Pillars involved</a:t>
            </a:r>
            <a:endParaRPr lang="en-US" sz="1150" dirty="0"/>
          </a:p>
        </p:txBody>
      </p:sp>
      <p:sp>
        <p:nvSpPr>
          <p:cNvPr id="8" name="Text 5"/>
          <p:cNvSpPr txBox="1"/>
          <p:nvPr/>
        </p:nvSpPr>
        <p:spPr>
          <a:xfrm>
            <a:off x="55961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a:t>
            </a:r>
            <a:endParaRPr lang="en-US" sz="1150" dirty="0"/>
          </a:p>
        </p:txBody>
      </p:sp>
      <p:sp>
        <p:nvSpPr>
          <p:cNvPr id="9" name="Text 6"/>
          <p:cNvSpPr txBox="1"/>
          <p:nvPr/>
        </p:nvSpPr>
        <p:spPr>
          <a:xfrm>
            <a:off x="7607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Lead pillar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103120"/>
                <a:gridCol w="1280160"/>
                <a:gridCol w="1371600"/>
                <a:gridCol w="1280160"/>
                <a:gridCol w="128016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8" name="Text 5"/>
          <p:cNvSpPr txBox="1"/>
          <p:nvPr/>
        </p:nvSpPr>
        <p:spPr>
          <a:xfrm>
            <a:off x="52303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Onshore %</a:t>
            </a:r>
            <a:endParaRPr lang="en-US" sz="1150" dirty="0"/>
          </a:p>
        </p:txBody>
      </p:sp>
      <p:sp>
        <p:nvSpPr>
          <p:cNvPr id="9" name="Text 6"/>
          <p:cNvSpPr txBox="1"/>
          <p:nvPr/>
        </p:nvSpPr>
        <p:spPr>
          <a:xfrm>
            <a:off x="651052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Nearshore %</a:t>
            </a:r>
            <a:endParaRPr lang="en-US" sz="1150" dirty="0"/>
          </a:p>
        </p:txBody>
      </p:sp>
      <p:sp>
        <p:nvSpPr>
          <p:cNvPr id="10" name="Text 7"/>
          <p:cNvSpPr txBox="1"/>
          <p:nvPr/>
        </p:nvSpPr>
        <p:spPr>
          <a:xfrm>
            <a:off x="7882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Offshore %</a:t>
            </a:r>
            <a:endParaRPr lang="en-US" sz="1150" dirty="0"/>
          </a:p>
        </p:txBody>
      </p:sp>
      <p:sp>
        <p:nvSpPr>
          <p:cNvPr id="11" name="Text 8"/>
          <p:cNvSpPr txBox="1"/>
          <p:nvPr/>
        </p:nvSpPr>
        <p:spPr>
          <a:xfrm>
            <a:off x="91622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construct drives the rate, the rate drives the margin. Record the floor as well as the target.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920240"/>
                <a:gridCol w="1737360"/>
                <a:gridCol w="2011680"/>
                <a:gridCol w="155448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8" name="Text 5"/>
          <p:cNvSpPr txBox="1"/>
          <p:nvPr/>
        </p:nvSpPr>
        <p:spPr>
          <a:xfrm>
            <a:off x="48646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9" name="Text 6"/>
          <p:cNvSpPr txBox="1"/>
          <p:nvPr/>
        </p:nvSpPr>
        <p:spPr>
          <a:xfrm>
            <a:off x="660196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0" name="Text 7"/>
          <p:cNvSpPr txBox="1"/>
          <p:nvPr/>
        </p:nvSpPr>
        <p:spPr>
          <a:xfrm>
            <a:off x="861364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Set by market and offering, reconciled against the account revenue plan and against capacity.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645920"/>
                <a:gridCol w="2743200"/>
                <a:gridCol w="1371600"/>
                <a:gridCol w="128016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How we measure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3127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8" name="Text 5"/>
          <p:cNvSpPr txBox="1"/>
          <p:nvPr/>
        </p:nvSpPr>
        <p:spPr>
          <a:xfrm>
            <a:off x="477316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markets</a:t>
            </a:r>
            <a:endParaRPr lang="en-US" sz="1150" dirty="0"/>
          </a:p>
        </p:txBody>
      </p:sp>
      <p:sp>
        <p:nvSpPr>
          <p:cNvPr id="9" name="Text 6"/>
          <p:cNvSpPr txBox="1"/>
          <p:nvPr/>
        </p:nvSpPr>
        <p:spPr>
          <a:xfrm>
            <a:off x="7516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8879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How we measure it</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activity points at named accounts or markets. General brand-building does not earn a row.</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2026-09-28T12:46:06Z</dcterms:created>
  <dcterms:modified xsi:type="dcterms:W3CDTF">2026-09-28T12:46:06Z</dcterms:modified>
</cp:coreProperties>
</file>