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FOR THE TEAM — do not put on the slide.
The portfolio is EAIND: Engineering, AI and Data. It is a consulting portfolio — think technology advisory and delivery. We design, advise on and implement end-to-end technology transformation for the financial services industry, primarily banking.
Three pillars:
1. Industry Solutions — core-led transformation: core modernisation, core banking and other core packages. Also full systems-integration capability: we can take the SI role and own the end-to-end setup, including design governance, functional governance, delivery management and individual stream management, to stand up a greenfield bank or modernise an incumbent.
2. Data and AI — enterprise AI, core AI, AI use-case activation, and standard data work: data platforms, warehouses, ETL, reporting, all for banking.
3. Engineering and Cloud — cloud advisory and implementation, plus custom engineered solutions: integration management, microservices, API gateways, and bespoke core engineering. Less common in banking; likeliest in investments and wealth.
This deck is the plan for developing the FSI strategy, not the strategy. Target: strategy finalised within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pack in two halves. Sections 1 to 5 are the method: what this document is, the questions, the principles, the approach and the workstreams. Sections 6 to 8 are the dimensions that were called out as needing their own treatment — talent, eminence and alliances. Sections 9 and 10 are the plan and the governance.
If time is short, the three slides that carry the decision are: the eight questions, the five-step approach, and how we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given: this pack carries no answers. We know things already — focus markets, likely accounts — but none of it belongs here. Everything is a blank to be filled through the cycle, so reviewers engage with the method first and do not anchor on half-formed conclusions.
Still open before we finalise this pack:
- Audience: leadership approval pack, or team working document?
- What "partner" means where we say account ownership: our own consulting partners (the people who carry accounts) versus alliance and vendor partners. Both matter; they are different lists.
- Start date for the three-week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is loosely a strategy cascade (where to play, how to play), extended for a consulting portfolio with commercial, coverage, talent and eminence dimensions.
Context we already hold, to be validated rather than assumed during the cycle:
- Primary markets: Saudi Arabia, UAE, Qatar.
- Secondary markets: Kuwait, Oman, Jordan — where we focus our key relationships.
- The output must go further than markets: a specific, named target account list, with account mapping — who covers whom.
- Offerings must be expressed as products and services with a buyer attached: who buys this, and what do they typically pay.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 rule from the portfolio: no siloed solutions. Our primary go-to-market catalogue is integrated propositions across the three pillars. Even where we sell a focused solution — enterprise AI, for example — it is sold as an entry point into an integrated play, and the catalogue is built that way. Flavours and partial offerings are permitted as variants of an integrated proposition, not as the default.
Delivery model: we expect to inherit the standard firm delivery model rather than invent one. The work here is to confirm it and note where FSI-specific governance (design authority, functional governance, stream management on large SI programmes) needs to be explicit.
Confirm all five principles at kick-off; they bound every later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steps are the process view; the workstream and calendar views that follow are the same journey cut by owner and by week.
Note on Quantify: pricing will not reduce to a single number per offering. Core banking modernisation and migration varies by retail, corporate or SME scope; by single-country versus multi-country; and by whether full data migration is in scope. So the artefact is price bands and deal-size ranges with the drivers named, not a price list. Same logic for AI and data platform work, and for cloud and integration engagements.
Baseline also covers people: who we have today, dedicated and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Artefact templates are blank at this stage and are populated during the cycle.
Notes per workstream:
- WS1 Proposition and catalogue: integrated propositions first, permitted variants second. Must cover all three pillars and the cross-pillar plays.
- WS2 Market and account targeting: markets are broadly known (primary: Saudi, UAE, Qatar; secondary: Kuwait, Oman, Jordan). The real output is the named account list and the segment logic behind it.
- WS3 Commercial sizing and pricing: size of each product, who buys it, and the typical price the market pays — with the variation drivers spelled out (retail/corporate/SME, single/multi-country, data migration in or out of scope).
- WS4 Coverage and ownership: two distinct mappings — our partners to accounts (who owns the relationship) and alliance partners to accounts (who we go to market with, and what they drive).
- WS5 Delivery model and readiness: largely inherited; confirm and note gaps.
- WS6 Team and talent: see the talent slide.
- WS7 Eminence and positioning: see the eminence slide.
- WS8 Alliances: see the alliances slide. Primary alliances today are Oracle, Google and Amazon; specialised alliances are Temenos and Intellect.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called out as an important dimension in its own right.
Three things to establish:
1. The dedicated team — who in the portfolio works on FSI exclusively, across Industry Solutions, Data and AI, and Engineering and Cloud. Roles, levels, and what we can credibly deliver with them alone.
2. Generic and shared capacity — who we can draw on from the wider portfolio and firm, how much of their time we can actually count on, and which skills we borrow rather than own.
3. The recruitment gap — what remains once dedicated and shared capacity is counted, expressed by level: partners, directors, and other delivery staff. Then build, borrow or buy, and by when.
The link to the rest of the strategy is direct: a revenue target we cannot staff is not a target. Capacity is sized against the targets set in the commercial workstream.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Raised as a distinct part of the plan: how we enhance our positioning in the market, specifically in FSI, around what we do.
Channels mentioned: workshops, seminars, podcasts, articles, and participation in key industry events — Money20/20 was named as an example of the class of event we should consider. The plan should decide which of these are relevant to us rather than assume all of them.
For each channel the plan answers: do we commit, how often, who fronts it, which accounts or markets it targets, and how we measure return — inbound enquiries, meetings created, inclusion on shortlists and RFP invitations.
Worth linking eminence to the account list: eminence activity should point at the accounts and markets the strategy has prioritised, not at general brand awareness.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Alliances were called out as important in implementation and technology work.
Current alliances named: Oracle, Google and Amazon as the primary ones; Temenos and Intellect as specialised, banking-platform alliances. They are on the slide as current state, not as a conclusion — what we do with each is the open question.
The work is to decide, per alliance: what we leverage it for, which of our integrated propositions it sits behind, what kind of relationship it is (co-sell, resell, delivery, referral), which markets and accounts it opens, and what it demands from us in certifications, trained staff and pipeline commitments.
Two links to the rest of the strategy: the alliance map must reconcile with the account coverage map (an alliance that opens an account should show up against that account), and with the talent plan (certifications and accredited staff are a recruitment and training cost).
If other alliances belong here — hyperscaler or platform vendors we do not yet work with, or regional players — the cycle is where we add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is the timebox given: the strategy should be finalised in no more than about three weeks. The constraint is deliberate — it forces decisions rather than analysis.
Each week ends at a gate, and a gate is a decision taken, not a document circulated. If a gate cannot be closed, we escalate at the checkpoint rather than let the week slip.
Start date to be set at kick-off.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because a strategy that is signed off and then unmanaged reverts to whatever the pipeline happens to offer. This is the management-system layer: the rhythm, the measures and the decision rights that keep the choices alive.
Three loops, deliberately different in purpose: weekly is deal-level and run by the account owners; monthly is coverage and progress against target, including talent and alliance commitments; quarterly re-tests the choices themselves — markets, accounts, propositions — rather than just the numbers.
The scorecard is designed so that the strategy's own principles are measurable. The mix KPI is the important one: if the share of revenue from integrated propositions does not move, we are back to selling in silos whatever the catalogue says.
Still to set at sign-off: who chairs each forum, what decisions each can take without escalation, and where the strategy log lives so it stays current rather than being rebuilt each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two asks: confirm the principles, and nominate the workstream owners.
Inputs are the long pole — pipeline, revenue by pillar and market, existing relationships, alliance status, delivery capacity and historical deal values all sit with different people. Chase them in the first 48 hours or week 1 slips.
Decisions requested at sign-off: priority markets and segments, the target account list, revenue and margin targets, account ownership, and the investment and hiring asks coming out of the talent and eminence workstreams.
Open items to resolve at kick-off: audience for this pack, the definition of partner for account ownership, and the start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the strategy log: the templates we fill in as the cycle runs. Each one maps to a workstream artefact, so at sign-off the completed appendix is the strategy itself, not a separate write-up.
Keep them as living tables — one file, versioned, updated at each weekly checkpoint rather than rebuilt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one row per market under consideration, including the ones we decide against — the rejected rows are as useful as the accepted ones when this is revisited.
Context: Saudi Arabia, UAE and Qatar are the expected primary markets; Kuwait, Oman and Jordan the secondary set where our key relationships sit. Both to be confirmed against evidence in week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artefact of the whole exercise — the named account list with account mapping.
Rules: one owner per account, never two. The propositions column names what we lead with, not everything we could sell. The alliance column links to the alliance map, so we can see which accounts a partner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bites hardest here: the catalogue is integrated propositions across Industry Solutions, Data and AI, and Engineering and Cloud. Focused offers such as enterprise AI are recorded as permitted variants of an integrated proposition and sold as entry points.
Buyer means the actual role that signs: COO, CIO, head of retail banking, chief data officer, and so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will not reduce to one number per offering. For core banking modernisation and migration the drivers include retail versus corporate versus SME scope, single-country versus multi-country, and whether full data migration is in scope. Record the drivers alongside the band so the number can be reconstructed.
Same discipline for data platform work, AI activation, and cloud and integration engagements.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integrated column is deliberate: if most revenue sits in single-pillar columns, the strategy has not been followed.
Reconcile every target against the talent template before sign-off. A number we cannot staff is not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mappings live side by side here: our own consulting partners, who own the client relationship, and the alliance or vendor partner we go to market with on that account.
Cadence keeps this honest — an owner with no contact rhythm is a name on 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per row: who is ours exclusively, what we can draw on from the wider portfolio, and what is missing once both are counted.
The gap is expressed by level — partners, directors, managers, specialists — because that is how recruitment is approved. Each gap then gets a route (build from within, borrow from another portfolio, or hire) and a date tied to the targets it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Channels in scope: published views and articles, conference stages and flagship FSI events, executive workshops, seminars and roundtables, podcasts and webinars, and joint activity with alliance partners.
Measurement should be concrete: inbound enquiries, meetings created, shortlist and RFP invitations — not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behind the operating rhythm. Keep it short — six to eight measures — so the review stays a decision meeting rather than a reporting one.
The measure to fight for is the mix: share of revenue coming from integrated propositions. It is the only number that tells us whether the integrated-not-siloed principle survived contact with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alliances we already hold: Oracle, Google and Amazon as primary; Temenos and Intellect as specialised banking-platform alliances. Add any others the cycle identifies.
The last column matters as much as the rest — certifications, accredited staff and pipeline commitments are a cost that lands in the talent plan and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503920" y="-1645920"/>
            <a:ext cx="6035040" cy="6035040"/>
          </a:xfrm>
          <a:prstGeom prst="ellipse">
            <a:avLst/>
          </a:prstGeom>
          <a:solidFill>
            <a:srgbClr val="3E5C8A">
              <a:alpha val="55000"/>
            </a:srgbClr>
          </a:solidFill>
          <a:ln/>
        </p:spPr>
      </p:sp>
      <p:sp>
        <p:nvSpPr>
          <p:cNvPr id="3" name="Shape 1"/>
          <p:cNvSpPr/>
          <p:nvPr/>
        </p:nvSpPr>
        <p:spPr>
          <a:xfrm>
            <a:off x="10058400" y="3566160"/>
            <a:ext cx="3291840" cy="3291840"/>
          </a:xfrm>
          <a:prstGeom prst="ellipse">
            <a:avLst/>
          </a:prstGeom>
          <a:solidFill>
            <a:srgbClr val="CADCFC">
              <a:alpha val="20000"/>
            </a:srgbClr>
          </a:solidFill>
          <a:ln/>
        </p:spPr>
      </p:sp>
      <p:sp>
        <p:nvSpPr>
          <p:cNvPr id="4" name="Text 2"/>
          <p:cNvSpPr txBox="1"/>
          <p:nvPr/>
        </p:nvSpPr>
        <p:spPr>
          <a:xfrm>
            <a:off x="822960" y="1737360"/>
            <a:ext cx="8229600" cy="411480"/>
          </a:xfrm>
          <a:prstGeom prst="rect">
            <a:avLst/>
          </a:prstGeom>
          <a:noFill/>
          <a:ln/>
        </p:spPr>
        <p:txBody>
          <a:bodyPr wrap="square" lIns="0" tIns="0" rIns="0" bIns="0" rtlCol="0" anchor="ctr"/>
          <a:lstStyle/>
          <a:p>
            <a:pPr indent="0" marL="0">
              <a:buNone/>
            </a:pPr>
            <a:r>
              <a:rPr lang="en-US" sz="1600" spc="200" kern="0" dirty="0">
                <a:solidFill>
                  <a:srgbClr val="CADCFC"/>
                </a:solidFill>
                <a:latin typeface="Calibri" pitchFamily="34" charset="0"/>
                <a:ea typeface="Calibri" pitchFamily="34" charset="-122"/>
                <a:cs typeface="Calibri" pitchFamily="34" charset="-120"/>
              </a:rPr>
              <a:t>Engineering, AI and Data</a:t>
            </a:r>
            <a:endParaRPr lang="en-US" sz="1600" dirty="0"/>
          </a:p>
        </p:txBody>
      </p:sp>
      <p:sp>
        <p:nvSpPr>
          <p:cNvPr id="5" name="Text 3"/>
          <p:cNvSpPr txBox="1"/>
          <p:nvPr/>
        </p:nvSpPr>
        <p:spPr>
          <a:xfrm>
            <a:off x="804672" y="2240280"/>
            <a:ext cx="8229600" cy="182880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FSI Strategy</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Development Plan</a:t>
            </a:r>
            <a:endParaRPr lang="en-US" sz="4800" dirty="0"/>
          </a:p>
        </p:txBody>
      </p:sp>
      <p:sp>
        <p:nvSpPr>
          <p:cNvPr id="6" name="Text 4"/>
          <p:cNvSpPr txBox="1"/>
          <p:nvPr/>
        </p:nvSpPr>
        <p:spPr>
          <a:xfrm>
            <a:off x="850392" y="4160520"/>
            <a:ext cx="786384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The journey to a defined go-to-market and activation strategy for financial services</a:t>
            </a:r>
            <a:endParaRPr lang="en-US" sz="1500" dirty="0"/>
          </a:p>
        </p:txBody>
      </p:sp>
      <p:sp>
        <p:nvSpPr>
          <p:cNvPr id="7" name="Text 5"/>
          <p:cNvSpPr txBox="1"/>
          <p:nvPr/>
        </p:nvSpPr>
        <p:spPr>
          <a:xfrm>
            <a:off x="850392" y="5806440"/>
            <a:ext cx="7315200" cy="365760"/>
          </a:xfrm>
          <a:prstGeom prst="rect">
            <a:avLst/>
          </a:prstGeom>
          <a:noFill/>
          <a:ln/>
        </p:spPr>
        <p:txBody>
          <a:bodyPr wrap="square" lIns="0" tIns="0" rIns="0" bIns="0" rtlCol="0" anchor="ctr"/>
          <a:lstStyle/>
          <a:p>
            <a:pPr indent="0" marL="0">
              <a:buNone/>
            </a:pPr>
            <a:r>
              <a:rPr lang="en-US" sz="1200" dirty="0">
                <a:solidFill>
                  <a:srgbClr val="9AA7C4"/>
                </a:solidFill>
                <a:latin typeface="Calibri" pitchFamily="34" charset="0"/>
                <a:ea typeface="Calibri" pitchFamily="34" charset="-122"/>
                <a:cs typeface="Calibri" pitchFamily="34" charset="-120"/>
              </a:rPr>
              <a:t>Framework only — content to be developed over a three-week cycle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is in this pack</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Eleven sections, plus an appendix of blank templates.</a:t>
            </a:r>
            <a:endParaRPr lang="en-US" sz="1450" dirty="0"/>
          </a:p>
        </p:txBody>
      </p:sp>
      <p:sp>
        <p:nvSpPr>
          <p:cNvPr id="4" name="Shape 2"/>
          <p:cNvSpPr/>
          <p:nvPr/>
        </p:nvSpPr>
        <p:spPr>
          <a:xfrm>
            <a:off x="640080" y="1783080"/>
            <a:ext cx="5257800" cy="621792"/>
          </a:xfrm>
          <a:prstGeom prst="roundRect">
            <a:avLst>
              <a:gd name="adj" fmla="val 11765"/>
            </a:avLst>
          </a:prstGeom>
          <a:solidFill>
            <a:srgbClr val="F2F6FC"/>
          </a:solidFill>
          <a:ln/>
        </p:spPr>
      </p:sp>
      <p:sp>
        <p:nvSpPr>
          <p:cNvPr id="5" name="Shape 3"/>
          <p:cNvSpPr/>
          <p:nvPr/>
        </p:nvSpPr>
        <p:spPr>
          <a:xfrm>
            <a:off x="841248" y="1892808"/>
            <a:ext cx="384048" cy="384048"/>
          </a:xfrm>
          <a:prstGeom prst="ellipse">
            <a:avLst/>
          </a:prstGeom>
          <a:solidFill>
            <a:srgbClr val="1E2761"/>
          </a:solidFill>
          <a:ln/>
        </p:spPr>
      </p:sp>
      <p:sp>
        <p:nvSpPr>
          <p:cNvPr id="6" name="Text 4"/>
          <p:cNvSpPr txBox="1"/>
          <p:nvPr/>
        </p:nvSpPr>
        <p:spPr>
          <a:xfrm>
            <a:off x="841248" y="189280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17320" y="182880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What this document is</a:t>
            </a:r>
            <a:endParaRPr lang="en-US" sz="1450" dirty="0"/>
          </a:p>
        </p:txBody>
      </p:sp>
      <p:sp>
        <p:nvSpPr>
          <p:cNvPr id="8" name="Text 6"/>
          <p:cNvSpPr txBox="1"/>
          <p:nvPr/>
        </p:nvSpPr>
        <p:spPr>
          <a:xfrm>
            <a:off x="1417320" y="211226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Method, not conclusion</a:t>
            </a:r>
            <a:endParaRPr lang="en-US" sz="1100" dirty="0"/>
          </a:p>
        </p:txBody>
      </p:sp>
      <p:sp>
        <p:nvSpPr>
          <p:cNvPr id="9" name="Shape 7"/>
          <p:cNvSpPr/>
          <p:nvPr/>
        </p:nvSpPr>
        <p:spPr>
          <a:xfrm>
            <a:off x="6263640" y="1783080"/>
            <a:ext cx="5257800" cy="621792"/>
          </a:xfrm>
          <a:prstGeom prst="roundRect">
            <a:avLst>
              <a:gd name="adj" fmla="val 11765"/>
            </a:avLst>
          </a:prstGeom>
          <a:solidFill>
            <a:srgbClr val="EDF2FA"/>
          </a:solidFill>
          <a:ln/>
        </p:spPr>
      </p:sp>
      <p:sp>
        <p:nvSpPr>
          <p:cNvPr id="10" name="Shape 8"/>
          <p:cNvSpPr/>
          <p:nvPr/>
        </p:nvSpPr>
        <p:spPr>
          <a:xfrm>
            <a:off x="6464808" y="1892808"/>
            <a:ext cx="384048" cy="384048"/>
          </a:xfrm>
          <a:prstGeom prst="ellipse">
            <a:avLst/>
          </a:prstGeom>
          <a:solidFill>
            <a:srgbClr val="3E5C8A"/>
          </a:solidFill>
          <a:ln/>
        </p:spPr>
      </p:sp>
      <p:sp>
        <p:nvSpPr>
          <p:cNvPr id="11" name="Text 9"/>
          <p:cNvSpPr txBox="1"/>
          <p:nvPr/>
        </p:nvSpPr>
        <p:spPr>
          <a:xfrm>
            <a:off x="6464808" y="189280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7040880" y="182880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Ten questions, in five layers</a:t>
            </a:r>
            <a:endParaRPr lang="en-US" sz="1450" dirty="0"/>
          </a:p>
        </p:txBody>
      </p:sp>
      <p:sp>
        <p:nvSpPr>
          <p:cNvPr id="13" name="Text 11"/>
          <p:cNvSpPr txBox="1"/>
          <p:nvPr/>
        </p:nvSpPr>
        <p:spPr>
          <a:xfrm>
            <a:off x="7040880" y="211226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Ambition, choices, commercial, enablers, execution</a:t>
            </a:r>
            <a:endParaRPr lang="en-US" sz="1100" dirty="0"/>
          </a:p>
        </p:txBody>
      </p:sp>
      <p:sp>
        <p:nvSpPr>
          <p:cNvPr id="14" name="Shape 12"/>
          <p:cNvSpPr/>
          <p:nvPr/>
        </p:nvSpPr>
        <p:spPr>
          <a:xfrm>
            <a:off x="640080" y="2514600"/>
            <a:ext cx="5257800" cy="621792"/>
          </a:xfrm>
          <a:prstGeom prst="roundRect">
            <a:avLst>
              <a:gd name="adj" fmla="val 11765"/>
            </a:avLst>
          </a:prstGeom>
          <a:solidFill>
            <a:srgbClr val="F2F6FC"/>
          </a:solidFill>
          <a:ln/>
        </p:spPr>
      </p:sp>
      <p:sp>
        <p:nvSpPr>
          <p:cNvPr id="15" name="Shape 13"/>
          <p:cNvSpPr/>
          <p:nvPr/>
        </p:nvSpPr>
        <p:spPr>
          <a:xfrm>
            <a:off x="841248" y="2624328"/>
            <a:ext cx="384048" cy="384048"/>
          </a:xfrm>
          <a:prstGeom prst="ellipse">
            <a:avLst/>
          </a:prstGeom>
          <a:solidFill>
            <a:srgbClr val="1E2761"/>
          </a:solidFill>
          <a:ln/>
        </p:spPr>
      </p:sp>
      <p:sp>
        <p:nvSpPr>
          <p:cNvPr id="16" name="Text 14"/>
          <p:cNvSpPr txBox="1"/>
          <p:nvPr/>
        </p:nvSpPr>
        <p:spPr>
          <a:xfrm>
            <a:off x="841248" y="262432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417320" y="256032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Principles we hold going in</a:t>
            </a:r>
            <a:endParaRPr lang="en-US" sz="1450" dirty="0"/>
          </a:p>
        </p:txBody>
      </p:sp>
      <p:sp>
        <p:nvSpPr>
          <p:cNvPr id="18" name="Text 16"/>
          <p:cNvSpPr txBox="1"/>
          <p:nvPr/>
        </p:nvSpPr>
        <p:spPr>
          <a:xfrm>
            <a:off x="1417320" y="284378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Constraints agreed before the work starts</a:t>
            </a:r>
            <a:endParaRPr lang="en-US" sz="1100" dirty="0"/>
          </a:p>
        </p:txBody>
      </p:sp>
      <p:sp>
        <p:nvSpPr>
          <p:cNvPr id="19" name="Shape 17"/>
          <p:cNvSpPr/>
          <p:nvPr/>
        </p:nvSpPr>
        <p:spPr>
          <a:xfrm>
            <a:off x="6263640" y="2514600"/>
            <a:ext cx="5257800" cy="621792"/>
          </a:xfrm>
          <a:prstGeom prst="roundRect">
            <a:avLst>
              <a:gd name="adj" fmla="val 11765"/>
            </a:avLst>
          </a:prstGeom>
          <a:solidFill>
            <a:srgbClr val="EDF2FA"/>
          </a:solidFill>
          <a:ln/>
        </p:spPr>
      </p:sp>
      <p:sp>
        <p:nvSpPr>
          <p:cNvPr id="20" name="Shape 18"/>
          <p:cNvSpPr/>
          <p:nvPr/>
        </p:nvSpPr>
        <p:spPr>
          <a:xfrm>
            <a:off x="6464808" y="2624328"/>
            <a:ext cx="384048" cy="384048"/>
          </a:xfrm>
          <a:prstGeom prst="ellipse">
            <a:avLst/>
          </a:prstGeom>
          <a:solidFill>
            <a:srgbClr val="3E5C8A"/>
          </a:solidFill>
          <a:ln/>
        </p:spPr>
      </p:sp>
      <p:sp>
        <p:nvSpPr>
          <p:cNvPr id="21" name="Text 19"/>
          <p:cNvSpPr txBox="1"/>
          <p:nvPr/>
        </p:nvSpPr>
        <p:spPr>
          <a:xfrm>
            <a:off x="6464808" y="262432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040880" y="256032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How we will get there</a:t>
            </a:r>
            <a:endParaRPr lang="en-US" sz="1450" dirty="0"/>
          </a:p>
        </p:txBody>
      </p:sp>
      <p:sp>
        <p:nvSpPr>
          <p:cNvPr id="23" name="Text 21"/>
          <p:cNvSpPr txBox="1"/>
          <p:nvPr/>
        </p:nvSpPr>
        <p:spPr>
          <a:xfrm>
            <a:off x="7040880" y="284378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The five-step approach</a:t>
            </a:r>
            <a:endParaRPr lang="en-US" sz="1100" dirty="0"/>
          </a:p>
        </p:txBody>
      </p:sp>
      <p:sp>
        <p:nvSpPr>
          <p:cNvPr id="24" name="Shape 22"/>
          <p:cNvSpPr/>
          <p:nvPr/>
        </p:nvSpPr>
        <p:spPr>
          <a:xfrm>
            <a:off x="640080" y="3246120"/>
            <a:ext cx="5257800" cy="621792"/>
          </a:xfrm>
          <a:prstGeom prst="roundRect">
            <a:avLst>
              <a:gd name="adj" fmla="val 11765"/>
            </a:avLst>
          </a:prstGeom>
          <a:solidFill>
            <a:srgbClr val="F2F6FC"/>
          </a:solidFill>
          <a:ln/>
        </p:spPr>
      </p:sp>
      <p:sp>
        <p:nvSpPr>
          <p:cNvPr id="25" name="Shape 23"/>
          <p:cNvSpPr/>
          <p:nvPr/>
        </p:nvSpPr>
        <p:spPr>
          <a:xfrm>
            <a:off x="841248" y="3355848"/>
            <a:ext cx="384048" cy="384048"/>
          </a:xfrm>
          <a:prstGeom prst="ellipse">
            <a:avLst/>
          </a:prstGeom>
          <a:solidFill>
            <a:srgbClr val="1E2761"/>
          </a:solidFill>
          <a:ln/>
        </p:spPr>
      </p:sp>
      <p:sp>
        <p:nvSpPr>
          <p:cNvPr id="26" name="Text 24"/>
          <p:cNvSpPr txBox="1"/>
          <p:nvPr/>
        </p:nvSpPr>
        <p:spPr>
          <a:xfrm>
            <a:off x="841248" y="335584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417320" y="329184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Nine workstreams, nine artefacts</a:t>
            </a:r>
            <a:endParaRPr lang="en-US" sz="1450" dirty="0"/>
          </a:p>
        </p:txBody>
      </p:sp>
      <p:sp>
        <p:nvSpPr>
          <p:cNvPr id="28" name="Text 26"/>
          <p:cNvSpPr txBox="1"/>
          <p:nvPr/>
        </p:nvSpPr>
        <p:spPr>
          <a:xfrm>
            <a:off x="1417320" y="357530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Who owns what, and what each produces</a:t>
            </a:r>
            <a:endParaRPr lang="en-US" sz="1100" dirty="0"/>
          </a:p>
        </p:txBody>
      </p:sp>
      <p:sp>
        <p:nvSpPr>
          <p:cNvPr id="29" name="Shape 27"/>
          <p:cNvSpPr/>
          <p:nvPr/>
        </p:nvSpPr>
        <p:spPr>
          <a:xfrm>
            <a:off x="6263640" y="3246120"/>
            <a:ext cx="5257800" cy="621792"/>
          </a:xfrm>
          <a:prstGeom prst="roundRect">
            <a:avLst>
              <a:gd name="adj" fmla="val 11765"/>
            </a:avLst>
          </a:prstGeom>
          <a:solidFill>
            <a:srgbClr val="EDF2FA"/>
          </a:solidFill>
          <a:ln/>
        </p:spPr>
      </p:sp>
      <p:sp>
        <p:nvSpPr>
          <p:cNvPr id="30" name="Shape 28"/>
          <p:cNvSpPr/>
          <p:nvPr/>
        </p:nvSpPr>
        <p:spPr>
          <a:xfrm>
            <a:off x="6464808" y="3355848"/>
            <a:ext cx="384048" cy="384048"/>
          </a:xfrm>
          <a:prstGeom prst="ellipse">
            <a:avLst/>
          </a:prstGeom>
          <a:solidFill>
            <a:srgbClr val="3E5C8A"/>
          </a:solidFill>
          <a:ln/>
        </p:spPr>
      </p:sp>
      <p:sp>
        <p:nvSpPr>
          <p:cNvPr id="31" name="Text 29"/>
          <p:cNvSpPr txBox="1"/>
          <p:nvPr/>
        </p:nvSpPr>
        <p:spPr>
          <a:xfrm>
            <a:off x="6464808" y="335584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txBox="1"/>
          <p:nvPr/>
        </p:nvSpPr>
        <p:spPr>
          <a:xfrm>
            <a:off x="7040880" y="329184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Team and talent</a:t>
            </a:r>
            <a:endParaRPr lang="en-US" sz="1450" dirty="0"/>
          </a:p>
        </p:txBody>
      </p:sp>
      <p:sp>
        <p:nvSpPr>
          <p:cNvPr id="33" name="Text 31"/>
          <p:cNvSpPr txBox="1"/>
          <p:nvPr/>
        </p:nvSpPr>
        <p:spPr>
          <a:xfrm>
            <a:off x="7040880" y="357530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Dedicated, shared and the gap to close</a:t>
            </a:r>
            <a:endParaRPr lang="en-US" sz="1100" dirty="0"/>
          </a:p>
        </p:txBody>
      </p:sp>
      <p:sp>
        <p:nvSpPr>
          <p:cNvPr id="34" name="Shape 32"/>
          <p:cNvSpPr/>
          <p:nvPr/>
        </p:nvSpPr>
        <p:spPr>
          <a:xfrm>
            <a:off x="640080" y="3977640"/>
            <a:ext cx="5257800" cy="621792"/>
          </a:xfrm>
          <a:prstGeom prst="roundRect">
            <a:avLst>
              <a:gd name="adj" fmla="val 11765"/>
            </a:avLst>
          </a:prstGeom>
          <a:solidFill>
            <a:srgbClr val="F2F6FC"/>
          </a:solidFill>
          <a:ln/>
        </p:spPr>
      </p:sp>
      <p:sp>
        <p:nvSpPr>
          <p:cNvPr id="35" name="Shape 33"/>
          <p:cNvSpPr/>
          <p:nvPr/>
        </p:nvSpPr>
        <p:spPr>
          <a:xfrm>
            <a:off x="841248" y="4087368"/>
            <a:ext cx="384048" cy="384048"/>
          </a:xfrm>
          <a:prstGeom prst="ellipse">
            <a:avLst/>
          </a:prstGeom>
          <a:solidFill>
            <a:srgbClr val="1E2761"/>
          </a:solidFill>
          <a:ln/>
        </p:spPr>
      </p:sp>
      <p:sp>
        <p:nvSpPr>
          <p:cNvPr id="36" name="Text 34"/>
          <p:cNvSpPr txBox="1"/>
          <p:nvPr/>
        </p:nvSpPr>
        <p:spPr>
          <a:xfrm>
            <a:off x="841248" y="40873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txBox="1"/>
          <p:nvPr/>
        </p:nvSpPr>
        <p:spPr>
          <a:xfrm>
            <a:off x="1417320" y="402336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Eminence and positioning</a:t>
            </a:r>
            <a:endParaRPr lang="en-US" sz="1450" dirty="0"/>
          </a:p>
        </p:txBody>
      </p:sp>
      <p:sp>
        <p:nvSpPr>
          <p:cNvPr id="38" name="Text 36"/>
          <p:cNvSpPr txBox="1"/>
          <p:nvPr/>
        </p:nvSpPr>
        <p:spPr>
          <a:xfrm>
            <a:off x="1417320" y="430682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How the market comes to know us</a:t>
            </a:r>
            <a:endParaRPr lang="en-US" sz="1100" dirty="0"/>
          </a:p>
        </p:txBody>
      </p:sp>
      <p:sp>
        <p:nvSpPr>
          <p:cNvPr id="39" name="Shape 37"/>
          <p:cNvSpPr/>
          <p:nvPr/>
        </p:nvSpPr>
        <p:spPr>
          <a:xfrm>
            <a:off x="6263640" y="3977640"/>
            <a:ext cx="5257800" cy="621792"/>
          </a:xfrm>
          <a:prstGeom prst="roundRect">
            <a:avLst>
              <a:gd name="adj" fmla="val 11765"/>
            </a:avLst>
          </a:prstGeom>
          <a:solidFill>
            <a:srgbClr val="EDF2FA"/>
          </a:solidFill>
          <a:ln/>
        </p:spPr>
      </p:sp>
      <p:sp>
        <p:nvSpPr>
          <p:cNvPr id="40" name="Shape 38"/>
          <p:cNvSpPr/>
          <p:nvPr/>
        </p:nvSpPr>
        <p:spPr>
          <a:xfrm>
            <a:off x="6464808" y="4087368"/>
            <a:ext cx="384048" cy="384048"/>
          </a:xfrm>
          <a:prstGeom prst="ellipse">
            <a:avLst/>
          </a:prstGeom>
          <a:solidFill>
            <a:srgbClr val="3E5C8A"/>
          </a:solidFill>
          <a:ln/>
        </p:spPr>
      </p:sp>
      <p:sp>
        <p:nvSpPr>
          <p:cNvPr id="41" name="Text 39"/>
          <p:cNvSpPr txBox="1"/>
          <p:nvPr/>
        </p:nvSpPr>
        <p:spPr>
          <a:xfrm>
            <a:off x="6464808" y="40873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2" name="Text 40"/>
          <p:cNvSpPr txBox="1"/>
          <p:nvPr/>
        </p:nvSpPr>
        <p:spPr>
          <a:xfrm>
            <a:off x="7040880" y="402336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Alliances</a:t>
            </a:r>
            <a:endParaRPr lang="en-US" sz="1450" dirty="0"/>
          </a:p>
        </p:txBody>
      </p:sp>
      <p:sp>
        <p:nvSpPr>
          <p:cNvPr id="43" name="Text 41"/>
          <p:cNvSpPr txBox="1"/>
          <p:nvPr/>
        </p:nvSpPr>
        <p:spPr>
          <a:xfrm>
            <a:off x="7040880" y="430682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Who we go to market with, and for what</a:t>
            </a:r>
            <a:endParaRPr lang="en-US" sz="1100" dirty="0"/>
          </a:p>
        </p:txBody>
      </p:sp>
      <p:sp>
        <p:nvSpPr>
          <p:cNvPr id="44" name="Shape 42"/>
          <p:cNvSpPr/>
          <p:nvPr/>
        </p:nvSpPr>
        <p:spPr>
          <a:xfrm>
            <a:off x="640080" y="4709160"/>
            <a:ext cx="5257800" cy="621792"/>
          </a:xfrm>
          <a:prstGeom prst="roundRect">
            <a:avLst>
              <a:gd name="adj" fmla="val 11765"/>
            </a:avLst>
          </a:prstGeom>
          <a:solidFill>
            <a:srgbClr val="F2F6FC"/>
          </a:solidFill>
          <a:ln/>
        </p:spPr>
      </p:sp>
      <p:sp>
        <p:nvSpPr>
          <p:cNvPr id="45" name="Shape 43"/>
          <p:cNvSpPr/>
          <p:nvPr/>
        </p:nvSpPr>
        <p:spPr>
          <a:xfrm>
            <a:off x="841248" y="4818888"/>
            <a:ext cx="384048" cy="384048"/>
          </a:xfrm>
          <a:prstGeom prst="ellipse">
            <a:avLst/>
          </a:prstGeom>
          <a:solidFill>
            <a:srgbClr val="1E2761"/>
          </a:solidFill>
          <a:ln/>
        </p:spPr>
      </p:sp>
      <p:sp>
        <p:nvSpPr>
          <p:cNvPr id="46" name="Text 44"/>
          <p:cNvSpPr txBox="1"/>
          <p:nvPr/>
        </p:nvSpPr>
        <p:spPr>
          <a:xfrm>
            <a:off x="841248" y="481888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7" name="Text 45"/>
          <p:cNvSpPr txBox="1"/>
          <p:nvPr/>
        </p:nvSpPr>
        <p:spPr>
          <a:xfrm>
            <a:off x="1417320" y="475488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The three-week journey</a:t>
            </a:r>
            <a:endParaRPr lang="en-US" sz="1450" dirty="0"/>
          </a:p>
        </p:txBody>
      </p:sp>
      <p:sp>
        <p:nvSpPr>
          <p:cNvPr id="48" name="Text 46"/>
          <p:cNvSpPr txBox="1"/>
          <p:nvPr/>
        </p:nvSpPr>
        <p:spPr>
          <a:xfrm>
            <a:off x="1417320" y="503834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Week by week, with a gate each week</a:t>
            </a:r>
            <a:endParaRPr lang="en-US" sz="1100" dirty="0"/>
          </a:p>
        </p:txBody>
      </p:sp>
      <p:sp>
        <p:nvSpPr>
          <p:cNvPr id="49" name="Shape 47"/>
          <p:cNvSpPr/>
          <p:nvPr/>
        </p:nvSpPr>
        <p:spPr>
          <a:xfrm>
            <a:off x="6263640" y="4709160"/>
            <a:ext cx="5257800" cy="621792"/>
          </a:xfrm>
          <a:prstGeom prst="roundRect">
            <a:avLst>
              <a:gd name="adj" fmla="val 11765"/>
            </a:avLst>
          </a:prstGeom>
          <a:solidFill>
            <a:srgbClr val="EDF2FA"/>
          </a:solidFill>
          <a:ln/>
        </p:spPr>
      </p:sp>
      <p:sp>
        <p:nvSpPr>
          <p:cNvPr id="50" name="Shape 48"/>
          <p:cNvSpPr/>
          <p:nvPr/>
        </p:nvSpPr>
        <p:spPr>
          <a:xfrm>
            <a:off x="6464808" y="4818888"/>
            <a:ext cx="384048" cy="384048"/>
          </a:xfrm>
          <a:prstGeom prst="ellipse">
            <a:avLst/>
          </a:prstGeom>
          <a:solidFill>
            <a:srgbClr val="3E5C8A"/>
          </a:solidFill>
          <a:ln/>
        </p:spPr>
      </p:sp>
      <p:sp>
        <p:nvSpPr>
          <p:cNvPr id="51" name="Text 49"/>
          <p:cNvSpPr txBox="1"/>
          <p:nvPr/>
        </p:nvSpPr>
        <p:spPr>
          <a:xfrm>
            <a:off x="6464808" y="481888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a:t>
            </a:r>
            <a:endParaRPr lang="en-US" sz="1200" dirty="0"/>
          </a:p>
        </p:txBody>
      </p:sp>
      <p:sp>
        <p:nvSpPr>
          <p:cNvPr id="52" name="Text 50"/>
          <p:cNvSpPr txBox="1"/>
          <p:nvPr/>
        </p:nvSpPr>
        <p:spPr>
          <a:xfrm>
            <a:off x="7040880" y="475488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Governing the execution</a:t>
            </a:r>
            <a:endParaRPr lang="en-US" sz="1450" dirty="0"/>
          </a:p>
        </p:txBody>
      </p:sp>
      <p:sp>
        <p:nvSpPr>
          <p:cNvPr id="53" name="Text 51"/>
          <p:cNvSpPr txBox="1"/>
          <p:nvPr/>
        </p:nvSpPr>
        <p:spPr>
          <a:xfrm>
            <a:off x="7040880" y="503834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The rhythm and scorecard after sign-off</a:t>
            </a:r>
            <a:endParaRPr lang="en-US" sz="1100" dirty="0"/>
          </a:p>
        </p:txBody>
      </p:sp>
      <p:sp>
        <p:nvSpPr>
          <p:cNvPr id="54" name="Shape 52"/>
          <p:cNvSpPr/>
          <p:nvPr/>
        </p:nvSpPr>
        <p:spPr>
          <a:xfrm>
            <a:off x="640080" y="5440680"/>
            <a:ext cx="5257800" cy="621792"/>
          </a:xfrm>
          <a:prstGeom prst="roundRect">
            <a:avLst>
              <a:gd name="adj" fmla="val 11765"/>
            </a:avLst>
          </a:prstGeom>
          <a:solidFill>
            <a:srgbClr val="F2F6FC"/>
          </a:solidFill>
          <a:ln/>
        </p:spPr>
      </p:sp>
      <p:sp>
        <p:nvSpPr>
          <p:cNvPr id="55" name="Shape 53"/>
          <p:cNvSpPr/>
          <p:nvPr/>
        </p:nvSpPr>
        <p:spPr>
          <a:xfrm>
            <a:off x="841248" y="5550408"/>
            <a:ext cx="384048" cy="384048"/>
          </a:xfrm>
          <a:prstGeom prst="ellipse">
            <a:avLst/>
          </a:prstGeom>
          <a:solidFill>
            <a:srgbClr val="1E2761"/>
          </a:solidFill>
          <a:ln/>
        </p:spPr>
      </p:sp>
      <p:sp>
        <p:nvSpPr>
          <p:cNvPr id="56" name="Text 54"/>
          <p:cNvSpPr txBox="1"/>
          <p:nvPr/>
        </p:nvSpPr>
        <p:spPr>
          <a:xfrm>
            <a:off x="841248" y="555040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11</a:t>
            </a:r>
            <a:endParaRPr lang="en-US" sz="1200" dirty="0"/>
          </a:p>
        </p:txBody>
      </p:sp>
      <p:sp>
        <p:nvSpPr>
          <p:cNvPr id="57" name="Text 55"/>
          <p:cNvSpPr txBox="1"/>
          <p:nvPr/>
        </p:nvSpPr>
        <p:spPr>
          <a:xfrm>
            <a:off x="1417320" y="5486400"/>
            <a:ext cx="4297680" cy="310896"/>
          </a:xfrm>
          <a:prstGeom prst="rect">
            <a:avLst/>
          </a:prstGeom>
          <a:noFill/>
          <a:ln/>
        </p:spPr>
        <p:txBody>
          <a:bodyPr wrap="square" lIns="0" tIns="0" rIns="0" bIns="0" rtlCol="0" anchor="ctr"/>
          <a:lstStyle/>
          <a:p>
            <a:pPr indent="0" marL="0">
              <a:buNone/>
            </a:pPr>
            <a:r>
              <a:rPr lang="en-US" sz="1450" b="1" dirty="0">
                <a:solidFill>
                  <a:srgbClr val="16203A"/>
                </a:solidFill>
                <a:latin typeface="Calibri" pitchFamily="34" charset="0"/>
                <a:ea typeface="Calibri" pitchFamily="34" charset="-122"/>
                <a:cs typeface="Calibri" pitchFamily="34" charset="-120"/>
              </a:rPr>
              <a:t>How we run the cycle</a:t>
            </a:r>
            <a:endParaRPr lang="en-US" sz="1450" dirty="0"/>
          </a:p>
        </p:txBody>
      </p:sp>
      <p:sp>
        <p:nvSpPr>
          <p:cNvPr id="58" name="Text 56"/>
          <p:cNvSpPr txBox="1"/>
          <p:nvPr/>
        </p:nvSpPr>
        <p:spPr>
          <a:xfrm>
            <a:off x="1417320" y="5769864"/>
            <a:ext cx="4297680" cy="274320"/>
          </a:xfrm>
          <a:prstGeom prst="rect">
            <a:avLst/>
          </a:prstGeom>
          <a:noFill/>
          <a:ln/>
        </p:spPr>
        <p:txBody>
          <a:bodyPr wrap="square" lIns="0" tIns="0" rIns="0" bIns="0" rtlCol="0" anchor="ctr"/>
          <a:lstStyle/>
          <a:p>
            <a:pPr indent="0" marL="0">
              <a:buNone/>
            </a:pPr>
            <a:r>
              <a:rPr lang="en-US" sz="1100" dirty="0">
                <a:solidFill>
                  <a:srgbClr val="8792AB"/>
                </a:solidFill>
                <a:latin typeface="Calibri" pitchFamily="34" charset="0"/>
                <a:ea typeface="Calibri" pitchFamily="34" charset="-122"/>
                <a:cs typeface="Calibri" pitchFamily="34" charset="-120"/>
              </a:rPr>
              <a:t>Cadence, inputs and decisions requested</a:t>
            </a:r>
            <a:endParaRPr lang="en-US" sz="1100" dirty="0"/>
          </a:p>
        </p:txBody>
      </p:sp>
      <p:sp>
        <p:nvSpPr>
          <p:cNvPr id="59" name="Text 57"/>
          <p:cNvSpPr txBox="1"/>
          <p:nvPr/>
        </p:nvSpPr>
        <p:spPr>
          <a:xfrm>
            <a:off x="640080" y="6263640"/>
            <a:ext cx="10881360" cy="365760"/>
          </a:xfrm>
          <a:prstGeom prst="rect">
            <a:avLst/>
          </a:prstGeom>
          <a:noFill/>
          <a:ln/>
        </p:spPr>
        <p:txBody>
          <a:bodyPr wrap="square" lIns="0" tIns="0" rIns="0" bIns="0" rtlCol="0" anchor="ctr"/>
          <a:lstStyle/>
          <a:p>
            <a:pPr indent="0" marL="0">
              <a:buNone/>
            </a:pPr>
            <a:r>
              <a:rPr lang="en-US" sz="1250" i="1" dirty="0">
                <a:solidFill>
                  <a:srgbClr val="3E5C8A"/>
                </a:solidFill>
                <a:latin typeface="Calibri" pitchFamily="34" charset="0"/>
                <a:ea typeface="Calibri" pitchFamily="34" charset="-122"/>
                <a:cs typeface="Calibri" pitchFamily="34" charset="-120"/>
              </a:rPr>
              <a:t>Appendix: a blank template for every artefact the cycle produces — the strategy log itself.</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What this document is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method, not a conclusion.</a:t>
            </a:r>
            <a:endParaRPr lang="en-US" sz="1450" dirty="0"/>
          </a:p>
        </p:txBody>
      </p:sp>
      <p:sp>
        <p:nvSpPr>
          <p:cNvPr id="4" name="Shape 2"/>
          <p:cNvSpPr/>
          <p:nvPr/>
        </p:nvSpPr>
        <p:spPr>
          <a:xfrm>
            <a:off x="640080" y="1828800"/>
            <a:ext cx="457200" cy="457200"/>
          </a:xfrm>
          <a:prstGeom prst="ellipse">
            <a:avLst/>
          </a:prstGeom>
          <a:solidFill>
            <a:srgbClr val="1E2761"/>
          </a:solidFill>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25880" y="180136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A plan to build the strategy</a:t>
            </a:r>
            <a:endParaRPr lang="en-US" sz="1900" dirty="0"/>
          </a:p>
        </p:txBody>
      </p:sp>
      <p:sp>
        <p:nvSpPr>
          <p:cNvPr id="7" name="Text 5"/>
          <p:cNvSpPr txBox="1"/>
          <p:nvPr/>
        </p:nvSpPr>
        <p:spPr>
          <a:xfrm>
            <a:off x="1325880" y="221284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It describes the journey, the questions and the sequence — it does not pre-empt the answers.</a:t>
            </a:r>
            <a:endParaRPr lang="en-US" sz="1400" dirty="0"/>
          </a:p>
        </p:txBody>
      </p:sp>
      <p:sp>
        <p:nvSpPr>
          <p:cNvPr id="8" name="Shape 6"/>
          <p:cNvSpPr/>
          <p:nvPr/>
        </p:nvSpPr>
        <p:spPr>
          <a:xfrm>
            <a:off x="640080" y="3063240"/>
            <a:ext cx="457200" cy="457200"/>
          </a:xfrm>
          <a:prstGeom prst="ellipse">
            <a:avLst/>
          </a:prstGeom>
          <a:solidFill>
            <a:srgbClr val="3E5C8A"/>
          </a:solidFill>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1325880" y="303580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Every element is deliberately open</a:t>
            </a:r>
            <a:endParaRPr lang="en-US" sz="1900" dirty="0"/>
          </a:p>
        </p:txBody>
      </p:sp>
      <p:sp>
        <p:nvSpPr>
          <p:cNvPr id="11" name="Text 9"/>
          <p:cNvSpPr txBox="1"/>
          <p:nvPr/>
        </p:nvSpPr>
        <p:spPr>
          <a:xfrm>
            <a:off x="1325880" y="344728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Markets, accounts, offerings, targets and owners are left blank by design and filled through the workstreams.</a:t>
            </a:r>
            <a:endParaRPr lang="en-US" sz="1400" dirty="0"/>
          </a:p>
        </p:txBody>
      </p:sp>
      <p:sp>
        <p:nvSpPr>
          <p:cNvPr id="12" name="Shape 10"/>
          <p:cNvSpPr/>
          <p:nvPr/>
        </p:nvSpPr>
        <p:spPr>
          <a:xfrm>
            <a:off x="640080" y="4297680"/>
            <a:ext cx="457200" cy="457200"/>
          </a:xfrm>
          <a:prstGeom prst="ellipse">
            <a:avLst/>
          </a:prstGeom>
          <a:solidFill>
            <a:srgbClr val="1E2761"/>
          </a:solidFill>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325880" y="4270248"/>
            <a:ext cx="5943600" cy="365760"/>
          </a:xfrm>
          <a:prstGeom prst="rect">
            <a:avLst/>
          </a:prstGeom>
          <a:noFill/>
          <a:ln/>
        </p:spPr>
        <p:txBody>
          <a:bodyPr wrap="square" lIns="0" tIns="0" rIns="0" bIns="0" rtlCol="0" anchor="ctr"/>
          <a:lstStyle/>
          <a:p>
            <a:pPr indent="0" marL="0">
              <a:buNone/>
            </a:pPr>
            <a:r>
              <a:rPr lang="en-US" sz="1900" b="1" dirty="0">
                <a:solidFill>
                  <a:srgbClr val="16203A"/>
                </a:solidFill>
                <a:latin typeface="Calibri" pitchFamily="34" charset="0"/>
                <a:ea typeface="Calibri" pitchFamily="34" charset="-122"/>
                <a:cs typeface="Calibri" pitchFamily="34" charset="-120"/>
              </a:rPr>
              <a:t>One cycle, one sign-off</a:t>
            </a:r>
            <a:endParaRPr lang="en-US" sz="1900" dirty="0"/>
          </a:p>
        </p:txBody>
      </p:sp>
      <p:sp>
        <p:nvSpPr>
          <p:cNvPr id="15" name="Text 13"/>
          <p:cNvSpPr txBox="1"/>
          <p:nvPr/>
        </p:nvSpPr>
        <p:spPr>
          <a:xfrm>
            <a:off x="1325880" y="4681728"/>
            <a:ext cx="6035040" cy="685800"/>
          </a:xfrm>
          <a:prstGeom prst="rect">
            <a:avLst/>
          </a:prstGeom>
          <a:noFill/>
          <a:ln/>
        </p:spPr>
        <p:txBody>
          <a:bodyPr wrap="square" lIns="0" tIns="0" rIns="0" bIns="0" rtlCol="0" anchor="ctr"/>
          <a:lstStyle/>
          <a:p>
            <a:pPr indent="0" marL="0">
              <a:buNone/>
            </a:pPr>
            <a:r>
              <a:rPr lang="en-US" sz="1400" dirty="0">
                <a:solidFill>
                  <a:srgbClr val="44506B"/>
                </a:solidFill>
                <a:latin typeface="Calibri" pitchFamily="34" charset="0"/>
                <a:ea typeface="Calibri" pitchFamily="34" charset="-122"/>
                <a:cs typeface="Calibri" pitchFamily="34" charset="-120"/>
              </a:rPr>
              <a:t>The strategy is treated as a single three-week cycle ending in a decision, not a rolling exercise.</a:t>
            </a:r>
            <a:endParaRPr lang="en-US" sz="1400" dirty="0"/>
          </a:p>
        </p:txBody>
      </p:sp>
      <p:sp>
        <p:nvSpPr>
          <p:cNvPr id="16" name="Shape 14"/>
          <p:cNvSpPr/>
          <p:nvPr/>
        </p:nvSpPr>
        <p:spPr>
          <a:xfrm>
            <a:off x="7863840" y="1783080"/>
            <a:ext cx="3657600" cy="3840480"/>
          </a:xfrm>
          <a:prstGeom prst="roundRect">
            <a:avLst>
              <a:gd name="adj" fmla="val 3000"/>
            </a:avLst>
          </a:prstGeom>
          <a:solidFill>
            <a:srgbClr val="EDF2FA"/>
          </a:solidFill>
          <a:ln/>
        </p:spPr>
      </p:sp>
      <p:sp>
        <p:nvSpPr>
          <p:cNvPr id="17" name="Text 15"/>
          <p:cNvSpPr txBox="1"/>
          <p:nvPr/>
        </p:nvSpPr>
        <p:spPr>
          <a:xfrm>
            <a:off x="8183880" y="2057400"/>
            <a:ext cx="310896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What "done" looks like</a:t>
            </a:r>
            <a:endParaRPr lang="en-US" sz="1700" dirty="0"/>
          </a:p>
        </p:txBody>
      </p:sp>
      <p:sp>
        <p:nvSpPr>
          <p:cNvPr id="18" name="Text 16"/>
          <p:cNvSpPr txBox="1"/>
          <p:nvPr/>
        </p:nvSpPr>
        <p:spPr>
          <a:xfrm>
            <a:off x="8183880" y="2560320"/>
            <a:ext cx="3108960" cy="274320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agreed service catalogue</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named target account list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Revenue and pricing targets</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An owner against every account</a:t>
            </a:r>
            <a:endParaRPr lang="en-US" sz="1350" dirty="0"/>
          </a:p>
          <a:p>
            <a:pPr marL="342900" indent="-342900">
              <a:spcAft>
                <a:spcPts val="1000"/>
              </a:spcAft>
              <a:buSzPct val="100000"/>
              <a:buChar char="•"/>
            </a:pPr>
            <a:r>
              <a:rPr lang="en-US" sz="1350" dirty="0">
                <a:solidFill>
                  <a:srgbClr val="44506B"/>
                </a:solidFill>
                <a:latin typeface="Calibri" pitchFamily="34" charset="0"/>
                <a:ea typeface="Calibri" pitchFamily="34" charset="-122"/>
                <a:cs typeface="Calibri" pitchFamily="34" charset="-120"/>
              </a:rPr>
              <a:t>A first-90-days activation plan</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Ten questions, in five layers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Ambition first, then the choices, then what makes them real.</a:t>
            </a:r>
            <a:endParaRPr lang="en-US" sz="1450" dirty="0"/>
          </a:p>
        </p:txBody>
      </p:sp>
      <p:sp>
        <p:nvSpPr>
          <p:cNvPr id="4" name="Shape 2"/>
          <p:cNvSpPr/>
          <p:nvPr/>
        </p:nvSpPr>
        <p:spPr>
          <a:xfrm>
            <a:off x="640080" y="1783080"/>
            <a:ext cx="2011680" cy="749808"/>
          </a:xfrm>
          <a:prstGeom prst="roundRect">
            <a:avLst>
              <a:gd name="adj" fmla="val 12195"/>
            </a:avLst>
          </a:prstGeom>
          <a:solidFill>
            <a:srgbClr val="1E2761"/>
          </a:solidFill>
          <a:ln/>
        </p:spPr>
      </p:sp>
      <p:sp>
        <p:nvSpPr>
          <p:cNvPr id="5" name="Text 3"/>
          <p:cNvSpPr txBox="1"/>
          <p:nvPr/>
        </p:nvSpPr>
        <p:spPr>
          <a:xfrm>
            <a:off x="640080" y="1783080"/>
            <a:ext cx="2011680" cy="74980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Ambition</a:t>
            </a:r>
            <a:endParaRPr lang="en-US" sz="1400" dirty="0"/>
          </a:p>
        </p:txBody>
      </p:sp>
      <p:sp>
        <p:nvSpPr>
          <p:cNvPr id="6" name="Shape 4"/>
          <p:cNvSpPr/>
          <p:nvPr/>
        </p:nvSpPr>
        <p:spPr>
          <a:xfrm>
            <a:off x="2743200" y="1783080"/>
            <a:ext cx="8778240" cy="749808"/>
          </a:xfrm>
          <a:prstGeom prst="roundRect">
            <a:avLst>
              <a:gd name="adj" fmla="val 12195"/>
            </a:avLst>
          </a:prstGeom>
          <a:solidFill>
            <a:srgbClr val="E4EBF7"/>
          </a:solidFill>
          <a:ln/>
        </p:spPr>
      </p:sp>
      <p:sp>
        <p:nvSpPr>
          <p:cNvPr id="7" name="Text 5"/>
          <p:cNvSpPr txBox="1"/>
          <p:nvPr/>
        </p:nvSpPr>
        <p:spPr>
          <a:xfrm>
            <a:off x="2907792" y="1856232"/>
            <a:ext cx="8458200" cy="292608"/>
          </a:xfrm>
          <a:prstGeom prst="rect">
            <a:avLst/>
          </a:prstGeom>
          <a:noFill/>
          <a:ln/>
        </p:spPr>
        <p:txBody>
          <a:bodyPr wrap="square" lIns="0" tIns="0" rIns="0" bIns="0" rtlCol="0" anchor="ctr"/>
          <a:lstStyle/>
          <a:p>
            <a:pPr indent="0" marL="0">
              <a:buNone/>
            </a:pPr>
            <a:r>
              <a:rPr lang="en-US" sz="1250" b="1" dirty="0">
                <a:solidFill>
                  <a:srgbClr val="16203A"/>
                </a:solidFill>
                <a:latin typeface="Calibri" pitchFamily="34" charset="0"/>
                <a:ea typeface="Calibri" pitchFamily="34" charset="-122"/>
                <a:cs typeface="Calibri" pitchFamily="34" charset="-120"/>
              </a:rPr>
              <a:t>1  What winning looks like</a:t>
            </a:r>
            <a:endParaRPr lang="en-US" sz="1250" dirty="0"/>
          </a:p>
        </p:txBody>
      </p:sp>
      <p:sp>
        <p:nvSpPr>
          <p:cNvPr id="8" name="Text 6"/>
          <p:cNvSpPr txBox="1"/>
          <p:nvPr/>
        </p:nvSpPr>
        <p:spPr>
          <a:xfrm>
            <a:off x="2907792" y="2167128"/>
            <a:ext cx="8458200" cy="310896"/>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What must be true in three years, in numbers?</a:t>
            </a:r>
            <a:endParaRPr lang="en-US" sz="1050" dirty="0"/>
          </a:p>
        </p:txBody>
      </p:sp>
      <p:sp>
        <p:nvSpPr>
          <p:cNvPr id="9" name="Shape 7"/>
          <p:cNvSpPr/>
          <p:nvPr/>
        </p:nvSpPr>
        <p:spPr>
          <a:xfrm>
            <a:off x="640080" y="2651760"/>
            <a:ext cx="2011680" cy="749808"/>
          </a:xfrm>
          <a:prstGeom prst="roundRect">
            <a:avLst>
              <a:gd name="adj" fmla="val 12195"/>
            </a:avLst>
          </a:prstGeom>
          <a:solidFill>
            <a:srgbClr val="1E2761"/>
          </a:solidFill>
          <a:ln/>
        </p:spPr>
      </p:sp>
      <p:sp>
        <p:nvSpPr>
          <p:cNvPr id="10" name="Text 8"/>
          <p:cNvSpPr txBox="1"/>
          <p:nvPr/>
        </p:nvSpPr>
        <p:spPr>
          <a:xfrm>
            <a:off x="640080" y="2651760"/>
            <a:ext cx="2011680" cy="74980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Choices</a:t>
            </a:r>
            <a:endParaRPr lang="en-US" sz="1400" dirty="0"/>
          </a:p>
        </p:txBody>
      </p:sp>
      <p:sp>
        <p:nvSpPr>
          <p:cNvPr id="11" name="Shape 9"/>
          <p:cNvSpPr/>
          <p:nvPr/>
        </p:nvSpPr>
        <p:spPr>
          <a:xfrm>
            <a:off x="2743200" y="2651760"/>
            <a:ext cx="2834640" cy="749808"/>
          </a:xfrm>
          <a:prstGeom prst="roundRect">
            <a:avLst>
              <a:gd name="adj" fmla="val 12195"/>
            </a:avLst>
          </a:prstGeom>
          <a:solidFill>
            <a:srgbClr val="EDF2FA"/>
          </a:solidFill>
          <a:ln/>
        </p:spPr>
      </p:sp>
      <p:sp>
        <p:nvSpPr>
          <p:cNvPr id="12" name="Text 10"/>
          <p:cNvSpPr txBox="1"/>
          <p:nvPr/>
        </p:nvSpPr>
        <p:spPr>
          <a:xfrm>
            <a:off x="2907792" y="2724912"/>
            <a:ext cx="2514600" cy="292608"/>
          </a:xfrm>
          <a:prstGeom prst="rect">
            <a:avLst/>
          </a:prstGeom>
          <a:noFill/>
          <a:ln/>
        </p:spPr>
        <p:txBody>
          <a:bodyPr wrap="square" lIns="0" tIns="0" rIns="0" bIns="0" rtlCol="0" anchor="ctr"/>
          <a:lstStyle/>
          <a:p>
            <a:pPr indent="0" marL="0">
              <a:buNone/>
            </a:pPr>
            <a:r>
              <a:rPr lang="en-US" sz="1250" b="1" dirty="0">
                <a:solidFill>
                  <a:srgbClr val="16203A"/>
                </a:solidFill>
                <a:latin typeface="Calibri" pitchFamily="34" charset="0"/>
                <a:ea typeface="Calibri" pitchFamily="34" charset="-122"/>
                <a:cs typeface="Calibri" pitchFamily="34" charset="-120"/>
              </a:rPr>
              <a:t>2  Where to play</a:t>
            </a:r>
            <a:endParaRPr lang="en-US" sz="1250" dirty="0"/>
          </a:p>
        </p:txBody>
      </p:sp>
      <p:sp>
        <p:nvSpPr>
          <p:cNvPr id="13" name="Text 11"/>
          <p:cNvSpPr txBox="1"/>
          <p:nvPr/>
        </p:nvSpPr>
        <p:spPr>
          <a:xfrm>
            <a:off x="2907792" y="3035808"/>
            <a:ext cx="2514600" cy="310896"/>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Which markets, segments and named accounts?</a:t>
            </a:r>
            <a:endParaRPr lang="en-US" sz="1050" dirty="0"/>
          </a:p>
        </p:txBody>
      </p:sp>
      <p:sp>
        <p:nvSpPr>
          <p:cNvPr id="14" name="Shape 12"/>
          <p:cNvSpPr/>
          <p:nvPr/>
        </p:nvSpPr>
        <p:spPr>
          <a:xfrm>
            <a:off x="5715000" y="2651760"/>
            <a:ext cx="2834640" cy="749808"/>
          </a:xfrm>
          <a:prstGeom prst="roundRect">
            <a:avLst>
              <a:gd name="adj" fmla="val 12195"/>
            </a:avLst>
          </a:prstGeom>
          <a:solidFill>
            <a:srgbClr val="EDF2FA"/>
          </a:solidFill>
          <a:ln/>
        </p:spPr>
      </p:sp>
      <p:sp>
        <p:nvSpPr>
          <p:cNvPr id="15" name="Text 13"/>
          <p:cNvSpPr txBox="1"/>
          <p:nvPr/>
        </p:nvSpPr>
        <p:spPr>
          <a:xfrm>
            <a:off x="5879592" y="2724912"/>
            <a:ext cx="2514600" cy="292608"/>
          </a:xfrm>
          <a:prstGeom prst="rect">
            <a:avLst/>
          </a:prstGeom>
          <a:noFill/>
          <a:ln/>
        </p:spPr>
        <p:txBody>
          <a:bodyPr wrap="square" lIns="0" tIns="0" rIns="0" bIns="0" rtlCol="0" anchor="ctr"/>
          <a:lstStyle/>
          <a:p>
            <a:pPr indent="0" marL="0">
              <a:buNone/>
            </a:pPr>
            <a:r>
              <a:rPr lang="en-US" sz="1250" b="1" dirty="0">
                <a:solidFill>
                  <a:srgbClr val="16203A"/>
                </a:solidFill>
                <a:latin typeface="Calibri" pitchFamily="34" charset="0"/>
                <a:ea typeface="Calibri" pitchFamily="34" charset="-122"/>
                <a:cs typeface="Calibri" pitchFamily="34" charset="-120"/>
              </a:rPr>
              <a:t>3  What we offer</a:t>
            </a:r>
            <a:endParaRPr lang="en-US" sz="1250" dirty="0"/>
          </a:p>
        </p:txBody>
      </p:sp>
      <p:sp>
        <p:nvSpPr>
          <p:cNvPr id="16" name="Text 14"/>
          <p:cNvSpPr txBox="1"/>
          <p:nvPr/>
        </p:nvSpPr>
        <p:spPr>
          <a:xfrm>
            <a:off x="5879592" y="3035808"/>
            <a:ext cx="2514600" cy="310896"/>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Which integrated propositions and variants?</a:t>
            </a:r>
            <a:endParaRPr lang="en-US" sz="1050" dirty="0"/>
          </a:p>
        </p:txBody>
      </p:sp>
      <p:sp>
        <p:nvSpPr>
          <p:cNvPr id="17" name="Shape 15"/>
          <p:cNvSpPr/>
          <p:nvPr/>
        </p:nvSpPr>
        <p:spPr>
          <a:xfrm>
            <a:off x="8686800" y="2651760"/>
            <a:ext cx="2834640" cy="749808"/>
          </a:xfrm>
          <a:prstGeom prst="roundRect">
            <a:avLst>
              <a:gd name="adj" fmla="val 12195"/>
            </a:avLst>
          </a:prstGeom>
          <a:solidFill>
            <a:srgbClr val="EDF2FA"/>
          </a:solidFill>
          <a:ln/>
        </p:spPr>
      </p:sp>
      <p:sp>
        <p:nvSpPr>
          <p:cNvPr id="18" name="Text 16"/>
          <p:cNvSpPr txBox="1"/>
          <p:nvPr/>
        </p:nvSpPr>
        <p:spPr>
          <a:xfrm>
            <a:off x="8851392" y="2724912"/>
            <a:ext cx="2514600" cy="292608"/>
          </a:xfrm>
          <a:prstGeom prst="rect">
            <a:avLst/>
          </a:prstGeom>
          <a:noFill/>
          <a:ln/>
        </p:spPr>
        <p:txBody>
          <a:bodyPr wrap="square" lIns="0" tIns="0" rIns="0" bIns="0" rtlCol="0" anchor="ctr"/>
          <a:lstStyle/>
          <a:p>
            <a:pPr indent="0" marL="0">
              <a:buNone/>
            </a:pPr>
            <a:r>
              <a:rPr lang="en-US" sz="1250" b="1" dirty="0">
                <a:solidFill>
                  <a:srgbClr val="16203A"/>
                </a:solidFill>
                <a:latin typeface="Calibri" pitchFamily="34" charset="0"/>
                <a:ea typeface="Calibri" pitchFamily="34" charset="-122"/>
                <a:cs typeface="Calibri" pitchFamily="34" charset="-120"/>
              </a:rPr>
              <a:t>4  How we win</a:t>
            </a:r>
            <a:endParaRPr lang="en-US" sz="1250" dirty="0"/>
          </a:p>
        </p:txBody>
      </p:sp>
      <p:sp>
        <p:nvSpPr>
          <p:cNvPr id="19" name="Text 17"/>
          <p:cNvSpPr txBox="1"/>
          <p:nvPr/>
        </p:nvSpPr>
        <p:spPr>
          <a:xfrm>
            <a:off x="8851392" y="3035808"/>
            <a:ext cx="2514600" cy="310896"/>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What differentiates us, and how do we deliver?</a:t>
            </a:r>
            <a:endParaRPr lang="en-US" sz="1050" dirty="0"/>
          </a:p>
        </p:txBody>
      </p:sp>
      <p:sp>
        <p:nvSpPr>
          <p:cNvPr id="20" name="Shape 18"/>
          <p:cNvSpPr/>
          <p:nvPr/>
        </p:nvSpPr>
        <p:spPr>
          <a:xfrm>
            <a:off x="640080" y="3520440"/>
            <a:ext cx="2011680" cy="749808"/>
          </a:xfrm>
          <a:prstGeom prst="roundRect">
            <a:avLst>
              <a:gd name="adj" fmla="val 12195"/>
            </a:avLst>
          </a:prstGeom>
          <a:solidFill>
            <a:srgbClr val="1E2761"/>
          </a:solidFill>
          <a:ln/>
        </p:spPr>
      </p:sp>
      <p:sp>
        <p:nvSpPr>
          <p:cNvPr id="21" name="Text 19"/>
          <p:cNvSpPr txBox="1"/>
          <p:nvPr/>
        </p:nvSpPr>
        <p:spPr>
          <a:xfrm>
            <a:off x="640080" y="3520440"/>
            <a:ext cx="2011680" cy="74980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Commercial</a:t>
            </a:r>
            <a:endParaRPr lang="en-US" sz="1400" dirty="0"/>
          </a:p>
        </p:txBody>
      </p:sp>
      <p:sp>
        <p:nvSpPr>
          <p:cNvPr id="22" name="Shape 20"/>
          <p:cNvSpPr/>
          <p:nvPr/>
        </p:nvSpPr>
        <p:spPr>
          <a:xfrm>
            <a:off x="2743200" y="3520440"/>
            <a:ext cx="8778240" cy="749808"/>
          </a:xfrm>
          <a:prstGeom prst="roundRect">
            <a:avLst>
              <a:gd name="adj" fmla="val 12195"/>
            </a:avLst>
          </a:prstGeom>
          <a:solidFill>
            <a:srgbClr val="E4EBF7"/>
          </a:solidFill>
          <a:ln/>
        </p:spPr>
      </p:sp>
      <p:sp>
        <p:nvSpPr>
          <p:cNvPr id="23" name="Text 21"/>
          <p:cNvSpPr txBox="1"/>
          <p:nvPr/>
        </p:nvSpPr>
        <p:spPr>
          <a:xfrm>
            <a:off x="2907792" y="3593592"/>
            <a:ext cx="8458200" cy="292608"/>
          </a:xfrm>
          <a:prstGeom prst="rect">
            <a:avLst/>
          </a:prstGeom>
          <a:noFill/>
          <a:ln/>
        </p:spPr>
        <p:txBody>
          <a:bodyPr wrap="square" lIns="0" tIns="0" rIns="0" bIns="0" rtlCol="0" anchor="ctr"/>
          <a:lstStyle/>
          <a:p>
            <a:pPr indent="0" marL="0">
              <a:buNone/>
            </a:pPr>
            <a:r>
              <a:rPr lang="en-US" sz="1250" b="1" dirty="0">
                <a:solidFill>
                  <a:srgbClr val="16203A"/>
                </a:solidFill>
                <a:latin typeface="Calibri" pitchFamily="34" charset="0"/>
                <a:ea typeface="Calibri" pitchFamily="34" charset="-122"/>
                <a:cs typeface="Calibri" pitchFamily="34" charset="-120"/>
              </a:rPr>
              <a:t>5  How much</a:t>
            </a:r>
            <a:endParaRPr lang="en-US" sz="1250" dirty="0"/>
          </a:p>
        </p:txBody>
      </p:sp>
      <p:sp>
        <p:nvSpPr>
          <p:cNvPr id="24" name="Text 22"/>
          <p:cNvSpPr txBox="1"/>
          <p:nvPr/>
        </p:nvSpPr>
        <p:spPr>
          <a:xfrm>
            <a:off x="2907792" y="3904488"/>
            <a:ext cx="8458200" cy="310896"/>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Revenue by market and offering, deal sizes, price bands</a:t>
            </a:r>
            <a:endParaRPr lang="en-US" sz="1050" dirty="0"/>
          </a:p>
        </p:txBody>
      </p:sp>
      <p:sp>
        <p:nvSpPr>
          <p:cNvPr id="25" name="Shape 23"/>
          <p:cNvSpPr/>
          <p:nvPr/>
        </p:nvSpPr>
        <p:spPr>
          <a:xfrm>
            <a:off x="640080" y="4389120"/>
            <a:ext cx="2011680" cy="749808"/>
          </a:xfrm>
          <a:prstGeom prst="roundRect">
            <a:avLst>
              <a:gd name="adj" fmla="val 12195"/>
            </a:avLst>
          </a:prstGeom>
          <a:solidFill>
            <a:srgbClr val="1E2761"/>
          </a:solidFill>
          <a:ln/>
        </p:spPr>
      </p:sp>
      <p:sp>
        <p:nvSpPr>
          <p:cNvPr id="26" name="Text 24"/>
          <p:cNvSpPr txBox="1"/>
          <p:nvPr/>
        </p:nvSpPr>
        <p:spPr>
          <a:xfrm>
            <a:off x="640080" y="4389120"/>
            <a:ext cx="2011680" cy="74980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Enablers</a:t>
            </a:r>
            <a:endParaRPr lang="en-US" sz="1400" dirty="0"/>
          </a:p>
        </p:txBody>
      </p:sp>
      <p:sp>
        <p:nvSpPr>
          <p:cNvPr id="27" name="Shape 25"/>
          <p:cNvSpPr/>
          <p:nvPr/>
        </p:nvSpPr>
        <p:spPr>
          <a:xfrm>
            <a:off x="2743200" y="4389120"/>
            <a:ext cx="2091690" cy="749808"/>
          </a:xfrm>
          <a:prstGeom prst="roundRect">
            <a:avLst>
              <a:gd name="adj" fmla="val 12195"/>
            </a:avLst>
          </a:prstGeom>
          <a:solidFill>
            <a:srgbClr val="EDF2FA"/>
          </a:solidFill>
          <a:ln/>
        </p:spPr>
      </p:sp>
      <p:sp>
        <p:nvSpPr>
          <p:cNvPr id="28" name="Text 26"/>
          <p:cNvSpPr txBox="1"/>
          <p:nvPr/>
        </p:nvSpPr>
        <p:spPr>
          <a:xfrm>
            <a:off x="2907792" y="4462272"/>
            <a:ext cx="1771650" cy="292608"/>
          </a:xfrm>
          <a:prstGeom prst="rect">
            <a:avLst/>
          </a:prstGeom>
          <a:noFill/>
          <a:ln/>
        </p:spPr>
        <p:txBody>
          <a:bodyPr wrap="square" lIns="0" tIns="0" rIns="0" bIns="0" rtlCol="0" anchor="ctr"/>
          <a:lstStyle/>
          <a:p>
            <a:pPr indent="0" marL="0">
              <a:buNone/>
            </a:pPr>
            <a:r>
              <a:rPr lang="en-US" sz="1250" b="1" dirty="0">
                <a:solidFill>
                  <a:srgbClr val="16203A"/>
                </a:solidFill>
                <a:latin typeface="Calibri" pitchFamily="34" charset="0"/>
                <a:ea typeface="Calibri" pitchFamily="34" charset="-122"/>
                <a:cs typeface="Calibri" pitchFamily="34" charset="-120"/>
              </a:rPr>
              <a:t>6  Coverage</a:t>
            </a:r>
            <a:endParaRPr lang="en-US" sz="1250" dirty="0"/>
          </a:p>
        </p:txBody>
      </p:sp>
      <p:sp>
        <p:nvSpPr>
          <p:cNvPr id="29" name="Text 27"/>
          <p:cNvSpPr txBox="1"/>
          <p:nvPr/>
        </p:nvSpPr>
        <p:spPr>
          <a:xfrm>
            <a:off x="2907792" y="4773168"/>
            <a:ext cx="1771650" cy="310896"/>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Which partner owns which account?</a:t>
            </a:r>
            <a:endParaRPr lang="en-US" sz="1050" dirty="0"/>
          </a:p>
        </p:txBody>
      </p:sp>
      <p:sp>
        <p:nvSpPr>
          <p:cNvPr id="30" name="Shape 28"/>
          <p:cNvSpPr/>
          <p:nvPr/>
        </p:nvSpPr>
        <p:spPr>
          <a:xfrm>
            <a:off x="4972050" y="4389120"/>
            <a:ext cx="2091690" cy="749808"/>
          </a:xfrm>
          <a:prstGeom prst="roundRect">
            <a:avLst>
              <a:gd name="adj" fmla="val 12195"/>
            </a:avLst>
          </a:prstGeom>
          <a:solidFill>
            <a:srgbClr val="EDF2FA"/>
          </a:solidFill>
          <a:ln/>
        </p:spPr>
      </p:sp>
      <p:sp>
        <p:nvSpPr>
          <p:cNvPr id="31" name="Text 29"/>
          <p:cNvSpPr txBox="1"/>
          <p:nvPr/>
        </p:nvSpPr>
        <p:spPr>
          <a:xfrm>
            <a:off x="5136642" y="4462272"/>
            <a:ext cx="1771650" cy="292608"/>
          </a:xfrm>
          <a:prstGeom prst="rect">
            <a:avLst/>
          </a:prstGeom>
          <a:noFill/>
          <a:ln/>
        </p:spPr>
        <p:txBody>
          <a:bodyPr wrap="square" lIns="0" tIns="0" rIns="0" bIns="0" rtlCol="0" anchor="ctr"/>
          <a:lstStyle/>
          <a:p>
            <a:pPr indent="0" marL="0">
              <a:buNone/>
            </a:pPr>
            <a:r>
              <a:rPr lang="en-US" sz="1250" b="1" dirty="0">
                <a:solidFill>
                  <a:srgbClr val="16203A"/>
                </a:solidFill>
                <a:latin typeface="Calibri" pitchFamily="34" charset="0"/>
                <a:ea typeface="Calibri" pitchFamily="34" charset="-122"/>
                <a:cs typeface="Calibri" pitchFamily="34" charset="-120"/>
              </a:rPr>
              <a:t>7  People</a:t>
            </a:r>
            <a:endParaRPr lang="en-US" sz="1250" dirty="0"/>
          </a:p>
        </p:txBody>
      </p:sp>
      <p:sp>
        <p:nvSpPr>
          <p:cNvPr id="32" name="Text 30"/>
          <p:cNvSpPr txBox="1"/>
          <p:nvPr/>
        </p:nvSpPr>
        <p:spPr>
          <a:xfrm>
            <a:off x="5136642" y="4773168"/>
            <a:ext cx="1771650" cy="310896"/>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Dedicated, shared and recruited capacity</a:t>
            </a:r>
            <a:endParaRPr lang="en-US" sz="1050" dirty="0"/>
          </a:p>
        </p:txBody>
      </p:sp>
      <p:sp>
        <p:nvSpPr>
          <p:cNvPr id="33" name="Shape 31"/>
          <p:cNvSpPr/>
          <p:nvPr/>
        </p:nvSpPr>
        <p:spPr>
          <a:xfrm>
            <a:off x="7200900" y="4389120"/>
            <a:ext cx="2091690" cy="749808"/>
          </a:xfrm>
          <a:prstGeom prst="roundRect">
            <a:avLst>
              <a:gd name="adj" fmla="val 12195"/>
            </a:avLst>
          </a:prstGeom>
          <a:solidFill>
            <a:srgbClr val="EDF2FA"/>
          </a:solidFill>
          <a:ln/>
        </p:spPr>
      </p:sp>
      <p:sp>
        <p:nvSpPr>
          <p:cNvPr id="34" name="Text 32"/>
          <p:cNvSpPr txBox="1"/>
          <p:nvPr/>
        </p:nvSpPr>
        <p:spPr>
          <a:xfrm>
            <a:off x="7365492" y="4462272"/>
            <a:ext cx="1771650" cy="292608"/>
          </a:xfrm>
          <a:prstGeom prst="rect">
            <a:avLst/>
          </a:prstGeom>
          <a:noFill/>
          <a:ln/>
        </p:spPr>
        <p:txBody>
          <a:bodyPr wrap="square" lIns="0" tIns="0" rIns="0" bIns="0" rtlCol="0" anchor="ctr"/>
          <a:lstStyle/>
          <a:p>
            <a:pPr indent="0" marL="0">
              <a:buNone/>
            </a:pPr>
            <a:r>
              <a:rPr lang="en-US" sz="1250" b="1" dirty="0">
                <a:solidFill>
                  <a:srgbClr val="16203A"/>
                </a:solidFill>
                <a:latin typeface="Calibri" pitchFamily="34" charset="0"/>
                <a:ea typeface="Calibri" pitchFamily="34" charset="-122"/>
                <a:cs typeface="Calibri" pitchFamily="34" charset="-120"/>
              </a:rPr>
              <a:t>8  Alliances</a:t>
            </a:r>
            <a:endParaRPr lang="en-US" sz="1250" dirty="0"/>
          </a:p>
        </p:txBody>
      </p:sp>
      <p:sp>
        <p:nvSpPr>
          <p:cNvPr id="35" name="Text 33"/>
          <p:cNvSpPr txBox="1"/>
          <p:nvPr/>
        </p:nvSpPr>
        <p:spPr>
          <a:xfrm>
            <a:off x="7365492" y="4773168"/>
            <a:ext cx="1771650" cy="310896"/>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Who we go with, and what each unlocks</a:t>
            </a:r>
            <a:endParaRPr lang="en-US" sz="1050" dirty="0"/>
          </a:p>
        </p:txBody>
      </p:sp>
      <p:sp>
        <p:nvSpPr>
          <p:cNvPr id="36" name="Shape 34"/>
          <p:cNvSpPr/>
          <p:nvPr/>
        </p:nvSpPr>
        <p:spPr>
          <a:xfrm>
            <a:off x="9429750" y="4389120"/>
            <a:ext cx="2091690" cy="749808"/>
          </a:xfrm>
          <a:prstGeom prst="roundRect">
            <a:avLst>
              <a:gd name="adj" fmla="val 12195"/>
            </a:avLst>
          </a:prstGeom>
          <a:solidFill>
            <a:srgbClr val="EDF2FA"/>
          </a:solidFill>
          <a:ln/>
        </p:spPr>
      </p:sp>
      <p:sp>
        <p:nvSpPr>
          <p:cNvPr id="37" name="Text 35"/>
          <p:cNvSpPr txBox="1"/>
          <p:nvPr/>
        </p:nvSpPr>
        <p:spPr>
          <a:xfrm>
            <a:off x="9594342" y="4462272"/>
            <a:ext cx="1771650" cy="292608"/>
          </a:xfrm>
          <a:prstGeom prst="rect">
            <a:avLst/>
          </a:prstGeom>
          <a:noFill/>
          <a:ln/>
        </p:spPr>
        <p:txBody>
          <a:bodyPr wrap="square" lIns="0" tIns="0" rIns="0" bIns="0" rtlCol="0" anchor="ctr"/>
          <a:lstStyle/>
          <a:p>
            <a:pPr indent="0" marL="0">
              <a:buNone/>
            </a:pPr>
            <a:r>
              <a:rPr lang="en-US" sz="1250" b="1" dirty="0">
                <a:solidFill>
                  <a:srgbClr val="16203A"/>
                </a:solidFill>
                <a:latin typeface="Calibri" pitchFamily="34" charset="0"/>
                <a:ea typeface="Calibri" pitchFamily="34" charset="-122"/>
                <a:cs typeface="Calibri" pitchFamily="34" charset="-120"/>
              </a:rPr>
              <a:t>9  Eminence</a:t>
            </a:r>
            <a:endParaRPr lang="en-US" sz="1250" dirty="0"/>
          </a:p>
        </p:txBody>
      </p:sp>
      <p:sp>
        <p:nvSpPr>
          <p:cNvPr id="38" name="Text 36"/>
          <p:cNvSpPr txBox="1"/>
          <p:nvPr/>
        </p:nvSpPr>
        <p:spPr>
          <a:xfrm>
            <a:off x="9594342" y="4773168"/>
            <a:ext cx="1771650" cy="310896"/>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How the market comes to know us</a:t>
            </a:r>
            <a:endParaRPr lang="en-US" sz="1050" dirty="0"/>
          </a:p>
        </p:txBody>
      </p:sp>
      <p:sp>
        <p:nvSpPr>
          <p:cNvPr id="39" name="Shape 37"/>
          <p:cNvSpPr/>
          <p:nvPr/>
        </p:nvSpPr>
        <p:spPr>
          <a:xfrm>
            <a:off x="640080" y="5257800"/>
            <a:ext cx="2011680" cy="749808"/>
          </a:xfrm>
          <a:prstGeom prst="roundRect">
            <a:avLst>
              <a:gd name="adj" fmla="val 12195"/>
            </a:avLst>
          </a:prstGeom>
          <a:solidFill>
            <a:srgbClr val="1E2761"/>
          </a:solidFill>
          <a:ln/>
        </p:spPr>
      </p:sp>
      <p:sp>
        <p:nvSpPr>
          <p:cNvPr id="40" name="Text 38"/>
          <p:cNvSpPr txBox="1"/>
          <p:nvPr/>
        </p:nvSpPr>
        <p:spPr>
          <a:xfrm>
            <a:off x="640080" y="5257800"/>
            <a:ext cx="2011680" cy="74980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Execution</a:t>
            </a:r>
            <a:endParaRPr lang="en-US" sz="1400" dirty="0"/>
          </a:p>
        </p:txBody>
      </p:sp>
      <p:sp>
        <p:nvSpPr>
          <p:cNvPr id="41" name="Shape 39"/>
          <p:cNvSpPr/>
          <p:nvPr/>
        </p:nvSpPr>
        <p:spPr>
          <a:xfrm>
            <a:off x="2743200" y="5257800"/>
            <a:ext cx="8778240" cy="749808"/>
          </a:xfrm>
          <a:prstGeom prst="roundRect">
            <a:avLst>
              <a:gd name="adj" fmla="val 12195"/>
            </a:avLst>
          </a:prstGeom>
          <a:solidFill>
            <a:srgbClr val="E4EBF7"/>
          </a:solidFill>
          <a:ln/>
        </p:spPr>
      </p:sp>
      <p:sp>
        <p:nvSpPr>
          <p:cNvPr id="42" name="Text 40"/>
          <p:cNvSpPr txBox="1"/>
          <p:nvPr/>
        </p:nvSpPr>
        <p:spPr>
          <a:xfrm>
            <a:off x="2907792" y="5330952"/>
            <a:ext cx="8458200" cy="292608"/>
          </a:xfrm>
          <a:prstGeom prst="rect">
            <a:avLst/>
          </a:prstGeom>
          <a:noFill/>
          <a:ln/>
        </p:spPr>
        <p:txBody>
          <a:bodyPr wrap="square" lIns="0" tIns="0" rIns="0" bIns="0" rtlCol="0" anchor="ctr"/>
          <a:lstStyle/>
          <a:p>
            <a:pPr indent="0" marL="0">
              <a:buNone/>
            </a:pPr>
            <a:r>
              <a:rPr lang="en-US" sz="1250" b="1" dirty="0">
                <a:solidFill>
                  <a:srgbClr val="16203A"/>
                </a:solidFill>
                <a:latin typeface="Calibri" pitchFamily="34" charset="0"/>
                <a:ea typeface="Calibri" pitchFamily="34" charset="-122"/>
                <a:cs typeface="Calibri" pitchFamily="34" charset="-120"/>
              </a:rPr>
              <a:t>10  How we stay on course</a:t>
            </a:r>
            <a:endParaRPr lang="en-US" sz="1250" dirty="0"/>
          </a:p>
        </p:txBody>
      </p:sp>
      <p:sp>
        <p:nvSpPr>
          <p:cNvPr id="43" name="Text 41"/>
          <p:cNvSpPr txBox="1"/>
          <p:nvPr/>
        </p:nvSpPr>
        <p:spPr>
          <a:xfrm>
            <a:off x="2907792" y="5641848"/>
            <a:ext cx="8458200" cy="310896"/>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Operating rhythm, KPIs and review calendar</a:t>
            </a:r>
            <a:endParaRPr lang="en-US" sz="1050" dirty="0"/>
          </a:p>
        </p:txBody>
      </p:sp>
      <p:sp>
        <p:nvSpPr>
          <p:cNvPr id="44" name="Shape 42"/>
          <p:cNvSpPr/>
          <p:nvPr/>
        </p:nvSpPr>
        <p:spPr>
          <a:xfrm>
            <a:off x="4251960" y="6263640"/>
            <a:ext cx="3657600" cy="301752"/>
          </a:xfrm>
          <a:prstGeom prst="roundRect">
            <a:avLst>
              <a:gd name="adj" fmla="val 48485"/>
            </a:avLst>
          </a:prstGeom>
          <a:solidFill>
            <a:srgbClr val="FFFFFF"/>
          </a:solidFill>
          <a:ln w="12700">
            <a:solidFill>
              <a:srgbClr val="B8862B"/>
            </a:solidFill>
            <a:prstDash val="solid"/>
          </a:ln>
        </p:spPr>
      </p:sp>
      <p:sp>
        <p:nvSpPr>
          <p:cNvPr id="45" name="Text 43"/>
          <p:cNvSpPr txBox="1"/>
          <p:nvPr/>
        </p:nvSpPr>
        <p:spPr>
          <a:xfrm>
            <a:off x="4251960" y="6263640"/>
            <a:ext cx="36576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answers to be defined in the cycle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Principles we hold going in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Constraints on the answers, agreed before the work starts.</a:t>
            </a:r>
            <a:endParaRPr lang="en-US" sz="1450" dirty="0"/>
          </a:p>
        </p:txBody>
      </p:sp>
      <p:sp>
        <p:nvSpPr>
          <p:cNvPr id="4" name="Shape 2"/>
          <p:cNvSpPr/>
          <p:nvPr/>
        </p:nvSpPr>
        <p:spPr>
          <a:xfrm>
            <a:off x="640080" y="1783080"/>
            <a:ext cx="5257800" cy="1280160"/>
          </a:xfrm>
          <a:prstGeom prst="roundRect">
            <a:avLst>
              <a:gd name="adj" fmla="val 7143"/>
            </a:avLst>
          </a:prstGeom>
          <a:solidFill>
            <a:srgbClr val="EDF2FA"/>
          </a:solidFill>
          <a:ln/>
        </p:spPr>
      </p:sp>
      <p:sp>
        <p:nvSpPr>
          <p:cNvPr id="5" name="Shape 3"/>
          <p:cNvSpPr/>
          <p:nvPr/>
        </p:nvSpPr>
        <p:spPr>
          <a:xfrm>
            <a:off x="914400" y="2039112"/>
            <a:ext cx="384048" cy="384048"/>
          </a:xfrm>
          <a:prstGeom prst="ellipse">
            <a:avLst/>
          </a:prstGeom>
          <a:solidFill>
            <a:srgbClr val="1E2761"/>
          </a:solidFill>
          <a:ln/>
        </p:spPr>
      </p:sp>
      <p:sp>
        <p:nvSpPr>
          <p:cNvPr id="6" name="Text 4"/>
          <p:cNvSpPr txBox="1"/>
          <p:nvPr/>
        </p:nvSpPr>
        <p:spPr>
          <a:xfrm>
            <a:off x="914400" y="203911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481328" y="1984248"/>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Integrated, not siloed</a:t>
            </a:r>
            <a:endParaRPr lang="en-US" sz="1700" dirty="0"/>
          </a:p>
        </p:txBody>
      </p:sp>
      <p:sp>
        <p:nvSpPr>
          <p:cNvPr id="8" name="Text 6"/>
          <p:cNvSpPr txBox="1"/>
          <p:nvPr/>
        </p:nvSpPr>
        <p:spPr>
          <a:xfrm>
            <a:off x="1481328" y="2359152"/>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Cross-pillar propositions are the default catalogue; single-pillar sales are an entry point, not the destination.</a:t>
            </a:r>
            <a:endParaRPr lang="en-US" sz="1250" dirty="0"/>
          </a:p>
        </p:txBody>
      </p:sp>
      <p:sp>
        <p:nvSpPr>
          <p:cNvPr id="9" name="Shape 7"/>
          <p:cNvSpPr/>
          <p:nvPr/>
        </p:nvSpPr>
        <p:spPr>
          <a:xfrm>
            <a:off x="6263640" y="1783080"/>
            <a:ext cx="5257800" cy="1280160"/>
          </a:xfrm>
          <a:prstGeom prst="roundRect">
            <a:avLst>
              <a:gd name="adj" fmla="val 7143"/>
            </a:avLst>
          </a:prstGeom>
          <a:solidFill>
            <a:srgbClr val="EDF2FA"/>
          </a:solidFill>
          <a:ln/>
        </p:spPr>
      </p:sp>
      <p:sp>
        <p:nvSpPr>
          <p:cNvPr id="10" name="Shape 8"/>
          <p:cNvSpPr/>
          <p:nvPr/>
        </p:nvSpPr>
        <p:spPr>
          <a:xfrm>
            <a:off x="6537960" y="2039112"/>
            <a:ext cx="384048" cy="384048"/>
          </a:xfrm>
          <a:prstGeom prst="ellipse">
            <a:avLst/>
          </a:prstGeom>
          <a:solidFill>
            <a:srgbClr val="3E5C8A"/>
          </a:solidFill>
          <a:ln/>
        </p:spPr>
      </p:sp>
      <p:sp>
        <p:nvSpPr>
          <p:cNvPr id="11" name="Text 9"/>
          <p:cNvSpPr txBox="1"/>
          <p:nvPr/>
        </p:nvSpPr>
        <p:spPr>
          <a:xfrm>
            <a:off x="6537960" y="203911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7104888" y="1984248"/>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Named accounts, not averages</a:t>
            </a:r>
            <a:endParaRPr lang="en-US" sz="1700" dirty="0"/>
          </a:p>
        </p:txBody>
      </p:sp>
      <p:sp>
        <p:nvSpPr>
          <p:cNvPr id="13" name="Text 11"/>
          <p:cNvSpPr txBox="1"/>
          <p:nvPr/>
        </p:nvSpPr>
        <p:spPr>
          <a:xfrm>
            <a:off x="7104888" y="2359152"/>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The output is a specific target list with owners, not a market-size view.</a:t>
            </a:r>
            <a:endParaRPr lang="en-US" sz="1250" dirty="0"/>
          </a:p>
        </p:txBody>
      </p:sp>
      <p:sp>
        <p:nvSpPr>
          <p:cNvPr id="14" name="Shape 12"/>
          <p:cNvSpPr/>
          <p:nvPr/>
        </p:nvSpPr>
        <p:spPr>
          <a:xfrm>
            <a:off x="640080" y="3264408"/>
            <a:ext cx="5257800" cy="1280160"/>
          </a:xfrm>
          <a:prstGeom prst="roundRect">
            <a:avLst>
              <a:gd name="adj" fmla="val 7143"/>
            </a:avLst>
          </a:prstGeom>
          <a:solidFill>
            <a:srgbClr val="EDF2FA"/>
          </a:solidFill>
          <a:ln/>
        </p:spPr>
      </p:sp>
      <p:sp>
        <p:nvSpPr>
          <p:cNvPr id="15" name="Shape 13"/>
          <p:cNvSpPr/>
          <p:nvPr/>
        </p:nvSpPr>
        <p:spPr>
          <a:xfrm>
            <a:off x="914400" y="3520440"/>
            <a:ext cx="384048" cy="384048"/>
          </a:xfrm>
          <a:prstGeom prst="ellipse">
            <a:avLst/>
          </a:prstGeom>
          <a:solidFill>
            <a:srgbClr val="1E2761"/>
          </a:solidFill>
          <a:ln/>
        </p:spPr>
      </p:sp>
      <p:sp>
        <p:nvSpPr>
          <p:cNvPr id="16" name="Text 14"/>
          <p:cNvSpPr txBox="1"/>
          <p:nvPr/>
        </p:nvSpPr>
        <p:spPr>
          <a:xfrm>
            <a:off x="914400" y="352044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481328" y="3465576"/>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Sized and priced</a:t>
            </a:r>
            <a:endParaRPr lang="en-US" sz="1700" dirty="0"/>
          </a:p>
        </p:txBody>
      </p:sp>
      <p:sp>
        <p:nvSpPr>
          <p:cNvPr id="18" name="Text 16"/>
          <p:cNvSpPr txBox="1"/>
          <p:nvPr/>
        </p:nvSpPr>
        <p:spPr>
          <a:xfrm>
            <a:off x="1481328" y="3840480"/>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Every proposition carries a buyer, an indicative deal size and a price band.</a:t>
            </a:r>
            <a:endParaRPr lang="en-US" sz="1250" dirty="0"/>
          </a:p>
        </p:txBody>
      </p:sp>
      <p:sp>
        <p:nvSpPr>
          <p:cNvPr id="19" name="Shape 17"/>
          <p:cNvSpPr/>
          <p:nvPr/>
        </p:nvSpPr>
        <p:spPr>
          <a:xfrm>
            <a:off x="6263640" y="3264408"/>
            <a:ext cx="5257800" cy="1280160"/>
          </a:xfrm>
          <a:prstGeom prst="roundRect">
            <a:avLst>
              <a:gd name="adj" fmla="val 7143"/>
            </a:avLst>
          </a:prstGeom>
          <a:solidFill>
            <a:srgbClr val="EDF2FA"/>
          </a:solidFill>
          <a:ln/>
        </p:spPr>
      </p:sp>
      <p:sp>
        <p:nvSpPr>
          <p:cNvPr id="20" name="Shape 18"/>
          <p:cNvSpPr/>
          <p:nvPr/>
        </p:nvSpPr>
        <p:spPr>
          <a:xfrm>
            <a:off x="6537960" y="3520440"/>
            <a:ext cx="384048" cy="384048"/>
          </a:xfrm>
          <a:prstGeom prst="ellipse">
            <a:avLst/>
          </a:prstGeom>
          <a:solidFill>
            <a:srgbClr val="3E5C8A"/>
          </a:solidFill>
          <a:ln/>
        </p:spPr>
      </p:sp>
      <p:sp>
        <p:nvSpPr>
          <p:cNvPr id="21" name="Text 19"/>
          <p:cNvSpPr txBox="1"/>
          <p:nvPr/>
        </p:nvSpPr>
        <p:spPr>
          <a:xfrm>
            <a:off x="6537960" y="352044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104888" y="3465576"/>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Covered by a partner</a:t>
            </a:r>
            <a:endParaRPr lang="en-US" sz="1700" dirty="0"/>
          </a:p>
        </p:txBody>
      </p:sp>
      <p:sp>
        <p:nvSpPr>
          <p:cNvPr id="23" name="Text 21"/>
          <p:cNvSpPr txBox="1"/>
          <p:nvPr/>
        </p:nvSpPr>
        <p:spPr>
          <a:xfrm>
            <a:off x="7104888" y="3840480"/>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Every priority account has one accountable owner and a defined partner play.</a:t>
            </a:r>
            <a:endParaRPr lang="en-US" sz="1250" dirty="0"/>
          </a:p>
        </p:txBody>
      </p:sp>
      <p:sp>
        <p:nvSpPr>
          <p:cNvPr id="24" name="Shape 22"/>
          <p:cNvSpPr/>
          <p:nvPr/>
        </p:nvSpPr>
        <p:spPr>
          <a:xfrm>
            <a:off x="640080" y="4745736"/>
            <a:ext cx="5257800" cy="1280160"/>
          </a:xfrm>
          <a:prstGeom prst="roundRect">
            <a:avLst>
              <a:gd name="adj" fmla="val 7143"/>
            </a:avLst>
          </a:prstGeom>
          <a:solidFill>
            <a:srgbClr val="EDF2FA"/>
          </a:solidFill>
          <a:ln/>
        </p:spPr>
      </p:sp>
      <p:sp>
        <p:nvSpPr>
          <p:cNvPr id="25" name="Shape 23"/>
          <p:cNvSpPr/>
          <p:nvPr/>
        </p:nvSpPr>
        <p:spPr>
          <a:xfrm>
            <a:off x="914400" y="5001768"/>
            <a:ext cx="384048" cy="384048"/>
          </a:xfrm>
          <a:prstGeom prst="ellipse">
            <a:avLst/>
          </a:prstGeom>
          <a:solidFill>
            <a:srgbClr val="1E2761"/>
          </a:solidFill>
          <a:ln/>
        </p:spPr>
      </p:sp>
      <p:sp>
        <p:nvSpPr>
          <p:cNvPr id="26" name="Text 24"/>
          <p:cNvSpPr txBox="1"/>
          <p:nvPr/>
        </p:nvSpPr>
        <p:spPr>
          <a:xfrm>
            <a:off x="914400" y="500176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1481328" y="4946904"/>
            <a:ext cx="4206240" cy="320040"/>
          </a:xfrm>
          <a:prstGeom prst="rect">
            <a:avLst/>
          </a:prstGeom>
          <a:noFill/>
          <a:ln/>
        </p:spPr>
        <p:txBody>
          <a:bodyPr wrap="square" lIns="0" tIns="0" rIns="0" bIns="0" rtlCol="0" anchor="ctr"/>
          <a:lstStyle/>
          <a:p>
            <a:pPr indent="0" marL="0">
              <a:buNone/>
            </a:pPr>
            <a:r>
              <a:rPr lang="en-US" sz="1700" b="1" dirty="0">
                <a:solidFill>
                  <a:srgbClr val="16203A"/>
                </a:solidFill>
                <a:latin typeface="Calibri" pitchFamily="34" charset="0"/>
                <a:ea typeface="Calibri" pitchFamily="34" charset="-122"/>
                <a:cs typeface="Calibri" pitchFamily="34" charset="-120"/>
              </a:rPr>
              <a:t>Deliverable by design</a:t>
            </a:r>
            <a:endParaRPr lang="en-US" sz="1700" dirty="0"/>
          </a:p>
        </p:txBody>
      </p:sp>
      <p:sp>
        <p:nvSpPr>
          <p:cNvPr id="28" name="Text 26"/>
          <p:cNvSpPr txBox="1"/>
          <p:nvPr/>
        </p:nvSpPr>
        <p:spPr>
          <a:xfrm>
            <a:off x="1481328" y="5321808"/>
            <a:ext cx="4160520" cy="594360"/>
          </a:xfrm>
          <a:prstGeom prst="rect">
            <a:avLst/>
          </a:prstGeom>
          <a:noFill/>
          <a:ln/>
        </p:spPr>
        <p:txBody>
          <a:bodyPr wrap="square" lIns="0" tIns="0" rIns="0" bIns="0" rtlCol="0" anchor="ctr"/>
          <a:lstStyle/>
          <a:p>
            <a:pPr indent="0" marL="0">
              <a:buNone/>
            </a:pPr>
            <a:r>
              <a:rPr lang="en-US" sz="1250" dirty="0">
                <a:solidFill>
                  <a:srgbClr val="44506B"/>
                </a:solidFill>
                <a:latin typeface="Calibri" pitchFamily="34" charset="0"/>
                <a:ea typeface="Calibri" pitchFamily="34" charset="-122"/>
                <a:cs typeface="Calibri" pitchFamily="34" charset="-120"/>
              </a:rPr>
              <a:t>Nothing enters the catalogue that we cannot staff and deliver to standard.</a:t>
            </a:r>
            <a:endParaRPr lang="en-US" sz="1250" dirty="0"/>
          </a:p>
        </p:txBody>
      </p:sp>
      <p:sp>
        <p:nvSpPr>
          <p:cNvPr id="29" name="Text 27"/>
          <p:cNvSpPr txBox="1"/>
          <p:nvPr/>
        </p:nvSpPr>
        <p:spPr>
          <a:xfrm>
            <a:off x="6263640" y="5532120"/>
            <a:ext cx="5120640" cy="45720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These are the rules the strategy must obey. Anything else remains open.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How we will get there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A five-step approach, run once, end to end.</a:t>
            </a:r>
            <a:endParaRPr lang="en-US" sz="1450" dirty="0"/>
          </a:p>
        </p:txBody>
      </p:sp>
      <p:sp>
        <p:nvSpPr>
          <p:cNvPr id="4" name="Shape 2"/>
          <p:cNvSpPr/>
          <p:nvPr/>
        </p:nvSpPr>
        <p:spPr>
          <a:xfrm>
            <a:off x="640080" y="1874520"/>
            <a:ext cx="2029968" cy="713232"/>
          </a:xfrm>
          <a:prstGeom prst="chevron">
            <a:avLst/>
          </a:prstGeom>
          <a:solidFill>
            <a:srgbClr val="1E2761"/>
          </a:solidFill>
          <a:ln/>
        </p:spPr>
      </p:sp>
      <p:sp>
        <p:nvSpPr>
          <p:cNvPr id="5" name="Text 3"/>
          <p:cNvSpPr txBox="1"/>
          <p:nvPr/>
        </p:nvSpPr>
        <p:spPr>
          <a:xfrm>
            <a:off x="804672"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Mobilise</a:t>
            </a:r>
            <a:endParaRPr lang="en-US" sz="1500" dirty="0"/>
          </a:p>
        </p:txBody>
      </p:sp>
      <p:sp>
        <p:nvSpPr>
          <p:cNvPr id="6" name="Shape 4"/>
          <p:cNvSpPr/>
          <p:nvPr/>
        </p:nvSpPr>
        <p:spPr>
          <a:xfrm>
            <a:off x="1481328" y="2788920"/>
            <a:ext cx="347472" cy="347472"/>
          </a:xfrm>
          <a:prstGeom prst="ellipse">
            <a:avLst/>
          </a:prstGeom>
          <a:solidFill>
            <a:srgbClr val="B8862B"/>
          </a:solidFill>
          <a:ln/>
        </p:spPr>
      </p:sp>
      <p:sp>
        <p:nvSpPr>
          <p:cNvPr id="7" name="Text 5"/>
          <p:cNvSpPr txBox="1"/>
          <p:nvPr/>
        </p:nvSpPr>
        <p:spPr>
          <a:xfrm>
            <a:off x="1481328"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640080"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Frame the ambition: what winning looks like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Confirm scope, principles and owners</a:t>
            </a:r>
            <a:endParaRPr lang="en-US" sz="1200" dirty="0"/>
          </a:p>
        </p:txBody>
      </p:sp>
      <p:sp>
        <p:nvSpPr>
          <p:cNvPr id="9" name="Text 7"/>
          <p:cNvSpPr txBox="1"/>
          <p:nvPr/>
        </p:nvSpPr>
        <p:spPr>
          <a:xfrm>
            <a:off x="640080"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0" name="Shape 8"/>
          <p:cNvSpPr/>
          <p:nvPr/>
        </p:nvSpPr>
        <p:spPr>
          <a:xfrm>
            <a:off x="2852928" y="1874520"/>
            <a:ext cx="2029968" cy="713232"/>
          </a:xfrm>
          <a:prstGeom prst="chevron">
            <a:avLst/>
          </a:prstGeom>
          <a:solidFill>
            <a:srgbClr val="3E5C8A"/>
          </a:solidFill>
          <a:ln/>
        </p:spPr>
      </p:sp>
      <p:sp>
        <p:nvSpPr>
          <p:cNvPr id="11" name="Text 9"/>
          <p:cNvSpPr txBox="1"/>
          <p:nvPr/>
        </p:nvSpPr>
        <p:spPr>
          <a:xfrm>
            <a:off x="3017520"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Baseline</a:t>
            </a:r>
            <a:endParaRPr lang="en-US" sz="1500" dirty="0"/>
          </a:p>
        </p:txBody>
      </p:sp>
      <p:sp>
        <p:nvSpPr>
          <p:cNvPr id="12" name="Shape 10"/>
          <p:cNvSpPr/>
          <p:nvPr/>
        </p:nvSpPr>
        <p:spPr>
          <a:xfrm>
            <a:off x="3694176" y="2788920"/>
            <a:ext cx="347472" cy="347472"/>
          </a:xfrm>
          <a:prstGeom prst="ellipse">
            <a:avLst/>
          </a:prstGeom>
          <a:solidFill>
            <a:srgbClr val="B8862B"/>
          </a:solidFill>
          <a:ln/>
        </p:spPr>
      </p:sp>
      <p:sp>
        <p:nvSpPr>
          <p:cNvPr id="13" name="Text 11"/>
          <p:cNvSpPr txBox="1"/>
          <p:nvPr/>
        </p:nvSpPr>
        <p:spPr>
          <a:xfrm>
            <a:off x="3694176"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852928"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Credentials, pipeline and current wins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Who we have today: dedicated and shared</a:t>
            </a:r>
            <a:endParaRPr lang="en-US" sz="1200" dirty="0"/>
          </a:p>
        </p:txBody>
      </p:sp>
      <p:sp>
        <p:nvSpPr>
          <p:cNvPr id="15" name="Text 13"/>
          <p:cNvSpPr txBox="1"/>
          <p:nvPr/>
        </p:nvSpPr>
        <p:spPr>
          <a:xfrm>
            <a:off x="2852928"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1</a:t>
            </a:r>
            <a:endParaRPr lang="en-US" sz="1150" dirty="0"/>
          </a:p>
        </p:txBody>
      </p:sp>
      <p:sp>
        <p:nvSpPr>
          <p:cNvPr id="16" name="Shape 14"/>
          <p:cNvSpPr/>
          <p:nvPr/>
        </p:nvSpPr>
        <p:spPr>
          <a:xfrm>
            <a:off x="5065776" y="1874520"/>
            <a:ext cx="2029968" cy="713232"/>
          </a:xfrm>
          <a:prstGeom prst="chevron">
            <a:avLst/>
          </a:prstGeom>
          <a:solidFill>
            <a:srgbClr val="1E2761"/>
          </a:solidFill>
          <a:ln/>
        </p:spPr>
      </p:sp>
      <p:sp>
        <p:nvSpPr>
          <p:cNvPr id="17" name="Text 15"/>
          <p:cNvSpPr txBox="1"/>
          <p:nvPr/>
        </p:nvSpPr>
        <p:spPr>
          <a:xfrm>
            <a:off x="5230368"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Define</a:t>
            </a:r>
            <a:endParaRPr lang="en-US" sz="1500" dirty="0"/>
          </a:p>
        </p:txBody>
      </p:sp>
      <p:sp>
        <p:nvSpPr>
          <p:cNvPr id="18" name="Shape 16"/>
          <p:cNvSpPr/>
          <p:nvPr/>
        </p:nvSpPr>
        <p:spPr>
          <a:xfrm>
            <a:off x="5907024" y="2788920"/>
            <a:ext cx="347472" cy="347472"/>
          </a:xfrm>
          <a:prstGeom prst="ellipse">
            <a:avLst/>
          </a:prstGeom>
          <a:solidFill>
            <a:srgbClr val="B8862B"/>
          </a:solidFill>
          <a:ln/>
        </p:spPr>
      </p:sp>
      <p:sp>
        <p:nvSpPr>
          <p:cNvPr id="19" name="Text 17"/>
          <p:cNvSpPr txBox="1"/>
          <p:nvPr/>
        </p:nvSpPr>
        <p:spPr>
          <a:xfrm>
            <a:off x="5907024"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txBox="1"/>
          <p:nvPr/>
        </p:nvSpPr>
        <p:spPr>
          <a:xfrm>
            <a:off x="5065776"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Markets, segments and candidate accounts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Integrated proposition catalogue</a:t>
            </a:r>
            <a:endParaRPr lang="en-US" sz="1200" dirty="0"/>
          </a:p>
        </p:txBody>
      </p:sp>
      <p:sp>
        <p:nvSpPr>
          <p:cNvPr id="21" name="Text 19"/>
          <p:cNvSpPr txBox="1"/>
          <p:nvPr/>
        </p:nvSpPr>
        <p:spPr>
          <a:xfrm>
            <a:off x="5065776"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Weeks 1–2</a:t>
            </a:r>
            <a:endParaRPr lang="en-US" sz="1150" dirty="0"/>
          </a:p>
        </p:txBody>
      </p:sp>
      <p:sp>
        <p:nvSpPr>
          <p:cNvPr id="22" name="Shape 20"/>
          <p:cNvSpPr/>
          <p:nvPr/>
        </p:nvSpPr>
        <p:spPr>
          <a:xfrm>
            <a:off x="7278624" y="1874520"/>
            <a:ext cx="2029968" cy="713232"/>
          </a:xfrm>
          <a:prstGeom prst="chevron">
            <a:avLst/>
          </a:prstGeom>
          <a:solidFill>
            <a:srgbClr val="3E5C8A"/>
          </a:solidFill>
          <a:ln/>
        </p:spPr>
      </p:sp>
      <p:sp>
        <p:nvSpPr>
          <p:cNvPr id="23" name="Text 21"/>
          <p:cNvSpPr txBox="1"/>
          <p:nvPr/>
        </p:nvSpPr>
        <p:spPr>
          <a:xfrm>
            <a:off x="7443216"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Quantify</a:t>
            </a:r>
            <a:endParaRPr lang="en-US" sz="1500" dirty="0"/>
          </a:p>
        </p:txBody>
      </p:sp>
      <p:sp>
        <p:nvSpPr>
          <p:cNvPr id="24" name="Shape 22"/>
          <p:cNvSpPr/>
          <p:nvPr/>
        </p:nvSpPr>
        <p:spPr>
          <a:xfrm>
            <a:off x="8119872" y="2788920"/>
            <a:ext cx="347472" cy="347472"/>
          </a:xfrm>
          <a:prstGeom prst="ellipse">
            <a:avLst/>
          </a:prstGeom>
          <a:solidFill>
            <a:srgbClr val="B8862B"/>
          </a:solidFill>
          <a:ln/>
        </p:spPr>
      </p:sp>
      <p:sp>
        <p:nvSpPr>
          <p:cNvPr id="25" name="Text 23"/>
          <p:cNvSpPr txBox="1"/>
          <p:nvPr/>
        </p:nvSpPr>
        <p:spPr>
          <a:xfrm>
            <a:off x="8119872"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7278624"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Deal sizes and market price bands</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Revenue targets and the capacity to service them</a:t>
            </a:r>
            <a:endParaRPr lang="en-US" sz="1200" dirty="0"/>
          </a:p>
        </p:txBody>
      </p:sp>
      <p:sp>
        <p:nvSpPr>
          <p:cNvPr id="27" name="Text 25"/>
          <p:cNvSpPr txBox="1"/>
          <p:nvPr/>
        </p:nvSpPr>
        <p:spPr>
          <a:xfrm>
            <a:off x="7278624"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2</a:t>
            </a:r>
            <a:endParaRPr lang="en-US" sz="1150" dirty="0"/>
          </a:p>
        </p:txBody>
      </p:sp>
      <p:sp>
        <p:nvSpPr>
          <p:cNvPr id="28" name="Shape 26"/>
          <p:cNvSpPr/>
          <p:nvPr/>
        </p:nvSpPr>
        <p:spPr>
          <a:xfrm>
            <a:off x="9491472" y="1874520"/>
            <a:ext cx="2029968" cy="713232"/>
          </a:xfrm>
          <a:prstGeom prst="chevron">
            <a:avLst/>
          </a:prstGeom>
          <a:solidFill>
            <a:srgbClr val="1E2761"/>
          </a:solidFill>
          <a:ln/>
        </p:spPr>
      </p:sp>
      <p:sp>
        <p:nvSpPr>
          <p:cNvPr id="29" name="Text 27"/>
          <p:cNvSpPr txBox="1"/>
          <p:nvPr/>
        </p:nvSpPr>
        <p:spPr>
          <a:xfrm>
            <a:off x="9656064" y="1874520"/>
            <a:ext cx="1755648" cy="71323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Commit</a:t>
            </a:r>
            <a:endParaRPr lang="en-US" sz="1500" dirty="0"/>
          </a:p>
        </p:txBody>
      </p:sp>
      <p:sp>
        <p:nvSpPr>
          <p:cNvPr id="30" name="Shape 28"/>
          <p:cNvSpPr/>
          <p:nvPr/>
        </p:nvSpPr>
        <p:spPr>
          <a:xfrm>
            <a:off x="10332720" y="2788920"/>
            <a:ext cx="347472" cy="347472"/>
          </a:xfrm>
          <a:prstGeom prst="ellipse">
            <a:avLst/>
          </a:prstGeom>
          <a:solidFill>
            <a:srgbClr val="B8862B"/>
          </a:solidFill>
          <a:ln/>
        </p:spPr>
      </p:sp>
      <p:sp>
        <p:nvSpPr>
          <p:cNvPr id="31" name="Text 29"/>
          <p:cNvSpPr txBox="1"/>
          <p:nvPr/>
        </p:nvSpPr>
        <p:spPr>
          <a:xfrm>
            <a:off x="10332720" y="2788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txBox="1"/>
          <p:nvPr/>
        </p:nvSpPr>
        <p:spPr>
          <a:xfrm>
            <a:off x="9491472" y="3337560"/>
            <a:ext cx="2029968" cy="155448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Account ownership and coverage</a:t>
            </a:r>
            <a:endParaRPr lang="en-US" sz="1200" dirty="0"/>
          </a:p>
          <a:p>
            <a:pPr marL="342900" indent="-342900">
              <a:spcAft>
                <a:spcPts val="800"/>
              </a:spcAft>
              <a:buSzPct val="100000"/>
              <a:buChar char="•"/>
            </a:pPr>
            <a:r>
              <a:rPr lang="en-US" sz="1200" dirty="0">
                <a:solidFill>
                  <a:srgbClr val="44506B"/>
                </a:solidFill>
                <a:latin typeface="Calibri" pitchFamily="34" charset="0"/>
                <a:ea typeface="Calibri" pitchFamily="34" charset="-122"/>
                <a:cs typeface="Calibri" pitchFamily="34" charset="-120"/>
              </a:rPr>
              <a:t>Team, eminence and activation plans signed off</a:t>
            </a:r>
            <a:endParaRPr lang="en-US" sz="1200" dirty="0"/>
          </a:p>
        </p:txBody>
      </p:sp>
      <p:sp>
        <p:nvSpPr>
          <p:cNvPr id="33" name="Text 31"/>
          <p:cNvSpPr txBox="1"/>
          <p:nvPr/>
        </p:nvSpPr>
        <p:spPr>
          <a:xfrm>
            <a:off x="9491472" y="4983480"/>
            <a:ext cx="2029968" cy="320040"/>
          </a:xfrm>
          <a:prstGeom prst="rect">
            <a:avLst/>
          </a:prstGeom>
          <a:noFill/>
          <a:ln/>
        </p:spPr>
        <p:txBody>
          <a:bodyPr wrap="square" lIns="0" tIns="0" rIns="0" bIns="0" rtlCol="0" anchor="ctr"/>
          <a:lstStyle/>
          <a:p>
            <a:pPr algn="ctr" indent="0" marL="0">
              <a:buNone/>
            </a:pPr>
            <a:r>
              <a:rPr lang="en-US" sz="1150" b="1" dirty="0">
                <a:solidFill>
                  <a:srgbClr val="8792AB"/>
                </a:solidFill>
                <a:latin typeface="Calibri" pitchFamily="34" charset="0"/>
                <a:ea typeface="Calibri" pitchFamily="34" charset="-122"/>
                <a:cs typeface="Calibri" pitchFamily="34" charset="-120"/>
              </a:rPr>
              <a:t>Week 3</a:t>
            </a:r>
            <a:endParaRPr lang="en-US" sz="1150" dirty="0"/>
          </a:p>
        </p:txBody>
      </p:sp>
      <p:sp>
        <p:nvSpPr>
          <p:cNvPr id="34" name="Text 32"/>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350" i="1" dirty="0">
                <a:solidFill>
                  <a:srgbClr val="3E5C8A"/>
                </a:solidFill>
                <a:latin typeface="Calibri" pitchFamily="34" charset="0"/>
                <a:ea typeface="Calibri" pitchFamily="34" charset="-122"/>
                <a:cs typeface="Calibri" pitchFamily="34" charset="-120"/>
              </a:rPr>
              <a:t>Each step closes before the next opens; the gate is a decision, not a document.</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Nine workstreams, nine artefacts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Each workstream owns one dimension and produces one deliverable.</a:t>
            </a:r>
            <a:endParaRPr lang="en-US" sz="14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881360" cy="914400"/>
        </p:xfrm>
        <a:graphic>
          <a:graphicData uri="http://schemas.openxmlformats.org/drawingml/2006/table">
            <a:tbl>
              <a:tblPr/>
              <a:tblGrid>
                <a:gridCol w="3017520"/>
                <a:gridCol w="2377440"/>
                <a:gridCol w="5486400"/>
              </a:tblGrid>
              <a:tr h="402336">
                <a:tc>
                  <a:txBody>
                    <a:bodyPr/>
                    <a:lstStyle/>
                    <a:p>
                      <a:pPr algn="l" indent="0" marL="0">
                        <a:buNone/>
                      </a:pPr>
                      <a:r>
                        <a:rPr lang="en-US" sz="1150" b="1" dirty="0">
                          <a:solidFill>
                            <a:srgbClr val="44506B"/>
                          </a:solidFill>
                          <a:latin typeface="Calibri" pitchFamily="34" charset="0"/>
                          <a:ea typeface="Calibri" pitchFamily="34" charset="-122"/>
                          <a:cs typeface="Calibri" pitchFamily="34" charset="-120"/>
                        </a:rPr>
                        <a:t>Workstream</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44506B"/>
                          </a:solidFill>
                          <a:latin typeface="Calibri" pitchFamily="34" charset="0"/>
                          <a:ea typeface="Calibri" pitchFamily="34" charset="-122"/>
                          <a:cs typeface="Calibri" pitchFamily="34" charset="-120"/>
                        </a:rPr>
                        <a:t>Question it closes</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44506B"/>
                          </a:solidFill>
                          <a:latin typeface="Calibri" pitchFamily="34" charset="0"/>
                          <a:ea typeface="Calibri" pitchFamily="34" charset="-122"/>
                          <a:cs typeface="Calibri" pitchFamily="34" charset="-120"/>
                        </a:rPr>
                        <a:t>Artefact produced</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429768">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1 · Proposition &amp; catalogue</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What we offer</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Integrated proposition catalogue with permitted variants</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429768">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2 · Market &amp; account targeting</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Where to play</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Prioritised markets, segments and named account list</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429768">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3 · Commercial sizing &amp; pricing</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How much</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Deal-size bands, price benchmarks, revenue targets</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429768">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4 · Coverage &amp; ownership</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Who covers what</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Account-to-partner map and coverage model</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429768">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5 · Delivery model &amp; readiness</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How we win</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Delivery approach and delivery standards</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429768">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6 · Team &amp; talent</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Who delivers it</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Dedicated FSI team, shared capacity view, recruitment plan</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429768">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7 · Eminence &amp; positioning</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How we are known</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Eminence plan: content, events and speaking calendar</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429768">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8 · Alliances</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Who we go with</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Alliance map: role, offerings and accounts per partner</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429768">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9 · Execution governance</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How we stay on course</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150" dirty="0">
                          <a:solidFill>
                            <a:srgbClr val="44506B"/>
                          </a:solidFill>
                          <a:latin typeface="Calibri" pitchFamily="34" charset="0"/>
                          <a:ea typeface="Calibri" pitchFamily="34" charset="-122"/>
                          <a:cs typeface="Calibri" pitchFamily="34" charset="-120"/>
                        </a:rPr>
                        <a:t>Operating rhythm, KPI scorecard and review calendar</a:t>
                      </a:r>
                      <a:endParaRPr lang="en-US" sz="1150" dirty="0">
                        <a:latin typeface="Calibri" charset="0"/>
                        <a:ea typeface="Calibri" charset="0"/>
                        <a:cs typeface="Calibri" charset="0"/>
                      </a:endParaRPr>
                    </a:p>
                  </a:txBody>
                  <a:tcPr marL="76200" marR="76200" marT="76200" marB="762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783080"/>
            <a:ext cx="10881360" cy="402336"/>
          </a:xfrm>
          <a:prstGeom prst="rect">
            <a:avLst/>
          </a:prstGeom>
          <a:solidFill>
            <a:srgbClr val="1E2761"/>
          </a:solidFill>
          <a:ln/>
        </p:spPr>
      </p:sp>
      <p:sp>
        <p:nvSpPr>
          <p:cNvPr id="6" name="Text 3"/>
          <p:cNvSpPr txBox="1"/>
          <p:nvPr/>
        </p:nvSpPr>
        <p:spPr>
          <a:xfrm>
            <a:off x="777240" y="1783080"/>
            <a:ext cx="2926080" cy="402336"/>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Workstream</a:t>
            </a:r>
            <a:endParaRPr lang="en-US" sz="1150" dirty="0"/>
          </a:p>
        </p:txBody>
      </p:sp>
      <p:sp>
        <p:nvSpPr>
          <p:cNvPr id="7" name="Text 4"/>
          <p:cNvSpPr txBox="1"/>
          <p:nvPr/>
        </p:nvSpPr>
        <p:spPr>
          <a:xfrm>
            <a:off x="3794760" y="1783080"/>
            <a:ext cx="2286000" cy="402336"/>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Question it closes</a:t>
            </a:r>
            <a:endParaRPr lang="en-US" sz="1150" dirty="0"/>
          </a:p>
        </p:txBody>
      </p:sp>
      <p:sp>
        <p:nvSpPr>
          <p:cNvPr id="8" name="Text 5"/>
          <p:cNvSpPr txBox="1"/>
          <p:nvPr/>
        </p:nvSpPr>
        <p:spPr>
          <a:xfrm>
            <a:off x="6172200" y="1783080"/>
            <a:ext cx="5120640" cy="402336"/>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Artefact produced</a:t>
            </a:r>
            <a:endParaRPr lang="en-US" sz="1150" dirty="0"/>
          </a:p>
        </p:txBody>
      </p:sp>
      <p:sp>
        <p:nvSpPr>
          <p:cNvPr id="9" name="Text 6"/>
          <p:cNvSpPr txBox="1"/>
          <p:nvPr/>
        </p:nvSpPr>
        <p:spPr>
          <a:xfrm>
            <a:off x="640080" y="6080760"/>
            <a:ext cx="10881360" cy="365760"/>
          </a:xfrm>
          <a:prstGeom prst="rect">
            <a:avLst/>
          </a:prstGeom>
          <a:noFill/>
          <a:ln/>
        </p:spPr>
        <p:txBody>
          <a:bodyPr wrap="square" lIns="0" tIns="0" rIns="0" bIns="0" rtlCol="0" anchor="ctr"/>
          <a:lstStyle/>
          <a:p>
            <a:pPr indent="0" marL="0">
              <a:buNone/>
            </a:pPr>
            <a:r>
              <a:rPr lang="en-US" sz="1250" i="1" dirty="0">
                <a:solidFill>
                  <a:srgbClr val="8792AB"/>
                </a:solidFill>
                <a:latin typeface="Calibri" pitchFamily="34" charset="0"/>
                <a:ea typeface="Calibri" pitchFamily="34" charset="-122"/>
                <a:cs typeface="Calibri" pitchFamily="34" charset="-120"/>
              </a:rPr>
              <a:t>Workstreams run in parallel; dependencies are resolved at the weekly checkpoint.</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The capacity question, answered in three parts.</a:t>
            </a:r>
            <a:endParaRPr lang="en-US" sz="1450" dirty="0"/>
          </a:p>
        </p:txBody>
      </p:sp>
      <p:sp>
        <p:nvSpPr>
          <p:cNvPr id="4" name="Shape 2"/>
          <p:cNvSpPr/>
          <p:nvPr/>
        </p:nvSpPr>
        <p:spPr>
          <a:xfrm>
            <a:off x="640080" y="1828800"/>
            <a:ext cx="3429000" cy="3383280"/>
          </a:xfrm>
          <a:prstGeom prst="roundRect">
            <a:avLst>
              <a:gd name="adj" fmla="val 3243"/>
            </a:avLst>
          </a:prstGeom>
          <a:solidFill>
            <a:srgbClr val="EDF2FA"/>
          </a:solidFill>
          <a:ln/>
        </p:spPr>
      </p:sp>
      <p:sp>
        <p:nvSpPr>
          <p:cNvPr id="5" name="Shape 3"/>
          <p:cNvSpPr/>
          <p:nvPr/>
        </p:nvSpPr>
        <p:spPr>
          <a:xfrm>
            <a:off x="640080" y="1828800"/>
            <a:ext cx="3429000" cy="658368"/>
          </a:xfrm>
          <a:prstGeom prst="rect">
            <a:avLst/>
          </a:prstGeom>
          <a:solidFill>
            <a:srgbClr val="1E2761"/>
          </a:solidFill>
          <a:ln/>
        </p:spPr>
      </p:sp>
      <p:sp>
        <p:nvSpPr>
          <p:cNvPr id="6" name="Text 4"/>
          <p:cNvSpPr txBox="1"/>
          <p:nvPr/>
        </p:nvSpPr>
        <p:spPr>
          <a:xfrm>
            <a:off x="914400"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dedicated team</a:t>
            </a:r>
            <a:endParaRPr lang="en-US" sz="1700" dirty="0"/>
          </a:p>
        </p:txBody>
      </p:sp>
      <p:sp>
        <p:nvSpPr>
          <p:cNvPr id="7" name="Text 5"/>
          <p:cNvSpPr txBox="1"/>
          <p:nvPr/>
        </p:nvSpPr>
        <p:spPr>
          <a:xfrm>
            <a:off x="914400"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Who works on FSI exclusively, across the three pillars?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roles and levels do they hold?</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What is realistically deliverable with them alone?</a:t>
            </a:r>
            <a:endParaRPr lang="en-US" sz="1250" dirty="0"/>
          </a:p>
        </p:txBody>
      </p:sp>
      <p:sp>
        <p:nvSpPr>
          <p:cNvPr id="8" name="Shape 6"/>
          <p:cNvSpPr/>
          <p:nvPr/>
        </p:nvSpPr>
        <p:spPr>
          <a:xfrm>
            <a:off x="4361688" y="1828800"/>
            <a:ext cx="3429000" cy="3383280"/>
          </a:xfrm>
          <a:prstGeom prst="roundRect">
            <a:avLst>
              <a:gd name="adj" fmla="val 3243"/>
            </a:avLst>
          </a:prstGeom>
          <a:solidFill>
            <a:srgbClr val="EDF2FA"/>
          </a:solidFill>
          <a:ln/>
        </p:spPr>
      </p:sp>
      <p:sp>
        <p:nvSpPr>
          <p:cNvPr id="9" name="Shape 7"/>
          <p:cNvSpPr/>
          <p:nvPr/>
        </p:nvSpPr>
        <p:spPr>
          <a:xfrm>
            <a:off x="4361688" y="1828800"/>
            <a:ext cx="3429000" cy="658368"/>
          </a:xfrm>
          <a:prstGeom prst="rect">
            <a:avLst/>
          </a:prstGeom>
          <a:solidFill>
            <a:srgbClr val="3E5C8A"/>
          </a:solidFill>
          <a:ln/>
        </p:spPr>
      </p:sp>
      <p:sp>
        <p:nvSpPr>
          <p:cNvPr id="10" name="Text 8"/>
          <p:cNvSpPr txBox="1"/>
          <p:nvPr/>
        </p:nvSpPr>
        <p:spPr>
          <a:xfrm>
            <a:off x="4636008"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Shared capacity</a:t>
            </a:r>
            <a:endParaRPr lang="en-US" sz="1700" dirty="0"/>
          </a:p>
        </p:txBody>
      </p:sp>
      <p:sp>
        <p:nvSpPr>
          <p:cNvPr id="11" name="Text 9"/>
          <p:cNvSpPr txBox="1"/>
          <p:nvPr/>
        </p:nvSpPr>
        <p:spPr>
          <a:xfrm>
            <a:off x="4636008"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resources are shared with other portfolios?</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much of their time can we count on?</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Which skills do we borrow rather than own?</a:t>
            </a:r>
            <a:endParaRPr lang="en-US" sz="1250" dirty="0"/>
          </a:p>
        </p:txBody>
      </p:sp>
      <p:sp>
        <p:nvSpPr>
          <p:cNvPr id="12" name="Shape 10"/>
          <p:cNvSpPr/>
          <p:nvPr/>
        </p:nvSpPr>
        <p:spPr>
          <a:xfrm>
            <a:off x="8083296" y="1828800"/>
            <a:ext cx="3429000" cy="3383280"/>
          </a:xfrm>
          <a:prstGeom prst="roundRect">
            <a:avLst>
              <a:gd name="adj" fmla="val 3243"/>
            </a:avLst>
          </a:prstGeom>
          <a:solidFill>
            <a:srgbClr val="EDF2FA"/>
          </a:solidFill>
          <a:ln/>
        </p:spPr>
      </p:sp>
      <p:sp>
        <p:nvSpPr>
          <p:cNvPr id="13" name="Shape 11"/>
          <p:cNvSpPr/>
          <p:nvPr/>
        </p:nvSpPr>
        <p:spPr>
          <a:xfrm>
            <a:off x="8083296" y="1828800"/>
            <a:ext cx="3429000" cy="658368"/>
          </a:xfrm>
          <a:prstGeom prst="rect">
            <a:avLst/>
          </a:prstGeom>
          <a:solidFill>
            <a:srgbClr val="1E2761"/>
          </a:solidFill>
          <a:ln/>
        </p:spPr>
      </p:sp>
      <p:sp>
        <p:nvSpPr>
          <p:cNvPr id="14" name="Text 12"/>
          <p:cNvSpPr txBox="1"/>
          <p:nvPr/>
        </p:nvSpPr>
        <p:spPr>
          <a:xfrm>
            <a:off x="8357616" y="1828800"/>
            <a:ext cx="2880360" cy="658368"/>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The gap to close</a:t>
            </a:r>
            <a:endParaRPr lang="en-US" sz="1700" dirty="0"/>
          </a:p>
        </p:txBody>
      </p:sp>
      <p:sp>
        <p:nvSpPr>
          <p:cNvPr id="15" name="Text 13"/>
          <p:cNvSpPr txBox="1"/>
          <p:nvPr/>
        </p:nvSpPr>
        <p:spPr>
          <a:xfrm>
            <a:off x="8357616" y="2697480"/>
            <a:ext cx="2880360" cy="228600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How many partners, directors and delivery staff are missing?</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Build, borrow or buy for each gap?</a:t>
            </a:r>
            <a:endParaRPr lang="en-US" sz="1250" dirty="0"/>
          </a:p>
          <a:p>
            <a:pPr marL="342900" indent="-342900">
              <a:spcAft>
                <a:spcPts val="1000"/>
              </a:spcAft>
              <a:buSzPct val="100000"/>
              <a:buChar char="•"/>
            </a:pPr>
            <a:r>
              <a:rPr lang="en-US" sz="1250" dirty="0">
                <a:solidFill>
                  <a:srgbClr val="44506B"/>
                </a:solidFill>
                <a:latin typeface="Calibri" pitchFamily="34" charset="0"/>
                <a:ea typeface="Calibri" pitchFamily="34" charset="-122"/>
                <a:cs typeface="Calibri" pitchFamily="34" charset="-120"/>
              </a:rPr>
              <a:t>By when, to support the targets we set?</a:t>
            </a:r>
            <a:endParaRPr lang="en-US" sz="1250" dirty="0"/>
          </a:p>
        </p:txBody>
      </p:sp>
      <p:sp>
        <p:nvSpPr>
          <p:cNvPr id="16" name="Shape 14"/>
          <p:cNvSpPr/>
          <p:nvPr/>
        </p:nvSpPr>
        <p:spPr>
          <a:xfrm>
            <a:off x="3566160" y="5440680"/>
            <a:ext cx="5029200" cy="301752"/>
          </a:xfrm>
          <a:prstGeom prst="roundRect">
            <a:avLst>
              <a:gd name="adj" fmla="val 48485"/>
            </a:avLst>
          </a:prstGeom>
          <a:solidFill>
            <a:srgbClr val="FFFFFF"/>
          </a:solidFill>
          <a:ln w="12700">
            <a:solidFill>
              <a:srgbClr val="B8862B"/>
            </a:solidFill>
            <a:prstDash val="solid"/>
          </a:ln>
        </p:spPr>
      </p:sp>
      <p:sp>
        <p:nvSpPr>
          <p:cNvPr id="17" name="Text 15"/>
          <p:cNvSpPr txBox="1"/>
          <p:nvPr/>
        </p:nvSpPr>
        <p:spPr>
          <a:xfrm>
            <a:off x="3566160" y="5440680"/>
            <a:ext cx="50292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names, numbers and dates to be defined in the cycle</a:t>
            </a:r>
            <a:endParaRPr lang="en-US" sz="1050" dirty="0"/>
          </a:p>
        </p:txBody>
      </p:sp>
      <p:sp>
        <p:nvSpPr>
          <p:cNvPr id="18" name="Text 16"/>
          <p:cNvSpPr txBox="1"/>
          <p:nvPr/>
        </p:nvSpPr>
        <p:spPr>
          <a:xfrm>
            <a:off x="640080" y="5989320"/>
            <a:ext cx="10881360" cy="365760"/>
          </a:xfrm>
          <a:prstGeom prst="rect">
            <a:avLst/>
          </a:prstGeom>
          <a:noFill/>
          <a:ln/>
        </p:spPr>
        <p:txBody>
          <a:bodyPr wrap="square" lIns="0" tIns="0" rIns="0" bIns="0" rtlCol="0" anchor="ctr"/>
          <a:lstStyle/>
          <a:p>
            <a:pPr indent="0" marL="0">
              <a:buNone/>
            </a:pPr>
            <a:r>
              <a:rPr lang="en-US" sz="1300" i="1" dirty="0">
                <a:solidFill>
                  <a:srgbClr val="3E5C8A"/>
                </a:solidFill>
                <a:latin typeface="Calibri" pitchFamily="34" charset="0"/>
                <a:ea typeface="Calibri" pitchFamily="34" charset="-122"/>
                <a:cs typeface="Calibri" pitchFamily="34" charset="-120"/>
              </a:rPr>
              <a:t>Talent is treated as a strategy output, not an afterthought: targets we cannot staff are not targets.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Eminence and positioning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How the market comes to know us for this.</a:t>
            </a:r>
            <a:endParaRPr lang="en-US" sz="1450" dirty="0"/>
          </a:p>
        </p:txBody>
      </p:sp>
      <p:sp>
        <p:nvSpPr>
          <p:cNvPr id="4" name="Shape 2"/>
          <p:cNvSpPr/>
          <p:nvPr/>
        </p:nvSpPr>
        <p:spPr>
          <a:xfrm>
            <a:off x="640080" y="1874520"/>
            <a:ext cx="2029968" cy="2651760"/>
          </a:xfrm>
          <a:prstGeom prst="roundRect">
            <a:avLst>
              <a:gd name="adj" fmla="val 5405"/>
            </a:avLst>
          </a:prstGeom>
          <a:solidFill>
            <a:srgbClr val="E4EBF7"/>
          </a:solidFill>
          <a:ln/>
        </p:spPr>
      </p:sp>
      <p:sp>
        <p:nvSpPr>
          <p:cNvPr id="5" name="Shape 3"/>
          <p:cNvSpPr/>
          <p:nvPr/>
        </p:nvSpPr>
        <p:spPr>
          <a:xfrm>
            <a:off x="868680" y="2103120"/>
            <a:ext cx="365760" cy="365760"/>
          </a:xfrm>
          <a:prstGeom prst="ellipse">
            <a:avLst/>
          </a:prstGeom>
          <a:solidFill>
            <a:srgbClr val="3E5C8A"/>
          </a:solidFill>
          <a:ln/>
        </p:spPr>
      </p:sp>
      <p:sp>
        <p:nvSpPr>
          <p:cNvPr id="6" name="Text 4"/>
          <p:cNvSpPr txBox="1"/>
          <p:nvPr/>
        </p:nvSpPr>
        <p:spPr>
          <a:xfrm>
            <a:off x="868680"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868680"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Published views</a:t>
            </a:r>
            <a:endParaRPr lang="en-US" sz="1500" dirty="0"/>
          </a:p>
        </p:txBody>
      </p:sp>
      <p:sp>
        <p:nvSpPr>
          <p:cNvPr id="8" name="Text 6"/>
          <p:cNvSpPr txBox="1"/>
          <p:nvPr/>
        </p:nvSpPr>
        <p:spPr>
          <a:xfrm>
            <a:off x="868680"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Points of view</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Articles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Benchmark reports</a:t>
            </a:r>
            <a:endParaRPr lang="en-US" sz="1150" dirty="0"/>
          </a:p>
        </p:txBody>
      </p:sp>
      <p:sp>
        <p:nvSpPr>
          <p:cNvPr id="9" name="Shape 7"/>
          <p:cNvSpPr/>
          <p:nvPr/>
        </p:nvSpPr>
        <p:spPr>
          <a:xfrm>
            <a:off x="2852928" y="1874520"/>
            <a:ext cx="2029968" cy="2651760"/>
          </a:xfrm>
          <a:prstGeom prst="roundRect">
            <a:avLst>
              <a:gd name="adj" fmla="val 5405"/>
            </a:avLst>
          </a:prstGeom>
          <a:solidFill>
            <a:srgbClr val="EDF2FA"/>
          </a:solidFill>
          <a:ln/>
        </p:spPr>
      </p:sp>
      <p:sp>
        <p:nvSpPr>
          <p:cNvPr id="10" name="Shape 8"/>
          <p:cNvSpPr/>
          <p:nvPr/>
        </p:nvSpPr>
        <p:spPr>
          <a:xfrm>
            <a:off x="3081528" y="2103120"/>
            <a:ext cx="365760" cy="365760"/>
          </a:xfrm>
          <a:prstGeom prst="ellipse">
            <a:avLst/>
          </a:prstGeom>
          <a:solidFill>
            <a:srgbClr val="3E5C8A"/>
          </a:solidFill>
          <a:ln/>
        </p:spPr>
      </p:sp>
      <p:sp>
        <p:nvSpPr>
          <p:cNvPr id="11" name="Text 9"/>
          <p:cNvSpPr txBox="1"/>
          <p:nvPr/>
        </p:nvSpPr>
        <p:spPr>
          <a:xfrm>
            <a:off x="3081528"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3081528"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Stages</a:t>
            </a:r>
            <a:endParaRPr lang="en-US" sz="1500" dirty="0"/>
          </a:p>
        </p:txBody>
      </p:sp>
      <p:sp>
        <p:nvSpPr>
          <p:cNvPr id="13" name="Text 11"/>
          <p:cNvSpPr txBox="1"/>
          <p:nvPr/>
        </p:nvSpPr>
        <p:spPr>
          <a:xfrm>
            <a:off x="3081528"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Industry conferences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Flagship FSI events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Panels and keynotes</a:t>
            </a:r>
            <a:endParaRPr lang="en-US" sz="1150" dirty="0"/>
          </a:p>
        </p:txBody>
      </p:sp>
      <p:sp>
        <p:nvSpPr>
          <p:cNvPr id="14" name="Shape 12"/>
          <p:cNvSpPr/>
          <p:nvPr/>
        </p:nvSpPr>
        <p:spPr>
          <a:xfrm>
            <a:off x="5065776" y="1874520"/>
            <a:ext cx="2029968" cy="2651760"/>
          </a:xfrm>
          <a:prstGeom prst="roundRect">
            <a:avLst>
              <a:gd name="adj" fmla="val 5405"/>
            </a:avLst>
          </a:prstGeom>
          <a:solidFill>
            <a:srgbClr val="E4EBF7"/>
          </a:solidFill>
          <a:ln/>
        </p:spPr>
      </p:sp>
      <p:sp>
        <p:nvSpPr>
          <p:cNvPr id="15" name="Shape 13"/>
          <p:cNvSpPr/>
          <p:nvPr/>
        </p:nvSpPr>
        <p:spPr>
          <a:xfrm>
            <a:off x="5294376" y="2103120"/>
            <a:ext cx="365760" cy="365760"/>
          </a:xfrm>
          <a:prstGeom prst="ellipse">
            <a:avLst/>
          </a:prstGeom>
          <a:solidFill>
            <a:srgbClr val="3E5C8A"/>
          </a:solidFill>
          <a:ln/>
        </p:spPr>
      </p:sp>
      <p:sp>
        <p:nvSpPr>
          <p:cNvPr id="16" name="Text 14"/>
          <p:cNvSpPr txBox="1"/>
          <p:nvPr/>
        </p:nvSpPr>
        <p:spPr>
          <a:xfrm>
            <a:off x="5294376"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5294376"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Client formats</a:t>
            </a:r>
            <a:endParaRPr lang="en-US" sz="1500" dirty="0"/>
          </a:p>
        </p:txBody>
      </p:sp>
      <p:sp>
        <p:nvSpPr>
          <p:cNvPr id="18" name="Text 16"/>
          <p:cNvSpPr txBox="1"/>
          <p:nvPr/>
        </p:nvSpPr>
        <p:spPr>
          <a:xfrm>
            <a:off x="5294376"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Executive workshops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Seminars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Roundtables</a:t>
            </a:r>
            <a:endParaRPr lang="en-US" sz="1150" dirty="0"/>
          </a:p>
        </p:txBody>
      </p:sp>
      <p:sp>
        <p:nvSpPr>
          <p:cNvPr id="19" name="Shape 17"/>
          <p:cNvSpPr/>
          <p:nvPr/>
        </p:nvSpPr>
        <p:spPr>
          <a:xfrm>
            <a:off x="7278624" y="1874520"/>
            <a:ext cx="2029968" cy="2651760"/>
          </a:xfrm>
          <a:prstGeom prst="roundRect">
            <a:avLst>
              <a:gd name="adj" fmla="val 5405"/>
            </a:avLst>
          </a:prstGeom>
          <a:solidFill>
            <a:srgbClr val="EDF2FA"/>
          </a:solidFill>
          <a:ln/>
        </p:spPr>
      </p:sp>
      <p:sp>
        <p:nvSpPr>
          <p:cNvPr id="20" name="Shape 18"/>
          <p:cNvSpPr/>
          <p:nvPr/>
        </p:nvSpPr>
        <p:spPr>
          <a:xfrm>
            <a:off x="7507224" y="2103120"/>
            <a:ext cx="365760" cy="365760"/>
          </a:xfrm>
          <a:prstGeom prst="ellipse">
            <a:avLst/>
          </a:prstGeom>
          <a:solidFill>
            <a:srgbClr val="3E5C8A"/>
          </a:solidFill>
          <a:ln/>
        </p:spPr>
      </p:sp>
      <p:sp>
        <p:nvSpPr>
          <p:cNvPr id="21" name="Text 19"/>
          <p:cNvSpPr txBox="1"/>
          <p:nvPr/>
        </p:nvSpPr>
        <p:spPr>
          <a:xfrm>
            <a:off x="7507224"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txBox="1"/>
          <p:nvPr/>
        </p:nvSpPr>
        <p:spPr>
          <a:xfrm>
            <a:off x="7507224"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Digital</a:t>
            </a:r>
            <a:endParaRPr lang="en-US" sz="1500" dirty="0"/>
          </a:p>
        </p:txBody>
      </p:sp>
      <p:sp>
        <p:nvSpPr>
          <p:cNvPr id="23" name="Text 21"/>
          <p:cNvSpPr txBox="1"/>
          <p:nvPr/>
        </p:nvSpPr>
        <p:spPr>
          <a:xfrm>
            <a:off x="7507224"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Podcasts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Webinars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Social presence</a:t>
            </a:r>
            <a:endParaRPr lang="en-US" sz="1150" dirty="0"/>
          </a:p>
        </p:txBody>
      </p:sp>
      <p:sp>
        <p:nvSpPr>
          <p:cNvPr id="24" name="Shape 22"/>
          <p:cNvSpPr/>
          <p:nvPr/>
        </p:nvSpPr>
        <p:spPr>
          <a:xfrm>
            <a:off x="9491472" y="1874520"/>
            <a:ext cx="2029968" cy="2651760"/>
          </a:xfrm>
          <a:prstGeom prst="roundRect">
            <a:avLst>
              <a:gd name="adj" fmla="val 5405"/>
            </a:avLst>
          </a:prstGeom>
          <a:solidFill>
            <a:srgbClr val="E4EBF7"/>
          </a:solidFill>
          <a:ln/>
        </p:spPr>
      </p:sp>
      <p:sp>
        <p:nvSpPr>
          <p:cNvPr id="25" name="Shape 23"/>
          <p:cNvSpPr/>
          <p:nvPr/>
        </p:nvSpPr>
        <p:spPr>
          <a:xfrm>
            <a:off x="9720072" y="2103120"/>
            <a:ext cx="365760" cy="365760"/>
          </a:xfrm>
          <a:prstGeom prst="ellipse">
            <a:avLst/>
          </a:prstGeom>
          <a:solidFill>
            <a:srgbClr val="3E5C8A"/>
          </a:solidFill>
          <a:ln/>
        </p:spPr>
      </p:sp>
      <p:sp>
        <p:nvSpPr>
          <p:cNvPr id="26" name="Text 24"/>
          <p:cNvSpPr txBox="1"/>
          <p:nvPr/>
        </p:nvSpPr>
        <p:spPr>
          <a:xfrm>
            <a:off x="9720072" y="21031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txBox="1"/>
          <p:nvPr/>
        </p:nvSpPr>
        <p:spPr>
          <a:xfrm>
            <a:off x="9720072" y="2578608"/>
            <a:ext cx="1691640" cy="36576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Partner-led</a:t>
            </a:r>
            <a:endParaRPr lang="en-US" sz="1500" dirty="0"/>
          </a:p>
        </p:txBody>
      </p:sp>
      <p:sp>
        <p:nvSpPr>
          <p:cNvPr id="28" name="Text 26"/>
          <p:cNvSpPr txBox="1"/>
          <p:nvPr/>
        </p:nvSpPr>
        <p:spPr>
          <a:xfrm>
            <a:off x="9720072" y="3063240"/>
            <a:ext cx="164592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Joint content</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Alliance events</a:t>
            </a:r>
            <a:endParaRPr lang="en-US" sz="1150" dirty="0"/>
          </a:p>
          <a:p>
            <a:pPr marL="342900" indent="-342900">
              <a:spcAft>
                <a:spcPts val="600"/>
              </a:spcAft>
              <a:buSzPct val="100000"/>
              <a:buChar char="•"/>
            </a:pPr>
            <a:r>
              <a:rPr lang="en-US" sz="1150" dirty="0">
                <a:solidFill>
                  <a:srgbClr val="44506B"/>
                </a:solidFill>
                <a:latin typeface="Calibri" pitchFamily="34" charset="0"/>
                <a:ea typeface="Calibri" pitchFamily="34" charset="-122"/>
                <a:cs typeface="Calibri" pitchFamily="34" charset="-120"/>
              </a:rPr>
              <a:t>Co-branded assets</a:t>
            </a:r>
            <a:endParaRPr lang="en-US" sz="1150" dirty="0"/>
          </a:p>
        </p:txBody>
      </p:sp>
      <p:sp>
        <p:nvSpPr>
          <p:cNvPr id="29" name="Shape 27"/>
          <p:cNvSpPr/>
          <p:nvPr/>
        </p:nvSpPr>
        <p:spPr>
          <a:xfrm>
            <a:off x="640080" y="4800600"/>
            <a:ext cx="10881360" cy="960120"/>
          </a:xfrm>
          <a:prstGeom prst="roundRect">
            <a:avLst>
              <a:gd name="adj" fmla="val 9524"/>
            </a:avLst>
          </a:prstGeom>
          <a:solidFill>
            <a:srgbClr val="1E2761"/>
          </a:solidFill>
          <a:ln/>
        </p:spPr>
      </p:sp>
      <p:sp>
        <p:nvSpPr>
          <p:cNvPr id="30" name="Text 28"/>
          <p:cNvSpPr txBox="1"/>
          <p:nvPr/>
        </p:nvSpPr>
        <p:spPr>
          <a:xfrm>
            <a:off x="914400" y="4800600"/>
            <a:ext cx="10332720" cy="96012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For each channel the plan must answer: which ones we commit to, at what frequency, who fronts them, which accounts they target, and how we measure the return.</a:t>
            </a:r>
            <a:endParaRPr lang="en-US" sz="1350" dirty="0"/>
          </a:p>
        </p:txBody>
      </p:sp>
      <p:sp>
        <p:nvSpPr>
          <p:cNvPr id="31" name="Shape 29"/>
          <p:cNvSpPr/>
          <p:nvPr/>
        </p:nvSpPr>
        <p:spPr>
          <a:xfrm>
            <a:off x="4251960" y="5989320"/>
            <a:ext cx="3657600" cy="301752"/>
          </a:xfrm>
          <a:prstGeom prst="roundRect">
            <a:avLst>
              <a:gd name="adj" fmla="val 48485"/>
            </a:avLst>
          </a:prstGeom>
          <a:solidFill>
            <a:srgbClr val="FFFFFF"/>
          </a:solidFill>
          <a:ln w="12700">
            <a:solidFill>
              <a:srgbClr val="B8862B"/>
            </a:solidFill>
            <a:prstDash val="solid"/>
          </a:ln>
        </p:spPr>
      </p:sp>
      <p:sp>
        <p:nvSpPr>
          <p:cNvPr id="32" name="Text 30"/>
          <p:cNvSpPr txBox="1"/>
          <p:nvPr/>
        </p:nvSpPr>
        <p:spPr>
          <a:xfrm>
            <a:off x="4251960" y="5989320"/>
            <a:ext cx="36576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channel mix to be defined in the cycle</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Alliances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Who we go to market with, and what we use each one for.</a:t>
            </a:r>
            <a:endParaRPr lang="en-US" sz="1450" dirty="0"/>
          </a:p>
        </p:txBody>
      </p:sp>
      <p:sp>
        <p:nvSpPr>
          <p:cNvPr id="4" name="Shape 2"/>
          <p:cNvSpPr/>
          <p:nvPr/>
        </p:nvSpPr>
        <p:spPr>
          <a:xfrm>
            <a:off x="640080" y="1828800"/>
            <a:ext cx="5120640" cy="2057400"/>
          </a:xfrm>
          <a:prstGeom prst="roundRect">
            <a:avLst>
              <a:gd name="adj" fmla="val 5333"/>
            </a:avLst>
          </a:prstGeom>
          <a:solidFill>
            <a:srgbClr val="EDF2FA"/>
          </a:solidFill>
          <a:ln/>
        </p:spPr>
      </p:sp>
      <p:sp>
        <p:nvSpPr>
          <p:cNvPr id="5" name="Text 3"/>
          <p:cNvSpPr txBox="1"/>
          <p:nvPr/>
        </p:nvSpPr>
        <p:spPr>
          <a:xfrm>
            <a:off x="914400" y="1965960"/>
            <a:ext cx="4572000" cy="365760"/>
          </a:xfrm>
          <a:prstGeom prst="rect">
            <a:avLst/>
          </a:prstGeom>
          <a:noFill/>
          <a:ln/>
        </p:spPr>
        <p:txBody>
          <a:bodyPr wrap="square" lIns="0" tIns="0" rIns="0" bIns="0" rtlCol="0" anchor="ctr"/>
          <a:lstStyle/>
          <a:p>
            <a:pPr indent="0" marL="0">
              <a:buNone/>
            </a:pPr>
            <a:r>
              <a:rPr lang="en-US" sz="1700" b="1" dirty="0">
                <a:solidFill>
                  <a:srgbClr val="1E2761"/>
                </a:solidFill>
                <a:latin typeface="Calibri" pitchFamily="34" charset="0"/>
                <a:ea typeface="Calibri" pitchFamily="34" charset="-122"/>
                <a:cs typeface="Calibri" pitchFamily="34" charset="-120"/>
              </a:rPr>
              <a:t>Primary alliances</a:t>
            </a:r>
            <a:endParaRPr lang="en-US" sz="1700" dirty="0"/>
          </a:p>
        </p:txBody>
      </p:sp>
      <p:sp>
        <p:nvSpPr>
          <p:cNvPr id="6" name="Shape 4"/>
          <p:cNvSpPr/>
          <p:nvPr/>
        </p:nvSpPr>
        <p:spPr>
          <a:xfrm>
            <a:off x="914400" y="2468880"/>
            <a:ext cx="1402080" cy="1051560"/>
          </a:xfrm>
          <a:prstGeom prst="roundRect">
            <a:avLst>
              <a:gd name="adj" fmla="val 8696"/>
            </a:avLst>
          </a:prstGeom>
          <a:solidFill>
            <a:srgbClr val="1E2761"/>
          </a:solidFill>
          <a:ln/>
        </p:spPr>
      </p:sp>
      <p:sp>
        <p:nvSpPr>
          <p:cNvPr id="7" name="Text 5"/>
          <p:cNvSpPr txBox="1"/>
          <p:nvPr/>
        </p:nvSpPr>
        <p:spPr>
          <a:xfrm>
            <a:off x="91440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Oracle</a:t>
            </a:r>
            <a:endParaRPr lang="en-US" sz="1700" dirty="0"/>
          </a:p>
        </p:txBody>
      </p:sp>
      <p:sp>
        <p:nvSpPr>
          <p:cNvPr id="8" name="Shape 6"/>
          <p:cNvSpPr/>
          <p:nvPr/>
        </p:nvSpPr>
        <p:spPr>
          <a:xfrm>
            <a:off x="2499360" y="2468880"/>
            <a:ext cx="1402080" cy="1051560"/>
          </a:xfrm>
          <a:prstGeom prst="roundRect">
            <a:avLst>
              <a:gd name="adj" fmla="val 8696"/>
            </a:avLst>
          </a:prstGeom>
          <a:solidFill>
            <a:srgbClr val="1E2761"/>
          </a:solidFill>
          <a:ln/>
        </p:spPr>
      </p:sp>
      <p:sp>
        <p:nvSpPr>
          <p:cNvPr id="9" name="Text 7"/>
          <p:cNvSpPr txBox="1"/>
          <p:nvPr/>
        </p:nvSpPr>
        <p:spPr>
          <a:xfrm>
            <a:off x="249936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Google</a:t>
            </a:r>
            <a:endParaRPr lang="en-US" sz="1700" dirty="0"/>
          </a:p>
        </p:txBody>
      </p:sp>
      <p:sp>
        <p:nvSpPr>
          <p:cNvPr id="10" name="Shape 8"/>
          <p:cNvSpPr/>
          <p:nvPr/>
        </p:nvSpPr>
        <p:spPr>
          <a:xfrm>
            <a:off x="4084320" y="2468880"/>
            <a:ext cx="1402080" cy="1051560"/>
          </a:xfrm>
          <a:prstGeom prst="roundRect">
            <a:avLst>
              <a:gd name="adj" fmla="val 8696"/>
            </a:avLst>
          </a:prstGeom>
          <a:solidFill>
            <a:srgbClr val="1E2761"/>
          </a:solidFill>
          <a:ln/>
        </p:spPr>
      </p:sp>
      <p:sp>
        <p:nvSpPr>
          <p:cNvPr id="11" name="Text 9"/>
          <p:cNvSpPr txBox="1"/>
          <p:nvPr/>
        </p:nvSpPr>
        <p:spPr>
          <a:xfrm>
            <a:off x="4084320" y="2468880"/>
            <a:ext cx="14020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Amazon</a:t>
            </a:r>
            <a:endParaRPr lang="en-US" sz="1700" dirty="0"/>
          </a:p>
        </p:txBody>
      </p:sp>
      <p:sp>
        <p:nvSpPr>
          <p:cNvPr id="12" name="Shape 10"/>
          <p:cNvSpPr/>
          <p:nvPr/>
        </p:nvSpPr>
        <p:spPr>
          <a:xfrm>
            <a:off x="6309360" y="1828800"/>
            <a:ext cx="5212080" cy="2057400"/>
          </a:xfrm>
          <a:prstGeom prst="roundRect">
            <a:avLst>
              <a:gd name="adj" fmla="val 5333"/>
            </a:avLst>
          </a:prstGeom>
          <a:solidFill>
            <a:srgbClr val="EDF2FA"/>
          </a:solidFill>
          <a:ln/>
        </p:spPr>
      </p:sp>
      <p:sp>
        <p:nvSpPr>
          <p:cNvPr id="13" name="Text 11"/>
          <p:cNvSpPr txBox="1"/>
          <p:nvPr/>
        </p:nvSpPr>
        <p:spPr>
          <a:xfrm>
            <a:off x="6583680" y="1965960"/>
            <a:ext cx="4663440" cy="365760"/>
          </a:xfrm>
          <a:prstGeom prst="rect">
            <a:avLst/>
          </a:prstGeom>
          <a:noFill/>
          <a:ln/>
        </p:spPr>
        <p:txBody>
          <a:bodyPr wrap="square" lIns="0" tIns="0" rIns="0" bIns="0" rtlCol="0" anchor="ctr"/>
          <a:lstStyle/>
          <a:p>
            <a:pPr indent="0" marL="0">
              <a:buNone/>
            </a:pPr>
            <a:r>
              <a:rPr lang="en-US" sz="1700" b="1" dirty="0">
                <a:solidFill>
                  <a:srgbClr val="3E5C8A"/>
                </a:solidFill>
                <a:latin typeface="Calibri" pitchFamily="34" charset="0"/>
                <a:ea typeface="Calibri" pitchFamily="34" charset="-122"/>
                <a:cs typeface="Calibri" pitchFamily="34" charset="-120"/>
              </a:rPr>
              <a:t>Specialised alliances</a:t>
            </a:r>
            <a:endParaRPr lang="en-US" sz="1700" dirty="0"/>
          </a:p>
        </p:txBody>
      </p:sp>
      <p:sp>
        <p:nvSpPr>
          <p:cNvPr id="14" name="Shape 12"/>
          <p:cNvSpPr/>
          <p:nvPr/>
        </p:nvSpPr>
        <p:spPr>
          <a:xfrm>
            <a:off x="6583680" y="2468880"/>
            <a:ext cx="2240280" cy="1051560"/>
          </a:xfrm>
          <a:prstGeom prst="roundRect">
            <a:avLst>
              <a:gd name="adj" fmla="val 8696"/>
            </a:avLst>
          </a:prstGeom>
          <a:solidFill>
            <a:srgbClr val="3E5C8A"/>
          </a:solidFill>
          <a:ln/>
        </p:spPr>
      </p:sp>
      <p:sp>
        <p:nvSpPr>
          <p:cNvPr id="15" name="Text 13"/>
          <p:cNvSpPr txBox="1"/>
          <p:nvPr/>
        </p:nvSpPr>
        <p:spPr>
          <a:xfrm>
            <a:off x="6583680" y="2468880"/>
            <a:ext cx="22402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Temenos</a:t>
            </a:r>
            <a:endParaRPr lang="en-US" sz="1700" dirty="0"/>
          </a:p>
        </p:txBody>
      </p:sp>
      <p:sp>
        <p:nvSpPr>
          <p:cNvPr id="16" name="Shape 14"/>
          <p:cNvSpPr/>
          <p:nvPr/>
        </p:nvSpPr>
        <p:spPr>
          <a:xfrm>
            <a:off x="9006840" y="2468880"/>
            <a:ext cx="2240280" cy="1051560"/>
          </a:xfrm>
          <a:prstGeom prst="roundRect">
            <a:avLst>
              <a:gd name="adj" fmla="val 8696"/>
            </a:avLst>
          </a:prstGeom>
          <a:solidFill>
            <a:srgbClr val="3E5C8A"/>
          </a:solidFill>
          <a:ln/>
        </p:spPr>
      </p:sp>
      <p:sp>
        <p:nvSpPr>
          <p:cNvPr id="17" name="Text 15"/>
          <p:cNvSpPr txBox="1"/>
          <p:nvPr/>
        </p:nvSpPr>
        <p:spPr>
          <a:xfrm>
            <a:off x="9006840" y="2468880"/>
            <a:ext cx="2240280" cy="105156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Intellect</a:t>
            </a:r>
            <a:endParaRPr lang="en-US" sz="1700" dirty="0"/>
          </a:p>
        </p:txBody>
      </p:sp>
      <p:sp>
        <p:nvSpPr>
          <p:cNvPr id="18" name="Shape 16"/>
          <p:cNvSpPr/>
          <p:nvPr/>
        </p:nvSpPr>
        <p:spPr>
          <a:xfrm>
            <a:off x="4023360" y="4023360"/>
            <a:ext cx="4114800" cy="301752"/>
          </a:xfrm>
          <a:prstGeom prst="roundRect">
            <a:avLst>
              <a:gd name="adj" fmla="val 48485"/>
            </a:avLst>
          </a:prstGeom>
          <a:solidFill>
            <a:srgbClr val="FFFFFF"/>
          </a:solidFill>
          <a:ln w="12700">
            <a:solidFill>
              <a:srgbClr val="B8862B"/>
            </a:solidFill>
            <a:prstDash val="solid"/>
          </a:ln>
        </p:spPr>
      </p:sp>
      <p:sp>
        <p:nvSpPr>
          <p:cNvPr id="19" name="Text 17"/>
          <p:cNvSpPr txBox="1"/>
          <p:nvPr/>
        </p:nvSpPr>
        <p:spPr>
          <a:xfrm>
            <a:off x="4023360" y="4023360"/>
            <a:ext cx="4114800" cy="301752"/>
          </a:xfrm>
          <a:prstGeom prst="rect">
            <a:avLst/>
          </a:prstGeom>
          <a:noFill/>
          <a:ln/>
        </p:spPr>
        <p:txBody>
          <a:bodyPr wrap="square" lIns="0" tIns="0" rIns="0" bIns="0" rtlCol="0" anchor="ctr"/>
          <a:lstStyle/>
          <a:p>
            <a:pPr algn="ctr" indent="0" marL="0">
              <a:buNone/>
            </a:pPr>
            <a:r>
              <a:rPr lang="en-US" sz="1050" i="1" dirty="0">
                <a:solidFill>
                  <a:srgbClr val="B8862B"/>
                </a:solidFill>
                <a:latin typeface="Calibri" pitchFamily="34" charset="0"/>
                <a:ea typeface="Calibri" pitchFamily="34" charset="-122"/>
                <a:cs typeface="Calibri" pitchFamily="34" charset="-120"/>
              </a:rPr>
              <a:t>further alliances to be defined in the cycle</a:t>
            </a:r>
            <a:endParaRPr lang="en-US" sz="1050" dirty="0"/>
          </a:p>
        </p:txBody>
      </p:sp>
      <p:sp>
        <p:nvSpPr>
          <p:cNvPr id="20" name="Text 18"/>
          <p:cNvSpPr txBox="1"/>
          <p:nvPr/>
        </p:nvSpPr>
        <p:spPr>
          <a:xfrm>
            <a:off x="640080" y="4617720"/>
            <a:ext cx="10881360" cy="320040"/>
          </a:xfrm>
          <a:prstGeom prst="rect">
            <a:avLst/>
          </a:prstGeom>
          <a:noFill/>
          <a:ln/>
        </p:spPr>
        <p:txBody>
          <a:bodyPr wrap="square" lIns="0" tIns="0" rIns="0" bIns="0" rtlCol="0" anchor="ctr"/>
          <a:lstStyle/>
          <a:p>
            <a:pPr indent="0" marL="0">
              <a:buNone/>
            </a:pPr>
            <a:r>
              <a:rPr lang="en-US" sz="1400" b="1" dirty="0">
                <a:solidFill>
                  <a:srgbClr val="16203A"/>
                </a:solidFill>
                <a:latin typeface="Calibri" pitchFamily="34" charset="0"/>
                <a:ea typeface="Calibri" pitchFamily="34" charset="-122"/>
                <a:cs typeface="Calibri" pitchFamily="34" charset="-120"/>
              </a:rPr>
              <a:t>For every alliance the plan must answer:</a:t>
            </a:r>
            <a:endParaRPr lang="en-US" sz="1400" dirty="0"/>
          </a:p>
        </p:txBody>
      </p:sp>
      <p:sp>
        <p:nvSpPr>
          <p:cNvPr id="21" name="Shape 19"/>
          <p:cNvSpPr/>
          <p:nvPr/>
        </p:nvSpPr>
        <p:spPr>
          <a:xfrm>
            <a:off x="640080" y="5029200"/>
            <a:ext cx="310896" cy="310896"/>
          </a:xfrm>
          <a:prstGeom prst="ellipse">
            <a:avLst/>
          </a:prstGeom>
          <a:solidFill>
            <a:srgbClr val="1E2761"/>
          </a:solidFill>
          <a:ln/>
        </p:spPr>
      </p:sp>
      <p:sp>
        <p:nvSpPr>
          <p:cNvPr id="22" name="Text 20"/>
          <p:cNvSpPr txBox="1"/>
          <p:nvPr/>
        </p:nvSpPr>
        <p:spPr>
          <a:xfrm>
            <a:off x="640080" y="5029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3" name="Text 21"/>
          <p:cNvSpPr txBox="1"/>
          <p:nvPr/>
        </p:nvSpPr>
        <p:spPr>
          <a:xfrm>
            <a:off x="1097280" y="49926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we leverage it for</a:t>
            </a:r>
            <a:endParaRPr lang="en-US" sz="1300" dirty="0"/>
          </a:p>
        </p:txBody>
      </p:sp>
      <p:sp>
        <p:nvSpPr>
          <p:cNvPr id="24" name="Text 22"/>
          <p:cNvSpPr txBox="1"/>
          <p:nvPr/>
        </p:nvSpPr>
        <p:spPr>
          <a:xfrm>
            <a:off x="3474720" y="49926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Which propositions and which pillars it sits behind</a:t>
            </a:r>
            <a:endParaRPr lang="en-US" sz="1200" dirty="0"/>
          </a:p>
        </p:txBody>
      </p:sp>
      <p:sp>
        <p:nvSpPr>
          <p:cNvPr id="25" name="Shape 23"/>
          <p:cNvSpPr/>
          <p:nvPr/>
        </p:nvSpPr>
        <p:spPr>
          <a:xfrm>
            <a:off x="6263640" y="5029200"/>
            <a:ext cx="310896" cy="310896"/>
          </a:xfrm>
          <a:prstGeom prst="ellipse">
            <a:avLst/>
          </a:prstGeom>
          <a:solidFill>
            <a:srgbClr val="1E2761"/>
          </a:solidFill>
          <a:ln/>
        </p:spPr>
      </p:sp>
      <p:sp>
        <p:nvSpPr>
          <p:cNvPr id="26" name="Text 24"/>
          <p:cNvSpPr txBox="1"/>
          <p:nvPr/>
        </p:nvSpPr>
        <p:spPr>
          <a:xfrm>
            <a:off x="6263640" y="5029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7" name="Text 25"/>
          <p:cNvSpPr txBox="1"/>
          <p:nvPr/>
        </p:nvSpPr>
        <p:spPr>
          <a:xfrm>
            <a:off x="6720840" y="49926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the relationship is</a:t>
            </a:r>
            <a:endParaRPr lang="en-US" sz="1300" dirty="0"/>
          </a:p>
        </p:txBody>
      </p:sp>
      <p:sp>
        <p:nvSpPr>
          <p:cNvPr id="28" name="Text 26"/>
          <p:cNvSpPr txBox="1"/>
          <p:nvPr/>
        </p:nvSpPr>
        <p:spPr>
          <a:xfrm>
            <a:off x="9098280" y="49926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Co-sell, resell, delivery partner or referral</a:t>
            </a:r>
            <a:endParaRPr lang="en-US" sz="1200" dirty="0"/>
          </a:p>
        </p:txBody>
      </p:sp>
      <p:sp>
        <p:nvSpPr>
          <p:cNvPr id="29" name="Shape 27"/>
          <p:cNvSpPr/>
          <p:nvPr/>
        </p:nvSpPr>
        <p:spPr>
          <a:xfrm>
            <a:off x="640080" y="5715000"/>
            <a:ext cx="310896" cy="310896"/>
          </a:xfrm>
          <a:prstGeom prst="ellipse">
            <a:avLst/>
          </a:prstGeom>
          <a:solidFill>
            <a:srgbClr val="3E5C8A"/>
          </a:solidFill>
          <a:ln/>
        </p:spPr>
      </p:sp>
      <p:sp>
        <p:nvSpPr>
          <p:cNvPr id="30" name="Text 28"/>
          <p:cNvSpPr txBox="1"/>
          <p:nvPr/>
        </p:nvSpPr>
        <p:spPr>
          <a:xfrm>
            <a:off x="640080" y="57150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1" name="Text 29"/>
          <p:cNvSpPr txBox="1"/>
          <p:nvPr/>
        </p:nvSpPr>
        <p:spPr>
          <a:xfrm>
            <a:off x="1097280" y="5678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Where it opens doors</a:t>
            </a:r>
            <a:endParaRPr lang="en-US" sz="1300" dirty="0"/>
          </a:p>
        </p:txBody>
      </p:sp>
      <p:sp>
        <p:nvSpPr>
          <p:cNvPr id="32" name="Text 30"/>
          <p:cNvSpPr txBox="1"/>
          <p:nvPr/>
        </p:nvSpPr>
        <p:spPr>
          <a:xfrm>
            <a:off x="3474720" y="56784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Which markets and which accounts it gives us access to</a:t>
            </a:r>
            <a:endParaRPr lang="en-US" sz="1200" dirty="0"/>
          </a:p>
        </p:txBody>
      </p:sp>
      <p:sp>
        <p:nvSpPr>
          <p:cNvPr id="33" name="Shape 31"/>
          <p:cNvSpPr/>
          <p:nvPr/>
        </p:nvSpPr>
        <p:spPr>
          <a:xfrm>
            <a:off x="6263640" y="5715000"/>
            <a:ext cx="310896" cy="310896"/>
          </a:xfrm>
          <a:prstGeom prst="ellipse">
            <a:avLst/>
          </a:prstGeom>
          <a:solidFill>
            <a:srgbClr val="3E5C8A"/>
          </a:solidFill>
          <a:ln/>
        </p:spPr>
      </p:sp>
      <p:sp>
        <p:nvSpPr>
          <p:cNvPr id="34" name="Text 32"/>
          <p:cNvSpPr txBox="1"/>
          <p:nvPr/>
        </p:nvSpPr>
        <p:spPr>
          <a:xfrm>
            <a:off x="6263640" y="57150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5" name="Text 33"/>
          <p:cNvSpPr txBox="1"/>
          <p:nvPr/>
        </p:nvSpPr>
        <p:spPr>
          <a:xfrm>
            <a:off x="6720840" y="5678424"/>
            <a:ext cx="2377440" cy="320040"/>
          </a:xfrm>
          <a:prstGeom prst="rect">
            <a:avLst/>
          </a:prstGeom>
          <a:noFill/>
          <a:ln/>
        </p:spPr>
        <p:txBody>
          <a:bodyPr wrap="square" lIns="0" tIns="0" rIns="0" bIns="0" rtlCol="0" anchor="ctr"/>
          <a:lstStyle/>
          <a:p>
            <a:pPr indent="0" marL="0">
              <a:buNone/>
            </a:pPr>
            <a:r>
              <a:rPr lang="en-US" sz="1300" b="1" dirty="0">
                <a:solidFill>
                  <a:srgbClr val="16203A"/>
                </a:solidFill>
                <a:latin typeface="Calibri" pitchFamily="34" charset="0"/>
                <a:ea typeface="Calibri" pitchFamily="34" charset="-122"/>
                <a:cs typeface="Calibri" pitchFamily="34" charset="-120"/>
              </a:rPr>
              <a:t>What it costs us</a:t>
            </a:r>
            <a:endParaRPr lang="en-US" sz="1300" dirty="0"/>
          </a:p>
        </p:txBody>
      </p:sp>
      <p:sp>
        <p:nvSpPr>
          <p:cNvPr id="36" name="Text 34"/>
          <p:cNvSpPr txBox="1"/>
          <p:nvPr/>
        </p:nvSpPr>
        <p:spPr>
          <a:xfrm>
            <a:off x="9098280" y="5678424"/>
            <a:ext cx="2514600" cy="411480"/>
          </a:xfrm>
          <a:prstGeom prst="rect">
            <a:avLst/>
          </a:prstGeom>
          <a:noFill/>
          <a:ln/>
        </p:spPr>
        <p:txBody>
          <a:bodyPr wrap="square" lIns="0" tIns="0" rIns="0" bIns="0" rtlCol="0" anchor="ctr"/>
          <a:lstStyle/>
          <a:p>
            <a:pPr indent="0" marL="0">
              <a:buNone/>
            </a:pPr>
            <a:r>
              <a:rPr lang="en-US" sz="1200" dirty="0">
                <a:solidFill>
                  <a:srgbClr val="44506B"/>
                </a:solidFill>
                <a:latin typeface="Calibri" pitchFamily="34" charset="0"/>
                <a:ea typeface="Calibri" pitchFamily="34" charset="-122"/>
                <a:cs typeface="Calibri" pitchFamily="34" charset="-120"/>
              </a:rPr>
              <a:t>Certifications, credentials and commitments they expect back</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The three-week journey</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Three weeks, three gates, one decision.</a:t>
            </a:r>
            <a:endParaRPr lang="en-US" sz="1450" dirty="0"/>
          </a:p>
        </p:txBody>
      </p:sp>
      <p:sp>
        <p:nvSpPr>
          <p:cNvPr id="4" name="Shape 2"/>
          <p:cNvSpPr/>
          <p:nvPr/>
        </p:nvSpPr>
        <p:spPr>
          <a:xfrm>
            <a:off x="640080" y="1828800"/>
            <a:ext cx="3429000" cy="3840480"/>
          </a:xfrm>
          <a:prstGeom prst="roundRect">
            <a:avLst>
              <a:gd name="adj" fmla="val 3200"/>
            </a:avLst>
          </a:prstGeom>
          <a:solidFill>
            <a:srgbClr val="EDF2FA"/>
          </a:solidFill>
          <a:ln/>
        </p:spPr>
      </p:sp>
      <p:sp>
        <p:nvSpPr>
          <p:cNvPr id="5" name="Shape 3"/>
          <p:cNvSpPr/>
          <p:nvPr/>
        </p:nvSpPr>
        <p:spPr>
          <a:xfrm>
            <a:off x="640080" y="1828800"/>
            <a:ext cx="3429000" cy="685800"/>
          </a:xfrm>
          <a:prstGeom prst="rect">
            <a:avLst/>
          </a:prstGeom>
          <a:solidFill>
            <a:srgbClr val="1E2761"/>
          </a:solidFill>
          <a:ln/>
        </p:spPr>
      </p:sp>
      <p:sp>
        <p:nvSpPr>
          <p:cNvPr id="6" name="Text 4"/>
          <p:cNvSpPr txBox="1"/>
          <p:nvPr/>
        </p:nvSpPr>
        <p:spPr>
          <a:xfrm>
            <a:off x="914400"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1  ·  Frame</a:t>
            </a:r>
            <a:endParaRPr lang="en-US" sz="1800" dirty="0"/>
          </a:p>
        </p:txBody>
      </p:sp>
      <p:sp>
        <p:nvSpPr>
          <p:cNvPr id="7" name="Text 5"/>
          <p:cNvSpPr txBox="1"/>
          <p:nvPr/>
        </p:nvSpPr>
        <p:spPr>
          <a:xfrm>
            <a:off x="914400"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current position and credentials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Prioritise markets and segments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account longlist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Draft the proposition catalogue</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Baseline the team we have today</a:t>
            </a:r>
            <a:endParaRPr lang="en-US" sz="1250" dirty="0"/>
          </a:p>
        </p:txBody>
      </p:sp>
      <p:sp>
        <p:nvSpPr>
          <p:cNvPr id="8" name="Text 6"/>
          <p:cNvSpPr txBox="1"/>
          <p:nvPr/>
        </p:nvSpPr>
        <p:spPr>
          <a:xfrm>
            <a:off x="914400"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market and segment priorities</a:t>
            </a:r>
            <a:endParaRPr lang="en-US" sz="1200" dirty="0"/>
          </a:p>
        </p:txBody>
      </p:sp>
      <p:sp>
        <p:nvSpPr>
          <p:cNvPr id="9" name="Text 7"/>
          <p:cNvSpPr txBox="1"/>
          <p:nvPr/>
        </p:nvSpPr>
        <p:spPr>
          <a:xfrm>
            <a:off x="4096512"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4361688" y="1828800"/>
            <a:ext cx="3429000" cy="3840480"/>
          </a:xfrm>
          <a:prstGeom prst="roundRect">
            <a:avLst>
              <a:gd name="adj" fmla="val 3200"/>
            </a:avLst>
          </a:prstGeom>
          <a:solidFill>
            <a:srgbClr val="EDF2FA"/>
          </a:solidFill>
          <a:ln/>
        </p:spPr>
      </p:sp>
      <p:sp>
        <p:nvSpPr>
          <p:cNvPr id="11" name="Shape 9"/>
          <p:cNvSpPr/>
          <p:nvPr/>
        </p:nvSpPr>
        <p:spPr>
          <a:xfrm>
            <a:off x="4361688" y="1828800"/>
            <a:ext cx="3429000" cy="685800"/>
          </a:xfrm>
          <a:prstGeom prst="rect">
            <a:avLst/>
          </a:prstGeom>
          <a:solidFill>
            <a:srgbClr val="3E5C8A"/>
          </a:solidFill>
          <a:ln/>
        </p:spPr>
      </p:sp>
      <p:sp>
        <p:nvSpPr>
          <p:cNvPr id="12" name="Text 10"/>
          <p:cNvSpPr txBox="1"/>
          <p:nvPr/>
        </p:nvSpPr>
        <p:spPr>
          <a:xfrm>
            <a:off x="4636008"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2  ·  Define</a:t>
            </a:r>
            <a:endParaRPr lang="en-US" sz="1800" dirty="0"/>
          </a:p>
        </p:txBody>
      </p:sp>
      <p:sp>
        <p:nvSpPr>
          <p:cNvPr id="13" name="Text 11"/>
          <p:cNvSpPr txBox="1"/>
          <p:nvPr/>
        </p:nvSpPr>
        <p:spPr>
          <a:xfrm>
            <a:off x="4636008"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Lock propositions and permitted variants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Benchmark deal sizes and pricing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Shortlist target accounts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Map alliances to offerings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Size the capacity each target implies</a:t>
            </a:r>
            <a:endParaRPr lang="en-US" sz="1250" dirty="0"/>
          </a:p>
        </p:txBody>
      </p:sp>
      <p:sp>
        <p:nvSpPr>
          <p:cNvPr id="14" name="Text 12"/>
          <p:cNvSpPr txBox="1"/>
          <p:nvPr/>
        </p:nvSpPr>
        <p:spPr>
          <a:xfrm>
            <a:off x="4636008"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agreed catalogue and shortlist</a:t>
            </a:r>
            <a:endParaRPr lang="en-US" sz="1200" dirty="0"/>
          </a:p>
        </p:txBody>
      </p:sp>
      <p:sp>
        <p:nvSpPr>
          <p:cNvPr id="15" name="Text 13"/>
          <p:cNvSpPr txBox="1"/>
          <p:nvPr/>
        </p:nvSpPr>
        <p:spPr>
          <a:xfrm>
            <a:off x="7818120" y="3474720"/>
            <a:ext cx="256032" cy="457200"/>
          </a:xfrm>
          <a:prstGeom prst="rect">
            <a:avLst/>
          </a:prstGeom>
          <a:noFill/>
          <a:ln/>
        </p:spPr>
        <p:txBody>
          <a:bodyPr wrap="square" lIns="0" tIns="0" rIns="0" bIns="0" rtlCol="0" anchor="ctr"/>
          <a:lstStyle/>
          <a:p>
            <a:pPr algn="ctr" indent="0" marL="0">
              <a:buNone/>
            </a:pPr>
            <a:r>
              <a:rPr lang="en-US" sz="2000" dirty="0">
                <a:solidFill>
                  <a:srgbClr val="8792A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8083296" y="1828800"/>
            <a:ext cx="3429000" cy="3840480"/>
          </a:xfrm>
          <a:prstGeom prst="roundRect">
            <a:avLst>
              <a:gd name="adj" fmla="val 3200"/>
            </a:avLst>
          </a:prstGeom>
          <a:solidFill>
            <a:srgbClr val="EDF2FA"/>
          </a:solidFill>
          <a:ln/>
        </p:spPr>
      </p:sp>
      <p:sp>
        <p:nvSpPr>
          <p:cNvPr id="17" name="Shape 15"/>
          <p:cNvSpPr/>
          <p:nvPr/>
        </p:nvSpPr>
        <p:spPr>
          <a:xfrm>
            <a:off x="8083296" y="1828800"/>
            <a:ext cx="3429000" cy="685800"/>
          </a:xfrm>
          <a:prstGeom prst="rect">
            <a:avLst/>
          </a:prstGeom>
          <a:solidFill>
            <a:srgbClr val="1E2761"/>
          </a:solidFill>
          <a:ln/>
        </p:spPr>
      </p:sp>
      <p:sp>
        <p:nvSpPr>
          <p:cNvPr id="18" name="Text 16"/>
          <p:cNvSpPr txBox="1"/>
          <p:nvPr/>
        </p:nvSpPr>
        <p:spPr>
          <a:xfrm>
            <a:off x="8357616" y="1828800"/>
            <a:ext cx="2926080" cy="68580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Week 3  ·  Commit</a:t>
            </a:r>
            <a:endParaRPr lang="en-US" sz="1800" dirty="0"/>
          </a:p>
        </p:txBody>
      </p:sp>
      <p:sp>
        <p:nvSpPr>
          <p:cNvPr id="19" name="Text 17"/>
          <p:cNvSpPr txBox="1"/>
          <p:nvPr/>
        </p:nvSpPr>
        <p:spPr>
          <a:xfrm>
            <a:off x="8357616" y="2743200"/>
            <a:ext cx="2880360" cy="192024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revenue targets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Assign an owner to every account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Agree the team model and recruitment plan</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Set the eminence calendar</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Build the activation plan and sign off</a:t>
            </a:r>
            <a:endParaRPr lang="en-US" sz="1250" dirty="0"/>
          </a:p>
        </p:txBody>
      </p:sp>
      <p:sp>
        <p:nvSpPr>
          <p:cNvPr id="20" name="Text 18"/>
          <p:cNvSpPr txBox="1"/>
          <p:nvPr/>
        </p:nvSpPr>
        <p:spPr>
          <a:xfrm>
            <a:off x="8357616" y="4892040"/>
            <a:ext cx="2880360" cy="594360"/>
          </a:xfrm>
          <a:prstGeom prst="rect">
            <a:avLst/>
          </a:prstGeom>
          <a:noFill/>
          <a:ln/>
        </p:spPr>
        <p:txBody>
          <a:bodyPr wrap="square" lIns="0" tIns="0" rIns="0" bIns="0" rtlCol="0" anchor="ctr"/>
          <a:lstStyle/>
          <a:p>
            <a:pPr indent="0" marL="0">
              <a:buNone/>
            </a:pPr>
            <a:r>
              <a:rPr lang="en-US" sz="1200" b="1" dirty="0">
                <a:solidFill>
                  <a:srgbClr val="B8862B"/>
                </a:solidFill>
                <a:latin typeface="Calibri" pitchFamily="34" charset="0"/>
                <a:ea typeface="Calibri" pitchFamily="34" charset="-122"/>
                <a:cs typeface="Calibri" pitchFamily="34" charset="-120"/>
              </a:rPr>
              <a:t>Gate: strategy signed off</a:t>
            </a:r>
            <a:endParaRPr lang="en-US" sz="1200" dirty="0"/>
          </a:p>
        </p:txBody>
      </p:sp>
      <p:sp>
        <p:nvSpPr>
          <p:cNvPr id="21" name="Text 19"/>
          <p:cNvSpPr txBox="1"/>
          <p:nvPr/>
        </p:nvSpPr>
        <p:spPr>
          <a:xfrm>
            <a:off x="640080" y="5852160"/>
            <a:ext cx="5486400" cy="32004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Start date to be defined at kick-off.</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Governing the execution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What happens after sign-off, so the strategy does not drift.</a:t>
            </a:r>
            <a:endParaRPr lang="en-US" sz="1450" dirty="0"/>
          </a:p>
        </p:txBody>
      </p:sp>
      <p:sp>
        <p:nvSpPr>
          <p:cNvPr id="4" name="Shape 2"/>
          <p:cNvSpPr/>
          <p:nvPr/>
        </p:nvSpPr>
        <p:spPr>
          <a:xfrm>
            <a:off x="640080" y="1828800"/>
            <a:ext cx="3429000" cy="2286000"/>
          </a:xfrm>
          <a:prstGeom prst="roundRect">
            <a:avLst>
              <a:gd name="adj" fmla="val 4800"/>
            </a:avLst>
          </a:prstGeom>
          <a:solidFill>
            <a:srgbClr val="EDF2FA"/>
          </a:solidFill>
          <a:ln/>
        </p:spPr>
      </p:sp>
      <p:sp>
        <p:nvSpPr>
          <p:cNvPr id="5" name="Shape 3"/>
          <p:cNvSpPr/>
          <p:nvPr/>
        </p:nvSpPr>
        <p:spPr>
          <a:xfrm>
            <a:off x="640080" y="1828800"/>
            <a:ext cx="3429000" cy="621792"/>
          </a:xfrm>
          <a:prstGeom prst="rect">
            <a:avLst/>
          </a:prstGeom>
          <a:solidFill>
            <a:srgbClr val="1E2761"/>
          </a:solidFill>
          <a:ln/>
        </p:spPr>
      </p:sp>
      <p:sp>
        <p:nvSpPr>
          <p:cNvPr id="6" name="Text 4"/>
          <p:cNvSpPr txBox="1"/>
          <p:nvPr/>
        </p:nvSpPr>
        <p:spPr>
          <a:xfrm>
            <a:off x="914400"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Weekly</a:t>
            </a:r>
            <a:endParaRPr lang="en-US" sz="1700" dirty="0"/>
          </a:p>
        </p:txBody>
      </p:sp>
      <p:sp>
        <p:nvSpPr>
          <p:cNvPr id="7" name="Text 5"/>
          <p:cNvSpPr txBox="1"/>
          <p:nvPr/>
        </p:nvSpPr>
        <p:spPr>
          <a:xfrm>
            <a:off x="914400"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Pursuit review: live deals, blockers, next actions</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Owned by the account owners</a:t>
            </a:r>
            <a:endParaRPr lang="en-US" sz="1250" dirty="0"/>
          </a:p>
        </p:txBody>
      </p:sp>
      <p:sp>
        <p:nvSpPr>
          <p:cNvPr id="8" name="Shape 6"/>
          <p:cNvSpPr/>
          <p:nvPr/>
        </p:nvSpPr>
        <p:spPr>
          <a:xfrm>
            <a:off x="4361688" y="1828800"/>
            <a:ext cx="3429000" cy="2286000"/>
          </a:xfrm>
          <a:prstGeom prst="roundRect">
            <a:avLst>
              <a:gd name="adj" fmla="val 4800"/>
            </a:avLst>
          </a:prstGeom>
          <a:solidFill>
            <a:srgbClr val="EDF2FA"/>
          </a:solidFill>
          <a:ln/>
        </p:spPr>
      </p:sp>
      <p:sp>
        <p:nvSpPr>
          <p:cNvPr id="9" name="Shape 7"/>
          <p:cNvSpPr/>
          <p:nvPr/>
        </p:nvSpPr>
        <p:spPr>
          <a:xfrm>
            <a:off x="4361688" y="1828800"/>
            <a:ext cx="3429000" cy="621792"/>
          </a:xfrm>
          <a:prstGeom prst="rect">
            <a:avLst/>
          </a:prstGeom>
          <a:solidFill>
            <a:srgbClr val="3E5C8A"/>
          </a:solidFill>
          <a:ln/>
        </p:spPr>
      </p:sp>
      <p:sp>
        <p:nvSpPr>
          <p:cNvPr id="10" name="Text 8"/>
          <p:cNvSpPr txBox="1"/>
          <p:nvPr/>
        </p:nvSpPr>
        <p:spPr>
          <a:xfrm>
            <a:off x="4636008"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Monthly</a:t>
            </a:r>
            <a:endParaRPr lang="en-US" sz="1700" dirty="0"/>
          </a:p>
        </p:txBody>
      </p:sp>
      <p:sp>
        <p:nvSpPr>
          <p:cNvPr id="11" name="Text 9"/>
          <p:cNvSpPr txBox="1"/>
          <p:nvPr/>
        </p:nvSpPr>
        <p:spPr>
          <a:xfrm>
            <a:off x="4636008"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Pipeline and coverage against target by market and offering</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Talent and alliance actions tracked to date</a:t>
            </a:r>
            <a:endParaRPr lang="en-US" sz="1250" dirty="0"/>
          </a:p>
        </p:txBody>
      </p:sp>
      <p:sp>
        <p:nvSpPr>
          <p:cNvPr id="12" name="Shape 10"/>
          <p:cNvSpPr/>
          <p:nvPr/>
        </p:nvSpPr>
        <p:spPr>
          <a:xfrm>
            <a:off x="8083296" y="1828800"/>
            <a:ext cx="3429000" cy="2286000"/>
          </a:xfrm>
          <a:prstGeom prst="roundRect">
            <a:avLst>
              <a:gd name="adj" fmla="val 4800"/>
            </a:avLst>
          </a:prstGeom>
          <a:solidFill>
            <a:srgbClr val="EDF2FA"/>
          </a:solidFill>
          <a:ln/>
        </p:spPr>
      </p:sp>
      <p:sp>
        <p:nvSpPr>
          <p:cNvPr id="13" name="Shape 11"/>
          <p:cNvSpPr/>
          <p:nvPr/>
        </p:nvSpPr>
        <p:spPr>
          <a:xfrm>
            <a:off x="8083296" y="1828800"/>
            <a:ext cx="3429000" cy="621792"/>
          </a:xfrm>
          <a:prstGeom prst="rect">
            <a:avLst/>
          </a:prstGeom>
          <a:solidFill>
            <a:srgbClr val="1E2761"/>
          </a:solidFill>
          <a:ln/>
        </p:spPr>
      </p:sp>
      <p:sp>
        <p:nvSpPr>
          <p:cNvPr id="14" name="Text 12"/>
          <p:cNvSpPr txBox="1"/>
          <p:nvPr/>
        </p:nvSpPr>
        <p:spPr>
          <a:xfrm>
            <a:off x="8357616" y="1828800"/>
            <a:ext cx="2880360" cy="62179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Quarterly</a:t>
            </a:r>
            <a:endParaRPr lang="en-US" sz="1700" dirty="0"/>
          </a:p>
        </p:txBody>
      </p:sp>
      <p:sp>
        <p:nvSpPr>
          <p:cNvPr id="15" name="Text 13"/>
          <p:cNvSpPr txBox="1"/>
          <p:nvPr/>
        </p:nvSpPr>
        <p:spPr>
          <a:xfrm>
            <a:off x="8357616" y="2651760"/>
            <a:ext cx="2880360" cy="137160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Strategy review: are the choices still right?</a:t>
            </a:r>
            <a:endParaRPr lang="en-US" sz="1250" dirty="0"/>
          </a:p>
          <a:p>
            <a:pPr marL="342900" indent="-342900">
              <a:spcAft>
                <a:spcPts val="900"/>
              </a:spcAft>
              <a:buSzPct val="100000"/>
              <a:buChar char="•"/>
            </a:pPr>
            <a:r>
              <a:rPr lang="en-US" sz="1250" dirty="0">
                <a:solidFill>
                  <a:srgbClr val="44506B"/>
                </a:solidFill>
                <a:latin typeface="Calibri" pitchFamily="34" charset="0"/>
                <a:ea typeface="Calibri" pitchFamily="34" charset="-122"/>
                <a:cs typeface="Calibri" pitchFamily="34" charset="-120"/>
              </a:rPr>
              <a:t>Reset targets, accounts and eminence calendar</a:t>
            </a:r>
            <a:endParaRPr lang="en-US" sz="1250" dirty="0"/>
          </a:p>
        </p:txBody>
      </p:sp>
      <p:sp>
        <p:nvSpPr>
          <p:cNvPr id="16" name="Text 14"/>
          <p:cNvSpPr txBox="1"/>
          <p:nvPr/>
        </p:nvSpPr>
        <p:spPr>
          <a:xfrm>
            <a:off x="640080" y="4343400"/>
            <a:ext cx="10881360" cy="320040"/>
          </a:xfrm>
          <a:prstGeom prst="rect">
            <a:avLst/>
          </a:prstGeom>
          <a:noFill/>
          <a:ln/>
        </p:spPr>
        <p:txBody>
          <a:bodyPr wrap="square" lIns="0" tIns="0" rIns="0" bIns="0" rtlCol="0" anchor="ctr"/>
          <a:lstStyle/>
          <a:p>
            <a:pPr indent="0" marL="0">
              <a:buNone/>
            </a:pPr>
            <a:r>
              <a:rPr lang="en-US" sz="1500" b="1" dirty="0">
                <a:solidFill>
                  <a:srgbClr val="16203A"/>
                </a:solidFill>
                <a:latin typeface="Calibri" pitchFamily="34" charset="0"/>
                <a:ea typeface="Calibri" pitchFamily="34" charset="-122"/>
                <a:cs typeface="Calibri" pitchFamily="34" charset="-120"/>
              </a:rPr>
              <a:t>The scorecard behind the rhythm</a:t>
            </a:r>
            <a:endParaRPr lang="en-US" sz="1500" dirty="0"/>
          </a:p>
        </p:txBody>
      </p:sp>
      <p:sp>
        <p:nvSpPr>
          <p:cNvPr id="17" name="Shape 15"/>
          <p:cNvSpPr/>
          <p:nvPr/>
        </p:nvSpPr>
        <p:spPr>
          <a:xfrm>
            <a:off x="640080" y="4754880"/>
            <a:ext cx="3429000" cy="548640"/>
          </a:xfrm>
          <a:prstGeom prst="roundRect">
            <a:avLst>
              <a:gd name="adj" fmla="val 13333"/>
            </a:avLst>
          </a:prstGeom>
          <a:solidFill>
            <a:srgbClr val="F2F6FC"/>
          </a:solidFill>
          <a:ln/>
        </p:spPr>
      </p:sp>
      <p:sp>
        <p:nvSpPr>
          <p:cNvPr id="18" name="Text 16"/>
          <p:cNvSpPr txBox="1"/>
          <p:nvPr/>
        </p:nvSpPr>
        <p:spPr>
          <a:xfrm>
            <a:off x="804672"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Commercial</a:t>
            </a:r>
            <a:endParaRPr lang="en-US" sz="1150" dirty="0"/>
          </a:p>
        </p:txBody>
      </p:sp>
      <p:sp>
        <p:nvSpPr>
          <p:cNvPr id="19" name="Text 17"/>
          <p:cNvSpPr txBox="1"/>
          <p:nvPr/>
        </p:nvSpPr>
        <p:spPr>
          <a:xfrm>
            <a:off x="2057400"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Pipeline, wins, revenue against target</a:t>
            </a:r>
            <a:endParaRPr lang="en-US" sz="1050" dirty="0"/>
          </a:p>
        </p:txBody>
      </p:sp>
      <p:sp>
        <p:nvSpPr>
          <p:cNvPr id="20" name="Shape 18"/>
          <p:cNvSpPr/>
          <p:nvPr/>
        </p:nvSpPr>
        <p:spPr>
          <a:xfrm>
            <a:off x="4361688" y="4754880"/>
            <a:ext cx="3429000" cy="548640"/>
          </a:xfrm>
          <a:prstGeom prst="roundRect">
            <a:avLst>
              <a:gd name="adj" fmla="val 13333"/>
            </a:avLst>
          </a:prstGeom>
          <a:solidFill>
            <a:srgbClr val="F2F6FC"/>
          </a:solidFill>
          <a:ln/>
        </p:spPr>
      </p:sp>
      <p:sp>
        <p:nvSpPr>
          <p:cNvPr id="21" name="Text 19"/>
          <p:cNvSpPr txBox="1"/>
          <p:nvPr/>
        </p:nvSpPr>
        <p:spPr>
          <a:xfrm>
            <a:off x="4526280"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Mix</a:t>
            </a:r>
            <a:endParaRPr lang="en-US" sz="1150" dirty="0"/>
          </a:p>
        </p:txBody>
      </p:sp>
      <p:sp>
        <p:nvSpPr>
          <p:cNvPr id="22" name="Text 20"/>
          <p:cNvSpPr txBox="1"/>
          <p:nvPr/>
        </p:nvSpPr>
        <p:spPr>
          <a:xfrm>
            <a:off x="5779008"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Share of revenue from integrated propositions</a:t>
            </a:r>
            <a:endParaRPr lang="en-US" sz="1050" dirty="0"/>
          </a:p>
        </p:txBody>
      </p:sp>
      <p:sp>
        <p:nvSpPr>
          <p:cNvPr id="23" name="Shape 21"/>
          <p:cNvSpPr/>
          <p:nvPr/>
        </p:nvSpPr>
        <p:spPr>
          <a:xfrm>
            <a:off x="8083296" y="4754880"/>
            <a:ext cx="3429000" cy="548640"/>
          </a:xfrm>
          <a:prstGeom prst="roundRect">
            <a:avLst>
              <a:gd name="adj" fmla="val 13333"/>
            </a:avLst>
          </a:prstGeom>
          <a:solidFill>
            <a:srgbClr val="F2F6FC"/>
          </a:solidFill>
          <a:ln/>
        </p:spPr>
      </p:sp>
      <p:sp>
        <p:nvSpPr>
          <p:cNvPr id="24" name="Text 22"/>
          <p:cNvSpPr txBox="1"/>
          <p:nvPr/>
        </p:nvSpPr>
        <p:spPr>
          <a:xfrm>
            <a:off x="8247888" y="4754880"/>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Coverage</a:t>
            </a:r>
            <a:endParaRPr lang="en-US" sz="1150" dirty="0"/>
          </a:p>
        </p:txBody>
      </p:sp>
      <p:sp>
        <p:nvSpPr>
          <p:cNvPr id="25" name="Text 23"/>
          <p:cNvSpPr txBox="1"/>
          <p:nvPr/>
        </p:nvSpPr>
        <p:spPr>
          <a:xfrm>
            <a:off x="9500616" y="4754880"/>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Target accounts with an active owner and contact</a:t>
            </a:r>
            <a:endParaRPr lang="en-US" sz="1050" dirty="0"/>
          </a:p>
        </p:txBody>
      </p:sp>
      <p:sp>
        <p:nvSpPr>
          <p:cNvPr id="26" name="Shape 24"/>
          <p:cNvSpPr/>
          <p:nvPr/>
        </p:nvSpPr>
        <p:spPr>
          <a:xfrm>
            <a:off x="640080" y="5413248"/>
            <a:ext cx="3429000" cy="548640"/>
          </a:xfrm>
          <a:prstGeom prst="roundRect">
            <a:avLst>
              <a:gd name="adj" fmla="val 13333"/>
            </a:avLst>
          </a:prstGeom>
          <a:solidFill>
            <a:srgbClr val="F2F6FC"/>
          </a:solidFill>
          <a:ln/>
        </p:spPr>
      </p:sp>
      <p:sp>
        <p:nvSpPr>
          <p:cNvPr id="27" name="Text 25"/>
          <p:cNvSpPr txBox="1"/>
          <p:nvPr/>
        </p:nvSpPr>
        <p:spPr>
          <a:xfrm>
            <a:off x="804672"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Capacity</a:t>
            </a:r>
            <a:endParaRPr lang="en-US" sz="1150" dirty="0"/>
          </a:p>
        </p:txBody>
      </p:sp>
      <p:sp>
        <p:nvSpPr>
          <p:cNvPr id="28" name="Text 26"/>
          <p:cNvSpPr txBox="1"/>
          <p:nvPr/>
        </p:nvSpPr>
        <p:spPr>
          <a:xfrm>
            <a:off x="2057400"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Recruitment against plan, utilisation</a:t>
            </a:r>
            <a:endParaRPr lang="en-US" sz="1050" dirty="0"/>
          </a:p>
        </p:txBody>
      </p:sp>
      <p:sp>
        <p:nvSpPr>
          <p:cNvPr id="29" name="Shape 27"/>
          <p:cNvSpPr/>
          <p:nvPr/>
        </p:nvSpPr>
        <p:spPr>
          <a:xfrm>
            <a:off x="4361688" y="5413248"/>
            <a:ext cx="3429000" cy="548640"/>
          </a:xfrm>
          <a:prstGeom prst="roundRect">
            <a:avLst>
              <a:gd name="adj" fmla="val 13333"/>
            </a:avLst>
          </a:prstGeom>
          <a:solidFill>
            <a:srgbClr val="F2F6FC"/>
          </a:solidFill>
          <a:ln/>
        </p:spPr>
      </p:sp>
      <p:sp>
        <p:nvSpPr>
          <p:cNvPr id="30" name="Text 28"/>
          <p:cNvSpPr txBox="1"/>
          <p:nvPr/>
        </p:nvSpPr>
        <p:spPr>
          <a:xfrm>
            <a:off x="4526280"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Alliances</a:t>
            </a:r>
            <a:endParaRPr lang="en-US" sz="1150" dirty="0"/>
          </a:p>
        </p:txBody>
      </p:sp>
      <p:sp>
        <p:nvSpPr>
          <p:cNvPr id="31" name="Text 29"/>
          <p:cNvSpPr txBox="1"/>
          <p:nvPr/>
        </p:nvSpPr>
        <p:spPr>
          <a:xfrm>
            <a:off x="5779008"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Partner-sourced pipeline and joint pursuits</a:t>
            </a:r>
            <a:endParaRPr lang="en-US" sz="1050" dirty="0"/>
          </a:p>
        </p:txBody>
      </p:sp>
      <p:sp>
        <p:nvSpPr>
          <p:cNvPr id="32" name="Shape 30"/>
          <p:cNvSpPr/>
          <p:nvPr/>
        </p:nvSpPr>
        <p:spPr>
          <a:xfrm>
            <a:off x="8083296" y="5413248"/>
            <a:ext cx="3429000" cy="548640"/>
          </a:xfrm>
          <a:prstGeom prst="roundRect">
            <a:avLst>
              <a:gd name="adj" fmla="val 13333"/>
            </a:avLst>
          </a:prstGeom>
          <a:solidFill>
            <a:srgbClr val="F2F6FC"/>
          </a:solidFill>
          <a:ln/>
        </p:spPr>
      </p:sp>
      <p:sp>
        <p:nvSpPr>
          <p:cNvPr id="33" name="Text 31"/>
          <p:cNvSpPr txBox="1"/>
          <p:nvPr/>
        </p:nvSpPr>
        <p:spPr>
          <a:xfrm>
            <a:off x="8247888" y="5413248"/>
            <a:ext cx="1234440" cy="54864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Eminence</a:t>
            </a:r>
            <a:endParaRPr lang="en-US" sz="1150" dirty="0"/>
          </a:p>
        </p:txBody>
      </p:sp>
      <p:sp>
        <p:nvSpPr>
          <p:cNvPr id="34" name="Text 32"/>
          <p:cNvSpPr txBox="1"/>
          <p:nvPr/>
        </p:nvSpPr>
        <p:spPr>
          <a:xfrm>
            <a:off x="9500616" y="5413248"/>
            <a:ext cx="1874520" cy="548640"/>
          </a:xfrm>
          <a:prstGeom prst="rect">
            <a:avLst/>
          </a:prstGeom>
          <a:noFill/>
          <a:ln/>
        </p:spPr>
        <p:txBody>
          <a:bodyPr wrap="square" lIns="0" tIns="0" rIns="0" bIns="0" rtlCol="0" anchor="ctr"/>
          <a:lstStyle/>
          <a:p>
            <a:pPr indent="0" marL="0">
              <a:buNone/>
            </a:pPr>
            <a:r>
              <a:rPr lang="en-US" sz="1050" dirty="0">
                <a:solidFill>
                  <a:srgbClr val="44506B"/>
                </a:solidFill>
                <a:latin typeface="Calibri" pitchFamily="34" charset="0"/>
                <a:ea typeface="Calibri" pitchFamily="34" charset="-122"/>
                <a:cs typeface="Calibri" pitchFamily="34" charset="-120"/>
              </a:rPr>
              <a:t>Activities delivered, meetings they created</a:t>
            </a:r>
            <a:endParaRPr lang="en-US" sz="1050" dirty="0"/>
          </a:p>
        </p:txBody>
      </p:sp>
      <p:sp>
        <p:nvSpPr>
          <p:cNvPr id="35" name="Text 33"/>
          <p:cNvSpPr txBox="1"/>
          <p:nvPr/>
        </p:nvSpPr>
        <p:spPr>
          <a:xfrm>
            <a:off x="640080" y="6172200"/>
            <a:ext cx="10881360" cy="320040"/>
          </a:xfrm>
          <a:prstGeom prst="rect">
            <a:avLst/>
          </a:prstGeom>
          <a:noFill/>
          <a:ln/>
        </p:spPr>
        <p:txBody>
          <a:bodyPr wrap="square" lIns="0" tIns="0" rIns="0" bIns="0" rtlCol="0" anchor="ctr"/>
          <a:lstStyle/>
          <a:p>
            <a:pPr indent="0" marL="0">
              <a:buNone/>
            </a:pPr>
            <a:r>
              <a:rPr lang="en-US" sz="1150" i="1" dirty="0">
                <a:solidFill>
                  <a:srgbClr val="8792AB"/>
                </a:solidFill>
                <a:latin typeface="Calibri" pitchFamily="34" charset="0"/>
                <a:ea typeface="Calibri" pitchFamily="34" charset="-122"/>
                <a:cs typeface="Calibri" pitchFamily="34" charset="-120"/>
              </a:rPr>
              <a:t>Decision rights, chair and escalation route to be set at sign-off.</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2011680" y="4023360"/>
            <a:ext cx="5669280" cy="5669280"/>
          </a:xfrm>
          <a:prstGeom prst="ellipse">
            <a:avLst/>
          </a:prstGeom>
          <a:solidFill>
            <a:srgbClr val="3E5C8A">
              <a:alpha val="45000"/>
            </a:srgbClr>
          </a:solidFill>
          <a:ln/>
        </p:spPr>
      </p:sp>
      <p:sp>
        <p:nvSpPr>
          <p:cNvPr id="3" name="Text 1"/>
          <p:cNvSpPr txBox="1"/>
          <p:nvPr/>
        </p:nvSpPr>
        <p:spPr>
          <a:xfrm>
            <a:off x="731520" y="54864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How we run the cycle</a:t>
            </a:r>
            <a:endParaRPr lang="en-US" sz="3600" dirty="0"/>
          </a:p>
        </p:txBody>
      </p:sp>
      <p:sp>
        <p:nvSpPr>
          <p:cNvPr id="4" name="Text 2"/>
          <p:cNvSpPr txBox="1"/>
          <p:nvPr/>
        </p:nvSpPr>
        <p:spPr>
          <a:xfrm>
            <a:off x="731520" y="1298448"/>
            <a:ext cx="10058400" cy="411480"/>
          </a:xfrm>
          <a:prstGeom prst="rect">
            <a:avLst/>
          </a:prstGeom>
          <a:noFill/>
          <a:ln/>
        </p:spPr>
        <p:txBody>
          <a:bodyPr wrap="square" lIns="0" tIns="0" rIns="0" bIns="0"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Cadence, inputs and the decisions we are asking for.</a:t>
            </a:r>
            <a:endParaRPr lang="en-US" sz="1450" dirty="0"/>
          </a:p>
        </p:txBody>
      </p:sp>
      <p:sp>
        <p:nvSpPr>
          <p:cNvPr id="5" name="Shape 3"/>
          <p:cNvSpPr/>
          <p:nvPr/>
        </p:nvSpPr>
        <p:spPr>
          <a:xfrm>
            <a:off x="731520" y="1965960"/>
            <a:ext cx="384048" cy="384048"/>
          </a:xfrm>
          <a:prstGeom prst="ellipse">
            <a:avLst/>
          </a:prstGeom>
          <a:solidFill>
            <a:srgbClr val="3E5C8A"/>
          </a:solidFill>
          <a:ln/>
        </p:spPr>
      </p:sp>
      <p:sp>
        <p:nvSpPr>
          <p:cNvPr id="6" name="Text 4"/>
          <p:cNvSpPr txBox="1"/>
          <p:nvPr/>
        </p:nvSpPr>
        <p:spPr>
          <a:xfrm>
            <a:off x="73152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28016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Cadence</a:t>
            </a:r>
            <a:endParaRPr lang="en-US" sz="1900" dirty="0"/>
          </a:p>
        </p:txBody>
      </p:sp>
      <p:sp>
        <p:nvSpPr>
          <p:cNvPr id="8" name="Text 6"/>
          <p:cNvSpPr txBox="1"/>
          <p:nvPr/>
        </p:nvSpPr>
        <p:spPr>
          <a:xfrm>
            <a:off x="73152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Kick-off to confirm scope and principles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Weekly working session per workstream</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Checkpoint at the end of each week</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Sign-off session in week three</a:t>
            </a:r>
            <a:endParaRPr lang="en-US" sz="1300" dirty="0"/>
          </a:p>
        </p:txBody>
      </p:sp>
      <p:sp>
        <p:nvSpPr>
          <p:cNvPr id="9" name="Shape 7"/>
          <p:cNvSpPr/>
          <p:nvPr/>
        </p:nvSpPr>
        <p:spPr>
          <a:xfrm>
            <a:off x="4434840" y="1965960"/>
            <a:ext cx="384048" cy="384048"/>
          </a:xfrm>
          <a:prstGeom prst="ellipse">
            <a:avLst/>
          </a:prstGeom>
          <a:solidFill>
            <a:srgbClr val="3E5C8A"/>
          </a:solidFill>
          <a:ln/>
        </p:spPr>
      </p:sp>
      <p:sp>
        <p:nvSpPr>
          <p:cNvPr id="10" name="Text 8"/>
          <p:cNvSpPr txBox="1"/>
          <p:nvPr/>
        </p:nvSpPr>
        <p:spPr>
          <a:xfrm>
            <a:off x="443484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498348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Inputs we need</a:t>
            </a:r>
            <a:endParaRPr lang="en-US" sz="1900" dirty="0"/>
          </a:p>
        </p:txBody>
      </p:sp>
      <p:sp>
        <p:nvSpPr>
          <p:cNvPr id="12" name="Text 10"/>
          <p:cNvSpPr txBox="1"/>
          <p:nvPr/>
        </p:nvSpPr>
        <p:spPr>
          <a:xfrm>
            <a:off x="443484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Current pipeline and revenue by pillar</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Existing account relationships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and partnership status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Delivery capacity and skills view</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Historical deal values</a:t>
            </a:r>
            <a:endParaRPr lang="en-US" sz="1300" dirty="0"/>
          </a:p>
        </p:txBody>
      </p:sp>
      <p:sp>
        <p:nvSpPr>
          <p:cNvPr id="13" name="Shape 11"/>
          <p:cNvSpPr/>
          <p:nvPr/>
        </p:nvSpPr>
        <p:spPr>
          <a:xfrm>
            <a:off x="8138160" y="1965960"/>
            <a:ext cx="384048" cy="384048"/>
          </a:xfrm>
          <a:prstGeom prst="ellipse">
            <a:avLst/>
          </a:prstGeom>
          <a:solidFill>
            <a:srgbClr val="3E5C8A"/>
          </a:solidFill>
          <a:ln/>
        </p:spPr>
      </p:sp>
      <p:sp>
        <p:nvSpPr>
          <p:cNvPr id="14" name="Text 12"/>
          <p:cNvSpPr txBox="1"/>
          <p:nvPr/>
        </p:nvSpPr>
        <p:spPr>
          <a:xfrm>
            <a:off x="8138160" y="1965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8686800" y="1947672"/>
            <a:ext cx="292608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Decisions requested</a:t>
            </a:r>
            <a:endParaRPr lang="en-US" sz="1900" dirty="0"/>
          </a:p>
        </p:txBody>
      </p:sp>
      <p:sp>
        <p:nvSpPr>
          <p:cNvPr id="16" name="Text 14"/>
          <p:cNvSpPr txBox="1"/>
          <p:nvPr/>
        </p:nvSpPr>
        <p:spPr>
          <a:xfrm>
            <a:off x="8138160" y="2606040"/>
            <a:ext cx="3291840" cy="2560320"/>
          </a:xfrm>
          <a:prstGeom prst="rect">
            <a:avLst/>
          </a:prstGeom>
          <a:noFill/>
          <a:ln/>
        </p:spPr>
        <p:txBody>
          <a:bodyPr wrap="square" lIns="0" tIns="0" rIns="0" bIns="0" rtlCol="0" anchor="ctr"/>
          <a:lstStyle/>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The ambition, in numbers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Priority markets and segments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Target account list</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Revenue and margin targets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Account ownership</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Alliance priorities</a:t>
            </a:r>
            <a:endParaRPr lang="en-US" sz="1300" dirty="0"/>
          </a:p>
          <a:p>
            <a:pPr marL="342900" indent="-342900">
              <a:spcAft>
                <a:spcPts val="1000"/>
              </a:spcAft>
              <a:buSzPct val="100000"/>
              <a:buChar char="•"/>
            </a:pPr>
            <a:r>
              <a:rPr lang="en-US" sz="1300" dirty="0">
                <a:solidFill>
                  <a:srgbClr val="CADCFC"/>
                </a:solidFill>
                <a:latin typeface="Calibri" pitchFamily="34" charset="0"/>
                <a:ea typeface="Calibri" pitchFamily="34" charset="-122"/>
                <a:cs typeface="Calibri" pitchFamily="34" charset="-120"/>
              </a:rPr>
              <a:t>Investment and hiring asks</a:t>
            </a:r>
            <a:endParaRPr lang="en-US" sz="1300" dirty="0"/>
          </a:p>
        </p:txBody>
      </p:sp>
      <p:sp>
        <p:nvSpPr>
          <p:cNvPr id="17" name="Text 15"/>
          <p:cNvSpPr txBox="1"/>
          <p:nvPr/>
        </p:nvSpPr>
        <p:spPr>
          <a:xfrm>
            <a:off x="731520" y="5852160"/>
            <a:ext cx="6400800" cy="365760"/>
          </a:xfrm>
          <a:prstGeom prst="rect">
            <a:avLst/>
          </a:prstGeom>
          <a:noFill/>
          <a:ln/>
        </p:spPr>
        <p:txBody>
          <a:bodyPr wrap="square" lIns="0" tIns="0" rIns="0" bIns="0" rtlCol="0" anchor="ctr"/>
          <a:lstStyle/>
          <a:p>
            <a:pPr indent="0" marL="0">
              <a:buNone/>
            </a:pPr>
            <a:r>
              <a:rPr lang="en-US" sz="1200" i="1" dirty="0">
                <a:solidFill>
                  <a:srgbClr val="9AA7C4"/>
                </a:solidFill>
                <a:latin typeface="Calibri" pitchFamily="34" charset="0"/>
                <a:ea typeface="Calibri" pitchFamily="34" charset="-122"/>
                <a:cs typeface="Calibri" pitchFamily="34" charset="-120"/>
              </a:rPr>
              <a:t>Owners, dates and participants are set at kick-off.</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778240" y="3291840"/>
            <a:ext cx="4754880" cy="4754880"/>
          </a:xfrm>
          <a:prstGeom prst="ellipse">
            <a:avLst/>
          </a:prstGeom>
          <a:solidFill>
            <a:srgbClr val="3E5C8A">
              <a:alpha val="50000"/>
            </a:srgbClr>
          </a:solidFill>
          <a:ln/>
        </p:spPr>
      </p:sp>
      <p:sp>
        <p:nvSpPr>
          <p:cNvPr id="3" name="Text 1"/>
          <p:cNvSpPr txBox="1"/>
          <p:nvPr/>
        </p:nvSpPr>
        <p:spPr>
          <a:xfrm>
            <a:off x="822960" y="2377440"/>
            <a:ext cx="7315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4" name="Text 2"/>
          <p:cNvSpPr txBox="1"/>
          <p:nvPr/>
        </p:nvSpPr>
        <p:spPr>
          <a:xfrm>
            <a:off x="868680" y="3291840"/>
            <a:ext cx="777240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Blank templates for every artefact the cycle produces</a:t>
            </a:r>
            <a:endParaRPr lang="en-US" sz="1700" dirty="0"/>
          </a:p>
        </p:txBody>
      </p:sp>
      <p:sp>
        <p:nvSpPr>
          <p:cNvPr id="5" name="Text 3"/>
          <p:cNvSpPr txBox="1"/>
          <p:nvPr/>
        </p:nvSpPr>
        <p:spPr>
          <a:xfrm>
            <a:off x="868680" y="3886200"/>
            <a:ext cx="7772400" cy="548640"/>
          </a:xfrm>
          <a:prstGeom prst="rect">
            <a:avLst/>
          </a:prstGeom>
          <a:noFill/>
          <a:ln/>
        </p:spPr>
        <p:txBody>
          <a:bodyPr wrap="square" lIns="0" tIns="0" rIns="0" bIns="0" rtlCol="0" anchor="ctr"/>
          <a:lstStyle/>
          <a:p>
            <a:pPr indent="0" marL="0">
              <a:buNone/>
            </a:pPr>
            <a:r>
              <a:rPr lang="en-US" sz="1350" i="1" dirty="0">
                <a:solidFill>
                  <a:srgbClr val="9AA7C4"/>
                </a:solidFill>
                <a:latin typeface="Calibri" pitchFamily="34" charset="0"/>
                <a:ea typeface="Calibri" pitchFamily="34" charset="-122"/>
                <a:cs typeface="Calibri" pitchFamily="34" charset="-120"/>
              </a:rPr>
              <a:t>These are the working formats. They are filled during the three weeks and become the strategy record.</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market prioritisation</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Workstream 2 · one row per market.</a:t>
            </a:r>
            <a:endParaRPr lang="en-US" sz="14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3200400"/>
                <a:gridCol w="3291840"/>
                <a:gridCol w="1097280"/>
                <a:gridCol w="10972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Segments in focus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Why this 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Priority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3017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Segments in focus</a:t>
            </a:r>
            <a:endParaRPr lang="en-US" sz="1150" dirty="0"/>
          </a:p>
        </p:txBody>
      </p:sp>
      <p:sp>
        <p:nvSpPr>
          <p:cNvPr id="8" name="Text 5"/>
          <p:cNvSpPr txBox="1"/>
          <p:nvPr/>
        </p:nvSpPr>
        <p:spPr>
          <a:xfrm>
            <a:off x="6144768" y="1965960"/>
            <a:ext cx="31089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Why this market</a:t>
            </a:r>
            <a:endParaRPr lang="en-US" sz="1150" dirty="0"/>
          </a:p>
        </p:txBody>
      </p:sp>
      <p:sp>
        <p:nvSpPr>
          <p:cNvPr id="9" name="Text 6"/>
          <p:cNvSpPr txBox="1"/>
          <p:nvPr/>
        </p:nvSpPr>
        <p:spPr>
          <a:xfrm>
            <a:off x="943660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Priority</a:t>
            </a:r>
            <a:endParaRPr lang="en-US" sz="1150" dirty="0"/>
          </a:p>
        </p:txBody>
      </p:sp>
      <p:sp>
        <p:nvSpPr>
          <p:cNvPr id="10" name="Text 7"/>
          <p:cNvSpPr txBox="1"/>
          <p:nvPr/>
        </p:nvSpPr>
        <p:spPr>
          <a:xfrm>
            <a:off x="105338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Priority: primary, secondary or watch. Rationale should stand on evidence, not familiarity.</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target accounts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Workstream 2 · one row per named account.</a:t>
            </a:r>
            <a:endParaRPr lang="en-US" sz="14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03120"/>
                <a:gridCol w="1188720"/>
                <a:gridCol w="1280160"/>
                <a:gridCol w="2926080"/>
                <a:gridCol w="1371600"/>
                <a:gridCol w="1097280"/>
                <a:gridCol w="9144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Segment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Propositions to lead with</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Stage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2852928" y="1965960"/>
            <a:ext cx="10058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8" name="Text 5"/>
          <p:cNvSpPr txBox="1"/>
          <p:nvPr/>
        </p:nvSpPr>
        <p:spPr>
          <a:xfrm>
            <a:off x="40416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Segment</a:t>
            </a:r>
            <a:endParaRPr lang="en-US" sz="1150" dirty="0"/>
          </a:p>
        </p:txBody>
      </p:sp>
      <p:sp>
        <p:nvSpPr>
          <p:cNvPr id="9" name="Text 6"/>
          <p:cNvSpPr txBox="1"/>
          <p:nvPr/>
        </p:nvSpPr>
        <p:spPr>
          <a:xfrm>
            <a:off x="532180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Propositions to lead with</a:t>
            </a:r>
            <a:endParaRPr lang="en-US" sz="1150" dirty="0"/>
          </a:p>
        </p:txBody>
      </p:sp>
      <p:sp>
        <p:nvSpPr>
          <p:cNvPr id="10" name="Text 7"/>
          <p:cNvSpPr txBox="1"/>
          <p:nvPr/>
        </p:nvSpPr>
        <p:spPr>
          <a:xfrm>
            <a:off x="82478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11" name="Text 8"/>
          <p:cNvSpPr txBox="1"/>
          <p:nvPr/>
        </p:nvSpPr>
        <p:spPr>
          <a:xfrm>
            <a:off x="9619488" y="1965960"/>
            <a:ext cx="9144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2" name="Text 9"/>
          <p:cNvSpPr txBox="1"/>
          <p:nvPr/>
        </p:nvSpPr>
        <p:spPr>
          <a:xfrm>
            <a:off x="10716768" y="1965960"/>
            <a:ext cx="7315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Stage</a:t>
            </a:r>
            <a:endParaRPr lang="en-US" sz="1150" dirty="0"/>
          </a:p>
        </p:txBody>
      </p:sp>
      <p:sp>
        <p:nvSpPr>
          <p:cNvPr id="13" name="Text 10"/>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Stage: relationship only, qualified, active pursuit. Every account carries exactly one owner.</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proposition catalogue</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Workstream 1 · one row per integrated proposition.</a:t>
            </a:r>
            <a:endParaRPr lang="en-US" sz="14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011680"/>
                <a:gridCol w="23774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Proposition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Pillars involved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Buyer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Permitted variants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Lead pillar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Proposition</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Pillars involved</a:t>
            </a:r>
            <a:endParaRPr lang="en-US" sz="1150" dirty="0"/>
          </a:p>
        </p:txBody>
      </p:sp>
      <p:sp>
        <p:nvSpPr>
          <p:cNvPr id="8" name="Text 5"/>
          <p:cNvSpPr txBox="1"/>
          <p:nvPr/>
        </p:nvSpPr>
        <p:spPr>
          <a:xfrm>
            <a:off x="559612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Buyer</a:t>
            </a:r>
            <a:endParaRPr lang="en-US" sz="1150" dirty="0"/>
          </a:p>
        </p:txBody>
      </p:sp>
      <p:sp>
        <p:nvSpPr>
          <p:cNvPr id="9" name="Text 6"/>
          <p:cNvSpPr txBox="1"/>
          <p:nvPr/>
        </p:nvSpPr>
        <p:spPr>
          <a:xfrm>
            <a:off x="7607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Permitted variants</a:t>
            </a:r>
            <a:endParaRPr lang="en-US" sz="1150" dirty="0"/>
          </a:p>
        </p:txBody>
      </p:sp>
      <p:sp>
        <p:nvSpPr>
          <p:cNvPr id="10" name="Text 7"/>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Lead pillar</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Integrated propositions first. A single-pillar offer is recorded as a variant, not as its own row.</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sizing and pricing</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Workstream 3 · one row per offering.</a:t>
            </a:r>
            <a:endParaRPr lang="en-US" sz="14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2926080"/>
                <a:gridCol w="1828800"/>
                <a:gridCol w="192024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drives scope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deal size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 price band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a:t>
            </a:r>
            <a:endParaRPr lang="en-US" sz="1150" dirty="0"/>
          </a:p>
        </p:txBody>
      </p:sp>
      <p:sp>
        <p:nvSpPr>
          <p:cNvPr id="7" name="Text 4"/>
          <p:cNvSpPr txBox="1"/>
          <p:nvPr/>
        </p:nvSpPr>
        <p:spPr>
          <a:xfrm>
            <a:off x="312724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drives scope</a:t>
            </a:r>
            <a:endParaRPr lang="en-US" sz="1150" dirty="0"/>
          </a:p>
        </p:txBody>
      </p:sp>
      <p:sp>
        <p:nvSpPr>
          <p:cNvPr id="8" name="Text 5"/>
          <p:cNvSpPr txBox="1"/>
          <p:nvPr/>
        </p:nvSpPr>
        <p:spPr>
          <a:xfrm>
            <a:off x="605332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Typical deal size</a:t>
            </a:r>
            <a:endParaRPr lang="en-US" sz="1150" dirty="0"/>
          </a:p>
        </p:txBody>
      </p:sp>
      <p:sp>
        <p:nvSpPr>
          <p:cNvPr id="9" name="Text 6"/>
          <p:cNvSpPr txBox="1"/>
          <p:nvPr/>
        </p:nvSpPr>
        <p:spPr>
          <a:xfrm>
            <a:off x="788212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 price band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Bands, not point prices. Name the drivers that move the number.</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revenue targets</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Workstream 3 · one row per market, one column per offering group.</a:t>
            </a:r>
            <a:endParaRPr lang="en-US" sz="14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1920240"/>
                <a:gridCol w="1737360"/>
                <a:gridCol w="2011680"/>
                <a:gridCol w="155448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Industry Solutions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Data &amp; AI</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Engineering &amp; Cloud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Integrated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a:t>
            </a:r>
            <a:endParaRPr lang="en-US" sz="1150" dirty="0"/>
          </a:p>
        </p:txBody>
      </p:sp>
      <p:sp>
        <p:nvSpPr>
          <p:cNvPr id="7" name="Text 4"/>
          <p:cNvSpPr txBox="1"/>
          <p:nvPr/>
        </p:nvSpPr>
        <p:spPr>
          <a:xfrm>
            <a:off x="294436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Industry Solutions</a:t>
            </a:r>
            <a:endParaRPr lang="en-US" sz="1150" dirty="0"/>
          </a:p>
        </p:txBody>
      </p:sp>
      <p:sp>
        <p:nvSpPr>
          <p:cNvPr id="8" name="Text 5"/>
          <p:cNvSpPr txBox="1"/>
          <p:nvPr/>
        </p:nvSpPr>
        <p:spPr>
          <a:xfrm>
            <a:off x="4864608" y="1965960"/>
            <a:ext cx="15544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Data &amp; AI</a:t>
            </a:r>
            <a:endParaRPr lang="en-US" sz="1150" dirty="0"/>
          </a:p>
        </p:txBody>
      </p:sp>
      <p:sp>
        <p:nvSpPr>
          <p:cNvPr id="9" name="Text 6"/>
          <p:cNvSpPr txBox="1"/>
          <p:nvPr/>
        </p:nvSpPr>
        <p:spPr>
          <a:xfrm>
            <a:off x="660196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Engineering &amp; Cloud</a:t>
            </a:r>
            <a:endParaRPr lang="en-US" sz="1150" dirty="0"/>
          </a:p>
        </p:txBody>
      </p:sp>
      <p:sp>
        <p:nvSpPr>
          <p:cNvPr id="10" name="Text 7"/>
          <p:cNvSpPr txBox="1"/>
          <p:nvPr/>
        </p:nvSpPr>
        <p:spPr>
          <a:xfrm>
            <a:off x="861364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Integrated</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Targets are set by market and by offering, then reconciled against capacity before they are agreed.</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coverage and ownership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Workstream 4 · one row per priority account.</a:t>
            </a:r>
            <a:endParaRPr lang="en-US" sz="14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651760"/>
                <a:gridCol w="2194560"/>
                <a:gridCol w="2103120"/>
                <a:gridCol w="2103120"/>
                <a:gridCol w="182880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Partner 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Delivery lead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Contact cadence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a:t>
            </a:r>
            <a:endParaRPr lang="en-US" sz="1150" dirty="0"/>
          </a:p>
        </p:txBody>
      </p:sp>
      <p:sp>
        <p:nvSpPr>
          <p:cNvPr id="7" name="Text 4"/>
          <p:cNvSpPr txBox="1"/>
          <p:nvPr/>
        </p:nvSpPr>
        <p:spPr>
          <a:xfrm>
            <a:off x="340156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Partner owner</a:t>
            </a:r>
            <a:endParaRPr lang="en-US" sz="1150" dirty="0"/>
          </a:p>
        </p:txBody>
      </p:sp>
      <p:sp>
        <p:nvSpPr>
          <p:cNvPr id="8" name="Text 5"/>
          <p:cNvSpPr txBox="1"/>
          <p:nvPr/>
        </p:nvSpPr>
        <p:spPr>
          <a:xfrm>
            <a:off x="559612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 lead</a:t>
            </a:r>
            <a:endParaRPr lang="en-US" sz="1150" dirty="0"/>
          </a:p>
        </p:txBody>
      </p:sp>
      <p:sp>
        <p:nvSpPr>
          <p:cNvPr id="9" name="Text 6"/>
          <p:cNvSpPr txBox="1"/>
          <p:nvPr/>
        </p:nvSpPr>
        <p:spPr>
          <a:xfrm>
            <a:off x="7699248" y="1965960"/>
            <a:ext cx="19202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Delivery lead</a:t>
            </a:r>
            <a:endParaRPr lang="en-US" sz="1150" dirty="0"/>
          </a:p>
        </p:txBody>
      </p:sp>
      <p:sp>
        <p:nvSpPr>
          <p:cNvPr id="10" name="Text 7"/>
          <p:cNvSpPr txBox="1"/>
          <p:nvPr/>
        </p:nvSpPr>
        <p:spPr>
          <a:xfrm>
            <a:off x="980236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Contact cadence</a:t>
            </a:r>
            <a:endParaRPr lang="en-US" sz="1150" dirty="0"/>
          </a:p>
        </p:txBody>
      </p:sp>
      <p:sp>
        <p:nvSpPr>
          <p:cNvPr id="11" name="Text 8"/>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Partner owner means our accountable partner. Alliance lead is the vendor relationship behind the account.</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team and talent</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Workstream 6 · one row per role and level.</a:t>
            </a:r>
            <a:endParaRPr lang="en-US" sz="14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828800"/>
                <a:gridCol w="1828800"/>
                <a:gridCol w="1280160"/>
                <a:gridCol w="1920240"/>
                <a:gridCol w="164592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 and level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Dedicated today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Shared available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Build, borrow or buy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By when</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 and level</a:t>
            </a:r>
            <a:endParaRPr lang="en-US" sz="1150" dirty="0"/>
          </a:p>
        </p:txBody>
      </p:sp>
      <p:sp>
        <p:nvSpPr>
          <p:cNvPr id="7" name="Text 4"/>
          <p:cNvSpPr txBox="1"/>
          <p:nvPr/>
        </p:nvSpPr>
        <p:spPr>
          <a:xfrm>
            <a:off x="31272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Dedicated today</a:t>
            </a:r>
            <a:endParaRPr lang="en-US" sz="1150" dirty="0"/>
          </a:p>
        </p:txBody>
      </p:sp>
      <p:sp>
        <p:nvSpPr>
          <p:cNvPr id="8" name="Text 5"/>
          <p:cNvSpPr txBox="1"/>
          <p:nvPr/>
        </p:nvSpPr>
        <p:spPr>
          <a:xfrm>
            <a:off x="4956048" y="1965960"/>
            <a:ext cx="16459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Shared available</a:t>
            </a:r>
            <a:endParaRPr lang="en-US" sz="1150" dirty="0"/>
          </a:p>
        </p:txBody>
      </p:sp>
      <p:sp>
        <p:nvSpPr>
          <p:cNvPr id="9" name="Text 6"/>
          <p:cNvSpPr txBox="1"/>
          <p:nvPr/>
        </p:nvSpPr>
        <p:spPr>
          <a:xfrm>
            <a:off x="678484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Gap</a:t>
            </a:r>
            <a:endParaRPr lang="en-US" sz="1150" dirty="0"/>
          </a:p>
        </p:txBody>
      </p:sp>
      <p:sp>
        <p:nvSpPr>
          <p:cNvPr id="10" name="Text 7"/>
          <p:cNvSpPr txBox="1"/>
          <p:nvPr/>
        </p:nvSpPr>
        <p:spPr>
          <a:xfrm>
            <a:off x="8065008" y="1965960"/>
            <a:ext cx="17373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Build, borrow or buy</a:t>
            </a:r>
            <a:endParaRPr lang="en-US" sz="1150" dirty="0"/>
          </a:p>
        </p:txBody>
      </p:sp>
      <p:sp>
        <p:nvSpPr>
          <p:cNvPr id="11" name="Text 8"/>
          <p:cNvSpPr txBox="1"/>
          <p:nvPr/>
        </p:nvSpPr>
        <p:spPr>
          <a:xfrm>
            <a:off x="9985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By when</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Dedicated means FSI-exclusive. Shared means time we can genuinely count on, not headcount that exists.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eminence calendar</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Workstream 7 · one row per planned activity.</a:t>
            </a:r>
            <a:endParaRPr lang="en-US" sz="14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377440"/>
                <a:gridCol w="1645920"/>
                <a:gridCol w="2743200"/>
                <a:gridCol w="1371600"/>
                <a:gridCol w="128016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Activity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Channel</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 accounts or markets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How we measure it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1945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Activity</a:t>
            </a:r>
            <a:endParaRPr lang="en-US" sz="1150" dirty="0"/>
          </a:p>
        </p:txBody>
      </p:sp>
      <p:sp>
        <p:nvSpPr>
          <p:cNvPr id="7" name="Text 4"/>
          <p:cNvSpPr txBox="1"/>
          <p:nvPr/>
        </p:nvSpPr>
        <p:spPr>
          <a:xfrm>
            <a:off x="312724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Channel</a:t>
            </a:r>
            <a:endParaRPr lang="en-US" sz="1150" dirty="0"/>
          </a:p>
        </p:txBody>
      </p:sp>
      <p:sp>
        <p:nvSpPr>
          <p:cNvPr id="8" name="Text 5"/>
          <p:cNvSpPr txBox="1"/>
          <p:nvPr/>
        </p:nvSpPr>
        <p:spPr>
          <a:xfrm>
            <a:off x="4773168" y="1965960"/>
            <a:ext cx="25603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 accounts or markets</a:t>
            </a:r>
            <a:endParaRPr lang="en-US" sz="1150" dirty="0"/>
          </a:p>
        </p:txBody>
      </p:sp>
      <p:sp>
        <p:nvSpPr>
          <p:cNvPr id="9" name="Text 6"/>
          <p:cNvSpPr txBox="1"/>
          <p:nvPr/>
        </p:nvSpPr>
        <p:spPr>
          <a:xfrm>
            <a:off x="751636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0" name="Text 7"/>
          <p:cNvSpPr txBox="1"/>
          <p:nvPr/>
        </p:nvSpPr>
        <p:spPr>
          <a:xfrm>
            <a:off x="8887968" y="1965960"/>
            <a:ext cx="10972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How we measure it</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activity points at named accounts or markets. General brand-building does not earn a row.</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execution scorecard</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Workstream 9 · one row per measure.</a:t>
            </a:r>
            <a:endParaRPr lang="en-US" sz="14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2194560"/>
                <a:gridCol w="2926080"/>
                <a:gridCol w="1463040"/>
                <a:gridCol w="1371600"/>
                <a:gridCol w="1463040"/>
                <a:gridCol w="146304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Measure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it tells us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Target</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Forum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20116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Measure</a:t>
            </a:r>
            <a:endParaRPr lang="en-US" sz="1150" dirty="0"/>
          </a:p>
        </p:txBody>
      </p:sp>
      <p:sp>
        <p:nvSpPr>
          <p:cNvPr id="7" name="Text 4"/>
          <p:cNvSpPr txBox="1"/>
          <p:nvPr/>
        </p:nvSpPr>
        <p:spPr>
          <a:xfrm>
            <a:off x="2944368" y="1965960"/>
            <a:ext cx="27432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it tells us</a:t>
            </a:r>
            <a:endParaRPr lang="en-US" sz="1150" dirty="0"/>
          </a:p>
        </p:txBody>
      </p:sp>
      <p:sp>
        <p:nvSpPr>
          <p:cNvPr id="8" name="Text 5"/>
          <p:cNvSpPr txBox="1"/>
          <p:nvPr/>
        </p:nvSpPr>
        <p:spPr>
          <a:xfrm>
            <a:off x="587044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p>
        </p:txBody>
      </p:sp>
      <p:sp>
        <p:nvSpPr>
          <p:cNvPr id="9" name="Text 6"/>
          <p:cNvSpPr txBox="1"/>
          <p:nvPr/>
        </p:nvSpPr>
        <p:spPr>
          <a:xfrm>
            <a:off x="7333488" y="1965960"/>
            <a:ext cx="118872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Frequency</a:t>
            </a:r>
            <a:endParaRPr lang="en-US" sz="1150" dirty="0"/>
          </a:p>
        </p:txBody>
      </p:sp>
      <p:sp>
        <p:nvSpPr>
          <p:cNvPr id="10" name="Text 7"/>
          <p:cNvSpPr txBox="1"/>
          <p:nvPr/>
        </p:nvSpPr>
        <p:spPr>
          <a:xfrm>
            <a:off x="870508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p>
        </p:txBody>
      </p:sp>
      <p:sp>
        <p:nvSpPr>
          <p:cNvPr id="11" name="Text 8"/>
          <p:cNvSpPr txBox="1"/>
          <p:nvPr/>
        </p:nvSpPr>
        <p:spPr>
          <a:xfrm>
            <a:off x="1016812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Forum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Every measure has an owner and a forum. A measure nobody presents is a measure nobody acts on.</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685800"/>
          </a:xfrm>
          <a:prstGeom prst="rect">
            <a:avLst/>
          </a:prstGeom>
          <a:noFill/>
          <a:ln/>
        </p:spPr>
        <p:txBody>
          <a:bodyPr wrap="square" lIns="0" tIns="0" rIns="0" bIns="0" rtlCol="0" anchor="ctr"/>
          <a:lstStyle/>
          <a:p>
            <a:pPr indent="0" marL="0">
              <a:buNone/>
            </a:pPr>
            <a:r>
              <a:rPr lang="en-US" sz="3600" b="1" dirty="0">
                <a:solidFill>
                  <a:srgbClr val="16203A"/>
                </a:solidFill>
                <a:latin typeface="Cambria" pitchFamily="34" charset="0"/>
                <a:ea typeface="Cambria" pitchFamily="34" charset="-122"/>
                <a:cs typeface="Cambria" pitchFamily="34" charset="-120"/>
              </a:rPr>
              <a:t>Template — alliance map</a:t>
            </a:r>
            <a:endParaRPr lang="en-US" sz="3600" dirty="0"/>
          </a:p>
        </p:txBody>
      </p:sp>
      <p:sp>
        <p:nvSpPr>
          <p:cNvPr id="3" name="Text 1"/>
          <p:cNvSpPr txBox="1"/>
          <p:nvPr/>
        </p:nvSpPr>
        <p:spPr>
          <a:xfrm>
            <a:off x="640080" y="1133856"/>
            <a:ext cx="10881360" cy="411480"/>
          </a:xfrm>
          <a:prstGeom prst="rect">
            <a:avLst/>
          </a:prstGeom>
          <a:noFill/>
          <a:ln/>
        </p:spPr>
        <p:txBody>
          <a:bodyPr wrap="square" lIns="0" tIns="0" rIns="0" bIns="0" rtlCol="0" anchor="ctr"/>
          <a:lstStyle/>
          <a:p>
            <a:pPr indent="0" marL="0">
              <a:buNone/>
            </a:pPr>
            <a:r>
              <a:rPr lang="en-US" sz="1450" dirty="0">
                <a:solidFill>
                  <a:srgbClr val="8792AB"/>
                </a:solidFill>
                <a:latin typeface="Calibri" pitchFamily="34" charset="0"/>
                <a:ea typeface="Calibri" pitchFamily="34" charset="-122"/>
                <a:cs typeface="Calibri" pitchFamily="34" charset="-120"/>
              </a:rPr>
              <a:t>Workstream 8 · one row per alliance.</a:t>
            </a:r>
            <a:endParaRPr lang="en-US" sz="14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1645920"/>
                <a:gridCol w="1554480"/>
                <a:gridCol w="2651760"/>
                <a:gridCol w="1463040"/>
                <a:gridCol w="2011680"/>
                <a:gridCol w="1554480"/>
              </a:tblGrid>
              <a:tr h="420624">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Alliance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Offerings it sits behind</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Markets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Accounts it opens</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What we owe them</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r h="548640">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4506B"/>
                          </a:solidFill>
                          <a:latin typeface="Calibri" pitchFamily="34" charset="0"/>
                          <a:ea typeface="Calibri" pitchFamily="34" charset="-122"/>
                          <a:cs typeface="Calibri" pitchFamily="34" charset="-120"/>
                        </a:rPr>
                        <a:t> </a:t>
                      </a:r>
                      <a:endParaRPr lang="en-US" sz="1200" dirty="0">
                        <a:latin typeface="Calibri" charset="0"/>
                        <a:ea typeface="Calibri" charset="0"/>
                        <a:cs typeface="Calibri" charset="0"/>
                      </a:endParaRPr>
                    </a:p>
                  </a:txBody>
                  <a:tcPr marL="88900" marR="88900" marT="88900" marB="88900" anchor="ctr">
                    <a:lnL w="12700" cap="flat" cmpd="sng" algn="ctr">
                      <a:solidFill>
                        <a:srgbClr val="D8E0EE"/>
                      </a:solidFill>
                      <a:prstDash val="solid"/>
                      <a:round/>
                      <a:headEnd type="none" w="med" len="med"/>
                      <a:tailEnd type="none" w="med" len="med"/>
                    </a:lnL>
                    <a:lnR w="12700" cap="flat" cmpd="sng" algn="ctr">
                      <a:solidFill>
                        <a:srgbClr val="D8E0EE"/>
                      </a:solidFill>
                      <a:prstDash val="solid"/>
                      <a:round/>
                      <a:headEnd type="none" w="med" len="med"/>
                      <a:tailEnd type="none" w="med" len="med"/>
                    </a:lnR>
                    <a:lnT w="12700" cap="flat" cmpd="sng" algn="ctr">
                      <a:solidFill>
                        <a:srgbClr val="D8E0EE"/>
                      </a:solidFill>
                      <a:prstDash val="solid"/>
                      <a:round/>
                      <a:headEnd type="none" w="med" len="med"/>
                      <a:tailEnd type="none" w="med" len="med"/>
                    </a:lnT>
                    <a:lnB w="12700" cap="flat" cmpd="sng" algn="ctr">
                      <a:solidFill>
                        <a:srgbClr val="D8E0EE"/>
                      </a:solidFill>
                      <a:prstDash val="solid"/>
                      <a:round/>
                      <a:headEnd type="none" w="med" len="med"/>
                      <a:tailEnd type="none" w="med" len="med"/>
                    </a:lnB>
                    <a:solidFill>
                      <a:srgbClr val="FFFFFF"/>
                    </a:solidFill>
                  </a:tcPr>
                </a:tc>
              </a:tr>
            </a:tbl>
          </a:graphicData>
        </a:graphic>
      </p:graphicFrame>
      <p:sp>
        <p:nvSpPr>
          <p:cNvPr id="5" name="Shape 2"/>
          <p:cNvSpPr/>
          <p:nvPr/>
        </p:nvSpPr>
        <p:spPr>
          <a:xfrm>
            <a:off x="640080" y="1965960"/>
            <a:ext cx="10881360" cy="420624"/>
          </a:xfrm>
          <a:prstGeom prst="rect">
            <a:avLst/>
          </a:prstGeom>
          <a:solidFill>
            <a:srgbClr val="1E2761"/>
          </a:solidFill>
          <a:ln/>
        </p:spPr>
      </p:sp>
      <p:sp>
        <p:nvSpPr>
          <p:cNvPr id="6" name="Text 3"/>
          <p:cNvSpPr txBox="1"/>
          <p:nvPr/>
        </p:nvSpPr>
        <p:spPr>
          <a:xfrm>
            <a:off x="749808" y="1965960"/>
            <a:ext cx="1463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Alliance</a:t>
            </a:r>
            <a:endParaRPr lang="en-US" sz="1150" dirty="0"/>
          </a:p>
        </p:txBody>
      </p:sp>
      <p:sp>
        <p:nvSpPr>
          <p:cNvPr id="7" name="Text 4"/>
          <p:cNvSpPr txBox="1"/>
          <p:nvPr/>
        </p:nvSpPr>
        <p:spPr>
          <a:xfrm>
            <a:off x="239572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p>
        </p:txBody>
      </p:sp>
      <p:sp>
        <p:nvSpPr>
          <p:cNvPr id="8" name="Text 5"/>
          <p:cNvSpPr txBox="1"/>
          <p:nvPr/>
        </p:nvSpPr>
        <p:spPr>
          <a:xfrm>
            <a:off x="3950208" y="1965960"/>
            <a:ext cx="246888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Offerings it sits behind</a:t>
            </a:r>
            <a:endParaRPr lang="en-US" sz="1150" dirty="0"/>
          </a:p>
        </p:txBody>
      </p:sp>
      <p:sp>
        <p:nvSpPr>
          <p:cNvPr id="9" name="Text 6"/>
          <p:cNvSpPr txBox="1"/>
          <p:nvPr/>
        </p:nvSpPr>
        <p:spPr>
          <a:xfrm>
            <a:off x="6601968" y="1965960"/>
            <a:ext cx="128016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Markets</a:t>
            </a:r>
            <a:endParaRPr lang="en-US" sz="1150" dirty="0"/>
          </a:p>
        </p:txBody>
      </p:sp>
      <p:sp>
        <p:nvSpPr>
          <p:cNvPr id="10" name="Text 7"/>
          <p:cNvSpPr txBox="1"/>
          <p:nvPr/>
        </p:nvSpPr>
        <p:spPr>
          <a:xfrm>
            <a:off x="8065008" y="1965960"/>
            <a:ext cx="18288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Accounts it opens</a:t>
            </a:r>
            <a:endParaRPr lang="en-US" sz="1150" dirty="0"/>
          </a:p>
        </p:txBody>
      </p:sp>
      <p:sp>
        <p:nvSpPr>
          <p:cNvPr id="11" name="Text 8"/>
          <p:cNvSpPr txBox="1"/>
          <p:nvPr/>
        </p:nvSpPr>
        <p:spPr>
          <a:xfrm>
            <a:off x="10076688" y="1965960"/>
            <a:ext cx="137160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What we owe them</a:t>
            </a:r>
            <a:endParaRPr lang="en-US" sz="1150" dirty="0"/>
          </a:p>
        </p:txBody>
      </p:sp>
      <p:sp>
        <p:nvSpPr>
          <p:cNvPr id="12" name="Text 9"/>
          <p:cNvSpPr txBox="1"/>
          <p:nvPr/>
        </p:nvSpPr>
        <p:spPr>
          <a:xfrm>
            <a:off x="640080" y="5815584"/>
            <a:ext cx="10881360" cy="365760"/>
          </a:xfrm>
          <a:prstGeom prst="rect">
            <a:avLst/>
          </a:prstGeom>
          <a:noFill/>
          <a:ln/>
        </p:spPr>
        <p:txBody>
          <a:bodyPr wrap="square" lIns="0" tIns="0" rIns="0" bIns="0" rtlCol="0" anchor="ctr"/>
          <a:lstStyle/>
          <a:p>
            <a:pPr indent="0" marL="0">
              <a:buNone/>
            </a:pPr>
            <a:r>
              <a:rPr lang="en-US" sz="1200" i="1" dirty="0">
                <a:solidFill>
                  <a:srgbClr val="8792AB"/>
                </a:solidFill>
                <a:latin typeface="Calibri" pitchFamily="34" charset="0"/>
                <a:ea typeface="Calibri" pitchFamily="34" charset="-122"/>
                <a:cs typeface="Calibri" pitchFamily="34" charset="-120"/>
              </a:rPr>
              <a:t>Role: co-sell, resell, delivery partner or referral. Commitments run both ways.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EAIND — FSI Strategy Development Plan</dc:title>
  <dc:subject>PptxGenJS Presentation</dc:subject>
  <dc:creator>Engineering, AI and Data</dc:creator>
  <cp:lastModifiedBy>Engineering, AI and Data</cp:lastModifiedBy>
  <cp:revision>1</cp:revision>
  <dcterms:created xsi:type="dcterms:W3CDTF">2026-09-28T04:19:00Z</dcterms:created>
  <dcterms:modified xsi:type="dcterms:W3CDTF">2026-09-28T04:19:00Z</dcterms:modified>
</cp:coreProperties>
</file>