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Deliberation material, not a recommendation. All three now carry the portfolio's core claim — integrated propositions, integrated teams, integrated capabilities, one partner accountable for execution end to end, with the alliances counted as part of what we bring rather than a separate arrangement. They differ on the edge claimed on top of that.
A. The end-to-end partner — leads with breadth and single accountability: whatever the institution needs designed, built, modernised or run. Closest to how the portfolio is already built and easiest to evidence. Weakest on differentiation, since scale is claimable by every large SI.
B. AI-native, end to end — keeps the end-to-end claim and adds AI as the through-line of everything we sell. Strongest differentiator available now and matched to regional ambition, but it obliges us to prove it: if the catalogue does not visibly carry AI in every proposition, the vision undercuts itself.
C. Known for the industry, built to execute — keeps the end-to-end claim and adds domain depth per segment, plus the ability to both advise and build. Quietest of the three and hardest to headline, but the one clients reward, and defensible against global SIs and product vendors alike. It obliges depth in funds and insurance, not only banking.
Wording to avoid: "one-stop shop" carries a commodity, lowest-common-denominator connotation. The same idea lands better as one partner, one accountable team, end to end.
A combination is plausible and may be where this lands — for example C as the base claim with B as the edge. Resist merging all three into a sentence that commits to nothing.
Test to apply: what we do, for whom, what makes us different, and whether a competitor could lift it word for word. If they could, it is positioning, not vision.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platform alliances, both banking-weighted. A gap to name explicitly in the cycle: we have no specialised alliance yet for funds or insurance platforms, and the segment priorities imply we need a view on both.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industry we mean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Banking, funds and insurance, in priority order</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Where we start: the vision</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Three candidate statements to deliberate</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1 · Tier one and tier two</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Where the energy goes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69" name="Shape 67"/>
          <p:cNvSpPr/>
          <p:nvPr/>
        </p:nvSpPr>
        <p:spPr>
          <a:xfrm>
            <a:off x="6263640" y="5687568"/>
            <a:ext cx="5257800" cy="576072"/>
          </a:xfrm>
          <a:prstGeom prst="roundRect">
            <a:avLst>
              <a:gd name="adj" fmla="val 12698"/>
            </a:avLst>
          </a:prstGeom>
          <a:solidFill>
            <a:srgbClr val="EDF2FA"/>
          </a:solidFill>
          <a:ln/>
        </p:spPr>
      </p:sp>
      <p:sp>
        <p:nvSpPr>
          <p:cNvPr id="70" name="Shape 68"/>
          <p:cNvSpPr/>
          <p:nvPr/>
        </p:nvSpPr>
        <p:spPr>
          <a:xfrm>
            <a:off x="6446520" y="5788152"/>
            <a:ext cx="365760" cy="365760"/>
          </a:xfrm>
          <a:prstGeom prst="ellipse">
            <a:avLst/>
          </a:prstGeom>
          <a:solidFill>
            <a:srgbClr val="3E5C8A"/>
          </a:solidFill>
          <a:ln/>
        </p:spPr>
      </p:sp>
      <p:sp>
        <p:nvSpPr>
          <p:cNvPr id="71" name="Text 69"/>
          <p:cNvSpPr txBox="1"/>
          <p:nvPr/>
        </p:nvSpPr>
        <p:spPr>
          <a:xfrm>
            <a:off x="644652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a:t>
            </a:r>
            <a:endParaRPr lang="en-US" sz="1200" dirty="0"/>
          </a:p>
        </p:txBody>
      </p:sp>
      <p:sp>
        <p:nvSpPr>
          <p:cNvPr id="72" name="Text 70"/>
          <p:cNvSpPr txBox="1"/>
          <p:nvPr/>
        </p:nvSpPr>
        <p:spPr>
          <a:xfrm>
            <a:off x="697687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73" name="Text 71"/>
          <p:cNvSpPr txBox="1"/>
          <p:nvPr/>
        </p:nvSpPr>
        <p:spPr>
          <a:xfrm>
            <a:off x="697687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74" name="Shape 72"/>
          <p:cNvSpPr/>
          <p:nvPr/>
        </p:nvSpPr>
        <p:spPr>
          <a:xfrm>
            <a:off x="640080" y="6345936"/>
            <a:ext cx="5257800" cy="576072"/>
          </a:xfrm>
          <a:prstGeom prst="roundRect">
            <a:avLst>
              <a:gd name="adj" fmla="val 12698"/>
            </a:avLst>
          </a:prstGeom>
          <a:solidFill>
            <a:srgbClr val="F2F6FC"/>
          </a:solidFill>
          <a:ln/>
        </p:spPr>
      </p:sp>
      <p:sp>
        <p:nvSpPr>
          <p:cNvPr id="75" name="Shape 73"/>
          <p:cNvSpPr/>
          <p:nvPr/>
        </p:nvSpPr>
        <p:spPr>
          <a:xfrm>
            <a:off x="822960" y="6446520"/>
            <a:ext cx="365760" cy="365760"/>
          </a:xfrm>
          <a:prstGeom prst="ellipse">
            <a:avLst/>
          </a:prstGeom>
          <a:solidFill>
            <a:srgbClr val="1E2761"/>
          </a:solidFill>
          <a:ln/>
        </p:spPr>
      </p:sp>
      <p:sp>
        <p:nvSpPr>
          <p:cNvPr id="76" name="Text 74"/>
          <p:cNvSpPr txBox="1"/>
          <p:nvPr/>
        </p:nvSpPr>
        <p:spPr>
          <a:xfrm>
            <a:off x="82296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a:t>
            </a:r>
            <a:endParaRPr lang="en-US" sz="1200" dirty="0"/>
          </a:p>
        </p:txBody>
      </p:sp>
      <p:sp>
        <p:nvSpPr>
          <p:cNvPr id="77" name="Text 75"/>
          <p:cNvSpPr txBox="1"/>
          <p:nvPr/>
        </p:nvSpPr>
        <p:spPr>
          <a:xfrm>
            <a:off x="135331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78" name="Text 76"/>
          <p:cNvSpPr txBox="1"/>
          <p:nvPr/>
        </p:nvSpPr>
        <p:spPr>
          <a:xfrm>
            <a:off x="135331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79" name="Shape 77"/>
          <p:cNvSpPr/>
          <p:nvPr/>
        </p:nvSpPr>
        <p:spPr>
          <a:xfrm>
            <a:off x="6263640" y="6345936"/>
            <a:ext cx="5257800" cy="576072"/>
          </a:xfrm>
          <a:prstGeom prst="roundRect">
            <a:avLst>
              <a:gd name="adj" fmla="val 12698"/>
            </a:avLst>
          </a:prstGeom>
          <a:solidFill>
            <a:srgbClr val="EDF2FA"/>
          </a:solidFill>
          <a:ln/>
        </p:spPr>
      </p:sp>
      <p:sp>
        <p:nvSpPr>
          <p:cNvPr id="80" name="Shape 78"/>
          <p:cNvSpPr/>
          <p:nvPr/>
        </p:nvSpPr>
        <p:spPr>
          <a:xfrm>
            <a:off x="6446520" y="6446520"/>
            <a:ext cx="365760" cy="365760"/>
          </a:xfrm>
          <a:prstGeom prst="ellipse">
            <a:avLst/>
          </a:prstGeom>
          <a:solidFill>
            <a:srgbClr val="3E5C8A"/>
          </a:solidFill>
          <a:ln/>
        </p:spPr>
      </p:sp>
      <p:sp>
        <p:nvSpPr>
          <p:cNvPr id="81" name="Text 79"/>
          <p:cNvSpPr txBox="1"/>
          <p:nvPr/>
        </p:nvSpPr>
        <p:spPr>
          <a:xfrm>
            <a:off x="6446520" y="6446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16</a:t>
            </a:r>
            <a:endParaRPr lang="en-US" sz="1200" dirty="0"/>
          </a:p>
        </p:txBody>
      </p:sp>
      <p:sp>
        <p:nvSpPr>
          <p:cNvPr id="82" name="Text 80"/>
          <p:cNvSpPr txBox="1"/>
          <p:nvPr/>
        </p:nvSpPr>
        <p:spPr>
          <a:xfrm>
            <a:off x="6976872" y="637336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83" name="Text 81"/>
          <p:cNvSpPr txBox="1"/>
          <p:nvPr/>
        </p:nvSpPr>
        <p:spPr>
          <a:xfrm>
            <a:off x="6976872" y="664768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84" name="Text 8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Where we start: the vision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integrated, end-to-end theme. They differ on the edge we claim on top of it.</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end-to-end partner</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“One partner for everything technology in financial services: whatever a bank, a fund or an insurer needs designed, built, modernised or run, we bring it end to end — our capabilities and our alliances working as one team.”</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breadth and single accountability.</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breadth alone is claimable by every large SI.</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AI-native, end to end</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make financial institutions AI-native: core, data, engineering and alliances brought as one team, so intelligence runs through the institution rather than beside it — and one partner is accountable for all of it.”</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AI as the through-line of everything we sell.</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must be provable in every proposition, or it is a slogan.</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Known for the industry, built to execute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“The team banks, funds and insurers call first: we know their business as deeply as their technology, and we bring everything needed to execute — ours and our partners’ — as one team.”</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Edge: domain depth plus end-to-end delivery.</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Risk: quieter claim, harder to headline.</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Common to all three: one partner, end to end, our capabilities and our alliances as one team. The test is what we claim on top of that — and whether a competitor could lift it word for word.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ADR and target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2026-09-28T14:18:38Z</dcterms:created>
  <dcterms:modified xsi:type="dcterms:W3CDTF">2026-09-28T14:18:38Z</dcterms:modified>
</cp:coreProperties>
</file>