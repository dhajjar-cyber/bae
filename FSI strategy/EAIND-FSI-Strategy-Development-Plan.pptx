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FSI here means three segments, in priority order: banking first, then funds (sovereign wealth funds, national and development funds, fund and investment management), then insurance.
Three pillars:
1. Industry Solutions — core-led transformation: core modernisation and core platform packages, whatever the segment calls its core (core banking, policy administration and claims in insurance, portfolio, fund accounting and investment platforms in funds). Also full systems-integration capability: we can take the SI role and own the end-to-end setup, including design governance, functional governance, delivery management and individual stream management, to stand up a greenfield institution or modernise an incumbent.
2. Data and AI — enterprise AI, core AI, AI use-case activation, and standard data work: data platforms, warehouses, ETL, reporting, across all three segments.
3. Engineering and Cloud — cloud advisory and implementation, plus custom engineered solutions: integration management, microservices, API gateways, and bespoke core engineering. Less common around the core; likeliest in investments, wealth and fund operations.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Correcting the frame: this is a financial services strategy, not a banking strategy. Three segments, in this priority order.
1. Banking — the priority segment, and where most of the existing capability and credentials sit.
2. Funds — sovereign wealth funds, national and development funds, and fund or investment management. Often a small number of very large institutions rather than a market of many, which changes how coverage and pursuit work: fewer accounts, longer cycles, far higher stakes per relationship.
3. Insurance — life, general, takaful, health, brokers and reinsurance. Different core platforms, different regulators, different buyers.
They are not interchangeable. The core platform, the regulator, the buyer and the language all change between them, which is exactly why the domain-specific principle is stated per segment rather than per industry: a core banking reference does not win a policy administration programme.
Practical consequence for the cycle: segment is a column in the market prioritisation, the account list, the proposition catalogue and the revenue targets. Where we are thin — and funds and insurance are where we are thin — the strategy has to say whether we build, borrow, hire or partner into them, and the alliance map has to answer the platform question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Agreeing the drivers before the words stops the discussion turning into a wordsmithing exercise, and stops later revisions quietly trading one theme away for another.
Two of them carry most of the weight and deserve to be explained in the room.
Complexity, handled: our real competition is not another integrated pitch. It is the institution doing it internally, and the lower-cost integrator quoting half the price. Neither can absorb a multi-stream, regulated, interconnected programme. We say that through words like landed, on time, cannot afford to get wrong — never by claiming we carry or underwrite the risk, which starts a procurement and legal conversation the vision should not start.
AI at the core, not on the badge: AI-native is oversubscribed and clients have heard it from everyone. Leading with it makes us sound like the crowd; putting it late and proving it makes it credible. It shows up twice in practice — in what we build for the client, and in how we deliver, through assets, accelerators and AI-assisted engineering.
The remaining four are straightforward but non-negotiable: end-to-end accountability including alliances, acceleration, both halves of the institution, and all three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candidate: "Complexity, compressed." Two alternates kept for the discussion.
Six themes every candidate has to carry, held deliberately so revisions do not trade one away for another:
1. Integrated and end to end — one accountable team, alliances counted as part of what we bring.
2. Complexity handled reliably — implied through words like landed, on time, cannot afford to get wrong. Never stated as carrying or underwriting risk: that is a procurement and legal conversation we do not want the vision to start.
3. Acceleration — time to market and time to value, because a platform that is not live is cost carried or revenue missed.
4. Both halves of the institution — what it takes to market, and how it runs inside. The second half is where enterprise AI, workplace tooling and intelligent operations sit.
5. AI present but never the headline. AI-native is oversubscribed; the credibility comes from AI at the core of what we build and how we deliver, stated once and late.
6. All three segments — banks, funds and insurers.
Why "compressed" rather than "sooner" or "faster": it reads as engineering rather than marketing, and it carries the complexity claim and the speed claim in the same word.
What the vision obliges elsewhere in the strategy: the catalogue must show the internal-facing propositions, not only client-facing platforms, or the second half of the claim is unsupported; the delivery model must show the assets, accelerators and AI-assisted delivery that make compression real; and the differentiation argument — why an internal team or a lower-cost integrator cannot do this — belongs in how we win, with evidence, rather than in the vision itself.
Whichever is chosen, the ambition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Tiering applies twice — to geographies and to accounts — and independently of segment. A tier one account can sit in a tier two market, and occasionally the reverse.
Tier one is where the energy goes: deliberate coverage with people physically present working the relationships, named individual targets each with an owner, individual gross and net revenue targets, and the eminence and investment concentrated there. The scorecard is read against tier one.
Tier two is deliberately lighter. Accounts and markets are handled as clusters or groups rather than one by one, pursuit is reactive rather than campaigned, and coverage is a named watcher rather than an accountable owner. It exists for two reasons: to keep us present in what is emerging, and to stop us over-concentrating everything in a handful of names.
Two things the cycle must define rather than leave to instinct: what promotes a tier two account or market to tier one — a real signal, not enthusiasm — and what minimum tier two coverage actually means, so it is not simply a list nobody reads.
Watch the balance. If almost everything lands in tier one, nothing is prioritised. If tier one is too narrow, the plan is fragile to one or two decisions going against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is specialised enough that generic technology credentials do not travel, and the three segments do not transfer to each other either. A banking client expects us to know core banking, payments and regulatory reporting; a fund expects portfolio, fund accounting, valuations and investor reporting; an insurer expects policy administration, claims, underwriting and actuarial. Credibility is per segment, not per industry.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modernisation and migration varies by segment and by scope — retail, corporate or SME in banking; life versus general in insurance; fund accounting versus front-office in funds — and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and by segment. A core banking modernisation with heavy onshore functional and governance presence looks nothing like a fund platform implementation, an insurance policy-administration migration, or an AI use-case activation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
Acceleration sits inside the delivery model, not beside it. If we position on time to market — and the client problem is real, since every month a platform is not live is cost carried or revenue missed — then the delivery model has to show how we go faster than a standard build: reusable assets and accelerators, reference architectures and pre-configured builds, templated stream setup and governance, alliance-provided integrations and platform accelerators, and AI applied to our own delivery (code, test, migration, documentation) rather than only to what we build for the client.
It also changes the economics, which is why it belongs here. Reuse raises margin at the same price, and it makes fixed-price and outcome-based pricing viable where time and materials was the only safe basis. The offering economics template records the assets behind each offering for exactly that reason: an offering with no asset behind it is a bespoke build, and bespoke is both slower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split into two categories that behave differently, and the plan should treat them differently.
Broad technology alliances — the hyperscalers and platform players: Google, AWS, Microsoft and Oracle. They are relevant to every proposition in the catalogue, so they are a portfolio-level relationship rather than an offering-level one. Three things we take from them: co-sell into their own account relationships, funding and credits to activate use cases on their platforms (a real commercial lever, not a nicety — it can fund the first proof of value), and the certifications and platform credibility clients increasingly ask for.
Specialised product vendors — relevant only where the offering matches. Core banking and origination platforms (Temenos and Intellect today), specialised data vendors such as Informatica, and, as the segment priorities imply, the insurance core and fund platform vendors where we currently hold nothing. These are offering-level and segment-level relationships, so the map must show which propositions each sits behind rather than treating them as general alliances.
The gap to close in the cycle: our specialised alliances are banking-weighted. Funds and insurance are priority two and three with no platform partner named, which is a decision the strategy has to make rather than defer.
Two links to the rest of the strategy: the alliance map must reconcile with the account coverage map (an alliance that opens an account should appear against that account), and with the capacity plan, because certifications and accredited people are a real training and hiring cost. Funding available from the broad alliances should also appear in the commercial view — it changes what a first engagement can be priced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platform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and it differs by segment: COO, CIO or head of retail banking in a bank; COO or head of investment operations in a fund; chief underwriting or claims officer in an insurer.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modernisation and migration the drivers include segment and scope (retail, corporate or SME in banking; life or general in insurance; fund accounting or front-office in funds),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platform programme, a data platform build and an AI activation — and again between segments.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platform alliances, both weighted to banking. The cycle should decide what we do about funds and insurance platforms, where we currently hold no specialised alliance.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Seventeen sections, plus an appendix of blank templates.</a:t>
            </a:r>
            <a:endParaRPr lang="en-US" sz="1450" dirty="0"/>
          </a:p>
        </p:txBody>
      </p:sp>
      <p:sp>
        <p:nvSpPr>
          <p:cNvPr id="4" name="Shape 2"/>
          <p:cNvSpPr/>
          <p:nvPr/>
        </p:nvSpPr>
        <p:spPr>
          <a:xfrm>
            <a:off x="640080" y="1783080"/>
            <a:ext cx="3520440" cy="640080"/>
          </a:xfrm>
          <a:prstGeom prst="roundRect">
            <a:avLst>
              <a:gd name="adj" fmla="val 11429"/>
            </a:avLst>
          </a:prstGeom>
          <a:solidFill>
            <a:srgbClr val="F2F6FC"/>
          </a:solidFill>
          <a:ln/>
        </p:spPr>
      </p:sp>
      <p:sp>
        <p:nvSpPr>
          <p:cNvPr id="5" name="Shape 3"/>
          <p:cNvSpPr/>
          <p:nvPr/>
        </p:nvSpPr>
        <p:spPr>
          <a:xfrm>
            <a:off x="804672" y="1911096"/>
            <a:ext cx="384048" cy="384048"/>
          </a:xfrm>
          <a:prstGeom prst="ellipse">
            <a:avLst/>
          </a:prstGeom>
          <a:solidFill>
            <a:srgbClr val="1E2761"/>
          </a:solidFill>
          <a:ln/>
        </p:spPr>
      </p:sp>
      <p:sp>
        <p:nvSpPr>
          <p:cNvPr id="6" name="Text 4"/>
          <p:cNvSpPr txBox="1"/>
          <p:nvPr/>
        </p:nvSpPr>
        <p:spPr>
          <a:xfrm>
            <a:off x="804672" y="19110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98448" y="1828800"/>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What this document is</a:t>
            </a:r>
            <a:endParaRPr lang="en-US" sz="1150" dirty="0"/>
          </a:p>
        </p:txBody>
      </p:sp>
      <p:sp>
        <p:nvSpPr>
          <p:cNvPr id="8" name="Text 6"/>
          <p:cNvSpPr txBox="1"/>
          <p:nvPr/>
        </p:nvSpPr>
        <p:spPr>
          <a:xfrm>
            <a:off x="1298448" y="2112264"/>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Method, not conclusion</a:t>
            </a:r>
            <a:endParaRPr lang="en-US" sz="900" dirty="0"/>
          </a:p>
        </p:txBody>
      </p:sp>
      <p:sp>
        <p:nvSpPr>
          <p:cNvPr id="9" name="Shape 7"/>
          <p:cNvSpPr/>
          <p:nvPr/>
        </p:nvSpPr>
        <p:spPr>
          <a:xfrm>
            <a:off x="4325112" y="1783080"/>
            <a:ext cx="3520440" cy="640080"/>
          </a:xfrm>
          <a:prstGeom prst="roundRect">
            <a:avLst>
              <a:gd name="adj" fmla="val 11429"/>
            </a:avLst>
          </a:prstGeom>
          <a:solidFill>
            <a:srgbClr val="EDF2FA"/>
          </a:solidFill>
          <a:ln/>
        </p:spPr>
      </p:sp>
      <p:sp>
        <p:nvSpPr>
          <p:cNvPr id="10" name="Shape 8"/>
          <p:cNvSpPr/>
          <p:nvPr/>
        </p:nvSpPr>
        <p:spPr>
          <a:xfrm>
            <a:off x="4489704" y="1911096"/>
            <a:ext cx="384048" cy="384048"/>
          </a:xfrm>
          <a:prstGeom prst="ellipse">
            <a:avLst/>
          </a:prstGeom>
          <a:solidFill>
            <a:srgbClr val="3E5C8A"/>
          </a:solidFill>
          <a:ln/>
        </p:spPr>
      </p:sp>
      <p:sp>
        <p:nvSpPr>
          <p:cNvPr id="11" name="Text 9"/>
          <p:cNvSpPr txBox="1"/>
          <p:nvPr/>
        </p:nvSpPr>
        <p:spPr>
          <a:xfrm>
            <a:off x="4489704" y="19110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4983480" y="1828800"/>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What the strategy must cover</a:t>
            </a:r>
            <a:endParaRPr lang="en-US" sz="1150" dirty="0"/>
          </a:p>
        </p:txBody>
      </p:sp>
      <p:sp>
        <p:nvSpPr>
          <p:cNvPr id="13" name="Text 11"/>
          <p:cNvSpPr txBox="1"/>
          <p:nvPr/>
        </p:nvSpPr>
        <p:spPr>
          <a:xfrm>
            <a:off x="4983480" y="2112264"/>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Ambition, four pillars, operating discipline</a:t>
            </a:r>
            <a:endParaRPr lang="en-US" sz="900" dirty="0"/>
          </a:p>
        </p:txBody>
      </p:sp>
      <p:sp>
        <p:nvSpPr>
          <p:cNvPr id="14" name="Shape 12"/>
          <p:cNvSpPr/>
          <p:nvPr/>
        </p:nvSpPr>
        <p:spPr>
          <a:xfrm>
            <a:off x="8010144" y="1783080"/>
            <a:ext cx="3520440" cy="640080"/>
          </a:xfrm>
          <a:prstGeom prst="roundRect">
            <a:avLst>
              <a:gd name="adj" fmla="val 11429"/>
            </a:avLst>
          </a:prstGeom>
          <a:solidFill>
            <a:srgbClr val="F2F6FC"/>
          </a:solidFill>
          <a:ln/>
        </p:spPr>
      </p:sp>
      <p:sp>
        <p:nvSpPr>
          <p:cNvPr id="15" name="Shape 13"/>
          <p:cNvSpPr/>
          <p:nvPr/>
        </p:nvSpPr>
        <p:spPr>
          <a:xfrm>
            <a:off x="8174736" y="1911096"/>
            <a:ext cx="384048" cy="384048"/>
          </a:xfrm>
          <a:prstGeom prst="ellipse">
            <a:avLst/>
          </a:prstGeom>
          <a:solidFill>
            <a:srgbClr val="1E2761"/>
          </a:solidFill>
          <a:ln/>
        </p:spPr>
      </p:sp>
      <p:sp>
        <p:nvSpPr>
          <p:cNvPr id="16" name="Text 14"/>
          <p:cNvSpPr txBox="1"/>
          <p:nvPr/>
        </p:nvSpPr>
        <p:spPr>
          <a:xfrm>
            <a:off x="8174736" y="19110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668512" y="1828800"/>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The industry we mean</a:t>
            </a:r>
            <a:endParaRPr lang="en-US" sz="1150" dirty="0"/>
          </a:p>
        </p:txBody>
      </p:sp>
      <p:sp>
        <p:nvSpPr>
          <p:cNvPr id="18" name="Text 16"/>
          <p:cNvSpPr txBox="1"/>
          <p:nvPr/>
        </p:nvSpPr>
        <p:spPr>
          <a:xfrm>
            <a:off x="8668512" y="2112264"/>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Banking, funds and insurance, in priority order</a:t>
            </a:r>
            <a:endParaRPr lang="en-US" sz="900" dirty="0"/>
          </a:p>
        </p:txBody>
      </p:sp>
      <p:sp>
        <p:nvSpPr>
          <p:cNvPr id="19" name="Shape 17"/>
          <p:cNvSpPr/>
          <p:nvPr/>
        </p:nvSpPr>
        <p:spPr>
          <a:xfrm>
            <a:off x="640080" y="2496312"/>
            <a:ext cx="3520440" cy="640080"/>
          </a:xfrm>
          <a:prstGeom prst="roundRect">
            <a:avLst>
              <a:gd name="adj" fmla="val 11429"/>
            </a:avLst>
          </a:prstGeom>
          <a:solidFill>
            <a:srgbClr val="EDF2FA"/>
          </a:solidFill>
          <a:ln/>
        </p:spPr>
      </p:sp>
      <p:sp>
        <p:nvSpPr>
          <p:cNvPr id="20" name="Shape 18"/>
          <p:cNvSpPr/>
          <p:nvPr/>
        </p:nvSpPr>
        <p:spPr>
          <a:xfrm>
            <a:off x="804672" y="2624328"/>
            <a:ext cx="384048" cy="384048"/>
          </a:xfrm>
          <a:prstGeom prst="ellipse">
            <a:avLst/>
          </a:prstGeom>
          <a:solidFill>
            <a:srgbClr val="3E5C8A"/>
          </a:solidFill>
          <a:ln/>
        </p:spPr>
      </p:sp>
      <p:sp>
        <p:nvSpPr>
          <p:cNvPr id="21" name="Text 19"/>
          <p:cNvSpPr txBox="1"/>
          <p:nvPr/>
        </p:nvSpPr>
        <p:spPr>
          <a:xfrm>
            <a:off x="804672"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298448" y="2542032"/>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What the vision has to carry</a:t>
            </a:r>
            <a:endParaRPr lang="en-US" sz="1150" dirty="0"/>
          </a:p>
        </p:txBody>
      </p:sp>
      <p:sp>
        <p:nvSpPr>
          <p:cNvPr id="23" name="Text 21"/>
          <p:cNvSpPr txBox="1"/>
          <p:nvPr/>
        </p:nvSpPr>
        <p:spPr>
          <a:xfrm>
            <a:off x="1298448" y="2825496"/>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Six drivers agreed before the words</a:t>
            </a:r>
            <a:endParaRPr lang="en-US" sz="900" dirty="0"/>
          </a:p>
        </p:txBody>
      </p:sp>
      <p:sp>
        <p:nvSpPr>
          <p:cNvPr id="24" name="Shape 22"/>
          <p:cNvSpPr/>
          <p:nvPr/>
        </p:nvSpPr>
        <p:spPr>
          <a:xfrm>
            <a:off x="4325112" y="2496312"/>
            <a:ext cx="3520440" cy="640080"/>
          </a:xfrm>
          <a:prstGeom prst="roundRect">
            <a:avLst>
              <a:gd name="adj" fmla="val 11429"/>
            </a:avLst>
          </a:prstGeom>
          <a:solidFill>
            <a:srgbClr val="F2F6FC"/>
          </a:solidFill>
          <a:ln/>
        </p:spPr>
      </p:sp>
      <p:sp>
        <p:nvSpPr>
          <p:cNvPr id="25" name="Shape 23"/>
          <p:cNvSpPr/>
          <p:nvPr/>
        </p:nvSpPr>
        <p:spPr>
          <a:xfrm>
            <a:off x="4489704" y="2624328"/>
            <a:ext cx="384048" cy="384048"/>
          </a:xfrm>
          <a:prstGeom prst="ellipse">
            <a:avLst/>
          </a:prstGeom>
          <a:solidFill>
            <a:srgbClr val="1E2761"/>
          </a:solidFill>
          <a:ln/>
        </p:spPr>
      </p:sp>
      <p:sp>
        <p:nvSpPr>
          <p:cNvPr id="26" name="Text 24"/>
          <p:cNvSpPr txBox="1"/>
          <p:nvPr/>
        </p:nvSpPr>
        <p:spPr>
          <a:xfrm>
            <a:off x="4489704"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4983480" y="2542032"/>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Three candidate statements</a:t>
            </a:r>
            <a:endParaRPr lang="en-US" sz="1150" dirty="0"/>
          </a:p>
        </p:txBody>
      </p:sp>
      <p:sp>
        <p:nvSpPr>
          <p:cNvPr id="28" name="Text 26"/>
          <p:cNvSpPr txBox="1"/>
          <p:nvPr/>
        </p:nvSpPr>
        <p:spPr>
          <a:xfrm>
            <a:off x="4983480" y="2825496"/>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Lead candidate and two alternates</a:t>
            </a:r>
            <a:endParaRPr lang="en-US" sz="900" dirty="0"/>
          </a:p>
        </p:txBody>
      </p:sp>
      <p:sp>
        <p:nvSpPr>
          <p:cNvPr id="29" name="Shape 27"/>
          <p:cNvSpPr/>
          <p:nvPr/>
        </p:nvSpPr>
        <p:spPr>
          <a:xfrm>
            <a:off x="8010144" y="2496312"/>
            <a:ext cx="3520440" cy="640080"/>
          </a:xfrm>
          <a:prstGeom prst="roundRect">
            <a:avLst>
              <a:gd name="adj" fmla="val 11429"/>
            </a:avLst>
          </a:prstGeom>
          <a:solidFill>
            <a:srgbClr val="EDF2FA"/>
          </a:solidFill>
          <a:ln/>
        </p:spPr>
      </p:sp>
      <p:sp>
        <p:nvSpPr>
          <p:cNvPr id="30" name="Shape 28"/>
          <p:cNvSpPr/>
          <p:nvPr/>
        </p:nvSpPr>
        <p:spPr>
          <a:xfrm>
            <a:off x="8174736" y="2624328"/>
            <a:ext cx="384048" cy="384048"/>
          </a:xfrm>
          <a:prstGeom prst="ellipse">
            <a:avLst/>
          </a:prstGeom>
          <a:solidFill>
            <a:srgbClr val="3E5C8A"/>
          </a:solidFill>
          <a:ln/>
        </p:spPr>
      </p:sp>
      <p:sp>
        <p:nvSpPr>
          <p:cNvPr id="31" name="Text 29"/>
          <p:cNvSpPr txBox="1"/>
          <p:nvPr/>
        </p:nvSpPr>
        <p:spPr>
          <a:xfrm>
            <a:off x="8174736"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668512" y="2542032"/>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Pillar 1 · Tier one and tier two</a:t>
            </a:r>
            <a:endParaRPr lang="en-US" sz="1150" dirty="0"/>
          </a:p>
        </p:txBody>
      </p:sp>
      <p:sp>
        <p:nvSpPr>
          <p:cNvPr id="33" name="Text 31"/>
          <p:cNvSpPr txBox="1"/>
          <p:nvPr/>
        </p:nvSpPr>
        <p:spPr>
          <a:xfrm>
            <a:off x="8668512" y="2825496"/>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Where the energy goes</a:t>
            </a:r>
            <a:endParaRPr lang="en-US" sz="900" dirty="0"/>
          </a:p>
        </p:txBody>
      </p:sp>
      <p:sp>
        <p:nvSpPr>
          <p:cNvPr id="34" name="Shape 32"/>
          <p:cNvSpPr/>
          <p:nvPr/>
        </p:nvSpPr>
        <p:spPr>
          <a:xfrm>
            <a:off x="640080" y="3209544"/>
            <a:ext cx="3520440" cy="640080"/>
          </a:xfrm>
          <a:prstGeom prst="roundRect">
            <a:avLst>
              <a:gd name="adj" fmla="val 11429"/>
            </a:avLst>
          </a:prstGeom>
          <a:solidFill>
            <a:srgbClr val="F2F6FC"/>
          </a:solidFill>
          <a:ln/>
        </p:spPr>
      </p:sp>
      <p:sp>
        <p:nvSpPr>
          <p:cNvPr id="35" name="Shape 33"/>
          <p:cNvSpPr/>
          <p:nvPr/>
        </p:nvSpPr>
        <p:spPr>
          <a:xfrm>
            <a:off x="804672" y="3337560"/>
            <a:ext cx="384048" cy="384048"/>
          </a:xfrm>
          <a:prstGeom prst="ellipse">
            <a:avLst/>
          </a:prstGeom>
          <a:solidFill>
            <a:srgbClr val="1E2761"/>
          </a:solidFill>
          <a:ln/>
        </p:spPr>
      </p:sp>
      <p:sp>
        <p:nvSpPr>
          <p:cNvPr id="36" name="Text 34"/>
          <p:cNvSpPr txBox="1"/>
          <p:nvPr/>
        </p:nvSpPr>
        <p:spPr>
          <a:xfrm>
            <a:off x="804672" y="33375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298448" y="3255264"/>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Principles we hold going in</a:t>
            </a:r>
            <a:endParaRPr lang="en-US" sz="1150" dirty="0"/>
          </a:p>
        </p:txBody>
      </p:sp>
      <p:sp>
        <p:nvSpPr>
          <p:cNvPr id="38" name="Text 36"/>
          <p:cNvSpPr txBox="1"/>
          <p:nvPr/>
        </p:nvSpPr>
        <p:spPr>
          <a:xfrm>
            <a:off x="1298448" y="3538728"/>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Constraints agreed before the work starts</a:t>
            </a:r>
            <a:endParaRPr lang="en-US" sz="900" dirty="0"/>
          </a:p>
        </p:txBody>
      </p:sp>
      <p:sp>
        <p:nvSpPr>
          <p:cNvPr id="39" name="Shape 37"/>
          <p:cNvSpPr/>
          <p:nvPr/>
        </p:nvSpPr>
        <p:spPr>
          <a:xfrm>
            <a:off x="4325112" y="3209544"/>
            <a:ext cx="3520440" cy="640080"/>
          </a:xfrm>
          <a:prstGeom prst="roundRect">
            <a:avLst>
              <a:gd name="adj" fmla="val 11429"/>
            </a:avLst>
          </a:prstGeom>
          <a:solidFill>
            <a:srgbClr val="EDF2FA"/>
          </a:solidFill>
          <a:ln/>
        </p:spPr>
      </p:sp>
      <p:sp>
        <p:nvSpPr>
          <p:cNvPr id="40" name="Shape 38"/>
          <p:cNvSpPr/>
          <p:nvPr/>
        </p:nvSpPr>
        <p:spPr>
          <a:xfrm>
            <a:off x="4489704" y="3337560"/>
            <a:ext cx="384048" cy="384048"/>
          </a:xfrm>
          <a:prstGeom prst="ellipse">
            <a:avLst/>
          </a:prstGeom>
          <a:solidFill>
            <a:srgbClr val="3E5C8A"/>
          </a:solidFill>
          <a:ln/>
        </p:spPr>
      </p:sp>
      <p:sp>
        <p:nvSpPr>
          <p:cNvPr id="41" name="Text 39"/>
          <p:cNvSpPr txBox="1"/>
          <p:nvPr/>
        </p:nvSpPr>
        <p:spPr>
          <a:xfrm>
            <a:off x="4489704" y="33375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4983480" y="3255264"/>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How we will get there</a:t>
            </a:r>
            <a:endParaRPr lang="en-US" sz="1150" dirty="0"/>
          </a:p>
        </p:txBody>
      </p:sp>
      <p:sp>
        <p:nvSpPr>
          <p:cNvPr id="43" name="Text 41"/>
          <p:cNvSpPr txBox="1"/>
          <p:nvPr/>
        </p:nvSpPr>
        <p:spPr>
          <a:xfrm>
            <a:off x="4983480" y="3538728"/>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The five-step approach</a:t>
            </a:r>
            <a:endParaRPr lang="en-US" sz="900" dirty="0"/>
          </a:p>
        </p:txBody>
      </p:sp>
      <p:sp>
        <p:nvSpPr>
          <p:cNvPr id="44" name="Shape 42"/>
          <p:cNvSpPr/>
          <p:nvPr/>
        </p:nvSpPr>
        <p:spPr>
          <a:xfrm>
            <a:off x="8010144" y="3209544"/>
            <a:ext cx="3520440" cy="640080"/>
          </a:xfrm>
          <a:prstGeom prst="roundRect">
            <a:avLst>
              <a:gd name="adj" fmla="val 11429"/>
            </a:avLst>
          </a:prstGeom>
          <a:solidFill>
            <a:srgbClr val="F2F6FC"/>
          </a:solidFill>
          <a:ln/>
        </p:spPr>
      </p:sp>
      <p:sp>
        <p:nvSpPr>
          <p:cNvPr id="45" name="Shape 43"/>
          <p:cNvSpPr/>
          <p:nvPr/>
        </p:nvSpPr>
        <p:spPr>
          <a:xfrm>
            <a:off x="8174736" y="3337560"/>
            <a:ext cx="384048" cy="384048"/>
          </a:xfrm>
          <a:prstGeom prst="ellipse">
            <a:avLst/>
          </a:prstGeom>
          <a:solidFill>
            <a:srgbClr val="1E2761"/>
          </a:solidFill>
          <a:ln/>
        </p:spPr>
      </p:sp>
      <p:sp>
        <p:nvSpPr>
          <p:cNvPr id="46" name="Text 44"/>
          <p:cNvSpPr txBox="1"/>
          <p:nvPr/>
        </p:nvSpPr>
        <p:spPr>
          <a:xfrm>
            <a:off x="8174736" y="33375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8668512" y="3255264"/>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Five workstreams, one per pillar</a:t>
            </a:r>
            <a:endParaRPr lang="en-US" sz="1150" dirty="0"/>
          </a:p>
        </p:txBody>
      </p:sp>
      <p:sp>
        <p:nvSpPr>
          <p:cNvPr id="48" name="Text 46"/>
          <p:cNvSpPr txBox="1"/>
          <p:nvPr/>
        </p:nvSpPr>
        <p:spPr>
          <a:xfrm>
            <a:off x="8668512" y="3538728"/>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Who owns what, and what each produces</a:t>
            </a:r>
            <a:endParaRPr lang="en-US" sz="900" dirty="0"/>
          </a:p>
        </p:txBody>
      </p:sp>
      <p:sp>
        <p:nvSpPr>
          <p:cNvPr id="49" name="Shape 47"/>
          <p:cNvSpPr/>
          <p:nvPr/>
        </p:nvSpPr>
        <p:spPr>
          <a:xfrm>
            <a:off x="640080" y="3922776"/>
            <a:ext cx="3520440" cy="640080"/>
          </a:xfrm>
          <a:prstGeom prst="roundRect">
            <a:avLst>
              <a:gd name="adj" fmla="val 11429"/>
            </a:avLst>
          </a:prstGeom>
          <a:solidFill>
            <a:srgbClr val="EDF2FA"/>
          </a:solidFill>
          <a:ln/>
        </p:spPr>
      </p:sp>
      <p:sp>
        <p:nvSpPr>
          <p:cNvPr id="50" name="Shape 48"/>
          <p:cNvSpPr/>
          <p:nvPr/>
        </p:nvSpPr>
        <p:spPr>
          <a:xfrm>
            <a:off x="804672" y="4050792"/>
            <a:ext cx="384048" cy="384048"/>
          </a:xfrm>
          <a:prstGeom prst="ellipse">
            <a:avLst/>
          </a:prstGeom>
          <a:solidFill>
            <a:srgbClr val="3E5C8A"/>
          </a:solidFill>
          <a:ln/>
        </p:spPr>
      </p:sp>
      <p:sp>
        <p:nvSpPr>
          <p:cNvPr id="51" name="Text 49"/>
          <p:cNvSpPr txBox="1"/>
          <p:nvPr/>
        </p:nvSpPr>
        <p:spPr>
          <a:xfrm>
            <a:off x="804672" y="405079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1298448" y="3968496"/>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Who is doing this</a:t>
            </a:r>
            <a:endParaRPr lang="en-US" sz="1150" dirty="0"/>
          </a:p>
        </p:txBody>
      </p:sp>
      <p:sp>
        <p:nvSpPr>
          <p:cNvPr id="53" name="Text 51"/>
          <p:cNvSpPr txBox="1"/>
          <p:nvPr/>
        </p:nvSpPr>
        <p:spPr>
          <a:xfrm>
            <a:off x="1298448" y="4251960"/>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The strategy development team</a:t>
            </a:r>
            <a:endParaRPr lang="en-US" sz="900" dirty="0"/>
          </a:p>
        </p:txBody>
      </p:sp>
      <p:sp>
        <p:nvSpPr>
          <p:cNvPr id="54" name="Shape 52"/>
          <p:cNvSpPr/>
          <p:nvPr/>
        </p:nvSpPr>
        <p:spPr>
          <a:xfrm>
            <a:off x="4325112" y="3922776"/>
            <a:ext cx="3520440" cy="640080"/>
          </a:xfrm>
          <a:prstGeom prst="roundRect">
            <a:avLst>
              <a:gd name="adj" fmla="val 11429"/>
            </a:avLst>
          </a:prstGeom>
          <a:solidFill>
            <a:srgbClr val="F2F6FC"/>
          </a:solidFill>
          <a:ln/>
        </p:spPr>
      </p:sp>
      <p:sp>
        <p:nvSpPr>
          <p:cNvPr id="55" name="Shape 53"/>
          <p:cNvSpPr/>
          <p:nvPr/>
        </p:nvSpPr>
        <p:spPr>
          <a:xfrm>
            <a:off x="4489704" y="4050792"/>
            <a:ext cx="384048" cy="384048"/>
          </a:xfrm>
          <a:prstGeom prst="ellipse">
            <a:avLst/>
          </a:prstGeom>
          <a:solidFill>
            <a:srgbClr val="1E2761"/>
          </a:solidFill>
          <a:ln/>
        </p:spPr>
      </p:sp>
      <p:sp>
        <p:nvSpPr>
          <p:cNvPr id="56" name="Text 54"/>
          <p:cNvSpPr txBox="1"/>
          <p:nvPr/>
        </p:nvSpPr>
        <p:spPr>
          <a:xfrm>
            <a:off x="4489704" y="405079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4983480" y="3968496"/>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Pillar 3 · Delivery and pricing economics</a:t>
            </a:r>
            <a:endParaRPr lang="en-US" sz="1150" dirty="0"/>
          </a:p>
        </p:txBody>
      </p:sp>
      <p:sp>
        <p:nvSpPr>
          <p:cNvPr id="58" name="Text 56"/>
          <p:cNvSpPr txBox="1"/>
          <p:nvPr/>
        </p:nvSpPr>
        <p:spPr>
          <a:xfrm>
            <a:off x="4983480" y="4251960"/>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Construct, price, ADR and margin</a:t>
            </a:r>
            <a:endParaRPr lang="en-US" sz="900" dirty="0"/>
          </a:p>
        </p:txBody>
      </p:sp>
      <p:sp>
        <p:nvSpPr>
          <p:cNvPr id="59" name="Shape 57"/>
          <p:cNvSpPr/>
          <p:nvPr/>
        </p:nvSpPr>
        <p:spPr>
          <a:xfrm>
            <a:off x="8010144" y="3922776"/>
            <a:ext cx="3520440" cy="640080"/>
          </a:xfrm>
          <a:prstGeom prst="roundRect">
            <a:avLst>
              <a:gd name="adj" fmla="val 11429"/>
            </a:avLst>
          </a:prstGeom>
          <a:solidFill>
            <a:srgbClr val="EDF2FA"/>
          </a:solidFill>
          <a:ln/>
        </p:spPr>
      </p:sp>
      <p:sp>
        <p:nvSpPr>
          <p:cNvPr id="60" name="Shape 58"/>
          <p:cNvSpPr/>
          <p:nvPr/>
        </p:nvSpPr>
        <p:spPr>
          <a:xfrm>
            <a:off x="8174736" y="4050792"/>
            <a:ext cx="384048" cy="384048"/>
          </a:xfrm>
          <a:prstGeom prst="ellipse">
            <a:avLst/>
          </a:prstGeom>
          <a:solidFill>
            <a:srgbClr val="3E5C8A"/>
          </a:solidFill>
          <a:ln/>
        </p:spPr>
      </p:sp>
      <p:sp>
        <p:nvSpPr>
          <p:cNvPr id="61" name="Text 59"/>
          <p:cNvSpPr txBox="1"/>
          <p:nvPr/>
        </p:nvSpPr>
        <p:spPr>
          <a:xfrm>
            <a:off x="8174736" y="405079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8668512" y="3968496"/>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Pillar 3 · Team and talent</a:t>
            </a:r>
            <a:endParaRPr lang="en-US" sz="1150" dirty="0"/>
          </a:p>
        </p:txBody>
      </p:sp>
      <p:sp>
        <p:nvSpPr>
          <p:cNvPr id="63" name="Text 61"/>
          <p:cNvSpPr txBox="1"/>
          <p:nvPr/>
        </p:nvSpPr>
        <p:spPr>
          <a:xfrm>
            <a:off x="8668512" y="4251960"/>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Dedicated, shared and the gap to close</a:t>
            </a:r>
            <a:endParaRPr lang="en-US" sz="900" dirty="0"/>
          </a:p>
        </p:txBody>
      </p:sp>
      <p:sp>
        <p:nvSpPr>
          <p:cNvPr id="64" name="Shape 62"/>
          <p:cNvSpPr/>
          <p:nvPr/>
        </p:nvSpPr>
        <p:spPr>
          <a:xfrm>
            <a:off x="640080" y="4636008"/>
            <a:ext cx="3520440" cy="640080"/>
          </a:xfrm>
          <a:prstGeom prst="roundRect">
            <a:avLst>
              <a:gd name="adj" fmla="val 11429"/>
            </a:avLst>
          </a:prstGeom>
          <a:solidFill>
            <a:srgbClr val="F2F6FC"/>
          </a:solidFill>
          <a:ln/>
        </p:spPr>
      </p:sp>
      <p:sp>
        <p:nvSpPr>
          <p:cNvPr id="65" name="Shape 63"/>
          <p:cNvSpPr/>
          <p:nvPr/>
        </p:nvSpPr>
        <p:spPr>
          <a:xfrm>
            <a:off x="804672" y="4764024"/>
            <a:ext cx="384048" cy="384048"/>
          </a:xfrm>
          <a:prstGeom prst="ellipse">
            <a:avLst/>
          </a:prstGeom>
          <a:solidFill>
            <a:srgbClr val="1E2761"/>
          </a:solidFill>
          <a:ln/>
        </p:spPr>
      </p:sp>
      <p:sp>
        <p:nvSpPr>
          <p:cNvPr id="66" name="Text 64"/>
          <p:cNvSpPr txBox="1"/>
          <p:nvPr/>
        </p:nvSpPr>
        <p:spPr>
          <a:xfrm>
            <a:off x="804672" y="47640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13</a:t>
            </a:r>
            <a:endParaRPr lang="en-US" sz="1200" dirty="0"/>
          </a:p>
        </p:txBody>
      </p:sp>
      <p:sp>
        <p:nvSpPr>
          <p:cNvPr id="67" name="Text 65"/>
          <p:cNvSpPr txBox="1"/>
          <p:nvPr/>
        </p:nvSpPr>
        <p:spPr>
          <a:xfrm>
            <a:off x="1298448" y="4681728"/>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Pillar 4 · Eminence and positioning</a:t>
            </a:r>
            <a:endParaRPr lang="en-US" sz="1150" dirty="0"/>
          </a:p>
        </p:txBody>
      </p:sp>
      <p:sp>
        <p:nvSpPr>
          <p:cNvPr id="68" name="Text 66"/>
          <p:cNvSpPr txBox="1"/>
          <p:nvPr/>
        </p:nvSpPr>
        <p:spPr>
          <a:xfrm>
            <a:off x="1298448" y="4965192"/>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How the market comes to know us</a:t>
            </a:r>
            <a:endParaRPr lang="en-US" sz="900" dirty="0"/>
          </a:p>
        </p:txBody>
      </p:sp>
      <p:sp>
        <p:nvSpPr>
          <p:cNvPr id="69" name="Shape 67"/>
          <p:cNvSpPr/>
          <p:nvPr/>
        </p:nvSpPr>
        <p:spPr>
          <a:xfrm>
            <a:off x="4325112" y="4636008"/>
            <a:ext cx="3520440" cy="640080"/>
          </a:xfrm>
          <a:prstGeom prst="roundRect">
            <a:avLst>
              <a:gd name="adj" fmla="val 11429"/>
            </a:avLst>
          </a:prstGeom>
          <a:solidFill>
            <a:srgbClr val="EDF2FA"/>
          </a:solidFill>
          <a:ln/>
        </p:spPr>
      </p:sp>
      <p:sp>
        <p:nvSpPr>
          <p:cNvPr id="70" name="Shape 68"/>
          <p:cNvSpPr/>
          <p:nvPr/>
        </p:nvSpPr>
        <p:spPr>
          <a:xfrm>
            <a:off x="4489704" y="4764024"/>
            <a:ext cx="384048" cy="384048"/>
          </a:xfrm>
          <a:prstGeom prst="ellipse">
            <a:avLst/>
          </a:prstGeom>
          <a:solidFill>
            <a:srgbClr val="3E5C8A"/>
          </a:solidFill>
          <a:ln/>
        </p:spPr>
      </p:sp>
      <p:sp>
        <p:nvSpPr>
          <p:cNvPr id="71" name="Text 69"/>
          <p:cNvSpPr txBox="1"/>
          <p:nvPr/>
        </p:nvSpPr>
        <p:spPr>
          <a:xfrm>
            <a:off x="4489704" y="47640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14</a:t>
            </a:r>
            <a:endParaRPr lang="en-US" sz="1200" dirty="0"/>
          </a:p>
        </p:txBody>
      </p:sp>
      <p:sp>
        <p:nvSpPr>
          <p:cNvPr id="72" name="Text 70"/>
          <p:cNvSpPr txBox="1"/>
          <p:nvPr/>
        </p:nvSpPr>
        <p:spPr>
          <a:xfrm>
            <a:off x="4983480" y="4681728"/>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Pillar 4 · Alliances</a:t>
            </a:r>
            <a:endParaRPr lang="en-US" sz="1150" dirty="0"/>
          </a:p>
        </p:txBody>
      </p:sp>
      <p:sp>
        <p:nvSpPr>
          <p:cNvPr id="73" name="Text 71"/>
          <p:cNvSpPr txBox="1"/>
          <p:nvPr/>
        </p:nvSpPr>
        <p:spPr>
          <a:xfrm>
            <a:off x="4983480" y="4965192"/>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Who we go to market with, and for what</a:t>
            </a:r>
            <a:endParaRPr lang="en-US" sz="900" dirty="0"/>
          </a:p>
        </p:txBody>
      </p:sp>
      <p:sp>
        <p:nvSpPr>
          <p:cNvPr id="74" name="Shape 72"/>
          <p:cNvSpPr/>
          <p:nvPr/>
        </p:nvSpPr>
        <p:spPr>
          <a:xfrm>
            <a:off x="8010144" y="4636008"/>
            <a:ext cx="3520440" cy="640080"/>
          </a:xfrm>
          <a:prstGeom prst="roundRect">
            <a:avLst>
              <a:gd name="adj" fmla="val 11429"/>
            </a:avLst>
          </a:prstGeom>
          <a:solidFill>
            <a:srgbClr val="F2F6FC"/>
          </a:solidFill>
          <a:ln/>
        </p:spPr>
      </p:sp>
      <p:sp>
        <p:nvSpPr>
          <p:cNvPr id="75" name="Shape 73"/>
          <p:cNvSpPr/>
          <p:nvPr/>
        </p:nvSpPr>
        <p:spPr>
          <a:xfrm>
            <a:off x="8174736" y="4764024"/>
            <a:ext cx="384048" cy="384048"/>
          </a:xfrm>
          <a:prstGeom prst="ellipse">
            <a:avLst/>
          </a:prstGeom>
          <a:solidFill>
            <a:srgbClr val="1E2761"/>
          </a:solidFill>
          <a:ln/>
        </p:spPr>
      </p:sp>
      <p:sp>
        <p:nvSpPr>
          <p:cNvPr id="76" name="Text 74"/>
          <p:cNvSpPr txBox="1"/>
          <p:nvPr/>
        </p:nvSpPr>
        <p:spPr>
          <a:xfrm>
            <a:off x="8174736" y="47640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15</a:t>
            </a:r>
            <a:endParaRPr lang="en-US" sz="1200" dirty="0"/>
          </a:p>
        </p:txBody>
      </p:sp>
      <p:sp>
        <p:nvSpPr>
          <p:cNvPr id="77" name="Text 75"/>
          <p:cNvSpPr txBox="1"/>
          <p:nvPr/>
        </p:nvSpPr>
        <p:spPr>
          <a:xfrm>
            <a:off x="8668512" y="4681728"/>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The three-week journey</a:t>
            </a:r>
            <a:endParaRPr lang="en-US" sz="1150" dirty="0"/>
          </a:p>
        </p:txBody>
      </p:sp>
      <p:sp>
        <p:nvSpPr>
          <p:cNvPr id="78" name="Text 76"/>
          <p:cNvSpPr txBox="1"/>
          <p:nvPr/>
        </p:nvSpPr>
        <p:spPr>
          <a:xfrm>
            <a:off x="8668512" y="4965192"/>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Week by week, with a gate each week</a:t>
            </a:r>
            <a:endParaRPr lang="en-US" sz="900" dirty="0"/>
          </a:p>
        </p:txBody>
      </p:sp>
      <p:sp>
        <p:nvSpPr>
          <p:cNvPr id="79" name="Shape 77"/>
          <p:cNvSpPr/>
          <p:nvPr/>
        </p:nvSpPr>
        <p:spPr>
          <a:xfrm>
            <a:off x="640080" y="5349240"/>
            <a:ext cx="3520440" cy="640080"/>
          </a:xfrm>
          <a:prstGeom prst="roundRect">
            <a:avLst>
              <a:gd name="adj" fmla="val 11429"/>
            </a:avLst>
          </a:prstGeom>
          <a:solidFill>
            <a:srgbClr val="EDF2FA"/>
          </a:solidFill>
          <a:ln/>
        </p:spPr>
      </p:sp>
      <p:sp>
        <p:nvSpPr>
          <p:cNvPr id="80" name="Shape 78"/>
          <p:cNvSpPr/>
          <p:nvPr/>
        </p:nvSpPr>
        <p:spPr>
          <a:xfrm>
            <a:off x="804672" y="5477256"/>
            <a:ext cx="384048" cy="384048"/>
          </a:xfrm>
          <a:prstGeom prst="ellipse">
            <a:avLst/>
          </a:prstGeom>
          <a:solidFill>
            <a:srgbClr val="3E5C8A"/>
          </a:solidFill>
          <a:ln/>
        </p:spPr>
      </p:sp>
      <p:sp>
        <p:nvSpPr>
          <p:cNvPr id="81" name="Text 79"/>
          <p:cNvSpPr txBox="1"/>
          <p:nvPr/>
        </p:nvSpPr>
        <p:spPr>
          <a:xfrm>
            <a:off x="804672" y="5477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16</a:t>
            </a:r>
            <a:endParaRPr lang="en-US" sz="1200" dirty="0"/>
          </a:p>
        </p:txBody>
      </p:sp>
      <p:sp>
        <p:nvSpPr>
          <p:cNvPr id="82" name="Text 80"/>
          <p:cNvSpPr txBox="1"/>
          <p:nvPr/>
        </p:nvSpPr>
        <p:spPr>
          <a:xfrm>
            <a:off x="1298448" y="5394960"/>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The discipline · Governing the execution</a:t>
            </a:r>
            <a:endParaRPr lang="en-US" sz="1150" dirty="0"/>
          </a:p>
        </p:txBody>
      </p:sp>
      <p:sp>
        <p:nvSpPr>
          <p:cNvPr id="83" name="Text 81"/>
          <p:cNvSpPr txBox="1"/>
          <p:nvPr/>
        </p:nvSpPr>
        <p:spPr>
          <a:xfrm>
            <a:off x="1298448" y="5678424"/>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Rhythm and scorecard after sign-off</a:t>
            </a:r>
            <a:endParaRPr lang="en-US" sz="900" dirty="0"/>
          </a:p>
        </p:txBody>
      </p:sp>
      <p:sp>
        <p:nvSpPr>
          <p:cNvPr id="84" name="Shape 82"/>
          <p:cNvSpPr/>
          <p:nvPr/>
        </p:nvSpPr>
        <p:spPr>
          <a:xfrm>
            <a:off x="4325112" y="5349240"/>
            <a:ext cx="3520440" cy="640080"/>
          </a:xfrm>
          <a:prstGeom prst="roundRect">
            <a:avLst>
              <a:gd name="adj" fmla="val 11429"/>
            </a:avLst>
          </a:prstGeom>
          <a:solidFill>
            <a:srgbClr val="F2F6FC"/>
          </a:solidFill>
          <a:ln/>
        </p:spPr>
      </p:sp>
      <p:sp>
        <p:nvSpPr>
          <p:cNvPr id="85" name="Shape 83"/>
          <p:cNvSpPr/>
          <p:nvPr/>
        </p:nvSpPr>
        <p:spPr>
          <a:xfrm>
            <a:off x="4489704" y="5477256"/>
            <a:ext cx="384048" cy="384048"/>
          </a:xfrm>
          <a:prstGeom prst="ellipse">
            <a:avLst/>
          </a:prstGeom>
          <a:solidFill>
            <a:srgbClr val="1E2761"/>
          </a:solidFill>
          <a:ln/>
        </p:spPr>
      </p:sp>
      <p:sp>
        <p:nvSpPr>
          <p:cNvPr id="86" name="Text 84"/>
          <p:cNvSpPr txBox="1"/>
          <p:nvPr/>
        </p:nvSpPr>
        <p:spPr>
          <a:xfrm>
            <a:off x="4489704" y="54772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17</a:t>
            </a:r>
            <a:endParaRPr lang="en-US" sz="1200" dirty="0"/>
          </a:p>
        </p:txBody>
      </p:sp>
      <p:sp>
        <p:nvSpPr>
          <p:cNvPr id="87" name="Text 85"/>
          <p:cNvSpPr txBox="1"/>
          <p:nvPr/>
        </p:nvSpPr>
        <p:spPr>
          <a:xfrm>
            <a:off x="4983480" y="5394960"/>
            <a:ext cx="2743200" cy="292608"/>
          </a:xfrm>
          <a:prstGeom prst="rect">
            <a:avLst/>
          </a:prstGeom>
          <a:noFill/>
          <a:ln/>
        </p:spPr>
        <p:txBody>
          <a:bodyPr wrap="square" lIns="0" tIns="0" rIns="0" bIns="0" rtlCol="0" anchor="ctr"/>
          <a:lstStyle/>
          <a:p>
            <a:pPr indent="0" marL="0">
              <a:buNone/>
            </a:pPr>
            <a:r>
              <a:rPr lang="en-US" sz="1150" b="1" dirty="0">
                <a:solidFill>
                  <a:srgbClr val="16203A"/>
                </a:solidFill>
                <a:latin typeface="Calibri" pitchFamily="34" charset="0"/>
                <a:ea typeface="Calibri" pitchFamily="34" charset="-122"/>
                <a:cs typeface="Calibri" pitchFamily="34" charset="-120"/>
              </a:rPr>
              <a:t>How we run the cycle</a:t>
            </a:r>
            <a:endParaRPr lang="en-US" sz="1150" dirty="0"/>
          </a:p>
        </p:txBody>
      </p:sp>
      <p:sp>
        <p:nvSpPr>
          <p:cNvPr id="88" name="Text 86"/>
          <p:cNvSpPr txBox="1"/>
          <p:nvPr/>
        </p:nvSpPr>
        <p:spPr>
          <a:xfrm>
            <a:off x="4983480" y="5678424"/>
            <a:ext cx="2743200" cy="256032"/>
          </a:xfrm>
          <a:prstGeom prst="rect">
            <a:avLst/>
          </a:prstGeom>
          <a:noFill/>
          <a:ln/>
        </p:spPr>
        <p:txBody>
          <a:bodyPr wrap="square" lIns="0" tIns="0" rIns="0" bIns="0" rtlCol="0" anchor="ctr"/>
          <a:lstStyle/>
          <a:p>
            <a:pPr indent="0" marL="0">
              <a:buNone/>
            </a:pPr>
            <a:r>
              <a:rPr lang="en-US" sz="900" dirty="0">
                <a:solidFill>
                  <a:srgbClr val="8792AB"/>
                </a:solidFill>
                <a:latin typeface="Calibri" pitchFamily="34" charset="0"/>
                <a:ea typeface="Calibri" pitchFamily="34" charset="-122"/>
                <a:cs typeface="Calibri" pitchFamily="34" charset="-120"/>
              </a:rPr>
              <a:t>Cadence, inputs and decisions requested</a:t>
            </a:r>
            <a:endParaRPr lang="en-US" sz="900" dirty="0"/>
          </a:p>
        </p:txBody>
      </p:sp>
      <p:sp>
        <p:nvSpPr>
          <p:cNvPr id="89" name="Text 87"/>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FSI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Tier one and tier two</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and revenue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assets and accelerators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Construct, 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capacity and recruitment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industry we mean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Financial services is three segments, and they are not interchangeable.</a:t>
            </a:r>
            <a:endParaRPr lang="en-US" sz="1450" dirty="0"/>
          </a:p>
        </p:txBody>
      </p:sp>
      <p:sp>
        <p:nvSpPr>
          <p:cNvPr id="4" name="Shape 2"/>
          <p:cNvSpPr/>
          <p:nvPr/>
        </p:nvSpPr>
        <p:spPr>
          <a:xfrm>
            <a:off x="640080" y="1828800"/>
            <a:ext cx="3520440" cy="3200400"/>
          </a:xfrm>
          <a:prstGeom prst="roundRect">
            <a:avLst>
              <a:gd name="adj" fmla="val 3429"/>
            </a:avLst>
          </a:prstGeom>
          <a:solidFill>
            <a:srgbClr val="EDF2FA"/>
          </a:solidFill>
          <a:ln/>
        </p:spPr>
      </p:sp>
      <p:sp>
        <p:nvSpPr>
          <p:cNvPr id="5" name="Shape 3"/>
          <p:cNvSpPr/>
          <p:nvPr/>
        </p:nvSpPr>
        <p:spPr>
          <a:xfrm>
            <a:off x="640080" y="1828800"/>
            <a:ext cx="3520440" cy="868680"/>
          </a:xfrm>
          <a:prstGeom prst="rect">
            <a:avLst/>
          </a:prstGeom>
          <a:solidFill>
            <a:srgbClr val="1E2761"/>
          </a:solidFill>
          <a:ln/>
        </p:spPr>
      </p:sp>
      <p:sp>
        <p:nvSpPr>
          <p:cNvPr id="6" name="Text 4"/>
          <p:cNvSpPr txBox="1"/>
          <p:nvPr/>
        </p:nvSpPr>
        <p:spPr>
          <a:xfrm>
            <a:off x="914400"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Banking</a:t>
            </a:r>
            <a:endParaRPr lang="en-US" sz="1900" dirty="0"/>
          </a:p>
        </p:txBody>
      </p:sp>
      <p:sp>
        <p:nvSpPr>
          <p:cNvPr id="7" name="Text 5"/>
          <p:cNvSpPr txBox="1"/>
          <p:nvPr/>
        </p:nvSpPr>
        <p:spPr>
          <a:xfrm>
            <a:off x="914400"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Priority segment</a:t>
            </a:r>
            <a:endParaRPr lang="en-US" sz="1150" dirty="0"/>
          </a:p>
        </p:txBody>
      </p:sp>
      <p:sp>
        <p:nvSpPr>
          <p:cNvPr id="8" name="Text 6"/>
          <p:cNvSpPr txBox="1"/>
          <p:nvPr/>
        </p:nvSpPr>
        <p:spPr>
          <a:xfrm>
            <a:off x="3383280"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1</a:t>
            </a:r>
            <a:endParaRPr lang="en-US" sz="3000" dirty="0"/>
          </a:p>
        </p:txBody>
      </p:sp>
      <p:sp>
        <p:nvSpPr>
          <p:cNvPr id="9" name="Text 7"/>
          <p:cNvSpPr txBox="1"/>
          <p:nvPr/>
        </p:nvSpPr>
        <p:spPr>
          <a:xfrm>
            <a:off x="914400"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Retail, corporate and SME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Islamic banking</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Payments and cards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Greenfield and challenger banks</a:t>
            </a:r>
            <a:endParaRPr lang="en-US" sz="1200" dirty="0"/>
          </a:p>
        </p:txBody>
      </p:sp>
      <p:sp>
        <p:nvSpPr>
          <p:cNvPr id="10" name="Shape 8"/>
          <p:cNvSpPr/>
          <p:nvPr/>
        </p:nvSpPr>
        <p:spPr>
          <a:xfrm>
            <a:off x="4325112" y="1828800"/>
            <a:ext cx="3520440" cy="3200400"/>
          </a:xfrm>
          <a:prstGeom prst="roundRect">
            <a:avLst>
              <a:gd name="adj" fmla="val 3429"/>
            </a:avLst>
          </a:prstGeom>
          <a:solidFill>
            <a:srgbClr val="EDF2FA"/>
          </a:solidFill>
          <a:ln/>
        </p:spPr>
      </p:sp>
      <p:sp>
        <p:nvSpPr>
          <p:cNvPr id="11" name="Shape 9"/>
          <p:cNvSpPr/>
          <p:nvPr/>
        </p:nvSpPr>
        <p:spPr>
          <a:xfrm>
            <a:off x="4325112" y="1828800"/>
            <a:ext cx="3520440" cy="868680"/>
          </a:xfrm>
          <a:prstGeom prst="rect">
            <a:avLst/>
          </a:prstGeom>
          <a:solidFill>
            <a:srgbClr val="3E5C8A"/>
          </a:solidFill>
          <a:ln/>
        </p:spPr>
      </p:sp>
      <p:sp>
        <p:nvSpPr>
          <p:cNvPr id="12" name="Text 10"/>
          <p:cNvSpPr txBox="1"/>
          <p:nvPr/>
        </p:nvSpPr>
        <p:spPr>
          <a:xfrm>
            <a:off x="4599432"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Funds</a:t>
            </a:r>
            <a:endParaRPr lang="en-US" sz="1900" dirty="0"/>
          </a:p>
        </p:txBody>
      </p:sp>
      <p:sp>
        <p:nvSpPr>
          <p:cNvPr id="13" name="Text 11"/>
          <p:cNvSpPr txBox="1"/>
          <p:nvPr/>
        </p:nvSpPr>
        <p:spPr>
          <a:xfrm>
            <a:off x="4599432"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Second priority</a:t>
            </a:r>
            <a:endParaRPr lang="en-US" sz="1150" dirty="0"/>
          </a:p>
        </p:txBody>
      </p:sp>
      <p:sp>
        <p:nvSpPr>
          <p:cNvPr id="14" name="Text 12"/>
          <p:cNvSpPr txBox="1"/>
          <p:nvPr/>
        </p:nvSpPr>
        <p:spPr>
          <a:xfrm>
            <a:off x="7068312"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15" name="Text 13"/>
          <p:cNvSpPr txBox="1"/>
          <p:nvPr/>
        </p:nvSpPr>
        <p:spPr>
          <a:xfrm>
            <a:off x="4599432"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Sovereign wealth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National and development funds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Fund and investment management</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Investment operations and custody</a:t>
            </a:r>
            <a:endParaRPr lang="en-US" sz="1200" dirty="0"/>
          </a:p>
        </p:txBody>
      </p:sp>
      <p:sp>
        <p:nvSpPr>
          <p:cNvPr id="16" name="Shape 14"/>
          <p:cNvSpPr/>
          <p:nvPr/>
        </p:nvSpPr>
        <p:spPr>
          <a:xfrm>
            <a:off x="8010144" y="1828800"/>
            <a:ext cx="3520440" cy="3200400"/>
          </a:xfrm>
          <a:prstGeom prst="roundRect">
            <a:avLst>
              <a:gd name="adj" fmla="val 3429"/>
            </a:avLst>
          </a:prstGeom>
          <a:solidFill>
            <a:srgbClr val="EDF2FA"/>
          </a:solidFill>
          <a:ln/>
        </p:spPr>
      </p:sp>
      <p:sp>
        <p:nvSpPr>
          <p:cNvPr id="17" name="Shape 15"/>
          <p:cNvSpPr/>
          <p:nvPr/>
        </p:nvSpPr>
        <p:spPr>
          <a:xfrm>
            <a:off x="8010144" y="1828800"/>
            <a:ext cx="3520440" cy="868680"/>
          </a:xfrm>
          <a:prstGeom prst="rect">
            <a:avLst/>
          </a:prstGeom>
          <a:solidFill>
            <a:srgbClr val="1E2761"/>
          </a:solidFill>
          <a:ln/>
        </p:spPr>
      </p:sp>
      <p:sp>
        <p:nvSpPr>
          <p:cNvPr id="18" name="Text 16"/>
          <p:cNvSpPr txBox="1"/>
          <p:nvPr/>
        </p:nvSpPr>
        <p:spPr>
          <a:xfrm>
            <a:off x="8284464" y="1901952"/>
            <a:ext cx="246888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Insurance</a:t>
            </a:r>
            <a:endParaRPr lang="en-US" sz="1900" dirty="0"/>
          </a:p>
        </p:txBody>
      </p:sp>
      <p:sp>
        <p:nvSpPr>
          <p:cNvPr id="19" name="Text 17"/>
          <p:cNvSpPr txBox="1"/>
          <p:nvPr/>
        </p:nvSpPr>
        <p:spPr>
          <a:xfrm>
            <a:off x="8284464" y="2286000"/>
            <a:ext cx="2468880" cy="320040"/>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Third priority</a:t>
            </a:r>
            <a:endParaRPr lang="en-US" sz="1150" dirty="0"/>
          </a:p>
        </p:txBody>
      </p:sp>
      <p:sp>
        <p:nvSpPr>
          <p:cNvPr id="20" name="Text 18"/>
          <p:cNvSpPr txBox="1"/>
          <p:nvPr/>
        </p:nvSpPr>
        <p:spPr>
          <a:xfrm>
            <a:off x="10753344" y="1920240"/>
            <a:ext cx="548640" cy="640080"/>
          </a:xfrm>
          <a:prstGeom prst="rect">
            <a:avLst/>
          </a:prstGeom>
          <a:noFill/>
          <a:ln/>
        </p:spPr>
        <p:txBody>
          <a:bodyPr wrap="square" lIns="0" tIns="0" rIns="0" bIns="0" rtlCol="0" anchor="ctr"/>
          <a:lstStyle/>
          <a:p>
            <a:pPr algn="r" indent="0" marL="0">
              <a:buNone/>
            </a:pPr>
            <a:r>
              <a:rPr lang="en-US" sz="3000" b="1" dirty="0">
                <a:solidFill>
                  <a:srgbClr val="FFFFFF"/>
                </a:solidFill>
                <a:latin typeface="Cambria" pitchFamily="34" charset="0"/>
                <a:ea typeface="Cambria" pitchFamily="34" charset="-122"/>
                <a:cs typeface="Cambria" pitchFamily="34" charset="-120"/>
              </a:rPr>
              <a:t>3</a:t>
            </a:r>
            <a:endParaRPr lang="en-US" sz="3000" dirty="0"/>
          </a:p>
        </p:txBody>
      </p:sp>
      <p:sp>
        <p:nvSpPr>
          <p:cNvPr id="21" name="Text 19"/>
          <p:cNvSpPr txBox="1"/>
          <p:nvPr/>
        </p:nvSpPr>
        <p:spPr>
          <a:xfrm>
            <a:off x="8284464" y="2880360"/>
            <a:ext cx="297180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Life and general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Takaful</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Health insurance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Brokers and reinsurance</a:t>
            </a:r>
            <a:endParaRPr lang="en-US" sz="1200" dirty="0"/>
          </a:p>
        </p:txBody>
      </p:sp>
      <p:sp>
        <p:nvSpPr>
          <p:cNvPr id="22" name="Shape 20"/>
          <p:cNvSpPr/>
          <p:nvPr/>
        </p:nvSpPr>
        <p:spPr>
          <a:xfrm>
            <a:off x="640080" y="5212080"/>
            <a:ext cx="10881360" cy="914400"/>
          </a:xfrm>
          <a:prstGeom prst="roundRect">
            <a:avLst>
              <a:gd name="adj" fmla="val 10000"/>
            </a:avLst>
          </a:prstGeom>
          <a:solidFill>
            <a:srgbClr val="1E2761"/>
          </a:solidFill>
          <a:ln/>
        </p:spPr>
      </p:sp>
      <p:sp>
        <p:nvSpPr>
          <p:cNvPr id="23" name="Text 21"/>
          <p:cNvSpPr txBox="1"/>
          <p:nvPr/>
        </p:nvSpPr>
        <p:spPr>
          <a:xfrm>
            <a:off x="914400" y="5212080"/>
            <a:ext cx="10332720" cy="9144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Segment is a dimension throughout: every proposition says which segments it serves, every account carries its segment, and targets are set by market and segment, not for FSI as a whole.</a:t>
            </a:r>
            <a:endParaRPr lang="en-US" sz="1300" dirty="0"/>
          </a:p>
        </p:txBody>
      </p:sp>
      <p:sp>
        <p:nvSpPr>
          <p:cNvPr id="24" name="Text 22"/>
          <p:cNvSpPr txBox="1"/>
          <p:nvPr/>
        </p:nvSpPr>
        <p:spPr>
          <a:xfrm>
            <a:off x="640080" y="621792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Sub-segments are indicative; the cycle confirms which we actually pursue.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vision has to carry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Six drivers agreed first. Every candidate statement is then tested against them.</a:t>
            </a:r>
            <a:endParaRPr lang="en-US" sz="1450" dirty="0"/>
          </a:p>
        </p:txBody>
      </p:sp>
      <p:sp>
        <p:nvSpPr>
          <p:cNvPr id="4" name="Shape 2"/>
          <p:cNvSpPr/>
          <p:nvPr/>
        </p:nvSpPr>
        <p:spPr>
          <a:xfrm>
            <a:off x="640080" y="1874520"/>
            <a:ext cx="3520440" cy="1783080"/>
          </a:xfrm>
          <a:prstGeom prst="roundRect">
            <a:avLst>
              <a:gd name="adj" fmla="val 6154"/>
            </a:avLst>
          </a:prstGeom>
          <a:solidFill>
            <a:srgbClr val="E4EBF7"/>
          </a:solidFill>
          <a:ln/>
        </p:spPr>
      </p:sp>
      <p:sp>
        <p:nvSpPr>
          <p:cNvPr id="5" name="Shape 3"/>
          <p:cNvSpPr/>
          <p:nvPr/>
        </p:nvSpPr>
        <p:spPr>
          <a:xfrm>
            <a:off x="896112" y="2112264"/>
            <a:ext cx="384048" cy="384048"/>
          </a:xfrm>
          <a:prstGeom prst="ellipse">
            <a:avLst/>
          </a:prstGeom>
          <a:solidFill>
            <a:srgbClr val="1E2761"/>
          </a:solidFill>
          <a:ln/>
        </p:spPr>
      </p:sp>
      <p:sp>
        <p:nvSpPr>
          <p:cNvPr id="6" name="Text 4"/>
          <p:cNvSpPr txBox="1"/>
          <p:nvPr/>
        </p:nvSpPr>
        <p:spPr>
          <a:xfrm>
            <a:off x="896112"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End to end</a:t>
            </a:r>
            <a:endParaRPr lang="en-US" sz="1500" dirty="0"/>
          </a:p>
        </p:txBody>
      </p:sp>
      <p:sp>
        <p:nvSpPr>
          <p:cNvPr id="8" name="Text 6"/>
          <p:cNvSpPr txBox="1"/>
          <p:nvPr/>
        </p:nvSpPr>
        <p:spPr>
          <a:xfrm>
            <a:off x="914400"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One accountable team across every stream, with our alliances counted as part of what we bring — not a separate arrangement.</a:t>
            </a:r>
            <a:endParaRPr lang="en-US" sz="1150" dirty="0"/>
          </a:p>
        </p:txBody>
      </p:sp>
      <p:sp>
        <p:nvSpPr>
          <p:cNvPr id="9" name="Shape 7"/>
          <p:cNvSpPr/>
          <p:nvPr/>
        </p:nvSpPr>
        <p:spPr>
          <a:xfrm>
            <a:off x="4325112" y="1874520"/>
            <a:ext cx="3520440" cy="1783080"/>
          </a:xfrm>
          <a:prstGeom prst="roundRect">
            <a:avLst>
              <a:gd name="adj" fmla="val 6154"/>
            </a:avLst>
          </a:prstGeom>
          <a:solidFill>
            <a:srgbClr val="EDF2FA"/>
          </a:solidFill>
          <a:ln/>
        </p:spPr>
      </p:sp>
      <p:sp>
        <p:nvSpPr>
          <p:cNvPr id="10" name="Shape 8"/>
          <p:cNvSpPr/>
          <p:nvPr/>
        </p:nvSpPr>
        <p:spPr>
          <a:xfrm>
            <a:off x="4581144" y="2112264"/>
            <a:ext cx="384048" cy="384048"/>
          </a:xfrm>
          <a:prstGeom prst="ellipse">
            <a:avLst/>
          </a:prstGeom>
          <a:solidFill>
            <a:srgbClr val="3E5C8A"/>
          </a:solidFill>
          <a:ln/>
        </p:spPr>
      </p:sp>
      <p:sp>
        <p:nvSpPr>
          <p:cNvPr id="11" name="Text 9"/>
          <p:cNvSpPr txBox="1"/>
          <p:nvPr/>
        </p:nvSpPr>
        <p:spPr>
          <a:xfrm>
            <a:off x="4581144"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102352"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Complexity, handled</a:t>
            </a:r>
            <a:endParaRPr lang="en-US" sz="1500" dirty="0"/>
          </a:p>
        </p:txBody>
      </p:sp>
      <p:sp>
        <p:nvSpPr>
          <p:cNvPr id="13" name="Text 11"/>
          <p:cNvSpPr txBox="1"/>
          <p:nvPr/>
        </p:nvSpPr>
        <p:spPr>
          <a:xfrm>
            <a:off x="4599432"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programmes that stall elsewhere. Implied through language, never stated as carrying or underwriting risk.</a:t>
            </a:r>
            <a:endParaRPr lang="en-US" sz="1150" dirty="0"/>
          </a:p>
        </p:txBody>
      </p:sp>
      <p:sp>
        <p:nvSpPr>
          <p:cNvPr id="14" name="Shape 12"/>
          <p:cNvSpPr/>
          <p:nvPr/>
        </p:nvSpPr>
        <p:spPr>
          <a:xfrm>
            <a:off x="8010144" y="1874520"/>
            <a:ext cx="3520440" cy="1783080"/>
          </a:xfrm>
          <a:prstGeom prst="roundRect">
            <a:avLst>
              <a:gd name="adj" fmla="val 6154"/>
            </a:avLst>
          </a:prstGeom>
          <a:solidFill>
            <a:srgbClr val="E4EBF7"/>
          </a:solidFill>
          <a:ln/>
        </p:spPr>
      </p:sp>
      <p:sp>
        <p:nvSpPr>
          <p:cNvPr id="15" name="Shape 13"/>
          <p:cNvSpPr/>
          <p:nvPr/>
        </p:nvSpPr>
        <p:spPr>
          <a:xfrm>
            <a:off x="8266176" y="2112264"/>
            <a:ext cx="384048" cy="384048"/>
          </a:xfrm>
          <a:prstGeom prst="ellipse">
            <a:avLst/>
          </a:prstGeom>
          <a:solidFill>
            <a:srgbClr val="1E2761"/>
          </a:solidFill>
          <a:ln/>
        </p:spPr>
      </p:sp>
      <p:sp>
        <p:nvSpPr>
          <p:cNvPr id="16" name="Text 14"/>
          <p:cNvSpPr txBox="1"/>
          <p:nvPr/>
        </p:nvSpPr>
        <p:spPr>
          <a:xfrm>
            <a:off x="8266176" y="21122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787384" y="207568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Acceleration</a:t>
            </a:r>
            <a:endParaRPr lang="en-US" sz="1500" dirty="0"/>
          </a:p>
        </p:txBody>
      </p:sp>
      <p:sp>
        <p:nvSpPr>
          <p:cNvPr id="18" name="Text 16"/>
          <p:cNvSpPr txBox="1"/>
          <p:nvPr/>
        </p:nvSpPr>
        <p:spPr>
          <a:xfrm>
            <a:off x="8284464" y="265176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Time to market and time to value: every month a platform is not live is cost carried or revenue missed.</a:t>
            </a:r>
            <a:endParaRPr lang="en-US" sz="1150" dirty="0"/>
          </a:p>
        </p:txBody>
      </p:sp>
      <p:sp>
        <p:nvSpPr>
          <p:cNvPr id="19" name="Shape 17"/>
          <p:cNvSpPr/>
          <p:nvPr/>
        </p:nvSpPr>
        <p:spPr>
          <a:xfrm>
            <a:off x="640080" y="3840480"/>
            <a:ext cx="3520440" cy="1783080"/>
          </a:xfrm>
          <a:prstGeom prst="roundRect">
            <a:avLst>
              <a:gd name="adj" fmla="val 6154"/>
            </a:avLst>
          </a:prstGeom>
          <a:solidFill>
            <a:srgbClr val="EDF2FA"/>
          </a:solidFill>
          <a:ln/>
        </p:spPr>
      </p:sp>
      <p:sp>
        <p:nvSpPr>
          <p:cNvPr id="20" name="Shape 18"/>
          <p:cNvSpPr/>
          <p:nvPr/>
        </p:nvSpPr>
        <p:spPr>
          <a:xfrm>
            <a:off x="896112" y="4078224"/>
            <a:ext cx="384048" cy="384048"/>
          </a:xfrm>
          <a:prstGeom prst="ellipse">
            <a:avLst/>
          </a:prstGeom>
          <a:solidFill>
            <a:srgbClr val="3E5C8A"/>
          </a:solidFill>
          <a:ln/>
        </p:spPr>
      </p:sp>
      <p:sp>
        <p:nvSpPr>
          <p:cNvPr id="21" name="Text 19"/>
          <p:cNvSpPr txBox="1"/>
          <p:nvPr/>
        </p:nvSpPr>
        <p:spPr>
          <a:xfrm>
            <a:off x="896112"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417320"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Both halves</a:t>
            </a:r>
            <a:endParaRPr lang="en-US" sz="1500" dirty="0"/>
          </a:p>
        </p:txBody>
      </p:sp>
      <p:sp>
        <p:nvSpPr>
          <p:cNvPr id="23" name="Text 21"/>
          <p:cNvSpPr txBox="1"/>
          <p:nvPr/>
        </p:nvSpPr>
        <p:spPr>
          <a:xfrm>
            <a:off x="914400"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institution takes to market, and how it runs inside — smarter operations and better tools for its people.</a:t>
            </a:r>
            <a:endParaRPr lang="en-US" sz="1150" dirty="0"/>
          </a:p>
        </p:txBody>
      </p:sp>
      <p:sp>
        <p:nvSpPr>
          <p:cNvPr id="24" name="Shape 22"/>
          <p:cNvSpPr/>
          <p:nvPr/>
        </p:nvSpPr>
        <p:spPr>
          <a:xfrm>
            <a:off x="4325112" y="3840480"/>
            <a:ext cx="3520440" cy="1783080"/>
          </a:xfrm>
          <a:prstGeom prst="roundRect">
            <a:avLst>
              <a:gd name="adj" fmla="val 6154"/>
            </a:avLst>
          </a:prstGeom>
          <a:solidFill>
            <a:srgbClr val="E4EBF7"/>
          </a:solidFill>
          <a:ln/>
        </p:spPr>
      </p:sp>
      <p:sp>
        <p:nvSpPr>
          <p:cNvPr id="25" name="Shape 23"/>
          <p:cNvSpPr/>
          <p:nvPr/>
        </p:nvSpPr>
        <p:spPr>
          <a:xfrm>
            <a:off x="4581144" y="4078224"/>
            <a:ext cx="384048" cy="384048"/>
          </a:xfrm>
          <a:prstGeom prst="ellipse">
            <a:avLst/>
          </a:prstGeom>
          <a:solidFill>
            <a:srgbClr val="1E2761"/>
          </a:solidFill>
          <a:ln/>
        </p:spPr>
      </p:sp>
      <p:sp>
        <p:nvSpPr>
          <p:cNvPr id="26" name="Text 24"/>
          <p:cNvSpPr txBox="1"/>
          <p:nvPr/>
        </p:nvSpPr>
        <p:spPr>
          <a:xfrm>
            <a:off x="4581144"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5102352"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AI at the core, not on the badge</a:t>
            </a:r>
            <a:endParaRPr lang="en-US" sz="1500" dirty="0"/>
          </a:p>
        </p:txBody>
      </p:sp>
      <p:sp>
        <p:nvSpPr>
          <p:cNvPr id="28" name="Text 26"/>
          <p:cNvSpPr txBox="1"/>
          <p:nvPr/>
        </p:nvSpPr>
        <p:spPr>
          <a:xfrm>
            <a:off x="4599432"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Present in what we build and how we deliver. AI-native is oversubscribed; the credibility is in the proof.</a:t>
            </a:r>
            <a:endParaRPr lang="en-US" sz="1150" dirty="0"/>
          </a:p>
        </p:txBody>
      </p:sp>
      <p:sp>
        <p:nvSpPr>
          <p:cNvPr id="29" name="Shape 27"/>
          <p:cNvSpPr/>
          <p:nvPr/>
        </p:nvSpPr>
        <p:spPr>
          <a:xfrm>
            <a:off x="8010144" y="3840480"/>
            <a:ext cx="3520440" cy="1783080"/>
          </a:xfrm>
          <a:prstGeom prst="roundRect">
            <a:avLst>
              <a:gd name="adj" fmla="val 6154"/>
            </a:avLst>
          </a:prstGeom>
          <a:solidFill>
            <a:srgbClr val="EDF2FA"/>
          </a:solidFill>
          <a:ln/>
        </p:spPr>
      </p:sp>
      <p:sp>
        <p:nvSpPr>
          <p:cNvPr id="30" name="Shape 28"/>
          <p:cNvSpPr/>
          <p:nvPr/>
        </p:nvSpPr>
        <p:spPr>
          <a:xfrm>
            <a:off x="8266176" y="4078224"/>
            <a:ext cx="384048" cy="384048"/>
          </a:xfrm>
          <a:prstGeom prst="ellipse">
            <a:avLst/>
          </a:prstGeom>
          <a:solidFill>
            <a:srgbClr val="3E5C8A"/>
          </a:solidFill>
          <a:ln/>
        </p:spPr>
      </p:sp>
      <p:sp>
        <p:nvSpPr>
          <p:cNvPr id="31" name="Text 29"/>
          <p:cNvSpPr txBox="1"/>
          <p:nvPr/>
        </p:nvSpPr>
        <p:spPr>
          <a:xfrm>
            <a:off x="8266176" y="40782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8787384" y="4041648"/>
            <a:ext cx="2560320" cy="45720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All three segments</a:t>
            </a:r>
            <a:endParaRPr lang="en-US" sz="1500" dirty="0"/>
          </a:p>
        </p:txBody>
      </p:sp>
      <p:sp>
        <p:nvSpPr>
          <p:cNvPr id="33" name="Text 31"/>
          <p:cNvSpPr txBox="1"/>
          <p:nvPr/>
        </p:nvSpPr>
        <p:spPr>
          <a:xfrm>
            <a:off x="8284464" y="4617720"/>
            <a:ext cx="2971800" cy="8686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funds and insurance. The statement cannot read as a banking-only claim.</a:t>
            </a:r>
            <a:endParaRPr lang="en-US" sz="1150" dirty="0"/>
          </a:p>
        </p:txBody>
      </p:sp>
      <p:sp>
        <p:nvSpPr>
          <p:cNvPr id="34" name="Text 32"/>
          <p:cNvSpPr txBox="1"/>
          <p:nvPr/>
        </p:nvSpPr>
        <p:spPr>
          <a:xfrm>
            <a:off x="640080" y="589788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A statement that drops one of these is not a shorter vision — it is a different one.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Three candidate statements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All three carry the six drivers. They differ in register and in what the headline claims.</a:t>
            </a:r>
            <a:endParaRPr lang="en-US" sz="1450" dirty="0"/>
          </a:p>
        </p:txBody>
      </p:sp>
      <p:sp>
        <p:nvSpPr>
          <p:cNvPr id="4" name="Shape 2"/>
          <p:cNvSpPr/>
          <p:nvPr/>
        </p:nvSpPr>
        <p:spPr>
          <a:xfrm>
            <a:off x="640080" y="1828800"/>
            <a:ext cx="3520440" cy="3611880"/>
          </a:xfrm>
          <a:prstGeom prst="roundRect">
            <a:avLst>
              <a:gd name="adj" fmla="val 3117"/>
            </a:avLst>
          </a:prstGeom>
          <a:solidFill>
            <a:srgbClr val="E4EBF7"/>
          </a:solidFill>
          <a:ln/>
        </p:spPr>
      </p:sp>
      <p:sp>
        <p:nvSpPr>
          <p:cNvPr id="5" name="Shape 3"/>
          <p:cNvSpPr/>
          <p:nvPr/>
        </p:nvSpPr>
        <p:spPr>
          <a:xfrm>
            <a:off x="914400" y="2057400"/>
            <a:ext cx="420624" cy="420624"/>
          </a:xfrm>
          <a:prstGeom prst="ellipse">
            <a:avLst/>
          </a:prstGeom>
          <a:solidFill>
            <a:srgbClr val="1E2761"/>
          </a:solidFill>
          <a:ln/>
        </p:spPr>
      </p:sp>
      <p:sp>
        <p:nvSpPr>
          <p:cNvPr id="6" name="Text 4"/>
          <p:cNvSpPr txBox="1"/>
          <p:nvPr/>
        </p:nvSpPr>
        <p:spPr>
          <a:xfrm>
            <a:off x="914400"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Complexity, compressed</a:t>
            </a:r>
            <a:endParaRPr lang="en-US" sz="1550" dirty="0"/>
          </a:p>
        </p:txBody>
      </p:sp>
      <p:sp>
        <p:nvSpPr>
          <p:cNvPr id="8" name="Text 6"/>
          <p:cNvSpPr txBox="1"/>
          <p:nvPr/>
        </p:nvSpPr>
        <p:spPr>
          <a:xfrm>
            <a:off x="914400"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take on the change financial institutions cannot afford to get wrong — modern platforms for their customers, intelligence and better tools for their people — brought end to end by one accountable team, with the assets and partnerships that compress the path.”</a:t>
            </a:r>
            <a:endParaRPr lang="en-US" sz="1150" dirty="0"/>
          </a:p>
        </p:txBody>
      </p:sp>
      <p:sp>
        <p:nvSpPr>
          <p:cNvPr id="9" name="Text 7"/>
          <p:cNvSpPr txBox="1"/>
          <p:nvPr/>
        </p:nvSpPr>
        <p:spPr>
          <a:xfrm>
            <a:off x="914400"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Lead candidate.</a:t>
            </a:r>
            <a:endParaRPr lang="en-US" sz="1150" dirty="0"/>
          </a:p>
        </p:txBody>
      </p:sp>
      <p:sp>
        <p:nvSpPr>
          <p:cNvPr id="10" name="Text 8"/>
          <p:cNvSpPr txBox="1"/>
          <p:nvPr/>
        </p:nvSpPr>
        <p:spPr>
          <a:xfrm>
            <a:off x="914400"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Hard programmes and acceleration, in two words.</a:t>
            </a:r>
            <a:endParaRPr lang="en-US" sz="1050" dirty="0"/>
          </a:p>
        </p:txBody>
      </p:sp>
      <p:sp>
        <p:nvSpPr>
          <p:cNvPr id="11" name="Shape 9"/>
          <p:cNvSpPr/>
          <p:nvPr/>
        </p:nvSpPr>
        <p:spPr>
          <a:xfrm>
            <a:off x="4325112" y="1828800"/>
            <a:ext cx="3520440" cy="3611880"/>
          </a:xfrm>
          <a:prstGeom prst="roundRect">
            <a:avLst>
              <a:gd name="adj" fmla="val 3117"/>
            </a:avLst>
          </a:prstGeom>
          <a:solidFill>
            <a:srgbClr val="EDF2FA"/>
          </a:solidFill>
          <a:ln/>
        </p:spPr>
      </p:sp>
      <p:sp>
        <p:nvSpPr>
          <p:cNvPr id="12" name="Shape 10"/>
          <p:cNvSpPr/>
          <p:nvPr/>
        </p:nvSpPr>
        <p:spPr>
          <a:xfrm>
            <a:off x="4599432" y="2057400"/>
            <a:ext cx="420624" cy="420624"/>
          </a:xfrm>
          <a:prstGeom prst="ellipse">
            <a:avLst/>
          </a:prstGeom>
          <a:solidFill>
            <a:srgbClr val="3E5C8A"/>
          </a:solidFill>
          <a:ln/>
        </p:spPr>
      </p:sp>
      <p:sp>
        <p:nvSpPr>
          <p:cNvPr id="13" name="Text 11"/>
          <p:cNvSpPr txBox="1"/>
          <p:nvPr/>
        </p:nvSpPr>
        <p:spPr>
          <a:xfrm>
            <a:off x="4599432"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Complex change, delivered at pace</a:t>
            </a:r>
            <a:endParaRPr lang="en-US" sz="1550" dirty="0"/>
          </a:p>
        </p:txBody>
      </p:sp>
      <p:sp>
        <p:nvSpPr>
          <p:cNvPr id="15" name="Text 13"/>
          <p:cNvSpPr txBox="1"/>
          <p:nvPr/>
        </p:nvSpPr>
        <p:spPr>
          <a:xfrm>
            <a:off x="4599432"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“For the region’s banks, funds and insurers we turn the hardest change into working outcomes — platforms live for their customers, intelligence at work inside — one team across every stream, with the assets and alliances that shorten the path.”</a:t>
            </a:r>
            <a:endParaRPr lang="en-US" sz="1150" dirty="0"/>
          </a:p>
        </p:txBody>
      </p:sp>
      <p:sp>
        <p:nvSpPr>
          <p:cNvPr id="16" name="Text 14"/>
          <p:cNvSpPr txBox="1"/>
          <p:nvPr/>
        </p:nvSpPr>
        <p:spPr>
          <a:xfrm>
            <a:off x="4599432"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17" name="Text 15"/>
          <p:cNvSpPr txBox="1"/>
          <p:nvPr/>
        </p:nvSpPr>
        <p:spPr>
          <a:xfrm>
            <a:off x="4599432"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Most literal; names the segments explicitly.</a:t>
            </a:r>
            <a:endParaRPr lang="en-US" sz="1050" dirty="0"/>
          </a:p>
        </p:txBody>
      </p:sp>
      <p:sp>
        <p:nvSpPr>
          <p:cNvPr id="18" name="Shape 16"/>
          <p:cNvSpPr/>
          <p:nvPr/>
        </p:nvSpPr>
        <p:spPr>
          <a:xfrm>
            <a:off x="8010144" y="1828800"/>
            <a:ext cx="3520440" cy="3611880"/>
          </a:xfrm>
          <a:prstGeom prst="roundRect">
            <a:avLst>
              <a:gd name="adj" fmla="val 3117"/>
            </a:avLst>
          </a:prstGeom>
          <a:solidFill>
            <a:srgbClr val="E4EBF7"/>
          </a:solidFill>
          <a:ln/>
        </p:spPr>
      </p:sp>
      <p:sp>
        <p:nvSpPr>
          <p:cNvPr id="19" name="Shape 17"/>
          <p:cNvSpPr/>
          <p:nvPr/>
        </p:nvSpPr>
        <p:spPr>
          <a:xfrm>
            <a:off x="8284464" y="2057400"/>
            <a:ext cx="420624" cy="420624"/>
          </a:xfrm>
          <a:prstGeom prst="ellipse">
            <a:avLst/>
          </a:prstGeom>
          <a:solidFill>
            <a:srgbClr val="1E2761"/>
          </a:solidFill>
          <a:ln/>
        </p:spPr>
      </p:sp>
      <p:sp>
        <p:nvSpPr>
          <p:cNvPr id="20" name="Text 18"/>
          <p:cNvSpPr txBox="1"/>
          <p:nvPr/>
        </p:nvSpPr>
        <p:spPr>
          <a:xfrm>
            <a:off x="8284464" y="2057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029968"/>
            <a:ext cx="2468880" cy="502920"/>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The hard things, on time</a:t>
            </a:r>
            <a:endParaRPr lang="en-US" sz="1550" dirty="0"/>
          </a:p>
        </p:txBody>
      </p:sp>
      <p:sp>
        <p:nvSpPr>
          <p:cNvPr id="22" name="Text 20"/>
          <p:cNvSpPr txBox="1"/>
          <p:nvPr/>
        </p:nvSpPr>
        <p:spPr>
          <a:xfrm>
            <a:off x="8284464" y="2697480"/>
            <a:ext cx="2971800" cy="18288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“We are the partner for the change that cannot slip — what they take to market and how they run inside — every stream under one accountable team, with proven assets behind it.”</a:t>
            </a:r>
            <a:endParaRPr lang="en-US" sz="1150" dirty="0"/>
          </a:p>
        </p:txBody>
      </p:sp>
      <p:sp>
        <p:nvSpPr>
          <p:cNvPr id="23" name="Text 21"/>
          <p:cNvSpPr txBox="1"/>
          <p:nvPr/>
        </p:nvSpPr>
        <p:spPr>
          <a:xfrm>
            <a:off x="8284464" y="457200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Alternate.</a:t>
            </a:r>
            <a:endParaRPr lang="en-US" sz="1150" dirty="0"/>
          </a:p>
        </p:txBody>
      </p:sp>
      <p:sp>
        <p:nvSpPr>
          <p:cNvPr id="24" name="Text 22"/>
          <p:cNvSpPr txBox="1"/>
          <p:nvPr/>
        </p:nvSpPr>
        <p:spPr>
          <a:xfrm>
            <a:off x="8284464" y="4983480"/>
            <a:ext cx="2971800" cy="41148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Understated; argues against the alternatives, not for us.</a:t>
            </a:r>
            <a:endParaRPr lang="en-US" sz="1050" dirty="0"/>
          </a:p>
        </p:txBody>
      </p:sp>
      <p:sp>
        <p:nvSpPr>
          <p:cNvPr id="25" name="Shape 23"/>
          <p:cNvSpPr/>
          <p:nvPr/>
        </p:nvSpPr>
        <p:spPr>
          <a:xfrm>
            <a:off x="640080" y="5577840"/>
            <a:ext cx="10881360" cy="822960"/>
          </a:xfrm>
          <a:prstGeom prst="roundRect">
            <a:avLst>
              <a:gd name="adj" fmla="val 11111"/>
            </a:avLst>
          </a:prstGeom>
          <a:solidFill>
            <a:srgbClr val="1E2761"/>
          </a:solidFill>
          <a:ln/>
        </p:spPr>
      </p:sp>
      <p:sp>
        <p:nvSpPr>
          <p:cNvPr id="26" name="Text 24"/>
          <p:cNvSpPr txBox="1"/>
          <p:nvPr/>
        </p:nvSpPr>
        <p:spPr>
          <a:xfrm>
            <a:off x="914400" y="5577840"/>
            <a:ext cx="10332720" cy="82296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test: does the headline alone already exclude an internal team and a lower-cost integrator — and could a competitor lift it word for word?</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Tier one and tier two</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where the energy goes, and where we stay present without over-investing.</a:t>
            </a:r>
            <a:endParaRPr lang="en-US" sz="1450" dirty="0"/>
          </a:p>
        </p:txBody>
      </p:sp>
      <p:sp>
        <p:nvSpPr>
          <p:cNvPr id="4" name="Shape 2"/>
          <p:cNvSpPr/>
          <p:nvPr/>
        </p:nvSpPr>
        <p:spPr>
          <a:xfrm>
            <a:off x="640080" y="1828800"/>
            <a:ext cx="5303520" cy="3291840"/>
          </a:xfrm>
          <a:prstGeom prst="roundRect">
            <a:avLst>
              <a:gd name="adj" fmla="val 3333"/>
            </a:avLst>
          </a:prstGeom>
          <a:solidFill>
            <a:srgbClr val="EDF2FA"/>
          </a:solidFill>
          <a:ln/>
        </p:spPr>
      </p:sp>
      <p:sp>
        <p:nvSpPr>
          <p:cNvPr id="5" name="Shape 3"/>
          <p:cNvSpPr/>
          <p:nvPr/>
        </p:nvSpPr>
        <p:spPr>
          <a:xfrm>
            <a:off x="640080" y="1828800"/>
            <a:ext cx="5303520" cy="868680"/>
          </a:xfrm>
          <a:prstGeom prst="rect">
            <a:avLst/>
          </a:prstGeom>
          <a:solidFill>
            <a:srgbClr val="1E2761"/>
          </a:solidFill>
          <a:ln/>
        </p:spPr>
      </p:sp>
      <p:sp>
        <p:nvSpPr>
          <p:cNvPr id="6" name="Text 4"/>
          <p:cNvSpPr txBox="1"/>
          <p:nvPr/>
        </p:nvSpPr>
        <p:spPr>
          <a:xfrm>
            <a:off x="91440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one</a:t>
            </a:r>
            <a:endParaRPr lang="en-US" sz="2000" dirty="0"/>
          </a:p>
        </p:txBody>
      </p:sp>
      <p:sp>
        <p:nvSpPr>
          <p:cNvPr id="7" name="Text 5"/>
          <p:cNvSpPr txBox="1"/>
          <p:nvPr/>
        </p:nvSpPr>
        <p:spPr>
          <a:xfrm>
            <a:off x="91440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Priority geographies and named accounts</a:t>
            </a:r>
            <a:endParaRPr lang="en-US" sz="1200" dirty="0"/>
          </a:p>
        </p:txBody>
      </p:sp>
      <p:sp>
        <p:nvSpPr>
          <p:cNvPr id="8" name="Text 6"/>
          <p:cNvSpPr txBox="1"/>
          <p:nvPr/>
        </p:nvSpPr>
        <p:spPr>
          <a:xfrm>
            <a:off x="91440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Active, deliberate coverage — people walking the corridors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Named individual account targets, each with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Individual revenue targets, gross and net</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Where the metrics, the eminence and the investment concentrate</a:t>
            </a:r>
            <a:endParaRPr lang="en-US" sz="1250" dirty="0"/>
          </a:p>
        </p:txBody>
      </p:sp>
      <p:sp>
        <p:nvSpPr>
          <p:cNvPr id="9" name="Shape 7"/>
          <p:cNvSpPr/>
          <p:nvPr/>
        </p:nvSpPr>
        <p:spPr>
          <a:xfrm>
            <a:off x="6217920" y="1828800"/>
            <a:ext cx="5303520" cy="3291840"/>
          </a:xfrm>
          <a:prstGeom prst="roundRect">
            <a:avLst>
              <a:gd name="adj" fmla="val 3333"/>
            </a:avLst>
          </a:prstGeom>
          <a:solidFill>
            <a:srgbClr val="EDF2FA"/>
          </a:solidFill>
          <a:ln/>
        </p:spPr>
      </p:sp>
      <p:sp>
        <p:nvSpPr>
          <p:cNvPr id="10" name="Shape 8"/>
          <p:cNvSpPr/>
          <p:nvPr/>
        </p:nvSpPr>
        <p:spPr>
          <a:xfrm>
            <a:off x="6217920" y="1828800"/>
            <a:ext cx="5303520" cy="868680"/>
          </a:xfrm>
          <a:prstGeom prst="rect">
            <a:avLst/>
          </a:prstGeom>
          <a:solidFill>
            <a:srgbClr val="3E5C8A"/>
          </a:solidFill>
          <a:ln/>
        </p:spPr>
      </p:sp>
      <p:sp>
        <p:nvSpPr>
          <p:cNvPr id="11" name="Text 9"/>
          <p:cNvSpPr txBox="1"/>
          <p:nvPr/>
        </p:nvSpPr>
        <p:spPr>
          <a:xfrm>
            <a:off x="6492240" y="1901952"/>
            <a:ext cx="475488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Tier two</a:t>
            </a:r>
            <a:endParaRPr lang="en-US" sz="2000" dirty="0"/>
          </a:p>
        </p:txBody>
      </p:sp>
      <p:sp>
        <p:nvSpPr>
          <p:cNvPr id="12" name="Text 10"/>
          <p:cNvSpPr txBox="1"/>
          <p:nvPr/>
        </p:nvSpPr>
        <p:spPr>
          <a:xfrm>
            <a:off x="6492240" y="2286000"/>
            <a:ext cx="47548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Emerging and reactive</a:t>
            </a:r>
            <a:endParaRPr lang="en-US" sz="1200" dirty="0"/>
          </a:p>
        </p:txBody>
      </p:sp>
      <p:sp>
        <p:nvSpPr>
          <p:cNvPr id="13" name="Text 11"/>
          <p:cNvSpPr txBox="1"/>
          <p:nvPr/>
        </p:nvSpPr>
        <p:spPr>
          <a:xfrm>
            <a:off x="6492240" y="2880360"/>
            <a:ext cx="4754880" cy="210312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Managed as clusters and groups, not one by one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Reactive pursuit: we respond, we do not camp there</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Light coverage — a named watcher rather than an owner</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Promoted to tier one when the signal justifies it</a:t>
            </a:r>
            <a:endParaRPr lang="en-US" sz="1250" dirty="0"/>
          </a:p>
        </p:txBody>
      </p:sp>
      <p:sp>
        <p:nvSpPr>
          <p:cNvPr id="14" name="Shape 12"/>
          <p:cNvSpPr/>
          <p:nvPr/>
        </p:nvSpPr>
        <p:spPr>
          <a:xfrm>
            <a:off x="640080" y="5303520"/>
            <a:ext cx="10881360" cy="868680"/>
          </a:xfrm>
          <a:prstGeom prst="roundRect">
            <a:avLst>
              <a:gd name="adj" fmla="val 10526"/>
            </a:avLst>
          </a:prstGeom>
          <a:solidFill>
            <a:srgbClr val="1E2761"/>
          </a:solidFill>
          <a:ln/>
        </p:spPr>
      </p:sp>
      <p:sp>
        <p:nvSpPr>
          <p:cNvPr id="15" name="Text 13"/>
          <p:cNvSpPr txBox="1"/>
          <p:nvPr/>
        </p:nvSpPr>
        <p:spPr>
          <a:xfrm>
            <a:off x="914400" y="5303520"/>
            <a:ext cx="10332720" cy="86868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Tiering applies to geographies and to accounts, across all three segments. Tier two keeps us present in what is emerging without diluting tier one.</a:t>
            </a:r>
            <a:endParaRPr lang="en-US" sz="1300" dirty="0"/>
          </a:p>
        </p:txBody>
      </p:sp>
      <p:sp>
        <p:nvSpPr>
          <p:cNvPr id="16" name="Text 14"/>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Promotion and demotion criteria, and the tier one list itself, are set in the cycle.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Each FSI segment is specialised and clients expect it: propositions, credentials and CVs speak that segment’s language.</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tiering,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assets and accelerators, construct, pricing, margin, team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and core platforms across banking, funds and insurance,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shore mix, and the assets and accelerators behind it</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and per segment: a core banking programme, a fund platform build and an AI activation carry different constructs, rates and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Industrialised delivery is how acceleration gets paid for: reuse raises margin at the same price, and shortens time to value.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practices?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two categories, used for different things.</a:t>
            </a:r>
            <a:endParaRPr lang="en-US" sz="1450" dirty="0"/>
          </a:p>
        </p:txBody>
      </p:sp>
      <p:sp>
        <p:nvSpPr>
          <p:cNvPr id="4" name="Shape 2"/>
          <p:cNvSpPr/>
          <p:nvPr/>
        </p:nvSpPr>
        <p:spPr>
          <a:xfrm>
            <a:off x="640080" y="1783080"/>
            <a:ext cx="10881360" cy="1874520"/>
          </a:xfrm>
          <a:prstGeom prst="roundRect">
            <a:avLst>
              <a:gd name="adj" fmla="val 5854"/>
            </a:avLst>
          </a:prstGeom>
          <a:solidFill>
            <a:srgbClr val="EDF2FA"/>
          </a:solidFill>
          <a:ln/>
        </p:spPr>
      </p:sp>
      <p:sp>
        <p:nvSpPr>
          <p:cNvPr id="5" name="Shape 3"/>
          <p:cNvSpPr/>
          <p:nvPr/>
        </p:nvSpPr>
        <p:spPr>
          <a:xfrm>
            <a:off x="640080" y="1783080"/>
            <a:ext cx="2514600" cy="1874520"/>
          </a:xfrm>
          <a:prstGeom prst="rect">
            <a:avLst/>
          </a:prstGeom>
          <a:solidFill>
            <a:srgbClr val="1E2761"/>
          </a:solidFill>
          <a:ln/>
        </p:spPr>
      </p:sp>
      <p:sp>
        <p:nvSpPr>
          <p:cNvPr id="6" name="Text 4"/>
          <p:cNvSpPr txBox="1"/>
          <p:nvPr/>
        </p:nvSpPr>
        <p:spPr>
          <a:xfrm>
            <a:off x="841248" y="187452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Broad technology</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alliances</a:t>
            </a:r>
            <a:endParaRPr lang="en-US" sz="1450" dirty="0"/>
          </a:p>
        </p:txBody>
      </p:sp>
      <p:sp>
        <p:nvSpPr>
          <p:cNvPr id="7" name="Text 5"/>
          <p:cNvSpPr txBox="1"/>
          <p:nvPr/>
        </p:nvSpPr>
        <p:spPr>
          <a:xfrm>
            <a:off x="841248" y="274320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every proposition</a:t>
            </a:r>
            <a:endParaRPr lang="en-US" sz="1100" dirty="0"/>
          </a:p>
        </p:txBody>
      </p:sp>
      <p:sp>
        <p:nvSpPr>
          <p:cNvPr id="8" name="Shape 6"/>
          <p:cNvSpPr/>
          <p:nvPr/>
        </p:nvSpPr>
        <p:spPr>
          <a:xfrm>
            <a:off x="3429000" y="2011680"/>
            <a:ext cx="1783080" cy="685800"/>
          </a:xfrm>
          <a:prstGeom prst="roundRect">
            <a:avLst>
              <a:gd name="adj" fmla="val 13333"/>
            </a:avLst>
          </a:prstGeom>
          <a:solidFill>
            <a:srgbClr val="3E5C8A"/>
          </a:solidFill>
          <a:ln/>
        </p:spPr>
      </p:sp>
      <p:sp>
        <p:nvSpPr>
          <p:cNvPr id="9" name="Text 7"/>
          <p:cNvSpPr txBox="1"/>
          <p:nvPr/>
        </p:nvSpPr>
        <p:spPr>
          <a:xfrm>
            <a:off x="342900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Google</a:t>
            </a:r>
            <a:endParaRPr lang="en-US" sz="1500" dirty="0"/>
          </a:p>
        </p:txBody>
      </p:sp>
      <p:sp>
        <p:nvSpPr>
          <p:cNvPr id="10" name="Shape 8"/>
          <p:cNvSpPr/>
          <p:nvPr/>
        </p:nvSpPr>
        <p:spPr>
          <a:xfrm>
            <a:off x="5394960" y="2011680"/>
            <a:ext cx="1783080" cy="685800"/>
          </a:xfrm>
          <a:prstGeom prst="roundRect">
            <a:avLst>
              <a:gd name="adj" fmla="val 13333"/>
            </a:avLst>
          </a:prstGeom>
          <a:solidFill>
            <a:srgbClr val="3E5C8A"/>
          </a:solidFill>
          <a:ln/>
        </p:spPr>
      </p:sp>
      <p:sp>
        <p:nvSpPr>
          <p:cNvPr id="11" name="Text 9"/>
          <p:cNvSpPr txBox="1"/>
          <p:nvPr/>
        </p:nvSpPr>
        <p:spPr>
          <a:xfrm>
            <a:off x="539496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AWS</a:t>
            </a:r>
            <a:endParaRPr lang="en-US" sz="1500" dirty="0"/>
          </a:p>
        </p:txBody>
      </p:sp>
      <p:sp>
        <p:nvSpPr>
          <p:cNvPr id="12" name="Shape 10"/>
          <p:cNvSpPr/>
          <p:nvPr/>
        </p:nvSpPr>
        <p:spPr>
          <a:xfrm>
            <a:off x="7360920" y="2011680"/>
            <a:ext cx="1783080" cy="685800"/>
          </a:xfrm>
          <a:prstGeom prst="roundRect">
            <a:avLst>
              <a:gd name="adj" fmla="val 13333"/>
            </a:avLst>
          </a:prstGeom>
          <a:solidFill>
            <a:srgbClr val="3E5C8A"/>
          </a:solidFill>
          <a:ln/>
        </p:spPr>
      </p:sp>
      <p:sp>
        <p:nvSpPr>
          <p:cNvPr id="13" name="Text 11"/>
          <p:cNvSpPr txBox="1"/>
          <p:nvPr/>
        </p:nvSpPr>
        <p:spPr>
          <a:xfrm>
            <a:off x="736092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Microsoft</a:t>
            </a:r>
            <a:endParaRPr lang="en-US" sz="1500" dirty="0"/>
          </a:p>
        </p:txBody>
      </p:sp>
      <p:sp>
        <p:nvSpPr>
          <p:cNvPr id="14" name="Shape 12"/>
          <p:cNvSpPr/>
          <p:nvPr/>
        </p:nvSpPr>
        <p:spPr>
          <a:xfrm>
            <a:off x="9326880" y="2011680"/>
            <a:ext cx="1783080" cy="685800"/>
          </a:xfrm>
          <a:prstGeom prst="roundRect">
            <a:avLst>
              <a:gd name="adj" fmla="val 13333"/>
            </a:avLst>
          </a:prstGeom>
          <a:solidFill>
            <a:srgbClr val="3E5C8A"/>
          </a:solidFill>
          <a:ln/>
        </p:spPr>
      </p:sp>
      <p:sp>
        <p:nvSpPr>
          <p:cNvPr id="15" name="Text 13"/>
          <p:cNvSpPr txBox="1"/>
          <p:nvPr/>
        </p:nvSpPr>
        <p:spPr>
          <a:xfrm>
            <a:off x="9326880" y="2011680"/>
            <a:ext cx="1783080"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Oracle</a:t>
            </a:r>
            <a:endParaRPr lang="en-US" sz="1500" dirty="0"/>
          </a:p>
        </p:txBody>
      </p:sp>
      <p:sp>
        <p:nvSpPr>
          <p:cNvPr id="16" name="Text 14"/>
          <p:cNvSpPr txBox="1"/>
          <p:nvPr/>
        </p:nvSpPr>
        <p:spPr>
          <a:xfrm>
            <a:off x="3429000" y="2834640"/>
            <a:ext cx="7772400" cy="68580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Used for: co-sell into their accounts · funding and credits to activate use cases on their platform · platform credibility and certifications</a:t>
            </a:r>
            <a:endParaRPr lang="en-US" sz="1200" dirty="0"/>
          </a:p>
        </p:txBody>
      </p:sp>
      <p:sp>
        <p:nvSpPr>
          <p:cNvPr id="17" name="Shape 15"/>
          <p:cNvSpPr/>
          <p:nvPr/>
        </p:nvSpPr>
        <p:spPr>
          <a:xfrm>
            <a:off x="640080" y="3794760"/>
            <a:ext cx="10881360" cy="1874520"/>
          </a:xfrm>
          <a:prstGeom prst="roundRect">
            <a:avLst>
              <a:gd name="adj" fmla="val 5854"/>
            </a:avLst>
          </a:prstGeom>
          <a:solidFill>
            <a:srgbClr val="E4EBF7"/>
          </a:solidFill>
          <a:ln/>
        </p:spPr>
      </p:sp>
      <p:sp>
        <p:nvSpPr>
          <p:cNvPr id="18" name="Shape 16"/>
          <p:cNvSpPr/>
          <p:nvPr/>
        </p:nvSpPr>
        <p:spPr>
          <a:xfrm>
            <a:off x="640080" y="3794760"/>
            <a:ext cx="2514600" cy="1874520"/>
          </a:xfrm>
          <a:prstGeom prst="rect">
            <a:avLst/>
          </a:prstGeom>
          <a:solidFill>
            <a:srgbClr val="3E5C8A"/>
          </a:solidFill>
          <a:ln/>
        </p:spPr>
      </p:sp>
      <p:sp>
        <p:nvSpPr>
          <p:cNvPr id="19" name="Text 17"/>
          <p:cNvSpPr txBox="1"/>
          <p:nvPr/>
        </p:nvSpPr>
        <p:spPr>
          <a:xfrm>
            <a:off x="841248" y="3886200"/>
            <a:ext cx="2194560" cy="777240"/>
          </a:xfrm>
          <a:prstGeom prst="rect">
            <a:avLst/>
          </a:prstGeom>
          <a:noFill/>
          <a:ln/>
        </p:spPr>
        <p:txBody>
          <a:bodyPr wrap="square" lIns="0" tIns="0" rIns="0" bIns="0" rtlCol="0" anchor="ctr"/>
          <a:lstStyle/>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Specialised</a:t>
            </a:r>
            <a:endParaRPr lang="en-US" sz="1450" dirty="0"/>
          </a:p>
          <a:p>
            <a:pPr indent="0" marL="0">
              <a:lnSpc>
                <a:spcPts val="1700"/>
              </a:lnSpc>
              <a:buNone/>
            </a:pPr>
            <a:r>
              <a:rPr lang="en-US" sz="1450" b="1" dirty="0">
                <a:solidFill>
                  <a:srgbClr val="FFFFFF"/>
                </a:solidFill>
                <a:latin typeface="Calibri" pitchFamily="34" charset="0"/>
                <a:ea typeface="Calibri" pitchFamily="34" charset="-122"/>
                <a:cs typeface="Calibri" pitchFamily="34" charset="-120"/>
              </a:rPr>
              <a:t>product vendors</a:t>
            </a:r>
            <a:endParaRPr lang="en-US" sz="1450" dirty="0"/>
          </a:p>
        </p:txBody>
      </p:sp>
      <p:sp>
        <p:nvSpPr>
          <p:cNvPr id="20" name="Text 18"/>
          <p:cNvSpPr txBox="1"/>
          <p:nvPr/>
        </p:nvSpPr>
        <p:spPr>
          <a:xfrm>
            <a:off x="841248" y="4754880"/>
            <a:ext cx="2194560" cy="5486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Relevant to specific offerings only</a:t>
            </a:r>
            <a:endParaRPr lang="en-US" sz="1100" dirty="0"/>
          </a:p>
        </p:txBody>
      </p:sp>
      <p:sp>
        <p:nvSpPr>
          <p:cNvPr id="21" name="Shape 19"/>
          <p:cNvSpPr/>
          <p:nvPr/>
        </p:nvSpPr>
        <p:spPr>
          <a:xfrm>
            <a:off x="3429000" y="3977640"/>
            <a:ext cx="3749040" cy="658368"/>
          </a:xfrm>
          <a:prstGeom prst="roundRect">
            <a:avLst>
              <a:gd name="adj" fmla="val 13889"/>
            </a:avLst>
          </a:prstGeom>
          <a:solidFill>
            <a:srgbClr val="FFFFFF"/>
          </a:solidFill>
          <a:ln/>
        </p:spPr>
      </p:sp>
      <p:sp>
        <p:nvSpPr>
          <p:cNvPr id="22" name="Text 20"/>
          <p:cNvSpPr txBox="1"/>
          <p:nvPr/>
        </p:nvSpPr>
        <p:spPr>
          <a:xfrm>
            <a:off x="361188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Core banking</a:t>
            </a:r>
            <a:endParaRPr lang="en-US" sz="1200" dirty="0"/>
          </a:p>
        </p:txBody>
      </p:sp>
      <p:sp>
        <p:nvSpPr>
          <p:cNvPr id="23" name="Text 21"/>
          <p:cNvSpPr txBox="1"/>
          <p:nvPr/>
        </p:nvSpPr>
        <p:spPr>
          <a:xfrm>
            <a:off x="544068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Temenos · Intellect</a:t>
            </a:r>
            <a:endParaRPr lang="en-US" sz="1150" dirty="0"/>
          </a:p>
        </p:txBody>
      </p:sp>
      <p:sp>
        <p:nvSpPr>
          <p:cNvPr id="24" name="Shape 22"/>
          <p:cNvSpPr/>
          <p:nvPr/>
        </p:nvSpPr>
        <p:spPr>
          <a:xfrm>
            <a:off x="7360920" y="3977640"/>
            <a:ext cx="3749040" cy="658368"/>
          </a:xfrm>
          <a:prstGeom prst="roundRect">
            <a:avLst>
              <a:gd name="adj" fmla="val 13889"/>
            </a:avLst>
          </a:prstGeom>
          <a:solidFill>
            <a:srgbClr val="FFFFFF"/>
          </a:solidFill>
          <a:ln/>
        </p:spPr>
      </p:sp>
      <p:sp>
        <p:nvSpPr>
          <p:cNvPr id="25" name="Text 23"/>
          <p:cNvSpPr txBox="1"/>
          <p:nvPr/>
        </p:nvSpPr>
        <p:spPr>
          <a:xfrm>
            <a:off x="7543800" y="397764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Data platforms</a:t>
            </a:r>
            <a:endParaRPr lang="en-US" sz="1200" dirty="0"/>
          </a:p>
        </p:txBody>
      </p:sp>
      <p:sp>
        <p:nvSpPr>
          <p:cNvPr id="26" name="Text 24"/>
          <p:cNvSpPr txBox="1"/>
          <p:nvPr/>
        </p:nvSpPr>
        <p:spPr>
          <a:xfrm>
            <a:off x="9372600" y="397764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Informatica · others</a:t>
            </a:r>
            <a:endParaRPr lang="en-US" sz="1150" dirty="0"/>
          </a:p>
        </p:txBody>
      </p:sp>
      <p:sp>
        <p:nvSpPr>
          <p:cNvPr id="27" name="Shape 25"/>
          <p:cNvSpPr/>
          <p:nvPr/>
        </p:nvSpPr>
        <p:spPr>
          <a:xfrm>
            <a:off x="3429000" y="4754880"/>
            <a:ext cx="3749040" cy="658368"/>
          </a:xfrm>
          <a:prstGeom prst="roundRect">
            <a:avLst>
              <a:gd name="adj" fmla="val 13889"/>
            </a:avLst>
          </a:prstGeom>
          <a:solidFill>
            <a:srgbClr val="FFFFFF"/>
          </a:solidFill>
          <a:ln/>
        </p:spPr>
      </p:sp>
      <p:sp>
        <p:nvSpPr>
          <p:cNvPr id="28" name="Text 26"/>
          <p:cNvSpPr txBox="1"/>
          <p:nvPr/>
        </p:nvSpPr>
        <p:spPr>
          <a:xfrm>
            <a:off x="361188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Origination</a:t>
            </a:r>
            <a:endParaRPr lang="en-US" sz="1200" dirty="0"/>
          </a:p>
        </p:txBody>
      </p:sp>
      <p:sp>
        <p:nvSpPr>
          <p:cNvPr id="29" name="Text 27"/>
          <p:cNvSpPr txBox="1"/>
          <p:nvPr/>
        </p:nvSpPr>
        <p:spPr>
          <a:xfrm>
            <a:off x="544068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0" name="Shape 28"/>
          <p:cNvSpPr/>
          <p:nvPr/>
        </p:nvSpPr>
        <p:spPr>
          <a:xfrm>
            <a:off x="7360920" y="4754880"/>
            <a:ext cx="3749040" cy="658368"/>
          </a:xfrm>
          <a:prstGeom prst="roundRect">
            <a:avLst>
              <a:gd name="adj" fmla="val 13889"/>
            </a:avLst>
          </a:prstGeom>
          <a:solidFill>
            <a:srgbClr val="FFFFFF"/>
          </a:solidFill>
          <a:ln/>
        </p:spPr>
      </p:sp>
      <p:sp>
        <p:nvSpPr>
          <p:cNvPr id="31" name="Text 29"/>
          <p:cNvSpPr txBox="1"/>
          <p:nvPr/>
        </p:nvSpPr>
        <p:spPr>
          <a:xfrm>
            <a:off x="7543800" y="4754880"/>
            <a:ext cx="1828800" cy="658368"/>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Insurance and fund core</a:t>
            </a:r>
            <a:endParaRPr lang="en-US" sz="1200" dirty="0"/>
          </a:p>
        </p:txBody>
      </p:sp>
      <p:sp>
        <p:nvSpPr>
          <p:cNvPr id="32" name="Text 30"/>
          <p:cNvSpPr txBox="1"/>
          <p:nvPr/>
        </p:nvSpPr>
        <p:spPr>
          <a:xfrm>
            <a:off x="9372600" y="4754880"/>
            <a:ext cx="1645920" cy="658368"/>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to be defined</a:t>
            </a:r>
            <a:endParaRPr lang="en-US" sz="1150" dirty="0"/>
          </a:p>
        </p:txBody>
      </p:sp>
      <p:sp>
        <p:nvSpPr>
          <p:cNvPr id="33" name="Shape 31"/>
          <p:cNvSpPr/>
          <p:nvPr/>
        </p:nvSpPr>
        <p:spPr>
          <a:xfrm>
            <a:off x="640080" y="5806440"/>
            <a:ext cx="10881360" cy="731520"/>
          </a:xfrm>
          <a:prstGeom prst="roundRect">
            <a:avLst>
              <a:gd name="adj" fmla="val 12500"/>
            </a:avLst>
          </a:prstGeom>
          <a:solidFill>
            <a:srgbClr val="1E2761"/>
          </a:solidFill>
          <a:ln/>
        </p:spPr>
      </p:sp>
      <p:sp>
        <p:nvSpPr>
          <p:cNvPr id="34" name="Text 32"/>
          <p:cNvSpPr txBox="1"/>
          <p:nvPr/>
        </p:nvSpPr>
        <p:spPr>
          <a:xfrm>
            <a:off x="914400" y="5806440"/>
            <a:ext cx="10332720" cy="73152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Per alliance the plan answers: what we leverage it for, the relationship type, which offerings and segments it sits behind, which accounts it opens, and what it costs us back.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Segments it serves, and the buyer in each</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accelerators, ADR and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Tier one or tier two, per segment where they differ. Rationale should stand on evidence, not familiarity.</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1188720"/>
                <a:gridCol w="1097280"/>
                <a:gridCol w="731520"/>
                <a:gridCol w="2560320"/>
                <a:gridCol w="1188720"/>
                <a:gridCol w="1188720"/>
                <a:gridCol w="10058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6700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8587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9" name="Text 6"/>
          <p:cNvSpPr txBox="1"/>
          <p:nvPr/>
        </p:nvSpPr>
        <p:spPr>
          <a:xfrm>
            <a:off x="4956048" y="1965960"/>
            <a:ext cx="5486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p>
        </p:txBody>
      </p:sp>
      <p:sp>
        <p:nvSpPr>
          <p:cNvPr id="10" name="Text 7"/>
          <p:cNvSpPr txBox="1"/>
          <p:nvPr/>
        </p:nvSpPr>
        <p:spPr>
          <a:xfrm>
            <a:off x="5687568" y="1965960"/>
            <a:ext cx="23774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1" name="Text 8"/>
          <p:cNvSpPr txBox="1"/>
          <p:nvPr/>
        </p:nvSpPr>
        <p:spPr>
          <a:xfrm>
            <a:off x="824788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2" name="Text 9"/>
          <p:cNvSpPr txBox="1"/>
          <p:nvPr/>
        </p:nvSpPr>
        <p:spPr>
          <a:xfrm>
            <a:off x="943660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3" name="Text 10"/>
          <p:cNvSpPr txBox="1"/>
          <p:nvPr/>
        </p:nvSpPr>
        <p:spPr>
          <a:xfrm>
            <a:off x="1062532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Segment: banking, funds or insurance. Tier one accounts are named individually; tier two may be grouped.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920240"/>
                <a:gridCol w="2011680"/>
                <a:gridCol w="2194560"/>
                <a:gridCol w="23774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it serves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Practices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 per 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12724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it serves</a:t>
            </a:r>
            <a:endParaRPr lang="en-US" sz="1150" dirty="0"/>
          </a:p>
        </p:txBody>
      </p:sp>
      <p:sp>
        <p:nvSpPr>
          <p:cNvPr id="8" name="Text 5"/>
          <p:cNvSpPr txBox="1"/>
          <p:nvPr/>
        </p:nvSpPr>
        <p:spPr>
          <a:xfrm>
            <a:off x="504748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Practices involved</a:t>
            </a:r>
            <a:endParaRPr lang="en-US" sz="1150" dirty="0"/>
          </a:p>
        </p:txBody>
      </p:sp>
      <p:sp>
        <p:nvSpPr>
          <p:cNvPr id="9" name="Text 6"/>
          <p:cNvSpPr txBox="1"/>
          <p:nvPr/>
        </p:nvSpPr>
        <p:spPr>
          <a:xfrm>
            <a:off x="70591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 per segment</a:t>
            </a:r>
            <a:endParaRPr lang="en-US" sz="1150" dirty="0"/>
          </a:p>
        </p:txBody>
      </p:sp>
      <p:sp>
        <p:nvSpPr>
          <p:cNvPr id="10" name="Text 7"/>
          <p:cNvSpPr txBox="1"/>
          <p:nvPr/>
        </p:nvSpPr>
        <p:spPr>
          <a:xfrm>
            <a:off x="925372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920240"/>
                <a:gridCol w="2103120"/>
                <a:gridCol w="1554480"/>
                <a:gridCol w="914400"/>
                <a:gridCol w="1005840"/>
                <a:gridCol w="914400"/>
                <a:gridCol w="137160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Assets and accelerators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26700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Assets and accelerators</a:t>
            </a:r>
            <a:endParaRPr lang="en-US" sz="1150" dirty="0"/>
          </a:p>
        </p:txBody>
      </p:sp>
      <p:sp>
        <p:nvSpPr>
          <p:cNvPr id="8" name="Text 5"/>
          <p:cNvSpPr txBox="1"/>
          <p:nvPr/>
        </p:nvSpPr>
        <p:spPr>
          <a:xfrm>
            <a:off x="477316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9" name="Text 6"/>
          <p:cNvSpPr txBox="1"/>
          <p:nvPr/>
        </p:nvSpPr>
        <p:spPr>
          <a:xfrm>
            <a:off x="632764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 %</a:t>
            </a:r>
            <a:endParaRPr lang="en-US" sz="1150" dirty="0"/>
          </a:p>
        </p:txBody>
      </p:sp>
      <p:sp>
        <p:nvSpPr>
          <p:cNvPr id="10" name="Text 7"/>
          <p:cNvSpPr txBox="1"/>
          <p:nvPr/>
        </p:nvSpPr>
        <p:spPr>
          <a:xfrm>
            <a:off x="7242048" y="1965960"/>
            <a:ext cx="822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 %</a:t>
            </a:r>
            <a:endParaRPr lang="en-US" sz="1150" dirty="0"/>
          </a:p>
        </p:txBody>
      </p:sp>
      <p:sp>
        <p:nvSpPr>
          <p:cNvPr id="11" name="Text 8"/>
          <p:cNvSpPr txBox="1"/>
          <p:nvPr/>
        </p:nvSpPr>
        <p:spPr>
          <a:xfrm>
            <a:off x="824788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 %</a:t>
            </a:r>
            <a:endParaRPr lang="en-US" sz="1150" dirty="0"/>
          </a:p>
        </p:txBody>
      </p:sp>
      <p:sp>
        <p:nvSpPr>
          <p:cNvPr id="12" name="Text 9"/>
          <p:cNvSpPr txBox="1"/>
          <p:nvPr/>
        </p:nvSpPr>
        <p:spPr>
          <a:xfrm>
            <a:off x="9162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3" name="Text 10"/>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4" name="Text 11"/>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Assets are what make the construct hold: reuse raises margin at the same price and shortens time to value.</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737360"/>
                <a:gridCol w="1463040"/>
                <a:gridCol w="1828800"/>
                <a:gridCol w="1554480"/>
                <a:gridCol w="1920240"/>
                <a:gridCol w="128016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4871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8" name="Text 5"/>
          <p:cNvSpPr txBox="1"/>
          <p:nvPr/>
        </p:nvSpPr>
        <p:spPr>
          <a:xfrm>
            <a:off x="395020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9" name="Text 6"/>
          <p:cNvSpPr txBox="1"/>
          <p:nvPr/>
        </p:nvSpPr>
        <p:spPr>
          <a:xfrm>
            <a:off x="57790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10" name="Text 7"/>
          <p:cNvSpPr txBox="1"/>
          <p:nvPr/>
        </p:nvSpPr>
        <p:spPr>
          <a:xfrm>
            <a:off x="733348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1" name="Text 8"/>
          <p:cNvSpPr txBox="1"/>
          <p:nvPr/>
        </p:nvSpPr>
        <p:spPr>
          <a:xfrm>
            <a:off x="92537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2" name="Text 9"/>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One row per market and segment. Reconciles to the account revenue plan and to capacity.</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554480"/>
                <a:gridCol w="1371600"/>
                <a:gridCol w="1463040"/>
                <a:gridCol w="2834640"/>
                <a:gridCol w="1920240"/>
                <a:gridCol w="173736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and segments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042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Type</a:t>
            </a:r>
            <a:endParaRPr lang="en-US" sz="1150" dirty="0"/>
          </a:p>
        </p:txBody>
      </p:sp>
      <p:sp>
        <p:nvSpPr>
          <p:cNvPr id="8" name="Text 5"/>
          <p:cNvSpPr txBox="1"/>
          <p:nvPr/>
        </p:nvSpPr>
        <p:spPr>
          <a:xfrm>
            <a:off x="36758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9" name="Text 6"/>
          <p:cNvSpPr txBox="1"/>
          <p:nvPr/>
        </p:nvSpPr>
        <p:spPr>
          <a:xfrm>
            <a:off x="5138928" y="1965960"/>
            <a:ext cx="26517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and segments it sits behind</a:t>
            </a:r>
            <a:endParaRPr lang="en-US" sz="1150" dirty="0"/>
          </a:p>
        </p:txBody>
      </p:sp>
      <p:sp>
        <p:nvSpPr>
          <p:cNvPr id="10" name="Text 7"/>
          <p:cNvSpPr txBox="1"/>
          <p:nvPr/>
        </p:nvSpPr>
        <p:spPr>
          <a:xfrm>
            <a:off x="79735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98938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Type: broad technology alliance, or specialised product vendor. Role: co-sell, resell, delivery or referral.</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2026-09-28T14:52:24Z</dcterms:created>
  <dcterms:modified xsi:type="dcterms:W3CDTF">2026-09-28T14:52:24Z</dcterms:modified>
</cp:coreProperties>
</file>