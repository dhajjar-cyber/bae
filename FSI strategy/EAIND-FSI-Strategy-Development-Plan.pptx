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FSI here means three segments, in priority order: banking first, then funds (sovereign wealth funds, national and development funds, fund and investment management), then insurance.
Three pillars:
1. Industry Solutions — core-led transformation: core modernisation and core platform packages, whatever the segment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segments.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segments, in this priority order.
1. Banking — the priority segment,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segment rather than per industry: a core banking reference does not win a policy administration programme.
Practical consequence for the cycle: segment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segments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segment.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segments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segment,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segment and by scope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segment.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segment priorities imply, the insurance core and fund platform vendors where we currently hold nothing. These are offering-level and segment-level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segment: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segment and scope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segments.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Sixteen sections, plus an appendix of blank templates.</a:t>
            </a:r>
            <a:endParaRPr lang="en-US" sz="1450" dirty="0"/>
          </a:p>
        </p:txBody>
      </p:sp>
      <p:sp>
        <p:nvSpPr>
          <p:cNvPr id="4" name="Shape 2"/>
          <p:cNvSpPr/>
          <p:nvPr/>
        </p:nvSpPr>
        <p:spPr>
          <a:xfrm>
            <a:off x="640080" y="1737360"/>
            <a:ext cx="5257800" cy="576072"/>
          </a:xfrm>
          <a:prstGeom prst="roundRect">
            <a:avLst>
              <a:gd name="adj" fmla="val 12698"/>
            </a:avLst>
          </a:prstGeom>
          <a:solidFill>
            <a:srgbClr val="F2F6FC"/>
          </a:solidFill>
          <a:ln/>
        </p:spPr>
      </p:sp>
      <p:sp>
        <p:nvSpPr>
          <p:cNvPr id="5" name="Shape 3"/>
          <p:cNvSpPr/>
          <p:nvPr/>
        </p:nvSpPr>
        <p:spPr>
          <a:xfrm>
            <a:off x="822960" y="1837944"/>
            <a:ext cx="365760" cy="365760"/>
          </a:xfrm>
          <a:prstGeom prst="ellipse">
            <a:avLst/>
          </a:prstGeom>
          <a:solidFill>
            <a:srgbClr val="1E2761"/>
          </a:solidFill>
          <a:ln/>
        </p:spPr>
      </p:sp>
      <p:sp>
        <p:nvSpPr>
          <p:cNvPr id="6" name="Text 4"/>
          <p:cNvSpPr txBox="1"/>
          <p:nvPr/>
        </p:nvSpPr>
        <p:spPr>
          <a:xfrm>
            <a:off x="82296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this document is</a:t>
            </a:r>
            <a:endParaRPr lang="en-US" sz="1350" dirty="0"/>
          </a:p>
        </p:txBody>
      </p:sp>
      <p:sp>
        <p:nvSpPr>
          <p:cNvPr id="8" name="Text 6"/>
          <p:cNvSpPr txBox="1"/>
          <p:nvPr/>
        </p:nvSpPr>
        <p:spPr>
          <a:xfrm>
            <a:off x="135331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Method, not conclusion</a:t>
            </a:r>
            <a:endParaRPr lang="en-US" sz="1050" dirty="0"/>
          </a:p>
        </p:txBody>
      </p:sp>
      <p:sp>
        <p:nvSpPr>
          <p:cNvPr id="9" name="Shape 7"/>
          <p:cNvSpPr/>
          <p:nvPr/>
        </p:nvSpPr>
        <p:spPr>
          <a:xfrm>
            <a:off x="6263640" y="1737360"/>
            <a:ext cx="5257800" cy="576072"/>
          </a:xfrm>
          <a:prstGeom prst="roundRect">
            <a:avLst>
              <a:gd name="adj" fmla="val 12698"/>
            </a:avLst>
          </a:prstGeom>
          <a:solidFill>
            <a:srgbClr val="EDF2FA"/>
          </a:solidFill>
          <a:ln/>
        </p:spPr>
      </p:sp>
      <p:sp>
        <p:nvSpPr>
          <p:cNvPr id="10" name="Shape 8"/>
          <p:cNvSpPr/>
          <p:nvPr/>
        </p:nvSpPr>
        <p:spPr>
          <a:xfrm>
            <a:off x="6446520" y="1837944"/>
            <a:ext cx="365760" cy="365760"/>
          </a:xfrm>
          <a:prstGeom prst="ellipse">
            <a:avLst/>
          </a:prstGeom>
          <a:solidFill>
            <a:srgbClr val="3E5C8A"/>
          </a:solidFill>
          <a:ln/>
        </p:spPr>
      </p:sp>
      <p:sp>
        <p:nvSpPr>
          <p:cNvPr id="11" name="Text 9"/>
          <p:cNvSpPr txBox="1"/>
          <p:nvPr/>
        </p:nvSpPr>
        <p:spPr>
          <a:xfrm>
            <a:off x="644652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697687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the strategy must cover</a:t>
            </a:r>
            <a:endParaRPr lang="en-US" sz="1350" dirty="0"/>
          </a:p>
        </p:txBody>
      </p:sp>
      <p:sp>
        <p:nvSpPr>
          <p:cNvPr id="13" name="Text 11"/>
          <p:cNvSpPr txBox="1"/>
          <p:nvPr/>
        </p:nvSpPr>
        <p:spPr>
          <a:xfrm>
            <a:off x="697687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Ambition, four pillars, operating discipline</a:t>
            </a:r>
            <a:endParaRPr lang="en-US" sz="1050" dirty="0"/>
          </a:p>
        </p:txBody>
      </p:sp>
      <p:sp>
        <p:nvSpPr>
          <p:cNvPr id="14" name="Shape 12"/>
          <p:cNvSpPr/>
          <p:nvPr/>
        </p:nvSpPr>
        <p:spPr>
          <a:xfrm>
            <a:off x="640080" y="2395728"/>
            <a:ext cx="5257800" cy="576072"/>
          </a:xfrm>
          <a:prstGeom prst="roundRect">
            <a:avLst>
              <a:gd name="adj" fmla="val 12698"/>
            </a:avLst>
          </a:prstGeom>
          <a:solidFill>
            <a:srgbClr val="F2F6FC"/>
          </a:solidFill>
          <a:ln/>
        </p:spPr>
      </p:sp>
      <p:sp>
        <p:nvSpPr>
          <p:cNvPr id="15" name="Shape 13"/>
          <p:cNvSpPr/>
          <p:nvPr/>
        </p:nvSpPr>
        <p:spPr>
          <a:xfrm>
            <a:off x="822960" y="2496312"/>
            <a:ext cx="365760" cy="365760"/>
          </a:xfrm>
          <a:prstGeom prst="ellipse">
            <a:avLst/>
          </a:prstGeom>
          <a:solidFill>
            <a:srgbClr val="1E2761"/>
          </a:solidFill>
          <a:ln/>
        </p:spPr>
      </p:sp>
      <p:sp>
        <p:nvSpPr>
          <p:cNvPr id="16" name="Text 14"/>
          <p:cNvSpPr txBox="1"/>
          <p:nvPr/>
        </p:nvSpPr>
        <p:spPr>
          <a:xfrm>
            <a:off x="82296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35331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industry we mean</a:t>
            </a:r>
            <a:endParaRPr lang="en-US" sz="1350" dirty="0"/>
          </a:p>
        </p:txBody>
      </p:sp>
      <p:sp>
        <p:nvSpPr>
          <p:cNvPr id="18" name="Text 16"/>
          <p:cNvSpPr txBox="1"/>
          <p:nvPr/>
        </p:nvSpPr>
        <p:spPr>
          <a:xfrm>
            <a:off x="135331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Banking, funds and insurance, in priority order</a:t>
            </a:r>
            <a:endParaRPr lang="en-US" sz="1050" dirty="0"/>
          </a:p>
        </p:txBody>
      </p:sp>
      <p:sp>
        <p:nvSpPr>
          <p:cNvPr id="19" name="Shape 17"/>
          <p:cNvSpPr/>
          <p:nvPr/>
        </p:nvSpPr>
        <p:spPr>
          <a:xfrm>
            <a:off x="6263640" y="2395728"/>
            <a:ext cx="5257800" cy="576072"/>
          </a:xfrm>
          <a:prstGeom prst="roundRect">
            <a:avLst>
              <a:gd name="adj" fmla="val 12698"/>
            </a:avLst>
          </a:prstGeom>
          <a:solidFill>
            <a:srgbClr val="EDF2FA"/>
          </a:solidFill>
          <a:ln/>
        </p:spPr>
      </p:sp>
      <p:sp>
        <p:nvSpPr>
          <p:cNvPr id="20" name="Shape 18"/>
          <p:cNvSpPr/>
          <p:nvPr/>
        </p:nvSpPr>
        <p:spPr>
          <a:xfrm>
            <a:off x="6446520" y="2496312"/>
            <a:ext cx="365760" cy="365760"/>
          </a:xfrm>
          <a:prstGeom prst="ellipse">
            <a:avLst/>
          </a:prstGeom>
          <a:solidFill>
            <a:srgbClr val="3E5C8A"/>
          </a:solidFill>
          <a:ln/>
        </p:spPr>
      </p:sp>
      <p:sp>
        <p:nvSpPr>
          <p:cNvPr id="21" name="Text 19"/>
          <p:cNvSpPr txBox="1"/>
          <p:nvPr/>
        </p:nvSpPr>
        <p:spPr>
          <a:xfrm>
            <a:off x="644652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7687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Where we start: the vision</a:t>
            </a:r>
            <a:endParaRPr lang="en-US" sz="1350" dirty="0"/>
          </a:p>
        </p:txBody>
      </p:sp>
      <p:sp>
        <p:nvSpPr>
          <p:cNvPr id="23" name="Text 21"/>
          <p:cNvSpPr txBox="1"/>
          <p:nvPr/>
        </p:nvSpPr>
        <p:spPr>
          <a:xfrm>
            <a:off x="697687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Three candidate statements to deliberate</a:t>
            </a:r>
            <a:endParaRPr lang="en-US" sz="1050" dirty="0"/>
          </a:p>
        </p:txBody>
      </p:sp>
      <p:sp>
        <p:nvSpPr>
          <p:cNvPr id="24" name="Shape 22"/>
          <p:cNvSpPr/>
          <p:nvPr/>
        </p:nvSpPr>
        <p:spPr>
          <a:xfrm>
            <a:off x="640080" y="3054096"/>
            <a:ext cx="5257800" cy="576072"/>
          </a:xfrm>
          <a:prstGeom prst="roundRect">
            <a:avLst>
              <a:gd name="adj" fmla="val 12698"/>
            </a:avLst>
          </a:prstGeom>
          <a:solidFill>
            <a:srgbClr val="F2F6FC"/>
          </a:solidFill>
          <a:ln/>
        </p:spPr>
      </p:sp>
      <p:sp>
        <p:nvSpPr>
          <p:cNvPr id="25" name="Shape 23"/>
          <p:cNvSpPr/>
          <p:nvPr/>
        </p:nvSpPr>
        <p:spPr>
          <a:xfrm>
            <a:off x="822960" y="3154680"/>
            <a:ext cx="365760" cy="365760"/>
          </a:xfrm>
          <a:prstGeom prst="ellipse">
            <a:avLst/>
          </a:prstGeom>
          <a:solidFill>
            <a:srgbClr val="1E2761"/>
          </a:solidFill>
          <a:ln/>
        </p:spPr>
      </p:sp>
      <p:sp>
        <p:nvSpPr>
          <p:cNvPr id="26" name="Text 24"/>
          <p:cNvSpPr txBox="1"/>
          <p:nvPr/>
        </p:nvSpPr>
        <p:spPr>
          <a:xfrm>
            <a:off x="82296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35331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1 · Tier one and tier two</a:t>
            </a:r>
            <a:endParaRPr lang="en-US" sz="1350" dirty="0"/>
          </a:p>
        </p:txBody>
      </p:sp>
      <p:sp>
        <p:nvSpPr>
          <p:cNvPr id="28" name="Text 26"/>
          <p:cNvSpPr txBox="1"/>
          <p:nvPr/>
        </p:nvSpPr>
        <p:spPr>
          <a:xfrm>
            <a:off x="135331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Where the energy goes</a:t>
            </a:r>
            <a:endParaRPr lang="en-US" sz="1050" dirty="0"/>
          </a:p>
        </p:txBody>
      </p:sp>
      <p:sp>
        <p:nvSpPr>
          <p:cNvPr id="29" name="Shape 27"/>
          <p:cNvSpPr/>
          <p:nvPr/>
        </p:nvSpPr>
        <p:spPr>
          <a:xfrm>
            <a:off x="6263640" y="3054096"/>
            <a:ext cx="5257800" cy="576072"/>
          </a:xfrm>
          <a:prstGeom prst="roundRect">
            <a:avLst>
              <a:gd name="adj" fmla="val 12698"/>
            </a:avLst>
          </a:prstGeom>
          <a:solidFill>
            <a:srgbClr val="EDF2FA"/>
          </a:solidFill>
          <a:ln/>
        </p:spPr>
      </p:sp>
      <p:sp>
        <p:nvSpPr>
          <p:cNvPr id="30" name="Shape 28"/>
          <p:cNvSpPr/>
          <p:nvPr/>
        </p:nvSpPr>
        <p:spPr>
          <a:xfrm>
            <a:off x="6446520" y="3154680"/>
            <a:ext cx="365760" cy="365760"/>
          </a:xfrm>
          <a:prstGeom prst="ellipse">
            <a:avLst/>
          </a:prstGeom>
          <a:solidFill>
            <a:srgbClr val="3E5C8A"/>
          </a:solidFill>
          <a:ln/>
        </p:spPr>
      </p:sp>
      <p:sp>
        <p:nvSpPr>
          <p:cNvPr id="31" name="Text 29"/>
          <p:cNvSpPr txBox="1"/>
          <p:nvPr/>
        </p:nvSpPr>
        <p:spPr>
          <a:xfrm>
            <a:off x="644652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97687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Principles we hold going in</a:t>
            </a:r>
            <a:endParaRPr lang="en-US" sz="1350" dirty="0"/>
          </a:p>
        </p:txBody>
      </p:sp>
      <p:sp>
        <p:nvSpPr>
          <p:cNvPr id="33" name="Text 31"/>
          <p:cNvSpPr txBox="1"/>
          <p:nvPr/>
        </p:nvSpPr>
        <p:spPr>
          <a:xfrm>
            <a:off x="697687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Constraints agreed before the work starts</a:t>
            </a:r>
            <a:endParaRPr lang="en-US" sz="1050" dirty="0"/>
          </a:p>
        </p:txBody>
      </p:sp>
      <p:sp>
        <p:nvSpPr>
          <p:cNvPr id="34" name="Shape 32"/>
          <p:cNvSpPr/>
          <p:nvPr/>
        </p:nvSpPr>
        <p:spPr>
          <a:xfrm>
            <a:off x="640080" y="3712464"/>
            <a:ext cx="5257800" cy="576072"/>
          </a:xfrm>
          <a:prstGeom prst="roundRect">
            <a:avLst>
              <a:gd name="adj" fmla="val 12698"/>
            </a:avLst>
          </a:prstGeom>
          <a:solidFill>
            <a:srgbClr val="F2F6FC"/>
          </a:solidFill>
          <a:ln/>
        </p:spPr>
      </p:sp>
      <p:sp>
        <p:nvSpPr>
          <p:cNvPr id="35" name="Shape 33"/>
          <p:cNvSpPr/>
          <p:nvPr/>
        </p:nvSpPr>
        <p:spPr>
          <a:xfrm>
            <a:off x="822960" y="3813048"/>
            <a:ext cx="365760" cy="365760"/>
          </a:xfrm>
          <a:prstGeom prst="ellipse">
            <a:avLst/>
          </a:prstGeom>
          <a:solidFill>
            <a:srgbClr val="1E2761"/>
          </a:solidFill>
          <a:ln/>
        </p:spPr>
      </p:sp>
      <p:sp>
        <p:nvSpPr>
          <p:cNvPr id="36" name="Text 34"/>
          <p:cNvSpPr txBox="1"/>
          <p:nvPr/>
        </p:nvSpPr>
        <p:spPr>
          <a:xfrm>
            <a:off x="82296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will get there</a:t>
            </a:r>
            <a:endParaRPr lang="en-US" sz="1350" dirty="0"/>
          </a:p>
        </p:txBody>
      </p:sp>
      <p:sp>
        <p:nvSpPr>
          <p:cNvPr id="38" name="Text 36"/>
          <p:cNvSpPr txBox="1"/>
          <p:nvPr/>
        </p:nvSpPr>
        <p:spPr>
          <a:xfrm>
            <a:off x="135331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five-step approach</a:t>
            </a:r>
            <a:endParaRPr lang="en-US" sz="1050" dirty="0"/>
          </a:p>
        </p:txBody>
      </p:sp>
      <p:sp>
        <p:nvSpPr>
          <p:cNvPr id="39" name="Shape 37"/>
          <p:cNvSpPr/>
          <p:nvPr/>
        </p:nvSpPr>
        <p:spPr>
          <a:xfrm>
            <a:off x="6263640" y="3712464"/>
            <a:ext cx="5257800" cy="576072"/>
          </a:xfrm>
          <a:prstGeom prst="roundRect">
            <a:avLst>
              <a:gd name="adj" fmla="val 12698"/>
            </a:avLst>
          </a:prstGeom>
          <a:solidFill>
            <a:srgbClr val="EDF2FA"/>
          </a:solidFill>
          <a:ln/>
        </p:spPr>
      </p:sp>
      <p:sp>
        <p:nvSpPr>
          <p:cNvPr id="40" name="Shape 38"/>
          <p:cNvSpPr/>
          <p:nvPr/>
        </p:nvSpPr>
        <p:spPr>
          <a:xfrm>
            <a:off x="6446520" y="3813048"/>
            <a:ext cx="365760" cy="365760"/>
          </a:xfrm>
          <a:prstGeom prst="ellipse">
            <a:avLst/>
          </a:prstGeom>
          <a:solidFill>
            <a:srgbClr val="3E5C8A"/>
          </a:solidFill>
          <a:ln/>
        </p:spPr>
      </p:sp>
      <p:sp>
        <p:nvSpPr>
          <p:cNvPr id="41" name="Text 39"/>
          <p:cNvSpPr txBox="1"/>
          <p:nvPr/>
        </p:nvSpPr>
        <p:spPr>
          <a:xfrm>
            <a:off x="644652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697687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Five workstreams, one per pillar</a:t>
            </a:r>
            <a:endParaRPr lang="en-US" sz="1350" dirty="0"/>
          </a:p>
        </p:txBody>
      </p:sp>
      <p:sp>
        <p:nvSpPr>
          <p:cNvPr id="43" name="Text 41"/>
          <p:cNvSpPr txBox="1"/>
          <p:nvPr/>
        </p:nvSpPr>
        <p:spPr>
          <a:xfrm>
            <a:off x="697687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owns what, and what each produces</a:t>
            </a:r>
            <a:endParaRPr lang="en-US" sz="1050" dirty="0"/>
          </a:p>
        </p:txBody>
      </p:sp>
      <p:sp>
        <p:nvSpPr>
          <p:cNvPr id="44" name="Shape 42"/>
          <p:cNvSpPr/>
          <p:nvPr/>
        </p:nvSpPr>
        <p:spPr>
          <a:xfrm>
            <a:off x="640080" y="4370832"/>
            <a:ext cx="5257800" cy="576072"/>
          </a:xfrm>
          <a:prstGeom prst="roundRect">
            <a:avLst>
              <a:gd name="adj" fmla="val 12698"/>
            </a:avLst>
          </a:prstGeom>
          <a:solidFill>
            <a:srgbClr val="F2F6FC"/>
          </a:solidFill>
          <a:ln/>
        </p:spPr>
      </p:sp>
      <p:sp>
        <p:nvSpPr>
          <p:cNvPr id="45" name="Shape 43"/>
          <p:cNvSpPr/>
          <p:nvPr/>
        </p:nvSpPr>
        <p:spPr>
          <a:xfrm>
            <a:off x="822960" y="4471416"/>
            <a:ext cx="365760" cy="365760"/>
          </a:xfrm>
          <a:prstGeom prst="ellipse">
            <a:avLst/>
          </a:prstGeom>
          <a:solidFill>
            <a:srgbClr val="1E2761"/>
          </a:solidFill>
          <a:ln/>
        </p:spPr>
      </p:sp>
      <p:sp>
        <p:nvSpPr>
          <p:cNvPr id="46" name="Text 44"/>
          <p:cNvSpPr txBox="1"/>
          <p:nvPr/>
        </p:nvSpPr>
        <p:spPr>
          <a:xfrm>
            <a:off x="82296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35331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Who is doing this</a:t>
            </a:r>
            <a:endParaRPr lang="en-US" sz="1350" dirty="0"/>
          </a:p>
        </p:txBody>
      </p:sp>
      <p:sp>
        <p:nvSpPr>
          <p:cNvPr id="48" name="Text 46"/>
          <p:cNvSpPr txBox="1"/>
          <p:nvPr/>
        </p:nvSpPr>
        <p:spPr>
          <a:xfrm>
            <a:off x="135331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strategy development team</a:t>
            </a:r>
            <a:endParaRPr lang="en-US" sz="1050" dirty="0"/>
          </a:p>
        </p:txBody>
      </p:sp>
      <p:sp>
        <p:nvSpPr>
          <p:cNvPr id="49" name="Shape 47"/>
          <p:cNvSpPr/>
          <p:nvPr/>
        </p:nvSpPr>
        <p:spPr>
          <a:xfrm>
            <a:off x="6263640" y="4370832"/>
            <a:ext cx="5257800" cy="576072"/>
          </a:xfrm>
          <a:prstGeom prst="roundRect">
            <a:avLst>
              <a:gd name="adj" fmla="val 12698"/>
            </a:avLst>
          </a:prstGeom>
          <a:solidFill>
            <a:srgbClr val="EDF2FA"/>
          </a:solidFill>
          <a:ln/>
        </p:spPr>
      </p:sp>
      <p:sp>
        <p:nvSpPr>
          <p:cNvPr id="50" name="Shape 48"/>
          <p:cNvSpPr/>
          <p:nvPr/>
        </p:nvSpPr>
        <p:spPr>
          <a:xfrm>
            <a:off x="6446520" y="4471416"/>
            <a:ext cx="365760" cy="365760"/>
          </a:xfrm>
          <a:prstGeom prst="ellipse">
            <a:avLst/>
          </a:prstGeom>
          <a:solidFill>
            <a:srgbClr val="3E5C8A"/>
          </a:solidFill>
          <a:ln/>
        </p:spPr>
      </p:sp>
      <p:sp>
        <p:nvSpPr>
          <p:cNvPr id="51" name="Text 49"/>
          <p:cNvSpPr txBox="1"/>
          <p:nvPr/>
        </p:nvSpPr>
        <p:spPr>
          <a:xfrm>
            <a:off x="644652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697687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Delivery and pricing economics</a:t>
            </a:r>
            <a:endParaRPr lang="en-US" sz="1350" dirty="0"/>
          </a:p>
        </p:txBody>
      </p:sp>
      <p:sp>
        <p:nvSpPr>
          <p:cNvPr id="53" name="Text 51"/>
          <p:cNvSpPr txBox="1"/>
          <p:nvPr/>
        </p:nvSpPr>
        <p:spPr>
          <a:xfrm>
            <a:off x="697687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price, ADR and margin</a:t>
            </a:r>
            <a:endParaRPr lang="en-US" sz="1050" dirty="0"/>
          </a:p>
        </p:txBody>
      </p:sp>
      <p:sp>
        <p:nvSpPr>
          <p:cNvPr id="54" name="Shape 52"/>
          <p:cNvSpPr/>
          <p:nvPr/>
        </p:nvSpPr>
        <p:spPr>
          <a:xfrm>
            <a:off x="640080" y="5029200"/>
            <a:ext cx="5257800" cy="576072"/>
          </a:xfrm>
          <a:prstGeom prst="roundRect">
            <a:avLst>
              <a:gd name="adj" fmla="val 12698"/>
            </a:avLst>
          </a:prstGeom>
          <a:solidFill>
            <a:srgbClr val="F2F6FC"/>
          </a:solidFill>
          <a:ln/>
        </p:spPr>
      </p:sp>
      <p:sp>
        <p:nvSpPr>
          <p:cNvPr id="55" name="Shape 53"/>
          <p:cNvSpPr/>
          <p:nvPr/>
        </p:nvSpPr>
        <p:spPr>
          <a:xfrm>
            <a:off x="822960" y="5129784"/>
            <a:ext cx="365760" cy="365760"/>
          </a:xfrm>
          <a:prstGeom prst="ellipse">
            <a:avLst/>
          </a:prstGeom>
          <a:solidFill>
            <a:srgbClr val="1E2761"/>
          </a:solidFill>
          <a:ln/>
        </p:spPr>
      </p:sp>
      <p:sp>
        <p:nvSpPr>
          <p:cNvPr id="56" name="Text 54"/>
          <p:cNvSpPr txBox="1"/>
          <p:nvPr/>
        </p:nvSpPr>
        <p:spPr>
          <a:xfrm>
            <a:off x="82296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35331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Team and talent</a:t>
            </a:r>
            <a:endParaRPr lang="en-US" sz="1350" dirty="0"/>
          </a:p>
        </p:txBody>
      </p:sp>
      <p:sp>
        <p:nvSpPr>
          <p:cNvPr id="58" name="Text 56"/>
          <p:cNvSpPr txBox="1"/>
          <p:nvPr/>
        </p:nvSpPr>
        <p:spPr>
          <a:xfrm>
            <a:off x="135331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Dedicated, shared and the gap to close</a:t>
            </a:r>
            <a:endParaRPr lang="en-US" sz="1050" dirty="0"/>
          </a:p>
        </p:txBody>
      </p:sp>
      <p:sp>
        <p:nvSpPr>
          <p:cNvPr id="59" name="Shape 57"/>
          <p:cNvSpPr/>
          <p:nvPr/>
        </p:nvSpPr>
        <p:spPr>
          <a:xfrm>
            <a:off x="6263640" y="5029200"/>
            <a:ext cx="5257800" cy="576072"/>
          </a:xfrm>
          <a:prstGeom prst="roundRect">
            <a:avLst>
              <a:gd name="adj" fmla="val 12698"/>
            </a:avLst>
          </a:prstGeom>
          <a:solidFill>
            <a:srgbClr val="EDF2FA"/>
          </a:solidFill>
          <a:ln/>
        </p:spPr>
      </p:sp>
      <p:sp>
        <p:nvSpPr>
          <p:cNvPr id="60" name="Shape 58"/>
          <p:cNvSpPr/>
          <p:nvPr/>
        </p:nvSpPr>
        <p:spPr>
          <a:xfrm>
            <a:off x="6446520" y="5129784"/>
            <a:ext cx="365760" cy="365760"/>
          </a:xfrm>
          <a:prstGeom prst="ellipse">
            <a:avLst/>
          </a:prstGeom>
          <a:solidFill>
            <a:srgbClr val="3E5C8A"/>
          </a:solidFill>
          <a:ln/>
        </p:spPr>
      </p:sp>
      <p:sp>
        <p:nvSpPr>
          <p:cNvPr id="61" name="Text 59"/>
          <p:cNvSpPr txBox="1"/>
          <p:nvPr/>
        </p:nvSpPr>
        <p:spPr>
          <a:xfrm>
            <a:off x="644652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697687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Eminence and positioning</a:t>
            </a:r>
            <a:endParaRPr lang="en-US" sz="1350" dirty="0"/>
          </a:p>
        </p:txBody>
      </p:sp>
      <p:sp>
        <p:nvSpPr>
          <p:cNvPr id="63" name="Text 61"/>
          <p:cNvSpPr txBox="1"/>
          <p:nvPr/>
        </p:nvSpPr>
        <p:spPr>
          <a:xfrm>
            <a:off x="697687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How the market comes to know us</a:t>
            </a:r>
            <a:endParaRPr lang="en-US" sz="1050" dirty="0"/>
          </a:p>
        </p:txBody>
      </p:sp>
      <p:sp>
        <p:nvSpPr>
          <p:cNvPr id="64" name="Shape 62"/>
          <p:cNvSpPr/>
          <p:nvPr/>
        </p:nvSpPr>
        <p:spPr>
          <a:xfrm>
            <a:off x="640080" y="5687568"/>
            <a:ext cx="5257800" cy="576072"/>
          </a:xfrm>
          <a:prstGeom prst="roundRect">
            <a:avLst>
              <a:gd name="adj" fmla="val 12698"/>
            </a:avLst>
          </a:prstGeom>
          <a:solidFill>
            <a:srgbClr val="F2F6FC"/>
          </a:solidFill>
          <a:ln/>
        </p:spPr>
      </p:sp>
      <p:sp>
        <p:nvSpPr>
          <p:cNvPr id="65" name="Shape 63"/>
          <p:cNvSpPr/>
          <p:nvPr/>
        </p:nvSpPr>
        <p:spPr>
          <a:xfrm>
            <a:off x="822960" y="5788152"/>
            <a:ext cx="365760" cy="365760"/>
          </a:xfrm>
          <a:prstGeom prst="ellipse">
            <a:avLst/>
          </a:prstGeom>
          <a:solidFill>
            <a:srgbClr val="1E2761"/>
          </a:solidFill>
          <a:ln/>
        </p:spPr>
      </p:sp>
      <p:sp>
        <p:nvSpPr>
          <p:cNvPr id="66" name="Text 64"/>
          <p:cNvSpPr txBox="1"/>
          <p:nvPr/>
        </p:nvSpPr>
        <p:spPr>
          <a:xfrm>
            <a:off x="82296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13</a:t>
            </a:r>
            <a:endParaRPr lang="en-US" sz="1200" dirty="0"/>
          </a:p>
        </p:txBody>
      </p:sp>
      <p:sp>
        <p:nvSpPr>
          <p:cNvPr id="67" name="Text 65"/>
          <p:cNvSpPr txBox="1"/>
          <p:nvPr/>
        </p:nvSpPr>
        <p:spPr>
          <a:xfrm>
            <a:off x="135331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Alliances</a:t>
            </a:r>
            <a:endParaRPr lang="en-US" sz="1350" dirty="0"/>
          </a:p>
        </p:txBody>
      </p:sp>
      <p:sp>
        <p:nvSpPr>
          <p:cNvPr id="68" name="Text 66"/>
          <p:cNvSpPr txBox="1"/>
          <p:nvPr/>
        </p:nvSpPr>
        <p:spPr>
          <a:xfrm>
            <a:off x="135331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we go to market with, and for what</a:t>
            </a:r>
            <a:endParaRPr lang="en-US" sz="1050" dirty="0"/>
          </a:p>
        </p:txBody>
      </p:sp>
      <p:sp>
        <p:nvSpPr>
          <p:cNvPr id="69" name="Shape 67"/>
          <p:cNvSpPr/>
          <p:nvPr/>
        </p:nvSpPr>
        <p:spPr>
          <a:xfrm>
            <a:off x="6263640" y="5687568"/>
            <a:ext cx="5257800" cy="576072"/>
          </a:xfrm>
          <a:prstGeom prst="roundRect">
            <a:avLst>
              <a:gd name="adj" fmla="val 12698"/>
            </a:avLst>
          </a:prstGeom>
          <a:solidFill>
            <a:srgbClr val="EDF2FA"/>
          </a:solidFill>
          <a:ln/>
        </p:spPr>
      </p:sp>
      <p:sp>
        <p:nvSpPr>
          <p:cNvPr id="70" name="Shape 68"/>
          <p:cNvSpPr/>
          <p:nvPr/>
        </p:nvSpPr>
        <p:spPr>
          <a:xfrm>
            <a:off x="6446520" y="5788152"/>
            <a:ext cx="365760" cy="365760"/>
          </a:xfrm>
          <a:prstGeom prst="ellipse">
            <a:avLst/>
          </a:prstGeom>
          <a:solidFill>
            <a:srgbClr val="3E5C8A"/>
          </a:solidFill>
          <a:ln/>
        </p:spPr>
      </p:sp>
      <p:sp>
        <p:nvSpPr>
          <p:cNvPr id="71" name="Text 69"/>
          <p:cNvSpPr txBox="1"/>
          <p:nvPr/>
        </p:nvSpPr>
        <p:spPr>
          <a:xfrm>
            <a:off x="644652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14</a:t>
            </a:r>
            <a:endParaRPr lang="en-US" sz="1200" dirty="0"/>
          </a:p>
        </p:txBody>
      </p:sp>
      <p:sp>
        <p:nvSpPr>
          <p:cNvPr id="72" name="Text 70"/>
          <p:cNvSpPr txBox="1"/>
          <p:nvPr/>
        </p:nvSpPr>
        <p:spPr>
          <a:xfrm>
            <a:off x="697687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three-week journey</a:t>
            </a:r>
            <a:endParaRPr lang="en-US" sz="1350" dirty="0"/>
          </a:p>
        </p:txBody>
      </p:sp>
      <p:sp>
        <p:nvSpPr>
          <p:cNvPr id="73" name="Text 71"/>
          <p:cNvSpPr txBox="1"/>
          <p:nvPr/>
        </p:nvSpPr>
        <p:spPr>
          <a:xfrm>
            <a:off x="697687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Week by week, with a gate each week</a:t>
            </a:r>
            <a:endParaRPr lang="en-US" sz="1050" dirty="0"/>
          </a:p>
        </p:txBody>
      </p:sp>
      <p:sp>
        <p:nvSpPr>
          <p:cNvPr id="74" name="Shape 72"/>
          <p:cNvSpPr/>
          <p:nvPr/>
        </p:nvSpPr>
        <p:spPr>
          <a:xfrm>
            <a:off x="640080" y="6345936"/>
            <a:ext cx="5257800" cy="576072"/>
          </a:xfrm>
          <a:prstGeom prst="roundRect">
            <a:avLst>
              <a:gd name="adj" fmla="val 12698"/>
            </a:avLst>
          </a:prstGeom>
          <a:solidFill>
            <a:srgbClr val="F2F6FC"/>
          </a:solidFill>
          <a:ln/>
        </p:spPr>
      </p:sp>
      <p:sp>
        <p:nvSpPr>
          <p:cNvPr id="75" name="Shape 73"/>
          <p:cNvSpPr/>
          <p:nvPr/>
        </p:nvSpPr>
        <p:spPr>
          <a:xfrm>
            <a:off x="822960" y="6446520"/>
            <a:ext cx="365760" cy="365760"/>
          </a:xfrm>
          <a:prstGeom prst="ellipse">
            <a:avLst/>
          </a:prstGeom>
          <a:solidFill>
            <a:srgbClr val="1E2761"/>
          </a:solidFill>
          <a:ln/>
        </p:spPr>
      </p:sp>
      <p:sp>
        <p:nvSpPr>
          <p:cNvPr id="76" name="Text 74"/>
          <p:cNvSpPr txBox="1"/>
          <p:nvPr/>
        </p:nvSpPr>
        <p:spPr>
          <a:xfrm>
            <a:off x="822960" y="6446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15</a:t>
            </a:r>
            <a:endParaRPr lang="en-US" sz="1200" dirty="0"/>
          </a:p>
        </p:txBody>
      </p:sp>
      <p:sp>
        <p:nvSpPr>
          <p:cNvPr id="77" name="Text 75"/>
          <p:cNvSpPr txBox="1"/>
          <p:nvPr/>
        </p:nvSpPr>
        <p:spPr>
          <a:xfrm>
            <a:off x="1353312" y="637336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discipline · Governing the execution</a:t>
            </a:r>
            <a:endParaRPr lang="en-US" sz="1350" dirty="0"/>
          </a:p>
        </p:txBody>
      </p:sp>
      <p:sp>
        <p:nvSpPr>
          <p:cNvPr id="78" name="Text 76"/>
          <p:cNvSpPr txBox="1"/>
          <p:nvPr/>
        </p:nvSpPr>
        <p:spPr>
          <a:xfrm>
            <a:off x="1353312" y="664768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and scorecard after sign-off</a:t>
            </a:r>
            <a:endParaRPr lang="en-US" sz="1050" dirty="0"/>
          </a:p>
        </p:txBody>
      </p:sp>
      <p:sp>
        <p:nvSpPr>
          <p:cNvPr id="79" name="Shape 77"/>
          <p:cNvSpPr/>
          <p:nvPr/>
        </p:nvSpPr>
        <p:spPr>
          <a:xfrm>
            <a:off x="6263640" y="6345936"/>
            <a:ext cx="5257800" cy="576072"/>
          </a:xfrm>
          <a:prstGeom prst="roundRect">
            <a:avLst>
              <a:gd name="adj" fmla="val 12698"/>
            </a:avLst>
          </a:prstGeom>
          <a:solidFill>
            <a:srgbClr val="EDF2FA"/>
          </a:solidFill>
          <a:ln/>
        </p:spPr>
      </p:sp>
      <p:sp>
        <p:nvSpPr>
          <p:cNvPr id="80" name="Shape 78"/>
          <p:cNvSpPr/>
          <p:nvPr/>
        </p:nvSpPr>
        <p:spPr>
          <a:xfrm>
            <a:off x="6446520" y="6446520"/>
            <a:ext cx="365760" cy="365760"/>
          </a:xfrm>
          <a:prstGeom prst="ellipse">
            <a:avLst/>
          </a:prstGeom>
          <a:solidFill>
            <a:srgbClr val="3E5C8A"/>
          </a:solidFill>
          <a:ln/>
        </p:spPr>
      </p:sp>
      <p:sp>
        <p:nvSpPr>
          <p:cNvPr id="81" name="Text 79"/>
          <p:cNvSpPr txBox="1"/>
          <p:nvPr/>
        </p:nvSpPr>
        <p:spPr>
          <a:xfrm>
            <a:off x="6446520" y="6446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16</a:t>
            </a:r>
            <a:endParaRPr lang="en-US" sz="1200" dirty="0"/>
          </a:p>
        </p:txBody>
      </p:sp>
      <p:sp>
        <p:nvSpPr>
          <p:cNvPr id="82" name="Text 80"/>
          <p:cNvSpPr txBox="1"/>
          <p:nvPr/>
        </p:nvSpPr>
        <p:spPr>
          <a:xfrm>
            <a:off x="6976872" y="637336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run the cycle</a:t>
            </a:r>
            <a:endParaRPr lang="en-US" sz="1350" dirty="0"/>
          </a:p>
        </p:txBody>
      </p:sp>
      <p:sp>
        <p:nvSpPr>
          <p:cNvPr id="83" name="Text 81"/>
          <p:cNvSpPr txBox="1"/>
          <p:nvPr/>
        </p:nvSpPr>
        <p:spPr>
          <a:xfrm>
            <a:off x="6976872" y="664768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Cadence, inputs and decisions requested</a:t>
            </a:r>
            <a:endParaRPr lang="en-US" sz="1050" dirty="0"/>
          </a:p>
        </p:txBody>
      </p:sp>
      <p:sp>
        <p:nvSpPr>
          <p:cNvPr id="84" name="Text 8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capacity and recruitment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segments,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segment</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Segment is a dimension throughout: every proposition says which segments it serves, every account carries its segment, and targets are set by market and segment,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Sub-segments are indicative; the cycle confirms which we actually pursue.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Where we start: the vision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Lead candidate and two alternates. Each carries the same six themes; they differ in register.</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segments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candidate must carry: end-to-end accountability · complexity handled, never the word risk · acceleration · both halves, market and internal · AI present but not the headline · all three segments.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segments.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Promotion and demotion criteria, and the tier one list itself, are set in the cycle.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Each FSI segment is specialised and clients expect it: propositions, credentials and CVs speak that segment’s language.</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assets and accelerators, construct, pricing, margin, team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segment: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practices?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segments it sits behind, which accounts it opens, and what it costs us back.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Segments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segment where they differ. Rationale should stand on evidence, not familiarity.</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Segment: banking, funds or insurance. Tier one accounts are named individually; tier two may be grouped.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Practices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Practices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segment</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segment. Reconciles to the account revenue plan and to capacity.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and segments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and segments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2026-09-28T14:41:35Z</dcterms:created>
  <dcterms:modified xsi:type="dcterms:W3CDTF">2026-09-28T14:41:35Z</dcterms:modified>
</cp:coreProperties>
</file>