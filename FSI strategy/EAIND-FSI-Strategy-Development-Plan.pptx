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EAIND: Engineering, AI and Data. It is a consulting portfolio — think technology advisory and delivery. We design, advise on and implement end-to-end technology transformation for the financial services industry. FSI here means three segments, in priority order: banking first, then funds (sovereign wealth funds, national and development funds, fund and investment management), then insurance.
Three pillars:
1. Industry Solutions — core-led transformation: core modernisation and core platform packages, whatever the segment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segments.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segments, in this priority order.
1. Banking — the priority segment,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segment rather than per industry: a core banking reference does not win a policy administration programme.
Practical consequence for the cycle: segment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Agreeing the drivers before the words stops the discussion turning into a wordsmithing exercise, and stops later revisions quietly trading one theme away for another.
Two of them carry most of the weight and deserve to be explained in the room.
Complexity, handled: our real competition is not another integrated pitch. It is the institution doing it internally, and the lower-cost integrator quoting half the price. Neither can absorb a multi-stream, regulated, interconnected programme. We say that through words like landed, on time, cannot afford to get wrong — never by claiming we carry or underwrite the risk, which starts a procurement and legal conversation the vision should not start.
AI at the core, not on the badge: AI-native is oversubscribed and clients have heard it from everyone. Leading with it makes us sound like the crowd; putting it late and proving it makes it credible. It shows up twice in practice — in what we build for the client, and in how we deliver, through assets, accelerators and AI-assisted engineering.
The remaining four are straightforward but non-negotiable: end-to-end accountability including alliances, acceleration, both halves of the institution, and all three segments.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candidate: "Complexity, compressed." Two alternates kept for the discussion.
Six themes every candidate has to carry, held deliberately so revisions do not trade one away for another:
1. Integrated and end to end — one accountable team, alliances counted as part of what we bring.
2. Complexity handled reliably — implied through words like landed, on time, cannot afford to get wrong. Never stated as carrying or underwriting risk: that is a procurement and legal conversation we do not want the vision to start.
3. Acceleration — time to market and time to value, because a platform that is not live is cost carried or revenue missed.
4. Both halves of the institution — what it takes to market, and how it runs inside. The second half is where enterprise AI, workplace tooling and intelligent operations sit.
5. AI present but never the headline. AI-native is oversubscribed; the credibility comes from AI at the core of what we build and how we deliver, stated once and late.
6. All three segments — banks, funds and insurers.
Why "compressed" rather than "sooner" or "faster": it reads as engineering rather than marketing, and it carries the complexity claim and the speed claim in the same word.
What the vision obliges elsewhere in the strategy: the catalogue must show the internal-facing propositions, not only client-facing platforms, or the second half of the claim is unsupported; the delivery model must show the assets, accelerators and AI-assisted delivery that make compression real; and the differentiation argument — why an internal team or a lower-cost integrator cannot do this — belongs in how we win, with evidence, rather than in the vision itself.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segments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segment,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segment.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segment.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segment priorities imply, the insurance core and fund platform vendors where we currently hold nothing. These are offering-level and segment-level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segment and by scope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segments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flavours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flavours,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our own consulting partners, who own the client relationship, and the alliance or vendor partner we go to market with on that account.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segment: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segment and scope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segments.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
Skills and enablement is the part most easily left implicit, so it is called out here. Four distinct needs, and they are not the same thing:
- Capability mapping: which skills the catalogue actually requires, offering by offering. Start from the propositions, not from the org chart.
- Offering enablement: the portfolio trained on the catalogue itself, using the proposition one-pagers. This is what makes the integrated market team principle real — a partner who cannot describe the catalogue cannot recognise the signal or position the first level.
- Domain training and industry certification: financial services specific, and specific by segment. Banking, funds and insurance each have their own qualifications, regulatory context and language, and this is what backs the domain-specific principle. Where we are thin in funds and insurance, training is one of the routes in, alongside hiring.
- Alliance and platform certification: the hyperscalers and product vendors require accredited people, and certification levels often gate partner status, funding and co-sell eligibility. It is a cost with a commercial return attached, so it belongs in the plan rather than in someone's development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the catalogue and the people. Work from the propositions backwards: each one names the capabilities it needs, and this is where they are counted and closed.
Four kinds of row, and they should not be blurred together:
- Offering enablement — the portfolio trained on the catalogue itself, so any partner or director can recognise the signal and position the first level before pulling in a specialist.
- Domain capability — financial services knowledge by segment. Banking, funds and insurance carry different qualifications, regulators and vocabulary, and this is what makes the domain-specific claim true rather than asserted.
- Technical and platform capability — the skills the delivery construct assumes, including the assets and accelerators.
- Certification — alliance and vendor accreditations. These gate partner tier, funding and co-sell eligibility, so they carry a commercial return, not just a development benefit.
Who needs it should say how many and at what level, not simply the practice name. A capability held by one person is a dependency, not a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pack runs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Five parts, in the order the strategy actually gets built.</a:t>
            </a:r>
            <a:endParaRPr lang="en-US" sz="1450" dirty="0"/>
          </a:p>
        </p:txBody>
      </p:sp>
      <p:sp>
        <p:nvSpPr>
          <p:cNvPr id="4" name="Shape 2"/>
          <p:cNvSpPr/>
          <p:nvPr/>
        </p:nvSpPr>
        <p:spPr>
          <a:xfrm>
            <a:off x="640080" y="1783080"/>
            <a:ext cx="10881360" cy="777240"/>
          </a:xfrm>
          <a:prstGeom prst="roundRect">
            <a:avLst>
              <a:gd name="adj" fmla="val 11765"/>
            </a:avLst>
          </a:prstGeom>
          <a:solidFill>
            <a:srgbClr val="F2F6FC"/>
          </a:solidFill>
          <a:ln/>
        </p:spPr>
      </p:sp>
      <p:sp>
        <p:nvSpPr>
          <p:cNvPr id="5" name="Shape 3"/>
          <p:cNvSpPr/>
          <p:nvPr/>
        </p:nvSpPr>
        <p:spPr>
          <a:xfrm>
            <a:off x="640080" y="1783080"/>
            <a:ext cx="1737360" cy="777240"/>
          </a:xfrm>
          <a:prstGeom prst="rect">
            <a:avLst/>
          </a:prstGeom>
          <a:solidFill>
            <a:srgbClr val="1E2761"/>
          </a:solidFill>
          <a:ln/>
        </p:spPr>
      </p:sp>
      <p:sp>
        <p:nvSpPr>
          <p:cNvPr id="6" name="Text 4"/>
          <p:cNvSpPr txBox="1"/>
          <p:nvPr/>
        </p:nvSpPr>
        <p:spPr>
          <a:xfrm>
            <a:off x="640080" y="1783080"/>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ONE</a:t>
            </a:r>
            <a:endParaRPr lang="en-US" sz="1150" dirty="0"/>
          </a:p>
        </p:txBody>
      </p:sp>
      <p:sp>
        <p:nvSpPr>
          <p:cNvPr id="7" name="Text 5"/>
          <p:cNvSpPr txBox="1"/>
          <p:nvPr/>
        </p:nvSpPr>
        <p:spPr>
          <a:xfrm>
            <a:off x="2606040" y="1874520"/>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frame</a:t>
            </a:r>
            <a:endParaRPr lang="en-US" sz="1550" dirty="0"/>
          </a:p>
        </p:txBody>
      </p:sp>
      <p:sp>
        <p:nvSpPr>
          <p:cNvPr id="8" name="Text 6"/>
          <p:cNvSpPr txBox="1"/>
          <p:nvPr/>
        </p:nvSpPr>
        <p:spPr>
          <a:xfrm>
            <a:off x="2606040" y="2194560"/>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What this document is · the industry we mean</a:t>
            </a:r>
            <a:endParaRPr lang="en-US" sz="1100" dirty="0"/>
          </a:p>
        </p:txBody>
      </p:sp>
      <p:sp>
        <p:nvSpPr>
          <p:cNvPr id="9" name="Text 7"/>
          <p:cNvSpPr txBox="1"/>
          <p:nvPr/>
        </p:nvSpPr>
        <p:spPr>
          <a:xfrm>
            <a:off x="10149840" y="1783080"/>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2 slides</a:t>
            </a:r>
            <a:endParaRPr lang="en-US" sz="1100" dirty="0"/>
          </a:p>
        </p:txBody>
      </p:sp>
      <p:sp>
        <p:nvSpPr>
          <p:cNvPr id="10" name="Shape 8"/>
          <p:cNvSpPr/>
          <p:nvPr/>
        </p:nvSpPr>
        <p:spPr>
          <a:xfrm>
            <a:off x="640080" y="2679192"/>
            <a:ext cx="10881360" cy="777240"/>
          </a:xfrm>
          <a:prstGeom prst="roundRect">
            <a:avLst>
              <a:gd name="adj" fmla="val 11765"/>
            </a:avLst>
          </a:prstGeom>
          <a:solidFill>
            <a:srgbClr val="EDF2FA"/>
          </a:solidFill>
          <a:ln/>
        </p:spPr>
      </p:sp>
      <p:sp>
        <p:nvSpPr>
          <p:cNvPr id="11" name="Shape 9"/>
          <p:cNvSpPr/>
          <p:nvPr/>
        </p:nvSpPr>
        <p:spPr>
          <a:xfrm>
            <a:off x="640080" y="2679192"/>
            <a:ext cx="1737360" cy="777240"/>
          </a:xfrm>
          <a:prstGeom prst="rect">
            <a:avLst/>
          </a:prstGeom>
          <a:solidFill>
            <a:srgbClr val="3E5C8A"/>
          </a:solidFill>
          <a:ln/>
        </p:spPr>
      </p:sp>
      <p:sp>
        <p:nvSpPr>
          <p:cNvPr id="12" name="Text 10"/>
          <p:cNvSpPr txBox="1"/>
          <p:nvPr/>
        </p:nvSpPr>
        <p:spPr>
          <a:xfrm>
            <a:off x="640080" y="2679192"/>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TWO</a:t>
            </a:r>
            <a:endParaRPr lang="en-US" sz="1150" dirty="0"/>
          </a:p>
        </p:txBody>
      </p:sp>
      <p:sp>
        <p:nvSpPr>
          <p:cNvPr id="13" name="Text 11"/>
          <p:cNvSpPr txBox="1"/>
          <p:nvPr/>
        </p:nvSpPr>
        <p:spPr>
          <a:xfrm>
            <a:off x="2606040" y="2770632"/>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destination</a:t>
            </a:r>
            <a:endParaRPr lang="en-US" sz="1550" dirty="0"/>
          </a:p>
        </p:txBody>
      </p:sp>
      <p:sp>
        <p:nvSpPr>
          <p:cNvPr id="14" name="Text 12"/>
          <p:cNvSpPr txBox="1"/>
          <p:nvPr/>
        </p:nvSpPr>
        <p:spPr>
          <a:xfrm>
            <a:off x="2606040" y="3090672"/>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Vision drivers · candidate statements · principles</a:t>
            </a:r>
            <a:endParaRPr lang="en-US" sz="1100" dirty="0"/>
          </a:p>
        </p:txBody>
      </p:sp>
      <p:sp>
        <p:nvSpPr>
          <p:cNvPr id="15" name="Text 13"/>
          <p:cNvSpPr txBox="1"/>
          <p:nvPr/>
        </p:nvSpPr>
        <p:spPr>
          <a:xfrm>
            <a:off x="10149840" y="2679192"/>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6" name="Shape 14"/>
          <p:cNvSpPr/>
          <p:nvPr/>
        </p:nvSpPr>
        <p:spPr>
          <a:xfrm>
            <a:off x="640080" y="3575304"/>
            <a:ext cx="10881360" cy="777240"/>
          </a:xfrm>
          <a:prstGeom prst="roundRect">
            <a:avLst>
              <a:gd name="adj" fmla="val 11765"/>
            </a:avLst>
          </a:prstGeom>
          <a:solidFill>
            <a:srgbClr val="F2F6FC"/>
          </a:solidFill>
          <a:ln/>
        </p:spPr>
      </p:sp>
      <p:sp>
        <p:nvSpPr>
          <p:cNvPr id="17" name="Shape 15"/>
          <p:cNvSpPr/>
          <p:nvPr/>
        </p:nvSpPr>
        <p:spPr>
          <a:xfrm>
            <a:off x="640080" y="3575304"/>
            <a:ext cx="1737360" cy="777240"/>
          </a:xfrm>
          <a:prstGeom prst="rect">
            <a:avLst/>
          </a:prstGeom>
          <a:solidFill>
            <a:srgbClr val="1E2761"/>
          </a:solidFill>
          <a:ln/>
        </p:spPr>
      </p:sp>
      <p:sp>
        <p:nvSpPr>
          <p:cNvPr id="18" name="Text 16"/>
          <p:cNvSpPr txBox="1"/>
          <p:nvPr/>
        </p:nvSpPr>
        <p:spPr>
          <a:xfrm>
            <a:off x="640080" y="3575304"/>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THREE</a:t>
            </a:r>
            <a:endParaRPr lang="en-US" sz="1150" dirty="0"/>
          </a:p>
        </p:txBody>
      </p:sp>
      <p:sp>
        <p:nvSpPr>
          <p:cNvPr id="19" name="Text 17"/>
          <p:cNvSpPr txBox="1"/>
          <p:nvPr/>
        </p:nvSpPr>
        <p:spPr>
          <a:xfrm>
            <a:off x="2606040" y="3666744"/>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What the strategy must cover</a:t>
            </a:r>
            <a:endParaRPr lang="en-US" sz="1550" dirty="0"/>
          </a:p>
        </p:txBody>
      </p:sp>
      <p:sp>
        <p:nvSpPr>
          <p:cNvPr id="20" name="Text 18"/>
          <p:cNvSpPr txBox="1"/>
          <p:nvPr/>
        </p:nvSpPr>
        <p:spPr>
          <a:xfrm>
            <a:off x="2606040" y="3986784"/>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architecture · markets and tiers · delivery, economics and people · alliances and eminence</a:t>
            </a:r>
            <a:endParaRPr lang="en-US" sz="1100" dirty="0"/>
          </a:p>
        </p:txBody>
      </p:sp>
      <p:sp>
        <p:nvSpPr>
          <p:cNvPr id="21" name="Text 19"/>
          <p:cNvSpPr txBox="1"/>
          <p:nvPr/>
        </p:nvSpPr>
        <p:spPr>
          <a:xfrm>
            <a:off x="10149840" y="3575304"/>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6 slides</a:t>
            </a:r>
            <a:endParaRPr lang="en-US" sz="1100" dirty="0"/>
          </a:p>
        </p:txBody>
      </p:sp>
      <p:sp>
        <p:nvSpPr>
          <p:cNvPr id="22" name="Shape 20"/>
          <p:cNvSpPr/>
          <p:nvPr/>
        </p:nvSpPr>
        <p:spPr>
          <a:xfrm>
            <a:off x="640080" y="4471416"/>
            <a:ext cx="10881360" cy="777240"/>
          </a:xfrm>
          <a:prstGeom prst="roundRect">
            <a:avLst>
              <a:gd name="adj" fmla="val 11765"/>
            </a:avLst>
          </a:prstGeom>
          <a:solidFill>
            <a:srgbClr val="EDF2FA"/>
          </a:solidFill>
          <a:ln/>
        </p:spPr>
      </p:sp>
      <p:sp>
        <p:nvSpPr>
          <p:cNvPr id="23" name="Shape 21"/>
          <p:cNvSpPr/>
          <p:nvPr/>
        </p:nvSpPr>
        <p:spPr>
          <a:xfrm>
            <a:off x="640080" y="4471416"/>
            <a:ext cx="1737360" cy="777240"/>
          </a:xfrm>
          <a:prstGeom prst="rect">
            <a:avLst/>
          </a:prstGeom>
          <a:solidFill>
            <a:srgbClr val="3E5C8A"/>
          </a:solidFill>
          <a:ln/>
        </p:spPr>
      </p:sp>
      <p:sp>
        <p:nvSpPr>
          <p:cNvPr id="24" name="Text 22"/>
          <p:cNvSpPr txBox="1"/>
          <p:nvPr/>
        </p:nvSpPr>
        <p:spPr>
          <a:xfrm>
            <a:off x="640080" y="4471416"/>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FOUR</a:t>
            </a:r>
            <a:endParaRPr lang="en-US" sz="1150" dirty="0"/>
          </a:p>
        </p:txBody>
      </p:sp>
      <p:sp>
        <p:nvSpPr>
          <p:cNvPr id="25" name="Text 23"/>
          <p:cNvSpPr txBox="1"/>
          <p:nvPr/>
        </p:nvSpPr>
        <p:spPr>
          <a:xfrm>
            <a:off x="2606040" y="4562856"/>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How we build it</a:t>
            </a:r>
            <a:endParaRPr lang="en-US" sz="1550" dirty="0"/>
          </a:p>
        </p:txBody>
      </p:sp>
      <p:sp>
        <p:nvSpPr>
          <p:cNvPr id="26" name="Text 24"/>
          <p:cNvSpPr txBox="1"/>
          <p:nvPr/>
        </p:nvSpPr>
        <p:spPr>
          <a:xfrm>
            <a:off x="2606040" y="4882896"/>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approach · workstreams and owners · the three-week journey · how we run the cycle</a:t>
            </a:r>
            <a:endParaRPr lang="en-US" sz="1100" dirty="0"/>
          </a:p>
        </p:txBody>
      </p:sp>
      <p:sp>
        <p:nvSpPr>
          <p:cNvPr id="27" name="Text 25"/>
          <p:cNvSpPr txBox="1"/>
          <p:nvPr/>
        </p:nvSpPr>
        <p:spPr>
          <a:xfrm>
            <a:off x="10149840" y="4471416"/>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5 slides</a:t>
            </a:r>
            <a:endParaRPr lang="en-US" sz="1100" dirty="0"/>
          </a:p>
        </p:txBody>
      </p:sp>
      <p:sp>
        <p:nvSpPr>
          <p:cNvPr id="28" name="Shape 26"/>
          <p:cNvSpPr/>
          <p:nvPr/>
        </p:nvSpPr>
        <p:spPr>
          <a:xfrm>
            <a:off x="640080" y="5367528"/>
            <a:ext cx="10881360" cy="777240"/>
          </a:xfrm>
          <a:prstGeom prst="roundRect">
            <a:avLst>
              <a:gd name="adj" fmla="val 11765"/>
            </a:avLst>
          </a:prstGeom>
          <a:solidFill>
            <a:srgbClr val="F2F6FC"/>
          </a:solidFill>
          <a:ln/>
        </p:spPr>
      </p:sp>
      <p:sp>
        <p:nvSpPr>
          <p:cNvPr id="29" name="Shape 27"/>
          <p:cNvSpPr/>
          <p:nvPr/>
        </p:nvSpPr>
        <p:spPr>
          <a:xfrm>
            <a:off x="640080" y="5367528"/>
            <a:ext cx="1737360" cy="777240"/>
          </a:xfrm>
          <a:prstGeom prst="rect">
            <a:avLst/>
          </a:prstGeom>
          <a:solidFill>
            <a:srgbClr val="1E2761"/>
          </a:solidFill>
          <a:ln/>
        </p:spPr>
      </p:sp>
      <p:sp>
        <p:nvSpPr>
          <p:cNvPr id="30" name="Text 28"/>
          <p:cNvSpPr txBox="1"/>
          <p:nvPr/>
        </p:nvSpPr>
        <p:spPr>
          <a:xfrm>
            <a:off x="640080" y="5367528"/>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FIVE</a:t>
            </a:r>
            <a:endParaRPr lang="en-US" sz="1150" dirty="0"/>
          </a:p>
        </p:txBody>
      </p:sp>
      <p:sp>
        <p:nvSpPr>
          <p:cNvPr id="31" name="Text 29"/>
          <p:cNvSpPr txBox="1"/>
          <p:nvPr/>
        </p:nvSpPr>
        <p:spPr>
          <a:xfrm>
            <a:off x="2606040" y="5458968"/>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After sign-off</a:t>
            </a:r>
            <a:endParaRPr lang="en-US" sz="1550" dirty="0"/>
          </a:p>
        </p:txBody>
      </p:sp>
      <p:sp>
        <p:nvSpPr>
          <p:cNvPr id="32" name="Text 30"/>
          <p:cNvSpPr txBox="1"/>
          <p:nvPr/>
        </p:nvSpPr>
        <p:spPr>
          <a:xfrm>
            <a:off x="2606040" y="5779008"/>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Governing the execution</a:t>
            </a:r>
            <a:endParaRPr lang="en-US" sz="1100" dirty="0"/>
          </a:p>
        </p:txBody>
      </p:sp>
      <p:sp>
        <p:nvSpPr>
          <p:cNvPr id="33" name="Text 31"/>
          <p:cNvSpPr txBox="1"/>
          <p:nvPr/>
        </p:nvSpPr>
        <p:spPr>
          <a:xfrm>
            <a:off x="10149840" y="5367528"/>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1 slide</a:t>
            </a:r>
            <a:endParaRPr lang="en-US" sz="1100" dirty="0"/>
          </a:p>
        </p:txBody>
      </p:sp>
      <p:sp>
        <p:nvSpPr>
          <p:cNvPr id="34" name="Text 3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ONE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frame</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What this document is, and the industry it is for.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this document is — method, not conclusion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industry we mean: banking, funds and insurance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Financial services is three segments,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segment</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Segment is a dimension throughout: every proposition says which segments it serves, every account carries its segment, and targets are set by market and segment,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Sub-segments are indicative; the cycle confirms which we actually pursue.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TWO</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destination</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are going, and the rules we hold going in.</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the vision has to earn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Three candidate statements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Principles we hold going in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vision has to earn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drivers, agreed before the words. Every candidate is tested against them.</a:t>
            </a:r>
            <a:endParaRPr lang="en-US" sz="1450" dirty="0"/>
          </a:p>
        </p:txBody>
      </p:sp>
      <p:sp>
        <p:nvSpPr>
          <p:cNvPr id="4" name="Shape 2"/>
          <p:cNvSpPr/>
          <p:nvPr/>
        </p:nvSpPr>
        <p:spPr>
          <a:xfrm>
            <a:off x="640080" y="1874520"/>
            <a:ext cx="3520440" cy="1783080"/>
          </a:xfrm>
          <a:prstGeom prst="roundRect">
            <a:avLst>
              <a:gd name="adj" fmla="val 6154"/>
            </a:avLst>
          </a:prstGeom>
          <a:solidFill>
            <a:srgbClr val="E4EBF7"/>
          </a:solidFill>
          <a:ln/>
        </p:spPr>
      </p:sp>
      <p:sp>
        <p:nvSpPr>
          <p:cNvPr id="5" name="Shape 3"/>
          <p:cNvSpPr/>
          <p:nvPr/>
        </p:nvSpPr>
        <p:spPr>
          <a:xfrm>
            <a:off x="896112" y="2112264"/>
            <a:ext cx="384048" cy="384048"/>
          </a:xfrm>
          <a:prstGeom prst="ellipse">
            <a:avLst/>
          </a:prstGeom>
          <a:solidFill>
            <a:srgbClr val="1E2761"/>
          </a:solidFill>
          <a:ln/>
        </p:spPr>
      </p:sp>
      <p:sp>
        <p:nvSpPr>
          <p:cNvPr id="6" name="Text 4"/>
          <p:cNvSpPr txBox="1"/>
          <p:nvPr/>
        </p:nvSpPr>
        <p:spPr>
          <a:xfrm>
            <a:off x="896112"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No seams</a:t>
            </a:r>
            <a:endParaRPr lang="en-US" sz="1500" dirty="0"/>
          </a:p>
        </p:txBody>
      </p:sp>
      <p:sp>
        <p:nvSpPr>
          <p:cNvPr id="8" name="Text 6"/>
          <p:cNvSpPr txBox="1"/>
          <p:nvPr/>
        </p:nvSpPr>
        <p:spPr>
          <a:xfrm>
            <a:off x="914400"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One accountable team across every stream, with our alliances counted as part of what we bring — not a separate arrangement.</a:t>
            </a:r>
            <a:endParaRPr lang="en-US" sz="1150" dirty="0"/>
          </a:p>
        </p:txBody>
      </p:sp>
      <p:sp>
        <p:nvSpPr>
          <p:cNvPr id="9" name="Shape 7"/>
          <p:cNvSpPr/>
          <p:nvPr/>
        </p:nvSpPr>
        <p:spPr>
          <a:xfrm>
            <a:off x="4325112" y="1874520"/>
            <a:ext cx="3520440" cy="1783080"/>
          </a:xfrm>
          <a:prstGeom prst="roundRect">
            <a:avLst>
              <a:gd name="adj" fmla="val 6154"/>
            </a:avLst>
          </a:prstGeom>
          <a:solidFill>
            <a:srgbClr val="EDF2FA"/>
          </a:solidFill>
          <a:ln/>
        </p:spPr>
      </p:sp>
      <p:sp>
        <p:nvSpPr>
          <p:cNvPr id="10" name="Shape 8"/>
          <p:cNvSpPr/>
          <p:nvPr/>
        </p:nvSpPr>
        <p:spPr>
          <a:xfrm>
            <a:off x="4581144" y="2112264"/>
            <a:ext cx="384048" cy="384048"/>
          </a:xfrm>
          <a:prstGeom prst="ellipse">
            <a:avLst/>
          </a:prstGeom>
          <a:solidFill>
            <a:srgbClr val="3E5C8A"/>
          </a:solidFill>
          <a:ln/>
        </p:spPr>
      </p:sp>
      <p:sp>
        <p:nvSpPr>
          <p:cNvPr id="11" name="Text 9"/>
          <p:cNvSpPr txBox="1"/>
          <p:nvPr/>
        </p:nvSpPr>
        <p:spPr>
          <a:xfrm>
            <a:off x="4581144"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102352"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Where others stall</a:t>
            </a:r>
            <a:endParaRPr lang="en-US" sz="1500" dirty="0"/>
          </a:p>
        </p:txBody>
      </p:sp>
      <p:sp>
        <p:nvSpPr>
          <p:cNvPr id="13" name="Text 11"/>
          <p:cNvSpPr txBox="1"/>
          <p:nvPr/>
        </p:nvSpPr>
        <p:spPr>
          <a:xfrm>
            <a:off x="4599432"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programmes that go sideways in other hands. Said through language, never as carrying or underwriting risk.</a:t>
            </a:r>
            <a:endParaRPr lang="en-US" sz="1150" dirty="0"/>
          </a:p>
        </p:txBody>
      </p:sp>
      <p:sp>
        <p:nvSpPr>
          <p:cNvPr id="14" name="Shape 12"/>
          <p:cNvSpPr/>
          <p:nvPr/>
        </p:nvSpPr>
        <p:spPr>
          <a:xfrm>
            <a:off x="8010144" y="1874520"/>
            <a:ext cx="3520440" cy="1783080"/>
          </a:xfrm>
          <a:prstGeom prst="roundRect">
            <a:avLst>
              <a:gd name="adj" fmla="val 6154"/>
            </a:avLst>
          </a:prstGeom>
          <a:solidFill>
            <a:srgbClr val="E4EBF7"/>
          </a:solidFill>
          <a:ln/>
        </p:spPr>
      </p:sp>
      <p:sp>
        <p:nvSpPr>
          <p:cNvPr id="15" name="Shape 13"/>
          <p:cNvSpPr/>
          <p:nvPr/>
        </p:nvSpPr>
        <p:spPr>
          <a:xfrm>
            <a:off x="8266176" y="2112264"/>
            <a:ext cx="384048" cy="384048"/>
          </a:xfrm>
          <a:prstGeom prst="ellipse">
            <a:avLst/>
          </a:prstGeom>
          <a:solidFill>
            <a:srgbClr val="1E2761"/>
          </a:solidFill>
          <a:ln/>
        </p:spPr>
      </p:sp>
      <p:sp>
        <p:nvSpPr>
          <p:cNvPr id="16" name="Text 14"/>
          <p:cNvSpPr txBox="1"/>
          <p:nvPr/>
        </p:nvSpPr>
        <p:spPr>
          <a:xfrm>
            <a:off x="8266176"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87384"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Speed that holds</a:t>
            </a:r>
            <a:endParaRPr lang="en-US" sz="1500" dirty="0"/>
          </a:p>
        </p:txBody>
      </p:sp>
      <p:sp>
        <p:nvSpPr>
          <p:cNvPr id="18" name="Text 16"/>
          <p:cNvSpPr txBox="1"/>
          <p:nvPr/>
        </p:nvSpPr>
        <p:spPr>
          <a:xfrm>
            <a:off x="8284464"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month a platform is not live is cost carried or revenue missed — but fast only counts if it survives production.</a:t>
            </a:r>
            <a:endParaRPr lang="en-US" sz="1150" dirty="0"/>
          </a:p>
        </p:txBody>
      </p:sp>
      <p:sp>
        <p:nvSpPr>
          <p:cNvPr id="19" name="Shape 17"/>
          <p:cNvSpPr/>
          <p:nvPr/>
        </p:nvSpPr>
        <p:spPr>
          <a:xfrm>
            <a:off x="640080" y="3840480"/>
            <a:ext cx="3520440" cy="1783080"/>
          </a:xfrm>
          <a:prstGeom prst="roundRect">
            <a:avLst>
              <a:gd name="adj" fmla="val 6154"/>
            </a:avLst>
          </a:prstGeom>
          <a:solidFill>
            <a:srgbClr val="EDF2FA"/>
          </a:solidFill>
          <a:ln/>
        </p:spPr>
      </p:sp>
      <p:sp>
        <p:nvSpPr>
          <p:cNvPr id="20" name="Shape 18"/>
          <p:cNvSpPr/>
          <p:nvPr/>
        </p:nvSpPr>
        <p:spPr>
          <a:xfrm>
            <a:off x="896112" y="4078224"/>
            <a:ext cx="384048" cy="384048"/>
          </a:xfrm>
          <a:prstGeom prst="ellipse">
            <a:avLst/>
          </a:prstGeom>
          <a:solidFill>
            <a:srgbClr val="3E5C8A"/>
          </a:solidFill>
          <a:ln/>
        </p:spPr>
      </p:sp>
      <p:sp>
        <p:nvSpPr>
          <p:cNvPr id="21" name="Text 19"/>
          <p:cNvSpPr txBox="1"/>
          <p:nvPr/>
        </p:nvSpPr>
        <p:spPr>
          <a:xfrm>
            <a:off x="896112"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417320"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Outside and in</a:t>
            </a:r>
            <a:endParaRPr lang="en-US" sz="1500" dirty="0"/>
          </a:p>
        </p:txBody>
      </p:sp>
      <p:sp>
        <p:nvSpPr>
          <p:cNvPr id="23" name="Text 21"/>
          <p:cNvSpPr txBox="1"/>
          <p:nvPr/>
        </p:nvSpPr>
        <p:spPr>
          <a:xfrm>
            <a:off x="914400"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institution takes to market, and how it runs inside — smarter operations and better tools for its people.</a:t>
            </a:r>
            <a:endParaRPr lang="en-US" sz="1150" dirty="0"/>
          </a:p>
        </p:txBody>
      </p:sp>
      <p:sp>
        <p:nvSpPr>
          <p:cNvPr id="24" name="Shape 22"/>
          <p:cNvSpPr/>
          <p:nvPr/>
        </p:nvSpPr>
        <p:spPr>
          <a:xfrm>
            <a:off x="4325112" y="3840480"/>
            <a:ext cx="3520440" cy="1783080"/>
          </a:xfrm>
          <a:prstGeom prst="roundRect">
            <a:avLst>
              <a:gd name="adj" fmla="val 6154"/>
            </a:avLst>
          </a:prstGeom>
          <a:solidFill>
            <a:srgbClr val="E4EBF7"/>
          </a:solidFill>
          <a:ln/>
        </p:spPr>
      </p:sp>
      <p:sp>
        <p:nvSpPr>
          <p:cNvPr id="25" name="Shape 23"/>
          <p:cNvSpPr/>
          <p:nvPr/>
        </p:nvSpPr>
        <p:spPr>
          <a:xfrm>
            <a:off x="4581144" y="4078224"/>
            <a:ext cx="384048" cy="384048"/>
          </a:xfrm>
          <a:prstGeom prst="ellipse">
            <a:avLst/>
          </a:prstGeom>
          <a:solidFill>
            <a:srgbClr val="1E2761"/>
          </a:solidFill>
          <a:ln/>
        </p:spPr>
      </p:sp>
      <p:sp>
        <p:nvSpPr>
          <p:cNvPr id="26" name="Text 24"/>
          <p:cNvSpPr txBox="1"/>
          <p:nvPr/>
        </p:nvSpPr>
        <p:spPr>
          <a:xfrm>
            <a:off x="4581144"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102352"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AI in the engine, not on the badge</a:t>
            </a:r>
            <a:endParaRPr lang="en-US" sz="1500" dirty="0"/>
          </a:p>
        </p:txBody>
      </p:sp>
      <p:sp>
        <p:nvSpPr>
          <p:cNvPr id="28" name="Text 26"/>
          <p:cNvSpPr txBox="1"/>
          <p:nvPr/>
        </p:nvSpPr>
        <p:spPr>
          <a:xfrm>
            <a:off x="4599432"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 what we build and how we deliver. AI-native is oversubscribed; the credibility is in the proof, not the claim.</a:t>
            </a:r>
            <a:endParaRPr lang="en-US" sz="1150" dirty="0"/>
          </a:p>
        </p:txBody>
      </p:sp>
      <p:sp>
        <p:nvSpPr>
          <p:cNvPr id="29" name="Shape 27"/>
          <p:cNvSpPr/>
          <p:nvPr/>
        </p:nvSpPr>
        <p:spPr>
          <a:xfrm>
            <a:off x="8010144" y="3840480"/>
            <a:ext cx="3520440" cy="1783080"/>
          </a:xfrm>
          <a:prstGeom prst="roundRect">
            <a:avLst>
              <a:gd name="adj" fmla="val 6154"/>
            </a:avLst>
          </a:prstGeom>
          <a:solidFill>
            <a:srgbClr val="EDF2FA"/>
          </a:solidFill>
          <a:ln/>
        </p:spPr>
      </p:sp>
      <p:sp>
        <p:nvSpPr>
          <p:cNvPr id="30" name="Shape 28"/>
          <p:cNvSpPr/>
          <p:nvPr/>
        </p:nvSpPr>
        <p:spPr>
          <a:xfrm>
            <a:off x="8266176" y="4078224"/>
            <a:ext cx="384048" cy="384048"/>
          </a:xfrm>
          <a:prstGeom prst="ellipse">
            <a:avLst/>
          </a:prstGeom>
          <a:solidFill>
            <a:srgbClr val="3E5C8A"/>
          </a:solidFill>
          <a:ln/>
        </p:spPr>
      </p:sp>
      <p:sp>
        <p:nvSpPr>
          <p:cNvPr id="31" name="Text 29"/>
          <p:cNvSpPr txBox="1"/>
          <p:nvPr/>
        </p:nvSpPr>
        <p:spPr>
          <a:xfrm>
            <a:off x="8266176"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87384"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 three, or it does not count</a:t>
            </a:r>
            <a:endParaRPr lang="en-US" sz="1500" dirty="0"/>
          </a:p>
        </p:txBody>
      </p:sp>
      <p:sp>
        <p:nvSpPr>
          <p:cNvPr id="33" name="Text 31"/>
          <p:cNvSpPr txBox="1"/>
          <p:nvPr/>
        </p:nvSpPr>
        <p:spPr>
          <a:xfrm>
            <a:off x="8284464"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funds and insurance. A statement that only works for banks is a banking strategy, not ours.</a:t>
            </a:r>
            <a:endParaRPr lang="en-US" sz="11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A statement that drops one of these is not a shorter vision — it is a different one.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Three candidate statements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six drivers. They differ in register and in what the headline claims.</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Complexity, compressed</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take on the change financial institutions cannot afford to get wrong — modern platforms for their customers, intelligence and better tools for their people — brought end to end by one accountable team, with the assets and partnerships that compress the path.”</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Lead candidate.</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Hard programmes and acceleration, in two words.</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 change, delivered at pace</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“For the region’s banks, funds and insurers we turn the hardest change into working outcomes — platforms live for their customers, intelligence at work inside — one team across every stream, with the assets and alliances that shorten the path.”</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Most literal; names the segments explicitly.</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hard things, on time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are the partner for the change that cannot slip — what they take to market and how they run inside — every stream under one accountable team, with proven assets behind it.”</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Understated; argues against the alternatives, not for us.</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test: does the headline alone already exclude an internal team and a lower-cost integrator — and could a competitor lift it word for word?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691640"/>
            <a:ext cx="5257800" cy="1051560"/>
          </a:xfrm>
          <a:prstGeom prst="roundRect">
            <a:avLst>
              <a:gd name="adj" fmla="val 8696"/>
            </a:avLst>
          </a:prstGeom>
          <a:solidFill>
            <a:srgbClr val="EDF2FA"/>
          </a:solidFill>
          <a:ln/>
        </p:spPr>
      </p:sp>
      <p:sp>
        <p:nvSpPr>
          <p:cNvPr id="5" name="Shape 3"/>
          <p:cNvSpPr/>
          <p:nvPr/>
        </p:nvSpPr>
        <p:spPr>
          <a:xfrm>
            <a:off x="896112" y="1892808"/>
            <a:ext cx="365760" cy="365760"/>
          </a:xfrm>
          <a:prstGeom prst="ellipse">
            <a:avLst/>
          </a:prstGeom>
          <a:solidFill>
            <a:srgbClr val="1E2761"/>
          </a:solidFill>
          <a:ln/>
        </p:spPr>
      </p:sp>
      <p:sp>
        <p:nvSpPr>
          <p:cNvPr id="6" name="Text 4"/>
          <p:cNvSpPr txBox="1"/>
          <p:nvPr/>
        </p:nvSpPr>
        <p:spPr>
          <a:xfrm>
            <a:off x="89611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Integrated, not siloed</a:t>
            </a:r>
            <a:endParaRPr lang="en-US" sz="1550" dirty="0"/>
          </a:p>
        </p:txBody>
      </p:sp>
      <p:sp>
        <p:nvSpPr>
          <p:cNvPr id="8" name="Text 6"/>
          <p:cNvSpPr txBox="1"/>
          <p:nvPr/>
        </p:nvSpPr>
        <p:spPr>
          <a:xfrm>
            <a:off x="141732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150" dirty="0"/>
          </a:p>
        </p:txBody>
      </p:sp>
      <p:sp>
        <p:nvSpPr>
          <p:cNvPr id="9" name="Shape 7"/>
          <p:cNvSpPr/>
          <p:nvPr/>
        </p:nvSpPr>
        <p:spPr>
          <a:xfrm>
            <a:off x="6263640" y="1691640"/>
            <a:ext cx="5257800" cy="1051560"/>
          </a:xfrm>
          <a:prstGeom prst="roundRect">
            <a:avLst>
              <a:gd name="adj" fmla="val 8696"/>
            </a:avLst>
          </a:prstGeom>
          <a:solidFill>
            <a:srgbClr val="EDF2FA"/>
          </a:solidFill>
          <a:ln/>
        </p:spPr>
      </p:sp>
      <p:sp>
        <p:nvSpPr>
          <p:cNvPr id="10" name="Shape 8"/>
          <p:cNvSpPr/>
          <p:nvPr/>
        </p:nvSpPr>
        <p:spPr>
          <a:xfrm>
            <a:off x="6519672" y="1892808"/>
            <a:ext cx="365760" cy="365760"/>
          </a:xfrm>
          <a:prstGeom prst="ellipse">
            <a:avLst/>
          </a:prstGeom>
          <a:solidFill>
            <a:srgbClr val="3E5C8A"/>
          </a:solidFill>
          <a:ln/>
        </p:spPr>
      </p:sp>
      <p:sp>
        <p:nvSpPr>
          <p:cNvPr id="11" name="Text 9"/>
          <p:cNvSpPr txBox="1"/>
          <p:nvPr/>
        </p:nvSpPr>
        <p:spPr>
          <a:xfrm>
            <a:off x="651967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Named accounts, not averages</a:t>
            </a:r>
            <a:endParaRPr lang="en-US" sz="1550" dirty="0"/>
          </a:p>
        </p:txBody>
      </p:sp>
      <p:sp>
        <p:nvSpPr>
          <p:cNvPr id="13" name="Text 11"/>
          <p:cNvSpPr txBox="1"/>
          <p:nvPr/>
        </p:nvSpPr>
        <p:spPr>
          <a:xfrm>
            <a:off x="704088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150" dirty="0"/>
          </a:p>
        </p:txBody>
      </p:sp>
      <p:sp>
        <p:nvSpPr>
          <p:cNvPr id="14" name="Shape 12"/>
          <p:cNvSpPr/>
          <p:nvPr/>
        </p:nvSpPr>
        <p:spPr>
          <a:xfrm>
            <a:off x="640080" y="2862072"/>
            <a:ext cx="5257800" cy="1051560"/>
          </a:xfrm>
          <a:prstGeom prst="roundRect">
            <a:avLst>
              <a:gd name="adj" fmla="val 8696"/>
            </a:avLst>
          </a:prstGeom>
          <a:solidFill>
            <a:srgbClr val="EDF2FA"/>
          </a:solidFill>
          <a:ln/>
        </p:spPr>
      </p:sp>
      <p:sp>
        <p:nvSpPr>
          <p:cNvPr id="15" name="Shape 13"/>
          <p:cNvSpPr/>
          <p:nvPr/>
        </p:nvSpPr>
        <p:spPr>
          <a:xfrm>
            <a:off x="896112" y="3063240"/>
            <a:ext cx="365760" cy="365760"/>
          </a:xfrm>
          <a:prstGeom prst="ellipse">
            <a:avLst/>
          </a:prstGeom>
          <a:solidFill>
            <a:srgbClr val="1E2761"/>
          </a:solidFill>
          <a:ln/>
        </p:spPr>
      </p:sp>
      <p:sp>
        <p:nvSpPr>
          <p:cNvPr id="16" name="Text 14"/>
          <p:cNvSpPr txBox="1"/>
          <p:nvPr/>
        </p:nvSpPr>
        <p:spPr>
          <a:xfrm>
            <a:off x="89611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Sized and priced</a:t>
            </a:r>
            <a:endParaRPr lang="en-US" sz="1550" dirty="0"/>
          </a:p>
        </p:txBody>
      </p:sp>
      <p:sp>
        <p:nvSpPr>
          <p:cNvPr id="18" name="Text 16"/>
          <p:cNvSpPr txBox="1"/>
          <p:nvPr/>
        </p:nvSpPr>
        <p:spPr>
          <a:xfrm>
            <a:off x="141732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150" dirty="0"/>
          </a:p>
        </p:txBody>
      </p:sp>
      <p:sp>
        <p:nvSpPr>
          <p:cNvPr id="19" name="Shape 17"/>
          <p:cNvSpPr/>
          <p:nvPr/>
        </p:nvSpPr>
        <p:spPr>
          <a:xfrm>
            <a:off x="6263640" y="2862072"/>
            <a:ext cx="5257800" cy="1051560"/>
          </a:xfrm>
          <a:prstGeom prst="roundRect">
            <a:avLst>
              <a:gd name="adj" fmla="val 8696"/>
            </a:avLst>
          </a:prstGeom>
          <a:solidFill>
            <a:srgbClr val="EDF2FA"/>
          </a:solidFill>
          <a:ln/>
        </p:spPr>
      </p:sp>
      <p:sp>
        <p:nvSpPr>
          <p:cNvPr id="20" name="Shape 18"/>
          <p:cNvSpPr/>
          <p:nvPr/>
        </p:nvSpPr>
        <p:spPr>
          <a:xfrm>
            <a:off x="6519672" y="3063240"/>
            <a:ext cx="365760" cy="365760"/>
          </a:xfrm>
          <a:prstGeom prst="ellipse">
            <a:avLst/>
          </a:prstGeom>
          <a:solidFill>
            <a:srgbClr val="3E5C8A"/>
          </a:solidFill>
          <a:ln/>
        </p:spPr>
      </p:sp>
      <p:sp>
        <p:nvSpPr>
          <p:cNvPr id="21" name="Text 19"/>
          <p:cNvSpPr txBox="1"/>
          <p:nvPr/>
        </p:nvSpPr>
        <p:spPr>
          <a:xfrm>
            <a:off x="651967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Covered by a partner</a:t>
            </a:r>
            <a:endParaRPr lang="en-US" sz="1550" dirty="0"/>
          </a:p>
        </p:txBody>
      </p:sp>
      <p:sp>
        <p:nvSpPr>
          <p:cNvPr id="23" name="Text 21"/>
          <p:cNvSpPr txBox="1"/>
          <p:nvPr/>
        </p:nvSpPr>
        <p:spPr>
          <a:xfrm>
            <a:off x="704088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150" dirty="0"/>
          </a:p>
        </p:txBody>
      </p:sp>
      <p:sp>
        <p:nvSpPr>
          <p:cNvPr id="24" name="Shape 22"/>
          <p:cNvSpPr/>
          <p:nvPr/>
        </p:nvSpPr>
        <p:spPr>
          <a:xfrm>
            <a:off x="640080" y="4032504"/>
            <a:ext cx="5257800" cy="1051560"/>
          </a:xfrm>
          <a:prstGeom prst="roundRect">
            <a:avLst>
              <a:gd name="adj" fmla="val 8696"/>
            </a:avLst>
          </a:prstGeom>
          <a:solidFill>
            <a:srgbClr val="EDF2FA"/>
          </a:solidFill>
          <a:ln/>
        </p:spPr>
      </p:sp>
      <p:sp>
        <p:nvSpPr>
          <p:cNvPr id="25" name="Shape 23"/>
          <p:cNvSpPr/>
          <p:nvPr/>
        </p:nvSpPr>
        <p:spPr>
          <a:xfrm>
            <a:off x="896112" y="4233672"/>
            <a:ext cx="365760" cy="365760"/>
          </a:xfrm>
          <a:prstGeom prst="ellipse">
            <a:avLst/>
          </a:prstGeom>
          <a:solidFill>
            <a:srgbClr val="1E2761"/>
          </a:solidFill>
          <a:ln/>
        </p:spPr>
      </p:sp>
      <p:sp>
        <p:nvSpPr>
          <p:cNvPr id="26" name="Text 24"/>
          <p:cNvSpPr txBox="1"/>
          <p:nvPr/>
        </p:nvSpPr>
        <p:spPr>
          <a:xfrm>
            <a:off x="89611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Deliverable by design</a:t>
            </a:r>
            <a:endParaRPr lang="en-US" sz="1550" dirty="0"/>
          </a:p>
        </p:txBody>
      </p:sp>
      <p:sp>
        <p:nvSpPr>
          <p:cNvPr id="28" name="Text 26"/>
          <p:cNvSpPr txBox="1"/>
          <p:nvPr/>
        </p:nvSpPr>
        <p:spPr>
          <a:xfrm>
            <a:off x="141732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150" dirty="0"/>
          </a:p>
        </p:txBody>
      </p:sp>
      <p:sp>
        <p:nvSpPr>
          <p:cNvPr id="29" name="Shape 27"/>
          <p:cNvSpPr/>
          <p:nvPr/>
        </p:nvSpPr>
        <p:spPr>
          <a:xfrm>
            <a:off x="6263640" y="4032504"/>
            <a:ext cx="5257800" cy="1051560"/>
          </a:xfrm>
          <a:prstGeom prst="roundRect">
            <a:avLst>
              <a:gd name="adj" fmla="val 8696"/>
            </a:avLst>
          </a:prstGeom>
          <a:solidFill>
            <a:srgbClr val="EDF2FA"/>
          </a:solidFill>
          <a:ln/>
        </p:spPr>
      </p:sp>
      <p:sp>
        <p:nvSpPr>
          <p:cNvPr id="30" name="Shape 28"/>
          <p:cNvSpPr/>
          <p:nvPr/>
        </p:nvSpPr>
        <p:spPr>
          <a:xfrm>
            <a:off x="6519672" y="4233672"/>
            <a:ext cx="365760" cy="365760"/>
          </a:xfrm>
          <a:prstGeom prst="ellipse">
            <a:avLst/>
          </a:prstGeom>
          <a:solidFill>
            <a:srgbClr val="3E5C8A"/>
          </a:solidFill>
          <a:ln/>
        </p:spPr>
      </p:sp>
      <p:sp>
        <p:nvSpPr>
          <p:cNvPr id="31" name="Text 29"/>
          <p:cNvSpPr txBox="1"/>
          <p:nvPr/>
        </p:nvSpPr>
        <p:spPr>
          <a:xfrm>
            <a:off x="651967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Domain-specific, not agnostic</a:t>
            </a:r>
            <a:endParaRPr lang="en-US" sz="1550" dirty="0"/>
          </a:p>
        </p:txBody>
      </p:sp>
      <p:sp>
        <p:nvSpPr>
          <p:cNvPr id="33" name="Text 31"/>
          <p:cNvSpPr txBox="1"/>
          <p:nvPr/>
        </p:nvSpPr>
        <p:spPr>
          <a:xfrm>
            <a:off x="704088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Each FSI segment is specialised and clients expect it: propositions, credentials and CVs speak that segment’s language.</a:t>
            </a:r>
            <a:endParaRPr lang="en-US" sz="1150" dirty="0"/>
          </a:p>
        </p:txBody>
      </p:sp>
      <p:sp>
        <p:nvSpPr>
          <p:cNvPr id="34" name="Shape 32"/>
          <p:cNvSpPr/>
          <p:nvPr/>
        </p:nvSpPr>
        <p:spPr>
          <a:xfrm>
            <a:off x="640080" y="5202936"/>
            <a:ext cx="5257800" cy="1051560"/>
          </a:xfrm>
          <a:prstGeom prst="roundRect">
            <a:avLst>
              <a:gd name="adj" fmla="val 8696"/>
            </a:avLst>
          </a:prstGeom>
          <a:solidFill>
            <a:srgbClr val="EDF2FA"/>
          </a:solidFill>
          <a:ln/>
        </p:spPr>
      </p:sp>
      <p:sp>
        <p:nvSpPr>
          <p:cNvPr id="35" name="Shape 33"/>
          <p:cNvSpPr/>
          <p:nvPr/>
        </p:nvSpPr>
        <p:spPr>
          <a:xfrm>
            <a:off x="896112" y="5404104"/>
            <a:ext cx="365760" cy="365760"/>
          </a:xfrm>
          <a:prstGeom prst="ellipse">
            <a:avLst/>
          </a:prstGeom>
          <a:solidFill>
            <a:srgbClr val="1E2761"/>
          </a:solidFill>
          <a:ln/>
        </p:spPr>
      </p:sp>
      <p:sp>
        <p:nvSpPr>
          <p:cNvPr id="36" name="Text 34"/>
          <p:cNvSpPr txBox="1"/>
          <p:nvPr/>
        </p:nvSpPr>
        <p:spPr>
          <a:xfrm>
            <a:off x="89611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AI and innovation embedded</a:t>
            </a:r>
            <a:endParaRPr lang="en-US" sz="1550" dirty="0"/>
          </a:p>
        </p:txBody>
      </p:sp>
      <p:sp>
        <p:nvSpPr>
          <p:cNvPr id="38" name="Text 36"/>
          <p:cNvSpPr txBox="1"/>
          <p:nvPr/>
        </p:nvSpPr>
        <p:spPr>
          <a:xfrm>
            <a:off x="141732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150" dirty="0"/>
          </a:p>
        </p:txBody>
      </p:sp>
      <p:sp>
        <p:nvSpPr>
          <p:cNvPr id="39" name="Shape 37"/>
          <p:cNvSpPr/>
          <p:nvPr/>
        </p:nvSpPr>
        <p:spPr>
          <a:xfrm>
            <a:off x="6263640" y="5202936"/>
            <a:ext cx="5257800" cy="1051560"/>
          </a:xfrm>
          <a:prstGeom prst="roundRect">
            <a:avLst>
              <a:gd name="adj" fmla="val 8696"/>
            </a:avLst>
          </a:prstGeom>
          <a:solidFill>
            <a:srgbClr val="EDF2FA"/>
          </a:solidFill>
          <a:ln/>
        </p:spPr>
      </p:sp>
      <p:sp>
        <p:nvSpPr>
          <p:cNvPr id="40" name="Shape 38"/>
          <p:cNvSpPr/>
          <p:nvPr/>
        </p:nvSpPr>
        <p:spPr>
          <a:xfrm>
            <a:off x="6519672" y="5404104"/>
            <a:ext cx="365760" cy="365760"/>
          </a:xfrm>
          <a:prstGeom prst="ellipse">
            <a:avLst/>
          </a:prstGeom>
          <a:solidFill>
            <a:srgbClr val="3E5C8A"/>
          </a:solidFill>
          <a:ln/>
        </p:spPr>
      </p:sp>
      <p:sp>
        <p:nvSpPr>
          <p:cNvPr id="41" name="Text 39"/>
          <p:cNvSpPr txBox="1"/>
          <p:nvPr/>
        </p:nvSpPr>
        <p:spPr>
          <a:xfrm>
            <a:off x="651967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One integrated market team</a:t>
            </a:r>
            <a:endParaRPr lang="en-US" sz="1550" dirty="0"/>
          </a:p>
        </p:txBody>
      </p:sp>
      <p:sp>
        <p:nvSpPr>
          <p:cNvPr id="43" name="Text 41"/>
          <p:cNvSpPr txBox="1"/>
          <p:nvPr/>
        </p:nvSpPr>
        <p:spPr>
          <a:xfrm>
            <a:off x="704088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150" dirty="0"/>
          </a:p>
        </p:txBody>
      </p:sp>
      <p:sp>
        <p:nvSpPr>
          <p:cNvPr id="44" name="Text 42"/>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THREE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the strategy must cover</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architecture, then a closer look at each pillar.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ambition, four pillars and the discipline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Markets, tiers and accounts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Delivery, economics and people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Alliances and eminence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strategy must cover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segments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Offerings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Flavours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skills, certification and capacity</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segments.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Promotion and demotion criteria, and the tier one list itself, are set in the cycle.</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segment: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skills and enablement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and the capability behind the capacity.</a:t>
            </a:r>
            <a:endParaRPr lang="en-US" sz="1450" dirty="0"/>
          </a:p>
        </p:txBody>
      </p:sp>
      <p:sp>
        <p:nvSpPr>
          <p:cNvPr id="4" name="Shape 2"/>
          <p:cNvSpPr/>
          <p:nvPr/>
        </p:nvSpPr>
        <p:spPr>
          <a:xfrm>
            <a:off x="640080" y="1828800"/>
            <a:ext cx="2596896" cy="3520440"/>
          </a:xfrm>
          <a:prstGeom prst="roundRect">
            <a:avLst>
              <a:gd name="adj" fmla="val 4225"/>
            </a:avLst>
          </a:prstGeom>
          <a:solidFill>
            <a:srgbClr val="EDF2FA"/>
          </a:solidFill>
          <a:ln/>
        </p:spPr>
      </p:sp>
      <p:sp>
        <p:nvSpPr>
          <p:cNvPr id="5" name="Shape 3"/>
          <p:cNvSpPr/>
          <p:nvPr/>
        </p:nvSpPr>
        <p:spPr>
          <a:xfrm>
            <a:off x="640080" y="1828800"/>
            <a:ext cx="2596896" cy="713232"/>
          </a:xfrm>
          <a:prstGeom prst="rect">
            <a:avLst/>
          </a:prstGeom>
          <a:solidFill>
            <a:srgbClr val="1E2761"/>
          </a:solidFill>
          <a:ln/>
        </p:spPr>
      </p:sp>
      <p:sp>
        <p:nvSpPr>
          <p:cNvPr id="6" name="Text 4"/>
          <p:cNvSpPr txBox="1"/>
          <p:nvPr/>
        </p:nvSpPr>
        <p:spPr>
          <a:xfrm>
            <a:off x="841248"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dedicated team</a:t>
            </a:r>
            <a:endParaRPr lang="en-US" sz="1400" dirty="0"/>
          </a:p>
        </p:txBody>
      </p:sp>
      <p:sp>
        <p:nvSpPr>
          <p:cNvPr id="7" name="Text 5"/>
          <p:cNvSpPr txBox="1"/>
          <p:nvPr/>
        </p:nvSpPr>
        <p:spPr>
          <a:xfrm>
            <a:off x="841248"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Who works on FSI exclusively, across the three practices?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roles and levels do they hold?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is realistically deliverable with them alone?</a:t>
            </a:r>
            <a:endParaRPr lang="en-US" sz="1100" dirty="0"/>
          </a:p>
        </p:txBody>
      </p:sp>
      <p:sp>
        <p:nvSpPr>
          <p:cNvPr id="8" name="Shape 6"/>
          <p:cNvSpPr/>
          <p:nvPr/>
        </p:nvSpPr>
        <p:spPr>
          <a:xfrm>
            <a:off x="3401568" y="1828800"/>
            <a:ext cx="2596896" cy="3520440"/>
          </a:xfrm>
          <a:prstGeom prst="roundRect">
            <a:avLst>
              <a:gd name="adj" fmla="val 4225"/>
            </a:avLst>
          </a:prstGeom>
          <a:solidFill>
            <a:srgbClr val="EDF2FA"/>
          </a:solidFill>
          <a:ln/>
        </p:spPr>
      </p:sp>
      <p:sp>
        <p:nvSpPr>
          <p:cNvPr id="9" name="Shape 7"/>
          <p:cNvSpPr/>
          <p:nvPr/>
        </p:nvSpPr>
        <p:spPr>
          <a:xfrm>
            <a:off x="3401568" y="1828800"/>
            <a:ext cx="2596896" cy="713232"/>
          </a:xfrm>
          <a:prstGeom prst="rect">
            <a:avLst/>
          </a:prstGeom>
          <a:solidFill>
            <a:srgbClr val="3E5C8A"/>
          </a:solidFill>
          <a:ln/>
        </p:spPr>
      </p:sp>
      <p:sp>
        <p:nvSpPr>
          <p:cNvPr id="10" name="Text 8"/>
          <p:cNvSpPr txBox="1"/>
          <p:nvPr/>
        </p:nvSpPr>
        <p:spPr>
          <a:xfrm>
            <a:off x="3602736"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Shared capacity</a:t>
            </a:r>
            <a:endParaRPr lang="en-US" sz="1400" dirty="0"/>
          </a:p>
        </p:txBody>
      </p:sp>
      <p:sp>
        <p:nvSpPr>
          <p:cNvPr id="11" name="Text 9"/>
          <p:cNvSpPr txBox="1"/>
          <p:nvPr/>
        </p:nvSpPr>
        <p:spPr>
          <a:xfrm>
            <a:off x="3602736"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resources are shared with other portfolios?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much of their time can we count on?</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skills do we borrow rather than own?</a:t>
            </a:r>
            <a:endParaRPr lang="en-US" sz="1100" dirty="0"/>
          </a:p>
        </p:txBody>
      </p:sp>
      <p:sp>
        <p:nvSpPr>
          <p:cNvPr id="12" name="Shape 10"/>
          <p:cNvSpPr/>
          <p:nvPr/>
        </p:nvSpPr>
        <p:spPr>
          <a:xfrm>
            <a:off x="6163056" y="1828800"/>
            <a:ext cx="2596896" cy="3520440"/>
          </a:xfrm>
          <a:prstGeom prst="roundRect">
            <a:avLst>
              <a:gd name="adj" fmla="val 4225"/>
            </a:avLst>
          </a:prstGeom>
          <a:solidFill>
            <a:srgbClr val="EDF2FA"/>
          </a:solidFill>
          <a:ln/>
        </p:spPr>
      </p:sp>
      <p:sp>
        <p:nvSpPr>
          <p:cNvPr id="13" name="Shape 11"/>
          <p:cNvSpPr/>
          <p:nvPr/>
        </p:nvSpPr>
        <p:spPr>
          <a:xfrm>
            <a:off x="6163056" y="1828800"/>
            <a:ext cx="2596896" cy="713232"/>
          </a:xfrm>
          <a:prstGeom prst="rect">
            <a:avLst/>
          </a:prstGeom>
          <a:solidFill>
            <a:srgbClr val="1E2761"/>
          </a:solidFill>
          <a:ln/>
        </p:spPr>
      </p:sp>
      <p:sp>
        <p:nvSpPr>
          <p:cNvPr id="14" name="Text 12"/>
          <p:cNvSpPr txBox="1"/>
          <p:nvPr/>
        </p:nvSpPr>
        <p:spPr>
          <a:xfrm>
            <a:off x="6364224"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Skills and enablement</a:t>
            </a:r>
            <a:endParaRPr lang="en-US" sz="1400" dirty="0"/>
          </a:p>
        </p:txBody>
      </p:sp>
      <p:sp>
        <p:nvSpPr>
          <p:cNvPr id="15" name="Text 13"/>
          <p:cNvSpPr txBox="1"/>
          <p:nvPr/>
        </p:nvSpPr>
        <p:spPr>
          <a:xfrm>
            <a:off x="6364224"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capabilities does the catalogue actually require?</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domain training and FSI certification is needed?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alliance and platform certification must we hold?</a:t>
            </a:r>
            <a:endParaRPr lang="en-US" sz="1100" dirty="0"/>
          </a:p>
        </p:txBody>
      </p:sp>
      <p:sp>
        <p:nvSpPr>
          <p:cNvPr id="16" name="Shape 14"/>
          <p:cNvSpPr/>
          <p:nvPr/>
        </p:nvSpPr>
        <p:spPr>
          <a:xfrm>
            <a:off x="8924544" y="1828800"/>
            <a:ext cx="2596896" cy="3520440"/>
          </a:xfrm>
          <a:prstGeom prst="roundRect">
            <a:avLst>
              <a:gd name="adj" fmla="val 4225"/>
            </a:avLst>
          </a:prstGeom>
          <a:solidFill>
            <a:srgbClr val="EDF2FA"/>
          </a:solidFill>
          <a:ln/>
        </p:spPr>
      </p:sp>
      <p:sp>
        <p:nvSpPr>
          <p:cNvPr id="17" name="Shape 15"/>
          <p:cNvSpPr/>
          <p:nvPr/>
        </p:nvSpPr>
        <p:spPr>
          <a:xfrm>
            <a:off x="8924544" y="1828800"/>
            <a:ext cx="2596896" cy="713232"/>
          </a:xfrm>
          <a:prstGeom prst="rect">
            <a:avLst/>
          </a:prstGeom>
          <a:solidFill>
            <a:srgbClr val="3E5C8A"/>
          </a:solidFill>
          <a:ln/>
        </p:spPr>
      </p:sp>
      <p:sp>
        <p:nvSpPr>
          <p:cNvPr id="18" name="Text 16"/>
          <p:cNvSpPr txBox="1"/>
          <p:nvPr/>
        </p:nvSpPr>
        <p:spPr>
          <a:xfrm>
            <a:off x="9125712"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gap to close</a:t>
            </a:r>
            <a:endParaRPr lang="en-US" sz="1400" dirty="0"/>
          </a:p>
        </p:txBody>
      </p:sp>
      <p:sp>
        <p:nvSpPr>
          <p:cNvPr id="19" name="Text 17"/>
          <p:cNvSpPr txBox="1"/>
          <p:nvPr/>
        </p:nvSpPr>
        <p:spPr>
          <a:xfrm>
            <a:off x="9125712"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Build, borrow or buy for each gap?</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By when, to support the targets we set?</a:t>
            </a:r>
            <a:endParaRPr lang="en-US" sz="1100" dirty="0"/>
          </a:p>
        </p:txBody>
      </p:sp>
      <p:sp>
        <p:nvSpPr>
          <p:cNvPr id="20" name="Shape 18"/>
          <p:cNvSpPr/>
          <p:nvPr/>
        </p:nvSpPr>
        <p:spPr>
          <a:xfrm>
            <a:off x="3566160" y="5532120"/>
            <a:ext cx="5029200" cy="301752"/>
          </a:xfrm>
          <a:prstGeom prst="roundRect">
            <a:avLst>
              <a:gd name="adj" fmla="val 48485"/>
            </a:avLst>
          </a:prstGeom>
          <a:solidFill>
            <a:srgbClr val="FFFFFF"/>
          </a:solidFill>
          <a:ln w="12700">
            <a:solidFill>
              <a:srgbClr val="B8862B"/>
            </a:solidFill>
            <a:prstDash val="solid"/>
          </a:ln>
        </p:spPr>
      </p:sp>
      <p:sp>
        <p:nvSpPr>
          <p:cNvPr id="21" name="Text 19"/>
          <p:cNvSpPr txBox="1"/>
          <p:nvPr/>
        </p:nvSpPr>
        <p:spPr>
          <a:xfrm>
            <a:off x="3566160" y="553212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22" name="Text 20"/>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Targets we cannot staff are not targets — and staff without the domain credential cannot sell the work.</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segments it sits behind, which accounts it opens, and what it costs us back.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FOUR</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we build it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approach, the owners and the calendar.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five-step approach</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Workstreams and who owns them</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three-week journey</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How we run the cycle</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Choose the vision, then frame the ambition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per account, gross and net, against capacity</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segments,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Offerings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flavours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assets, construct, pricing, margin, team, skills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Text 25"/>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Pillar ownership across the five workstreams is assigned from this group at kick-off; every artefact carries one name.</a:t>
            </a:r>
            <a:endParaRPr lang="en-US" sz="1300" dirty="0"/>
          </a:p>
        </p:txBody>
      </p:sp>
      <p:sp>
        <p:nvSpPr>
          <p:cNvPr id="28" name="Text 26"/>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dirty="0">
                <a:solidFill>
                  <a:srgbClr val="8792AB"/>
                </a:solidFill>
                <a:latin typeface="Calibri" pitchFamily="34" charset="0"/>
                <a:ea typeface="Calibri" pitchFamily="34" charset="-122"/>
                <a:cs typeface="Calibri" pitchFamily="34" charset="-120"/>
              </a:rPr>
              <a:t>Wider contributors — account partners, alliance leads, resourcing and finance — are pulled in per workstream rather than sitting on the core team.</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Priority markets and segments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FIVE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After sign-off</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Keeping the strategy alive once it is agreed.</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Governing the execution: rhythm, scorecard and decision rights</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Talent and alliance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Eminence</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Activities delivered, meetings they created</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2596896" cy="2514600"/>
          </a:xfrm>
          <a:prstGeom prst="roundRect">
            <a:avLst>
              <a:gd name="adj" fmla="val 3636"/>
            </a:avLst>
          </a:prstGeom>
          <a:solidFill>
            <a:srgbClr val="FFFFFF"/>
          </a:solidFill>
          <a:ln w="12700">
            <a:solidFill>
              <a:srgbClr val="C9D4E6"/>
            </a:solidFill>
            <a:prstDash val="solid"/>
          </a:ln>
        </p:spPr>
      </p:sp>
      <p:sp>
        <p:nvSpPr>
          <p:cNvPr id="8" name="Shape 6"/>
          <p:cNvSpPr/>
          <p:nvPr/>
        </p:nvSpPr>
        <p:spPr>
          <a:xfrm>
            <a:off x="640080" y="2834640"/>
            <a:ext cx="2596896" cy="502920"/>
          </a:xfrm>
          <a:prstGeom prst="rect">
            <a:avLst/>
          </a:prstGeom>
          <a:solidFill>
            <a:srgbClr val="1E2761"/>
          </a:solidFill>
          <a:ln/>
        </p:spPr>
      </p:sp>
      <p:sp>
        <p:nvSpPr>
          <p:cNvPr id="9" name="Text 7"/>
          <p:cNvSpPr txBox="1"/>
          <p:nvPr/>
        </p:nvSpPr>
        <p:spPr>
          <a:xfrm>
            <a:off x="786384"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segments</a:t>
            </a:r>
            <a:endParaRPr lang="en-US" sz="1050" dirty="0"/>
          </a:p>
        </p:txBody>
      </p:sp>
      <p:sp>
        <p:nvSpPr>
          <p:cNvPr id="11" name="Shape 9"/>
          <p:cNvSpPr/>
          <p:nvPr/>
        </p:nvSpPr>
        <p:spPr>
          <a:xfrm>
            <a:off x="841248" y="3867912"/>
            <a:ext cx="2194560"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2194560"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2194560" cy="0"/>
          </a:xfrm>
          <a:prstGeom prst="line">
            <a:avLst/>
          </a:prstGeom>
          <a:noFill/>
          <a:ln w="12700">
            <a:solidFill>
              <a:srgbClr val="E1E8F2"/>
            </a:solidFill>
            <a:prstDash val="solid"/>
          </a:ln>
        </p:spPr>
      </p:sp>
      <p:sp>
        <p:nvSpPr>
          <p:cNvPr id="16" name="Shape 14"/>
          <p:cNvSpPr/>
          <p:nvPr/>
        </p:nvSpPr>
        <p:spPr>
          <a:xfrm>
            <a:off x="3401568" y="2834640"/>
            <a:ext cx="2596896" cy="2514600"/>
          </a:xfrm>
          <a:prstGeom prst="roundRect">
            <a:avLst>
              <a:gd name="adj" fmla="val 3636"/>
            </a:avLst>
          </a:prstGeom>
          <a:solidFill>
            <a:srgbClr val="FFFFFF"/>
          </a:solidFill>
          <a:ln w="12700">
            <a:solidFill>
              <a:srgbClr val="C9D4E6"/>
            </a:solidFill>
            <a:prstDash val="solid"/>
          </a:ln>
        </p:spPr>
      </p:sp>
      <p:sp>
        <p:nvSpPr>
          <p:cNvPr id="17" name="Shape 15"/>
          <p:cNvSpPr/>
          <p:nvPr/>
        </p:nvSpPr>
        <p:spPr>
          <a:xfrm>
            <a:off x="3401568" y="2834640"/>
            <a:ext cx="2596896" cy="502920"/>
          </a:xfrm>
          <a:prstGeom prst="rect">
            <a:avLst/>
          </a:prstGeom>
          <a:solidFill>
            <a:srgbClr val="3E5C8A"/>
          </a:solidFill>
          <a:ln/>
        </p:spPr>
      </p:sp>
      <p:sp>
        <p:nvSpPr>
          <p:cNvPr id="18" name="Text 16"/>
          <p:cNvSpPr txBox="1"/>
          <p:nvPr/>
        </p:nvSpPr>
        <p:spPr>
          <a:xfrm>
            <a:off x="3547872"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a:t>
            </a:r>
            <a:endParaRPr lang="en-US" sz="1150" dirty="0"/>
          </a:p>
        </p:txBody>
      </p:sp>
      <p:sp>
        <p:nvSpPr>
          <p:cNvPr id="19" name="Text 17"/>
          <p:cNvSpPr txBox="1"/>
          <p:nvPr/>
        </p:nvSpPr>
        <p:spPr>
          <a:xfrm>
            <a:off x="3602736"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Propositions</a:t>
            </a:r>
            <a:endParaRPr lang="en-US" sz="1050" dirty="0"/>
          </a:p>
        </p:txBody>
      </p:sp>
      <p:sp>
        <p:nvSpPr>
          <p:cNvPr id="20" name="Shape 18"/>
          <p:cNvSpPr/>
          <p:nvPr/>
        </p:nvSpPr>
        <p:spPr>
          <a:xfrm>
            <a:off x="3602736" y="3867912"/>
            <a:ext cx="2194560" cy="0"/>
          </a:xfrm>
          <a:prstGeom prst="line">
            <a:avLst/>
          </a:prstGeom>
          <a:noFill/>
          <a:ln w="12700">
            <a:solidFill>
              <a:srgbClr val="E1E8F2"/>
            </a:solidFill>
            <a:prstDash val="solid"/>
          </a:ln>
        </p:spPr>
      </p:sp>
      <p:sp>
        <p:nvSpPr>
          <p:cNvPr id="21" name="Text 19"/>
          <p:cNvSpPr txBox="1"/>
          <p:nvPr/>
        </p:nvSpPr>
        <p:spPr>
          <a:xfrm>
            <a:off x="3602736"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2" name="Shape 20"/>
          <p:cNvSpPr/>
          <p:nvPr/>
        </p:nvSpPr>
        <p:spPr>
          <a:xfrm>
            <a:off x="3602736" y="4434840"/>
            <a:ext cx="2194560" cy="0"/>
          </a:xfrm>
          <a:prstGeom prst="line">
            <a:avLst/>
          </a:prstGeom>
          <a:noFill/>
          <a:ln w="12700">
            <a:solidFill>
              <a:srgbClr val="E1E8F2"/>
            </a:solidFill>
            <a:prstDash val="solid"/>
          </a:ln>
        </p:spPr>
      </p:sp>
      <p:sp>
        <p:nvSpPr>
          <p:cNvPr id="23" name="Text 21"/>
          <p:cNvSpPr txBox="1"/>
          <p:nvPr/>
        </p:nvSpPr>
        <p:spPr>
          <a:xfrm>
            <a:off x="3602736"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Flavours</a:t>
            </a:r>
            <a:endParaRPr lang="en-US" sz="1050" dirty="0"/>
          </a:p>
        </p:txBody>
      </p:sp>
      <p:sp>
        <p:nvSpPr>
          <p:cNvPr id="24" name="Shape 22"/>
          <p:cNvSpPr/>
          <p:nvPr/>
        </p:nvSpPr>
        <p:spPr>
          <a:xfrm>
            <a:off x="3602736" y="5001768"/>
            <a:ext cx="2194560" cy="0"/>
          </a:xfrm>
          <a:prstGeom prst="line">
            <a:avLst/>
          </a:prstGeom>
          <a:noFill/>
          <a:ln w="12700">
            <a:solidFill>
              <a:srgbClr val="E1E8F2"/>
            </a:solidFill>
            <a:prstDash val="solid"/>
          </a:ln>
        </p:spPr>
      </p:sp>
      <p:sp>
        <p:nvSpPr>
          <p:cNvPr id="25" name="Shape 23"/>
          <p:cNvSpPr/>
          <p:nvPr/>
        </p:nvSpPr>
        <p:spPr>
          <a:xfrm>
            <a:off x="6163056" y="2834640"/>
            <a:ext cx="2596896" cy="2514600"/>
          </a:xfrm>
          <a:prstGeom prst="roundRect">
            <a:avLst>
              <a:gd name="adj" fmla="val 3636"/>
            </a:avLst>
          </a:prstGeom>
          <a:solidFill>
            <a:srgbClr val="FFFFFF"/>
          </a:solidFill>
          <a:ln w="12700">
            <a:solidFill>
              <a:srgbClr val="C9D4E6"/>
            </a:solidFill>
            <a:prstDash val="solid"/>
          </a:ln>
        </p:spPr>
      </p:sp>
      <p:sp>
        <p:nvSpPr>
          <p:cNvPr id="26" name="Shape 24"/>
          <p:cNvSpPr/>
          <p:nvPr/>
        </p:nvSpPr>
        <p:spPr>
          <a:xfrm>
            <a:off x="6163056" y="2834640"/>
            <a:ext cx="2596896" cy="502920"/>
          </a:xfrm>
          <a:prstGeom prst="rect">
            <a:avLst/>
          </a:prstGeom>
          <a:solidFill>
            <a:srgbClr val="1E2761"/>
          </a:solidFill>
          <a:ln/>
        </p:spPr>
      </p:sp>
      <p:sp>
        <p:nvSpPr>
          <p:cNvPr id="27" name="Text 25"/>
          <p:cNvSpPr txBox="1"/>
          <p:nvPr/>
        </p:nvSpPr>
        <p:spPr>
          <a:xfrm>
            <a:off x="6309360"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28" name="Text 26"/>
          <p:cNvSpPr txBox="1"/>
          <p:nvPr/>
        </p:nvSpPr>
        <p:spPr>
          <a:xfrm>
            <a:off x="6364224"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29" name="Shape 27"/>
          <p:cNvSpPr/>
          <p:nvPr/>
        </p:nvSpPr>
        <p:spPr>
          <a:xfrm>
            <a:off x="6364224" y="3867912"/>
            <a:ext cx="2194560" cy="0"/>
          </a:xfrm>
          <a:prstGeom prst="line">
            <a:avLst/>
          </a:prstGeom>
          <a:noFill/>
          <a:ln w="12700">
            <a:solidFill>
              <a:srgbClr val="E1E8F2"/>
            </a:solidFill>
            <a:prstDash val="solid"/>
          </a:ln>
        </p:spPr>
      </p:sp>
      <p:sp>
        <p:nvSpPr>
          <p:cNvPr id="30" name="Text 28"/>
          <p:cNvSpPr txBox="1"/>
          <p:nvPr/>
        </p:nvSpPr>
        <p:spPr>
          <a:xfrm>
            <a:off x="6364224"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1" name="Shape 29"/>
          <p:cNvSpPr/>
          <p:nvPr/>
        </p:nvSpPr>
        <p:spPr>
          <a:xfrm>
            <a:off x="6364224" y="4434840"/>
            <a:ext cx="2194560" cy="0"/>
          </a:xfrm>
          <a:prstGeom prst="line">
            <a:avLst/>
          </a:prstGeom>
          <a:noFill/>
          <a:ln w="12700">
            <a:solidFill>
              <a:srgbClr val="E1E8F2"/>
            </a:solidFill>
            <a:prstDash val="solid"/>
          </a:ln>
        </p:spPr>
      </p:sp>
      <p:sp>
        <p:nvSpPr>
          <p:cNvPr id="32" name="Text 30"/>
          <p:cNvSpPr txBox="1"/>
          <p:nvPr/>
        </p:nvSpPr>
        <p:spPr>
          <a:xfrm>
            <a:off x="6364224"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3" name="Shape 31"/>
          <p:cNvSpPr/>
          <p:nvPr/>
        </p:nvSpPr>
        <p:spPr>
          <a:xfrm>
            <a:off x="6364224" y="5001768"/>
            <a:ext cx="2194560" cy="0"/>
          </a:xfrm>
          <a:prstGeom prst="line">
            <a:avLst/>
          </a:prstGeom>
          <a:noFill/>
          <a:ln w="12700">
            <a:solidFill>
              <a:srgbClr val="E1E8F2"/>
            </a:solidFill>
            <a:prstDash val="solid"/>
          </a:ln>
        </p:spPr>
      </p:sp>
      <p:sp>
        <p:nvSpPr>
          <p:cNvPr id="34" name="Shape 32"/>
          <p:cNvSpPr/>
          <p:nvPr/>
        </p:nvSpPr>
        <p:spPr>
          <a:xfrm>
            <a:off x="8924544" y="2834640"/>
            <a:ext cx="2596896" cy="2514600"/>
          </a:xfrm>
          <a:prstGeom prst="roundRect">
            <a:avLst>
              <a:gd name="adj" fmla="val 3636"/>
            </a:avLst>
          </a:prstGeom>
          <a:solidFill>
            <a:srgbClr val="FFFFFF"/>
          </a:solidFill>
          <a:ln w="12700">
            <a:solidFill>
              <a:srgbClr val="C9D4E6"/>
            </a:solidFill>
            <a:prstDash val="solid"/>
          </a:ln>
        </p:spPr>
      </p:sp>
      <p:sp>
        <p:nvSpPr>
          <p:cNvPr id="35" name="Shape 33"/>
          <p:cNvSpPr/>
          <p:nvPr/>
        </p:nvSpPr>
        <p:spPr>
          <a:xfrm>
            <a:off x="8924544" y="2834640"/>
            <a:ext cx="2596896" cy="502920"/>
          </a:xfrm>
          <a:prstGeom prst="rect">
            <a:avLst/>
          </a:prstGeom>
          <a:solidFill>
            <a:srgbClr val="3E5C8A"/>
          </a:solidFill>
          <a:ln/>
        </p:spPr>
      </p:sp>
      <p:sp>
        <p:nvSpPr>
          <p:cNvPr id="36" name="Text 34"/>
          <p:cNvSpPr txBox="1"/>
          <p:nvPr/>
        </p:nvSpPr>
        <p:spPr>
          <a:xfrm>
            <a:off x="9070848"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37" name="Text 35"/>
          <p:cNvSpPr txBox="1"/>
          <p:nvPr/>
        </p:nvSpPr>
        <p:spPr>
          <a:xfrm>
            <a:off x="91257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38" name="Shape 36"/>
          <p:cNvSpPr/>
          <p:nvPr/>
        </p:nvSpPr>
        <p:spPr>
          <a:xfrm>
            <a:off x="9125712" y="3867912"/>
            <a:ext cx="2194560" cy="0"/>
          </a:xfrm>
          <a:prstGeom prst="line">
            <a:avLst/>
          </a:prstGeom>
          <a:noFill/>
          <a:ln w="12700">
            <a:solidFill>
              <a:srgbClr val="E1E8F2"/>
            </a:solidFill>
            <a:prstDash val="solid"/>
          </a:ln>
        </p:spPr>
      </p:sp>
      <p:sp>
        <p:nvSpPr>
          <p:cNvPr id="39" name="Text 37"/>
          <p:cNvSpPr txBox="1"/>
          <p:nvPr/>
        </p:nvSpPr>
        <p:spPr>
          <a:xfrm>
            <a:off x="91257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0" name="Shape 38"/>
          <p:cNvSpPr/>
          <p:nvPr/>
        </p:nvSpPr>
        <p:spPr>
          <a:xfrm>
            <a:off x="9125712" y="4434840"/>
            <a:ext cx="2194560" cy="0"/>
          </a:xfrm>
          <a:prstGeom prst="line">
            <a:avLst/>
          </a:prstGeom>
          <a:noFill/>
          <a:ln w="12700">
            <a:solidFill>
              <a:srgbClr val="E1E8F2"/>
            </a:solidFill>
            <a:prstDash val="solid"/>
          </a:ln>
        </p:spPr>
      </p:sp>
      <p:sp>
        <p:nvSpPr>
          <p:cNvPr id="41" name="Text 39"/>
          <p:cNvSpPr txBox="1"/>
          <p:nvPr/>
        </p:nvSpPr>
        <p:spPr>
          <a:xfrm>
            <a:off x="91257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2" name="Shape 40"/>
          <p:cNvSpPr/>
          <p:nvPr/>
        </p:nvSpPr>
        <p:spPr>
          <a:xfrm>
            <a:off x="9125712" y="5001768"/>
            <a:ext cx="2194560" cy="0"/>
          </a:xfrm>
          <a:prstGeom prst="line">
            <a:avLst/>
          </a:prstGeom>
          <a:noFill/>
          <a:ln w="12700">
            <a:solidFill>
              <a:srgbClr val="E1E8F2"/>
            </a:solidFill>
            <a:prstDash val="solid"/>
          </a:ln>
        </p:spPr>
      </p:sp>
      <p:sp>
        <p:nvSpPr>
          <p:cNvPr id="43" name="Shape 41"/>
          <p:cNvSpPr/>
          <p:nvPr/>
        </p:nvSpPr>
        <p:spPr>
          <a:xfrm>
            <a:off x="640080" y="5532120"/>
            <a:ext cx="10881360" cy="777240"/>
          </a:xfrm>
          <a:prstGeom prst="roundRect">
            <a:avLst>
              <a:gd name="adj" fmla="val 11765"/>
            </a:avLst>
          </a:prstGeom>
          <a:solidFill>
            <a:srgbClr val="FFFFFF"/>
          </a:solidFill>
          <a:ln w="15875">
            <a:solidFill>
              <a:srgbClr val="1E2761"/>
            </a:solidFill>
            <a:prstDash val="solid"/>
          </a:ln>
        </p:spPr>
      </p:sp>
      <p:sp>
        <p:nvSpPr>
          <p:cNvPr id="44" name="Text 42"/>
          <p:cNvSpPr txBox="1"/>
          <p:nvPr/>
        </p:nvSpPr>
        <p:spPr>
          <a:xfrm>
            <a:off x="914400" y="5532120"/>
            <a:ext cx="1828800" cy="77724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DISCIPLINE</a:t>
            </a:r>
            <a:endParaRPr lang="en-US" sz="1200" dirty="0"/>
          </a:p>
        </p:txBody>
      </p:sp>
      <p:sp>
        <p:nvSpPr>
          <p:cNvPr id="45" name="Shape 43"/>
          <p:cNvSpPr/>
          <p:nvPr/>
        </p:nvSpPr>
        <p:spPr>
          <a:xfrm>
            <a:off x="2926080" y="6062472"/>
            <a:ext cx="8321040" cy="0"/>
          </a:xfrm>
          <a:prstGeom prst="line">
            <a:avLst/>
          </a:prstGeom>
          <a:noFill/>
          <a:ln w="12700">
            <a:solidFill>
              <a:srgbClr val="C9D4E6"/>
            </a:solidFill>
            <a:prstDash val="solid"/>
          </a:ln>
        </p:spPr>
      </p:sp>
      <p:sp>
        <p:nvSpPr>
          <p:cNvPr id="46" name="Text 44"/>
          <p:cNvSpPr txBox="1"/>
          <p:nvPr/>
        </p:nvSpPr>
        <p:spPr>
          <a:xfrm>
            <a:off x="640080" y="6382512"/>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PILLAR / PRACTICE</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Segments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Permitted flavours and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segment where they differ. Rationale should stand on evidence, not familiarity.</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named account.</a:t>
            </a:r>
            <a:endParaRPr lang="en-US" sz="14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we target there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we target there</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Segment: banking, funds or insurance. Tier one accounts are named individually; tier two may be grouped.</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account and offering.</a:t>
            </a:r>
            <a:endParaRPr lang="en-US" sz="14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priority account.</a:t>
            </a:r>
            <a:endParaRPr lang="en-US" sz="14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Partner owner means our accountable partner. Alliance lead is the vendor relationship behind the account.</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 one row per integrated proposition.</a:t>
            </a:r>
            <a:endParaRPr lang="en-US" sz="14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Practices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Practices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segment</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Permitted variants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offering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 &amp; AI</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 &amp; Cloud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Data &amp; AI</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 &amp; Cloud</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segment. Reconciles to the account revenue plan and to capacity.</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capability and enablement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capability.</a:t>
            </a:r>
            <a:endParaRPr lang="en-US" sz="14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194560"/>
                <a:gridCol w="1737360"/>
                <a:gridCol w="914400"/>
                <a:gridCol w="914400"/>
                <a:gridCol w="146304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Capability or skill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needs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Capability or skill</a:t>
            </a:r>
            <a:endParaRPr lang="en-US" sz="1150" dirty="0"/>
          </a:p>
        </p:txBody>
      </p:sp>
      <p:sp>
        <p:nvSpPr>
          <p:cNvPr id="7" name="Text 4"/>
          <p:cNvSpPr txBox="1"/>
          <p:nvPr/>
        </p:nvSpPr>
        <p:spPr>
          <a:xfrm>
            <a:off x="3035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supports</a:t>
            </a:r>
            <a:endParaRPr lang="en-US" sz="1150" dirty="0"/>
          </a:p>
        </p:txBody>
      </p:sp>
      <p:sp>
        <p:nvSpPr>
          <p:cNvPr id="8" name="Text 5"/>
          <p:cNvSpPr txBox="1"/>
          <p:nvPr/>
        </p:nvSpPr>
        <p:spPr>
          <a:xfrm>
            <a:off x="523036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needs it</a:t>
            </a:r>
            <a:endParaRPr lang="en-US" sz="1150" dirty="0"/>
          </a:p>
        </p:txBody>
      </p:sp>
      <p:sp>
        <p:nvSpPr>
          <p:cNvPr id="9" name="Text 6"/>
          <p:cNvSpPr txBox="1"/>
          <p:nvPr/>
        </p:nvSpPr>
        <p:spPr>
          <a:xfrm>
            <a:off x="69677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10" name="Text 7"/>
          <p:cNvSpPr txBox="1"/>
          <p:nvPr/>
        </p:nvSpPr>
        <p:spPr>
          <a:xfrm>
            <a:off x="78821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11" name="Text 8"/>
          <p:cNvSpPr txBox="1"/>
          <p:nvPr/>
        </p:nvSpPr>
        <p:spPr>
          <a:xfrm>
            <a:off x="87965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p>
        </p:txBody>
      </p:sp>
      <p:sp>
        <p:nvSpPr>
          <p:cNvPr id="12" name="Text 9"/>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Route: internal training, industry certification, alliance accreditation, or hire. Every row ends in a date.</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and segments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and segments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EAIND — FSI Strategy Development Plan</dc:title>
  <dc:subject>PptxGenJS Presentation</dc:subject>
  <dc:creator>Engineering, AI and Data</dc:creator>
  <cp:lastModifiedBy>Engineering, AI and Data</cp:lastModifiedBy>
  <cp:revision>1</cp:revision>
  <dcterms:created xsi:type="dcterms:W3CDTF">2026-09-28T14:56:12Z</dcterms:created>
  <dcterms:modified xsi:type="dcterms:W3CDTF">2026-09-28T14:56:12Z</dcterms:modified>
</cp:coreProperties>
</file>