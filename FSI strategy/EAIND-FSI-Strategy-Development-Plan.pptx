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EAIND: Engineering, AI and Data. It is a consulting portfolio — think technology advisory and delivery. We design, advise on and implement end-to-end technology transformation for the financial services industry. FSI here means three segments, in priority order: banking first, then funds (sovereign wealth funds, national and development funds, fund and investment management), then insurance.
Three pillars:
1. Industry Solutions — core-led transformation: core modernisation and core platform packages, whatever the segment calls its core (core banking, policy administration and claims in insurance, portfolio, fund accounting and investment platforms in funds). Also full systems-integration capability: we can take the SI role and own the end-to-end setup, including design governance, functional governance, delivery management and individual stream management, to stand up a greenfield institution or modernise an incumbent.
2. Data and AI — enterprise AI, core AI, AI use-case activation, and standard data work: data platforms, warehouses, ETL, reporting, across all three segments.
3. Engineering and Cloud — cloud advisory and implementation, plus custom engineered solutions: integration management, microservices, API gateways, and bespoke core engineering. Less common around the core; likeliest in investments, wealth and fund operations.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the frame: this is a financial services strategy, not a banking strategy. Three segments, in this priority order.
1. Banking — the priority segment, and where most of the existing capability and credentials sit.
2. Funds — sovereign wealth funds, national and development funds, and fund or investment management. Often a small number of very large institutions rather than a market of many, which changes how coverage and pursuit work: fewer accounts, longer cycles, far higher stakes per relationship.
3. Insurance — life, general, takaful, health, brokers and reinsurance. Different core platforms, different regulators, different buyers.
They are not interchangeable. The core platform, the regulator, the buyer and the language all change between them, which is exactly why the domain-specific principle is stated per segment rather than per industry: a core banking reference does not win a policy administration programme.
Practical consequence for the cycle: segment is a column in the market prioritisation, the account list, the proposition catalogue and the revenue targets. Where we are thin — and funds and insurance are where we are thin — the strategy has to say whether we build, borrow, hire or partner into them, and the alliance map has to answer the platform question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Deliberation material, not a recommendation. All three now carry the portfolio's core claim — integrated propositions, integrated teams, integrated capabilities, one partner accountable for execution end to end, with the alliances counted as part of what we bring rather than a separate arrangement. They differ on the edge claimed on top of that.
A. The end-to-end partner — leads with breadth and single accountability: whatever the institution needs designed, built, modernised or run. Closest to how the portfolio is already built and easiest to evidence. Weakest on differentiation, since scale is claimable by every large SI.
B. AI-native, end to end — keeps the end-to-end claim and adds AI as the through-line of everything we sell. Strongest differentiator available now and matched to regional ambition, but it obliges us to prove it: if the catalogue does not visibly carry AI in every proposition, the vision undercuts itself.
C. Known for the industry, built to execute — keeps the end-to-end claim and adds domain depth per segment, plus the ability to both advise and build. Quietest of the three and hardest to headline, but the one clients reward, and defensible against global SIs and product vendors alike. It obliges depth in funds and insurance, not only banking.
Wording to avoid: "one-stop shop" carries a commodity, lowest-common-denominator connotation. The same idea lands better as one partner, one accountable team, end to end.
A combination is plausible and may be where this lands — for example C as the base claim with B as the edge. Resist merging all three into a sentence that commits to nothing.
Test to apply: what we do, for whom, what makes us different, and whether a competitor could lift it word for word. If they could, it is positioning, not vision. Whichever is chosen, the ambition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Tiering applies twice — to geographies and to accounts — and independently of segment. A tier one account can sit in a tier two market, and occasionally the reverse.
Tier one is where the energy goes: deliberate coverage with people physically present working the relationships, named individual targets each with an owner, individual gross and net revenue targets, and the eminence and investment concentrated there. The scorecard is read against tier one.
Tier two is deliberately lighter. Accounts and markets are handled as clusters or groups rather than one by one, pursuit is reactive rather than campaigned, and coverage is a named watcher rather than an accountable owner. It exists for two reasons: to keep us present in what is emerging, and to stop us over-concentrating everything in a handful of names.
Two things the cycle must define rather than leave to instinct: what promotes a tier two account or market to tier one — a real signal, not enthusiasm — and what minimum tier two coverage actually means, so it is not simply a list nobody reads.
Watch the balance. If almost everything lands in tier one, nothing is prioritised. If tier one is too narrow, the plan is fragile to one or two decisions going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is specialised enough that generic technology credentials do not travel, and the three segments do not transfer to each other either. A banking client expects us to know core banking, payments and regulatory reporting; a fund expects portfolio, fund accounting, valuations and investor reporting; an insurer expects policy administration, claims, underwriting and actuarial. Credibility is per segment, not per industry.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Flavours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modernisation and migration varies by segment and by scope — retail, corporate or SME in banking; life versus general in insurance; fund accounting versus front-office in funds — and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segments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flavours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and by segment. A core banking modernisation with heavy onshore functional and governance presence looks nothing like a fund platform implementation, an insurance policy-administration migration, or an AI use-case activation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split into two categories that behave differently, and the plan should treat them differently.
Broad technology alliances — the hyperscalers and platform players: Google, AWS, Microsoft and Oracle. They are relevant to every proposition in the catalogue, so they are a portfolio-level relationship rather than an offering-level one. Three things we take from them: co-sell into their own account relationships, funding and credits to activate use cases on their platforms (a real commercial lever, not a nicety — it can fund the first proof of value), and the certifications and platform credibility clients increasingly ask for.
Specialised product vendors — relevant only where the offering matches. Core banking and origination platforms (Temenos and Intellect today), specialised data vendors such as Informatica, and, as the segment priorities imply, the insurance core and fund platform vendors where we currently hold nothing. These are offering-level and segment-level relationships, so the map must show which propositions each sits behind rather than treating them as general alliances.
The gap to close in the cycle: our specialised alliances are banking-weighted. Funds and insurance are priority two and three with no platform partner named, which is a decision the strategy has to make rather than defer.
Two links to the rest of the strategy: the alliance map must reconcile with the account coverage map (an alliance that opens an account should appear against that account), and with the capacity plan, because certifications and accredited people are a real training and hiring cost. Funding available from the broad alliances should also appear in the commercial view — it changes what a first engagement can be priced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flavours,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platform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our own consulting partners, who own the client relationship, and the alliance or vendor partner we go to market with on that account.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and it differs by segment: COO, CIO or head of retail banking in a bank; COO or head of investment operations in a fund; chief underwriting or claims officer in an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modernisation and migration the drivers include segment and scope (retail, corporate or SME in banking; life or general in insurance; fund accounting or front-office in funds),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platform programme, a data platform build and an AI activation — and again between segments.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platform alliances, both weighted to banking. The cycle should decide what we do about funds and insurance platforms, where we currently hold no specialised alliance.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is in this pack</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Sixteen sections, plus an appendix of blank templates.</a:t>
            </a:r>
            <a:endParaRPr lang="en-US" sz="1450" dirty="0"/>
          </a:p>
        </p:txBody>
      </p:sp>
      <p:sp>
        <p:nvSpPr>
          <p:cNvPr id="4" name="Shape 2"/>
          <p:cNvSpPr/>
          <p:nvPr/>
        </p:nvSpPr>
        <p:spPr>
          <a:xfrm>
            <a:off x="640080" y="1737360"/>
            <a:ext cx="5257800" cy="576072"/>
          </a:xfrm>
          <a:prstGeom prst="roundRect">
            <a:avLst>
              <a:gd name="adj" fmla="val 12698"/>
            </a:avLst>
          </a:prstGeom>
          <a:solidFill>
            <a:srgbClr val="F2F6FC"/>
          </a:solidFill>
          <a:ln/>
        </p:spPr>
      </p:sp>
      <p:sp>
        <p:nvSpPr>
          <p:cNvPr id="5" name="Shape 3"/>
          <p:cNvSpPr/>
          <p:nvPr/>
        </p:nvSpPr>
        <p:spPr>
          <a:xfrm>
            <a:off x="822960" y="1837944"/>
            <a:ext cx="365760" cy="365760"/>
          </a:xfrm>
          <a:prstGeom prst="ellipse">
            <a:avLst/>
          </a:prstGeom>
          <a:solidFill>
            <a:srgbClr val="1E2761"/>
          </a:solidFill>
          <a:ln/>
        </p:spPr>
      </p:sp>
      <p:sp>
        <p:nvSpPr>
          <p:cNvPr id="6" name="Text 4"/>
          <p:cNvSpPr txBox="1"/>
          <p:nvPr/>
        </p:nvSpPr>
        <p:spPr>
          <a:xfrm>
            <a:off x="822960" y="183794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53312" y="176479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What this document is</a:t>
            </a:r>
            <a:endParaRPr lang="en-US" sz="1350" dirty="0"/>
          </a:p>
        </p:txBody>
      </p:sp>
      <p:sp>
        <p:nvSpPr>
          <p:cNvPr id="8" name="Text 6"/>
          <p:cNvSpPr txBox="1"/>
          <p:nvPr/>
        </p:nvSpPr>
        <p:spPr>
          <a:xfrm>
            <a:off x="1353312" y="203911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Method, not conclusion</a:t>
            </a:r>
            <a:endParaRPr lang="en-US" sz="1050" dirty="0"/>
          </a:p>
        </p:txBody>
      </p:sp>
      <p:sp>
        <p:nvSpPr>
          <p:cNvPr id="9" name="Shape 7"/>
          <p:cNvSpPr/>
          <p:nvPr/>
        </p:nvSpPr>
        <p:spPr>
          <a:xfrm>
            <a:off x="6263640" y="1737360"/>
            <a:ext cx="5257800" cy="576072"/>
          </a:xfrm>
          <a:prstGeom prst="roundRect">
            <a:avLst>
              <a:gd name="adj" fmla="val 12698"/>
            </a:avLst>
          </a:prstGeom>
          <a:solidFill>
            <a:srgbClr val="EDF2FA"/>
          </a:solidFill>
          <a:ln/>
        </p:spPr>
      </p:sp>
      <p:sp>
        <p:nvSpPr>
          <p:cNvPr id="10" name="Shape 8"/>
          <p:cNvSpPr/>
          <p:nvPr/>
        </p:nvSpPr>
        <p:spPr>
          <a:xfrm>
            <a:off x="6446520" y="1837944"/>
            <a:ext cx="365760" cy="365760"/>
          </a:xfrm>
          <a:prstGeom prst="ellipse">
            <a:avLst/>
          </a:prstGeom>
          <a:solidFill>
            <a:srgbClr val="3E5C8A"/>
          </a:solidFill>
          <a:ln/>
        </p:spPr>
      </p:sp>
      <p:sp>
        <p:nvSpPr>
          <p:cNvPr id="11" name="Text 9"/>
          <p:cNvSpPr txBox="1"/>
          <p:nvPr/>
        </p:nvSpPr>
        <p:spPr>
          <a:xfrm>
            <a:off x="6446520" y="183794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6976872" y="176479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What the strategy must cover</a:t>
            </a:r>
            <a:endParaRPr lang="en-US" sz="1350" dirty="0"/>
          </a:p>
        </p:txBody>
      </p:sp>
      <p:sp>
        <p:nvSpPr>
          <p:cNvPr id="13" name="Text 11"/>
          <p:cNvSpPr txBox="1"/>
          <p:nvPr/>
        </p:nvSpPr>
        <p:spPr>
          <a:xfrm>
            <a:off x="6976872" y="203911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Ambition, four pillars, operating discipline</a:t>
            </a:r>
            <a:endParaRPr lang="en-US" sz="1050" dirty="0"/>
          </a:p>
        </p:txBody>
      </p:sp>
      <p:sp>
        <p:nvSpPr>
          <p:cNvPr id="14" name="Shape 12"/>
          <p:cNvSpPr/>
          <p:nvPr/>
        </p:nvSpPr>
        <p:spPr>
          <a:xfrm>
            <a:off x="640080" y="2395728"/>
            <a:ext cx="5257800" cy="576072"/>
          </a:xfrm>
          <a:prstGeom prst="roundRect">
            <a:avLst>
              <a:gd name="adj" fmla="val 12698"/>
            </a:avLst>
          </a:prstGeom>
          <a:solidFill>
            <a:srgbClr val="F2F6FC"/>
          </a:solidFill>
          <a:ln/>
        </p:spPr>
      </p:sp>
      <p:sp>
        <p:nvSpPr>
          <p:cNvPr id="15" name="Shape 13"/>
          <p:cNvSpPr/>
          <p:nvPr/>
        </p:nvSpPr>
        <p:spPr>
          <a:xfrm>
            <a:off x="822960" y="2496312"/>
            <a:ext cx="365760" cy="365760"/>
          </a:xfrm>
          <a:prstGeom prst="ellipse">
            <a:avLst/>
          </a:prstGeom>
          <a:solidFill>
            <a:srgbClr val="1E2761"/>
          </a:solidFill>
          <a:ln/>
        </p:spPr>
      </p:sp>
      <p:sp>
        <p:nvSpPr>
          <p:cNvPr id="16" name="Text 14"/>
          <p:cNvSpPr txBox="1"/>
          <p:nvPr/>
        </p:nvSpPr>
        <p:spPr>
          <a:xfrm>
            <a:off x="822960" y="249631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353312" y="242316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The industry we mean</a:t>
            </a:r>
            <a:endParaRPr lang="en-US" sz="1350" dirty="0"/>
          </a:p>
        </p:txBody>
      </p:sp>
      <p:sp>
        <p:nvSpPr>
          <p:cNvPr id="18" name="Text 16"/>
          <p:cNvSpPr txBox="1"/>
          <p:nvPr/>
        </p:nvSpPr>
        <p:spPr>
          <a:xfrm>
            <a:off x="1353312" y="269748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Banking, funds and insurance, in priority order</a:t>
            </a:r>
            <a:endParaRPr lang="en-US" sz="1050" dirty="0"/>
          </a:p>
        </p:txBody>
      </p:sp>
      <p:sp>
        <p:nvSpPr>
          <p:cNvPr id="19" name="Shape 17"/>
          <p:cNvSpPr/>
          <p:nvPr/>
        </p:nvSpPr>
        <p:spPr>
          <a:xfrm>
            <a:off x="6263640" y="2395728"/>
            <a:ext cx="5257800" cy="576072"/>
          </a:xfrm>
          <a:prstGeom prst="roundRect">
            <a:avLst>
              <a:gd name="adj" fmla="val 12698"/>
            </a:avLst>
          </a:prstGeom>
          <a:solidFill>
            <a:srgbClr val="EDF2FA"/>
          </a:solidFill>
          <a:ln/>
        </p:spPr>
      </p:sp>
      <p:sp>
        <p:nvSpPr>
          <p:cNvPr id="20" name="Shape 18"/>
          <p:cNvSpPr/>
          <p:nvPr/>
        </p:nvSpPr>
        <p:spPr>
          <a:xfrm>
            <a:off x="6446520" y="2496312"/>
            <a:ext cx="365760" cy="365760"/>
          </a:xfrm>
          <a:prstGeom prst="ellipse">
            <a:avLst/>
          </a:prstGeom>
          <a:solidFill>
            <a:srgbClr val="3E5C8A"/>
          </a:solidFill>
          <a:ln/>
        </p:spPr>
      </p:sp>
      <p:sp>
        <p:nvSpPr>
          <p:cNvPr id="21" name="Text 19"/>
          <p:cNvSpPr txBox="1"/>
          <p:nvPr/>
        </p:nvSpPr>
        <p:spPr>
          <a:xfrm>
            <a:off x="6446520" y="249631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6976872" y="242316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Where we start: the vision</a:t>
            </a:r>
            <a:endParaRPr lang="en-US" sz="1350" dirty="0"/>
          </a:p>
        </p:txBody>
      </p:sp>
      <p:sp>
        <p:nvSpPr>
          <p:cNvPr id="23" name="Text 21"/>
          <p:cNvSpPr txBox="1"/>
          <p:nvPr/>
        </p:nvSpPr>
        <p:spPr>
          <a:xfrm>
            <a:off x="6976872" y="269748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Three candidate statements to deliberate</a:t>
            </a:r>
            <a:endParaRPr lang="en-US" sz="1050" dirty="0"/>
          </a:p>
        </p:txBody>
      </p:sp>
      <p:sp>
        <p:nvSpPr>
          <p:cNvPr id="24" name="Shape 22"/>
          <p:cNvSpPr/>
          <p:nvPr/>
        </p:nvSpPr>
        <p:spPr>
          <a:xfrm>
            <a:off x="640080" y="3054096"/>
            <a:ext cx="5257800" cy="576072"/>
          </a:xfrm>
          <a:prstGeom prst="roundRect">
            <a:avLst>
              <a:gd name="adj" fmla="val 12698"/>
            </a:avLst>
          </a:prstGeom>
          <a:solidFill>
            <a:srgbClr val="F2F6FC"/>
          </a:solidFill>
          <a:ln/>
        </p:spPr>
      </p:sp>
      <p:sp>
        <p:nvSpPr>
          <p:cNvPr id="25" name="Shape 23"/>
          <p:cNvSpPr/>
          <p:nvPr/>
        </p:nvSpPr>
        <p:spPr>
          <a:xfrm>
            <a:off x="822960" y="3154680"/>
            <a:ext cx="365760" cy="365760"/>
          </a:xfrm>
          <a:prstGeom prst="ellipse">
            <a:avLst/>
          </a:prstGeom>
          <a:solidFill>
            <a:srgbClr val="1E2761"/>
          </a:solidFill>
          <a:ln/>
        </p:spPr>
      </p:sp>
      <p:sp>
        <p:nvSpPr>
          <p:cNvPr id="26" name="Text 24"/>
          <p:cNvSpPr txBox="1"/>
          <p:nvPr/>
        </p:nvSpPr>
        <p:spPr>
          <a:xfrm>
            <a:off x="822960" y="31546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353312" y="3081528"/>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1 · Tier one and tier two</a:t>
            </a:r>
            <a:endParaRPr lang="en-US" sz="1350" dirty="0"/>
          </a:p>
        </p:txBody>
      </p:sp>
      <p:sp>
        <p:nvSpPr>
          <p:cNvPr id="28" name="Text 26"/>
          <p:cNvSpPr txBox="1"/>
          <p:nvPr/>
        </p:nvSpPr>
        <p:spPr>
          <a:xfrm>
            <a:off x="1353312" y="3355848"/>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Where the energy goes</a:t>
            </a:r>
            <a:endParaRPr lang="en-US" sz="1050" dirty="0"/>
          </a:p>
        </p:txBody>
      </p:sp>
      <p:sp>
        <p:nvSpPr>
          <p:cNvPr id="29" name="Shape 27"/>
          <p:cNvSpPr/>
          <p:nvPr/>
        </p:nvSpPr>
        <p:spPr>
          <a:xfrm>
            <a:off x="6263640" y="3054096"/>
            <a:ext cx="5257800" cy="576072"/>
          </a:xfrm>
          <a:prstGeom prst="roundRect">
            <a:avLst>
              <a:gd name="adj" fmla="val 12698"/>
            </a:avLst>
          </a:prstGeom>
          <a:solidFill>
            <a:srgbClr val="EDF2FA"/>
          </a:solidFill>
          <a:ln/>
        </p:spPr>
      </p:sp>
      <p:sp>
        <p:nvSpPr>
          <p:cNvPr id="30" name="Shape 28"/>
          <p:cNvSpPr/>
          <p:nvPr/>
        </p:nvSpPr>
        <p:spPr>
          <a:xfrm>
            <a:off x="6446520" y="3154680"/>
            <a:ext cx="365760" cy="365760"/>
          </a:xfrm>
          <a:prstGeom prst="ellipse">
            <a:avLst/>
          </a:prstGeom>
          <a:solidFill>
            <a:srgbClr val="3E5C8A"/>
          </a:solidFill>
          <a:ln/>
        </p:spPr>
      </p:sp>
      <p:sp>
        <p:nvSpPr>
          <p:cNvPr id="31" name="Text 29"/>
          <p:cNvSpPr txBox="1"/>
          <p:nvPr/>
        </p:nvSpPr>
        <p:spPr>
          <a:xfrm>
            <a:off x="6446520" y="31546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6976872" y="3081528"/>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Principles we hold going in</a:t>
            </a:r>
            <a:endParaRPr lang="en-US" sz="1350" dirty="0"/>
          </a:p>
        </p:txBody>
      </p:sp>
      <p:sp>
        <p:nvSpPr>
          <p:cNvPr id="33" name="Text 31"/>
          <p:cNvSpPr txBox="1"/>
          <p:nvPr/>
        </p:nvSpPr>
        <p:spPr>
          <a:xfrm>
            <a:off x="6976872" y="3355848"/>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Constraints agreed before the work starts</a:t>
            </a:r>
            <a:endParaRPr lang="en-US" sz="1050" dirty="0"/>
          </a:p>
        </p:txBody>
      </p:sp>
      <p:sp>
        <p:nvSpPr>
          <p:cNvPr id="34" name="Shape 32"/>
          <p:cNvSpPr/>
          <p:nvPr/>
        </p:nvSpPr>
        <p:spPr>
          <a:xfrm>
            <a:off x="640080" y="3712464"/>
            <a:ext cx="5257800" cy="576072"/>
          </a:xfrm>
          <a:prstGeom prst="roundRect">
            <a:avLst>
              <a:gd name="adj" fmla="val 12698"/>
            </a:avLst>
          </a:prstGeom>
          <a:solidFill>
            <a:srgbClr val="F2F6FC"/>
          </a:solidFill>
          <a:ln/>
        </p:spPr>
      </p:sp>
      <p:sp>
        <p:nvSpPr>
          <p:cNvPr id="35" name="Shape 33"/>
          <p:cNvSpPr/>
          <p:nvPr/>
        </p:nvSpPr>
        <p:spPr>
          <a:xfrm>
            <a:off x="822960" y="3813048"/>
            <a:ext cx="365760" cy="365760"/>
          </a:xfrm>
          <a:prstGeom prst="ellipse">
            <a:avLst/>
          </a:prstGeom>
          <a:solidFill>
            <a:srgbClr val="1E2761"/>
          </a:solidFill>
          <a:ln/>
        </p:spPr>
      </p:sp>
      <p:sp>
        <p:nvSpPr>
          <p:cNvPr id="36" name="Text 34"/>
          <p:cNvSpPr txBox="1"/>
          <p:nvPr/>
        </p:nvSpPr>
        <p:spPr>
          <a:xfrm>
            <a:off x="822960" y="381304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353312" y="3739896"/>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How we will get there</a:t>
            </a:r>
            <a:endParaRPr lang="en-US" sz="1350" dirty="0"/>
          </a:p>
        </p:txBody>
      </p:sp>
      <p:sp>
        <p:nvSpPr>
          <p:cNvPr id="38" name="Text 36"/>
          <p:cNvSpPr txBox="1"/>
          <p:nvPr/>
        </p:nvSpPr>
        <p:spPr>
          <a:xfrm>
            <a:off x="1353312" y="4014216"/>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five-step approach</a:t>
            </a:r>
            <a:endParaRPr lang="en-US" sz="1050" dirty="0"/>
          </a:p>
        </p:txBody>
      </p:sp>
      <p:sp>
        <p:nvSpPr>
          <p:cNvPr id="39" name="Shape 37"/>
          <p:cNvSpPr/>
          <p:nvPr/>
        </p:nvSpPr>
        <p:spPr>
          <a:xfrm>
            <a:off x="6263640" y="3712464"/>
            <a:ext cx="5257800" cy="576072"/>
          </a:xfrm>
          <a:prstGeom prst="roundRect">
            <a:avLst>
              <a:gd name="adj" fmla="val 12698"/>
            </a:avLst>
          </a:prstGeom>
          <a:solidFill>
            <a:srgbClr val="EDF2FA"/>
          </a:solidFill>
          <a:ln/>
        </p:spPr>
      </p:sp>
      <p:sp>
        <p:nvSpPr>
          <p:cNvPr id="40" name="Shape 38"/>
          <p:cNvSpPr/>
          <p:nvPr/>
        </p:nvSpPr>
        <p:spPr>
          <a:xfrm>
            <a:off x="6446520" y="3813048"/>
            <a:ext cx="365760" cy="365760"/>
          </a:xfrm>
          <a:prstGeom prst="ellipse">
            <a:avLst/>
          </a:prstGeom>
          <a:solidFill>
            <a:srgbClr val="3E5C8A"/>
          </a:solidFill>
          <a:ln/>
        </p:spPr>
      </p:sp>
      <p:sp>
        <p:nvSpPr>
          <p:cNvPr id="41" name="Text 39"/>
          <p:cNvSpPr txBox="1"/>
          <p:nvPr/>
        </p:nvSpPr>
        <p:spPr>
          <a:xfrm>
            <a:off x="6446520" y="381304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6976872" y="3739896"/>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Five workstreams, one per pillar</a:t>
            </a:r>
            <a:endParaRPr lang="en-US" sz="1350" dirty="0"/>
          </a:p>
        </p:txBody>
      </p:sp>
      <p:sp>
        <p:nvSpPr>
          <p:cNvPr id="43" name="Text 41"/>
          <p:cNvSpPr txBox="1"/>
          <p:nvPr/>
        </p:nvSpPr>
        <p:spPr>
          <a:xfrm>
            <a:off x="6976872" y="4014216"/>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Who owns what, and what each produces</a:t>
            </a:r>
            <a:endParaRPr lang="en-US" sz="1050" dirty="0"/>
          </a:p>
        </p:txBody>
      </p:sp>
      <p:sp>
        <p:nvSpPr>
          <p:cNvPr id="44" name="Shape 42"/>
          <p:cNvSpPr/>
          <p:nvPr/>
        </p:nvSpPr>
        <p:spPr>
          <a:xfrm>
            <a:off x="640080" y="4370832"/>
            <a:ext cx="5257800" cy="576072"/>
          </a:xfrm>
          <a:prstGeom prst="roundRect">
            <a:avLst>
              <a:gd name="adj" fmla="val 12698"/>
            </a:avLst>
          </a:prstGeom>
          <a:solidFill>
            <a:srgbClr val="F2F6FC"/>
          </a:solidFill>
          <a:ln/>
        </p:spPr>
      </p:sp>
      <p:sp>
        <p:nvSpPr>
          <p:cNvPr id="45" name="Shape 43"/>
          <p:cNvSpPr/>
          <p:nvPr/>
        </p:nvSpPr>
        <p:spPr>
          <a:xfrm>
            <a:off x="822960" y="4471416"/>
            <a:ext cx="365760" cy="365760"/>
          </a:xfrm>
          <a:prstGeom prst="ellipse">
            <a:avLst/>
          </a:prstGeom>
          <a:solidFill>
            <a:srgbClr val="1E2761"/>
          </a:solidFill>
          <a:ln/>
        </p:spPr>
      </p:sp>
      <p:sp>
        <p:nvSpPr>
          <p:cNvPr id="46" name="Text 44"/>
          <p:cNvSpPr txBox="1"/>
          <p:nvPr/>
        </p:nvSpPr>
        <p:spPr>
          <a:xfrm>
            <a:off x="822960" y="44714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1353312" y="4398264"/>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Who is doing this</a:t>
            </a:r>
            <a:endParaRPr lang="en-US" sz="1350" dirty="0"/>
          </a:p>
        </p:txBody>
      </p:sp>
      <p:sp>
        <p:nvSpPr>
          <p:cNvPr id="48" name="Text 46"/>
          <p:cNvSpPr txBox="1"/>
          <p:nvPr/>
        </p:nvSpPr>
        <p:spPr>
          <a:xfrm>
            <a:off x="1353312" y="4672584"/>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strategy development team</a:t>
            </a:r>
            <a:endParaRPr lang="en-US" sz="1050" dirty="0"/>
          </a:p>
        </p:txBody>
      </p:sp>
      <p:sp>
        <p:nvSpPr>
          <p:cNvPr id="49" name="Shape 47"/>
          <p:cNvSpPr/>
          <p:nvPr/>
        </p:nvSpPr>
        <p:spPr>
          <a:xfrm>
            <a:off x="6263640" y="4370832"/>
            <a:ext cx="5257800" cy="576072"/>
          </a:xfrm>
          <a:prstGeom prst="roundRect">
            <a:avLst>
              <a:gd name="adj" fmla="val 12698"/>
            </a:avLst>
          </a:prstGeom>
          <a:solidFill>
            <a:srgbClr val="EDF2FA"/>
          </a:solidFill>
          <a:ln/>
        </p:spPr>
      </p:sp>
      <p:sp>
        <p:nvSpPr>
          <p:cNvPr id="50" name="Shape 48"/>
          <p:cNvSpPr/>
          <p:nvPr/>
        </p:nvSpPr>
        <p:spPr>
          <a:xfrm>
            <a:off x="6446520" y="4471416"/>
            <a:ext cx="365760" cy="365760"/>
          </a:xfrm>
          <a:prstGeom prst="ellipse">
            <a:avLst/>
          </a:prstGeom>
          <a:solidFill>
            <a:srgbClr val="3E5C8A"/>
          </a:solidFill>
          <a:ln/>
        </p:spPr>
      </p:sp>
      <p:sp>
        <p:nvSpPr>
          <p:cNvPr id="51" name="Text 49"/>
          <p:cNvSpPr txBox="1"/>
          <p:nvPr/>
        </p:nvSpPr>
        <p:spPr>
          <a:xfrm>
            <a:off x="6446520" y="44714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a:t>
            </a:r>
            <a:endParaRPr lang="en-US" sz="1200" dirty="0"/>
          </a:p>
        </p:txBody>
      </p:sp>
      <p:sp>
        <p:nvSpPr>
          <p:cNvPr id="52" name="Text 50"/>
          <p:cNvSpPr txBox="1"/>
          <p:nvPr/>
        </p:nvSpPr>
        <p:spPr>
          <a:xfrm>
            <a:off x="6976872" y="4398264"/>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3 · Delivery and pricing economics</a:t>
            </a:r>
            <a:endParaRPr lang="en-US" sz="1350" dirty="0"/>
          </a:p>
        </p:txBody>
      </p:sp>
      <p:sp>
        <p:nvSpPr>
          <p:cNvPr id="53" name="Text 51"/>
          <p:cNvSpPr txBox="1"/>
          <p:nvPr/>
        </p:nvSpPr>
        <p:spPr>
          <a:xfrm>
            <a:off x="6976872" y="4672584"/>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price, ADR and margin</a:t>
            </a:r>
            <a:endParaRPr lang="en-US" sz="1050" dirty="0"/>
          </a:p>
        </p:txBody>
      </p:sp>
      <p:sp>
        <p:nvSpPr>
          <p:cNvPr id="54" name="Shape 52"/>
          <p:cNvSpPr/>
          <p:nvPr/>
        </p:nvSpPr>
        <p:spPr>
          <a:xfrm>
            <a:off x="640080" y="5029200"/>
            <a:ext cx="5257800" cy="576072"/>
          </a:xfrm>
          <a:prstGeom prst="roundRect">
            <a:avLst>
              <a:gd name="adj" fmla="val 12698"/>
            </a:avLst>
          </a:prstGeom>
          <a:solidFill>
            <a:srgbClr val="F2F6FC"/>
          </a:solidFill>
          <a:ln/>
        </p:spPr>
      </p:sp>
      <p:sp>
        <p:nvSpPr>
          <p:cNvPr id="55" name="Shape 53"/>
          <p:cNvSpPr/>
          <p:nvPr/>
        </p:nvSpPr>
        <p:spPr>
          <a:xfrm>
            <a:off x="822960" y="5129784"/>
            <a:ext cx="365760" cy="365760"/>
          </a:xfrm>
          <a:prstGeom prst="ellipse">
            <a:avLst/>
          </a:prstGeom>
          <a:solidFill>
            <a:srgbClr val="1E2761"/>
          </a:solidFill>
          <a:ln/>
        </p:spPr>
      </p:sp>
      <p:sp>
        <p:nvSpPr>
          <p:cNvPr id="56" name="Text 54"/>
          <p:cNvSpPr txBox="1"/>
          <p:nvPr/>
        </p:nvSpPr>
        <p:spPr>
          <a:xfrm>
            <a:off x="822960" y="51297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11</a:t>
            </a:r>
            <a:endParaRPr lang="en-US" sz="1200" dirty="0"/>
          </a:p>
        </p:txBody>
      </p:sp>
      <p:sp>
        <p:nvSpPr>
          <p:cNvPr id="57" name="Text 55"/>
          <p:cNvSpPr txBox="1"/>
          <p:nvPr/>
        </p:nvSpPr>
        <p:spPr>
          <a:xfrm>
            <a:off x="1353312" y="505663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3 · Team and talent</a:t>
            </a:r>
            <a:endParaRPr lang="en-US" sz="1350" dirty="0"/>
          </a:p>
        </p:txBody>
      </p:sp>
      <p:sp>
        <p:nvSpPr>
          <p:cNvPr id="58" name="Text 56"/>
          <p:cNvSpPr txBox="1"/>
          <p:nvPr/>
        </p:nvSpPr>
        <p:spPr>
          <a:xfrm>
            <a:off x="1353312" y="533095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Dedicated, shared and the gap to close</a:t>
            </a:r>
            <a:endParaRPr lang="en-US" sz="1050" dirty="0"/>
          </a:p>
        </p:txBody>
      </p:sp>
      <p:sp>
        <p:nvSpPr>
          <p:cNvPr id="59" name="Shape 57"/>
          <p:cNvSpPr/>
          <p:nvPr/>
        </p:nvSpPr>
        <p:spPr>
          <a:xfrm>
            <a:off x="6263640" y="5029200"/>
            <a:ext cx="5257800" cy="576072"/>
          </a:xfrm>
          <a:prstGeom prst="roundRect">
            <a:avLst>
              <a:gd name="adj" fmla="val 12698"/>
            </a:avLst>
          </a:prstGeom>
          <a:solidFill>
            <a:srgbClr val="EDF2FA"/>
          </a:solidFill>
          <a:ln/>
        </p:spPr>
      </p:sp>
      <p:sp>
        <p:nvSpPr>
          <p:cNvPr id="60" name="Shape 58"/>
          <p:cNvSpPr/>
          <p:nvPr/>
        </p:nvSpPr>
        <p:spPr>
          <a:xfrm>
            <a:off x="6446520" y="5129784"/>
            <a:ext cx="365760" cy="365760"/>
          </a:xfrm>
          <a:prstGeom prst="ellipse">
            <a:avLst/>
          </a:prstGeom>
          <a:solidFill>
            <a:srgbClr val="3E5C8A"/>
          </a:solidFill>
          <a:ln/>
        </p:spPr>
      </p:sp>
      <p:sp>
        <p:nvSpPr>
          <p:cNvPr id="61" name="Text 59"/>
          <p:cNvSpPr txBox="1"/>
          <p:nvPr/>
        </p:nvSpPr>
        <p:spPr>
          <a:xfrm>
            <a:off x="6446520" y="51297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12</a:t>
            </a:r>
            <a:endParaRPr lang="en-US" sz="1200" dirty="0"/>
          </a:p>
        </p:txBody>
      </p:sp>
      <p:sp>
        <p:nvSpPr>
          <p:cNvPr id="62" name="Text 60"/>
          <p:cNvSpPr txBox="1"/>
          <p:nvPr/>
        </p:nvSpPr>
        <p:spPr>
          <a:xfrm>
            <a:off x="6976872" y="505663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4 · Eminence and positioning</a:t>
            </a:r>
            <a:endParaRPr lang="en-US" sz="1350" dirty="0"/>
          </a:p>
        </p:txBody>
      </p:sp>
      <p:sp>
        <p:nvSpPr>
          <p:cNvPr id="63" name="Text 61"/>
          <p:cNvSpPr txBox="1"/>
          <p:nvPr/>
        </p:nvSpPr>
        <p:spPr>
          <a:xfrm>
            <a:off x="6976872" y="533095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How the market comes to know us</a:t>
            </a:r>
            <a:endParaRPr lang="en-US" sz="1050" dirty="0"/>
          </a:p>
        </p:txBody>
      </p:sp>
      <p:sp>
        <p:nvSpPr>
          <p:cNvPr id="64" name="Shape 62"/>
          <p:cNvSpPr/>
          <p:nvPr/>
        </p:nvSpPr>
        <p:spPr>
          <a:xfrm>
            <a:off x="640080" y="5687568"/>
            <a:ext cx="5257800" cy="576072"/>
          </a:xfrm>
          <a:prstGeom prst="roundRect">
            <a:avLst>
              <a:gd name="adj" fmla="val 12698"/>
            </a:avLst>
          </a:prstGeom>
          <a:solidFill>
            <a:srgbClr val="F2F6FC"/>
          </a:solidFill>
          <a:ln/>
        </p:spPr>
      </p:sp>
      <p:sp>
        <p:nvSpPr>
          <p:cNvPr id="65" name="Shape 63"/>
          <p:cNvSpPr/>
          <p:nvPr/>
        </p:nvSpPr>
        <p:spPr>
          <a:xfrm>
            <a:off x="822960" y="5788152"/>
            <a:ext cx="365760" cy="365760"/>
          </a:xfrm>
          <a:prstGeom prst="ellipse">
            <a:avLst/>
          </a:prstGeom>
          <a:solidFill>
            <a:srgbClr val="1E2761"/>
          </a:solidFill>
          <a:ln/>
        </p:spPr>
      </p:sp>
      <p:sp>
        <p:nvSpPr>
          <p:cNvPr id="66" name="Text 64"/>
          <p:cNvSpPr txBox="1"/>
          <p:nvPr/>
        </p:nvSpPr>
        <p:spPr>
          <a:xfrm>
            <a:off x="822960" y="57881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13</a:t>
            </a:r>
            <a:endParaRPr lang="en-US" sz="1200" dirty="0"/>
          </a:p>
        </p:txBody>
      </p:sp>
      <p:sp>
        <p:nvSpPr>
          <p:cNvPr id="67" name="Text 65"/>
          <p:cNvSpPr txBox="1"/>
          <p:nvPr/>
        </p:nvSpPr>
        <p:spPr>
          <a:xfrm>
            <a:off x="1353312" y="571500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4 · Alliances</a:t>
            </a:r>
            <a:endParaRPr lang="en-US" sz="1350" dirty="0"/>
          </a:p>
        </p:txBody>
      </p:sp>
      <p:sp>
        <p:nvSpPr>
          <p:cNvPr id="68" name="Text 66"/>
          <p:cNvSpPr txBox="1"/>
          <p:nvPr/>
        </p:nvSpPr>
        <p:spPr>
          <a:xfrm>
            <a:off x="1353312" y="598932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Who we go to market with, and for what</a:t>
            </a:r>
            <a:endParaRPr lang="en-US" sz="1050" dirty="0"/>
          </a:p>
        </p:txBody>
      </p:sp>
      <p:sp>
        <p:nvSpPr>
          <p:cNvPr id="69" name="Shape 67"/>
          <p:cNvSpPr/>
          <p:nvPr/>
        </p:nvSpPr>
        <p:spPr>
          <a:xfrm>
            <a:off x="6263640" y="5687568"/>
            <a:ext cx="5257800" cy="576072"/>
          </a:xfrm>
          <a:prstGeom prst="roundRect">
            <a:avLst>
              <a:gd name="adj" fmla="val 12698"/>
            </a:avLst>
          </a:prstGeom>
          <a:solidFill>
            <a:srgbClr val="EDF2FA"/>
          </a:solidFill>
          <a:ln/>
        </p:spPr>
      </p:sp>
      <p:sp>
        <p:nvSpPr>
          <p:cNvPr id="70" name="Shape 68"/>
          <p:cNvSpPr/>
          <p:nvPr/>
        </p:nvSpPr>
        <p:spPr>
          <a:xfrm>
            <a:off x="6446520" y="5788152"/>
            <a:ext cx="365760" cy="365760"/>
          </a:xfrm>
          <a:prstGeom prst="ellipse">
            <a:avLst/>
          </a:prstGeom>
          <a:solidFill>
            <a:srgbClr val="3E5C8A"/>
          </a:solidFill>
          <a:ln/>
        </p:spPr>
      </p:sp>
      <p:sp>
        <p:nvSpPr>
          <p:cNvPr id="71" name="Text 69"/>
          <p:cNvSpPr txBox="1"/>
          <p:nvPr/>
        </p:nvSpPr>
        <p:spPr>
          <a:xfrm>
            <a:off x="6446520" y="57881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14</a:t>
            </a:r>
            <a:endParaRPr lang="en-US" sz="1200" dirty="0"/>
          </a:p>
        </p:txBody>
      </p:sp>
      <p:sp>
        <p:nvSpPr>
          <p:cNvPr id="72" name="Text 70"/>
          <p:cNvSpPr txBox="1"/>
          <p:nvPr/>
        </p:nvSpPr>
        <p:spPr>
          <a:xfrm>
            <a:off x="6976872" y="571500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The three-week journey</a:t>
            </a:r>
            <a:endParaRPr lang="en-US" sz="1350" dirty="0"/>
          </a:p>
        </p:txBody>
      </p:sp>
      <p:sp>
        <p:nvSpPr>
          <p:cNvPr id="73" name="Text 71"/>
          <p:cNvSpPr txBox="1"/>
          <p:nvPr/>
        </p:nvSpPr>
        <p:spPr>
          <a:xfrm>
            <a:off x="6976872" y="598932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Week by week, with a gate each week</a:t>
            </a:r>
            <a:endParaRPr lang="en-US" sz="1050" dirty="0"/>
          </a:p>
        </p:txBody>
      </p:sp>
      <p:sp>
        <p:nvSpPr>
          <p:cNvPr id="74" name="Shape 72"/>
          <p:cNvSpPr/>
          <p:nvPr/>
        </p:nvSpPr>
        <p:spPr>
          <a:xfrm>
            <a:off x="640080" y="6345936"/>
            <a:ext cx="5257800" cy="576072"/>
          </a:xfrm>
          <a:prstGeom prst="roundRect">
            <a:avLst>
              <a:gd name="adj" fmla="val 12698"/>
            </a:avLst>
          </a:prstGeom>
          <a:solidFill>
            <a:srgbClr val="F2F6FC"/>
          </a:solidFill>
          <a:ln/>
        </p:spPr>
      </p:sp>
      <p:sp>
        <p:nvSpPr>
          <p:cNvPr id="75" name="Shape 73"/>
          <p:cNvSpPr/>
          <p:nvPr/>
        </p:nvSpPr>
        <p:spPr>
          <a:xfrm>
            <a:off x="822960" y="6446520"/>
            <a:ext cx="365760" cy="365760"/>
          </a:xfrm>
          <a:prstGeom prst="ellipse">
            <a:avLst/>
          </a:prstGeom>
          <a:solidFill>
            <a:srgbClr val="1E2761"/>
          </a:solidFill>
          <a:ln/>
        </p:spPr>
      </p:sp>
      <p:sp>
        <p:nvSpPr>
          <p:cNvPr id="76" name="Text 74"/>
          <p:cNvSpPr txBox="1"/>
          <p:nvPr/>
        </p:nvSpPr>
        <p:spPr>
          <a:xfrm>
            <a:off x="822960" y="64465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15</a:t>
            </a:r>
            <a:endParaRPr lang="en-US" sz="1200" dirty="0"/>
          </a:p>
        </p:txBody>
      </p:sp>
      <p:sp>
        <p:nvSpPr>
          <p:cNvPr id="77" name="Text 75"/>
          <p:cNvSpPr txBox="1"/>
          <p:nvPr/>
        </p:nvSpPr>
        <p:spPr>
          <a:xfrm>
            <a:off x="1353312" y="6373368"/>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The discipline · Governing the execution</a:t>
            </a:r>
            <a:endParaRPr lang="en-US" sz="1350" dirty="0"/>
          </a:p>
        </p:txBody>
      </p:sp>
      <p:sp>
        <p:nvSpPr>
          <p:cNvPr id="78" name="Text 76"/>
          <p:cNvSpPr txBox="1"/>
          <p:nvPr/>
        </p:nvSpPr>
        <p:spPr>
          <a:xfrm>
            <a:off x="1353312" y="6647688"/>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and scorecard after sign-off</a:t>
            </a:r>
            <a:endParaRPr lang="en-US" sz="1050" dirty="0"/>
          </a:p>
        </p:txBody>
      </p:sp>
      <p:sp>
        <p:nvSpPr>
          <p:cNvPr id="79" name="Shape 77"/>
          <p:cNvSpPr/>
          <p:nvPr/>
        </p:nvSpPr>
        <p:spPr>
          <a:xfrm>
            <a:off x="6263640" y="6345936"/>
            <a:ext cx="5257800" cy="576072"/>
          </a:xfrm>
          <a:prstGeom prst="roundRect">
            <a:avLst>
              <a:gd name="adj" fmla="val 12698"/>
            </a:avLst>
          </a:prstGeom>
          <a:solidFill>
            <a:srgbClr val="EDF2FA"/>
          </a:solidFill>
          <a:ln/>
        </p:spPr>
      </p:sp>
      <p:sp>
        <p:nvSpPr>
          <p:cNvPr id="80" name="Shape 78"/>
          <p:cNvSpPr/>
          <p:nvPr/>
        </p:nvSpPr>
        <p:spPr>
          <a:xfrm>
            <a:off x="6446520" y="6446520"/>
            <a:ext cx="365760" cy="365760"/>
          </a:xfrm>
          <a:prstGeom prst="ellipse">
            <a:avLst/>
          </a:prstGeom>
          <a:solidFill>
            <a:srgbClr val="3E5C8A"/>
          </a:solidFill>
          <a:ln/>
        </p:spPr>
      </p:sp>
      <p:sp>
        <p:nvSpPr>
          <p:cNvPr id="81" name="Text 79"/>
          <p:cNvSpPr txBox="1"/>
          <p:nvPr/>
        </p:nvSpPr>
        <p:spPr>
          <a:xfrm>
            <a:off x="6446520" y="64465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16</a:t>
            </a:r>
            <a:endParaRPr lang="en-US" sz="1200" dirty="0"/>
          </a:p>
        </p:txBody>
      </p:sp>
      <p:sp>
        <p:nvSpPr>
          <p:cNvPr id="82" name="Text 80"/>
          <p:cNvSpPr txBox="1"/>
          <p:nvPr/>
        </p:nvSpPr>
        <p:spPr>
          <a:xfrm>
            <a:off x="6976872" y="6373368"/>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How we run the cycle</a:t>
            </a:r>
            <a:endParaRPr lang="en-US" sz="1350" dirty="0"/>
          </a:p>
        </p:txBody>
      </p:sp>
      <p:sp>
        <p:nvSpPr>
          <p:cNvPr id="83" name="Text 81"/>
          <p:cNvSpPr txBox="1"/>
          <p:nvPr/>
        </p:nvSpPr>
        <p:spPr>
          <a:xfrm>
            <a:off x="6976872" y="6647688"/>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Cadence, inputs and decisions requested</a:t>
            </a:r>
            <a:endParaRPr lang="en-US" sz="1050" dirty="0"/>
          </a:p>
        </p:txBody>
      </p:sp>
      <p:sp>
        <p:nvSpPr>
          <p:cNvPr id="84" name="Text 82"/>
          <p:cNvSpPr txBox="1"/>
          <p:nvPr/>
        </p:nvSpPr>
        <p:spPr>
          <a:xfrm>
            <a:off x="640080" y="635508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strategy must cover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FSI segments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Tier one and tier two</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and revenue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Offerings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Flavours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and construct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capacity and recruitment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industry we mean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Financial services is three segments, and they are not interchangeable.</a:t>
            </a:r>
            <a:endParaRPr lang="en-US" sz="1450" dirty="0"/>
          </a:p>
        </p:txBody>
      </p:sp>
      <p:sp>
        <p:nvSpPr>
          <p:cNvPr id="4" name="Shape 2"/>
          <p:cNvSpPr/>
          <p:nvPr/>
        </p:nvSpPr>
        <p:spPr>
          <a:xfrm>
            <a:off x="640080" y="1828800"/>
            <a:ext cx="3520440" cy="3200400"/>
          </a:xfrm>
          <a:prstGeom prst="roundRect">
            <a:avLst>
              <a:gd name="adj" fmla="val 3429"/>
            </a:avLst>
          </a:prstGeom>
          <a:solidFill>
            <a:srgbClr val="EDF2FA"/>
          </a:solidFill>
          <a:ln/>
        </p:spPr>
      </p:sp>
      <p:sp>
        <p:nvSpPr>
          <p:cNvPr id="5" name="Shape 3"/>
          <p:cNvSpPr/>
          <p:nvPr/>
        </p:nvSpPr>
        <p:spPr>
          <a:xfrm>
            <a:off x="640080" y="1828800"/>
            <a:ext cx="3520440" cy="868680"/>
          </a:xfrm>
          <a:prstGeom prst="rect">
            <a:avLst/>
          </a:prstGeom>
          <a:solidFill>
            <a:srgbClr val="1E2761"/>
          </a:solidFill>
          <a:ln/>
        </p:spPr>
      </p:sp>
      <p:sp>
        <p:nvSpPr>
          <p:cNvPr id="6" name="Text 4"/>
          <p:cNvSpPr txBox="1"/>
          <p:nvPr/>
        </p:nvSpPr>
        <p:spPr>
          <a:xfrm>
            <a:off x="914400"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Banking</a:t>
            </a:r>
            <a:endParaRPr lang="en-US" sz="1900" dirty="0"/>
          </a:p>
        </p:txBody>
      </p:sp>
      <p:sp>
        <p:nvSpPr>
          <p:cNvPr id="7" name="Text 5"/>
          <p:cNvSpPr txBox="1"/>
          <p:nvPr/>
        </p:nvSpPr>
        <p:spPr>
          <a:xfrm>
            <a:off x="914400"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Priority segment</a:t>
            </a:r>
            <a:endParaRPr lang="en-US" sz="1150" dirty="0"/>
          </a:p>
        </p:txBody>
      </p:sp>
      <p:sp>
        <p:nvSpPr>
          <p:cNvPr id="8" name="Text 6"/>
          <p:cNvSpPr txBox="1"/>
          <p:nvPr/>
        </p:nvSpPr>
        <p:spPr>
          <a:xfrm>
            <a:off x="3383280"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9" name="Text 7"/>
          <p:cNvSpPr txBox="1"/>
          <p:nvPr/>
        </p:nvSpPr>
        <p:spPr>
          <a:xfrm>
            <a:off x="914400"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Retail, corporate and SME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Islamic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Payments and cards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Greenfield and challenger banks</a:t>
            </a:r>
            <a:endParaRPr lang="en-US" sz="1200" dirty="0"/>
          </a:p>
        </p:txBody>
      </p:sp>
      <p:sp>
        <p:nvSpPr>
          <p:cNvPr id="10" name="Shape 8"/>
          <p:cNvSpPr/>
          <p:nvPr/>
        </p:nvSpPr>
        <p:spPr>
          <a:xfrm>
            <a:off x="4325112" y="1828800"/>
            <a:ext cx="3520440" cy="3200400"/>
          </a:xfrm>
          <a:prstGeom prst="roundRect">
            <a:avLst>
              <a:gd name="adj" fmla="val 3429"/>
            </a:avLst>
          </a:prstGeom>
          <a:solidFill>
            <a:srgbClr val="EDF2FA"/>
          </a:solidFill>
          <a:ln/>
        </p:spPr>
      </p:sp>
      <p:sp>
        <p:nvSpPr>
          <p:cNvPr id="11" name="Shape 9"/>
          <p:cNvSpPr/>
          <p:nvPr/>
        </p:nvSpPr>
        <p:spPr>
          <a:xfrm>
            <a:off x="4325112" y="1828800"/>
            <a:ext cx="3520440" cy="868680"/>
          </a:xfrm>
          <a:prstGeom prst="rect">
            <a:avLst/>
          </a:prstGeom>
          <a:solidFill>
            <a:srgbClr val="3E5C8A"/>
          </a:solidFill>
          <a:ln/>
        </p:spPr>
      </p:sp>
      <p:sp>
        <p:nvSpPr>
          <p:cNvPr id="12" name="Text 10"/>
          <p:cNvSpPr txBox="1"/>
          <p:nvPr/>
        </p:nvSpPr>
        <p:spPr>
          <a:xfrm>
            <a:off x="4599432"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Funds</a:t>
            </a:r>
            <a:endParaRPr lang="en-US" sz="1900" dirty="0"/>
          </a:p>
        </p:txBody>
      </p:sp>
      <p:sp>
        <p:nvSpPr>
          <p:cNvPr id="13" name="Text 11"/>
          <p:cNvSpPr txBox="1"/>
          <p:nvPr/>
        </p:nvSpPr>
        <p:spPr>
          <a:xfrm>
            <a:off x="4599432"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Second priority</a:t>
            </a:r>
            <a:endParaRPr lang="en-US" sz="1150" dirty="0"/>
          </a:p>
        </p:txBody>
      </p:sp>
      <p:sp>
        <p:nvSpPr>
          <p:cNvPr id="14" name="Text 12"/>
          <p:cNvSpPr txBox="1"/>
          <p:nvPr/>
        </p:nvSpPr>
        <p:spPr>
          <a:xfrm>
            <a:off x="7068312"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txBox="1"/>
          <p:nvPr/>
        </p:nvSpPr>
        <p:spPr>
          <a:xfrm>
            <a:off x="4599432"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Sovereign wealth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National and development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Fund and investment management</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Investment operations and custody</a:t>
            </a:r>
            <a:endParaRPr lang="en-US" sz="1200" dirty="0"/>
          </a:p>
        </p:txBody>
      </p:sp>
      <p:sp>
        <p:nvSpPr>
          <p:cNvPr id="16" name="Shape 14"/>
          <p:cNvSpPr/>
          <p:nvPr/>
        </p:nvSpPr>
        <p:spPr>
          <a:xfrm>
            <a:off x="8010144" y="1828800"/>
            <a:ext cx="3520440" cy="3200400"/>
          </a:xfrm>
          <a:prstGeom prst="roundRect">
            <a:avLst>
              <a:gd name="adj" fmla="val 3429"/>
            </a:avLst>
          </a:prstGeom>
          <a:solidFill>
            <a:srgbClr val="EDF2FA"/>
          </a:solidFill>
          <a:ln/>
        </p:spPr>
      </p:sp>
      <p:sp>
        <p:nvSpPr>
          <p:cNvPr id="17" name="Shape 15"/>
          <p:cNvSpPr/>
          <p:nvPr/>
        </p:nvSpPr>
        <p:spPr>
          <a:xfrm>
            <a:off x="8010144" y="1828800"/>
            <a:ext cx="3520440" cy="868680"/>
          </a:xfrm>
          <a:prstGeom prst="rect">
            <a:avLst/>
          </a:prstGeom>
          <a:solidFill>
            <a:srgbClr val="1E2761"/>
          </a:solidFill>
          <a:ln/>
        </p:spPr>
      </p:sp>
      <p:sp>
        <p:nvSpPr>
          <p:cNvPr id="18" name="Text 16"/>
          <p:cNvSpPr txBox="1"/>
          <p:nvPr/>
        </p:nvSpPr>
        <p:spPr>
          <a:xfrm>
            <a:off x="8284464"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Insurance</a:t>
            </a:r>
            <a:endParaRPr lang="en-US" sz="1900" dirty="0"/>
          </a:p>
        </p:txBody>
      </p:sp>
      <p:sp>
        <p:nvSpPr>
          <p:cNvPr id="19" name="Text 17"/>
          <p:cNvSpPr txBox="1"/>
          <p:nvPr/>
        </p:nvSpPr>
        <p:spPr>
          <a:xfrm>
            <a:off x="8284464"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Third priority</a:t>
            </a:r>
            <a:endParaRPr lang="en-US" sz="1150" dirty="0"/>
          </a:p>
        </p:txBody>
      </p:sp>
      <p:sp>
        <p:nvSpPr>
          <p:cNvPr id="20" name="Text 18"/>
          <p:cNvSpPr txBox="1"/>
          <p:nvPr/>
        </p:nvSpPr>
        <p:spPr>
          <a:xfrm>
            <a:off x="10753344"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1" name="Text 19"/>
          <p:cNvSpPr txBox="1"/>
          <p:nvPr/>
        </p:nvSpPr>
        <p:spPr>
          <a:xfrm>
            <a:off x="8284464"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Life and general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Takaful</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Health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Brokers and reinsurance</a:t>
            </a:r>
            <a:endParaRPr lang="en-US" sz="1200" dirty="0"/>
          </a:p>
        </p:txBody>
      </p:sp>
      <p:sp>
        <p:nvSpPr>
          <p:cNvPr id="22" name="Shape 20"/>
          <p:cNvSpPr/>
          <p:nvPr/>
        </p:nvSpPr>
        <p:spPr>
          <a:xfrm>
            <a:off x="640080" y="5212080"/>
            <a:ext cx="10881360" cy="914400"/>
          </a:xfrm>
          <a:prstGeom prst="roundRect">
            <a:avLst>
              <a:gd name="adj" fmla="val 10000"/>
            </a:avLst>
          </a:prstGeom>
          <a:solidFill>
            <a:srgbClr val="1E2761"/>
          </a:solidFill>
          <a:ln/>
        </p:spPr>
      </p:sp>
      <p:sp>
        <p:nvSpPr>
          <p:cNvPr id="23" name="Text 21"/>
          <p:cNvSpPr txBox="1"/>
          <p:nvPr/>
        </p:nvSpPr>
        <p:spPr>
          <a:xfrm>
            <a:off x="914400" y="5212080"/>
            <a:ext cx="10332720" cy="9144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Segment is a dimension throughout: every proposition says which segments it serves, every account carries its segment, and targets are set by market and segment, not for FSI as a whole.</a:t>
            </a:r>
            <a:endParaRPr lang="en-US" sz="1300" dirty="0"/>
          </a:p>
        </p:txBody>
      </p:sp>
      <p:sp>
        <p:nvSpPr>
          <p:cNvPr id="24" name="Text 22"/>
          <p:cNvSpPr txBox="1"/>
          <p:nvPr/>
        </p:nvSpPr>
        <p:spPr>
          <a:xfrm>
            <a:off x="640080" y="621792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Sub-segments are indicative; the cycle confirms which we actually pursue.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Where we start: the vision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All three carry the integrated, end-to-end theme. They differ on the edge we claim on top of it.</a:t>
            </a:r>
            <a:endParaRPr lang="en-US" sz="1450" dirty="0"/>
          </a:p>
        </p:txBody>
      </p:sp>
      <p:sp>
        <p:nvSpPr>
          <p:cNvPr id="4" name="Shape 2"/>
          <p:cNvSpPr/>
          <p:nvPr/>
        </p:nvSpPr>
        <p:spPr>
          <a:xfrm>
            <a:off x="640080" y="1828800"/>
            <a:ext cx="3520440" cy="3611880"/>
          </a:xfrm>
          <a:prstGeom prst="roundRect">
            <a:avLst>
              <a:gd name="adj" fmla="val 3117"/>
            </a:avLst>
          </a:prstGeom>
          <a:solidFill>
            <a:srgbClr val="E4EBF7"/>
          </a:solidFill>
          <a:ln/>
        </p:spPr>
      </p:sp>
      <p:sp>
        <p:nvSpPr>
          <p:cNvPr id="5" name="Shape 3"/>
          <p:cNvSpPr/>
          <p:nvPr/>
        </p:nvSpPr>
        <p:spPr>
          <a:xfrm>
            <a:off x="914400" y="2057400"/>
            <a:ext cx="420624" cy="420624"/>
          </a:xfrm>
          <a:prstGeom prst="ellipse">
            <a:avLst/>
          </a:prstGeom>
          <a:solidFill>
            <a:srgbClr val="1E2761"/>
          </a:solidFill>
          <a:ln/>
        </p:spPr>
      </p:sp>
      <p:sp>
        <p:nvSpPr>
          <p:cNvPr id="6" name="Text 4"/>
          <p:cNvSpPr txBox="1"/>
          <p:nvPr/>
        </p:nvSpPr>
        <p:spPr>
          <a:xfrm>
            <a:off x="914400"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end-to-end partner</a:t>
            </a:r>
            <a:endParaRPr lang="en-US" sz="1550" dirty="0"/>
          </a:p>
        </p:txBody>
      </p:sp>
      <p:sp>
        <p:nvSpPr>
          <p:cNvPr id="8" name="Text 6"/>
          <p:cNvSpPr txBox="1"/>
          <p:nvPr/>
        </p:nvSpPr>
        <p:spPr>
          <a:xfrm>
            <a:off x="914400"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“One partner for everything technology in financial services: whatever a bank, a fund or an insurer needs designed, built, modernised or run, we bring it end to end — our capabilities and our alliances working as one team.”</a:t>
            </a:r>
            <a:endParaRPr lang="en-US" sz="1150" dirty="0"/>
          </a:p>
        </p:txBody>
      </p:sp>
      <p:sp>
        <p:nvSpPr>
          <p:cNvPr id="9" name="Text 7"/>
          <p:cNvSpPr txBox="1"/>
          <p:nvPr/>
        </p:nvSpPr>
        <p:spPr>
          <a:xfrm>
            <a:off x="914400"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Edge: breadth and single accountability.</a:t>
            </a:r>
            <a:endParaRPr lang="en-US" sz="1150" dirty="0"/>
          </a:p>
        </p:txBody>
      </p:sp>
      <p:sp>
        <p:nvSpPr>
          <p:cNvPr id="10" name="Text 8"/>
          <p:cNvSpPr txBox="1"/>
          <p:nvPr/>
        </p:nvSpPr>
        <p:spPr>
          <a:xfrm>
            <a:off x="914400"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Risk: breadth alone is claimable by every large SI.</a:t>
            </a:r>
            <a:endParaRPr lang="en-US" sz="1050" dirty="0"/>
          </a:p>
        </p:txBody>
      </p:sp>
      <p:sp>
        <p:nvSpPr>
          <p:cNvPr id="11" name="Shape 9"/>
          <p:cNvSpPr/>
          <p:nvPr/>
        </p:nvSpPr>
        <p:spPr>
          <a:xfrm>
            <a:off x="4325112" y="1828800"/>
            <a:ext cx="3520440" cy="3611880"/>
          </a:xfrm>
          <a:prstGeom prst="roundRect">
            <a:avLst>
              <a:gd name="adj" fmla="val 3117"/>
            </a:avLst>
          </a:prstGeom>
          <a:solidFill>
            <a:srgbClr val="EDF2FA"/>
          </a:solidFill>
          <a:ln/>
        </p:spPr>
      </p:sp>
      <p:sp>
        <p:nvSpPr>
          <p:cNvPr id="12" name="Shape 10"/>
          <p:cNvSpPr/>
          <p:nvPr/>
        </p:nvSpPr>
        <p:spPr>
          <a:xfrm>
            <a:off x="4599432" y="2057400"/>
            <a:ext cx="420624" cy="420624"/>
          </a:xfrm>
          <a:prstGeom prst="ellipse">
            <a:avLst/>
          </a:prstGeom>
          <a:solidFill>
            <a:srgbClr val="3E5C8A"/>
          </a:solidFill>
          <a:ln/>
        </p:spPr>
      </p:sp>
      <p:sp>
        <p:nvSpPr>
          <p:cNvPr id="13" name="Text 11"/>
          <p:cNvSpPr txBox="1"/>
          <p:nvPr/>
        </p:nvSpPr>
        <p:spPr>
          <a:xfrm>
            <a:off x="4599432"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AI-native, end to end</a:t>
            </a:r>
            <a:endParaRPr lang="en-US" sz="1550" dirty="0"/>
          </a:p>
        </p:txBody>
      </p:sp>
      <p:sp>
        <p:nvSpPr>
          <p:cNvPr id="15" name="Text 13"/>
          <p:cNvSpPr txBox="1"/>
          <p:nvPr/>
        </p:nvSpPr>
        <p:spPr>
          <a:xfrm>
            <a:off x="4599432"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make financial institutions AI-native: core, data, engineering and alliances brought as one team, so intelligence runs through the institution rather than beside it — and one partner is accountable for all of it.”</a:t>
            </a:r>
            <a:endParaRPr lang="en-US" sz="1150" dirty="0"/>
          </a:p>
        </p:txBody>
      </p:sp>
      <p:sp>
        <p:nvSpPr>
          <p:cNvPr id="16" name="Text 14"/>
          <p:cNvSpPr txBox="1"/>
          <p:nvPr/>
        </p:nvSpPr>
        <p:spPr>
          <a:xfrm>
            <a:off x="4599432"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Edge: AI as the through-line of everything we sell.</a:t>
            </a:r>
            <a:endParaRPr lang="en-US" sz="1150" dirty="0"/>
          </a:p>
        </p:txBody>
      </p:sp>
      <p:sp>
        <p:nvSpPr>
          <p:cNvPr id="17" name="Text 15"/>
          <p:cNvSpPr txBox="1"/>
          <p:nvPr/>
        </p:nvSpPr>
        <p:spPr>
          <a:xfrm>
            <a:off x="4599432"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Risk: must be provable in every proposition, or it is a slogan.</a:t>
            </a:r>
            <a:endParaRPr lang="en-US" sz="1050" dirty="0"/>
          </a:p>
        </p:txBody>
      </p:sp>
      <p:sp>
        <p:nvSpPr>
          <p:cNvPr id="18" name="Shape 16"/>
          <p:cNvSpPr/>
          <p:nvPr/>
        </p:nvSpPr>
        <p:spPr>
          <a:xfrm>
            <a:off x="8010144" y="1828800"/>
            <a:ext cx="3520440" cy="3611880"/>
          </a:xfrm>
          <a:prstGeom prst="roundRect">
            <a:avLst>
              <a:gd name="adj" fmla="val 3117"/>
            </a:avLst>
          </a:prstGeom>
          <a:solidFill>
            <a:srgbClr val="E4EBF7"/>
          </a:solidFill>
          <a:ln/>
        </p:spPr>
      </p:sp>
      <p:sp>
        <p:nvSpPr>
          <p:cNvPr id="19" name="Shape 17"/>
          <p:cNvSpPr/>
          <p:nvPr/>
        </p:nvSpPr>
        <p:spPr>
          <a:xfrm>
            <a:off x="8284464" y="2057400"/>
            <a:ext cx="420624" cy="420624"/>
          </a:xfrm>
          <a:prstGeom prst="ellipse">
            <a:avLst/>
          </a:prstGeom>
          <a:solidFill>
            <a:srgbClr val="1E2761"/>
          </a:solidFill>
          <a:ln/>
        </p:spPr>
      </p:sp>
      <p:sp>
        <p:nvSpPr>
          <p:cNvPr id="20" name="Text 18"/>
          <p:cNvSpPr txBox="1"/>
          <p:nvPr/>
        </p:nvSpPr>
        <p:spPr>
          <a:xfrm>
            <a:off x="8284464"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Known for the industry, built to execute</a:t>
            </a:r>
            <a:endParaRPr lang="en-US" sz="1550" dirty="0"/>
          </a:p>
        </p:txBody>
      </p:sp>
      <p:sp>
        <p:nvSpPr>
          <p:cNvPr id="22" name="Text 20"/>
          <p:cNvSpPr txBox="1"/>
          <p:nvPr/>
        </p:nvSpPr>
        <p:spPr>
          <a:xfrm>
            <a:off x="8284464"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“The team banks, funds and insurers call first: we know their business as deeply as their technology, and we bring everything needed to execute — ours and our partners’ — as one team.”</a:t>
            </a:r>
            <a:endParaRPr lang="en-US" sz="1150" dirty="0"/>
          </a:p>
        </p:txBody>
      </p:sp>
      <p:sp>
        <p:nvSpPr>
          <p:cNvPr id="23" name="Text 21"/>
          <p:cNvSpPr txBox="1"/>
          <p:nvPr/>
        </p:nvSpPr>
        <p:spPr>
          <a:xfrm>
            <a:off x="8284464"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Edge: domain depth plus end-to-end delivery.</a:t>
            </a:r>
            <a:endParaRPr lang="en-US" sz="1150" dirty="0"/>
          </a:p>
        </p:txBody>
      </p:sp>
      <p:sp>
        <p:nvSpPr>
          <p:cNvPr id="24" name="Text 22"/>
          <p:cNvSpPr txBox="1"/>
          <p:nvPr/>
        </p:nvSpPr>
        <p:spPr>
          <a:xfrm>
            <a:off x="8284464"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Risk: quieter claim, harder to headline.</a:t>
            </a:r>
            <a:endParaRPr lang="en-US" sz="1050" dirty="0"/>
          </a:p>
        </p:txBody>
      </p:sp>
      <p:sp>
        <p:nvSpPr>
          <p:cNvPr id="25" name="Shape 23"/>
          <p:cNvSpPr/>
          <p:nvPr/>
        </p:nvSpPr>
        <p:spPr>
          <a:xfrm>
            <a:off x="640080" y="5577840"/>
            <a:ext cx="10881360" cy="822960"/>
          </a:xfrm>
          <a:prstGeom prst="roundRect">
            <a:avLst>
              <a:gd name="adj" fmla="val 11111"/>
            </a:avLst>
          </a:prstGeom>
          <a:solidFill>
            <a:srgbClr val="1E2761"/>
          </a:solidFill>
          <a:ln/>
        </p:spPr>
      </p:sp>
      <p:sp>
        <p:nvSpPr>
          <p:cNvPr id="26" name="Text 24"/>
          <p:cNvSpPr txBox="1"/>
          <p:nvPr/>
        </p:nvSpPr>
        <p:spPr>
          <a:xfrm>
            <a:off x="914400" y="55778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Common to all three: one partner, end to end, our capabilities and our alliances as one team. The test is what we claim on top of that — and whether a competitor could lift it word for word.</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Tier one and tier two</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where the energy goes, and where we stay present without over-investing.</a:t>
            </a:r>
            <a:endParaRPr lang="en-US" sz="1450" dirty="0"/>
          </a:p>
        </p:txBody>
      </p:sp>
      <p:sp>
        <p:nvSpPr>
          <p:cNvPr id="4" name="Shape 2"/>
          <p:cNvSpPr/>
          <p:nvPr/>
        </p:nvSpPr>
        <p:spPr>
          <a:xfrm>
            <a:off x="640080" y="1828800"/>
            <a:ext cx="5303520" cy="3291840"/>
          </a:xfrm>
          <a:prstGeom prst="roundRect">
            <a:avLst>
              <a:gd name="adj" fmla="val 3333"/>
            </a:avLst>
          </a:prstGeom>
          <a:solidFill>
            <a:srgbClr val="EDF2FA"/>
          </a:solidFill>
          <a:ln/>
        </p:spPr>
      </p:sp>
      <p:sp>
        <p:nvSpPr>
          <p:cNvPr id="5" name="Shape 3"/>
          <p:cNvSpPr/>
          <p:nvPr/>
        </p:nvSpPr>
        <p:spPr>
          <a:xfrm>
            <a:off x="640080" y="1828800"/>
            <a:ext cx="5303520" cy="868680"/>
          </a:xfrm>
          <a:prstGeom prst="rect">
            <a:avLst/>
          </a:prstGeom>
          <a:solidFill>
            <a:srgbClr val="1E2761"/>
          </a:solidFill>
          <a:ln/>
        </p:spPr>
      </p:sp>
      <p:sp>
        <p:nvSpPr>
          <p:cNvPr id="6" name="Text 4"/>
          <p:cNvSpPr txBox="1"/>
          <p:nvPr/>
        </p:nvSpPr>
        <p:spPr>
          <a:xfrm>
            <a:off x="91440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one</a:t>
            </a:r>
            <a:endParaRPr lang="en-US" sz="2000" dirty="0"/>
          </a:p>
        </p:txBody>
      </p:sp>
      <p:sp>
        <p:nvSpPr>
          <p:cNvPr id="7" name="Text 5"/>
          <p:cNvSpPr txBox="1"/>
          <p:nvPr/>
        </p:nvSpPr>
        <p:spPr>
          <a:xfrm>
            <a:off x="91440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Priority geographies and named accounts</a:t>
            </a:r>
            <a:endParaRPr lang="en-US" sz="1200" dirty="0"/>
          </a:p>
        </p:txBody>
      </p:sp>
      <p:sp>
        <p:nvSpPr>
          <p:cNvPr id="8" name="Text 6"/>
          <p:cNvSpPr txBox="1"/>
          <p:nvPr/>
        </p:nvSpPr>
        <p:spPr>
          <a:xfrm>
            <a:off x="91440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Active, deliberate coverage — people walking the corridors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Named individual account targets, each with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Individual revenue targets, gross and net</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Where the metrics, the eminence and the investment concentrate</a:t>
            </a:r>
            <a:endParaRPr lang="en-US" sz="1250" dirty="0"/>
          </a:p>
        </p:txBody>
      </p:sp>
      <p:sp>
        <p:nvSpPr>
          <p:cNvPr id="9" name="Shape 7"/>
          <p:cNvSpPr/>
          <p:nvPr/>
        </p:nvSpPr>
        <p:spPr>
          <a:xfrm>
            <a:off x="6217920" y="1828800"/>
            <a:ext cx="5303520" cy="3291840"/>
          </a:xfrm>
          <a:prstGeom prst="roundRect">
            <a:avLst>
              <a:gd name="adj" fmla="val 3333"/>
            </a:avLst>
          </a:prstGeom>
          <a:solidFill>
            <a:srgbClr val="EDF2FA"/>
          </a:solidFill>
          <a:ln/>
        </p:spPr>
      </p:sp>
      <p:sp>
        <p:nvSpPr>
          <p:cNvPr id="10" name="Shape 8"/>
          <p:cNvSpPr/>
          <p:nvPr/>
        </p:nvSpPr>
        <p:spPr>
          <a:xfrm>
            <a:off x="6217920" y="1828800"/>
            <a:ext cx="5303520" cy="868680"/>
          </a:xfrm>
          <a:prstGeom prst="rect">
            <a:avLst/>
          </a:prstGeom>
          <a:solidFill>
            <a:srgbClr val="3E5C8A"/>
          </a:solidFill>
          <a:ln/>
        </p:spPr>
      </p:sp>
      <p:sp>
        <p:nvSpPr>
          <p:cNvPr id="11" name="Text 9"/>
          <p:cNvSpPr txBox="1"/>
          <p:nvPr/>
        </p:nvSpPr>
        <p:spPr>
          <a:xfrm>
            <a:off x="649224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two</a:t>
            </a:r>
            <a:endParaRPr lang="en-US" sz="2000" dirty="0"/>
          </a:p>
        </p:txBody>
      </p:sp>
      <p:sp>
        <p:nvSpPr>
          <p:cNvPr id="12" name="Text 10"/>
          <p:cNvSpPr txBox="1"/>
          <p:nvPr/>
        </p:nvSpPr>
        <p:spPr>
          <a:xfrm>
            <a:off x="649224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Emerging and reactive</a:t>
            </a:r>
            <a:endParaRPr lang="en-US" sz="1200" dirty="0"/>
          </a:p>
        </p:txBody>
      </p:sp>
      <p:sp>
        <p:nvSpPr>
          <p:cNvPr id="13" name="Text 11"/>
          <p:cNvSpPr txBox="1"/>
          <p:nvPr/>
        </p:nvSpPr>
        <p:spPr>
          <a:xfrm>
            <a:off x="649224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Managed as clusters and groups, not one by one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Reactive pursuit: we respond, we do not camp there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Light coverage — a named watcher rather than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Promoted to tier one when the signal justifies it</a:t>
            </a:r>
            <a:endParaRPr lang="en-US" sz="1250" dirty="0"/>
          </a:p>
        </p:txBody>
      </p:sp>
      <p:sp>
        <p:nvSpPr>
          <p:cNvPr id="14" name="Shape 12"/>
          <p:cNvSpPr/>
          <p:nvPr/>
        </p:nvSpPr>
        <p:spPr>
          <a:xfrm>
            <a:off x="640080" y="5303520"/>
            <a:ext cx="10881360" cy="868680"/>
          </a:xfrm>
          <a:prstGeom prst="roundRect">
            <a:avLst>
              <a:gd name="adj" fmla="val 10526"/>
            </a:avLst>
          </a:prstGeom>
          <a:solidFill>
            <a:srgbClr val="1E2761"/>
          </a:solidFill>
          <a:ln/>
        </p:spPr>
      </p:sp>
      <p:sp>
        <p:nvSpPr>
          <p:cNvPr id="15" name="Text 13"/>
          <p:cNvSpPr txBox="1"/>
          <p:nvPr/>
        </p:nvSpPr>
        <p:spPr>
          <a:xfrm>
            <a:off x="914400" y="5303520"/>
            <a:ext cx="10332720" cy="8686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Tiering applies to geographies and to accounts, across all three segments. Tier two keeps us present in what is emerging without diluting tier one.</a:t>
            </a:r>
            <a:endParaRPr lang="en-US" sz="1300" dirty="0"/>
          </a:p>
        </p:txBody>
      </p:sp>
      <p:sp>
        <p:nvSpPr>
          <p:cNvPr id="16" name="Text 14"/>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Promotion and demotion criteria, and the tier one list itself, are set in the cycle.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691640"/>
            <a:ext cx="5257800" cy="1051560"/>
          </a:xfrm>
          <a:prstGeom prst="roundRect">
            <a:avLst>
              <a:gd name="adj" fmla="val 8696"/>
            </a:avLst>
          </a:prstGeom>
          <a:solidFill>
            <a:srgbClr val="EDF2FA"/>
          </a:solidFill>
          <a:ln/>
        </p:spPr>
      </p:sp>
      <p:sp>
        <p:nvSpPr>
          <p:cNvPr id="5" name="Shape 3"/>
          <p:cNvSpPr/>
          <p:nvPr/>
        </p:nvSpPr>
        <p:spPr>
          <a:xfrm>
            <a:off x="896112" y="1892808"/>
            <a:ext cx="365760" cy="365760"/>
          </a:xfrm>
          <a:prstGeom prst="ellipse">
            <a:avLst/>
          </a:prstGeom>
          <a:solidFill>
            <a:srgbClr val="1E2761"/>
          </a:solidFill>
          <a:ln/>
        </p:spPr>
      </p:sp>
      <p:sp>
        <p:nvSpPr>
          <p:cNvPr id="6" name="Text 4"/>
          <p:cNvSpPr txBox="1"/>
          <p:nvPr/>
        </p:nvSpPr>
        <p:spPr>
          <a:xfrm>
            <a:off x="89611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Integrated, not siloed</a:t>
            </a:r>
            <a:endParaRPr lang="en-US" sz="1550" dirty="0"/>
          </a:p>
        </p:txBody>
      </p:sp>
      <p:sp>
        <p:nvSpPr>
          <p:cNvPr id="8" name="Text 6"/>
          <p:cNvSpPr txBox="1"/>
          <p:nvPr/>
        </p:nvSpPr>
        <p:spPr>
          <a:xfrm>
            <a:off x="141732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150" dirty="0"/>
          </a:p>
        </p:txBody>
      </p:sp>
      <p:sp>
        <p:nvSpPr>
          <p:cNvPr id="9" name="Shape 7"/>
          <p:cNvSpPr/>
          <p:nvPr/>
        </p:nvSpPr>
        <p:spPr>
          <a:xfrm>
            <a:off x="6263640" y="1691640"/>
            <a:ext cx="5257800" cy="1051560"/>
          </a:xfrm>
          <a:prstGeom prst="roundRect">
            <a:avLst>
              <a:gd name="adj" fmla="val 8696"/>
            </a:avLst>
          </a:prstGeom>
          <a:solidFill>
            <a:srgbClr val="EDF2FA"/>
          </a:solidFill>
          <a:ln/>
        </p:spPr>
      </p:sp>
      <p:sp>
        <p:nvSpPr>
          <p:cNvPr id="10" name="Shape 8"/>
          <p:cNvSpPr/>
          <p:nvPr/>
        </p:nvSpPr>
        <p:spPr>
          <a:xfrm>
            <a:off x="6519672" y="1892808"/>
            <a:ext cx="365760" cy="365760"/>
          </a:xfrm>
          <a:prstGeom prst="ellipse">
            <a:avLst/>
          </a:prstGeom>
          <a:solidFill>
            <a:srgbClr val="3E5C8A"/>
          </a:solidFill>
          <a:ln/>
        </p:spPr>
      </p:sp>
      <p:sp>
        <p:nvSpPr>
          <p:cNvPr id="11" name="Text 9"/>
          <p:cNvSpPr txBox="1"/>
          <p:nvPr/>
        </p:nvSpPr>
        <p:spPr>
          <a:xfrm>
            <a:off x="651967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04088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Named accounts, not averages</a:t>
            </a:r>
            <a:endParaRPr lang="en-US" sz="1550" dirty="0"/>
          </a:p>
        </p:txBody>
      </p:sp>
      <p:sp>
        <p:nvSpPr>
          <p:cNvPr id="13" name="Text 11"/>
          <p:cNvSpPr txBox="1"/>
          <p:nvPr/>
        </p:nvSpPr>
        <p:spPr>
          <a:xfrm>
            <a:off x="704088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150" dirty="0"/>
          </a:p>
        </p:txBody>
      </p:sp>
      <p:sp>
        <p:nvSpPr>
          <p:cNvPr id="14" name="Shape 12"/>
          <p:cNvSpPr/>
          <p:nvPr/>
        </p:nvSpPr>
        <p:spPr>
          <a:xfrm>
            <a:off x="640080" y="2862072"/>
            <a:ext cx="5257800" cy="1051560"/>
          </a:xfrm>
          <a:prstGeom prst="roundRect">
            <a:avLst>
              <a:gd name="adj" fmla="val 8696"/>
            </a:avLst>
          </a:prstGeom>
          <a:solidFill>
            <a:srgbClr val="EDF2FA"/>
          </a:solidFill>
          <a:ln/>
        </p:spPr>
      </p:sp>
      <p:sp>
        <p:nvSpPr>
          <p:cNvPr id="15" name="Shape 13"/>
          <p:cNvSpPr/>
          <p:nvPr/>
        </p:nvSpPr>
        <p:spPr>
          <a:xfrm>
            <a:off x="896112" y="3063240"/>
            <a:ext cx="365760" cy="365760"/>
          </a:xfrm>
          <a:prstGeom prst="ellipse">
            <a:avLst/>
          </a:prstGeom>
          <a:solidFill>
            <a:srgbClr val="1E2761"/>
          </a:solidFill>
          <a:ln/>
        </p:spPr>
      </p:sp>
      <p:sp>
        <p:nvSpPr>
          <p:cNvPr id="16" name="Text 14"/>
          <p:cNvSpPr txBox="1"/>
          <p:nvPr/>
        </p:nvSpPr>
        <p:spPr>
          <a:xfrm>
            <a:off x="89611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1732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Sized and priced</a:t>
            </a:r>
            <a:endParaRPr lang="en-US" sz="1550" dirty="0"/>
          </a:p>
        </p:txBody>
      </p:sp>
      <p:sp>
        <p:nvSpPr>
          <p:cNvPr id="18" name="Text 16"/>
          <p:cNvSpPr txBox="1"/>
          <p:nvPr/>
        </p:nvSpPr>
        <p:spPr>
          <a:xfrm>
            <a:off x="141732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150" dirty="0"/>
          </a:p>
        </p:txBody>
      </p:sp>
      <p:sp>
        <p:nvSpPr>
          <p:cNvPr id="19" name="Shape 17"/>
          <p:cNvSpPr/>
          <p:nvPr/>
        </p:nvSpPr>
        <p:spPr>
          <a:xfrm>
            <a:off x="6263640" y="2862072"/>
            <a:ext cx="5257800" cy="1051560"/>
          </a:xfrm>
          <a:prstGeom prst="roundRect">
            <a:avLst>
              <a:gd name="adj" fmla="val 8696"/>
            </a:avLst>
          </a:prstGeom>
          <a:solidFill>
            <a:srgbClr val="EDF2FA"/>
          </a:solidFill>
          <a:ln/>
        </p:spPr>
      </p:sp>
      <p:sp>
        <p:nvSpPr>
          <p:cNvPr id="20" name="Shape 18"/>
          <p:cNvSpPr/>
          <p:nvPr/>
        </p:nvSpPr>
        <p:spPr>
          <a:xfrm>
            <a:off x="6519672" y="3063240"/>
            <a:ext cx="365760" cy="365760"/>
          </a:xfrm>
          <a:prstGeom prst="ellipse">
            <a:avLst/>
          </a:prstGeom>
          <a:solidFill>
            <a:srgbClr val="3E5C8A"/>
          </a:solidFill>
          <a:ln/>
        </p:spPr>
      </p:sp>
      <p:sp>
        <p:nvSpPr>
          <p:cNvPr id="21" name="Text 19"/>
          <p:cNvSpPr txBox="1"/>
          <p:nvPr/>
        </p:nvSpPr>
        <p:spPr>
          <a:xfrm>
            <a:off x="651967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04088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Covered by a partner</a:t>
            </a:r>
            <a:endParaRPr lang="en-US" sz="1550" dirty="0"/>
          </a:p>
        </p:txBody>
      </p:sp>
      <p:sp>
        <p:nvSpPr>
          <p:cNvPr id="23" name="Text 21"/>
          <p:cNvSpPr txBox="1"/>
          <p:nvPr/>
        </p:nvSpPr>
        <p:spPr>
          <a:xfrm>
            <a:off x="704088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150" dirty="0"/>
          </a:p>
        </p:txBody>
      </p:sp>
      <p:sp>
        <p:nvSpPr>
          <p:cNvPr id="24" name="Shape 22"/>
          <p:cNvSpPr/>
          <p:nvPr/>
        </p:nvSpPr>
        <p:spPr>
          <a:xfrm>
            <a:off x="640080" y="4032504"/>
            <a:ext cx="5257800" cy="1051560"/>
          </a:xfrm>
          <a:prstGeom prst="roundRect">
            <a:avLst>
              <a:gd name="adj" fmla="val 8696"/>
            </a:avLst>
          </a:prstGeom>
          <a:solidFill>
            <a:srgbClr val="EDF2FA"/>
          </a:solidFill>
          <a:ln/>
        </p:spPr>
      </p:sp>
      <p:sp>
        <p:nvSpPr>
          <p:cNvPr id="25" name="Shape 23"/>
          <p:cNvSpPr/>
          <p:nvPr/>
        </p:nvSpPr>
        <p:spPr>
          <a:xfrm>
            <a:off x="896112" y="4233672"/>
            <a:ext cx="365760" cy="365760"/>
          </a:xfrm>
          <a:prstGeom prst="ellipse">
            <a:avLst/>
          </a:prstGeom>
          <a:solidFill>
            <a:srgbClr val="1E2761"/>
          </a:solidFill>
          <a:ln/>
        </p:spPr>
      </p:sp>
      <p:sp>
        <p:nvSpPr>
          <p:cNvPr id="26" name="Text 24"/>
          <p:cNvSpPr txBox="1"/>
          <p:nvPr/>
        </p:nvSpPr>
        <p:spPr>
          <a:xfrm>
            <a:off x="89611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1732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Deliverable by design</a:t>
            </a:r>
            <a:endParaRPr lang="en-US" sz="1550" dirty="0"/>
          </a:p>
        </p:txBody>
      </p:sp>
      <p:sp>
        <p:nvSpPr>
          <p:cNvPr id="28" name="Text 26"/>
          <p:cNvSpPr txBox="1"/>
          <p:nvPr/>
        </p:nvSpPr>
        <p:spPr>
          <a:xfrm>
            <a:off x="141732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150" dirty="0"/>
          </a:p>
        </p:txBody>
      </p:sp>
      <p:sp>
        <p:nvSpPr>
          <p:cNvPr id="29" name="Shape 27"/>
          <p:cNvSpPr/>
          <p:nvPr/>
        </p:nvSpPr>
        <p:spPr>
          <a:xfrm>
            <a:off x="6263640" y="4032504"/>
            <a:ext cx="5257800" cy="1051560"/>
          </a:xfrm>
          <a:prstGeom prst="roundRect">
            <a:avLst>
              <a:gd name="adj" fmla="val 8696"/>
            </a:avLst>
          </a:prstGeom>
          <a:solidFill>
            <a:srgbClr val="EDF2FA"/>
          </a:solidFill>
          <a:ln/>
        </p:spPr>
      </p:sp>
      <p:sp>
        <p:nvSpPr>
          <p:cNvPr id="30" name="Shape 28"/>
          <p:cNvSpPr/>
          <p:nvPr/>
        </p:nvSpPr>
        <p:spPr>
          <a:xfrm>
            <a:off x="6519672" y="4233672"/>
            <a:ext cx="365760" cy="365760"/>
          </a:xfrm>
          <a:prstGeom prst="ellipse">
            <a:avLst/>
          </a:prstGeom>
          <a:solidFill>
            <a:srgbClr val="3E5C8A"/>
          </a:solidFill>
          <a:ln/>
        </p:spPr>
      </p:sp>
      <p:sp>
        <p:nvSpPr>
          <p:cNvPr id="31" name="Text 29"/>
          <p:cNvSpPr txBox="1"/>
          <p:nvPr/>
        </p:nvSpPr>
        <p:spPr>
          <a:xfrm>
            <a:off x="651967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704088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Domain-specific, not agnostic</a:t>
            </a:r>
            <a:endParaRPr lang="en-US" sz="1550" dirty="0"/>
          </a:p>
        </p:txBody>
      </p:sp>
      <p:sp>
        <p:nvSpPr>
          <p:cNvPr id="33" name="Text 31"/>
          <p:cNvSpPr txBox="1"/>
          <p:nvPr/>
        </p:nvSpPr>
        <p:spPr>
          <a:xfrm>
            <a:off x="704088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Each FSI segment is specialised and clients expect it: propositions, credentials and CVs speak that segment’s language.</a:t>
            </a:r>
            <a:endParaRPr lang="en-US" sz="1150" dirty="0"/>
          </a:p>
        </p:txBody>
      </p:sp>
      <p:sp>
        <p:nvSpPr>
          <p:cNvPr id="34" name="Shape 32"/>
          <p:cNvSpPr/>
          <p:nvPr/>
        </p:nvSpPr>
        <p:spPr>
          <a:xfrm>
            <a:off x="640080" y="5202936"/>
            <a:ext cx="5257800" cy="1051560"/>
          </a:xfrm>
          <a:prstGeom prst="roundRect">
            <a:avLst>
              <a:gd name="adj" fmla="val 8696"/>
            </a:avLst>
          </a:prstGeom>
          <a:solidFill>
            <a:srgbClr val="EDF2FA"/>
          </a:solidFill>
          <a:ln/>
        </p:spPr>
      </p:sp>
      <p:sp>
        <p:nvSpPr>
          <p:cNvPr id="35" name="Shape 33"/>
          <p:cNvSpPr/>
          <p:nvPr/>
        </p:nvSpPr>
        <p:spPr>
          <a:xfrm>
            <a:off x="896112" y="5404104"/>
            <a:ext cx="365760" cy="365760"/>
          </a:xfrm>
          <a:prstGeom prst="ellipse">
            <a:avLst/>
          </a:prstGeom>
          <a:solidFill>
            <a:srgbClr val="1E2761"/>
          </a:solidFill>
          <a:ln/>
        </p:spPr>
      </p:sp>
      <p:sp>
        <p:nvSpPr>
          <p:cNvPr id="36" name="Text 34"/>
          <p:cNvSpPr txBox="1"/>
          <p:nvPr/>
        </p:nvSpPr>
        <p:spPr>
          <a:xfrm>
            <a:off x="89611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41732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AI and innovation embedded</a:t>
            </a:r>
            <a:endParaRPr lang="en-US" sz="1550" dirty="0"/>
          </a:p>
        </p:txBody>
      </p:sp>
      <p:sp>
        <p:nvSpPr>
          <p:cNvPr id="38" name="Text 36"/>
          <p:cNvSpPr txBox="1"/>
          <p:nvPr/>
        </p:nvSpPr>
        <p:spPr>
          <a:xfrm>
            <a:off x="141732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150" dirty="0"/>
          </a:p>
        </p:txBody>
      </p:sp>
      <p:sp>
        <p:nvSpPr>
          <p:cNvPr id="39" name="Shape 37"/>
          <p:cNvSpPr/>
          <p:nvPr/>
        </p:nvSpPr>
        <p:spPr>
          <a:xfrm>
            <a:off x="6263640" y="5202936"/>
            <a:ext cx="5257800" cy="1051560"/>
          </a:xfrm>
          <a:prstGeom prst="roundRect">
            <a:avLst>
              <a:gd name="adj" fmla="val 8696"/>
            </a:avLst>
          </a:prstGeom>
          <a:solidFill>
            <a:srgbClr val="EDF2FA"/>
          </a:solidFill>
          <a:ln/>
        </p:spPr>
      </p:sp>
      <p:sp>
        <p:nvSpPr>
          <p:cNvPr id="40" name="Shape 38"/>
          <p:cNvSpPr/>
          <p:nvPr/>
        </p:nvSpPr>
        <p:spPr>
          <a:xfrm>
            <a:off x="6519672" y="5404104"/>
            <a:ext cx="365760" cy="365760"/>
          </a:xfrm>
          <a:prstGeom prst="ellipse">
            <a:avLst/>
          </a:prstGeom>
          <a:solidFill>
            <a:srgbClr val="3E5C8A"/>
          </a:solidFill>
          <a:ln/>
        </p:spPr>
      </p:sp>
      <p:sp>
        <p:nvSpPr>
          <p:cNvPr id="41" name="Text 39"/>
          <p:cNvSpPr txBox="1"/>
          <p:nvPr/>
        </p:nvSpPr>
        <p:spPr>
          <a:xfrm>
            <a:off x="651967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704088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One integrated market team</a:t>
            </a:r>
            <a:endParaRPr lang="en-US" sz="1550" dirty="0"/>
          </a:p>
        </p:txBody>
      </p:sp>
      <p:sp>
        <p:nvSpPr>
          <p:cNvPr id="43" name="Text 41"/>
          <p:cNvSpPr txBox="1"/>
          <p:nvPr/>
        </p:nvSpPr>
        <p:spPr>
          <a:xfrm>
            <a:off x="704088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150" dirty="0"/>
          </a:p>
        </p:txBody>
      </p:sp>
      <p:sp>
        <p:nvSpPr>
          <p:cNvPr id="44" name="Text 42"/>
          <p:cNvSpPr txBox="1"/>
          <p:nvPr/>
        </p:nvSpPr>
        <p:spPr>
          <a:xfrm>
            <a:off x="640080" y="635508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Choose the vision, then frame the ambition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Price bands, ADR and target margin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per account, gross and net, against capacity</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segments, tiering,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Offerings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flavours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construct, pricing, margin, team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and core platforms across banking, funds and insurance,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Text 25"/>
          <p:cNvSpPr txBox="1"/>
          <p:nvPr/>
        </p:nvSpPr>
        <p:spPr>
          <a:xfrm>
            <a:off x="640080" y="53035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Pillar ownership across the five workstreams is assigned from this group at kick-off; every artefact carries one name.</a:t>
            </a:r>
            <a:endParaRPr lang="en-US" sz="1300" dirty="0"/>
          </a:p>
        </p:txBody>
      </p:sp>
      <p:sp>
        <p:nvSpPr>
          <p:cNvPr id="28" name="Text 26"/>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00" dirty="0">
                <a:solidFill>
                  <a:srgbClr val="8792AB"/>
                </a:solidFill>
                <a:latin typeface="Calibri" pitchFamily="34" charset="0"/>
                <a:ea typeface="Calibri" pitchFamily="34" charset="-122"/>
                <a:cs typeface="Calibri" pitchFamily="34" charset="-120"/>
              </a:rPr>
              <a:t>Wider contributors — account partners, alliance leads, resourcing and finance — are pulled in per workstream rather than sitting on the core team.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onshore, nearshore and offshore mix it is priced on</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and per segment: a core banking programme, a fund platform build and an AI activation carry different constructs, rates and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Rates, ratios and margin targets are set in the cycle and recorded in the offering economics template.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in three parts.</a:t>
            </a:r>
            <a:endParaRPr lang="en-US" sz="1450" dirty="0"/>
          </a:p>
        </p:txBody>
      </p:sp>
      <p:sp>
        <p:nvSpPr>
          <p:cNvPr id="4" name="Shape 2"/>
          <p:cNvSpPr/>
          <p:nvPr/>
        </p:nvSpPr>
        <p:spPr>
          <a:xfrm>
            <a:off x="640080" y="1828800"/>
            <a:ext cx="3429000" cy="3383280"/>
          </a:xfrm>
          <a:prstGeom prst="roundRect">
            <a:avLst>
              <a:gd name="adj" fmla="val 3243"/>
            </a:avLst>
          </a:prstGeom>
          <a:solidFill>
            <a:srgbClr val="EDF2FA"/>
          </a:solidFill>
          <a:ln/>
        </p:spPr>
      </p:sp>
      <p:sp>
        <p:nvSpPr>
          <p:cNvPr id="5" name="Shape 3"/>
          <p:cNvSpPr/>
          <p:nvPr/>
        </p:nvSpPr>
        <p:spPr>
          <a:xfrm>
            <a:off x="640080" y="1828800"/>
            <a:ext cx="3429000" cy="658368"/>
          </a:xfrm>
          <a:prstGeom prst="rect">
            <a:avLst/>
          </a:prstGeom>
          <a:solidFill>
            <a:srgbClr val="1E2761"/>
          </a:solidFill>
          <a:ln/>
        </p:spPr>
      </p:sp>
      <p:sp>
        <p:nvSpPr>
          <p:cNvPr id="6" name="Text 4"/>
          <p:cNvSpPr txBox="1"/>
          <p:nvPr/>
        </p:nvSpPr>
        <p:spPr>
          <a:xfrm>
            <a:off x="914400"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dedicated team</a:t>
            </a:r>
            <a:endParaRPr lang="en-US" sz="1700" dirty="0"/>
          </a:p>
        </p:txBody>
      </p:sp>
      <p:sp>
        <p:nvSpPr>
          <p:cNvPr id="7" name="Text 5"/>
          <p:cNvSpPr txBox="1"/>
          <p:nvPr/>
        </p:nvSpPr>
        <p:spPr>
          <a:xfrm>
            <a:off x="914400"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Who works on FSI exclusively, across the three practices?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roles and levels do they hold?</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What is realistically deliverable with them alone?</a:t>
            </a:r>
            <a:endParaRPr lang="en-US" sz="1250" dirty="0"/>
          </a:p>
        </p:txBody>
      </p:sp>
      <p:sp>
        <p:nvSpPr>
          <p:cNvPr id="8" name="Shape 6"/>
          <p:cNvSpPr/>
          <p:nvPr/>
        </p:nvSpPr>
        <p:spPr>
          <a:xfrm>
            <a:off x="4361688" y="1828800"/>
            <a:ext cx="3429000" cy="3383280"/>
          </a:xfrm>
          <a:prstGeom prst="roundRect">
            <a:avLst>
              <a:gd name="adj" fmla="val 3243"/>
            </a:avLst>
          </a:prstGeom>
          <a:solidFill>
            <a:srgbClr val="EDF2FA"/>
          </a:solidFill>
          <a:ln/>
        </p:spPr>
      </p:sp>
      <p:sp>
        <p:nvSpPr>
          <p:cNvPr id="9" name="Shape 7"/>
          <p:cNvSpPr/>
          <p:nvPr/>
        </p:nvSpPr>
        <p:spPr>
          <a:xfrm>
            <a:off x="4361688" y="1828800"/>
            <a:ext cx="3429000" cy="658368"/>
          </a:xfrm>
          <a:prstGeom prst="rect">
            <a:avLst/>
          </a:prstGeom>
          <a:solidFill>
            <a:srgbClr val="3E5C8A"/>
          </a:solidFill>
          <a:ln/>
        </p:spPr>
      </p:sp>
      <p:sp>
        <p:nvSpPr>
          <p:cNvPr id="10" name="Text 8"/>
          <p:cNvSpPr txBox="1"/>
          <p:nvPr/>
        </p:nvSpPr>
        <p:spPr>
          <a:xfrm>
            <a:off x="4636008"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Shared capacity</a:t>
            </a:r>
            <a:endParaRPr lang="en-US" sz="1700" dirty="0"/>
          </a:p>
        </p:txBody>
      </p:sp>
      <p:sp>
        <p:nvSpPr>
          <p:cNvPr id="11" name="Text 9"/>
          <p:cNvSpPr txBox="1"/>
          <p:nvPr/>
        </p:nvSpPr>
        <p:spPr>
          <a:xfrm>
            <a:off x="4636008"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resources are shared with other portfolios?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much of their time can we count on?</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skills do we borrow rather than own?</a:t>
            </a:r>
            <a:endParaRPr lang="en-US" sz="1250" dirty="0"/>
          </a:p>
        </p:txBody>
      </p:sp>
      <p:sp>
        <p:nvSpPr>
          <p:cNvPr id="12" name="Shape 10"/>
          <p:cNvSpPr/>
          <p:nvPr/>
        </p:nvSpPr>
        <p:spPr>
          <a:xfrm>
            <a:off x="8083296" y="1828800"/>
            <a:ext cx="3429000" cy="3383280"/>
          </a:xfrm>
          <a:prstGeom prst="roundRect">
            <a:avLst>
              <a:gd name="adj" fmla="val 3243"/>
            </a:avLst>
          </a:prstGeom>
          <a:solidFill>
            <a:srgbClr val="EDF2FA"/>
          </a:solidFill>
          <a:ln/>
        </p:spPr>
      </p:sp>
      <p:sp>
        <p:nvSpPr>
          <p:cNvPr id="13" name="Shape 11"/>
          <p:cNvSpPr/>
          <p:nvPr/>
        </p:nvSpPr>
        <p:spPr>
          <a:xfrm>
            <a:off x="8083296" y="1828800"/>
            <a:ext cx="3429000" cy="658368"/>
          </a:xfrm>
          <a:prstGeom prst="rect">
            <a:avLst/>
          </a:prstGeom>
          <a:solidFill>
            <a:srgbClr val="1E2761"/>
          </a:solidFill>
          <a:ln/>
        </p:spPr>
      </p:sp>
      <p:sp>
        <p:nvSpPr>
          <p:cNvPr id="14" name="Text 12"/>
          <p:cNvSpPr txBox="1"/>
          <p:nvPr/>
        </p:nvSpPr>
        <p:spPr>
          <a:xfrm>
            <a:off x="8357616"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gap to close</a:t>
            </a:r>
            <a:endParaRPr lang="en-US" sz="1700" dirty="0"/>
          </a:p>
        </p:txBody>
      </p:sp>
      <p:sp>
        <p:nvSpPr>
          <p:cNvPr id="15" name="Text 13"/>
          <p:cNvSpPr txBox="1"/>
          <p:nvPr/>
        </p:nvSpPr>
        <p:spPr>
          <a:xfrm>
            <a:off x="8357616"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Build, borrow or buy for each gap?</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By when, to support the targets we set?</a:t>
            </a:r>
            <a:endParaRPr lang="en-US" sz="1250" dirty="0"/>
          </a:p>
        </p:txBody>
      </p:sp>
      <p:sp>
        <p:nvSpPr>
          <p:cNvPr id="16" name="Shape 14"/>
          <p:cNvSpPr/>
          <p:nvPr/>
        </p:nvSpPr>
        <p:spPr>
          <a:xfrm>
            <a:off x="3566160" y="5440680"/>
            <a:ext cx="5029200" cy="301752"/>
          </a:xfrm>
          <a:prstGeom prst="roundRect">
            <a:avLst>
              <a:gd name="adj" fmla="val 48485"/>
            </a:avLst>
          </a:prstGeom>
          <a:solidFill>
            <a:srgbClr val="FFFFFF"/>
          </a:solidFill>
          <a:ln w="12700">
            <a:solidFill>
              <a:srgbClr val="B8862B"/>
            </a:solidFill>
            <a:prstDash val="solid"/>
          </a:ln>
        </p:spPr>
      </p:sp>
      <p:sp>
        <p:nvSpPr>
          <p:cNvPr id="17" name="Text 15"/>
          <p:cNvSpPr txBox="1"/>
          <p:nvPr/>
        </p:nvSpPr>
        <p:spPr>
          <a:xfrm>
            <a:off x="3566160" y="544068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18" name="Text 16"/>
          <p:cNvSpPr txBox="1"/>
          <p:nvPr/>
        </p:nvSpPr>
        <p:spPr>
          <a:xfrm>
            <a:off x="640080" y="59893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Talent is treated as a strategy output, not an afterthought: targets we cannot staff are not targets.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two categories, used for different things.</a:t>
            </a:r>
            <a:endParaRPr lang="en-US" sz="1450" dirty="0"/>
          </a:p>
        </p:txBody>
      </p:sp>
      <p:sp>
        <p:nvSpPr>
          <p:cNvPr id="4" name="Shape 2"/>
          <p:cNvSpPr/>
          <p:nvPr/>
        </p:nvSpPr>
        <p:spPr>
          <a:xfrm>
            <a:off x="640080" y="1783080"/>
            <a:ext cx="10881360" cy="1874520"/>
          </a:xfrm>
          <a:prstGeom prst="roundRect">
            <a:avLst>
              <a:gd name="adj" fmla="val 5854"/>
            </a:avLst>
          </a:prstGeom>
          <a:solidFill>
            <a:srgbClr val="EDF2FA"/>
          </a:solidFill>
          <a:ln/>
        </p:spPr>
      </p:sp>
      <p:sp>
        <p:nvSpPr>
          <p:cNvPr id="5" name="Shape 3"/>
          <p:cNvSpPr/>
          <p:nvPr/>
        </p:nvSpPr>
        <p:spPr>
          <a:xfrm>
            <a:off x="640080" y="1783080"/>
            <a:ext cx="2514600" cy="1874520"/>
          </a:xfrm>
          <a:prstGeom prst="rect">
            <a:avLst/>
          </a:prstGeom>
          <a:solidFill>
            <a:srgbClr val="1E2761"/>
          </a:solidFill>
          <a:ln/>
        </p:spPr>
      </p:sp>
      <p:sp>
        <p:nvSpPr>
          <p:cNvPr id="6" name="Text 4"/>
          <p:cNvSpPr txBox="1"/>
          <p:nvPr/>
        </p:nvSpPr>
        <p:spPr>
          <a:xfrm>
            <a:off x="841248" y="187452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Broad technology</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alliances</a:t>
            </a:r>
            <a:endParaRPr lang="en-US" sz="1450" dirty="0"/>
          </a:p>
        </p:txBody>
      </p:sp>
      <p:sp>
        <p:nvSpPr>
          <p:cNvPr id="7" name="Text 5"/>
          <p:cNvSpPr txBox="1"/>
          <p:nvPr/>
        </p:nvSpPr>
        <p:spPr>
          <a:xfrm>
            <a:off x="841248" y="274320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every proposition</a:t>
            </a:r>
            <a:endParaRPr lang="en-US" sz="1100" dirty="0"/>
          </a:p>
        </p:txBody>
      </p:sp>
      <p:sp>
        <p:nvSpPr>
          <p:cNvPr id="8" name="Shape 6"/>
          <p:cNvSpPr/>
          <p:nvPr/>
        </p:nvSpPr>
        <p:spPr>
          <a:xfrm>
            <a:off x="3429000" y="2011680"/>
            <a:ext cx="1783080" cy="685800"/>
          </a:xfrm>
          <a:prstGeom prst="roundRect">
            <a:avLst>
              <a:gd name="adj" fmla="val 13333"/>
            </a:avLst>
          </a:prstGeom>
          <a:solidFill>
            <a:srgbClr val="3E5C8A"/>
          </a:solidFill>
          <a:ln/>
        </p:spPr>
      </p:sp>
      <p:sp>
        <p:nvSpPr>
          <p:cNvPr id="9" name="Text 7"/>
          <p:cNvSpPr txBox="1"/>
          <p:nvPr/>
        </p:nvSpPr>
        <p:spPr>
          <a:xfrm>
            <a:off x="342900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Google</a:t>
            </a:r>
            <a:endParaRPr lang="en-US" sz="1500" dirty="0"/>
          </a:p>
        </p:txBody>
      </p:sp>
      <p:sp>
        <p:nvSpPr>
          <p:cNvPr id="10" name="Shape 8"/>
          <p:cNvSpPr/>
          <p:nvPr/>
        </p:nvSpPr>
        <p:spPr>
          <a:xfrm>
            <a:off x="5394960" y="2011680"/>
            <a:ext cx="1783080" cy="685800"/>
          </a:xfrm>
          <a:prstGeom prst="roundRect">
            <a:avLst>
              <a:gd name="adj" fmla="val 13333"/>
            </a:avLst>
          </a:prstGeom>
          <a:solidFill>
            <a:srgbClr val="3E5C8A"/>
          </a:solidFill>
          <a:ln/>
        </p:spPr>
      </p:sp>
      <p:sp>
        <p:nvSpPr>
          <p:cNvPr id="11" name="Text 9"/>
          <p:cNvSpPr txBox="1"/>
          <p:nvPr/>
        </p:nvSpPr>
        <p:spPr>
          <a:xfrm>
            <a:off x="539496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AWS</a:t>
            </a:r>
            <a:endParaRPr lang="en-US" sz="1500" dirty="0"/>
          </a:p>
        </p:txBody>
      </p:sp>
      <p:sp>
        <p:nvSpPr>
          <p:cNvPr id="12" name="Shape 10"/>
          <p:cNvSpPr/>
          <p:nvPr/>
        </p:nvSpPr>
        <p:spPr>
          <a:xfrm>
            <a:off x="7360920" y="2011680"/>
            <a:ext cx="1783080" cy="685800"/>
          </a:xfrm>
          <a:prstGeom prst="roundRect">
            <a:avLst>
              <a:gd name="adj" fmla="val 13333"/>
            </a:avLst>
          </a:prstGeom>
          <a:solidFill>
            <a:srgbClr val="3E5C8A"/>
          </a:solidFill>
          <a:ln/>
        </p:spPr>
      </p:sp>
      <p:sp>
        <p:nvSpPr>
          <p:cNvPr id="13" name="Text 11"/>
          <p:cNvSpPr txBox="1"/>
          <p:nvPr/>
        </p:nvSpPr>
        <p:spPr>
          <a:xfrm>
            <a:off x="736092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Microsoft</a:t>
            </a:r>
            <a:endParaRPr lang="en-US" sz="1500" dirty="0"/>
          </a:p>
        </p:txBody>
      </p:sp>
      <p:sp>
        <p:nvSpPr>
          <p:cNvPr id="14" name="Shape 12"/>
          <p:cNvSpPr/>
          <p:nvPr/>
        </p:nvSpPr>
        <p:spPr>
          <a:xfrm>
            <a:off x="9326880" y="2011680"/>
            <a:ext cx="1783080" cy="685800"/>
          </a:xfrm>
          <a:prstGeom prst="roundRect">
            <a:avLst>
              <a:gd name="adj" fmla="val 13333"/>
            </a:avLst>
          </a:prstGeom>
          <a:solidFill>
            <a:srgbClr val="3E5C8A"/>
          </a:solidFill>
          <a:ln/>
        </p:spPr>
      </p:sp>
      <p:sp>
        <p:nvSpPr>
          <p:cNvPr id="15" name="Text 13"/>
          <p:cNvSpPr txBox="1"/>
          <p:nvPr/>
        </p:nvSpPr>
        <p:spPr>
          <a:xfrm>
            <a:off x="932688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Oracle</a:t>
            </a:r>
            <a:endParaRPr lang="en-US" sz="1500" dirty="0"/>
          </a:p>
        </p:txBody>
      </p:sp>
      <p:sp>
        <p:nvSpPr>
          <p:cNvPr id="16" name="Text 14"/>
          <p:cNvSpPr txBox="1"/>
          <p:nvPr/>
        </p:nvSpPr>
        <p:spPr>
          <a:xfrm>
            <a:off x="3429000" y="2834640"/>
            <a:ext cx="7772400" cy="68580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Used for: co-sell into their accounts · funding and credits to activate use cases on their platform · platform credibility and certifications</a:t>
            </a:r>
            <a:endParaRPr lang="en-US" sz="1200" dirty="0"/>
          </a:p>
        </p:txBody>
      </p:sp>
      <p:sp>
        <p:nvSpPr>
          <p:cNvPr id="17" name="Shape 15"/>
          <p:cNvSpPr/>
          <p:nvPr/>
        </p:nvSpPr>
        <p:spPr>
          <a:xfrm>
            <a:off x="640080" y="3794760"/>
            <a:ext cx="10881360" cy="1874520"/>
          </a:xfrm>
          <a:prstGeom prst="roundRect">
            <a:avLst>
              <a:gd name="adj" fmla="val 5854"/>
            </a:avLst>
          </a:prstGeom>
          <a:solidFill>
            <a:srgbClr val="E4EBF7"/>
          </a:solidFill>
          <a:ln/>
        </p:spPr>
      </p:sp>
      <p:sp>
        <p:nvSpPr>
          <p:cNvPr id="18" name="Shape 16"/>
          <p:cNvSpPr/>
          <p:nvPr/>
        </p:nvSpPr>
        <p:spPr>
          <a:xfrm>
            <a:off x="640080" y="3794760"/>
            <a:ext cx="2514600" cy="1874520"/>
          </a:xfrm>
          <a:prstGeom prst="rect">
            <a:avLst/>
          </a:prstGeom>
          <a:solidFill>
            <a:srgbClr val="3E5C8A"/>
          </a:solidFill>
          <a:ln/>
        </p:spPr>
      </p:sp>
      <p:sp>
        <p:nvSpPr>
          <p:cNvPr id="19" name="Text 17"/>
          <p:cNvSpPr txBox="1"/>
          <p:nvPr/>
        </p:nvSpPr>
        <p:spPr>
          <a:xfrm>
            <a:off x="841248" y="388620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Specialised</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product vendors</a:t>
            </a:r>
            <a:endParaRPr lang="en-US" sz="1450" dirty="0"/>
          </a:p>
        </p:txBody>
      </p:sp>
      <p:sp>
        <p:nvSpPr>
          <p:cNvPr id="20" name="Text 18"/>
          <p:cNvSpPr txBox="1"/>
          <p:nvPr/>
        </p:nvSpPr>
        <p:spPr>
          <a:xfrm>
            <a:off x="841248" y="475488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specific offerings only</a:t>
            </a:r>
            <a:endParaRPr lang="en-US" sz="1100" dirty="0"/>
          </a:p>
        </p:txBody>
      </p:sp>
      <p:sp>
        <p:nvSpPr>
          <p:cNvPr id="21" name="Shape 19"/>
          <p:cNvSpPr/>
          <p:nvPr/>
        </p:nvSpPr>
        <p:spPr>
          <a:xfrm>
            <a:off x="3429000" y="3977640"/>
            <a:ext cx="3749040" cy="658368"/>
          </a:xfrm>
          <a:prstGeom prst="roundRect">
            <a:avLst>
              <a:gd name="adj" fmla="val 13889"/>
            </a:avLst>
          </a:prstGeom>
          <a:solidFill>
            <a:srgbClr val="FFFFFF"/>
          </a:solidFill>
          <a:ln/>
        </p:spPr>
      </p:sp>
      <p:sp>
        <p:nvSpPr>
          <p:cNvPr id="22" name="Text 20"/>
          <p:cNvSpPr txBox="1"/>
          <p:nvPr/>
        </p:nvSpPr>
        <p:spPr>
          <a:xfrm>
            <a:off x="361188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Core banking</a:t>
            </a:r>
            <a:endParaRPr lang="en-US" sz="1200" dirty="0"/>
          </a:p>
        </p:txBody>
      </p:sp>
      <p:sp>
        <p:nvSpPr>
          <p:cNvPr id="23" name="Text 21"/>
          <p:cNvSpPr txBox="1"/>
          <p:nvPr/>
        </p:nvSpPr>
        <p:spPr>
          <a:xfrm>
            <a:off x="544068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Temenos · Intellect</a:t>
            </a:r>
            <a:endParaRPr lang="en-US" sz="1150" dirty="0"/>
          </a:p>
        </p:txBody>
      </p:sp>
      <p:sp>
        <p:nvSpPr>
          <p:cNvPr id="24" name="Shape 22"/>
          <p:cNvSpPr/>
          <p:nvPr/>
        </p:nvSpPr>
        <p:spPr>
          <a:xfrm>
            <a:off x="7360920" y="3977640"/>
            <a:ext cx="3749040" cy="658368"/>
          </a:xfrm>
          <a:prstGeom prst="roundRect">
            <a:avLst>
              <a:gd name="adj" fmla="val 13889"/>
            </a:avLst>
          </a:prstGeom>
          <a:solidFill>
            <a:srgbClr val="FFFFFF"/>
          </a:solidFill>
          <a:ln/>
        </p:spPr>
      </p:sp>
      <p:sp>
        <p:nvSpPr>
          <p:cNvPr id="25" name="Text 23"/>
          <p:cNvSpPr txBox="1"/>
          <p:nvPr/>
        </p:nvSpPr>
        <p:spPr>
          <a:xfrm>
            <a:off x="754380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Data platforms</a:t>
            </a:r>
            <a:endParaRPr lang="en-US" sz="1200" dirty="0"/>
          </a:p>
        </p:txBody>
      </p:sp>
      <p:sp>
        <p:nvSpPr>
          <p:cNvPr id="26" name="Text 24"/>
          <p:cNvSpPr txBox="1"/>
          <p:nvPr/>
        </p:nvSpPr>
        <p:spPr>
          <a:xfrm>
            <a:off x="937260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Informatica · others</a:t>
            </a:r>
            <a:endParaRPr lang="en-US" sz="1150" dirty="0"/>
          </a:p>
        </p:txBody>
      </p:sp>
      <p:sp>
        <p:nvSpPr>
          <p:cNvPr id="27" name="Shape 25"/>
          <p:cNvSpPr/>
          <p:nvPr/>
        </p:nvSpPr>
        <p:spPr>
          <a:xfrm>
            <a:off x="3429000" y="4754880"/>
            <a:ext cx="3749040" cy="658368"/>
          </a:xfrm>
          <a:prstGeom prst="roundRect">
            <a:avLst>
              <a:gd name="adj" fmla="val 13889"/>
            </a:avLst>
          </a:prstGeom>
          <a:solidFill>
            <a:srgbClr val="FFFFFF"/>
          </a:solidFill>
          <a:ln/>
        </p:spPr>
      </p:sp>
      <p:sp>
        <p:nvSpPr>
          <p:cNvPr id="28" name="Text 26"/>
          <p:cNvSpPr txBox="1"/>
          <p:nvPr/>
        </p:nvSpPr>
        <p:spPr>
          <a:xfrm>
            <a:off x="361188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Origination</a:t>
            </a:r>
            <a:endParaRPr lang="en-US" sz="1200" dirty="0"/>
          </a:p>
        </p:txBody>
      </p:sp>
      <p:sp>
        <p:nvSpPr>
          <p:cNvPr id="29" name="Text 27"/>
          <p:cNvSpPr txBox="1"/>
          <p:nvPr/>
        </p:nvSpPr>
        <p:spPr>
          <a:xfrm>
            <a:off x="544068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0" name="Shape 28"/>
          <p:cNvSpPr/>
          <p:nvPr/>
        </p:nvSpPr>
        <p:spPr>
          <a:xfrm>
            <a:off x="7360920" y="4754880"/>
            <a:ext cx="3749040" cy="658368"/>
          </a:xfrm>
          <a:prstGeom prst="roundRect">
            <a:avLst>
              <a:gd name="adj" fmla="val 13889"/>
            </a:avLst>
          </a:prstGeom>
          <a:solidFill>
            <a:srgbClr val="FFFFFF"/>
          </a:solidFill>
          <a:ln/>
        </p:spPr>
      </p:sp>
      <p:sp>
        <p:nvSpPr>
          <p:cNvPr id="31" name="Text 29"/>
          <p:cNvSpPr txBox="1"/>
          <p:nvPr/>
        </p:nvSpPr>
        <p:spPr>
          <a:xfrm>
            <a:off x="754380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Insurance and fund core</a:t>
            </a:r>
            <a:endParaRPr lang="en-US" sz="1200" dirty="0"/>
          </a:p>
        </p:txBody>
      </p:sp>
      <p:sp>
        <p:nvSpPr>
          <p:cNvPr id="32" name="Text 30"/>
          <p:cNvSpPr txBox="1"/>
          <p:nvPr/>
        </p:nvSpPr>
        <p:spPr>
          <a:xfrm>
            <a:off x="937260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3" name="Shape 31"/>
          <p:cNvSpPr/>
          <p:nvPr/>
        </p:nvSpPr>
        <p:spPr>
          <a:xfrm>
            <a:off x="640080" y="5806440"/>
            <a:ext cx="10881360" cy="731520"/>
          </a:xfrm>
          <a:prstGeom prst="roundRect">
            <a:avLst>
              <a:gd name="adj" fmla="val 12500"/>
            </a:avLst>
          </a:prstGeom>
          <a:solidFill>
            <a:srgbClr val="1E2761"/>
          </a:solidFill>
          <a:ln/>
        </p:spPr>
      </p:sp>
      <p:sp>
        <p:nvSpPr>
          <p:cNvPr id="34" name="Text 32"/>
          <p:cNvSpPr txBox="1"/>
          <p:nvPr/>
        </p:nvSpPr>
        <p:spPr>
          <a:xfrm>
            <a:off x="914400" y="5806440"/>
            <a:ext cx="10332720" cy="73152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Per alliance the plan answers: what we leverage it for, the relationship type, which offerings and segments it sits behind, which accounts it opens, and what it costs us back.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Talent and alliance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Eminence</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Activities delivered, meetings they created</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Priority markets and segments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828800"/>
            <a:ext cx="10881360" cy="822960"/>
          </a:xfrm>
          <a:prstGeom prst="roundRect">
            <a:avLst>
              <a:gd name="adj" fmla="val 11111"/>
            </a:avLst>
          </a:prstGeom>
          <a:solidFill>
            <a:srgbClr val="FFFFFF"/>
          </a:solidFill>
          <a:ln w="15875">
            <a:solidFill>
              <a:srgbClr val="1E2761"/>
            </a:solidFill>
            <a:prstDash val="solid"/>
          </a:ln>
        </p:spPr>
      </p:sp>
      <p:sp>
        <p:nvSpPr>
          <p:cNvPr id="5" name="Text 3"/>
          <p:cNvSpPr txBox="1"/>
          <p:nvPr/>
        </p:nvSpPr>
        <p:spPr>
          <a:xfrm>
            <a:off x="914400" y="1828800"/>
            <a:ext cx="1828800" cy="82296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AMBITION</a:t>
            </a:r>
            <a:endParaRPr lang="en-US" sz="1200" dirty="0"/>
          </a:p>
        </p:txBody>
      </p:sp>
      <p:sp>
        <p:nvSpPr>
          <p:cNvPr id="6" name="Shape 4"/>
          <p:cNvSpPr/>
          <p:nvPr/>
        </p:nvSpPr>
        <p:spPr>
          <a:xfrm>
            <a:off x="2926080" y="2395728"/>
            <a:ext cx="8321040" cy="0"/>
          </a:xfrm>
          <a:prstGeom prst="line">
            <a:avLst/>
          </a:prstGeom>
          <a:noFill/>
          <a:ln w="12700">
            <a:solidFill>
              <a:srgbClr val="C9D4E6"/>
            </a:solidFill>
            <a:prstDash val="solid"/>
          </a:ln>
        </p:spPr>
      </p:sp>
      <p:sp>
        <p:nvSpPr>
          <p:cNvPr id="7" name="Shape 5"/>
          <p:cNvSpPr/>
          <p:nvPr/>
        </p:nvSpPr>
        <p:spPr>
          <a:xfrm>
            <a:off x="640080" y="2834640"/>
            <a:ext cx="2596896" cy="2514600"/>
          </a:xfrm>
          <a:prstGeom prst="roundRect">
            <a:avLst>
              <a:gd name="adj" fmla="val 3636"/>
            </a:avLst>
          </a:prstGeom>
          <a:solidFill>
            <a:srgbClr val="FFFFFF"/>
          </a:solidFill>
          <a:ln w="12700">
            <a:solidFill>
              <a:srgbClr val="C9D4E6"/>
            </a:solidFill>
            <a:prstDash val="solid"/>
          </a:ln>
        </p:spPr>
      </p:sp>
      <p:sp>
        <p:nvSpPr>
          <p:cNvPr id="8" name="Shape 6"/>
          <p:cNvSpPr/>
          <p:nvPr/>
        </p:nvSpPr>
        <p:spPr>
          <a:xfrm>
            <a:off x="640080" y="2834640"/>
            <a:ext cx="2596896" cy="502920"/>
          </a:xfrm>
          <a:prstGeom prst="rect">
            <a:avLst/>
          </a:prstGeom>
          <a:solidFill>
            <a:srgbClr val="1E2761"/>
          </a:solidFill>
          <a:ln/>
        </p:spPr>
      </p:sp>
      <p:sp>
        <p:nvSpPr>
          <p:cNvPr id="9" name="Text 7"/>
          <p:cNvSpPr txBox="1"/>
          <p:nvPr/>
        </p:nvSpPr>
        <p:spPr>
          <a:xfrm>
            <a:off x="786384"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0" name="Text 8"/>
          <p:cNvSpPr txBox="1"/>
          <p:nvPr/>
        </p:nvSpPr>
        <p:spPr>
          <a:xfrm>
            <a:off x="841248"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segments</a:t>
            </a:r>
            <a:endParaRPr lang="en-US" sz="1050" dirty="0"/>
          </a:p>
        </p:txBody>
      </p:sp>
      <p:sp>
        <p:nvSpPr>
          <p:cNvPr id="11" name="Shape 9"/>
          <p:cNvSpPr/>
          <p:nvPr/>
        </p:nvSpPr>
        <p:spPr>
          <a:xfrm>
            <a:off x="841248" y="3867912"/>
            <a:ext cx="2194560" cy="0"/>
          </a:xfrm>
          <a:prstGeom prst="line">
            <a:avLst/>
          </a:prstGeom>
          <a:noFill/>
          <a:ln w="12700">
            <a:solidFill>
              <a:srgbClr val="E1E8F2"/>
            </a:solidFill>
            <a:prstDash val="solid"/>
          </a:ln>
        </p:spPr>
      </p:sp>
      <p:sp>
        <p:nvSpPr>
          <p:cNvPr id="12" name="Text 10"/>
          <p:cNvSpPr txBox="1"/>
          <p:nvPr/>
        </p:nvSpPr>
        <p:spPr>
          <a:xfrm>
            <a:off x="841248"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3" name="Shape 11"/>
          <p:cNvSpPr/>
          <p:nvPr/>
        </p:nvSpPr>
        <p:spPr>
          <a:xfrm>
            <a:off x="841248" y="4434840"/>
            <a:ext cx="2194560" cy="0"/>
          </a:xfrm>
          <a:prstGeom prst="line">
            <a:avLst/>
          </a:prstGeom>
          <a:noFill/>
          <a:ln w="12700">
            <a:solidFill>
              <a:srgbClr val="E1E8F2"/>
            </a:solidFill>
            <a:prstDash val="solid"/>
          </a:ln>
        </p:spPr>
      </p:sp>
      <p:sp>
        <p:nvSpPr>
          <p:cNvPr id="14" name="Text 12"/>
          <p:cNvSpPr txBox="1"/>
          <p:nvPr/>
        </p:nvSpPr>
        <p:spPr>
          <a:xfrm>
            <a:off x="841248"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5" name="Shape 13"/>
          <p:cNvSpPr/>
          <p:nvPr/>
        </p:nvSpPr>
        <p:spPr>
          <a:xfrm>
            <a:off x="841248" y="5001768"/>
            <a:ext cx="2194560" cy="0"/>
          </a:xfrm>
          <a:prstGeom prst="line">
            <a:avLst/>
          </a:prstGeom>
          <a:noFill/>
          <a:ln w="12700">
            <a:solidFill>
              <a:srgbClr val="E1E8F2"/>
            </a:solidFill>
            <a:prstDash val="solid"/>
          </a:ln>
        </p:spPr>
      </p:sp>
      <p:sp>
        <p:nvSpPr>
          <p:cNvPr id="16" name="Shape 14"/>
          <p:cNvSpPr/>
          <p:nvPr/>
        </p:nvSpPr>
        <p:spPr>
          <a:xfrm>
            <a:off x="3401568" y="2834640"/>
            <a:ext cx="2596896" cy="2514600"/>
          </a:xfrm>
          <a:prstGeom prst="roundRect">
            <a:avLst>
              <a:gd name="adj" fmla="val 3636"/>
            </a:avLst>
          </a:prstGeom>
          <a:solidFill>
            <a:srgbClr val="FFFFFF"/>
          </a:solidFill>
          <a:ln w="12700">
            <a:solidFill>
              <a:srgbClr val="C9D4E6"/>
            </a:solidFill>
            <a:prstDash val="solid"/>
          </a:ln>
        </p:spPr>
      </p:sp>
      <p:sp>
        <p:nvSpPr>
          <p:cNvPr id="17" name="Shape 15"/>
          <p:cNvSpPr/>
          <p:nvPr/>
        </p:nvSpPr>
        <p:spPr>
          <a:xfrm>
            <a:off x="3401568" y="2834640"/>
            <a:ext cx="2596896" cy="502920"/>
          </a:xfrm>
          <a:prstGeom prst="rect">
            <a:avLst/>
          </a:prstGeom>
          <a:solidFill>
            <a:srgbClr val="3E5C8A"/>
          </a:solidFill>
          <a:ln/>
        </p:spPr>
      </p:sp>
      <p:sp>
        <p:nvSpPr>
          <p:cNvPr id="18" name="Text 16"/>
          <p:cNvSpPr txBox="1"/>
          <p:nvPr/>
        </p:nvSpPr>
        <p:spPr>
          <a:xfrm>
            <a:off x="3547872"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a:t>
            </a:r>
            <a:endParaRPr lang="en-US" sz="1150" dirty="0"/>
          </a:p>
        </p:txBody>
      </p:sp>
      <p:sp>
        <p:nvSpPr>
          <p:cNvPr id="19" name="Text 17"/>
          <p:cNvSpPr txBox="1"/>
          <p:nvPr/>
        </p:nvSpPr>
        <p:spPr>
          <a:xfrm>
            <a:off x="3602736"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Propositions</a:t>
            </a:r>
            <a:endParaRPr lang="en-US" sz="1050" dirty="0"/>
          </a:p>
        </p:txBody>
      </p:sp>
      <p:sp>
        <p:nvSpPr>
          <p:cNvPr id="20" name="Shape 18"/>
          <p:cNvSpPr/>
          <p:nvPr/>
        </p:nvSpPr>
        <p:spPr>
          <a:xfrm>
            <a:off x="3602736" y="3867912"/>
            <a:ext cx="2194560" cy="0"/>
          </a:xfrm>
          <a:prstGeom prst="line">
            <a:avLst/>
          </a:prstGeom>
          <a:noFill/>
          <a:ln w="12700">
            <a:solidFill>
              <a:srgbClr val="E1E8F2"/>
            </a:solidFill>
            <a:prstDash val="solid"/>
          </a:ln>
        </p:spPr>
      </p:sp>
      <p:sp>
        <p:nvSpPr>
          <p:cNvPr id="21" name="Text 19"/>
          <p:cNvSpPr txBox="1"/>
          <p:nvPr/>
        </p:nvSpPr>
        <p:spPr>
          <a:xfrm>
            <a:off x="3602736"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2" name="Shape 20"/>
          <p:cNvSpPr/>
          <p:nvPr/>
        </p:nvSpPr>
        <p:spPr>
          <a:xfrm>
            <a:off x="3602736" y="4434840"/>
            <a:ext cx="2194560" cy="0"/>
          </a:xfrm>
          <a:prstGeom prst="line">
            <a:avLst/>
          </a:prstGeom>
          <a:noFill/>
          <a:ln w="12700">
            <a:solidFill>
              <a:srgbClr val="E1E8F2"/>
            </a:solidFill>
            <a:prstDash val="solid"/>
          </a:ln>
        </p:spPr>
      </p:sp>
      <p:sp>
        <p:nvSpPr>
          <p:cNvPr id="23" name="Text 21"/>
          <p:cNvSpPr txBox="1"/>
          <p:nvPr/>
        </p:nvSpPr>
        <p:spPr>
          <a:xfrm>
            <a:off x="3602736"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Flavours</a:t>
            </a:r>
            <a:endParaRPr lang="en-US" sz="1050" dirty="0"/>
          </a:p>
        </p:txBody>
      </p:sp>
      <p:sp>
        <p:nvSpPr>
          <p:cNvPr id="24" name="Shape 22"/>
          <p:cNvSpPr/>
          <p:nvPr/>
        </p:nvSpPr>
        <p:spPr>
          <a:xfrm>
            <a:off x="3602736" y="5001768"/>
            <a:ext cx="2194560" cy="0"/>
          </a:xfrm>
          <a:prstGeom prst="line">
            <a:avLst/>
          </a:prstGeom>
          <a:noFill/>
          <a:ln w="12700">
            <a:solidFill>
              <a:srgbClr val="E1E8F2"/>
            </a:solidFill>
            <a:prstDash val="solid"/>
          </a:ln>
        </p:spPr>
      </p:sp>
      <p:sp>
        <p:nvSpPr>
          <p:cNvPr id="25" name="Shape 23"/>
          <p:cNvSpPr/>
          <p:nvPr/>
        </p:nvSpPr>
        <p:spPr>
          <a:xfrm>
            <a:off x="6163056" y="2834640"/>
            <a:ext cx="2596896" cy="2514600"/>
          </a:xfrm>
          <a:prstGeom prst="roundRect">
            <a:avLst>
              <a:gd name="adj" fmla="val 3636"/>
            </a:avLst>
          </a:prstGeom>
          <a:solidFill>
            <a:srgbClr val="FFFFFF"/>
          </a:solidFill>
          <a:ln w="12700">
            <a:solidFill>
              <a:srgbClr val="C9D4E6"/>
            </a:solidFill>
            <a:prstDash val="solid"/>
          </a:ln>
        </p:spPr>
      </p:sp>
      <p:sp>
        <p:nvSpPr>
          <p:cNvPr id="26" name="Shape 24"/>
          <p:cNvSpPr/>
          <p:nvPr/>
        </p:nvSpPr>
        <p:spPr>
          <a:xfrm>
            <a:off x="6163056" y="2834640"/>
            <a:ext cx="2596896" cy="502920"/>
          </a:xfrm>
          <a:prstGeom prst="rect">
            <a:avLst/>
          </a:prstGeom>
          <a:solidFill>
            <a:srgbClr val="1E2761"/>
          </a:solidFill>
          <a:ln/>
        </p:spPr>
      </p:sp>
      <p:sp>
        <p:nvSpPr>
          <p:cNvPr id="27" name="Text 25"/>
          <p:cNvSpPr txBox="1"/>
          <p:nvPr/>
        </p:nvSpPr>
        <p:spPr>
          <a:xfrm>
            <a:off x="6309360"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28" name="Text 26"/>
          <p:cNvSpPr txBox="1"/>
          <p:nvPr/>
        </p:nvSpPr>
        <p:spPr>
          <a:xfrm>
            <a:off x="6364224"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29" name="Shape 27"/>
          <p:cNvSpPr/>
          <p:nvPr/>
        </p:nvSpPr>
        <p:spPr>
          <a:xfrm>
            <a:off x="6364224" y="3867912"/>
            <a:ext cx="2194560" cy="0"/>
          </a:xfrm>
          <a:prstGeom prst="line">
            <a:avLst/>
          </a:prstGeom>
          <a:noFill/>
          <a:ln w="12700">
            <a:solidFill>
              <a:srgbClr val="E1E8F2"/>
            </a:solidFill>
            <a:prstDash val="solid"/>
          </a:ln>
        </p:spPr>
      </p:sp>
      <p:sp>
        <p:nvSpPr>
          <p:cNvPr id="30" name="Text 28"/>
          <p:cNvSpPr txBox="1"/>
          <p:nvPr/>
        </p:nvSpPr>
        <p:spPr>
          <a:xfrm>
            <a:off x="6364224"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1" name="Shape 29"/>
          <p:cNvSpPr/>
          <p:nvPr/>
        </p:nvSpPr>
        <p:spPr>
          <a:xfrm>
            <a:off x="6364224" y="4434840"/>
            <a:ext cx="2194560" cy="0"/>
          </a:xfrm>
          <a:prstGeom prst="line">
            <a:avLst/>
          </a:prstGeom>
          <a:noFill/>
          <a:ln w="12700">
            <a:solidFill>
              <a:srgbClr val="E1E8F2"/>
            </a:solidFill>
            <a:prstDash val="solid"/>
          </a:ln>
        </p:spPr>
      </p:sp>
      <p:sp>
        <p:nvSpPr>
          <p:cNvPr id="32" name="Text 30"/>
          <p:cNvSpPr txBox="1"/>
          <p:nvPr/>
        </p:nvSpPr>
        <p:spPr>
          <a:xfrm>
            <a:off x="6364224"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3" name="Shape 31"/>
          <p:cNvSpPr/>
          <p:nvPr/>
        </p:nvSpPr>
        <p:spPr>
          <a:xfrm>
            <a:off x="6364224" y="5001768"/>
            <a:ext cx="2194560" cy="0"/>
          </a:xfrm>
          <a:prstGeom prst="line">
            <a:avLst/>
          </a:prstGeom>
          <a:noFill/>
          <a:ln w="12700">
            <a:solidFill>
              <a:srgbClr val="E1E8F2"/>
            </a:solidFill>
            <a:prstDash val="solid"/>
          </a:ln>
        </p:spPr>
      </p:sp>
      <p:sp>
        <p:nvSpPr>
          <p:cNvPr id="34" name="Shape 32"/>
          <p:cNvSpPr/>
          <p:nvPr/>
        </p:nvSpPr>
        <p:spPr>
          <a:xfrm>
            <a:off x="8924544" y="2834640"/>
            <a:ext cx="2596896" cy="2514600"/>
          </a:xfrm>
          <a:prstGeom prst="roundRect">
            <a:avLst>
              <a:gd name="adj" fmla="val 3636"/>
            </a:avLst>
          </a:prstGeom>
          <a:solidFill>
            <a:srgbClr val="FFFFFF"/>
          </a:solidFill>
          <a:ln w="12700">
            <a:solidFill>
              <a:srgbClr val="C9D4E6"/>
            </a:solidFill>
            <a:prstDash val="solid"/>
          </a:ln>
        </p:spPr>
      </p:sp>
      <p:sp>
        <p:nvSpPr>
          <p:cNvPr id="35" name="Shape 33"/>
          <p:cNvSpPr/>
          <p:nvPr/>
        </p:nvSpPr>
        <p:spPr>
          <a:xfrm>
            <a:off x="8924544" y="2834640"/>
            <a:ext cx="2596896" cy="502920"/>
          </a:xfrm>
          <a:prstGeom prst="rect">
            <a:avLst/>
          </a:prstGeom>
          <a:solidFill>
            <a:srgbClr val="3E5C8A"/>
          </a:solidFill>
          <a:ln/>
        </p:spPr>
      </p:sp>
      <p:sp>
        <p:nvSpPr>
          <p:cNvPr id="36" name="Text 34"/>
          <p:cNvSpPr txBox="1"/>
          <p:nvPr/>
        </p:nvSpPr>
        <p:spPr>
          <a:xfrm>
            <a:off x="9070848"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37" name="Text 35"/>
          <p:cNvSpPr txBox="1"/>
          <p:nvPr/>
        </p:nvSpPr>
        <p:spPr>
          <a:xfrm>
            <a:off x="9125712"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38" name="Shape 36"/>
          <p:cNvSpPr/>
          <p:nvPr/>
        </p:nvSpPr>
        <p:spPr>
          <a:xfrm>
            <a:off x="9125712" y="3867912"/>
            <a:ext cx="2194560" cy="0"/>
          </a:xfrm>
          <a:prstGeom prst="line">
            <a:avLst/>
          </a:prstGeom>
          <a:noFill/>
          <a:ln w="12700">
            <a:solidFill>
              <a:srgbClr val="E1E8F2"/>
            </a:solidFill>
            <a:prstDash val="solid"/>
          </a:ln>
        </p:spPr>
      </p:sp>
      <p:sp>
        <p:nvSpPr>
          <p:cNvPr id="39" name="Text 37"/>
          <p:cNvSpPr txBox="1"/>
          <p:nvPr/>
        </p:nvSpPr>
        <p:spPr>
          <a:xfrm>
            <a:off x="9125712"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0" name="Shape 38"/>
          <p:cNvSpPr/>
          <p:nvPr/>
        </p:nvSpPr>
        <p:spPr>
          <a:xfrm>
            <a:off x="9125712" y="4434840"/>
            <a:ext cx="2194560" cy="0"/>
          </a:xfrm>
          <a:prstGeom prst="line">
            <a:avLst/>
          </a:prstGeom>
          <a:noFill/>
          <a:ln w="12700">
            <a:solidFill>
              <a:srgbClr val="E1E8F2"/>
            </a:solidFill>
            <a:prstDash val="solid"/>
          </a:ln>
        </p:spPr>
      </p:sp>
      <p:sp>
        <p:nvSpPr>
          <p:cNvPr id="41" name="Text 39"/>
          <p:cNvSpPr txBox="1"/>
          <p:nvPr/>
        </p:nvSpPr>
        <p:spPr>
          <a:xfrm>
            <a:off x="9125712"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2" name="Shape 40"/>
          <p:cNvSpPr/>
          <p:nvPr/>
        </p:nvSpPr>
        <p:spPr>
          <a:xfrm>
            <a:off x="9125712" y="5001768"/>
            <a:ext cx="2194560" cy="0"/>
          </a:xfrm>
          <a:prstGeom prst="line">
            <a:avLst/>
          </a:prstGeom>
          <a:noFill/>
          <a:ln w="12700">
            <a:solidFill>
              <a:srgbClr val="E1E8F2"/>
            </a:solidFill>
            <a:prstDash val="solid"/>
          </a:ln>
        </p:spPr>
      </p:sp>
      <p:sp>
        <p:nvSpPr>
          <p:cNvPr id="43" name="Shape 41"/>
          <p:cNvSpPr/>
          <p:nvPr/>
        </p:nvSpPr>
        <p:spPr>
          <a:xfrm>
            <a:off x="640080" y="5532120"/>
            <a:ext cx="10881360" cy="777240"/>
          </a:xfrm>
          <a:prstGeom prst="roundRect">
            <a:avLst>
              <a:gd name="adj" fmla="val 11765"/>
            </a:avLst>
          </a:prstGeom>
          <a:solidFill>
            <a:srgbClr val="FFFFFF"/>
          </a:solidFill>
          <a:ln w="15875">
            <a:solidFill>
              <a:srgbClr val="1E2761"/>
            </a:solidFill>
            <a:prstDash val="solid"/>
          </a:ln>
        </p:spPr>
      </p:sp>
      <p:sp>
        <p:nvSpPr>
          <p:cNvPr id="44" name="Text 42"/>
          <p:cNvSpPr txBox="1"/>
          <p:nvPr/>
        </p:nvSpPr>
        <p:spPr>
          <a:xfrm>
            <a:off x="914400" y="5532120"/>
            <a:ext cx="1828800" cy="77724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DISCIPLINE</a:t>
            </a:r>
            <a:endParaRPr lang="en-US" sz="1200" dirty="0"/>
          </a:p>
        </p:txBody>
      </p:sp>
      <p:sp>
        <p:nvSpPr>
          <p:cNvPr id="45" name="Shape 43"/>
          <p:cNvSpPr/>
          <p:nvPr/>
        </p:nvSpPr>
        <p:spPr>
          <a:xfrm>
            <a:off x="2926080" y="6062472"/>
            <a:ext cx="8321040" cy="0"/>
          </a:xfrm>
          <a:prstGeom prst="line">
            <a:avLst/>
          </a:prstGeom>
          <a:noFill/>
          <a:ln w="12700">
            <a:solidFill>
              <a:srgbClr val="C9D4E6"/>
            </a:solidFill>
            <a:prstDash val="solid"/>
          </a:ln>
        </p:spPr>
      </p:sp>
      <p:sp>
        <p:nvSpPr>
          <p:cNvPr id="46" name="Text 44"/>
          <p:cNvSpPr txBox="1"/>
          <p:nvPr/>
        </p:nvSpPr>
        <p:spPr>
          <a:xfrm>
            <a:off x="640080" y="6382512"/>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Everything behind it lives in the artefacts that follow.</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PILLAR / PRACTICE</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Segments it serves, and the buyer in each</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Permitted flavours and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ADR and target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Tier one or tier two, per segment where they differ. Rationale should stand on evidence, not familiarity.</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named account.</a:t>
            </a:r>
            <a:endParaRPr lang="en-US" sz="14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1188720"/>
                <a:gridCol w="1097280"/>
                <a:gridCol w="731520"/>
                <a:gridCol w="2560320"/>
                <a:gridCol w="1188720"/>
                <a:gridCol w="1188720"/>
                <a:gridCol w="10058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we target there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6700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8" name="Text 5"/>
          <p:cNvSpPr txBox="1"/>
          <p:nvPr/>
        </p:nvSpPr>
        <p:spPr>
          <a:xfrm>
            <a:off x="38587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4956048" y="1965960"/>
            <a:ext cx="5486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568756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we target there</a:t>
            </a:r>
            <a:endParaRPr lang="en-US" sz="1150" dirty="0"/>
          </a:p>
        </p:txBody>
      </p:sp>
      <p:sp>
        <p:nvSpPr>
          <p:cNvPr id="11" name="Text 8"/>
          <p:cNvSpPr txBox="1"/>
          <p:nvPr/>
        </p:nvSpPr>
        <p:spPr>
          <a:xfrm>
            <a:off x="82478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2" name="Text 9"/>
          <p:cNvSpPr txBox="1"/>
          <p:nvPr/>
        </p:nvSpPr>
        <p:spPr>
          <a:xfrm>
            <a:off x="94366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3" name="Text 10"/>
          <p:cNvSpPr txBox="1"/>
          <p:nvPr/>
        </p:nvSpPr>
        <p:spPr>
          <a:xfrm>
            <a:off x="1062532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Segment: banking, funds or insurance. Tier one accounts are named individually; tier two may be grouped.</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account and offering.</a:t>
            </a:r>
            <a:endParaRPr lang="en-US" sz="14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priority account.</a:t>
            </a:r>
            <a:endParaRPr lang="en-US" sz="14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Partner owner means our accountable partner. Alliance lead is the vendor relationship behind the account.</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 one row per integrated proposition.</a:t>
            </a:r>
            <a:endParaRPr lang="en-US" sz="14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920240"/>
                <a:gridCol w="2011680"/>
                <a:gridCol w="2194560"/>
                <a:gridCol w="23774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it serves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Practices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 per 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Permitted variants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it serves</a:t>
            </a:r>
            <a:endParaRPr lang="en-US" sz="1150" dirty="0"/>
          </a:p>
        </p:txBody>
      </p:sp>
      <p:sp>
        <p:nvSpPr>
          <p:cNvPr id="8" name="Text 5"/>
          <p:cNvSpPr txBox="1"/>
          <p:nvPr/>
        </p:nvSpPr>
        <p:spPr>
          <a:xfrm>
            <a:off x="504748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Practices involved</a:t>
            </a:r>
            <a:endParaRPr lang="en-US" sz="1150" dirty="0"/>
          </a:p>
        </p:txBody>
      </p:sp>
      <p:sp>
        <p:nvSpPr>
          <p:cNvPr id="9" name="Text 6"/>
          <p:cNvSpPr txBox="1"/>
          <p:nvPr/>
        </p:nvSpPr>
        <p:spPr>
          <a:xfrm>
            <a:off x="70591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 per segment</a:t>
            </a:r>
            <a:endParaRPr lang="en-US" sz="1150" dirty="0"/>
          </a:p>
        </p:txBody>
      </p:sp>
      <p:sp>
        <p:nvSpPr>
          <p:cNvPr id="10" name="Text 7"/>
          <p:cNvSpPr txBox="1"/>
          <p:nvPr/>
        </p:nvSpPr>
        <p:spPr>
          <a:xfrm>
            <a:off x="925372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Permitted variants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offering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103120"/>
                <a:gridCol w="1280160"/>
                <a:gridCol w="1371600"/>
                <a:gridCol w="1280160"/>
                <a:gridCol w="128016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8" name="Text 5"/>
          <p:cNvSpPr txBox="1"/>
          <p:nvPr/>
        </p:nvSpPr>
        <p:spPr>
          <a:xfrm>
            <a:off x="523036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Onshore %</a:t>
            </a:r>
            <a:endParaRPr lang="en-US" sz="1150" dirty="0"/>
          </a:p>
        </p:txBody>
      </p:sp>
      <p:sp>
        <p:nvSpPr>
          <p:cNvPr id="9" name="Text 6"/>
          <p:cNvSpPr txBox="1"/>
          <p:nvPr/>
        </p:nvSpPr>
        <p:spPr>
          <a:xfrm>
            <a:off x="651052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Nearshore %</a:t>
            </a:r>
            <a:endParaRPr lang="en-US" sz="1150" dirty="0"/>
          </a:p>
        </p:txBody>
      </p:sp>
      <p:sp>
        <p:nvSpPr>
          <p:cNvPr id="10" name="Text 7"/>
          <p:cNvSpPr txBox="1"/>
          <p:nvPr/>
        </p:nvSpPr>
        <p:spPr>
          <a:xfrm>
            <a:off x="78821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Offshore %</a:t>
            </a:r>
            <a:endParaRPr lang="en-US" sz="1150" dirty="0"/>
          </a:p>
        </p:txBody>
      </p:sp>
      <p:sp>
        <p:nvSpPr>
          <p:cNvPr id="11" name="Text 8"/>
          <p:cNvSpPr txBox="1"/>
          <p:nvPr/>
        </p:nvSpPr>
        <p:spPr>
          <a:xfrm>
            <a:off x="916228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The construct drives the rate, the rate drives the margin. Record the floor as well as the target.</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737360"/>
                <a:gridCol w="1463040"/>
                <a:gridCol w="1828800"/>
                <a:gridCol w="1554480"/>
                <a:gridCol w="1920240"/>
                <a:gridCol w="128016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Data &amp; AI</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 &amp; Cloud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4871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8" name="Text 5"/>
          <p:cNvSpPr txBox="1"/>
          <p:nvPr/>
        </p:nvSpPr>
        <p:spPr>
          <a:xfrm>
            <a:off x="39502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9" name="Text 6"/>
          <p:cNvSpPr txBox="1"/>
          <p:nvPr/>
        </p:nvSpPr>
        <p:spPr>
          <a:xfrm>
            <a:off x="57790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Data &amp; AI</a:t>
            </a:r>
            <a:endParaRPr lang="en-US" sz="1150" dirty="0"/>
          </a:p>
        </p:txBody>
      </p:sp>
      <p:sp>
        <p:nvSpPr>
          <p:cNvPr id="10" name="Text 7"/>
          <p:cNvSpPr txBox="1"/>
          <p:nvPr/>
        </p:nvSpPr>
        <p:spPr>
          <a:xfrm>
            <a:off x="733348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 &amp; Cloud</a:t>
            </a:r>
            <a:endParaRPr lang="en-US" sz="1150" dirty="0"/>
          </a:p>
        </p:txBody>
      </p:sp>
      <p:sp>
        <p:nvSpPr>
          <p:cNvPr id="11" name="Text 8"/>
          <p:cNvSpPr txBox="1"/>
          <p:nvPr/>
        </p:nvSpPr>
        <p:spPr>
          <a:xfrm>
            <a:off x="92537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2" name="Text 9"/>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row per market and segment. Reconciles to the account revenue plan and to capacity.</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554480"/>
                <a:gridCol w="1371600"/>
                <a:gridCol w="1463040"/>
                <a:gridCol w="2834640"/>
                <a:gridCol w="1920240"/>
                <a:gridCol w="17373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and segments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04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Type</a:t>
            </a:r>
            <a:endParaRPr lang="en-US" sz="1150" dirty="0"/>
          </a:p>
        </p:txBody>
      </p:sp>
      <p:sp>
        <p:nvSpPr>
          <p:cNvPr id="8" name="Text 5"/>
          <p:cNvSpPr txBox="1"/>
          <p:nvPr/>
        </p:nvSpPr>
        <p:spPr>
          <a:xfrm>
            <a:off x="36758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9" name="Text 6"/>
          <p:cNvSpPr txBox="1"/>
          <p:nvPr/>
        </p:nvSpPr>
        <p:spPr>
          <a:xfrm>
            <a:off x="5138928" y="1965960"/>
            <a:ext cx="26517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and segments it sits behind</a:t>
            </a:r>
            <a:endParaRPr lang="en-US" sz="1150" dirty="0"/>
          </a:p>
        </p:txBody>
      </p:sp>
      <p:sp>
        <p:nvSpPr>
          <p:cNvPr id="10" name="Text 7"/>
          <p:cNvSpPr txBox="1"/>
          <p:nvPr/>
        </p:nvSpPr>
        <p:spPr>
          <a:xfrm>
            <a:off x="79735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9893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Type: broad technology alliance, or specialised product vendor. Role: co-sell, resell, delivery or referral.</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EAIND — FSI Strategy Development Plan</dc:title>
  <dc:subject>PptxGenJS Presentation</dc:subject>
  <dc:creator>Engineering, AI and Data</dc:creator>
  <cp:lastModifiedBy>Engineering, AI and Data</cp:lastModifiedBy>
  <cp:revision>1</cp:revision>
  <dcterms:created xsi:type="dcterms:W3CDTF">2026-09-28T14:22:20Z</dcterms:created>
  <dcterms:modified xsi:type="dcterms:W3CDTF">2026-09-28T14:22:20Z</dcterms:modified>
</cp:coreProperties>
</file>