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primarily banking.
Three pillars:
1. Industry Solutions — core-led transformation: core modernisation, core banking and other core packages. Also full systems-integration capability: we can take the SI role and own the end-to-end setup, including design governance, functional governance, delivery management and individual stream management, to stand up a greenfield bank or modernise an incumbent.
2. Data and AI — enterprise AI, core AI, AI use-case activation, and standard data work: data platforms, warehouses, ETL, reporting, all for banking.
3. Engineering and Cloud — cloud advisory and implementation, plus custom engineered solutions: integration management, microservices, API gateways, and bespoke core engineering. Less common in banking; likeliest in investments and wealth.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banking modernisation and migration varies by retail, corporate or SME scope;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delivery and capability: the integrated proposition catalogue and its permitted variants,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 core banking modernisation with heavy onshore functional and governance presence looks nothing like an AI use-case activation or an integration build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were called out as important in implementation and technology work.
Current alliances named: Oracle, Google and Amazon as the primary ones; Temenos and Intellect as specialised, banking-platform alliances. They are on the slide as current state, not as a conclusion — what we do with each is the open question.
The work is to decide, per alliance: what we leverage it for, which of our integrated propositions it sits behind, what kind of relationship it is (co-sell, resell, delivery, referral), which markets and accounts it opens, and what it demands from us in certifications, trained staff and pipeline commitments.
Two links to the rest of the strategy: the alliance map must reconcile with the account coverage map (an alliance that opens an account should show up against that account), and with the talent plan (certifications and accredited staff are a recruitment and training cost).
If other alliances belong here — hyperscaler or platform vendors we do not yet work with, or regional players — the cycle is where we add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banking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our own consulting partners, who own the client relationship, and the alliance or vendor partner we go to market with on that account.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COO, CIO, head of retail banking, chief data officer,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banking modernisation and migration the drivers include retail versus corporate versus SME scope,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banking programme, a data platform build and an AI activation.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banking-platform alliances. Add any others the cycle identifies.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is in this pack</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Twelve sections, plus an appendix of blank templates.</a:t>
            </a:r>
            <a:endParaRPr lang="en-US" sz="1450" dirty="0"/>
          </a:p>
        </p:txBody>
      </p:sp>
      <p:sp>
        <p:nvSpPr>
          <p:cNvPr id="4" name="Shape 2"/>
          <p:cNvSpPr/>
          <p:nvPr/>
        </p:nvSpPr>
        <p:spPr>
          <a:xfrm>
            <a:off x="640080" y="1783080"/>
            <a:ext cx="5257800" cy="621792"/>
          </a:xfrm>
          <a:prstGeom prst="roundRect">
            <a:avLst>
              <a:gd name="adj" fmla="val 11765"/>
            </a:avLst>
          </a:prstGeom>
          <a:solidFill>
            <a:srgbClr val="F2F6FC"/>
          </a:solidFill>
          <a:ln/>
        </p:spPr>
      </p:sp>
      <p:sp>
        <p:nvSpPr>
          <p:cNvPr id="5" name="Shape 3"/>
          <p:cNvSpPr/>
          <p:nvPr/>
        </p:nvSpPr>
        <p:spPr>
          <a:xfrm>
            <a:off x="841248" y="1892808"/>
            <a:ext cx="384048" cy="384048"/>
          </a:xfrm>
          <a:prstGeom prst="ellipse">
            <a:avLst/>
          </a:prstGeom>
          <a:solidFill>
            <a:srgbClr val="1E2761"/>
          </a:solidFill>
          <a:ln/>
        </p:spPr>
      </p:sp>
      <p:sp>
        <p:nvSpPr>
          <p:cNvPr id="6" name="Text 4"/>
          <p:cNvSpPr txBox="1"/>
          <p:nvPr/>
        </p:nvSpPr>
        <p:spPr>
          <a:xfrm>
            <a:off x="841248" y="18928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288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this document is</a:t>
            </a:r>
            <a:endParaRPr lang="en-US" sz="1450" dirty="0"/>
          </a:p>
        </p:txBody>
      </p:sp>
      <p:sp>
        <p:nvSpPr>
          <p:cNvPr id="8" name="Text 6"/>
          <p:cNvSpPr txBox="1"/>
          <p:nvPr/>
        </p:nvSpPr>
        <p:spPr>
          <a:xfrm>
            <a:off x="1417320" y="21122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Method, not conclusion</a:t>
            </a:r>
            <a:endParaRPr lang="en-US" sz="1100" dirty="0"/>
          </a:p>
        </p:txBody>
      </p:sp>
      <p:sp>
        <p:nvSpPr>
          <p:cNvPr id="9" name="Shape 7"/>
          <p:cNvSpPr/>
          <p:nvPr/>
        </p:nvSpPr>
        <p:spPr>
          <a:xfrm>
            <a:off x="6263640" y="1783080"/>
            <a:ext cx="5257800" cy="621792"/>
          </a:xfrm>
          <a:prstGeom prst="roundRect">
            <a:avLst>
              <a:gd name="adj" fmla="val 11765"/>
            </a:avLst>
          </a:prstGeom>
          <a:solidFill>
            <a:srgbClr val="EDF2FA"/>
          </a:solidFill>
          <a:ln/>
        </p:spPr>
      </p:sp>
      <p:sp>
        <p:nvSpPr>
          <p:cNvPr id="10" name="Shape 8"/>
          <p:cNvSpPr/>
          <p:nvPr/>
        </p:nvSpPr>
        <p:spPr>
          <a:xfrm>
            <a:off x="6464808" y="1892808"/>
            <a:ext cx="384048" cy="384048"/>
          </a:xfrm>
          <a:prstGeom prst="ellipse">
            <a:avLst/>
          </a:prstGeom>
          <a:solidFill>
            <a:srgbClr val="3E5C8A"/>
          </a:solidFill>
          <a:ln/>
        </p:spPr>
      </p:sp>
      <p:sp>
        <p:nvSpPr>
          <p:cNvPr id="11" name="Text 9"/>
          <p:cNvSpPr txBox="1"/>
          <p:nvPr/>
        </p:nvSpPr>
        <p:spPr>
          <a:xfrm>
            <a:off x="6464808" y="18928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288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the strategy must cover</a:t>
            </a:r>
            <a:endParaRPr lang="en-US" sz="1450" dirty="0"/>
          </a:p>
        </p:txBody>
      </p:sp>
      <p:sp>
        <p:nvSpPr>
          <p:cNvPr id="13" name="Text 11"/>
          <p:cNvSpPr txBox="1"/>
          <p:nvPr/>
        </p:nvSpPr>
        <p:spPr>
          <a:xfrm>
            <a:off x="7040880" y="21122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Ambition, three pillars, operating discipline</a:t>
            </a:r>
            <a:endParaRPr lang="en-US" sz="1100" dirty="0"/>
          </a:p>
        </p:txBody>
      </p:sp>
      <p:sp>
        <p:nvSpPr>
          <p:cNvPr id="14" name="Shape 12"/>
          <p:cNvSpPr/>
          <p:nvPr/>
        </p:nvSpPr>
        <p:spPr>
          <a:xfrm>
            <a:off x="640080" y="2514600"/>
            <a:ext cx="5257800" cy="621792"/>
          </a:xfrm>
          <a:prstGeom prst="roundRect">
            <a:avLst>
              <a:gd name="adj" fmla="val 11765"/>
            </a:avLst>
          </a:prstGeom>
          <a:solidFill>
            <a:srgbClr val="F2F6FC"/>
          </a:solidFill>
          <a:ln/>
        </p:spPr>
      </p:sp>
      <p:sp>
        <p:nvSpPr>
          <p:cNvPr id="15" name="Shape 13"/>
          <p:cNvSpPr/>
          <p:nvPr/>
        </p:nvSpPr>
        <p:spPr>
          <a:xfrm>
            <a:off x="841248" y="2624328"/>
            <a:ext cx="384048" cy="384048"/>
          </a:xfrm>
          <a:prstGeom prst="ellipse">
            <a:avLst/>
          </a:prstGeom>
          <a:solidFill>
            <a:srgbClr val="1E2761"/>
          </a:solidFill>
          <a:ln/>
        </p:spPr>
      </p:sp>
      <p:sp>
        <p:nvSpPr>
          <p:cNvPr id="16" name="Text 14"/>
          <p:cNvSpPr txBox="1"/>
          <p:nvPr/>
        </p:nvSpPr>
        <p:spPr>
          <a:xfrm>
            <a:off x="841248" y="26243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256032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Principles we hold going in</a:t>
            </a:r>
            <a:endParaRPr lang="en-US" sz="1450" dirty="0"/>
          </a:p>
        </p:txBody>
      </p:sp>
      <p:sp>
        <p:nvSpPr>
          <p:cNvPr id="18" name="Text 16"/>
          <p:cNvSpPr txBox="1"/>
          <p:nvPr/>
        </p:nvSpPr>
        <p:spPr>
          <a:xfrm>
            <a:off x="1417320" y="284378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Constraints agreed before the work starts</a:t>
            </a:r>
            <a:endParaRPr lang="en-US" sz="1100" dirty="0"/>
          </a:p>
        </p:txBody>
      </p:sp>
      <p:sp>
        <p:nvSpPr>
          <p:cNvPr id="19" name="Shape 17"/>
          <p:cNvSpPr/>
          <p:nvPr/>
        </p:nvSpPr>
        <p:spPr>
          <a:xfrm>
            <a:off x="6263640" y="2514600"/>
            <a:ext cx="5257800" cy="621792"/>
          </a:xfrm>
          <a:prstGeom prst="roundRect">
            <a:avLst>
              <a:gd name="adj" fmla="val 11765"/>
            </a:avLst>
          </a:prstGeom>
          <a:solidFill>
            <a:srgbClr val="EDF2FA"/>
          </a:solidFill>
          <a:ln/>
        </p:spPr>
      </p:sp>
      <p:sp>
        <p:nvSpPr>
          <p:cNvPr id="20" name="Shape 18"/>
          <p:cNvSpPr/>
          <p:nvPr/>
        </p:nvSpPr>
        <p:spPr>
          <a:xfrm>
            <a:off x="6464808" y="2624328"/>
            <a:ext cx="384048" cy="384048"/>
          </a:xfrm>
          <a:prstGeom prst="ellipse">
            <a:avLst/>
          </a:prstGeom>
          <a:solidFill>
            <a:srgbClr val="3E5C8A"/>
          </a:solidFill>
          <a:ln/>
        </p:spPr>
      </p:sp>
      <p:sp>
        <p:nvSpPr>
          <p:cNvPr id="21" name="Text 19"/>
          <p:cNvSpPr txBox="1"/>
          <p:nvPr/>
        </p:nvSpPr>
        <p:spPr>
          <a:xfrm>
            <a:off x="6464808" y="26243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256032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will get there</a:t>
            </a:r>
            <a:endParaRPr lang="en-US" sz="1450" dirty="0"/>
          </a:p>
        </p:txBody>
      </p:sp>
      <p:sp>
        <p:nvSpPr>
          <p:cNvPr id="23" name="Text 21"/>
          <p:cNvSpPr txBox="1"/>
          <p:nvPr/>
        </p:nvSpPr>
        <p:spPr>
          <a:xfrm>
            <a:off x="7040880" y="284378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five-step approach</a:t>
            </a:r>
            <a:endParaRPr lang="en-US" sz="1100" dirty="0"/>
          </a:p>
        </p:txBody>
      </p:sp>
      <p:sp>
        <p:nvSpPr>
          <p:cNvPr id="24" name="Shape 22"/>
          <p:cNvSpPr/>
          <p:nvPr/>
        </p:nvSpPr>
        <p:spPr>
          <a:xfrm>
            <a:off x="640080" y="3246120"/>
            <a:ext cx="5257800" cy="621792"/>
          </a:xfrm>
          <a:prstGeom prst="roundRect">
            <a:avLst>
              <a:gd name="adj" fmla="val 11765"/>
            </a:avLst>
          </a:prstGeom>
          <a:solidFill>
            <a:srgbClr val="F2F6FC"/>
          </a:solidFill>
          <a:ln/>
        </p:spPr>
      </p:sp>
      <p:sp>
        <p:nvSpPr>
          <p:cNvPr id="25" name="Shape 23"/>
          <p:cNvSpPr/>
          <p:nvPr/>
        </p:nvSpPr>
        <p:spPr>
          <a:xfrm>
            <a:off x="841248" y="3355848"/>
            <a:ext cx="384048" cy="384048"/>
          </a:xfrm>
          <a:prstGeom prst="ellipse">
            <a:avLst/>
          </a:prstGeom>
          <a:solidFill>
            <a:srgbClr val="1E2761"/>
          </a:solidFill>
          <a:ln/>
        </p:spPr>
      </p:sp>
      <p:sp>
        <p:nvSpPr>
          <p:cNvPr id="26" name="Text 24"/>
          <p:cNvSpPr txBox="1"/>
          <p:nvPr/>
        </p:nvSpPr>
        <p:spPr>
          <a:xfrm>
            <a:off x="841248" y="33558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329184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Four workstreams, one per pillar</a:t>
            </a:r>
            <a:endParaRPr lang="en-US" sz="1450" dirty="0"/>
          </a:p>
        </p:txBody>
      </p:sp>
      <p:sp>
        <p:nvSpPr>
          <p:cNvPr id="28" name="Text 26"/>
          <p:cNvSpPr txBox="1"/>
          <p:nvPr/>
        </p:nvSpPr>
        <p:spPr>
          <a:xfrm>
            <a:off x="1417320" y="357530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Who owns what, and what each produces</a:t>
            </a:r>
            <a:endParaRPr lang="en-US" sz="1100" dirty="0"/>
          </a:p>
        </p:txBody>
      </p:sp>
      <p:sp>
        <p:nvSpPr>
          <p:cNvPr id="29" name="Shape 27"/>
          <p:cNvSpPr/>
          <p:nvPr/>
        </p:nvSpPr>
        <p:spPr>
          <a:xfrm>
            <a:off x="6263640" y="3246120"/>
            <a:ext cx="5257800" cy="621792"/>
          </a:xfrm>
          <a:prstGeom prst="roundRect">
            <a:avLst>
              <a:gd name="adj" fmla="val 11765"/>
            </a:avLst>
          </a:prstGeom>
          <a:solidFill>
            <a:srgbClr val="EDF2FA"/>
          </a:solidFill>
          <a:ln/>
        </p:spPr>
      </p:sp>
      <p:sp>
        <p:nvSpPr>
          <p:cNvPr id="30" name="Shape 28"/>
          <p:cNvSpPr/>
          <p:nvPr/>
        </p:nvSpPr>
        <p:spPr>
          <a:xfrm>
            <a:off x="6464808" y="3355848"/>
            <a:ext cx="384048" cy="384048"/>
          </a:xfrm>
          <a:prstGeom prst="ellipse">
            <a:avLst/>
          </a:prstGeom>
          <a:solidFill>
            <a:srgbClr val="3E5C8A"/>
          </a:solidFill>
          <a:ln/>
        </p:spPr>
      </p:sp>
      <p:sp>
        <p:nvSpPr>
          <p:cNvPr id="31" name="Text 29"/>
          <p:cNvSpPr txBox="1"/>
          <p:nvPr/>
        </p:nvSpPr>
        <p:spPr>
          <a:xfrm>
            <a:off x="6464808" y="33558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329184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Pillar 2 · Delivery and pricing economics</a:t>
            </a:r>
            <a:endParaRPr lang="en-US" sz="1450" dirty="0"/>
          </a:p>
        </p:txBody>
      </p:sp>
      <p:sp>
        <p:nvSpPr>
          <p:cNvPr id="33" name="Text 31"/>
          <p:cNvSpPr txBox="1"/>
          <p:nvPr/>
        </p:nvSpPr>
        <p:spPr>
          <a:xfrm>
            <a:off x="7040880" y="357530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Construct, price, ADR and margin</a:t>
            </a:r>
            <a:endParaRPr lang="en-US" sz="1100" dirty="0"/>
          </a:p>
        </p:txBody>
      </p:sp>
      <p:sp>
        <p:nvSpPr>
          <p:cNvPr id="34" name="Shape 32"/>
          <p:cNvSpPr/>
          <p:nvPr/>
        </p:nvSpPr>
        <p:spPr>
          <a:xfrm>
            <a:off x="640080" y="3977640"/>
            <a:ext cx="5257800" cy="621792"/>
          </a:xfrm>
          <a:prstGeom prst="roundRect">
            <a:avLst>
              <a:gd name="adj" fmla="val 11765"/>
            </a:avLst>
          </a:prstGeom>
          <a:solidFill>
            <a:srgbClr val="F2F6FC"/>
          </a:solidFill>
          <a:ln/>
        </p:spPr>
      </p:sp>
      <p:sp>
        <p:nvSpPr>
          <p:cNvPr id="35" name="Shape 33"/>
          <p:cNvSpPr/>
          <p:nvPr/>
        </p:nvSpPr>
        <p:spPr>
          <a:xfrm>
            <a:off x="841248" y="4087368"/>
            <a:ext cx="384048" cy="384048"/>
          </a:xfrm>
          <a:prstGeom prst="ellipse">
            <a:avLst/>
          </a:prstGeom>
          <a:solidFill>
            <a:srgbClr val="1E2761"/>
          </a:solidFill>
          <a:ln/>
        </p:spPr>
      </p:sp>
      <p:sp>
        <p:nvSpPr>
          <p:cNvPr id="36" name="Text 34"/>
          <p:cNvSpPr txBox="1"/>
          <p:nvPr/>
        </p:nvSpPr>
        <p:spPr>
          <a:xfrm>
            <a:off x="841248" y="40873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402336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Pillar 2 · Team and talent</a:t>
            </a:r>
            <a:endParaRPr lang="en-US" sz="1450" dirty="0"/>
          </a:p>
        </p:txBody>
      </p:sp>
      <p:sp>
        <p:nvSpPr>
          <p:cNvPr id="38" name="Text 36"/>
          <p:cNvSpPr txBox="1"/>
          <p:nvPr/>
        </p:nvSpPr>
        <p:spPr>
          <a:xfrm>
            <a:off x="1417320" y="430682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Dedicated, shared and the gap to close</a:t>
            </a:r>
            <a:endParaRPr lang="en-US" sz="1100" dirty="0"/>
          </a:p>
        </p:txBody>
      </p:sp>
      <p:sp>
        <p:nvSpPr>
          <p:cNvPr id="39" name="Shape 37"/>
          <p:cNvSpPr/>
          <p:nvPr/>
        </p:nvSpPr>
        <p:spPr>
          <a:xfrm>
            <a:off x="6263640" y="3977640"/>
            <a:ext cx="5257800" cy="621792"/>
          </a:xfrm>
          <a:prstGeom prst="roundRect">
            <a:avLst>
              <a:gd name="adj" fmla="val 11765"/>
            </a:avLst>
          </a:prstGeom>
          <a:solidFill>
            <a:srgbClr val="EDF2FA"/>
          </a:solidFill>
          <a:ln/>
        </p:spPr>
      </p:sp>
      <p:sp>
        <p:nvSpPr>
          <p:cNvPr id="40" name="Shape 38"/>
          <p:cNvSpPr/>
          <p:nvPr/>
        </p:nvSpPr>
        <p:spPr>
          <a:xfrm>
            <a:off x="6464808" y="4087368"/>
            <a:ext cx="384048" cy="384048"/>
          </a:xfrm>
          <a:prstGeom prst="ellipse">
            <a:avLst/>
          </a:prstGeom>
          <a:solidFill>
            <a:srgbClr val="3E5C8A"/>
          </a:solidFill>
          <a:ln/>
        </p:spPr>
      </p:sp>
      <p:sp>
        <p:nvSpPr>
          <p:cNvPr id="41" name="Text 39"/>
          <p:cNvSpPr txBox="1"/>
          <p:nvPr/>
        </p:nvSpPr>
        <p:spPr>
          <a:xfrm>
            <a:off x="6464808" y="40873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402336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Pillar 3 · Eminence and positioning</a:t>
            </a:r>
            <a:endParaRPr lang="en-US" sz="1450" dirty="0"/>
          </a:p>
        </p:txBody>
      </p:sp>
      <p:sp>
        <p:nvSpPr>
          <p:cNvPr id="43" name="Text 41"/>
          <p:cNvSpPr txBox="1"/>
          <p:nvPr/>
        </p:nvSpPr>
        <p:spPr>
          <a:xfrm>
            <a:off x="7040880" y="430682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How the market comes to know us</a:t>
            </a:r>
            <a:endParaRPr lang="en-US" sz="1100" dirty="0"/>
          </a:p>
        </p:txBody>
      </p:sp>
      <p:sp>
        <p:nvSpPr>
          <p:cNvPr id="44" name="Shape 42"/>
          <p:cNvSpPr/>
          <p:nvPr/>
        </p:nvSpPr>
        <p:spPr>
          <a:xfrm>
            <a:off x="640080" y="4709160"/>
            <a:ext cx="5257800" cy="621792"/>
          </a:xfrm>
          <a:prstGeom prst="roundRect">
            <a:avLst>
              <a:gd name="adj" fmla="val 11765"/>
            </a:avLst>
          </a:prstGeom>
          <a:solidFill>
            <a:srgbClr val="F2F6FC"/>
          </a:solidFill>
          <a:ln/>
        </p:spPr>
      </p:sp>
      <p:sp>
        <p:nvSpPr>
          <p:cNvPr id="45" name="Shape 43"/>
          <p:cNvSpPr/>
          <p:nvPr/>
        </p:nvSpPr>
        <p:spPr>
          <a:xfrm>
            <a:off x="841248" y="4818888"/>
            <a:ext cx="384048" cy="384048"/>
          </a:xfrm>
          <a:prstGeom prst="ellipse">
            <a:avLst/>
          </a:prstGeom>
          <a:solidFill>
            <a:srgbClr val="1E2761"/>
          </a:solidFill>
          <a:ln/>
        </p:spPr>
      </p:sp>
      <p:sp>
        <p:nvSpPr>
          <p:cNvPr id="46" name="Text 44"/>
          <p:cNvSpPr txBox="1"/>
          <p:nvPr/>
        </p:nvSpPr>
        <p:spPr>
          <a:xfrm>
            <a:off x="841248" y="48188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1417320" y="475488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Pillar 3 · Alliances</a:t>
            </a:r>
            <a:endParaRPr lang="en-US" sz="1450" dirty="0"/>
          </a:p>
        </p:txBody>
      </p:sp>
      <p:sp>
        <p:nvSpPr>
          <p:cNvPr id="48" name="Text 46"/>
          <p:cNvSpPr txBox="1"/>
          <p:nvPr/>
        </p:nvSpPr>
        <p:spPr>
          <a:xfrm>
            <a:off x="1417320" y="503834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Who we go to market with, and for what</a:t>
            </a:r>
            <a:endParaRPr lang="en-US" sz="1100" dirty="0"/>
          </a:p>
        </p:txBody>
      </p:sp>
      <p:sp>
        <p:nvSpPr>
          <p:cNvPr id="49" name="Shape 47"/>
          <p:cNvSpPr/>
          <p:nvPr/>
        </p:nvSpPr>
        <p:spPr>
          <a:xfrm>
            <a:off x="6263640" y="4709160"/>
            <a:ext cx="5257800" cy="621792"/>
          </a:xfrm>
          <a:prstGeom prst="roundRect">
            <a:avLst>
              <a:gd name="adj" fmla="val 11765"/>
            </a:avLst>
          </a:prstGeom>
          <a:solidFill>
            <a:srgbClr val="EDF2FA"/>
          </a:solidFill>
          <a:ln/>
        </p:spPr>
      </p:sp>
      <p:sp>
        <p:nvSpPr>
          <p:cNvPr id="50" name="Shape 48"/>
          <p:cNvSpPr/>
          <p:nvPr/>
        </p:nvSpPr>
        <p:spPr>
          <a:xfrm>
            <a:off x="6464808" y="4818888"/>
            <a:ext cx="384048" cy="384048"/>
          </a:xfrm>
          <a:prstGeom prst="ellipse">
            <a:avLst/>
          </a:prstGeom>
          <a:solidFill>
            <a:srgbClr val="3E5C8A"/>
          </a:solidFill>
          <a:ln/>
        </p:spPr>
      </p:sp>
      <p:sp>
        <p:nvSpPr>
          <p:cNvPr id="51" name="Text 49"/>
          <p:cNvSpPr txBox="1"/>
          <p:nvPr/>
        </p:nvSpPr>
        <p:spPr>
          <a:xfrm>
            <a:off x="6464808" y="48188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52" name="Text 50"/>
          <p:cNvSpPr txBox="1"/>
          <p:nvPr/>
        </p:nvSpPr>
        <p:spPr>
          <a:xfrm>
            <a:off x="7040880" y="475488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three-week journey</a:t>
            </a:r>
            <a:endParaRPr lang="en-US" sz="1450" dirty="0"/>
          </a:p>
        </p:txBody>
      </p:sp>
      <p:sp>
        <p:nvSpPr>
          <p:cNvPr id="53" name="Text 51"/>
          <p:cNvSpPr txBox="1"/>
          <p:nvPr/>
        </p:nvSpPr>
        <p:spPr>
          <a:xfrm>
            <a:off x="7040880" y="503834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Week by week, with a gate each week</a:t>
            </a:r>
            <a:endParaRPr lang="en-US" sz="1100" dirty="0"/>
          </a:p>
        </p:txBody>
      </p:sp>
      <p:sp>
        <p:nvSpPr>
          <p:cNvPr id="54" name="Shape 52"/>
          <p:cNvSpPr/>
          <p:nvPr/>
        </p:nvSpPr>
        <p:spPr>
          <a:xfrm>
            <a:off x="640080" y="5440680"/>
            <a:ext cx="5257800" cy="621792"/>
          </a:xfrm>
          <a:prstGeom prst="roundRect">
            <a:avLst>
              <a:gd name="adj" fmla="val 11765"/>
            </a:avLst>
          </a:prstGeom>
          <a:solidFill>
            <a:srgbClr val="F2F6FC"/>
          </a:solidFill>
          <a:ln/>
        </p:spPr>
      </p:sp>
      <p:sp>
        <p:nvSpPr>
          <p:cNvPr id="55" name="Shape 53"/>
          <p:cNvSpPr/>
          <p:nvPr/>
        </p:nvSpPr>
        <p:spPr>
          <a:xfrm>
            <a:off x="841248" y="5550408"/>
            <a:ext cx="384048" cy="384048"/>
          </a:xfrm>
          <a:prstGeom prst="ellipse">
            <a:avLst/>
          </a:prstGeom>
          <a:solidFill>
            <a:srgbClr val="1E2761"/>
          </a:solidFill>
          <a:ln/>
        </p:spPr>
      </p:sp>
      <p:sp>
        <p:nvSpPr>
          <p:cNvPr id="56" name="Text 54"/>
          <p:cNvSpPr txBox="1"/>
          <p:nvPr/>
        </p:nvSpPr>
        <p:spPr>
          <a:xfrm>
            <a:off x="841248" y="55504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a:t>
            </a:r>
            <a:endParaRPr lang="en-US" sz="1200" dirty="0"/>
          </a:p>
        </p:txBody>
      </p:sp>
      <p:sp>
        <p:nvSpPr>
          <p:cNvPr id="57" name="Text 55"/>
          <p:cNvSpPr txBox="1"/>
          <p:nvPr/>
        </p:nvSpPr>
        <p:spPr>
          <a:xfrm>
            <a:off x="1417320" y="54864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discipline · Governing the execution</a:t>
            </a:r>
            <a:endParaRPr lang="en-US" sz="1450" dirty="0"/>
          </a:p>
        </p:txBody>
      </p:sp>
      <p:sp>
        <p:nvSpPr>
          <p:cNvPr id="58" name="Text 56"/>
          <p:cNvSpPr txBox="1"/>
          <p:nvPr/>
        </p:nvSpPr>
        <p:spPr>
          <a:xfrm>
            <a:off x="1417320" y="57698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Rhythm and scorecard after sign-off</a:t>
            </a:r>
            <a:endParaRPr lang="en-US" sz="1100" dirty="0"/>
          </a:p>
        </p:txBody>
      </p:sp>
      <p:sp>
        <p:nvSpPr>
          <p:cNvPr id="59" name="Shape 57"/>
          <p:cNvSpPr/>
          <p:nvPr/>
        </p:nvSpPr>
        <p:spPr>
          <a:xfrm>
            <a:off x="6263640" y="5440680"/>
            <a:ext cx="5257800" cy="621792"/>
          </a:xfrm>
          <a:prstGeom prst="roundRect">
            <a:avLst>
              <a:gd name="adj" fmla="val 11765"/>
            </a:avLst>
          </a:prstGeom>
          <a:solidFill>
            <a:srgbClr val="EDF2FA"/>
          </a:solidFill>
          <a:ln/>
        </p:spPr>
      </p:sp>
      <p:sp>
        <p:nvSpPr>
          <p:cNvPr id="60" name="Shape 58"/>
          <p:cNvSpPr/>
          <p:nvPr/>
        </p:nvSpPr>
        <p:spPr>
          <a:xfrm>
            <a:off x="6464808" y="5550408"/>
            <a:ext cx="384048" cy="384048"/>
          </a:xfrm>
          <a:prstGeom prst="ellipse">
            <a:avLst/>
          </a:prstGeom>
          <a:solidFill>
            <a:srgbClr val="3E5C8A"/>
          </a:solidFill>
          <a:ln/>
        </p:spPr>
      </p:sp>
      <p:sp>
        <p:nvSpPr>
          <p:cNvPr id="61" name="Text 59"/>
          <p:cNvSpPr txBox="1"/>
          <p:nvPr/>
        </p:nvSpPr>
        <p:spPr>
          <a:xfrm>
            <a:off x="6464808" y="55504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12</a:t>
            </a:r>
            <a:endParaRPr lang="en-US" sz="1200" dirty="0"/>
          </a:p>
        </p:txBody>
      </p:sp>
      <p:sp>
        <p:nvSpPr>
          <p:cNvPr id="62" name="Text 60"/>
          <p:cNvSpPr txBox="1"/>
          <p:nvPr/>
        </p:nvSpPr>
        <p:spPr>
          <a:xfrm>
            <a:off x="7040880" y="54864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run the cycle</a:t>
            </a:r>
            <a:endParaRPr lang="en-US" sz="1450" dirty="0"/>
          </a:p>
        </p:txBody>
      </p:sp>
      <p:sp>
        <p:nvSpPr>
          <p:cNvPr id="63" name="Text 61"/>
          <p:cNvSpPr txBox="1"/>
          <p:nvPr/>
        </p:nvSpPr>
        <p:spPr>
          <a:xfrm>
            <a:off x="7040880" y="57698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Cadence, inputs and decisions requested</a:t>
            </a:r>
            <a:endParaRPr lang="en-US" sz="1100" dirty="0"/>
          </a:p>
        </p:txBody>
      </p:sp>
      <p:sp>
        <p:nvSpPr>
          <p:cNvPr id="64" name="Text 62"/>
          <p:cNvSpPr txBox="1"/>
          <p:nvPr/>
        </p:nvSpPr>
        <p:spPr>
          <a:xfrm>
            <a:off x="640080" y="6263640"/>
            <a:ext cx="10881360" cy="365760"/>
          </a:xfrm>
          <a:prstGeom prst="rect">
            <a:avLst/>
          </a:prstGeom>
          <a:noFill/>
          <a:ln/>
        </p:spPr>
        <p:txBody>
          <a:bodyPr wrap="square" lIns="0" tIns="0" rIns="0" bIns="0" rtlCol="0" anchor="ctr"/>
          <a:lstStyle/>
          <a:p>
            <a:pPr indent="0" marL="0">
              <a:buNone/>
            </a:pPr>
            <a:r>
              <a:rPr lang="en-US" sz="125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3520440" cy="2971800"/>
          </a:xfrm>
          <a:prstGeom prst="roundRect">
            <a:avLst>
              <a:gd name="adj" fmla="val 3692"/>
            </a:avLst>
          </a:prstGeom>
          <a:solidFill>
            <a:srgbClr val="E4EBF7"/>
          </a:solidFill>
          <a:ln/>
        </p:spPr>
      </p:sp>
      <p:sp>
        <p:nvSpPr>
          <p:cNvPr id="8" name="Shape 6"/>
          <p:cNvSpPr/>
          <p:nvPr/>
        </p:nvSpPr>
        <p:spPr>
          <a:xfrm>
            <a:off x="640080" y="2606040"/>
            <a:ext cx="3520440" cy="841248"/>
          </a:xfrm>
          <a:prstGeom prst="rect">
            <a:avLst/>
          </a:prstGeom>
          <a:solidFill>
            <a:srgbClr val="1E2761"/>
          </a:solidFill>
          <a:ln/>
        </p:spPr>
      </p:sp>
      <p:sp>
        <p:nvSpPr>
          <p:cNvPr id="9" name="Text 7"/>
          <p:cNvSpPr txBox="1"/>
          <p:nvPr/>
        </p:nvSpPr>
        <p:spPr>
          <a:xfrm>
            <a:off x="841248" y="2606040"/>
            <a:ext cx="3118104"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68680" y="3611880"/>
            <a:ext cx="3063240" cy="187452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Markets and segments</a:t>
            </a:r>
            <a:endParaRPr lang="en-US" sz="1200" dirty="0"/>
          </a:p>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Named target accounts</a:t>
            </a:r>
            <a:endParaRPr lang="en-US" sz="1200" dirty="0"/>
          </a:p>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Offerings targeted per account</a:t>
            </a:r>
            <a:endParaRPr lang="en-US" sz="1200" dirty="0"/>
          </a:p>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a:t>
            </a:r>
            <a:endParaRPr lang="en-US" sz="1200" dirty="0"/>
          </a:p>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Coverage and ownership</a:t>
            </a:r>
            <a:endParaRPr lang="en-US" sz="1200" dirty="0"/>
          </a:p>
        </p:txBody>
      </p:sp>
      <p:sp>
        <p:nvSpPr>
          <p:cNvPr id="11" name="Shape 9"/>
          <p:cNvSpPr/>
          <p:nvPr/>
        </p:nvSpPr>
        <p:spPr>
          <a:xfrm>
            <a:off x="4325112" y="2606040"/>
            <a:ext cx="3520440" cy="2971800"/>
          </a:xfrm>
          <a:prstGeom prst="roundRect">
            <a:avLst>
              <a:gd name="adj" fmla="val 3692"/>
            </a:avLst>
          </a:prstGeom>
          <a:solidFill>
            <a:srgbClr val="EDF2FA"/>
          </a:solidFill>
          <a:ln/>
        </p:spPr>
      </p:sp>
      <p:sp>
        <p:nvSpPr>
          <p:cNvPr id="12" name="Shape 10"/>
          <p:cNvSpPr/>
          <p:nvPr/>
        </p:nvSpPr>
        <p:spPr>
          <a:xfrm>
            <a:off x="4325112" y="2606040"/>
            <a:ext cx="3520440" cy="841248"/>
          </a:xfrm>
          <a:prstGeom prst="rect">
            <a:avLst/>
          </a:prstGeom>
          <a:solidFill>
            <a:srgbClr val="3E5C8A"/>
          </a:solidFill>
          <a:ln/>
        </p:spPr>
      </p:sp>
      <p:sp>
        <p:nvSpPr>
          <p:cNvPr id="13" name="Text 11"/>
          <p:cNvSpPr txBox="1"/>
          <p:nvPr/>
        </p:nvSpPr>
        <p:spPr>
          <a:xfrm>
            <a:off x="4526280" y="2606040"/>
            <a:ext cx="3118104"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Offerings, 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capability</a:t>
            </a:r>
            <a:endParaRPr lang="en-US" sz="1500" dirty="0"/>
          </a:p>
        </p:txBody>
      </p:sp>
      <p:sp>
        <p:nvSpPr>
          <p:cNvPr id="14" name="Text 12"/>
          <p:cNvSpPr txBox="1"/>
          <p:nvPr/>
        </p:nvSpPr>
        <p:spPr>
          <a:xfrm>
            <a:off x="4553712" y="3611880"/>
            <a:ext cx="3063240" cy="187452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Proposition catalogue</a:t>
            </a:r>
            <a:endParaRPr lang="en-US" sz="1200" dirty="0"/>
          </a:p>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Delivery model and construct</a:t>
            </a:r>
            <a:endParaRPr lang="en-US" sz="1200" dirty="0"/>
          </a:p>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Pricing, ADR and margin</a:t>
            </a:r>
            <a:endParaRPr lang="en-US" sz="1200" dirty="0"/>
          </a:p>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Team, capacity and recruitment</a:t>
            </a:r>
            <a:endParaRPr lang="en-US" sz="1200" dirty="0"/>
          </a:p>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Revenue targets</a:t>
            </a:r>
            <a:endParaRPr lang="en-US" sz="1200" dirty="0"/>
          </a:p>
        </p:txBody>
      </p:sp>
      <p:sp>
        <p:nvSpPr>
          <p:cNvPr id="15" name="Shape 13"/>
          <p:cNvSpPr/>
          <p:nvPr/>
        </p:nvSpPr>
        <p:spPr>
          <a:xfrm>
            <a:off x="8010144" y="2606040"/>
            <a:ext cx="3520440" cy="2971800"/>
          </a:xfrm>
          <a:prstGeom prst="roundRect">
            <a:avLst>
              <a:gd name="adj" fmla="val 3692"/>
            </a:avLst>
          </a:prstGeom>
          <a:solidFill>
            <a:srgbClr val="E4EBF7"/>
          </a:solidFill>
          <a:ln/>
        </p:spPr>
      </p:sp>
      <p:sp>
        <p:nvSpPr>
          <p:cNvPr id="16" name="Shape 14"/>
          <p:cNvSpPr/>
          <p:nvPr/>
        </p:nvSpPr>
        <p:spPr>
          <a:xfrm>
            <a:off x="8010144" y="2606040"/>
            <a:ext cx="3520440" cy="841248"/>
          </a:xfrm>
          <a:prstGeom prst="rect">
            <a:avLst/>
          </a:prstGeom>
          <a:solidFill>
            <a:srgbClr val="1E2761"/>
          </a:solidFill>
          <a:ln/>
        </p:spPr>
      </p:sp>
      <p:sp>
        <p:nvSpPr>
          <p:cNvPr id="17" name="Text 15"/>
          <p:cNvSpPr txBox="1"/>
          <p:nvPr/>
        </p:nvSpPr>
        <p:spPr>
          <a:xfrm>
            <a:off x="8211312" y="2606040"/>
            <a:ext cx="3118104"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18" name="Text 16"/>
          <p:cNvSpPr txBox="1"/>
          <p:nvPr/>
        </p:nvSpPr>
        <p:spPr>
          <a:xfrm>
            <a:off x="8238744" y="3611880"/>
            <a:ext cx="3063240" cy="187452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Alliances and what they unlock</a:t>
            </a:r>
            <a:endParaRPr lang="en-US" sz="1200" dirty="0"/>
          </a:p>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Eminence and positioning</a:t>
            </a:r>
            <a:endParaRPr lang="en-US" sz="1200" dirty="0"/>
          </a:p>
          <a:p>
            <a:pPr marL="342900" indent="-342900">
              <a:spcAft>
                <a:spcPts val="700"/>
              </a:spcAft>
              <a:buSzPct val="100000"/>
              <a:buChar char="•"/>
            </a:pPr>
            <a:r>
              <a:rPr lang="en-US" sz="1200" dirty="0">
                <a:solidFill>
                  <a:srgbClr val="44506B"/>
                </a:solidFill>
                <a:latin typeface="Calibri" pitchFamily="34" charset="0"/>
                <a:ea typeface="Calibri" pitchFamily="34" charset="-122"/>
                <a:cs typeface="Calibri" pitchFamily="34" charset="-120"/>
              </a:rPr>
              <a:t>How we differentiate</a:t>
            </a:r>
            <a:endParaRPr lang="en-US" sz="1200" dirty="0"/>
          </a:p>
        </p:txBody>
      </p:sp>
      <p:sp>
        <p:nvSpPr>
          <p:cNvPr id="19" name="Shape 17"/>
          <p:cNvSpPr/>
          <p:nvPr/>
        </p:nvSpPr>
        <p:spPr>
          <a:xfrm>
            <a:off x="640080" y="5715000"/>
            <a:ext cx="10881360" cy="658368"/>
          </a:xfrm>
          <a:prstGeom prst="roundRect">
            <a:avLst>
              <a:gd name="adj" fmla="val 13889"/>
            </a:avLst>
          </a:prstGeom>
          <a:solidFill>
            <a:srgbClr val="1E2761"/>
          </a:solidFill>
          <a:ln/>
        </p:spPr>
      </p:sp>
      <p:sp>
        <p:nvSpPr>
          <p:cNvPr id="20" name="Text 18"/>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1" name="Text 19"/>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three pillars honest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5257800" cy="1280160"/>
          </a:xfrm>
          <a:prstGeom prst="roundRect">
            <a:avLst>
              <a:gd name="adj" fmla="val 7143"/>
            </a:avLst>
          </a:prstGeom>
          <a:solidFill>
            <a:srgbClr val="EDF2FA"/>
          </a:solidFill>
          <a:ln/>
        </p:spPr>
      </p:sp>
      <p:sp>
        <p:nvSpPr>
          <p:cNvPr id="5" name="Shape 3"/>
          <p:cNvSpPr/>
          <p:nvPr/>
        </p:nvSpPr>
        <p:spPr>
          <a:xfrm>
            <a:off x="914400" y="2039112"/>
            <a:ext cx="384048" cy="384048"/>
          </a:xfrm>
          <a:prstGeom prst="ellipse">
            <a:avLst/>
          </a:prstGeom>
          <a:solidFill>
            <a:srgbClr val="1E2761"/>
          </a:solidFill>
          <a:ln/>
        </p:spPr>
      </p:sp>
      <p:sp>
        <p:nvSpPr>
          <p:cNvPr id="6" name="Text 4"/>
          <p:cNvSpPr txBox="1"/>
          <p:nvPr/>
        </p:nvSpPr>
        <p:spPr>
          <a:xfrm>
            <a:off x="914400" y="2039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81328" y="1984248"/>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Integrated, not siloed</a:t>
            </a:r>
            <a:endParaRPr lang="en-US" sz="1700" dirty="0"/>
          </a:p>
        </p:txBody>
      </p:sp>
      <p:sp>
        <p:nvSpPr>
          <p:cNvPr id="8" name="Text 6"/>
          <p:cNvSpPr txBox="1"/>
          <p:nvPr/>
        </p:nvSpPr>
        <p:spPr>
          <a:xfrm>
            <a:off x="1481328" y="2359152"/>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250" dirty="0"/>
          </a:p>
        </p:txBody>
      </p:sp>
      <p:sp>
        <p:nvSpPr>
          <p:cNvPr id="9" name="Shape 7"/>
          <p:cNvSpPr/>
          <p:nvPr/>
        </p:nvSpPr>
        <p:spPr>
          <a:xfrm>
            <a:off x="6263640" y="1783080"/>
            <a:ext cx="5257800" cy="1280160"/>
          </a:xfrm>
          <a:prstGeom prst="roundRect">
            <a:avLst>
              <a:gd name="adj" fmla="val 7143"/>
            </a:avLst>
          </a:prstGeom>
          <a:solidFill>
            <a:srgbClr val="EDF2FA"/>
          </a:solidFill>
          <a:ln/>
        </p:spPr>
      </p:sp>
      <p:sp>
        <p:nvSpPr>
          <p:cNvPr id="10" name="Shape 8"/>
          <p:cNvSpPr/>
          <p:nvPr/>
        </p:nvSpPr>
        <p:spPr>
          <a:xfrm>
            <a:off x="6537960" y="2039112"/>
            <a:ext cx="384048" cy="384048"/>
          </a:xfrm>
          <a:prstGeom prst="ellipse">
            <a:avLst/>
          </a:prstGeom>
          <a:solidFill>
            <a:srgbClr val="3E5C8A"/>
          </a:solidFill>
          <a:ln/>
        </p:spPr>
      </p:sp>
      <p:sp>
        <p:nvSpPr>
          <p:cNvPr id="11" name="Text 9"/>
          <p:cNvSpPr txBox="1"/>
          <p:nvPr/>
        </p:nvSpPr>
        <p:spPr>
          <a:xfrm>
            <a:off x="6537960" y="2039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104888" y="1984248"/>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Named accounts, not averages</a:t>
            </a:r>
            <a:endParaRPr lang="en-US" sz="1700" dirty="0"/>
          </a:p>
        </p:txBody>
      </p:sp>
      <p:sp>
        <p:nvSpPr>
          <p:cNvPr id="13" name="Text 11"/>
          <p:cNvSpPr txBox="1"/>
          <p:nvPr/>
        </p:nvSpPr>
        <p:spPr>
          <a:xfrm>
            <a:off x="7104888" y="2359152"/>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250" dirty="0"/>
          </a:p>
        </p:txBody>
      </p:sp>
      <p:sp>
        <p:nvSpPr>
          <p:cNvPr id="14" name="Shape 12"/>
          <p:cNvSpPr/>
          <p:nvPr/>
        </p:nvSpPr>
        <p:spPr>
          <a:xfrm>
            <a:off x="640080" y="3264408"/>
            <a:ext cx="5257800" cy="1280160"/>
          </a:xfrm>
          <a:prstGeom prst="roundRect">
            <a:avLst>
              <a:gd name="adj" fmla="val 7143"/>
            </a:avLst>
          </a:prstGeom>
          <a:solidFill>
            <a:srgbClr val="EDF2FA"/>
          </a:solidFill>
          <a:ln/>
        </p:spPr>
      </p:sp>
      <p:sp>
        <p:nvSpPr>
          <p:cNvPr id="15" name="Shape 13"/>
          <p:cNvSpPr/>
          <p:nvPr/>
        </p:nvSpPr>
        <p:spPr>
          <a:xfrm>
            <a:off x="914400" y="3520440"/>
            <a:ext cx="384048" cy="384048"/>
          </a:xfrm>
          <a:prstGeom prst="ellipse">
            <a:avLst/>
          </a:prstGeom>
          <a:solidFill>
            <a:srgbClr val="1E2761"/>
          </a:solidFill>
          <a:ln/>
        </p:spPr>
      </p:sp>
      <p:sp>
        <p:nvSpPr>
          <p:cNvPr id="16" name="Text 14"/>
          <p:cNvSpPr txBox="1"/>
          <p:nvPr/>
        </p:nvSpPr>
        <p:spPr>
          <a:xfrm>
            <a:off x="914400" y="35204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81328" y="3465576"/>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Sized and priced</a:t>
            </a:r>
            <a:endParaRPr lang="en-US" sz="1700" dirty="0"/>
          </a:p>
        </p:txBody>
      </p:sp>
      <p:sp>
        <p:nvSpPr>
          <p:cNvPr id="18" name="Text 16"/>
          <p:cNvSpPr txBox="1"/>
          <p:nvPr/>
        </p:nvSpPr>
        <p:spPr>
          <a:xfrm>
            <a:off x="1481328" y="3840480"/>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250" dirty="0"/>
          </a:p>
        </p:txBody>
      </p:sp>
      <p:sp>
        <p:nvSpPr>
          <p:cNvPr id="19" name="Shape 17"/>
          <p:cNvSpPr/>
          <p:nvPr/>
        </p:nvSpPr>
        <p:spPr>
          <a:xfrm>
            <a:off x="6263640" y="3264408"/>
            <a:ext cx="5257800" cy="1280160"/>
          </a:xfrm>
          <a:prstGeom prst="roundRect">
            <a:avLst>
              <a:gd name="adj" fmla="val 7143"/>
            </a:avLst>
          </a:prstGeom>
          <a:solidFill>
            <a:srgbClr val="EDF2FA"/>
          </a:solidFill>
          <a:ln/>
        </p:spPr>
      </p:sp>
      <p:sp>
        <p:nvSpPr>
          <p:cNvPr id="20" name="Shape 18"/>
          <p:cNvSpPr/>
          <p:nvPr/>
        </p:nvSpPr>
        <p:spPr>
          <a:xfrm>
            <a:off x="6537960" y="3520440"/>
            <a:ext cx="384048" cy="384048"/>
          </a:xfrm>
          <a:prstGeom prst="ellipse">
            <a:avLst/>
          </a:prstGeom>
          <a:solidFill>
            <a:srgbClr val="3E5C8A"/>
          </a:solidFill>
          <a:ln/>
        </p:spPr>
      </p:sp>
      <p:sp>
        <p:nvSpPr>
          <p:cNvPr id="21" name="Text 19"/>
          <p:cNvSpPr txBox="1"/>
          <p:nvPr/>
        </p:nvSpPr>
        <p:spPr>
          <a:xfrm>
            <a:off x="6537960" y="35204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104888" y="3465576"/>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Covered by a partner</a:t>
            </a:r>
            <a:endParaRPr lang="en-US" sz="1700" dirty="0"/>
          </a:p>
        </p:txBody>
      </p:sp>
      <p:sp>
        <p:nvSpPr>
          <p:cNvPr id="23" name="Text 21"/>
          <p:cNvSpPr txBox="1"/>
          <p:nvPr/>
        </p:nvSpPr>
        <p:spPr>
          <a:xfrm>
            <a:off x="7104888" y="3840480"/>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250" dirty="0"/>
          </a:p>
        </p:txBody>
      </p:sp>
      <p:sp>
        <p:nvSpPr>
          <p:cNvPr id="24" name="Shape 22"/>
          <p:cNvSpPr/>
          <p:nvPr/>
        </p:nvSpPr>
        <p:spPr>
          <a:xfrm>
            <a:off x="640080" y="4745736"/>
            <a:ext cx="5257800" cy="1280160"/>
          </a:xfrm>
          <a:prstGeom prst="roundRect">
            <a:avLst>
              <a:gd name="adj" fmla="val 7143"/>
            </a:avLst>
          </a:prstGeom>
          <a:solidFill>
            <a:srgbClr val="EDF2FA"/>
          </a:solidFill>
          <a:ln/>
        </p:spPr>
      </p:sp>
      <p:sp>
        <p:nvSpPr>
          <p:cNvPr id="25" name="Shape 23"/>
          <p:cNvSpPr/>
          <p:nvPr/>
        </p:nvSpPr>
        <p:spPr>
          <a:xfrm>
            <a:off x="914400" y="5001768"/>
            <a:ext cx="384048" cy="384048"/>
          </a:xfrm>
          <a:prstGeom prst="ellipse">
            <a:avLst/>
          </a:prstGeom>
          <a:solidFill>
            <a:srgbClr val="1E2761"/>
          </a:solidFill>
          <a:ln/>
        </p:spPr>
      </p:sp>
      <p:sp>
        <p:nvSpPr>
          <p:cNvPr id="26" name="Text 24"/>
          <p:cNvSpPr txBox="1"/>
          <p:nvPr/>
        </p:nvSpPr>
        <p:spPr>
          <a:xfrm>
            <a:off x="914400" y="5001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81328" y="4946904"/>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Deliverable by design</a:t>
            </a:r>
            <a:endParaRPr lang="en-US" sz="1700" dirty="0"/>
          </a:p>
        </p:txBody>
      </p:sp>
      <p:sp>
        <p:nvSpPr>
          <p:cNvPr id="28" name="Text 26"/>
          <p:cNvSpPr txBox="1"/>
          <p:nvPr/>
        </p:nvSpPr>
        <p:spPr>
          <a:xfrm>
            <a:off x="1481328" y="5321808"/>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250" dirty="0"/>
          </a:p>
        </p:txBody>
      </p:sp>
      <p:sp>
        <p:nvSpPr>
          <p:cNvPr id="29" name="Text 27"/>
          <p:cNvSpPr txBox="1"/>
          <p:nvPr/>
        </p:nvSpPr>
        <p:spPr>
          <a:xfrm>
            <a:off x="6263640" y="5532120"/>
            <a:ext cx="5120640" cy="45720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Frame the ambition: what winning looks like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Four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965960"/>
            <a:ext cx="10881360" cy="841248"/>
          </a:xfrm>
          <a:prstGeom prst="roundRect">
            <a:avLst>
              <a:gd name="adj" fmla="val 10870"/>
            </a:avLst>
          </a:prstGeom>
          <a:solidFill>
            <a:srgbClr val="F2F6FC"/>
          </a:solidFill>
          <a:ln/>
        </p:spPr>
      </p:sp>
      <p:sp>
        <p:nvSpPr>
          <p:cNvPr id="5" name="Text 3"/>
          <p:cNvSpPr txBox="1"/>
          <p:nvPr/>
        </p:nvSpPr>
        <p:spPr>
          <a:xfrm>
            <a:off x="914400" y="20025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3317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named accounts, offerings and revenue per account, coverage</a:t>
            </a:r>
            <a:endParaRPr lang="en-US" sz="1050" dirty="0"/>
          </a:p>
        </p:txBody>
      </p:sp>
      <p:sp>
        <p:nvSpPr>
          <p:cNvPr id="7" name="Text 5"/>
          <p:cNvSpPr txBox="1"/>
          <p:nvPr/>
        </p:nvSpPr>
        <p:spPr>
          <a:xfrm>
            <a:off x="4846320" y="1965960"/>
            <a:ext cx="6400800" cy="84124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926080"/>
            <a:ext cx="10881360" cy="841248"/>
          </a:xfrm>
          <a:prstGeom prst="roundRect">
            <a:avLst>
              <a:gd name="adj" fmla="val 10870"/>
            </a:avLst>
          </a:prstGeom>
          <a:solidFill>
            <a:srgbClr val="EDF2FA"/>
          </a:solidFill>
          <a:ln/>
        </p:spPr>
      </p:sp>
      <p:sp>
        <p:nvSpPr>
          <p:cNvPr id="9" name="Text 7"/>
          <p:cNvSpPr txBox="1"/>
          <p:nvPr/>
        </p:nvSpPr>
        <p:spPr>
          <a:xfrm>
            <a:off x="914400" y="29626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Offerings, delivery and capability</a:t>
            </a:r>
            <a:endParaRPr lang="en-US" sz="1350" dirty="0"/>
          </a:p>
        </p:txBody>
      </p:sp>
      <p:sp>
        <p:nvSpPr>
          <p:cNvPr id="10" name="Text 8"/>
          <p:cNvSpPr txBox="1"/>
          <p:nvPr/>
        </p:nvSpPr>
        <p:spPr>
          <a:xfrm>
            <a:off x="914400" y="32918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Catalogue, delivery model and construct, pricing, margin, team and targets</a:t>
            </a:r>
            <a:endParaRPr lang="en-US" sz="1050" dirty="0"/>
          </a:p>
        </p:txBody>
      </p:sp>
      <p:sp>
        <p:nvSpPr>
          <p:cNvPr id="11" name="Text 9"/>
          <p:cNvSpPr txBox="1"/>
          <p:nvPr/>
        </p:nvSpPr>
        <p:spPr>
          <a:xfrm>
            <a:off x="4846320" y="2926080"/>
            <a:ext cx="6400800" cy="84124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 · pricing bands · offering economics · team model · revenue targets</a:t>
            </a:r>
            <a:endParaRPr lang="en-US" sz="1250" dirty="0"/>
          </a:p>
        </p:txBody>
      </p:sp>
      <p:sp>
        <p:nvSpPr>
          <p:cNvPr id="12" name="Shape 10"/>
          <p:cNvSpPr/>
          <p:nvPr/>
        </p:nvSpPr>
        <p:spPr>
          <a:xfrm>
            <a:off x="640080" y="3886200"/>
            <a:ext cx="10881360" cy="841248"/>
          </a:xfrm>
          <a:prstGeom prst="roundRect">
            <a:avLst>
              <a:gd name="adj" fmla="val 10870"/>
            </a:avLst>
          </a:prstGeom>
          <a:solidFill>
            <a:srgbClr val="F2F6FC"/>
          </a:solidFill>
          <a:ln/>
        </p:spPr>
      </p:sp>
      <p:sp>
        <p:nvSpPr>
          <p:cNvPr id="13" name="Text 11"/>
          <p:cNvSpPr txBox="1"/>
          <p:nvPr/>
        </p:nvSpPr>
        <p:spPr>
          <a:xfrm>
            <a:off x="914400" y="3922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Route to market</a:t>
            </a:r>
            <a:endParaRPr lang="en-US" sz="1350" dirty="0"/>
          </a:p>
        </p:txBody>
      </p:sp>
      <p:sp>
        <p:nvSpPr>
          <p:cNvPr id="14" name="Text 12"/>
          <p:cNvSpPr txBox="1"/>
          <p:nvPr/>
        </p:nvSpPr>
        <p:spPr>
          <a:xfrm>
            <a:off x="914400" y="4251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5" name="Text 13"/>
          <p:cNvSpPr txBox="1"/>
          <p:nvPr/>
        </p:nvSpPr>
        <p:spPr>
          <a:xfrm>
            <a:off x="4846320" y="3886200"/>
            <a:ext cx="6400800" cy="84124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16" name="Shape 14"/>
          <p:cNvSpPr/>
          <p:nvPr/>
        </p:nvSpPr>
        <p:spPr>
          <a:xfrm>
            <a:off x="640080" y="4846320"/>
            <a:ext cx="10881360" cy="841248"/>
          </a:xfrm>
          <a:prstGeom prst="roundRect">
            <a:avLst>
              <a:gd name="adj" fmla="val 10870"/>
            </a:avLst>
          </a:prstGeom>
          <a:solidFill>
            <a:srgbClr val="EDF2FA"/>
          </a:solidFill>
          <a:ln/>
        </p:spPr>
      </p:sp>
      <p:sp>
        <p:nvSpPr>
          <p:cNvPr id="17" name="Text 15"/>
          <p:cNvSpPr txBox="1"/>
          <p:nvPr/>
        </p:nvSpPr>
        <p:spPr>
          <a:xfrm>
            <a:off x="914400" y="48828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Operating discipline</a:t>
            </a:r>
            <a:endParaRPr lang="en-US" sz="1350" dirty="0"/>
          </a:p>
        </p:txBody>
      </p:sp>
      <p:sp>
        <p:nvSpPr>
          <p:cNvPr id="18" name="Text 16"/>
          <p:cNvSpPr txBox="1"/>
          <p:nvPr/>
        </p:nvSpPr>
        <p:spPr>
          <a:xfrm>
            <a:off x="914400" y="52120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19" name="Text 17"/>
          <p:cNvSpPr txBox="1"/>
          <p:nvPr/>
        </p:nvSpPr>
        <p:spPr>
          <a:xfrm>
            <a:off x="4846320" y="4846320"/>
            <a:ext cx="6400800" cy="84124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0" name="Text 18"/>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onshore, nearshore and offshore mix it is priced on</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not per portfolio: a core banking programme and an AI activation carry different constructs, different rates and different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Rates, ratios and margin targets are set in the cycle and recorded in the offering economics template.</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the capacity behind the construct, in three parts.</a:t>
            </a:r>
            <a:endParaRPr lang="en-US" sz="1450" dirty="0"/>
          </a:p>
        </p:txBody>
      </p:sp>
      <p:sp>
        <p:nvSpPr>
          <p:cNvPr id="4" name="Shape 2"/>
          <p:cNvSpPr/>
          <p:nvPr/>
        </p:nvSpPr>
        <p:spPr>
          <a:xfrm>
            <a:off x="640080" y="1828800"/>
            <a:ext cx="3429000" cy="3383280"/>
          </a:xfrm>
          <a:prstGeom prst="roundRect">
            <a:avLst>
              <a:gd name="adj" fmla="val 3243"/>
            </a:avLst>
          </a:prstGeom>
          <a:solidFill>
            <a:srgbClr val="EDF2FA"/>
          </a:solidFill>
          <a:ln/>
        </p:spPr>
      </p:sp>
      <p:sp>
        <p:nvSpPr>
          <p:cNvPr id="5" name="Shape 3"/>
          <p:cNvSpPr/>
          <p:nvPr/>
        </p:nvSpPr>
        <p:spPr>
          <a:xfrm>
            <a:off x="640080" y="1828800"/>
            <a:ext cx="3429000" cy="658368"/>
          </a:xfrm>
          <a:prstGeom prst="rect">
            <a:avLst/>
          </a:prstGeom>
          <a:solidFill>
            <a:srgbClr val="1E2761"/>
          </a:solidFill>
          <a:ln/>
        </p:spPr>
      </p:sp>
      <p:sp>
        <p:nvSpPr>
          <p:cNvPr id="6" name="Text 4"/>
          <p:cNvSpPr txBox="1"/>
          <p:nvPr/>
        </p:nvSpPr>
        <p:spPr>
          <a:xfrm>
            <a:off x="914400"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dedicated team</a:t>
            </a:r>
            <a:endParaRPr lang="en-US" sz="1700" dirty="0"/>
          </a:p>
        </p:txBody>
      </p:sp>
      <p:sp>
        <p:nvSpPr>
          <p:cNvPr id="7" name="Text 5"/>
          <p:cNvSpPr txBox="1"/>
          <p:nvPr/>
        </p:nvSpPr>
        <p:spPr>
          <a:xfrm>
            <a:off x="914400"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Who works on FSI exclusively, across the three pillars?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roles and levels do they hold?</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What is realistically deliverable with them alone?</a:t>
            </a:r>
            <a:endParaRPr lang="en-US" sz="1250" dirty="0"/>
          </a:p>
        </p:txBody>
      </p:sp>
      <p:sp>
        <p:nvSpPr>
          <p:cNvPr id="8" name="Shape 6"/>
          <p:cNvSpPr/>
          <p:nvPr/>
        </p:nvSpPr>
        <p:spPr>
          <a:xfrm>
            <a:off x="4361688" y="1828800"/>
            <a:ext cx="3429000" cy="3383280"/>
          </a:xfrm>
          <a:prstGeom prst="roundRect">
            <a:avLst>
              <a:gd name="adj" fmla="val 3243"/>
            </a:avLst>
          </a:prstGeom>
          <a:solidFill>
            <a:srgbClr val="EDF2FA"/>
          </a:solidFill>
          <a:ln/>
        </p:spPr>
      </p:sp>
      <p:sp>
        <p:nvSpPr>
          <p:cNvPr id="9" name="Shape 7"/>
          <p:cNvSpPr/>
          <p:nvPr/>
        </p:nvSpPr>
        <p:spPr>
          <a:xfrm>
            <a:off x="4361688" y="1828800"/>
            <a:ext cx="3429000" cy="658368"/>
          </a:xfrm>
          <a:prstGeom prst="rect">
            <a:avLst/>
          </a:prstGeom>
          <a:solidFill>
            <a:srgbClr val="3E5C8A"/>
          </a:solidFill>
          <a:ln/>
        </p:spPr>
      </p:sp>
      <p:sp>
        <p:nvSpPr>
          <p:cNvPr id="10" name="Text 8"/>
          <p:cNvSpPr txBox="1"/>
          <p:nvPr/>
        </p:nvSpPr>
        <p:spPr>
          <a:xfrm>
            <a:off x="4636008"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Shared capacity</a:t>
            </a:r>
            <a:endParaRPr lang="en-US" sz="1700" dirty="0"/>
          </a:p>
        </p:txBody>
      </p:sp>
      <p:sp>
        <p:nvSpPr>
          <p:cNvPr id="11" name="Text 9"/>
          <p:cNvSpPr txBox="1"/>
          <p:nvPr/>
        </p:nvSpPr>
        <p:spPr>
          <a:xfrm>
            <a:off x="4636008"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resources are shared with other portfolios?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much of their time can we count on?</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skills do we borrow rather than own?</a:t>
            </a:r>
            <a:endParaRPr lang="en-US" sz="1250" dirty="0"/>
          </a:p>
        </p:txBody>
      </p:sp>
      <p:sp>
        <p:nvSpPr>
          <p:cNvPr id="12" name="Shape 10"/>
          <p:cNvSpPr/>
          <p:nvPr/>
        </p:nvSpPr>
        <p:spPr>
          <a:xfrm>
            <a:off x="8083296" y="1828800"/>
            <a:ext cx="3429000" cy="3383280"/>
          </a:xfrm>
          <a:prstGeom prst="roundRect">
            <a:avLst>
              <a:gd name="adj" fmla="val 3243"/>
            </a:avLst>
          </a:prstGeom>
          <a:solidFill>
            <a:srgbClr val="EDF2FA"/>
          </a:solidFill>
          <a:ln/>
        </p:spPr>
      </p:sp>
      <p:sp>
        <p:nvSpPr>
          <p:cNvPr id="13" name="Shape 11"/>
          <p:cNvSpPr/>
          <p:nvPr/>
        </p:nvSpPr>
        <p:spPr>
          <a:xfrm>
            <a:off x="8083296" y="1828800"/>
            <a:ext cx="3429000" cy="658368"/>
          </a:xfrm>
          <a:prstGeom prst="rect">
            <a:avLst/>
          </a:prstGeom>
          <a:solidFill>
            <a:srgbClr val="1E2761"/>
          </a:solidFill>
          <a:ln/>
        </p:spPr>
      </p:sp>
      <p:sp>
        <p:nvSpPr>
          <p:cNvPr id="14" name="Text 12"/>
          <p:cNvSpPr txBox="1"/>
          <p:nvPr/>
        </p:nvSpPr>
        <p:spPr>
          <a:xfrm>
            <a:off x="8357616"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gap to close</a:t>
            </a:r>
            <a:endParaRPr lang="en-US" sz="1700" dirty="0"/>
          </a:p>
        </p:txBody>
      </p:sp>
      <p:sp>
        <p:nvSpPr>
          <p:cNvPr id="15" name="Text 13"/>
          <p:cNvSpPr txBox="1"/>
          <p:nvPr/>
        </p:nvSpPr>
        <p:spPr>
          <a:xfrm>
            <a:off x="8357616"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Build, borrow or buy for each gap?</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By when, to support the targets we set?</a:t>
            </a:r>
            <a:endParaRPr lang="en-US" sz="1250" dirty="0"/>
          </a:p>
        </p:txBody>
      </p:sp>
      <p:sp>
        <p:nvSpPr>
          <p:cNvPr id="16" name="Shape 14"/>
          <p:cNvSpPr/>
          <p:nvPr/>
        </p:nvSpPr>
        <p:spPr>
          <a:xfrm>
            <a:off x="3566160" y="5440680"/>
            <a:ext cx="5029200" cy="301752"/>
          </a:xfrm>
          <a:prstGeom prst="roundRect">
            <a:avLst>
              <a:gd name="adj" fmla="val 48485"/>
            </a:avLst>
          </a:prstGeom>
          <a:solidFill>
            <a:srgbClr val="FFFFFF"/>
          </a:solidFill>
          <a:ln w="12700">
            <a:solidFill>
              <a:srgbClr val="B8862B"/>
            </a:solidFill>
            <a:prstDash val="solid"/>
          </a:ln>
        </p:spPr>
      </p:sp>
      <p:sp>
        <p:nvSpPr>
          <p:cNvPr id="17" name="Text 15"/>
          <p:cNvSpPr txBox="1"/>
          <p:nvPr/>
        </p:nvSpPr>
        <p:spPr>
          <a:xfrm>
            <a:off x="3566160" y="544068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18" name="Text 16"/>
          <p:cNvSpPr txBox="1"/>
          <p:nvPr/>
        </p:nvSpPr>
        <p:spPr>
          <a:xfrm>
            <a:off x="640080" y="59893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Talent is treated as a strategy output, not an afterthought: targets we cannot staff are not targets.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how the market comes to know us for this.</a:t>
            </a:r>
            <a:endParaRPr lang="en-US" sz="1450" dirty="0"/>
          </a:p>
        </p:txBody>
      </p:sp>
      <p:sp>
        <p:nvSpPr>
          <p:cNvPr id="4" name="Shape 2"/>
          <p:cNvSpPr/>
          <p:nvPr/>
        </p:nvSpPr>
        <p:spPr>
          <a:xfrm>
            <a:off x="640080" y="1874520"/>
            <a:ext cx="2029968" cy="2651760"/>
          </a:xfrm>
          <a:prstGeom prst="roundRect">
            <a:avLst>
              <a:gd name="adj" fmla="val 5405"/>
            </a:avLst>
          </a:prstGeom>
          <a:solidFill>
            <a:srgbClr val="E4EBF7"/>
          </a:solidFill>
          <a:ln/>
        </p:spPr>
      </p:sp>
      <p:sp>
        <p:nvSpPr>
          <p:cNvPr id="5" name="Shape 3"/>
          <p:cNvSpPr/>
          <p:nvPr/>
        </p:nvSpPr>
        <p:spPr>
          <a:xfrm>
            <a:off x="868680" y="2103120"/>
            <a:ext cx="365760" cy="365760"/>
          </a:xfrm>
          <a:prstGeom prst="ellipse">
            <a:avLst/>
          </a:prstGeom>
          <a:solidFill>
            <a:srgbClr val="3E5C8A"/>
          </a:solidFill>
          <a:ln/>
        </p:spPr>
      </p:sp>
      <p:sp>
        <p:nvSpPr>
          <p:cNvPr id="6" name="Text 4"/>
          <p:cNvSpPr txBox="1"/>
          <p:nvPr/>
        </p:nvSpPr>
        <p:spPr>
          <a:xfrm>
            <a:off x="868680"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Published views</a:t>
            </a:r>
            <a:endParaRPr lang="en-US" sz="1500" dirty="0"/>
          </a:p>
        </p:txBody>
      </p:sp>
      <p:sp>
        <p:nvSpPr>
          <p:cNvPr id="8" name="Text 6"/>
          <p:cNvSpPr txBox="1"/>
          <p:nvPr/>
        </p:nvSpPr>
        <p:spPr>
          <a:xfrm>
            <a:off x="868680"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Points of view</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Articles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Benchmark reports</a:t>
            </a:r>
            <a:endParaRPr lang="en-US" sz="1150" dirty="0"/>
          </a:p>
        </p:txBody>
      </p:sp>
      <p:sp>
        <p:nvSpPr>
          <p:cNvPr id="9" name="Shape 7"/>
          <p:cNvSpPr/>
          <p:nvPr/>
        </p:nvSpPr>
        <p:spPr>
          <a:xfrm>
            <a:off x="2852928" y="1874520"/>
            <a:ext cx="2029968" cy="2651760"/>
          </a:xfrm>
          <a:prstGeom prst="roundRect">
            <a:avLst>
              <a:gd name="adj" fmla="val 5405"/>
            </a:avLst>
          </a:prstGeom>
          <a:solidFill>
            <a:srgbClr val="EDF2FA"/>
          </a:solidFill>
          <a:ln/>
        </p:spPr>
      </p:sp>
      <p:sp>
        <p:nvSpPr>
          <p:cNvPr id="10" name="Shape 8"/>
          <p:cNvSpPr/>
          <p:nvPr/>
        </p:nvSpPr>
        <p:spPr>
          <a:xfrm>
            <a:off x="3081528" y="2103120"/>
            <a:ext cx="365760" cy="365760"/>
          </a:xfrm>
          <a:prstGeom prst="ellipse">
            <a:avLst/>
          </a:prstGeom>
          <a:solidFill>
            <a:srgbClr val="3E5C8A"/>
          </a:solidFill>
          <a:ln/>
        </p:spPr>
      </p:sp>
      <p:sp>
        <p:nvSpPr>
          <p:cNvPr id="11" name="Text 9"/>
          <p:cNvSpPr txBox="1"/>
          <p:nvPr/>
        </p:nvSpPr>
        <p:spPr>
          <a:xfrm>
            <a:off x="3081528"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3081528"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Stages</a:t>
            </a:r>
            <a:endParaRPr lang="en-US" sz="1500" dirty="0"/>
          </a:p>
        </p:txBody>
      </p:sp>
      <p:sp>
        <p:nvSpPr>
          <p:cNvPr id="13" name="Text 11"/>
          <p:cNvSpPr txBox="1"/>
          <p:nvPr/>
        </p:nvSpPr>
        <p:spPr>
          <a:xfrm>
            <a:off x="3081528"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Industry conferences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Flagship FSI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Panels and keynotes</a:t>
            </a:r>
            <a:endParaRPr lang="en-US" sz="1150" dirty="0"/>
          </a:p>
        </p:txBody>
      </p:sp>
      <p:sp>
        <p:nvSpPr>
          <p:cNvPr id="14" name="Shape 12"/>
          <p:cNvSpPr/>
          <p:nvPr/>
        </p:nvSpPr>
        <p:spPr>
          <a:xfrm>
            <a:off x="5065776" y="1874520"/>
            <a:ext cx="2029968" cy="2651760"/>
          </a:xfrm>
          <a:prstGeom prst="roundRect">
            <a:avLst>
              <a:gd name="adj" fmla="val 5405"/>
            </a:avLst>
          </a:prstGeom>
          <a:solidFill>
            <a:srgbClr val="E4EBF7"/>
          </a:solidFill>
          <a:ln/>
        </p:spPr>
      </p:sp>
      <p:sp>
        <p:nvSpPr>
          <p:cNvPr id="15" name="Shape 13"/>
          <p:cNvSpPr/>
          <p:nvPr/>
        </p:nvSpPr>
        <p:spPr>
          <a:xfrm>
            <a:off x="5294376" y="2103120"/>
            <a:ext cx="365760" cy="365760"/>
          </a:xfrm>
          <a:prstGeom prst="ellipse">
            <a:avLst/>
          </a:prstGeom>
          <a:solidFill>
            <a:srgbClr val="3E5C8A"/>
          </a:solidFill>
          <a:ln/>
        </p:spPr>
      </p:sp>
      <p:sp>
        <p:nvSpPr>
          <p:cNvPr id="16" name="Text 14"/>
          <p:cNvSpPr txBox="1"/>
          <p:nvPr/>
        </p:nvSpPr>
        <p:spPr>
          <a:xfrm>
            <a:off x="5294376"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5294376"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Client formats</a:t>
            </a:r>
            <a:endParaRPr lang="en-US" sz="1500" dirty="0"/>
          </a:p>
        </p:txBody>
      </p:sp>
      <p:sp>
        <p:nvSpPr>
          <p:cNvPr id="18" name="Text 16"/>
          <p:cNvSpPr txBox="1"/>
          <p:nvPr/>
        </p:nvSpPr>
        <p:spPr>
          <a:xfrm>
            <a:off x="5294376"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Executive workshops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Seminars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Roundtables</a:t>
            </a:r>
            <a:endParaRPr lang="en-US" sz="1150" dirty="0"/>
          </a:p>
        </p:txBody>
      </p:sp>
      <p:sp>
        <p:nvSpPr>
          <p:cNvPr id="19" name="Shape 17"/>
          <p:cNvSpPr/>
          <p:nvPr/>
        </p:nvSpPr>
        <p:spPr>
          <a:xfrm>
            <a:off x="7278624" y="1874520"/>
            <a:ext cx="2029968" cy="2651760"/>
          </a:xfrm>
          <a:prstGeom prst="roundRect">
            <a:avLst>
              <a:gd name="adj" fmla="val 5405"/>
            </a:avLst>
          </a:prstGeom>
          <a:solidFill>
            <a:srgbClr val="EDF2FA"/>
          </a:solidFill>
          <a:ln/>
        </p:spPr>
      </p:sp>
      <p:sp>
        <p:nvSpPr>
          <p:cNvPr id="20" name="Shape 18"/>
          <p:cNvSpPr/>
          <p:nvPr/>
        </p:nvSpPr>
        <p:spPr>
          <a:xfrm>
            <a:off x="7507224" y="2103120"/>
            <a:ext cx="365760" cy="365760"/>
          </a:xfrm>
          <a:prstGeom prst="ellipse">
            <a:avLst/>
          </a:prstGeom>
          <a:solidFill>
            <a:srgbClr val="3E5C8A"/>
          </a:solidFill>
          <a:ln/>
        </p:spPr>
      </p:sp>
      <p:sp>
        <p:nvSpPr>
          <p:cNvPr id="21" name="Text 19"/>
          <p:cNvSpPr txBox="1"/>
          <p:nvPr/>
        </p:nvSpPr>
        <p:spPr>
          <a:xfrm>
            <a:off x="7507224"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507224"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Digital</a:t>
            </a:r>
            <a:endParaRPr lang="en-US" sz="1500" dirty="0"/>
          </a:p>
        </p:txBody>
      </p:sp>
      <p:sp>
        <p:nvSpPr>
          <p:cNvPr id="23" name="Text 21"/>
          <p:cNvSpPr txBox="1"/>
          <p:nvPr/>
        </p:nvSpPr>
        <p:spPr>
          <a:xfrm>
            <a:off x="7507224"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Podcasts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Webinars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Social presence</a:t>
            </a:r>
            <a:endParaRPr lang="en-US" sz="1150" dirty="0"/>
          </a:p>
        </p:txBody>
      </p:sp>
      <p:sp>
        <p:nvSpPr>
          <p:cNvPr id="24" name="Shape 22"/>
          <p:cNvSpPr/>
          <p:nvPr/>
        </p:nvSpPr>
        <p:spPr>
          <a:xfrm>
            <a:off x="9491472" y="1874520"/>
            <a:ext cx="2029968" cy="2651760"/>
          </a:xfrm>
          <a:prstGeom prst="roundRect">
            <a:avLst>
              <a:gd name="adj" fmla="val 5405"/>
            </a:avLst>
          </a:prstGeom>
          <a:solidFill>
            <a:srgbClr val="E4EBF7"/>
          </a:solidFill>
          <a:ln/>
        </p:spPr>
      </p:sp>
      <p:sp>
        <p:nvSpPr>
          <p:cNvPr id="25" name="Shape 23"/>
          <p:cNvSpPr/>
          <p:nvPr/>
        </p:nvSpPr>
        <p:spPr>
          <a:xfrm>
            <a:off x="9720072" y="2103120"/>
            <a:ext cx="365760" cy="365760"/>
          </a:xfrm>
          <a:prstGeom prst="ellipse">
            <a:avLst/>
          </a:prstGeom>
          <a:solidFill>
            <a:srgbClr val="3E5C8A"/>
          </a:solidFill>
          <a:ln/>
        </p:spPr>
      </p:sp>
      <p:sp>
        <p:nvSpPr>
          <p:cNvPr id="26" name="Text 24"/>
          <p:cNvSpPr txBox="1"/>
          <p:nvPr/>
        </p:nvSpPr>
        <p:spPr>
          <a:xfrm>
            <a:off x="9720072"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9720072"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Partner-led</a:t>
            </a:r>
            <a:endParaRPr lang="en-US" sz="1500" dirty="0"/>
          </a:p>
        </p:txBody>
      </p:sp>
      <p:sp>
        <p:nvSpPr>
          <p:cNvPr id="28" name="Text 26"/>
          <p:cNvSpPr txBox="1"/>
          <p:nvPr/>
        </p:nvSpPr>
        <p:spPr>
          <a:xfrm>
            <a:off x="9720072"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Joint content</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Alliance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Co-branded assets</a:t>
            </a:r>
            <a:endParaRPr lang="en-US" sz="1150" dirty="0"/>
          </a:p>
        </p:txBody>
      </p:sp>
      <p:sp>
        <p:nvSpPr>
          <p:cNvPr id="29" name="Shape 27"/>
          <p:cNvSpPr/>
          <p:nvPr/>
        </p:nvSpPr>
        <p:spPr>
          <a:xfrm>
            <a:off x="640080" y="4800600"/>
            <a:ext cx="10881360" cy="960120"/>
          </a:xfrm>
          <a:prstGeom prst="roundRect">
            <a:avLst>
              <a:gd name="adj" fmla="val 9524"/>
            </a:avLst>
          </a:prstGeom>
          <a:solidFill>
            <a:srgbClr val="1E2761"/>
          </a:solidFill>
          <a:ln/>
        </p:spPr>
      </p:sp>
      <p:sp>
        <p:nvSpPr>
          <p:cNvPr id="30" name="Text 28"/>
          <p:cNvSpPr txBox="1"/>
          <p:nvPr/>
        </p:nvSpPr>
        <p:spPr>
          <a:xfrm>
            <a:off x="914400" y="4800600"/>
            <a:ext cx="10332720" cy="96012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For each channel the plan must answer: which ones we commit to, at what frequency, who fronts them, which accounts they target, and how we measure the return.</a:t>
            </a:r>
            <a:endParaRPr lang="en-US" sz="1350" dirty="0"/>
          </a:p>
        </p:txBody>
      </p:sp>
      <p:sp>
        <p:nvSpPr>
          <p:cNvPr id="31" name="Shape 29"/>
          <p:cNvSpPr/>
          <p:nvPr/>
        </p:nvSpPr>
        <p:spPr>
          <a:xfrm>
            <a:off x="4251960" y="5989320"/>
            <a:ext cx="3657600" cy="301752"/>
          </a:xfrm>
          <a:prstGeom prst="roundRect">
            <a:avLst>
              <a:gd name="adj" fmla="val 48485"/>
            </a:avLst>
          </a:prstGeom>
          <a:solidFill>
            <a:srgbClr val="FFFFFF"/>
          </a:solidFill>
          <a:ln w="12700">
            <a:solidFill>
              <a:srgbClr val="B8862B"/>
            </a:solidFill>
            <a:prstDash val="solid"/>
          </a:ln>
        </p:spPr>
      </p:sp>
      <p:sp>
        <p:nvSpPr>
          <p:cNvPr id="32" name="Text 30"/>
          <p:cNvSpPr txBox="1"/>
          <p:nvPr/>
        </p:nvSpPr>
        <p:spPr>
          <a:xfrm>
            <a:off x="4251960" y="5989320"/>
            <a:ext cx="36576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channel mix to be defined in the cycle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who we go to market with, and what we use each one for.</a:t>
            </a:r>
            <a:endParaRPr lang="en-US" sz="1450" dirty="0"/>
          </a:p>
        </p:txBody>
      </p:sp>
      <p:sp>
        <p:nvSpPr>
          <p:cNvPr id="4" name="Shape 2"/>
          <p:cNvSpPr/>
          <p:nvPr/>
        </p:nvSpPr>
        <p:spPr>
          <a:xfrm>
            <a:off x="640080" y="1828800"/>
            <a:ext cx="5120640" cy="2057400"/>
          </a:xfrm>
          <a:prstGeom prst="roundRect">
            <a:avLst>
              <a:gd name="adj" fmla="val 5333"/>
            </a:avLst>
          </a:prstGeom>
          <a:solidFill>
            <a:srgbClr val="EDF2FA"/>
          </a:solidFill>
          <a:ln/>
        </p:spPr>
      </p:sp>
      <p:sp>
        <p:nvSpPr>
          <p:cNvPr id="5" name="Text 3"/>
          <p:cNvSpPr txBox="1"/>
          <p:nvPr/>
        </p:nvSpPr>
        <p:spPr>
          <a:xfrm>
            <a:off x="914400" y="1965960"/>
            <a:ext cx="457200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Primary alliances</a:t>
            </a:r>
            <a:endParaRPr lang="en-US" sz="1700" dirty="0"/>
          </a:p>
        </p:txBody>
      </p:sp>
      <p:sp>
        <p:nvSpPr>
          <p:cNvPr id="6" name="Shape 4"/>
          <p:cNvSpPr/>
          <p:nvPr/>
        </p:nvSpPr>
        <p:spPr>
          <a:xfrm>
            <a:off x="914400" y="2468880"/>
            <a:ext cx="1402080" cy="1051560"/>
          </a:xfrm>
          <a:prstGeom prst="roundRect">
            <a:avLst>
              <a:gd name="adj" fmla="val 8696"/>
            </a:avLst>
          </a:prstGeom>
          <a:solidFill>
            <a:srgbClr val="1E2761"/>
          </a:solidFill>
          <a:ln/>
        </p:spPr>
      </p:sp>
      <p:sp>
        <p:nvSpPr>
          <p:cNvPr id="7" name="Text 5"/>
          <p:cNvSpPr txBox="1"/>
          <p:nvPr/>
        </p:nvSpPr>
        <p:spPr>
          <a:xfrm>
            <a:off x="91440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Oracle</a:t>
            </a:r>
            <a:endParaRPr lang="en-US" sz="1700" dirty="0"/>
          </a:p>
        </p:txBody>
      </p:sp>
      <p:sp>
        <p:nvSpPr>
          <p:cNvPr id="8" name="Shape 6"/>
          <p:cNvSpPr/>
          <p:nvPr/>
        </p:nvSpPr>
        <p:spPr>
          <a:xfrm>
            <a:off x="2499360" y="2468880"/>
            <a:ext cx="1402080" cy="1051560"/>
          </a:xfrm>
          <a:prstGeom prst="roundRect">
            <a:avLst>
              <a:gd name="adj" fmla="val 8696"/>
            </a:avLst>
          </a:prstGeom>
          <a:solidFill>
            <a:srgbClr val="1E2761"/>
          </a:solidFill>
          <a:ln/>
        </p:spPr>
      </p:sp>
      <p:sp>
        <p:nvSpPr>
          <p:cNvPr id="9" name="Text 7"/>
          <p:cNvSpPr txBox="1"/>
          <p:nvPr/>
        </p:nvSpPr>
        <p:spPr>
          <a:xfrm>
            <a:off x="249936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Google</a:t>
            </a:r>
            <a:endParaRPr lang="en-US" sz="1700" dirty="0"/>
          </a:p>
        </p:txBody>
      </p:sp>
      <p:sp>
        <p:nvSpPr>
          <p:cNvPr id="10" name="Shape 8"/>
          <p:cNvSpPr/>
          <p:nvPr/>
        </p:nvSpPr>
        <p:spPr>
          <a:xfrm>
            <a:off x="4084320" y="2468880"/>
            <a:ext cx="1402080" cy="1051560"/>
          </a:xfrm>
          <a:prstGeom prst="roundRect">
            <a:avLst>
              <a:gd name="adj" fmla="val 8696"/>
            </a:avLst>
          </a:prstGeom>
          <a:solidFill>
            <a:srgbClr val="1E2761"/>
          </a:solidFill>
          <a:ln/>
        </p:spPr>
      </p:sp>
      <p:sp>
        <p:nvSpPr>
          <p:cNvPr id="11" name="Text 9"/>
          <p:cNvSpPr txBox="1"/>
          <p:nvPr/>
        </p:nvSpPr>
        <p:spPr>
          <a:xfrm>
            <a:off x="408432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Amazon</a:t>
            </a:r>
            <a:endParaRPr lang="en-US" sz="1700" dirty="0"/>
          </a:p>
        </p:txBody>
      </p:sp>
      <p:sp>
        <p:nvSpPr>
          <p:cNvPr id="12" name="Shape 10"/>
          <p:cNvSpPr/>
          <p:nvPr/>
        </p:nvSpPr>
        <p:spPr>
          <a:xfrm>
            <a:off x="6309360" y="1828800"/>
            <a:ext cx="5212080" cy="2057400"/>
          </a:xfrm>
          <a:prstGeom prst="roundRect">
            <a:avLst>
              <a:gd name="adj" fmla="val 5333"/>
            </a:avLst>
          </a:prstGeom>
          <a:solidFill>
            <a:srgbClr val="EDF2FA"/>
          </a:solidFill>
          <a:ln/>
        </p:spPr>
      </p:sp>
      <p:sp>
        <p:nvSpPr>
          <p:cNvPr id="13" name="Text 11"/>
          <p:cNvSpPr txBox="1"/>
          <p:nvPr/>
        </p:nvSpPr>
        <p:spPr>
          <a:xfrm>
            <a:off x="6583680" y="1965960"/>
            <a:ext cx="4663440" cy="365760"/>
          </a:xfrm>
          <a:prstGeom prst="rect">
            <a:avLst/>
          </a:prstGeom>
          <a:noFill/>
          <a:ln/>
        </p:spPr>
        <p:txBody>
          <a:bodyPr wrap="square" lIns="0" tIns="0" rIns="0" bIns="0" rtlCol="0" anchor="ctr"/>
          <a:lstStyle/>
          <a:p>
            <a:pPr indent="0" marL="0">
              <a:buNone/>
            </a:pPr>
            <a:r>
              <a:rPr lang="en-US" sz="1700" b="1" dirty="0">
                <a:solidFill>
                  <a:srgbClr val="3E5C8A"/>
                </a:solidFill>
                <a:latin typeface="Calibri" pitchFamily="34" charset="0"/>
                <a:ea typeface="Calibri" pitchFamily="34" charset="-122"/>
                <a:cs typeface="Calibri" pitchFamily="34" charset="-120"/>
              </a:rPr>
              <a:t>Specialised alliances</a:t>
            </a:r>
            <a:endParaRPr lang="en-US" sz="1700" dirty="0"/>
          </a:p>
        </p:txBody>
      </p:sp>
      <p:sp>
        <p:nvSpPr>
          <p:cNvPr id="14" name="Shape 12"/>
          <p:cNvSpPr/>
          <p:nvPr/>
        </p:nvSpPr>
        <p:spPr>
          <a:xfrm>
            <a:off x="6583680" y="2468880"/>
            <a:ext cx="2240280" cy="1051560"/>
          </a:xfrm>
          <a:prstGeom prst="roundRect">
            <a:avLst>
              <a:gd name="adj" fmla="val 8696"/>
            </a:avLst>
          </a:prstGeom>
          <a:solidFill>
            <a:srgbClr val="3E5C8A"/>
          </a:solidFill>
          <a:ln/>
        </p:spPr>
      </p:sp>
      <p:sp>
        <p:nvSpPr>
          <p:cNvPr id="15" name="Text 13"/>
          <p:cNvSpPr txBox="1"/>
          <p:nvPr/>
        </p:nvSpPr>
        <p:spPr>
          <a:xfrm>
            <a:off x="658368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Temenos</a:t>
            </a:r>
            <a:endParaRPr lang="en-US" sz="1700" dirty="0"/>
          </a:p>
        </p:txBody>
      </p:sp>
      <p:sp>
        <p:nvSpPr>
          <p:cNvPr id="16" name="Shape 14"/>
          <p:cNvSpPr/>
          <p:nvPr/>
        </p:nvSpPr>
        <p:spPr>
          <a:xfrm>
            <a:off x="9006840" y="2468880"/>
            <a:ext cx="2240280" cy="1051560"/>
          </a:xfrm>
          <a:prstGeom prst="roundRect">
            <a:avLst>
              <a:gd name="adj" fmla="val 8696"/>
            </a:avLst>
          </a:prstGeom>
          <a:solidFill>
            <a:srgbClr val="3E5C8A"/>
          </a:solidFill>
          <a:ln/>
        </p:spPr>
      </p:sp>
      <p:sp>
        <p:nvSpPr>
          <p:cNvPr id="17" name="Text 15"/>
          <p:cNvSpPr txBox="1"/>
          <p:nvPr/>
        </p:nvSpPr>
        <p:spPr>
          <a:xfrm>
            <a:off x="900684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Intellect</a:t>
            </a:r>
            <a:endParaRPr lang="en-US" sz="1700" dirty="0"/>
          </a:p>
        </p:txBody>
      </p:sp>
      <p:sp>
        <p:nvSpPr>
          <p:cNvPr id="18" name="Shape 16"/>
          <p:cNvSpPr/>
          <p:nvPr/>
        </p:nvSpPr>
        <p:spPr>
          <a:xfrm>
            <a:off x="4023360" y="4023360"/>
            <a:ext cx="4114800" cy="301752"/>
          </a:xfrm>
          <a:prstGeom prst="roundRect">
            <a:avLst>
              <a:gd name="adj" fmla="val 48485"/>
            </a:avLst>
          </a:prstGeom>
          <a:solidFill>
            <a:srgbClr val="FFFFFF"/>
          </a:solidFill>
          <a:ln w="12700">
            <a:solidFill>
              <a:srgbClr val="B8862B"/>
            </a:solidFill>
            <a:prstDash val="solid"/>
          </a:ln>
        </p:spPr>
      </p:sp>
      <p:sp>
        <p:nvSpPr>
          <p:cNvPr id="19" name="Text 17"/>
          <p:cNvSpPr txBox="1"/>
          <p:nvPr/>
        </p:nvSpPr>
        <p:spPr>
          <a:xfrm>
            <a:off x="4023360" y="4023360"/>
            <a:ext cx="41148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further alliances to be defined in the cycle</a:t>
            </a:r>
            <a:endParaRPr lang="en-US" sz="1050" dirty="0"/>
          </a:p>
        </p:txBody>
      </p:sp>
      <p:sp>
        <p:nvSpPr>
          <p:cNvPr id="20" name="Text 18"/>
          <p:cNvSpPr txBox="1"/>
          <p:nvPr/>
        </p:nvSpPr>
        <p:spPr>
          <a:xfrm>
            <a:off x="640080" y="461772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For every alliance the plan must answer:</a:t>
            </a:r>
            <a:endParaRPr lang="en-US" sz="1400" dirty="0"/>
          </a:p>
        </p:txBody>
      </p:sp>
      <p:sp>
        <p:nvSpPr>
          <p:cNvPr id="21" name="Shape 19"/>
          <p:cNvSpPr/>
          <p:nvPr/>
        </p:nvSpPr>
        <p:spPr>
          <a:xfrm>
            <a:off x="640080" y="5029200"/>
            <a:ext cx="310896" cy="310896"/>
          </a:xfrm>
          <a:prstGeom prst="ellipse">
            <a:avLst/>
          </a:prstGeom>
          <a:solidFill>
            <a:srgbClr val="1E2761"/>
          </a:solidFill>
          <a:ln/>
        </p:spPr>
      </p:sp>
      <p:sp>
        <p:nvSpPr>
          <p:cNvPr id="22" name="Text 20"/>
          <p:cNvSpPr txBox="1"/>
          <p:nvPr/>
        </p:nvSpPr>
        <p:spPr>
          <a:xfrm>
            <a:off x="64008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3" name="Text 21"/>
          <p:cNvSpPr txBox="1"/>
          <p:nvPr/>
        </p:nvSpPr>
        <p:spPr>
          <a:xfrm>
            <a:off x="109728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we leverage it for</a:t>
            </a:r>
            <a:endParaRPr lang="en-US" sz="1300" dirty="0"/>
          </a:p>
        </p:txBody>
      </p:sp>
      <p:sp>
        <p:nvSpPr>
          <p:cNvPr id="24" name="Text 22"/>
          <p:cNvSpPr txBox="1"/>
          <p:nvPr/>
        </p:nvSpPr>
        <p:spPr>
          <a:xfrm>
            <a:off x="347472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propositions and which pillars it sits behind</a:t>
            </a:r>
            <a:endParaRPr lang="en-US" sz="1200" dirty="0"/>
          </a:p>
        </p:txBody>
      </p:sp>
      <p:sp>
        <p:nvSpPr>
          <p:cNvPr id="25" name="Shape 23"/>
          <p:cNvSpPr/>
          <p:nvPr/>
        </p:nvSpPr>
        <p:spPr>
          <a:xfrm>
            <a:off x="6263640" y="5029200"/>
            <a:ext cx="310896" cy="310896"/>
          </a:xfrm>
          <a:prstGeom prst="ellipse">
            <a:avLst/>
          </a:prstGeom>
          <a:solidFill>
            <a:srgbClr val="1E2761"/>
          </a:solidFill>
          <a:ln/>
        </p:spPr>
      </p:sp>
      <p:sp>
        <p:nvSpPr>
          <p:cNvPr id="26" name="Text 24"/>
          <p:cNvSpPr txBox="1"/>
          <p:nvPr/>
        </p:nvSpPr>
        <p:spPr>
          <a:xfrm>
            <a:off x="626364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7" name="Text 25"/>
          <p:cNvSpPr txBox="1"/>
          <p:nvPr/>
        </p:nvSpPr>
        <p:spPr>
          <a:xfrm>
            <a:off x="672084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the relationship is</a:t>
            </a:r>
            <a:endParaRPr lang="en-US" sz="1300" dirty="0"/>
          </a:p>
        </p:txBody>
      </p:sp>
      <p:sp>
        <p:nvSpPr>
          <p:cNvPr id="28" name="Text 26"/>
          <p:cNvSpPr txBox="1"/>
          <p:nvPr/>
        </p:nvSpPr>
        <p:spPr>
          <a:xfrm>
            <a:off x="909828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Co-sell, resell, delivery partner or referral</a:t>
            </a:r>
            <a:endParaRPr lang="en-US" sz="1200" dirty="0"/>
          </a:p>
        </p:txBody>
      </p:sp>
      <p:sp>
        <p:nvSpPr>
          <p:cNvPr id="29" name="Shape 27"/>
          <p:cNvSpPr/>
          <p:nvPr/>
        </p:nvSpPr>
        <p:spPr>
          <a:xfrm>
            <a:off x="640080" y="5715000"/>
            <a:ext cx="310896" cy="310896"/>
          </a:xfrm>
          <a:prstGeom prst="ellipse">
            <a:avLst/>
          </a:prstGeom>
          <a:solidFill>
            <a:srgbClr val="3E5C8A"/>
          </a:solidFill>
          <a:ln/>
        </p:spPr>
      </p:sp>
      <p:sp>
        <p:nvSpPr>
          <p:cNvPr id="30" name="Text 28"/>
          <p:cNvSpPr txBox="1"/>
          <p:nvPr/>
        </p:nvSpPr>
        <p:spPr>
          <a:xfrm>
            <a:off x="64008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1" name="Text 29"/>
          <p:cNvSpPr txBox="1"/>
          <p:nvPr/>
        </p:nvSpPr>
        <p:spPr>
          <a:xfrm>
            <a:off x="109728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Where it opens doors</a:t>
            </a:r>
            <a:endParaRPr lang="en-US" sz="1300" dirty="0"/>
          </a:p>
        </p:txBody>
      </p:sp>
      <p:sp>
        <p:nvSpPr>
          <p:cNvPr id="32" name="Text 30"/>
          <p:cNvSpPr txBox="1"/>
          <p:nvPr/>
        </p:nvSpPr>
        <p:spPr>
          <a:xfrm>
            <a:off x="347472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markets and which accounts it gives us access to</a:t>
            </a:r>
            <a:endParaRPr lang="en-US" sz="1200" dirty="0"/>
          </a:p>
        </p:txBody>
      </p:sp>
      <p:sp>
        <p:nvSpPr>
          <p:cNvPr id="33" name="Shape 31"/>
          <p:cNvSpPr/>
          <p:nvPr/>
        </p:nvSpPr>
        <p:spPr>
          <a:xfrm>
            <a:off x="6263640" y="5715000"/>
            <a:ext cx="310896" cy="310896"/>
          </a:xfrm>
          <a:prstGeom prst="ellipse">
            <a:avLst/>
          </a:prstGeom>
          <a:solidFill>
            <a:srgbClr val="3E5C8A"/>
          </a:solidFill>
          <a:ln/>
        </p:spPr>
      </p:sp>
      <p:sp>
        <p:nvSpPr>
          <p:cNvPr id="34" name="Text 32"/>
          <p:cNvSpPr txBox="1"/>
          <p:nvPr/>
        </p:nvSpPr>
        <p:spPr>
          <a:xfrm>
            <a:off x="626364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5" name="Text 33"/>
          <p:cNvSpPr txBox="1"/>
          <p:nvPr/>
        </p:nvSpPr>
        <p:spPr>
          <a:xfrm>
            <a:off x="672084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it costs us</a:t>
            </a:r>
            <a:endParaRPr lang="en-US" sz="1300" dirty="0"/>
          </a:p>
        </p:txBody>
      </p:sp>
      <p:sp>
        <p:nvSpPr>
          <p:cNvPr id="36" name="Text 34"/>
          <p:cNvSpPr txBox="1"/>
          <p:nvPr/>
        </p:nvSpPr>
        <p:spPr>
          <a:xfrm>
            <a:off x="909828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Certifications, credentials and commitments they expect back</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Priority markets and segments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Owners, dates and participants are set at kick-off.</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3520440" cy="2514600"/>
          </a:xfrm>
          <a:prstGeom prst="roundRect">
            <a:avLst>
              <a:gd name="adj" fmla="val 3636"/>
            </a:avLst>
          </a:prstGeom>
          <a:solidFill>
            <a:srgbClr val="FFFFFF"/>
          </a:solidFill>
          <a:ln w="12700">
            <a:solidFill>
              <a:srgbClr val="C9D4E6"/>
            </a:solidFill>
            <a:prstDash val="solid"/>
          </a:ln>
        </p:spPr>
      </p:sp>
      <p:sp>
        <p:nvSpPr>
          <p:cNvPr id="8" name="Shape 6"/>
          <p:cNvSpPr/>
          <p:nvPr/>
        </p:nvSpPr>
        <p:spPr>
          <a:xfrm>
            <a:off x="640080" y="2834640"/>
            <a:ext cx="3520440" cy="502920"/>
          </a:xfrm>
          <a:prstGeom prst="rect">
            <a:avLst/>
          </a:prstGeom>
          <a:solidFill>
            <a:srgbClr val="1E2761"/>
          </a:solidFill>
          <a:ln/>
        </p:spPr>
      </p:sp>
      <p:sp>
        <p:nvSpPr>
          <p:cNvPr id="9" name="Text 7"/>
          <p:cNvSpPr txBox="1"/>
          <p:nvPr/>
        </p:nvSpPr>
        <p:spPr>
          <a:xfrm>
            <a:off x="804672" y="2834640"/>
            <a:ext cx="3191256" cy="5029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Market and clients</a:t>
            </a:r>
            <a:endParaRPr lang="en-US" sz="12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segments</a:t>
            </a:r>
            <a:endParaRPr lang="en-US" sz="1050" dirty="0"/>
          </a:p>
        </p:txBody>
      </p:sp>
      <p:sp>
        <p:nvSpPr>
          <p:cNvPr id="11" name="Shape 9"/>
          <p:cNvSpPr/>
          <p:nvPr/>
        </p:nvSpPr>
        <p:spPr>
          <a:xfrm>
            <a:off x="841248" y="3867912"/>
            <a:ext cx="3118104"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3118104"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3118104" cy="0"/>
          </a:xfrm>
          <a:prstGeom prst="line">
            <a:avLst/>
          </a:prstGeom>
          <a:noFill/>
          <a:ln w="12700">
            <a:solidFill>
              <a:srgbClr val="E1E8F2"/>
            </a:solidFill>
            <a:prstDash val="solid"/>
          </a:ln>
        </p:spPr>
      </p:sp>
      <p:sp>
        <p:nvSpPr>
          <p:cNvPr id="16" name="Shape 14"/>
          <p:cNvSpPr/>
          <p:nvPr/>
        </p:nvSpPr>
        <p:spPr>
          <a:xfrm>
            <a:off x="4325112" y="2834640"/>
            <a:ext cx="3520440" cy="2514600"/>
          </a:xfrm>
          <a:prstGeom prst="roundRect">
            <a:avLst>
              <a:gd name="adj" fmla="val 3636"/>
            </a:avLst>
          </a:prstGeom>
          <a:solidFill>
            <a:srgbClr val="FFFFFF"/>
          </a:solidFill>
          <a:ln w="12700">
            <a:solidFill>
              <a:srgbClr val="C9D4E6"/>
            </a:solidFill>
            <a:prstDash val="solid"/>
          </a:ln>
        </p:spPr>
      </p:sp>
      <p:sp>
        <p:nvSpPr>
          <p:cNvPr id="17" name="Shape 15"/>
          <p:cNvSpPr/>
          <p:nvPr/>
        </p:nvSpPr>
        <p:spPr>
          <a:xfrm>
            <a:off x="4325112" y="2834640"/>
            <a:ext cx="3520440" cy="502920"/>
          </a:xfrm>
          <a:prstGeom prst="rect">
            <a:avLst/>
          </a:prstGeom>
          <a:solidFill>
            <a:srgbClr val="3E5C8A"/>
          </a:solidFill>
          <a:ln/>
        </p:spPr>
      </p:sp>
      <p:sp>
        <p:nvSpPr>
          <p:cNvPr id="18" name="Text 16"/>
          <p:cNvSpPr txBox="1"/>
          <p:nvPr/>
        </p:nvSpPr>
        <p:spPr>
          <a:xfrm>
            <a:off x="4489704" y="2834640"/>
            <a:ext cx="3191256" cy="5029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Offerings, delivery and capability</a:t>
            </a:r>
            <a:endParaRPr lang="en-US" sz="1250" dirty="0"/>
          </a:p>
        </p:txBody>
      </p:sp>
      <p:sp>
        <p:nvSpPr>
          <p:cNvPr id="19" name="Text 17"/>
          <p:cNvSpPr txBox="1"/>
          <p:nvPr/>
        </p:nvSpPr>
        <p:spPr>
          <a:xfrm>
            <a:off x="4526280"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Propositions</a:t>
            </a:r>
            <a:endParaRPr lang="en-US" sz="1050" dirty="0"/>
          </a:p>
        </p:txBody>
      </p:sp>
      <p:sp>
        <p:nvSpPr>
          <p:cNvPr id="20" name="Shape 18"/>
          <p:cNvSpPr/>
          <p:nvPr/>
        </p:nvSpPr>
        <p:spPr>
          <a:xfrm>
            <a:off x="4526280" y="3867912"/>
            <a:ext cx="3118104" cy="0"/>
          </a:xfrm>
          <a:prstGeom prst="line">
            <a:avLst/>
          </a:prstGeom>
          <a:noFill/>
          <a:ln w="12700">
            <a:solidFill>
              <a:srgbClr val="E1E8F2"/>
            </a:solidFill>
            <a:prstDash val="solid"/>
          </a:ln>
        </p:spPr>
      </p:sp>
      <p:sp>
        <p:nvSpPr>
          <p:cNvPr id="21" name="Text 19"/>
          <p:cNvSpPr txBox="1"/>
          <p:nvPr/>
        </p:nvSpPr>
        <p:spPr>
          <a:xfrm>
            <a:off x="4526280"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margin</a:t>
            </a:r>
            <a:endParaRPr lang="en-US" sz="1050" dirty="0"/>
          </a:p>
        </p:txBody>
      </p:sp>
      <p:sp>
        <p:nvSpPr>
          <p:cNvPr id="22" name="Shape 20"/>
          <p:cNvSpPr/>
          <p:nvPr/>
        </p:nvSpPr>
        <p:spPr>
          <a:xfrm>
            <a:off x="4526280" y="4434840"/>
            <a:ext cx="3118104" cy="0"/>
          </a:xfrm>
          <a:prstGeom prst="line">
            <a:avLst/>
          </a:prstGeom>
          <a:noFill/>
          <a:ln w="12700">
            <a:solidFill>
              <a:srgbClr val="E1E8F2"/>
            </a:solidFill>
            <a:prstDash val="solid"/>
          </a:ln>
        </p:spPr>
      </p:sp>
      <p:sp>
        <p:nvSpPr>
          <p:cNvPr id="23" name="Text 21"/>
          <p:cNvSpPr txBox="1"/>
          <p:nvPr/>
        </p:nvSpPr>
        <p:spPr>
          <a:xfrm>
            <a:off x="4526280"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24" name="Shape 22"/>
          <p:cNvSpPr/>
          <p:nvPr/>
        </p:nvSpPr>
        <p:spPr>
          <a:xfrm>
            <a:off x="4526280" y="5001768"/>
            <a:ext cx="3118104" cy="0"/>
          </a:xfrm>
          <a:prstGeom prst="line">
            <a:avLst/>
          </a:prstGeom>
          <a:noFill/>
          <a:ln w="12700">
            <a:solidFill>
              <a:srgbClr val="E1E8F2"/>
            </a:solidFill>
            <a:prstDash val="solid"/>
          </a:ln>
        </p:spPr>
      </p:sp>
      <p:sp>
        <p:nvSpPr>
          <p:cNvPr id="25" name="Shape 23"/>
          <p:cNvSpPr/>
          <p:nvPr/>
        </p:nvSpPr>
        <p:spPr>
          <a:xfrm>
            <a:off x="8010144" y="2834640"/>
            <a:ext cx="3520440" cy="2514600"/>
          </a:xfrm>
          <a:prstGeom prst="roundRect">
            <a:avLst>
              <a:gd name="adj" fmla="val 3636"/>
            </a:avLst>
          </a:prstGeom>
          <a:solidFill>
            <a:srgbClr val="FFFFFF"/>
          </a:solidFill>
          <a:ln w="12700">
            <a:solidFill>
              <a:srgbClr val="C9D4E6"/>
            </a:solidFill>
            <a:prstDash val="solid"/>
          </a:ln>
        </p:spPr>
      </p:sp>
      <p:sp>
        <p:nvSpPr>
          <p:cNvPr id="26" name="Shape 24"/>
          <p:cNvSpPr/>
          <p:nvPr/>
        </p:nvSpPr>
        <p:spPr>
          <a:xfrm>
            <a:off x="8010144" y="2834640"/>
            <a:ext cx="3520440" cy="502920"/>
          </a:xfrm>
          <a:prstGeom prst="rect">
            <a:avLst/>
          </a:prstGeom>
          <a:solidFill>
            <a:srgbClr val="1E2761"/>
          </a:solidFill>
          <a:ln/>
        </p:spPr>
      </p:sp>
      <p:sp>
        <p:nvSpPr>
          <p:cNvPr id="27" name="Text 25"/>
          <p:cNvSpPr txBox="1"/>
          <p:nvPr/>
        </p:nvSpPr>
        <p:spPr>
          <a:xfrm>
            <a:off x="8174736" y="2834640"/>
            <a:ext cx="3191256" cy="5029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Route to market</a:t>
            </a:r>
            <a:endParaRPr lang="en-US" sz="1250" dirty="0"/>
          </a:p>
        </p:txBody>
      </p:sp>
      <p:sp>
        <p:nvSpPr>
          <p:cNvPr id="28" name="Text 26"/>
          <p:cNvSpPr txBox="1"/>
          <p:nvPr/>
        </p:nvSpPr>
        <p:spPr>
          <a:xfrm>
            <a:off x="82113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29" name="Shape 27"/>
          <p:cNvSpPr/>
          <p:nvPr/>
        </p:nvSpPr>
        <p:spPr>
          <a:xfrm>
            <a:off x="8211312" y="3867912"/>
            <a:ext cx="3118104" cy="0"/>
          </a:xfrm>
          <a:prstGeom prst="line">
            <a:avLst/>
          </a:prstGeom>
          <a:noFill/>
          <a:ln w="12700">
            <a:solidFill>
              <a:srgbClr val="E1E8F2"/>
            </a:solidFill>
            <a:prstDash val="solid"/>
          </a:ln>
        </p:spPr>
      </p:sp>
      <p:sp>
        <p:nvSpPr>
          <p:cNvPr id="30" name="Text 28"/>
          <p:cNvSpPr txBox="1"/>
          <p:nvPr/>
        </p:nvSpPr>
        <p:spPr>
          <a:xfrm>
            <a:off x="82113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31" name="Shape 29"/>
          <p:cNvSpPr/>
          <p:nvPr/>
        </p:nvSpPr>
        <p:spPr>
          <a:xfrm>
            <a:off x="8211312" y="4434840"/>
            <a:ext cx="3118104" cy="0"/>
          </a:xfrm>
          <a:prstGeom prst="line">
            <a:avLst/>
          </a:prstGeom>
          <a:noFill/>
          <a:ln w="12700">
            <a:solidFill>
              <a:srgbClr val="E1E8F2"/>
            </a:solidFill>
            <a:prstDash val="solid"/>
          </a:ln>
        </p:spPr>
      </p:sp>
      <p:sp>
        <p:nvSpPr>
          <p:cNvPr id="32" name="Text 30"/>
          <p:cNvSpPr txBox="1"/>
          <p:nvPr/>
        </p:nvSpPr>
        <p:spPr>
          <a:xfrm>
            <a:off x="82113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33" name="Shape 31"/>
          <p:cNvSpPr/>
          <p:nvPr/>
        </p:nvSpPr>
        <p:spPr>
          <a:xfrm>
            <a:off x="8211312" y="5001768"/>
            <a:ext cx="3118104" cy="0"/>
          </a:xfrm>
          <a:prstGeom prst="line">
            <a:avLst/>
          </a:prstGeom>
          <a:noFill/>
          <a:ln w="12700">
            <a:solidFill>
              <a:srgbClr val="E1E8F2"/>
            </a:solidFill>
            <a:prstDash val="solid"/>
          </a:ln>
        </p:spPr>
      </p:sp>
      <p:sp>
        <p:nvSpPr>
          <p:cNvPr id="34" name="Shape 32"/>
          <p:cNvSpPr/>
          <p:nvPr/>
        </p:nvSpPr>
        <p:spPr>
          <a:xfrm>
            <a:off x="640080" y="5532120"/>
            <a:ext cx="10881360" cy="777240"/>
          </a:xfrm>
          <a:prstGeom prst="roundRect">
            <a:avLst>
              <a:gd name="adj" fmla="val 11765"/>
            </a:avLst>
          </a:prstGeom>
          <a:solidFill>
            <a:srgbClr val="FFFFFF"/>
          </a:solidFill>
          <a:ln w="15875">
            <a:solidFill>
              <a:srgbClr val="1E2761"/>
            </a:solidFill>
            <a:prstDash val="solid"/>
          </a:ln>
        </p:spPr>
      </p:sp>
      <p:sp>
        <p:nvSpPr>
          <p:cNvPr id="35" name="Text 33"/>
          <p:cNvSpPr txBox="1"/>
          <p:nvPr/>
        </p:nvSpPr>
        <p:spPr>
          <a:xfrm>
            <a:off x="914400" y="5532120"/>
            <a:ext cx="1828800" cy="77724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DISCIPLINE</a:t>
            </a:r>
            <a:endParaRPr lang="en-US" sz="1200" dirty="0"/>
          </a:p>
        </p:txBody>
      </p:sp>
      <p:sp>
        <p:nvSpPr>
          <p:cNvPr id="36" name="Shape 34"/>
          <p:cNvSpPr/>
          <p:nvPr/>
        </p:nvSpPr>
        <p:spPr>
          <a:xfrm>
            <a:off x="2926080" y="6062472"/>
            <a:ext cx="8321040" cy="0"/>
          </a:xfrm>
          <a:prstGeom prst="line">
            <a:avLst/>
          </a:prstGeom>
          <a:noFill/>
          <a:ln w="12700">
            <a:solidFill>
              <a:srgbClr val="C9D4E6"/>
            </a:solidFill>
            <a:prstDash val="solid"/>
          </a:ln>
        </p:spPr>
      </p:sp>
      <p:sp>
        <p:nvSpPr>
          <p:cNvPr id="37" name="Text 35"/>
          <p:cNvSpPr txBox="1"/>
          <p:nvPr/>
        </p:nvSpPr>
        <p:spPr>
          <a:xfrm>
            <a:off x="640080" y="6382512"/>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Priority</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Priority: primary, secondary or watch. Rationale should stand on evidence, not familiarity.</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named account.</a:t>
            </a:r>
            <a:endParaRPr lang="en-US" sz="14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188720"/>
                <a:gridCol w="1280160"/>
                <a:gridCol w="2926080"/>
                <a:gridCol w="1371600"/>
                <a:gridCol w="1097280"/>
                <a:gridCol w="9144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we target there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85292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8" name="Text 5"/>
          <p:cNvSpPr txBox="1"/>
          <p:nvPr/>
        </p:nvSpPr>
        <p:spPr>
          <a:xfrm>
            <a:off x="40416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9" name="Text 6"/>
          <p:cNvSpPr txBox="1"/>
          <p:nvPr/>
        </p:nvSpPr>
        <p:spPr>
          <a:xfrm>
            <a:off x="532180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we target there</a:t>
            </a:r>
            <a:endParaRPr lang="en-US" sz="1150" dirty="0"/>
          </a:p>
        </p:txBody>
      </p:sp>
      <p:sp>
        <p:nvSpPr>
          <p:cNvPr id="10" name="Text 7"/>
          <p:cNvSpPr txBox="1"/>
          <p:nvPr/>
        </p:nvSpPr>
        <p:spPr>
          <a:xfrm>
            <a:off x="82478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1" name="Text 8"/>
          <p:cNvSpPr txBox="1"/>
          <p:nvPr/>
        </p:nvSpPr>
        <p:spPr>
          <a:xfrm>
            <a:off x="96194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2" name="Text 9"/>
          <p:cNvSpPr txBox="1"/>
          <p:nvPr/>
        </p:nvSpPr>
        <p:spPr>
          <a:xfrm>
            <a:off x="1071676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Stage: relationship only, qualified, active pursuit. Every account carries exactly one owner.</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account and offering.</a:t>
            </a:r>
            <a:endParaRPr lang="en-US" sz="14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priority account.</a:t>
            </a:r>
            <a:endParaRPr lang="en-US" sz="14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Partner owner means our accountable partner. Alliance lead is the vendor relationship behind the account.</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delivery and capability · one row per integrated proposition.</a:t>
            </a:r>
            <a:endParaRPr lang="en-US" sz="14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011680"/>
                <a:gridCol w="23774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Lead 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Pillars involved</a:t>
            </a:r>
            <a:endParaRPr lang="en-US" sz="1150" dirty="0"/>
          </a:p>
        </p:txBody>
      </p:sp>
      <p:sp>
        <p:nvSpPr>
          <p:cNvPr id="8" name="Text 5"/>
          <p:cNvSpPr txBox="1"/>
          <p:nvPr/>
        </p:nvSpPr>
        <p:spPr>
          <a:xfrm>
            <a:off x="559612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a:t>
            </a:r>
            <a:endParaRPr lang="en-US" sz="1150" dirty="0"/>
          </a:p>
        </p:txBody>
      </p:sp>
      <p:sp>
        <p:nvSpPr>
          <p:cNvPr id="9" name="Text 6"/>
          <p:cNvSpPr txBox="1"/>
          <p:nvPr/>
        </p:nvSpPr>
        <p:spPr>
          <a:xfrm>
            <a:off x="7607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0" name="Text 7"/>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Lead pillar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delivery and capability · one row per offering.</a:t>
            </a:r>
            <a:endParaRPr lang="en-US" sz="14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offering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delivery and capability · one row per offering.</a:t>
            </a:r>
            <a:endParaRPr lang="en-US" sz="14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103120"/>
                <a:gridCol w="1280160"/>
                <a:gridCol w="1371600"/>
                <a:gridCol w="1280160"/>
                <a:gridCol w="128016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8" name="Text 5"/>
          <p:cNvSpPr txBox="1"/>
          <p:nvPr/>
        </p:nvSpPr>
        <p:spPr>
          <a:xfrm>
            <a:off x="523036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Onshore %</a:t>
            </a:r>
            <a:endParaRPr lang="en-US" sz="1150" dirty="0"/>
          </a:p>
        </p:txBody>
      </p:sp>
      <p:sp>
        <p:nvSpPr>
          <p:cNvPr id="9" name="Text 6"/>
          <p:cNvSpPr txBox="1"/>
          <p:nvPr/>
        </p:nvSpPr>
        <p:spPr>
          <a:xfrm>
            <a:off x="651052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Nearshore %</a:t>
            </a:r>
            <a:endParaRPr lang="en-US" sz="1150" dirty="0"/>
          </a:p>
        </p:txBody>
      </p:sp>
      <p:sp>
        <p:nvSpPr>
          <p:cNvPr id="10" name="Text 7"/>
          <p:cNvSpPr txBox="1"/>
          <p:nvPr/>
        </p:nvSpPr>
        <p:spPr>
          <a:xfrm>
            <a:off x="78821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Offshore %</a:t>
            </a:r>
            <a:endParaRPr lang="en-US" sz="1150" dirty="0"/>
          </a:p>
        </p:txBody>
      </p:sp>
      <p:sp>
        <p:nvSpPr>
          <p:cNvPr id="11" name="Text 8"/>
          <p:cNvSpPr txBox="1"/>
          <p:nvPr/>
        </p:nvSpPr>
        <p:spPr>
          <a:xfrm>
            <a:off x="916228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The construct drives the rate, the rate drives the margin. Record the floor as well as the target.</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delivery and capability · one row per market.</a:t>
            </a:r>
            <a:endParaRPr lang="en-US" sz="14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1920240"/>
                <a:gridCol w="1737360"/>
                <a:gridCol w="2011680"/>
                <a:gridCol w="155448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8" name="Text 5"/>
          <p:cNvSpPr txBox="1"/>
          <p:nvPr/>
        </p:nvSpPr>
        <p:spPr>
          <a:xfrm>
            <a:off x="48646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9" name="Text 6"/>
          <p:cNvSpPr txBox="1"/>
          <p:nvPr/>
        </p:nvSpPr>
        <p:spPr>
          <a:xfrm>
            <a:off x="660196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0" name="Text 7"/>
          <p:cNvSpPr txBox="1"/>
          <p:nvPr/>
        </p:nvSpPr>
        <p:spPr>
          <a:xfrm>
            <a:off x="861364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Set by market and offering, reconciled against the account revenue plan and against capacity.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delivery and capability · one row per role and level.</a:t>
            </a:r>
            <a:endParaRPr lang="en-US" sz="14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Route to market · one row per alliance.</a:t>
            </a:r>
            <a:endParaRPr lang="en-US" sz="14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645920"/>
                <a:gridCol w="1554480"/>
                <a:gridCol w="2651760"/>
                <a:gridCol w="1463040"/>
                <a:gridCol w="20116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9572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8" name="Text 5"/>
          <p:cNvSpPr txBox="1"/>
          <p:nvPr/>
        </p:nvSpPr>
        <p:spPr>
          <a:xfrm>
            <a:off x="39502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it sits behind</a:t>
            </a:r>
            <a:endParaRPr lang="en-US" sz="1150" dirty="0"/>
          </a:p>
        </p:txBody>
      </p:sp>
      <p:sp>
        <p:nvSpPr>
          <p:cNvPr id="9" name="Text 6"/>
          <p:cNvSpPr txBox="1"/>
          <p:nvPr/>
        </p:nvSpPr>
        <p:spPr>
          <a:xfrm>
            <a:off x="66019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Markets</a:t>
            </a:r>
            <a:endParaRPr lang="en-US" sz="1150" dirty="0"/>
          </a:p>
        </p:txBody>
      </p:sp>
      <p:sp>
        <p:nvSpPr>
          <p:cNvPr id="10" name="Text 7"/>
          <p:cNvSpPr txBox="1"/>
          <p:nvPr/>
        </p:nvSpPr>
        <p:spPr>
          <a:xfrm>
            <a:off x="806500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Role: co-sell, resell, delivery partner or referral. Commitments run both ways.</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Route to market · one row per planned activity.</a:t>
            </a:r>
            <a:endParaRPr lang="en-US" sz="14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645920"/>
                <a:gridCol w="2743200"/>
                <a:gridCol w="1371600"/>
                <a:gridCol w="128016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How we measure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3127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8" name="Text 5"/>
          <p:cNvSpPr txBox="1"/>
          <p:nvPr/>
        </p:nvSpPr>
        <p:spPr>
          <a:xfrm>
            <a:off x="477316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markets</a:t>
            </a:r>
            <a:endParaRPr lang="en-US" sz="1150" dirty="0"/>
          </a:p>
        </p:txBody>
      </p:sp>
      <p:sp>
        <p:nvSpPr>
          <p:cNvPr id="9" name="Text 6"/>
          <p:cNvSpPr txBox="1"/>
          <p:nvPr/>
        </p:nvSpPr>
        <p:spPr>
          <a:xfrm>
            <a:off x="75163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88796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How we measure it</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activity points at named accounts or markets. General brand-building does not earn a row.</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2026-09-28T12:20:46Z</dcterms:created>
  <dcterms:modified xsi:type="dcterms:W3CDTF">2026-09-28T12:20:46Z</dcterms:modified>
</cp:coreProperties>
</file>