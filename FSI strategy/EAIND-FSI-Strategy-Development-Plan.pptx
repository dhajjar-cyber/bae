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primarily banking.
Three pillars:
1. Industry Solutions — core-led transformation: core modernisation, core banking and other core packages. Also full systems-integration capability: we can take the SI role and own the end-to-end setup, including design governance, functional governance, delivery management and individual stream management, to stand up a greenfield bank or modernise an incumbent.
2. Data and AI — enterprise AI, core AI, AI use-case activation, and standard data work: data platforms, warehouses, ETL, reporting, all for banking.
3. Engineering and Cloud — cloud advisory and implementation, plus custom engineered solutions: integration management, microservices, API gateways, and bespoke core engineering. Less common in banking; likeliest in investments and wealth.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Deliberation material, not a recommendation. The three take genuinely different stances so the choice is real:
A. The integrator — leads with breadth and ownership: core, data and engineering under one team, including full SI. Closest to how the portfolio is already built, and easiest to evidence. Weakest on differentiation, since every large SI claims some version of it.
B. AI-native banking — leads with AI as the through-line rather than a separate offering, which is the strongest differentiator available right now and matches regional client ambition. It obliges us to prove it: if the catalogue does not visibly carry AI in every proposition, the vision undercuts itself. It also risks sounding like every other AI claim unless the proof is concrete.
C. Domain depth — leads with knowing banking, and being able to both advise and build. Quietest of the three and the hardest to headline, but it is the one clients actually reward in this region, and it is defensible against both global SIs and product vendors.
A combination is possible and may be where this lands: for example domain depth as the base claim with AI-native as the edge. Resist merging all three, which produces a sentence that says nothing.
Test to apply: what we do, for whom, what makes us different — and whether a competitor could lift it word for word. If they could, it is positioning, not vision.
Whichever is chosen, the ambition slide then puts numbers and a date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carry the most weight here.
AI and innovation embedded: AI is not a separate line item we sell when asked. Every proposition in the catalogue carries an AI or innovation component by design — a core modernisation that lands with intelligent operations and automated testing, an integration programme that ships with AI-assisted engineering, a data platform that arrives with use cases already running. Two reasons: it is where client expectation is heading in this region, and it is what stops the catalogue reading like commodity systems integration. Practically it becomes a test applied to the catalogue in the offerings workstream: if a proposition has no AI or innovation content, say why, or change it.
Domain-specific, not agnostic: financial services, and banking in particular, is specialised enough that generic technology credentials do not travel. Clients expect the team in the room to know core banking, payments, regulatory reporting or wealth operations — not just cloud, data or integration in the abstract. Practically this means propositions are written in banking language and mapped to banking outcomes; credentials and case studies are FSI ones; CVs put domain experience forward; and where we borrow capability from a horizontal pool, it is fronted by people who know the domain. It also bounds what we take on: a generic engagement we could win anywhere is not automatically ours to chase.
One integrated market team: every partner and director in the portfolio is expected to know the full catalogue, not only their own practice. In a client conversation they should recognise the signal — a core replacement being considered, a data estate that cannot answer regulatory questions, an integration layer at end of life, an AI ambition with no platform underneath it — position the first level of our answer credibly, and then pull in the specialist lead. Nobody is expected to be expert in everything; everybody is expected to open the door rather than let it pass because it sits outside their pillar.
This is what makes the integrated-propositions principle real in practice rather than on paper. It also creates an enablement obligation: the proposition one-pagers in the appendix are the tool for it, and the cycle should say how the portfolio is trained on them and how often it is refreshed.
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banking modernisation and migration varies by retail, corporate or SME scope;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is two levels on purpose. Level 1 is the pillar — one owner, one accountable partner. Level 2 is the topic inside it, and each topic ends in exactly one artefact in the appendix.
What each pillar carries:
- Market and clients: markets and segments (primary expected to be Saudi, UAE and Qatar; secondary Kuwait, Oman and Jordan, all to be validated), the named account list, and the coverage map. Two mappings live here — our own partners who own the relationship, and the alliance partner behind the account.
- Offerings: the catalogue itself, and nothing else — integrated propositions, the use cases we lead with, and the permitted flavours or partial offerings. It stands alone because it is the What: everything else in the strategy either sells it, delivers it or prices it.
- Delivery and economics: the delivery model and the construct behind each offering price bands with the drivers that move them, blended ADR and target margin, and the revenue targets that fall out. Delivery model and pricing sit in one pillar because they determine each other: the construct sets the cost, the cost sets the achievable price and margin.
  Capability sits in the same pillar: the dedicated FSI team, the shared capacity we can genuinely draw on, and the recruitment gap by level. It belongs here because the construct and the margin only hold if the people behind them exist — a target we cannot staff is not a target.
- Route to market: alliances (Oracle, Google, Amazon as primary; Temenos and Intellect as specialised) and the eminence plan.
- Operating discipline: the rhythm, scorecard and decision rights that keep the rest alive after sign-off.
Dependencies to watch: revenue targets cannot be set without the capacity view, and the alliance map must reconcile with the coverage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team as agreed: Dany leads overall; Tanay leads Industry Solutions; Rachel leads AI and Data; Clifford leads Engineering.
Note the shape difference: the three leads represent the three practices, while the workstreams are cut by pillar, which is deliberate — the strategy is one portfolio strategy, not three practice strategies stapled together. Each pillar therefore needs a named owner drawn from this group, with the other two contributing their practice view into it.
A workable split to propose at kick-off: Dany takes the ambition and the operating discipline; the offerings catalogue is owned jointly but chaired by one lead, since integrated propositions cut across all three practices; market and clients sits with whoever carries the strongest regional relationships; delivery and economics sits with the lead whose practice has the largest delivery footprint. Confirm rather than assume.
Everything else — account partners, alliance leads, resourcing, finance — is pulled in per workstream and not standing members.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Costing and delivery model are treated as one topic because they determine each other: the price the market will pay only becomes a business if the delivery construct behind it produces the blended ADR and the gross margin we want.
The chain to work through, per offering: target price band, then the delivery construct it assumes (the split across onshore, nearshore and offshore or global delivery centres), then the blended average daily rate that construct implies, then the gross margin that falls out. If the margin is short, one of the first three has to change — usually the construct.
Nuance to carry: this varies sharply by offering. A core banking modernisation with heavy onshore functional and governance presence looks nothing like an AI use-case activation or an integration build that can run largely offshore. Regulatory and data-residency rules in Saudi and the UAE constrain what can leave the country, and some clients contractually require onshore staffing — both drive the construct before commercial preference does.
The delivery model itself is largely inherited from the firm; what we are setting here is the construct and the economics per offering, plus the margin floor and the approval route when a deal prices below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
Internal eminence matters as much as external here. The FS partners and directors sitting in other portfolios are in front of our target clients constantly, and they can only pull us in if they know what we sell. That means scheduled briefings on the catalogue, enablement on the proposition one-pagers, deal clinics where they bring a live situation and we shape the play, and our wins circulated internally rather than only externally. It is the mechanism behind the integrated-market-team principle — the principle sets the expectation, the internal eminence plan is how it is actually resourced and scheduled.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were called out as important in implementation and technology work.
Current alliances named: Oracle, Google and Amazon as the primary ones; Temenos and Intellect as specialised, banking-platform alliances. They are on the slide as current state, not as a conclusion — what we do with each is the open question.
The work is to decide, per alliance: what we leverage it for, which of our integrated propositions it sits behind, what kind of relationship it is (co-sell, resell, delivery, referral), which markets and accounts it opens, and what it demands from us in certifications, trained staff and pipeline commitments.
Two links to the rest of the strategy: the alliance map must reconcile with the account coverage map (an alliance that opens an account should show up against that account), and with the talent plan (certifications and accredited staff are a recruitment and training cost).
If other alliances belong here — hyperscaler or platform vendors we do not yet work with, or regional players — the cycle is where we add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strategy, in the form it will be presented and carried: one sheet.
It mirrors the architecture slide earlier in the pack, but where that one names the questions, this one holds the answers: the ambition in numbers, the three pillars filled in, and the operating discipline underneath.
Rule of thumb: if something cannot be said on this sheet, it belongs in one of the artefacts behind it, not in the strategy. The sheet is what leadership signs and what the quarterly review is held against; the artefacts are the working record.
Keep it dated and versioned. When the quarterly review changes a choice, this sheet is reissued rather than annotated.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sheet for each proposition, pulling every dimension we have discussed onto one page: what it is and the use cases, the buyer, the permitted flavours, where and to whom we sell it, the price band, the delivery construct with ADR and margin, the AI and innovation content, the alliance behind it, and the credentials and roles needed to sell and deliver it.
It doubles as the readiness test. The principles bite here: if the AI and innovation box is empty, the proposition breaches the embedded-AI principle. If the delivery construct and margin box is empty, it is priced without knowing whether it makes money. If the credentials box is empty, we cannot yet sell it in this domain. An unfillable box is a gap, not a formatting problem.
Keep one sheet per proposition rather than a long catalogue document — it is what a partner takes into an account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 target account list into a plan: for each account, which offerings we are going there with, and how much revenue each is expected to carry.
Both numbers are recorded. Gross is the full contract value we bill, including pass-through, third-party software and partner or subcontract content. Net is the revenue delivered by our own people — what the capacity plan and the margin calculation actually run on. Fix the exact definition at kick-off; different parts of the firm use these words differently, and mixing them makes the roll-up meaningless.
Timeframe matters because a core banking programme books over years while an AI activation books in a quarter; without it, an account total is unreadable.
Confidence keeps the plan honest: relationship-only ambition and a qualified pursuit should not be added together as if they were the same thing.
Three reconciliations to hold: account lines roll up to the market total, market totals roll up to the portfolio ambition, and net revenue reconciles to the capacity we have or plan to hire.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COO, CIO, head of retail banking, chief data officer,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banking modernisation and migration the drivers include retail versus corporate versus SME scope,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between what the market pays and what we keep. One row per offering, because the construct differs sharply between a core banking programme, a data platform build and an AI activation.
Price basis: fixed price, time and materials, outcome-based or a managed service — it changes how margin is earned and where the risk sits.
Keep the onshore split honest. Regulatory and data-residency requirements in Saudi and the UAE, and client contractual terms, often set the floor for onshore presence before commercial preference does.
Record both the target gross margin and the floor, and note the approval route for anything below it. A margin floor that nobody enforces is not a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banking-platform alliances. Add any others the cycle identifies.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is in this pack</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Fourteen sections, plus an appendix of blank templates.</a:t>
            </a:r>
            <a:endParaRPr lang="en-US" sz="1450" dirty="0"/>
          </a:p>
        </p:txBody>
      </p:sp>
      <p:sp>
        <p:nvSpPr>
          <p:cNvPr id="4" name="Shape 2"/>
          <p:cNvSpPr/>
          <p:nvPr/>
        </p:nvSpPr>
        <p:spPr>
          <a:xfrm>
            <a:off x="640080" y="1737360"/>
            <a:ext cx="5257800" cy="576072"/>
          </a:xfrm>
          <a:prstGeom prst="roundRect">
            <a:avLst>
              <a:gd name="adj" fmla="val 12698"/>
            </a:avLst>
          </a:prstGeom>
          <a:solidFill>
            <a:srgbClr val="F2F6FC"/>
          </a:solidFill>
          <a:ln/>
        </p:spPr>
      </p:sp>
      <p:sp>
        <p:nvSpPr>
          <p:cNvPr id="5" name="Shape 3"/>
          <p:cNvSpPr/>
          <p:nvPr/>
        </p:nvSpPr>
        <p:spPr>
          <a:xfrm>
            <a:off x="822960" y="1837944"/>
            <a:ext cx="365760" cy="365760"/>
          </a:xfrm>
          <a:prstGeom prst="ellipse">
            <a:avLst/>
          </a:prstGeom>
          <a:solidFill>
            <a:srgbClr val="1E2761"/>
          </a:solidFill>
          <a:ln/>
        </p:spPr>
      </p:sp>
      <p:sp>
        <p:nvSpPr>
          <p:cNvPr id="6" name="Text 4"/>
          <p:cNvSpPr txBox="1"/>
          <p:nvPr/>
        </p:nvSpPr>
        <p:spPr>
          <a:xfrm>
            <a:off x="822960" y="18379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353312" y="176479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What this document is</a:t>
            </a:r>
            <a:endParaRPr lang="en-US" sz="1350" dirty="0"/>
          </a:p>
        </p:txBody>
      </p:sp>
      <p:sp>
        <p:nvSpPr>
          <p:cNvPr id="8" name="Text 6"/>
          <p:cNvSpPr txBox="1"/>
          <p:nvPr/>
        </p:nvSpPr>
        <p:spPr>
          <a:xfrm>
            <a:off x="1353312" y="203911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Method, not conclusion</a:t>
            </a:r>
            <a:endParaRPr lang="en-US" sz="1050" dirty="0"/>
          </a:p>
        </p:txBody>
      </p:sp>
      <p:sp>
        <p:nvSpPr>
          <p:cNvPr id="9" name="Shape 7"/>
          <p:cNvSpPr/>
          <p:nvPr/>
        </p:nvSpPr>
        <p:spPr>
          <a:xfrm>
            <a:off x="6263640" y="1737360"/>
            <a:ext cx="5257800" cy="576072"/>
          </a:xfrm>
          <a:prstGeom prst="roundRect">
            <a:avLst>
              <a:gd name="adj" fmla="val 12698"/>
            </a:avLst>
          </a:prstGeom>
          <a:solidFill>
            <a:srgbClr val="EDF2FA"/>
          </a:solidFill>
          <a:ln/>
        </p:spPr>
      </p:sp>
      <p:sp>
        <p:nvSpPr>
          <p:cNvPr id="10" name="Shape 8"/>
          <p:cNvSpPr/>
          <p:nvPr/>
        </p:nvSpPr>
        <p:spPr>
          <a:xfrm>
            <a:off x="6446520" y="1837944"/>
            <a:ext cx="365760" cy="365760"/>
          </a:xfrm>
          <a:prstGeom prst="ellipse">
            <a:avLst/>
          </a:prstGeom>
          <a:solidFill>
            <a:srgbClr val="3E5C8A"/>
          </a:solidFill>
          <a:ln/>
        </p:spPr>
      </p:sp>
      <p:sp>
        <p:nvSpPr>
          <p:cNvPr id="11" name="Text 9"/>
          <p:cNvSpPr txBox="1"/>
          <p:nvPr/>
        </p:nvSpPr>
        <p:spPr>
          <a:xfrm>
            <a:off x="6446520" y="18379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6976872" y="176479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What the strategy must cover</a:t>
            </a:r>
            <a:endParaRPr lang="en-US" sz="1350" dirty="0"/>
          </a:p>
        </p:txBody>
      </p:sp>
      <p:sp>
        <p:nvSpPr>
          <p:cNvPr id="13" name="Text 11"/>
          <p:cNvSpPr txBox="1"/>
          <p:nvPr/>
        </p:nvSpPr>
        <p:spPr>
          <a:xfrm>
            <a:off x="6976872" y="203911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Ambition, four pillars, operating discipline</a:t>
            </a:r>
            <a:endParaRPr lang="en-US" sz="1050" dirty="0"/>
          </a:p>
        </p:txBody>
      </p:sp>
      <p:sp>
        <p:nvSpPr>
          <p:cNvPr id="14" name="Shape 12"/>
          <p:cNvSpPr/>
          <p:nvPr/>
        </p:nvSpPr>
        <p:spPr>
          <a:xfrm>
            <a:off x="640080" y="2395728"/>
            <a:ext cx="5257800" cy="576072"/>
          </a:xfrm>
          <a:prstGeom prst="roundRect">
            <a:avLst>
              <a:gd name="adj" fmla="val 12698"/>
            </a:avLst>
          </a:prstGeom>
          <a:solidFill>
            <a:srgbClr val="F2F6FC"/>
          </a:solidFill>
          <a:ln/>
        </p:spPr>
      </p:sp>
      <p:sp>
        <p:nvSpPr>
          <p:cNvPr id="15" name="Shape 13"/>
          <p:cNvSpPr/>
          <p:nvPr/>
        </p:nvSpPr>
        <p:spPr>
          <a:xfrm>
            <a:off x="822960" y="2496312"/>
            <a:ext cx="365760" cy="365760"/>
          </a:xfrm>
          <a:prstGeom prst="ellipse">
            <a:avLst/>
          </a:prstGeom>
          <a:solidFill>
            <a:srgbClr val="1E2761"/>
          </a:solidFill>
          <a:ln/>
        </p:spPr>
      </p:sp>
      <p:sp>
        <p:nvSpPr>
          <p:cNvPr id="16" name="Text 14"/>
          <p:cNvSpPr txBox="1"/>
          <p:nvPr/>
        </p:nvSpPr>
        <p:spPr>
          <a:xfrm>
            <a:off x="822960" y="24963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353312" y="242316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Where we start: the vision</a:t>
            </a:r>
            <a:endParaRPr lang="en-US" sz="1350" dirty="0"/>
          </a:p>
        </p:txBody>
      </p:sp>
      <p:sp>
        <p:nvSpPr>
          <p:cNvPr id="18" name="Text 16"/>
          <p:cNvSpPr txBox="1"/>
          <p:nvPr/>
        </p:nvSpPr>
        <p:spPr>
          <a:xfrm>
            <a:off x="1353312" y="269748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Three candidate statements to deliberate</a:t>
            </a:r>
            <a:endParaRPr lang="en-US" sz="1050" dirty="0"/>
          </a:p>
        </p:txBody>
      </p:sp>
      <p:sp>
        <p:nvSpPr>
          <p:cNvPr id="19" name="Shape 17"/>
          <p:cNvSpPr/>
          <p:nvPr/>
        </p:nvSpPr>
        <p:spPr>
          <a:xfrm>
            <a:off x="6263640" y="2395728"/>
            <a:ext cx="5257800" cy="576072"/>
          </a:xfrm>
          <a:prstGeom prst="roundRect">
            <a:avLst>
              <a:gd name="adj" fmla="val 12698"/>
            </a:avLst>
          </a:prstGeom>
          <a:solidFill>
            <a:srgbClr val="EDF2FA"/>
          </a:solidFill>
          <a:ln/>
        </p:spPr>
      </p:sp>
      <p:sp>
        <p:nvSpPr>
          <p:cNvPr id="20" name="Shape 18"/>
          <p:cNvSpPr/>
          <p:nvPr/>
        </p:nvSpPr>
        <p:spPr>
          <a:xfrm>
            <a:off x="6446520" y="2496312"/>
            <a:ext cx="365760" cy="365760"/>
          </a:xfrm>
          <a:prstGeom prst="ellipse">
            <a:avLst/>
          </a:prstGeom>
          <a:solidFill>
            <a:srgbClr val="3E5C8A"/>
          </a:solidFill>
          <a:ln/>
        </p:spPr>
      </p:sp>
      <p:sp>
        <p:nvSpPr>
          <p:cNvPr id="21" name="Text 19"/>
          <p:cNvSpPr txBox="1"/>
          <p:nvPr/>
        </p:nvSpPr>
        <p:spPr>
          <a:xfrm>
            <a:off x="6446520" y="24963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6976872" y="242316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Principles we hold going in</a:t>
            </a:r>
            <a:endParaRPr lang="en-US" sz="1350" dirty="0"/>
          </a:p>
        </p:txBody>
      </p:sp>
      <p:sp>
        <p:nvSpPr>
          <p:cNvPr id="23" name="Text 21"/>
          <p:cNvSpPr txBox="1"/>
          <p:nvPr/>
        </p:nvSpPr>
        <p:spPr>
          <a:xfrm>
            <a:off x="6976872" y="269748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Constraints agreed before the work starts</a:t>
            </a:r>
            <a:endParaRPr lang="en-US" sz="1050" dirty="0"/>
          </a:p>
        </p:txBody>
      </p:sp>
      <p:sp>
        <p:nvSpPr>
          <p:cNvPr id="24" name="Shape 22"/>
          <p:cNvSpPr/>
          <p:nvPr/>
        </p:nvSpPr>
        <p:spPr>
          <a:xfrm>
            <a:off x="640080" y="3054096"/>
            <a:ext cx="5257800" cy="576072"/>
          </a:xfrm>
          <a:prstGeom prst="roundRect">
            <a:avLst>
              <a:gd name="adj" fmla="val 12698"/>
            </a:avLst>
          </a:prstGeom>
          <a:solidFill>
            <a:srgbClr val="F2F6FC"/>
          </a:solidFill>
          <a:ln/>
        </p:spPr>
      </p:sp>
      <p:sp>
        <p:nvSpPr>
          <p:cNvPr id="25" name="Shape 23"/>
          <p:cNvSpPr/>
          <p:nvPr/>
        </p:nvSpPr>
        <p:spPr>
          <a:xfrm>
            <a:off x="822960" y="3154680"/>
            <a:ext cx="365760" cy="365760"/>
          </a:xfrm>
          <a:prstGeom prst="ellipse">
            <a:avLst/>
          </a:prstGeom>
          <a:solidFill>
            <a:srgbClr val="1E2761"/>
          </a:solidFill>
          <a:ln/>
        </p:spPr>
      </p:sp>
      <p:sp>
        <p:nvSpPr>
          <p:cNvPr id="26" name="Text 24"/>
          <p:cNvSpPr txBox="1"/>
          <p:nvPr/>
        </p:nvSpPr>
        <p:spPr>
          <a:xfrm>
            <a:off x="822960" y="3154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353312" y="308152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How we will get there</a:t>
            </a:r>
            <a:endParaRPr lang="en-US" sz="1350" dirty="0"/>
          </a:p>
        </p:txBody>
      </p:sp>
      <p:sp>
        <p:nvSpPr>
          <p:cNvPr id="28" name="Text 26"/>
          <p:cNvSpPr txBox="1"/>
          <p:nvPr/>
        </p:nvSpPr>
        <p:spPr>
          <a:xfrm>
            <a:off x="1353312" y="335584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five-step approach</a:t>
            </a:r>
            <a:endParaRPr lang="en-US" sz="1050" dirty="0"/>
          </a:p>
        </p:txBody>
      </p:sp>
      <p:sp>
        <p:nvSpPr>
          <p:cNvPr id="29" name="Shape 27"/>
          <p:cNvSpPr/>
          <p:nvPr/>
        </p:nvSpPr>
        <p:spPr>
          <a:xfrm>
            <a:off x="6263640" y="3054096"/>
            <a:ext cx="5257800" cy="576072"/>
          </a:xfrm>
          <a:prstGeom prst="roundRect">
            <a:avLst>
              <a:gd name="adj" fmla="val 12698"/>
            </a:avLst>
          </a:prstGeom>
          <a:solidFill>
            <a:srgbClr val="EDF2FA"/>
          </a:solidFill>
          <a:ln/>
        </p:spPr>
      </p:sp>
      <p:sp>
        <p:nvSpPr>
          <p:cNvPr id="30" name="Shape 28"/>
          <p:cNvSpPr/>
          <p:nvPr/>
        </p:nvSpPr>
        <p:spPr>
          <a:xfrm>
            <a:off x="6446520" y="3154680"/>
            <a:ext cx="365760" cy="365760"/>
          </a:xfrm>
          <a:prstGeom prst="ellipse">
            <a:avLst/>
          </a:prstGeom>
          <a:solidFill>
            <a:srgbClr val="3E5C8A"/>
          </a:solidFill>
          <a:ln/>
        </p:spPr>
      </p:sp>
      <p:sp>
        <p:nvSpPr>
          <p:cNvPr id="31" name="Text 29"/>
          <p:cNvSpPr txBox="1"/>
          <p:nvPr/>
        </p:nvSpPr>
        <p:spPr>
          <a:xfrm>
            <a:off x="6446520" y="3154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6976872" y="3081528"/>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Five workstreams, one per pillar</a:t>
            </a:r>
            <a:endParaRPr lang="en-US" sz="1350" dirty="0"/>
          </a:p>
        </p:txBody>
      </p:sp>
      <p:sp>
        <p:nvSpPr>
          <p:cNvPr id="33" name="Text 31"/>
          <p:cNvSpPr txBox="1"/>
          <p:nvPr/>
        </p:nvSpPr>
        <p:spPr>
          <a:xfrm>
            <a:off x="6976872" y="3355848"/>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Who owns what, and what each produces</a:t>
            </a:r>
            <a:endParaRPr lang="en-US" sz="1050" dirty="0"/>
          </a:p>
        </p:txBody>
      </p:sp>
      <p:sp>
        <p:nvSpPr>
          <p:cNvPr id="34" name="Shape 32"/>
          <p:cNvSpPr/>
          <p:nvPr/>
        </p:nvSpPr>
        <p:spPr>
          <a:xfrm>
            <a:off x="640080" y="3712464"/>
            <a:ext cx="5257800" cy="576072"/>
          </a:xfrm>
          <a:prstGeom prst="roundRect">
            <a:avLst>
              <a:gd name="adj" fmla="val 12698"/>
            </a:avLst>
          </a:prstGeom>
          <a:solidFill>
            <a:srgbClr val="F2F6FC"/>
          </a:solidFill>
          <a:ln/>
        </p:spPr>
      </p:sp>
      <p:sp>
        <p:nvSpPr>
          <p:cNvPr id="35" name="Shape 33"/>
          <p:cNvSpPr/>
          <p:nvPr/>
        </p:nvSpPr>
        <p:spPr>
          <a:xfrm>
            <a:off x="822960" y="3813048"/>
            <a:ext cx="365760" cy="365760"/>
          </a:xfrm>
          <a:prstGeom prst="ellipse">
            <a:avLst/>
          </a:prstGeom>
          <a:solidFill>
            <a:srgbClr val="1E2761"/>
          </a:solidFill>
          <a:ln/>
        </p:spPr>
      </p:sp>
      <p:sp>
        <p:nvSpPr>
          <p:cNvPr id="36" name="Text 34"/>
          <p:cNvSpPr txBox="1"/>
          <p:nvPr/>
        </p:nvSpPr>
        <p:spPr>
          <a:xfrm>
            <a:off x="822960" y="38130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353312" y="3739896"/>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Who is doing this</a:t>
            </a:r>
            <a:endParaRPr lang="en-US" sz="1350" dirty="0"/>
          </a:p>
        </p:txBody>
      </p:sp>
      <p:sp>
        <p:nvSpPr>
          <p:cNvPr id="38" name="Text 36"/>
          <p:cNvSpPr txBox="1"/>
          <p:nvPr/>
        </p:nvSpPr>
        <p:spPr>
          <a:xfrm>
            <a:off x="1353312" y="4014216"/>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The strategy development team</a:t>
            </a:r>
            <a:endParaRPr lang="en-US" sz="1050" dirty="0"/>
          </a:p>
        </p:txBody>
      </p:sp>
      <p:sp>
        <p:nvSpPr>
          <p:cNvPr id="39" name="Shape 37"/>
          <p:cNvSpPr/>
          <p:nvPr/>
        </p:nvSpPr>
        <p:spPr>
          <a:xfrm>
            <a:off x="6263640" y="3712464"/>
            <a:ext cx="5257800" cy="576072"/>
          </a:xfrm>
          <a:prstGeom prst="roundRect">
            <a:avLst>
              <a:gd name="adj" fmla="val 12698"/>
            </a:avLst>
          </a:prstGeom>
          <a:solidFill>
            <a:srgbClr val="EDF2FA"/>
          </a:solidFill>
          <a:ln/>
        </p:spPr>
      </p:sp>
      <p:sp>
        <p:nvSpPr>
          <p:cNvPr id="40" name="Shape 38"/>
          <p:cNvSpPr/>
          <p:nvPr/>
        </p:nvSpPr>
        <p:spPr>
          <a:xfrm>
            <a:off x="6446520" y="3813048"/>
            <a:ext cx="365760" cy="365760"/>
          </a:xfrm>
          <a:prstGeom prst="ellipse">
            <a:avLst/>
          </a:prstGeom>
          <a:solidFill>
            <a:srgbClr val="3E5C8A"/>
          </a:solidFill>
          <a:ln/>
        </p:spPr>
      </p:sp>
      <p:sp>
        <p:nvSpPr>
          <p:cNvPr id="41" name="Text 39"/>
          <p:cNvSpPr txBox="1"/>
          <p:nvPr/>
        </p:nvSpPr>
        <p:spPr>
          <a:xfrm>
            <a:off x="6446520" y="38130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6976872" y="3739896"/>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3 · Delivery and pricing economics</a:t>
            </a:r>
            <a:endParaRPr lang="en-US" sz="1350" dirty="0"/>
          </a:p>
        </p:txBody>
      </p:sp>
      <p:sp>
        <p:nvSpPr>
          <p:cNvPr id="43" name="Text 41"/>
          <p:cNvSpPr txBox="1"/>
          <p:nvPr/>
        </p:nvSpPr>
        <p:spPr>
          <a:xfrm>
            <a:off x="6976872" y="4014216"/>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price, ADR and margin</a:t>
            </a:r>
            <a:endParaRPr lang="en-US" sz="1050" dirty="0"/>
          </a:p>
        </p:txBody>
      </p:sp>
      <p:sp>
        <p:nvSpPr>
          <p:cNvPr id="44" name="Shape 42"/>
          <p:cNvSpPr/>
          <p:nvPr/>
        </p:nvSpPr>
        <p:spPr>
          <a:xfrm>
            <a:off x="640080" y="4370832"/>
            <a:ext cx="5257800" cy="576072"/>
          </a:xfrm>
          <a:prstGeom prst="roundRect">
            <a:avLst>
              <a:gd name="adj" fmla="val 12698"/>
            </a:avLst>
          </a:prstGeom>
          <a:solidFill>
            <a:srgbClr val="F2F6FC"/>
          </a:solidFill>
          <a:ln/>
        </p:spPr>
      </p:sp>
      <p:sp>
        <p:nvSpPr>
          <p:cNvPr id="45" name="Shape 43"/>
          <p:cNvSpPr/>
          <p:nvPr/>
        </p:nvSpPr>
        <p:spPr>
          <a:xfrm>
            <a:off x="822960" y="4471416"/>
            <a:ext cx="365760" cy="365760"/>
          </a:xfrm>
          <a:prstGeom prst="ellipse">
            <a:avLst/>
          </a:prstGeom>
          <a:solidFill>
            <a:srgbClr val="1E2761"/>
          </a:solidFill>
          <a:ln/>
        </p:spPr>
      </p:sp>
      <p:sp>
        <p:nvSpPr>
          <p:cNvPr id="46" name="Text 44"/>
          <p:cNvSpPr txBox="1"/>
          <p:nvPr/>
        </p:nvSpPr>
        <p:spPr>
          <a:xfrm>
            <a:off x="822960" y="4471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1353312" y="4398264"/>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3 · Team and talent</a:t>
            </a:r>
            <a:endParaRPr lang="en-US" sz="1350" dirty="0"/>
          </a:p>
        </p:txBody>
      </p:sp>
      <p:sp>
        <p:nvSpPr>
          <p:cNvPr id="48" name="Text 46"/>
          <p:cNvSpPr txBox="1"/>
          <p:nvPr/>
        </p:nvSpPr>
        <p:spPr>
          <a:xfrm>
            <a:off x="1353312" y="4672584"/>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Dedicated, shared and the gap to close</a:t>
            </a:r>
            <a:endParaRPr lang="en-US" sz="1050" dirty="0"/>
          </a:p>
        </p:txBody>
      </p:sp>
      <p:sp>
        <p:nvSpPr>
          <p:cNvPr id="49" name="Shape 47"/>
          <p:cNvSpPr/>
          <p:nvPr/>
        </p:nvSpPr>
        <p:spPr>
          <a:xfrm>
            <a:off x="6263640" y="4370832"/>
            <a:ext cx="5257800" cy="576072"/>
          </a:xfrm>
          <a:prstGeom prst="roundRect">
            <a:avLst>
              <a:gd name="adj" fmla="val 12698"/>
            </a:avLst>
          </a:prstGeom>
          <a:solidFill>
            <a:srgbClr val="EDF2FA"/>
          </a:solidFill>
          <a:ln/>
        </p:spPr>
      </p:sp>
      <p:sp>
        <p:nvSpPr>
          <p:cNvPr id="50" name="Shape 48"/>
          <p:cNvSpPr/>
          <p:nvPr/>
        </p:nvSpPr>
        <p:spPr>
          <a:xfrm>
            <a:off x="6446520" y="4471416"/>
            <a:ext cx="365760" cy="365760"/>
          </a:xfrm>
          <a:prstGeom prst="ellipse">
            <a:avLst/>
          </a:prstGeom>
          <a:solidFill>
            <a:srgbClr val="3E5C8A"/>
          </a:solidFill>
          <a:ln/>
        </p:spPr>
      </p:sp>
      <p:sp>
        <p:nvSpPr>
          <p:cNvPr id="51" name="Text 49"/>
          <p:cNvSpPr txBox="1"/>
          <p:nvPr/>
        </p:nvSpPr>
        <p:spPr>
          <a:xfrm>
            <a:off x="6446520" y="44714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52" name="Text 50"/>
          <p:cNvSpPr txBox="1"/>
          <p:nvPr/>
        </p:nvSpPr>
        <p:spPr>
          <a:xfrm>
            <a:off x="6976872" y="4398264"/>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4 · Eminence and positioning</a:t>
            </a:r>
            <a:endParaRPr lang="en-US" sz="1350" dirty="0"/>
          </a:p>
        </p:txBody>
      </p:sp>
      <p:sp>
        <p:nvSpPr>
          <p:cNvPr id="53" name="Text 51"/>
          <p:cNvSpPr txBox="1"/>
          <p:nvPr/>
        </p:nvSpPr>
        <p:spPr>
          <a:xfrm>
            <a:off x="6976872" y="4672584"/>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How the market comes to know us</a:t>
            </a:r>
            <a:endParaRPr lang="en-US" sz="1050" dirty="0"/>
          </a:p>
        </p:txBody>
      </p:sp>
      <p:sp>
        <p:nvSpPr>
          <p:cNvPr id="54" name="Shape 52"/>
          <p:cNvSpPr/>
          <p:nvPr/>
        </p:nvSpPr>
        <p:spPr>
          <a:xfrm>
            <a:off x="640080" y="5029200"/>
            <a:ext cx="5257800" cy="576072"/>
          </a:xfrm>
          <a:prstGeom prst="roundRect">
            <a:avLst>
              <a:gd name="adj" fmla="val 12698"/>
            </a:avLst>
          </a:prstGeom>
          <a:solidFill>
            <a:srgbClr val="F2F6FC"/>
          </a:solidFill>
          <a:ln/>
        </p:spPr>
      </p:sp>
      <p:sp>
        <p:nvSpPr>
          <p:cNvPr id="55" name="Shape 53"/>
          <p:cNvSpPr/>
          <p:nvPr/>
        </p:nvSpPr>
        <p:spPr>
          <a:xfrm>
            <a:off x="822960" y="5129784"/>
            <a:ext cx="365760" cy="365760"/>
          </a:xfrm>
          <a:prstGeom prst="ellipse">
            <a:avLst/>
          </a:prstGeom>
          <a:solidFill>
            <a:srgbClr val="1E2761"/>
          </a:solidFill>
          <a:ln/>
        </p:spPr>
      </p:sp>
      <p:sp>
        <p:nvSpPr>
          <p:cNvPr id="56" name="Text 54"/>
          <p:cNvSpPr txBox="1"/>
          <p:nvPr/>
        </p:nvSpPr>
        <p:spPr>
          <a:xfrm>
            <a:off x="822960" y="51297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a:t>
            </a:r>
            <a:endParaRPr lang="en-US" sz="1200" dirty="0"/>
          </a:p>
        </p:txBody>
      </p:sp>
      <p:sp>
        <p:nvSpPr>
          <p:cNvPr id="57" name="Text 55"/>
          <p:cNvSpPr txBox="1"/>
          <p:nvPr/>
        </p:nvSpPr>
        <p:spPr>
          <a:xfrm>
            <a:off x="1353312" y="505663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Pillar 4 · Alliances</a:t>
            </a:r>
            <a:endParaRPr lang="en-US" sz="1350" dirty="0"/>
          </a:p>
        </p:txBody>
      </p:sp>
      <p:sp>
        <p:nvSpPr>
          <p:cNvPr id="58" name="Text 56"/>
          <p:cNvSpPr txBox="1"/>
          <p:nvPr/>
        </p:nvSpPr>
        <p:spPr>
          <a:xfrm>
            <a:off x="1353312" y="533095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Who we go to market with, and for what</a:t>
            </a:r>
            <a:endParaRPr lang="en-US" sz="1050" dirty="0"/>
          </a:p>
        </p:txBody>
      </p:sp>
      <p:sp>
        <p:nvSpPr>
          <p:cNvPr id="59" name="Shape 57"/>
          <p:cNvSpPr/>
          <p:nvPr/>
        </p:nvSpPr>
        <p:spPr>
          <a:xfrm>
            <a:off x="6263640" y="5029200"/>
            <a:ext cx="5257800" cy="576072"/>
          </a:xfrm>
          <a:prstGeom prst="roundRect">
            <a:avLst>
              <a:gd name="adj" fmla="val 12698"/>
            </a:avLst>
          </a:prstGeom>
          <a:solidFill>
            <a:srgbClr val="EDF2FA"/>
          </a:solidFill>
          <a:ln/>
        </p:spPr>
      </p:sp>
      <p:sp>
        <p:nvSpPr>
          <p:cNvPr id="60" name="Shape 58"/>
          <p:cNvSpPr/>
          <p:nvPr/>
        </p:nvSpPr>
        <p:spPr>
          <a:xfrm>
            <a:off x="6446520" y="5129784"/>
            <a:ext cx="365760" cy="365760"/>
          </a:xfrm>
          <a:prstGeom prst="ellipse">
            <a:avLst/>
          </a:prstGeom>
          <a:solidFill>
            <a:srgbClr val="3E5C8A"/>
          </a:solidFill>
          <a:ln/>
        </p:spPr>
      </p:sp>
      <p:sp>
        <p:nvSpPr>
          <p:cNvPr id="61" name="Text 59"/>
          <p:cNvSpPr txBox="1"/>
          <p:nvPr/>
        </p:nvSpPr>
        <p:spPr>
          <a:xfrm>
            <a:off x="6446520" y="51297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12</a:t>
            </a:r>
            <a:endParaRPr lang="en-US" sz="1200" dirty="0"/>
          </a:p>
        </p:txBody>
      </p:sp>
      <p:sp>
        <p:nvSpPr>
          <p:cNvPr id="62" name="Text 60"/>
          <p:cNvSpPr txBox="1"/>
          <p:nvPr/>
        </p:nvSpPr>
        <p:spPr>
          <a:xfrm>
            <a:off x="6976872" y="5056632"/>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three-week journey</a:t>
            </a:r>
            <a:endParaRPr lang="en-US" sz="1350" dirty="0"/>
          </a:p>
        </p:txBody>
      </p:sp>
      <p:sp>
        <p:nvSpPr>
          <p:cNvPr id="63" name="Text 61"/>
          <p:cNvSpPr txBox="1"/>
          <p:nvPr/>
        </p:nvSpPr>
        <p:spPr>
          <a:xfrm>
            <a:off x="6976872" y="5330952"/>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Week by week, with a gate each week</a:t>
            </a:r>
            <a:endParaRPr lang="en-US" sz="1050" dirty="0"/>
          </a:p>
        </p:txBody>
      </p:sp>
      <p:sp>
        <p:nvSpPr>
          <p:cNvPr id="64" name="Shape 62"/>
          <p:cNvSpPr/>
          <p:nvPr/>
        </p:nvSpPr>
        <p:spPr>
          <a:xfrm>
            <a:off x="640080" y="5687568"/>
            <a:ext cx="5257800" cy="576072"/>
          </a:xfrm>
          <a:prstGeom prst="roundRect">
            <a:avLst>
              <a:gd name="adj" fmla="val 12698"/>
            </a:avLst>
          </a:prstGeom>
          <a:solidFill>
            <a:srgbClr val="F2F6FC"/>
          </a:solidFill>
          <a:ln/>
        </p:spPr>
      </p:sp>
      <p:sp>
        <p:nvSpPr>
          <p:cNvPr id="65" name="Shape 63"/>
          <p:cNvSpPr/>
          <p:nvPr/>
        </p:nvSpPr>
        <p:spPr>
          <a:xfrm>
            <a:off x="822960" y="5788152"/>
            <a:ext cx="365760" cy="365760"/>
          </a:xfrm>
          <a:prstGeom prst="ellipse">
            <a:avLst/>
          </a:prstGeom>
          <a:solidFill>
            <a:srgbClr val="1E2761"/>
          </a:solidFill>
          <a:ln/>
        </p:spPr>
      </p:sp>
      <p:sp>
        <p:nvSpPr>
          <p:cNvPr id="66" name="Text 64"/>
          <p:cNvSpPr txBox="1"/>
          <p:nvPr/>
        </p:nvSpPr>
        <p:spPr>
          <a:xfrm>
            <a:off x="822960" y="57881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13</a:t>
            </a:r>
            <a:endParaRPr lang="en-US" sz="1200" dirty="0"/>
          </a:p>
        </p:txBody>
      </p:sp>
      <p:sp>
        <p:nvSpPr>
          <p:cNvPr id="67" name="Text 65"/>
          <p:cNvSpPr txBox="1"/>
          <p:nvPr/>
        </p:nvSpPr>
        <p:spPr>
          <a:xfrm>
            <a:off x="1353312" y="571500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The discipline · Governing the execution</a:t>
            </a:r>
            <a:endParaRPr lang="en-US" sz="1350" dirty="0"/>
          </a:p>
        </p:txBody>
      </p:sp>
      <p:sp>
        <p:nvSpPr>
          <p:cNvPr id="68" name="Text 66"/>
          <p:cNvSpPr txBox="1"/>
          <p:nvPr/>
        </p:nvSpPr>
        <p:spPr>
          <a:xfrm>
            <a:off x="1353312" y="598932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and scorecard after sign-off</a:t>
            </a:r>
            <a:endParaRPr lang="en-US" sz="1050" dirty="0"/>
          </a:p>
        </p:txBody>
      </p:sp>
      <p:sp>
        <p:nvSpPr>
          <p:cNvPr id="69" name="Shape 67"/>
          <p:cNvSpPr/>
          <p:nvPr/>
        </p:nvSpPr>
        <p:spPr>
          <a:xfrm>
            <a:off x="6263640" y="5687568"/>
            <a:ext cx="5257800" cy="576072"/>
          </a:xfrm>
          <a:prstGeom prst="roundRect">
            <a:avLst>
              <a:gd name="adj" fmla="val 12698"/>
            </a:avLst>
          </a:prstGeom>
          <a:solidFill>
            <a:srgbClr val="EDF2FA"/>
          </a:solidFill>
          <a:ln/>
        </p:spPr>
      </p:sp>
      <p:sp>
        <p:nvSpPr>
          <p:cNvPr id="70" name="Shape 68"/>
          <p:cNvSpPr/>
          <p:nvPr/>
        </p:nvSpPr>
        <p:spPr>
          <a:xfrm>
            <a:off x="6446520" y="5788152"/>
            <a:ext cx="365760" cy="365760"/>
          </a:xfrm>
          <a:prstGeom prst="ellipse">
            <a:avLst/>
          </a:prstGeom>
          <a:solidFill>
            <a:srgbClr val="3E5C8A"/>
          </a:solidFill>
          <a:ln/>
        </p:spPr>
      </p:sp>
      <p:sp>
        <p:nvSpPr>
          <p:cNvPr id="71" name="Text 69"/>
          <p:cNvSpPr txBox="1"/>
          <p:nvPr/>
        </p:nvSpPr>
        <p:spPr>
          <a:xfrm>
            <a:off x="6446520" y="57881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14</a:t>
            </a:r>
            <a:endParaRPr lang="en-US" sz="1200" dirty="0"/>
          </a:p>
        </p:txBody>
      </p:sp>
      <p:sp>
        <p:nvSpPr>
          <p:cNvPr id="72" name="Text 70"/>
          <p:cNvSpPr txBox="1"/>
          <p:nvPr/>
        </p:nvSpPr>
        <p:spPr>
          <a:xfrm>
            <a:off x="6976872" y="5715000"/>
            <a:ext cx="4389120" cy="292608"/>
          </a:xfrm>
          <a:prstGeom prst="rect">
            <a:avLst/>
          </a:prstGeom>
          <a:noFill/>
          <a:ln/>
        </p:spPr>
        <p:txBody>
          <a:bodyPr wrap="square" lIns="0" tIns="0" rIns="0" bIns="0" rtlCol="0" anchor="ctr"/>
          <a:lstStyle/>
          <a:p>
            <a:pPr indent="0" marL="0">
              <a:buNone/>
            </a:pPr>
            <a:r>
              <a:rPr lang="en-US" sz="1350" b="1" dirty="0">
                <a:solidFill>
                  <a:srgbClr val="16203A"/>
                </a:solidFill>
                <a:latin typeface="Calibri" pitchFamily="34" charset="0"/>
                <a:ea typeface="Calibri" pitchFamily="34" charset="-122"/>
                <a:cs typeface="Calibri" pitchFamily="34" charset="-120"/>
              </a:rPr>
              <a:t>How we run the cycle</a:t>
            </a:r>
            <a:endParaRPr lang="en-US" sz="1350" dirty="0"/>
          </a:p>
        </p:txBody>
      </p:sp>
      <p:sp>
        <p:nvSpPr>
          <p:cNvPr id="73" name="Text 71"/>
          <p:cNvSpPr txBox="1"/>
          <p:nvPr/>
        </p:nvSpPr>
        <p:spPr>
          <a:xfrm>
            <a:off x="6976872" y="5989320"/>
            <a:ext cx="4389120" cy="256032"/>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Cadence, inputs and decisions requested</a:t>
            </a:r>
            <a:endParaRPr lang="en-US" sz="1050" dirty="0"/>
          </a:p>
        </p:txBody>
      </p:sp>
      <p:sp>
        <p:nvSpPr>
          <p:cNvPr id="74" name="Text 7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the strategy must cover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shape of the strategy we are going to build — not the strategy itself.</a:t>
            </a:r>
            <a:endParaRPr lang="en-US" sz="1450" dirty="0"/>
          </a:p>
        </p:txBody>
      </p:sp>
      <p:sp>
        <p:nvSpPr>
          <p:cNvPr id="4" name="Shape 2"/>
          <p:cNvSpPr/>
          <p:nvPr/>
        </p:nvSpPr>
        <p:spPr>
          <a:xfrm>
            <a:off x="640080" y="1737360"/>
            <a:ext cx="10881360" cy="713232"/>
          </a:xfrm>
          <a:prstGeom prst="roundRect">
            <a:avLst>
              <a:gd name="adj" fmla="val 12821"/>
            </a:avLst>
          </a:prstGeom>
          <a:solidFill>
            <a:srgbClr val="1E2761"/>
          </a:solidFill>
          <a:ln/>
        </p:spPr>
      </p:sp>
      <p:sp>
        <p:nvSpPr>
          <p:cNvPr id="5" name="Text 3"/>
          <p:cNvSpPr txBox="1"/>
          <p:nvPr/>
        </p:nvSpPr>
        <p:spPr>
          <a:xfrm>
            <a:off x="914400" y="1737360"/>
            <a:ext cx="2377440" cy="713232"/>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AMBITION</a:t>
            </a:r>
            <a:endParaRPr lang="en-US" sz="1300" dirty="0"/>
          </a:p>
        </p:txBody>
      </p:sp>
      <p:sp>
        <p:nvSpPr>
          <p:cNvPr id="6" name="Text 4"/>
          <p:cNvSpPr txBox="1"/>
          <p:nvPr/>
        </p:nvSpPr>
        <p:spPr>
          <a:xfrm>
            <a:off x="3383280" y="1737360"/>
            <a:ext cx="7863840" cy="713232"/>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What winning looks like, in numbers, by when</a:t>
            </a:r>
            <a:endParaRPr lang="en-US" sz="1500" dirty="0"/>
          </a:p>
        </p:txBody>
      </p:sp>
      <p:sp>
        <p:nvSpPr>
          <p:cNvPr id="7" name="Shape 5"/>
          <p:cNvSpPr/>
          <p:nvPr/>
        </p:nvSpPr>
        <p:spPr>
          <a:xfrm>
            <a:off x="640080" y="2606040"/>
            <a:ext cx="2596896" cy="2971800"/>
          </a:xfrm>
          <a:prstGeom prst="roundRect">
            <a:avLst>
              <a:gd name="adj" fmla="val 4225"/>
            </a:avLst>
          </a:prstGeom>
          <a:solidFill>
            <a:srgbClr val="E4EBF7"/>
          </a:solidFill>
          <a:ln/>
        </p:spPr>
      </p:sp>
      <p:sp>
        <p:nvSpPr>
          <p:cNvPr id="8" name="Shape 6"/>
          <p:cNvSpPr/>
          <p:nvPr/>
        </p:nvSpPr>
        <p:spPr>
          <a:xfrm>
            <a:off x="640080" y="2606040"/>
            <a:ext cx="2596896" cy="841248"/>
          </a:xfrm>
          <a:prstGeom prst="rect">
            <a:avLst/>
          </a:prstGeom>
          <a:solidFill>
            <a:srgbClr val="1E2761"/>
          </a:solidFill>
          <a:ln/>
        </p:spPr>
      </p:sp>
      <p:sp>
        <p:nvSpPr>
          <p:cNvPr id="9" name="Text 7"/>
          <p:cNvSpPr txBox="1"/>
          <p:nvPr/>
        </p:nvSpPr>
        <p:spPr>
          <a:xfrm>
            <a:off x="841248"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Market</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clients</a:t>
            </a:r>
            <a:endParaRPr lang="en-US" sz="1500" dirty="0"/>
          </a:p>
        </p:txBody>
      </p:sp>
      <p:sp>
        <p:nvSpPr>
          <p:cNvPr id="10" name="Text 8"/>
          <p:cNvSpPr txBox="1"/>
          <p:nvPr/>
        </p:nvSpPr>
        <p:spPr>
          <a:xfrm>
            <a:off x="841248"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Markets and segments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Named target accounts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Offerings targeted per account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per account, gross and net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Coverage and ownership</a:t>
            </a:r>
            <a:endParaRPr lang="en-US" sz="1150" dirty="0"/>
          </a:p>
        </p:txBody>
      </p:sp>
      <p:sp>
        <p:nvSpPr>
          <p:cNvPr id="11" name="Shape 9"/>
          <p:cNvSpPr/>
          <p:nvPr/>
        </p:nvSpPr>
        <p:spPr>
          <a:xfrm>
            <a:off x="3401568" y="2606040"/>
            <a:ext cx="2596896" cy="2971800"/>
          </a:xfrm>
          <a:prstGeom prst="roundRect">
            <a:avLst>
              <a:gd name="adj" fmla="val 4225"/>
            </a:avLst>
          </a:prstGeom>
          <a:solidFill>
            <a:srgbClr val="EDF2FA"/>
          </a:solidFill>
          <a:ln/>
        </p:spPr>
      </p:sp>
      <p:sp>
        <p:nvSpPr>
          <p:cNvPr id="12" name="Shape 10"/>
          <p:cNvSpPr/>
          <p:nvPr/>
        </p:nvSpPr>
        <p:spPr>
          <a:xfrm>
            <a:off x="3401568" y="2606040"/>
            <a:ext cx="2596896" cy="841248"/>
          </a:xfrm>
          <a:prstGeom prst="rect">
            <a:avLst/>
          </a:prstGeom>
          <a:solidFill>
            <a:srgbClr val="3E5C8A"/>
          </a:solidFill>
          <a:ln/>
        </p:spPr>
      </p:sp>
      <p:sp>
        <p:nvSpPr>
          <p:cNvPr id="13" name="Text 11"/>
          <p:cNvSpPr txBox="1"/>
          <p:nvPr/>
        </p:nvSpPr>
        <p:spPr>
          <a:xfrm>
            <a:off x="3602736"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Offerings</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(what we sell)</a:t>
            </a:r>
            <a:endParaRPr lang="en-US" sz="1500" dirty="0"/>
          </a:p>
        </p:txBody>
      </p:sp>
      <p:sp>
        <p:nvSpPr>
          <p:cNvPr id="14" name="Text 12"/>
          <p:cNvSpPr txBox="1"/>
          <p:nvPr/>
        </p:nvSpPr>
        <p:spPr>
          <a:xfrm>
            <a:off x="3602736"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Integrated propositions</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Use cases we lead with</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Flavours and permitted variants</a:t>
            </a:r>
            <a:endParaRPr lang="en-US" sz="1150" dirty="0"/>
          </a:p>
        </p:txBody>
      </p:sp>
      <p:sp>
        <p:nvSpPr>
          <p:cNvPr id="15" name="Shape 13"/>
          <p:cNvSpPr/>
          <p:nvPr/>
        </p:nvSpPr>
        <p:spPr>
          <a:xfrm>
            <a:off x="6163056" y="2606040"/>
            <a:ext cx="2596896" cy="2971800"/>
          </a:xfrm>
          <a:prstGeom prst="roundRect">
            <a:avLst>
              <a:gd name="adj" fmla="val 4225"/>
            </a:avLst>
          </a:prstGeom>
          <a:solidFill>
            <a:srgbClr val="E4EBF7"/>
          </a:solidFill>
          <a:ln/>
        </p:spPr>
      </p:sp>
      <p:sp>
        <p:nvSpPr>
          <p:cNvPr id="16" name="Shape 14"/>
          <p:cNvSpPr/>
          <p:nvPr/>
        </p:nvSpPr>
        <p:spPr>
          <a:xfrm>
            <a:off x="6163056" y="2606040"/>
            <a:ext cx="2596896" cy="841248"/>
          </a:xfrm>
          <a:prstGeom prst="rect">
            <a:avLst/>
          </a:prstGeom>
          <a:solidFill>
            <a:srgbClr val="1E2761"/>
          </a:solidFill>
          <a:ln/>
        </p:spPr>
      </p:sp>
      <p:sp>
        <p:nvSpPr>
          <p:cNvPr id="17" name="Text 15"/>
          <p:cNvSpPr txBox="1"/>
          <p:nvPr/>
        </p:nvSpPr>
        <p:spPr>
          <a:xfrm>
            <a:off x="6364224"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Delivery</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and economics</a:t>
            </a:r>
            <a:endParaRPr lang="en-US" sz="1500" dirty="0"/>
          </a:p>
        </p:txBody>
      </p:sp>
      <p:sp>
        <p:nvSpPr>
          <p:cNvPr id="18" name="Text 16"/>
          <p:cNvSpPr txBox="1"/>
          <p:nvPr/>
        </p:nvSpPr>
        <p:spPr>
          <a:xfrm>
            <a:off x="6364224"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Delivery model and construct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Pricing, ADR and margin</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Team, capacity and recruitment</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Revenue targets</a:t>
            </a:r>
            <a:endParaRPr lang="en-US" sz="1150" dirty="0"/>
          </a:p>
        </p:txBody>
      </p:sp>
      <p:sp>
        <p:nvSpPr>
          <p:cNvPr id="19" name="Shape 17"/>
          <p:cNvSpPr/>
          <p:nvPr/>
        </p:nvSpPr>
        <p:spPr>
          <a:xfrm>
            <a:off x="8924544" y="2606040"/>
            <a:ext cx="2596896" cy="2971800"/>
          </a:xfrm>
          <a:prstGeom prst="roundRect">
            <a:avLst>
              <a:gd name="adj" fmla="val 4225"/>
            </a:avLst>
          </a:prstGeom>
          <a:solidFill>
            <a:srgbClr val="EDF2FA"/>
          </a:solidFill>
          <a:ln/>
        </p:spPr>
      </p:sp>
      <p:sp>
        <p:nvSpPr>
          <p:cNvPr id="20" name="Shape 18"/>
          <p:cNvSpPr/>
          <p:nvPr/>
        </p:nvSpPr>
        <p:spPr>
          <a:xfrm>
            <a:off x="8924544" y="2606040"/>
            <a:ext cx="2596896" cy="841248"/>
          </a:xfrm>
          <a:prstGeom prst="rect">
            <a:avLst/>
          </a:prstGeom>
          <a:solidFill>
            <a:srgbClr val="3E5C8A"/>
          </a:solidFill>
          <a:ln/>
        </p:spPr>
      </p:sp>
      <p:sp>
        <p:nvSpPr>
          <p:cNvPr id="21" name="Text 19"/>
          <p:cNvSpPr txBox="1"/>
          <p:nvPr/>
        </p:nvSpPr>
        <p:spPr>
          <a:xfrm>
            <a:off x="9125712" y="2606040"/>
            <a:ext cx="2194560" cy="841248"/>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Route</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to market</a:t>
            </a:r>
            <a:endParaRPr lang="en-US" sz="1500" dirty="0"/>
          </a:p>
        </p:txBody>
      </p:sp>
      <p:sp>
        <p:nvSpPr>
          <p:cNvPr id="22" name="Text 20"/>
          <p:cNvSpPr txBox="1"/>
          <p:nvPr/>
        </p:nvSpPr>
        <p:spPr>
          <a:xfrm>
            <a:off x="9125712" y="3611880"/>
            <a:ext cx="2212848" cy="1874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Alliances and what they unlock</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Eminence and positioning</a:t>
            </a:r>
            <a:endParaRPr lang="en-US" sz="1150" dirty="0"/>
          </a:p>
          <a:p>
            <a:pPr marL="342900" indent="-342900">
              <a:spcAft>
                <a:spcPts val="700"/>
              </a:spcAft>
              <a:buSzPct val="100000"/>
              <a:buChar char="•"/>
            </a:pPr>
            <a:r>
              <a:rPr lang="en-US" sz="1150" dirty="0">
                <a:solidFill>
                  <a:srgbClr val="44506B"/>
                </a:solidFill>
                <a:latin typeface="Calibri" pitchFamily="34" charset="0"/>
                <a:ea typeface="Calibri" pitchFamily="34" charset="-122"/>
                <a:cs typeface="Calibri" pitchFamily="34" charset="-120"/>
              </a:rPr>
              <a:t>How we differentiate</a:t>
            </a:r>
            <a:endParaRPr lang="en-US" sz="1150" dirty="0"/>
          </a:p>
        </p:txBody>
      </p:sp>
      <p:sp>
        <p:nvSpPr>
          <p:cNvPr id="23" name="Shape 21"/>
          <p:cNvSpPr/>
          <p:nvPr/>
        </p:nvSpPr>
        <p:spPr>
          <a:xfrm>
            <a:off x="640080" y="5715000"/>
            <a:ext cx="10881360" cy="658368"/>
          </a:xfrm>
          <a:prstGeom prst="roundRect">
            <a:avLst>
              <a:gd name="adj" fmla="val 13889"/>
            </a:avLst>
          </a:prstGeom>
          <a:solidFill>
            <a:srgbClr val="1E2761"/>
          </a:solidFill>
          <a:ln/>
        </p:spPr>
      </p:sp>
      <p:sp>
        <p:nvSpPr>
          <p:cNvPr id="24" name="Text 22"/>
          <p:cNvSpPr txBox="1"/>
          <p:nvPr/>
        </p:nvSpPr>
        <p:spPr>
          <a:xfrm>
            <a:off x="914400" y="5715000"/>
            <a:ext cx="2377440" cy="658368"/>
          </a:xfrm>
          <a:prstGeom prst="rect">
            <a:avLst/>
          </a:prstGeom>
          <a:noFill/>
          <a:ln/>
        </p:spPr>
        <p:txBody>
          <a:bodyPr wrap="square" lIns="0" tIns="0" rIns="0" bIns="0" rtlCol="0" anchor="ctr"/>
          <a:lstStyle/>
          <a:p>
            <a:pPr indent="0" marL="0">
              <a:buNone/>
            </a:pPr>
            <a:r>
              <a:rPr lang="en-US" sz="1300" b="1" spc="150" kern="0" dirty="0">
                <a:solidFill>
                  <a:srgbClr val="CADCFC"/>
                </a:solidFill>
                <a:latin typeface="Calibri" pitchFamily="34" charset="0"/>
                <a:ea typeface="Calibri" pitchFamily="34" charset="-122"/>
                <a:cs typeface="Calibri" pitchFamily="34" charset="-120"/>
              </a:rPr>
              <a:t>THE DISCIPLINE</a:t>
            </a:r>
            <a:endParaRPr lang="en-US" sz="1300" dirty="0"/>
          </a:p>
        </p:txBody>
      </p:sp>
      <p:sp>
        <p:nvSpPr>
          <p:cNvPr id="25" name="Text 23"/>
          <p:cNvSpPr txBox="1"/>
          <p:nvPr/>
        </p:nvSpPr>
        <p:spPr>
          <a:xfrm>
            <a:off x="3383280" y="5715000"/>
            <a:ext cx="7863840" cy="658368"/>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Operating rhythm, scorecard and decision rights that keep the four pillars honest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Where we start: the vision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candidate statements to deliberate. One gets chosen; the ambition then puts numbers to it.</a:t>
            </a:r>
            <a:endParaRPr lang="en-US" sz="1450" dirty="0"/>
          </a:p>
        </p:txBody>
      </p:sp>
      <p:sp>
        <p:nvSpPr>
          <p:cNvPr id="4" name="Shape 2"/>
          <p:cNvSpPr/>
          <p:nvPr/>
        </p:nvSpPr>
        <p:spPr>
          <a:xfrm>
            <a:off x="640080" y="1874520"/>
            <a:ext cx="3520440" cy="3566160"/>
          </a:xfrm>
          <a:prstGeom prst="roundRect">
            <a:avLst>
              <a:gd name="adj" fmla="val 3117"/>
            </a:avLst>
          </a:prstGeom>
          <a:solidFill>
            <a:srgbClr val="E4EBF7"/>
          </a:solidFill>
          <a:ln/>
        </p:spPr>
      </p:sp>
      <p:sp>
        <p:nvSpPr>
          <p:cNvPr id="5" name="Shape 3"/>
          <p:cNvSpPr/>
          <p:nvPr/>
        </p:nvSpPr>
        <p:spPr>
          <a:xfrm>
            <a:off x="914400" y="2103120"/>
            <a:ext cx="420624" cy="420624"/>
          </a:xfrm>
          <a:prstGeom prst="ellipse">
            <a:avLst/>
          </a:prstGeom>
          <a:solidFill>
            <a:srgbClr val="1E2761"/>
          </a:solidFill>
          <a:ln/>
        </p:spPr>
      </p:sp>
      <p:sp>
        <p:nvSpPr>
          <p:cNvPr id="6" name="Text 4"/>
          <p:cNvSpPr txBox="1"/>
          <p:nvPr/>
        </p:nvSpPr>
        <p:spPr>
          <a:xfrm>
            <a:off x="914400" y="21031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508760" y="2103120"/>
            <a:ext cx="2377440" cy="41148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The integrator</a:t>
            </a:r>
            <a:endParaRPr lang="en-US" sz="1700" dirty="0"/>
          </a:p>
        </p:txBody>
      </p:sp>
      <p:sp>
        <p:nvSpPr>
          <p:cNvPr id="8" name="Text 6"/>
          <p:cNvSpPr txBox="1"/>
          <p:nvPr/>
        </p:nvSpPr>
        <p:spPr>
          <a:xfrm>
            <a:off x="914400" y="2697480"/>
            <a:ext cx="2971800" cy="1645920"/>
          </a:xfrm>
          <a:prstGeom prst="rect">
            <a:avLst/>
          </a:prstGeom>
          <a:noFill/>
          <a:ln/>
        </p:spPr>
        <p:txBody>
          <a:bodyPr wrap="square" lIns="0" tIns="0" rIns="0" bIns="0" rtlCol="0" anchor="ctr"/>
          <a:lstStyle/>
          <a:p>
            <a:pPr indent="0" marL="0">
              <a:buNone/>
            </a:pPr>
            <a:r>
              <a:rPr lang="en-US" sz="1300" i="1" dirty="0">
                <a:solidFill>
                  <a:srgbClr val="1E2761"/>
                </a:solidFill>
                <a:latin typeface="Calibri" pitchFamily="34" charset="0"/>
                <a:ea typeface="Calibri" pitchFamily="34" charset="-122"/>
                <a:cs typeface="Calibri" pitchFamily="34" charset="-120"/>
              </a:rPr>
              <a:t>“One team that designs, builds and runs the core, the data and the engineering behind every bank we serve in the region.”</a:t>
            </a:r>
            <a:endParaRPr lang="en-US" sz="1300" dirty="0"/>
          </a:p>
        </p:txBody>
      </p:sp>
      <p:sp>
        <p:nvSpPr>
          <p:cNvPr id="9" name="Text 7"/>
          <p:cNvSpPr txBox="1"/>
          <p:nvPr/>
        </p:nvSpPr>
        <p:spPr>
          <a:xfrm>
            <a:off x="914400" y="443484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Bets on: integrated propositions and full SI ownership.</a:t>
            </a:r>
            <a:endParaRPr lang="en-US" sz="1150" dirty="0"/>
          </a:p>
        </p:txBody>
      </p:sp>
      <p:sp>
        <p:nvSpPr>
          <p:cNvPr id="10" name="Text 8"/>
          <p:cNvSpPr txBox="1"/>
          <p:nvPr/>
        </p:nvSpPr>
        <p:spPr>
          <a:xfrm>
            <a:off x="914400" y="4919472"/>
            <a:ext cx="2971800" cy="41148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Risk: reads as scale, not distinctiveness.</a:t>
            </a:r>
            <a:endParaRPr lang="en-US" sz="1100" dirty="0"/>
          </a:p>
        </p:txBody>
      </p:sp>
      <p:sp>
        <p:nvSpPr>
          <p:cNvPr id="11" name="Shape 9"/>
          <p:cNvSpPr/>
          <p:nvPr/>
        </p:nvSpPr>
        <p:spPr>
          <a:xfrm>
            <a:off x="4325112" y="1874520"/>
            <a:ext cx="3520440" cy="3566160"/>
          </a:xfrm>
          <a:prstGeom prst="roundRect">
            <a:avLst>
              <a:gd name="adj" fmla="val 3117"/>
            </a:avLst>
          </a:prstGeom>
          <a:solidFill>
            <a:srgbClr val="EDF2FA"/>
          </a:solidFill>
          <a:ln/>
        </p:spPr>
      </p:sp>
      <p:sp>
        <p:nvSpPr>
          <p:cNvPr id="12" name="Shape 10"/>
          <p:cNvSpPr/>
          <p:nvPr/>
        </p:nvSpPr>
        <p:spPr>
          <a:xfrm>
            <a:off x="4599432" y="2103120"/>
            <a:ext cx="420624" cy="420624"/>
          </a:xfrm>
          <a:prstGeom prst="ellipse">
            <a:avLst/>
          </a:prstGeom>
          <a:solidFill>
            <a:srgbClr val="3E5C8A"/>
          </a:solidFill>
          <a:ln/>
        </p:spPr>
      </p:sp>
      <p:sp>
        <p:nvSpPr>
          <p:cNvPr id="13" name="Text 11"/>
          <p:cNvSpPr txBox="1"/>
          <p:nvPr/>
        </p:nvSpPr>
        <p:spPr>
          <a:xfrm>
            <a:off x="4599432" y="21031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5193792" y="2103120"/>
            <a:ext cx="2377440" cy="41148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AI-native banking</a:t>
            </a:r>
            <a:endParaRPr lang="en-US" sz="1700" dirty="0"/>
          </a:p>
        </p:txBody>
      </p:sp>
      <p:sp>
        <p:nvSpPr>
          <p:cNvPr id="15" name="Text 13"/>
          <p:cNvSpPr txBox="1"/>
          <p:nvPr/>
        </p:nvSpPr>
        <p:spPr>
          <a:xfrm>
            <a:off x="4599432" y="2697480"/>
            <a:ext cx="2971800" cy="1645920"/>
          </a:xfrm>
          <a:prstGeom prst="rect">
            <a:avLst/>
          </a:prstGeom>
          <a:noFill/>
          <a:ln/>
        </p:spPr>
        <p:txBody>
          <a:bodyPr wrap="square" lIns="0" tIns="0" rIns="0" bIns="0" rtlCol="0" anchor="ctr"/>
          <a:lstStyle/>
          <a:p>
            <a:pPr indent="0" marL="0">
              <a:buNone/>
            </a:pPr>
            <a:r>
              <a:rPr lang="en-US" sz="1300" i="1" dirty="0">
                <a:solidFill>
                  <a:srgbClr val="1E2761"/>
                </a:solidFill>
                <a:latin typeface="Calibri" pitchFamily="34" charset="0"/>
                <a:ea typeface="Calibri" pitchFamily="34" charset="-122"/>
                <a:cs typeface="Calibri" pitchFamily="34" charset="-120"/>
              </a:rPr>
              <a:t>“We make the banks we work with AI-native: modernising the core, the data and the engineering so intelligence runs through the bank, not beside it.”</a:t>
            </a:r>
            <a:endParaRPr lang="en-US" sz="1300" dirty="0"/>
          </a:p>
        </p:txBody>
      </p:sp>
      <p:sp>
        <p:nvSpPr>
          <p:cNvPr id="16" name="Text 14"/>
          <p:cNvSpPr txBox="1"/>
          <p:nvPr/>
        </p:nvSpPr>
        <p:spPr>
          <a:xfrm>
            <a:off x="4599432" y="443484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Bets on: AI embedded in everything we sell.</a:t>
            </a:r>
            <a:endParaRPr lang="en-US" sz="1150" dirty="0"/>
          </a:p>
        </p:txBody>
      </p:sp>
      <p:sp>
        <p:nvSpPr>
          <p:cNvPr id="17" name="Text 15"/>
          <p:cNvSpPr txBox="1"/>
          <p:nvPr/>
        </p:nvSpPr>
        <p:spPr>
          <a:xfrm>
            <a:off x="4599432" y="4919472"/>
            <a:ext cx="2971800" cy="41148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Risk: must be provable, or it is a slogan.</a:t>
            </a:r>
            <a:endParaRPr lang="en-US" sz="1100" dirty="0"/>
          </a:p>
        </p:txBody>
      </p:sp>
      <p:sp>
        <p:nvSpPr>
          <p:cNvPr id="18" name="Shape 16"/>
          <p:cNvSpPr/>
          <p:nvPr/>
        </p:nvSpPr>
        <p:spPr>
          <a:xfrm>
            <a:off x="8010144" y="1874520"/>
            <a:ext cx="3520440" cy="3566160"/>
          </a:xfrm>
          <a:prstGeom prst="roundRect">
            <a:avLst>
              <a:gd name="adj" fmla="val 3117"/>
            </a:avLst>
          </a:prstGeom>
          <a:solidFill>
            <a:srgbClr val="E4EBF7"/>
          </a:solidFill>
          <a:ln/>
        </p:spPr>
      </p:sp>
      <p:sp>
        <p:nvSpPr>
          <p:cNvPr id="19" name="Shape 17"/>
          <p:cNvSpPr/>
          <p:nvPr/>
        </p:nvSpPr>
        <p:spPr>
          <a:xfrm>
            <a:off x="8284464" y="2103120"/>
            <a:ext cx="420624" cy="420624"/>
          </a:xfrm>
          <a:prstGeom prst="ellipse">
            <a:avLst/>
          </a:prstGeom>
          <a:solidFill>
            <a:srgbClr val="1E2761"/>
          </a:solidFill>
          <a:ln/>
        </p:spPr>
      </p:sp>
      <p:sp>
        <p:nvSpPr>
          <p:cNvPr id="20" name="Text 18"/>
          <p:cNvSpPr txBox="1"/>
          <p:nvPr/>
        </p:nvSpPr>
        <p:spPr>
          <a:xfrm>
            <a:off x="8284464" y="21031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8878824" y="2103120"/>
            <a:ext cx="2377440" cy="41148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Domain depth</a:t>
            </a:r>
            <a:endParaRPr lang="en-US" sz="1700" dirty="0"/>
          </a:p>
        </p:txBody>
      </p:sp>
      <p:sp>
        <p:nvSpPr>
          <p:cNvPr id="22" name="Text 20"/>
          <p:cNvSpPr txBox="1"/>
          <p:nvPr/>
        </p:nvSpPr>
        <p:spPr>
          <a:xfrm>
            <a:off x="8284464" y="2697480"/>
            <a:ext cx="2971800" cy="1645920"/>
          </a:xfrm>
          <a:prstGeom prst="rect">
            <a:avLst/>
          </a:prstGeom>
          <a:noFill/>
          <a:ln/>
        </p:spPr>
        <p:txBody>
          <a:bodyPr wrap="square" lIns="0" tIns="0" rIns="0" bIns="0" rtlCol="0" anchor="ctr"/>
          <a:lstStyle/>
          <a:p>
            <a:pPr indent="0" marL="0">
              <a:buNone/>
            </a:pPr>
            <a:r>
              <a:rPr lang="en-US" sz="1300" i="1" dirty="0">
                <a:solidFill>
                  <a:srgbClr val="1E2761"/>
                </a:solidFill>
                <a:latin typeface="Calibri" pitchFamily="34" charset="0"/>
                <a:ea typeface="Calibri" pitchFamily="34" charset="-122"/>
                <a:cs typeface="Calibri" pitchFamily="34" charset="-120"/>
              </a:rPr>
              <a:t>“The team banks call first, because we understand their business as deeply as their technology — and can build what we advise.”</a:t>
            </a:r>
            <a:endParaRPr lang="en-US" sz="1300" dirty="0"/>
          </a:p>
        </p:txBody>
      </p:sp>
      <p:sp>
        <p:nvSpPr>
          <p:cNvPr id="23" name="Text 21"/>
          <p:cNvSpPr txBox="1"/>
          <p:nvPr/>
        </p:nvSpPr>
        <p:spPr>
          <a:xfrm>
            <a:off x="8284464" y="4434840"/>
            <a:ext cx="2971800" cy="457200"/>
          </a:xfrm>
          <a:prstGeom prst="rect">
            <a:avLst/>
          </a:prstGeom>
          <a:noFill/>
          <a:ln/>
        </p:spPr>
        <p:txBody>
          <a:bodyPr wrap="square" lIns="0" tIns="0" rIns="0" bIns="0" rtlCol="0" anchor="ctr"/>
          <a:lstStyle/>
          <a:p>
            <a:pPr indent="0" marL="0">
              <a:buNone/>
            </a:pPr>
            <a:r>
              <a:rPr lang="en-US" sz="1150" b="1" dirty="0">
                <a:solidFill>
                  <a:srgbClr val="44506B"/>
                </a:solidFill>
                <a:latin typeface="Calibri" pitchFamily="34" charset="0"/>
                <a:ea typeface="Calibri" pitchFamily="34" charset="-122"/>
                <a:cs typeface="Calibri" pitchFamily="34" charset="-120"/>
              </a:rPr>
              <a:t>Bets on: domain specificity and advise-plus-deliver.</a:t>
            </a:r>
            <a:endParaRPr lang="en-US" sz="1150" dirty="0"/>
          </a:p>
        </p:txBody>
      </p:sp>
      <p:sp>
        <p:nvSpPr>
          <p:cNvPr id="24" name="Text 22"/>
          <p:cNvSpPr txBox="1"/>
          <p:nvPr/>
        </p:nvSpPr>
        <p:spPr>
          <a:xfrm>
            <a:off x="8284464" y="4919472"/>
            <a:ext cx="2971800" cy="41148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Risk: quieter claim, harder to headline.</a:t>
            </a:r>
            <a:endParaRPr lang="en-US" sz="1100" dirty="0"/>
          </a:p>
        </p:txBody>
      </p:sp>
      <p:sp>
        <p:nvSpPr>
          <p:cNvPr id="25" name="Shape 23"/>
          <p:cNvSpPr/>
          <p:nvPr/>
        </p:nvSpPr>
        <p:spPr>
          <a:xfrm>
            <a:off x="640080" y="5623560"/>
            <a:ext cx="10881360" cy="777240"/>
          </a:xfrm>
          <a:prstGeom prst="roundRect">
            <a:avLst>
              <a:gd name="adj" fmla="val 11765"/>
            </a:avLst>
          </a:prstGeom>
          <a:solidFill>
            <a:srgbClr val="1E2761"/>
          </a:solidFill>
          <a:ln/>
        </p:spPr>
      </p:sp>
      <p:sp>
        <p:nvSpPr>
          <p:cNvPr id="26" name="Text 24"/>
          <p:cNvSpPr txBox="1"/>
          <p:nvPr/>
        </p:nvSpPr>
        <p:spPr>
          <a:xfrm>
            <a:off x="914400" y="5623560"/>
            <a:ext cx="10332720" cy="77724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Test to apply: does it say what we do, for whom, and what makes us different — and would a competitor struggle to claim it?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691640"/>
            <a:ext cx="5257800" cy="1051560"/>
          </a:xfrm>
          <a:prstGeom prst="roundRect">
            <a:avLst>
              <a:gd name="adj" fmla="val 8696"/>
            </a:avLst>
          </a:prstGeom>
          <a:solidFill>
            <a:srgbClr val="EDF2FA"/>
          </a:solidFill>
          <a:ln/>
        </p:spPr>
      </p:sp>
      <p:sp>
        <p:nvSpPr>
          <p:cNvPr id="5" name="Shape 3"/>
          <p:cNvSpPr/>
          <p:nvPr/>
        </p:nvSpPr>
        <p:spPr>
          <a:xfrm>
            <a:off x="896112" y="1892808"/>
            <a:ext cx="365760" cy="365760"/>
          </a:xfrm>
          <a:prstGeom prst="ellipse">
            <a:avLst/>
          </a:prstGeom>
          <a:solidFill>
            <a:srgbClr val="1E2761"/>
          </a:solidFill>
          <a:ln/>
        </p:spPr>
      </p:sp>
      <p:sp>
        <p:nvSpPr>
          <p:cNvPr id="6" name="Text 4"/>
          <p:cNvSpPr txBox="1"/>
          <p:nvPr/>
        </p:nvSpPr>
        <p:spPr>
          <a:xfrm>
            <a:off x="89611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Integrated, not siloed</a:t>
            </a:r>
            <a:endParaRPr lang="en-US" sz="1550" dirty="0"/>
          </a:p>
        </p:txBody>
      </p:sp>
      <p:sp>
        <p:nvSpPr>
          <p:cNvPr id="8" name="Text 6"/>
          <p:cNvSpPr txBox="1"/>
          <p:nvPr/>
        </p:nvSpPr>
        <p:spPr>
          <a:xfrm>
            <a:off x="141732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150" dirty="0"/>
          </a:p>
        </p:txBody>
      </p:sp>
      <p:sp>
        <p:nvSpPr>
          <p:cNvPr id="9" name="Shape 7"/>
          <p:cNvSpPr/>
          <p:nvPr/>
        </p:nvSpPr>
        <p:spPr>
          <a:xfrm>
            <a:off x="6263640" y="1691640"/>
            <a:ext cx="5257800" cy="1051560"/>
          </a:xfrm>
          <a:prstGeom prst="roundRect">
            <a:avLst>
              <a:gd name="adj" fmla="val 8696"/>
            </a:avLst>
          </a:prstGeom>
          <a:solidFill>
            <a:srgbClr val="EDF2FA"/>
          </a:solidFill>
          <a:ln/>
        </p:spPr>
      </p:sp>
      <p:sp>
        <p:nvSpPr>
          <p:cNvPr id="10" name="Shape 8"/>
          <p:cNvSpPr/>
          <p:nvPr/>
        </p:nvSpPr>
        <p:spPr>
          <a:xfrm>
            <a:off x="6519672" y="1892808"/>
            <a:ext cx="365760" cy="365760"/>
          </a:xfrm>
          <a:prstGeom prst="ellipse">
            <a:avLst/>
          </a:prstGeom>
          <a:solidFill>
            <a:srgbClr val="3E5C8A"/>
          </a:solidFill>
          <a:ln/>
        </p:spPr>
      </p:sp>
      <p:sp>
        <p:nvSpPr>
          <p:cNvPr id="11" name="Text 9"/>
          <p:cNvSpPr txBox="1"/>
          <p:nvPr/>
        </p:nvSpPr>
        <p:spPr>
          <a:xfrm>
            <a:off x="6519672" y="18928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37944"/>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Named accounts, not averages</a:t>
            </a:r>
            <a:endParaRPr lang="en-US" sz="1550" dirty="0"/>
          </a:p>
        </p:txBody>
      </p:sp>
      <p:sp>
        <p:nvSpPr>
          <p:cNvPr id="13" name="Text 11"/>
          <p:cNvSpPr txBox="1"/>
          <p:nvPr/>
        </p:nvSpPr>
        <p:spPr>
          <a:xfrm>
            <a:off x="7040880" y="2167128"/>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150" dirty="0"/>
          </a:p>
        </p:txBody>
      </p:sp>
      <p:sp>
        <p:nvSpPr>
          <p:cNvPr id="14" name="Shape 12"/>
          <p:cNvSpPr/>
          <p:nvPr/>
        </p:nvSpPr>
        <p:spPr>
          <a:xfrm>
            <a:off x="640080" y="2862072"/>
            <a:ext cx="5257800" cy="1051560"/>
          </a:xfrm>
          <a:prstGeom prst="roundRect">
            <a:avLst>
              <a:gd name="adj" fmla="val 8696"/>
            </a:avLst>
          </a:prstGeom>
          <a:solidFill>
            <a:srgbClr val="EDF2FA"/>
          </a:solidFill>
          <a:ln/>
        </p:spPr>
      </p:sp>
      <p:sp>
        <p:nvSpPr>
          <p:cNvPr id="15" name="Shape 13"/>
          <p:cNvSpPr/>
          <p:nvPr/>
        </p:nvSpPr>
        <p:spPr>
          <a:xfrm>
            <a:off x="896112" y="3063240"/>
            <a:ext cx="365760" cy="365760"/>
          </a:xfrm>
          <a:prstGeom prst="ellipse">
            <a:avLst/>
          </a:prstGeom>
          <a:solidFill>
            <a:srgbClr val="1E2761"/>
          </a:solidFill>
          <a:ln/>
        </p:spPr>
      </p:sp>
      <p:sp>
        <p:nvSpPr>
          <p:cNvPr id="16" name="Text 14"/>
          <p:cNvSpPr txBox="1"/>
          <p:nvPr/>
        </p:nvSpPr>
        <p:spPr>
          <a:xfrm>
            <a:off x="89611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Sized and priced</a:t>
            </a:r>
            <a:endParaRPr lang="en-US" sz="1550" dirty="0"/>
          </a:p>
        </p:txBody>
      </p:sp>
      <p:sp>
        <p:nvSpPr>
          <p:cNvPr id="18" name="Text 16"/>
          <p:cNvSpPr txBox="1"/>
          <p:nvPr/>
        </p:nvSpPr>
        <p:spPr>
          <a:xfrm>
            <a:off x="141732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150" dirty="0"/>
          </a:p>
        </p:txBody>
      </p:sp>
      <p:sp>
        <p:nvSpPr>
          <p:cNvPr id="19" name="Shape 17"/>
          <p:cNvSpPr/>
          <p:nvPr/>
        </p:nvSpPr>
        <p:spPr>
          <a:xfrm>
            <a:off x="6263640" y="2862072"/>
            <a:ext cx="5257800" cy="1051560"/>
          </a:xfrm>
          <a:prstGeom prst="roundRect">
            <a:avLst>
              <a:gd name="adj" fmla="val 8696"/>
            </a:avLst>
          </a:prstGeom>
          <a:solidFill>
            <a:srgbClr val="EDF2FA"/>
          </a:solidFill>
          <a:ln/>
        </p:spPr>
      </p:sp>
      <p:sp>
        <p:nvSpPr>
          <p:cNvPr id="20" name="Shape 18"/>
          <p:cNvSpPr/>
          <p:nvPr/>
        </p:nvSpPr>
        <p:spPr>
          <a:xfrm>
            <a:off x="6519672" y="3063240"/>
            <a:ext cx="365760" cy="365760"/>
          </a:xfrm>
          <a:prstGeom prst="ellipse">
            <a:avLst/>
          </a:prstGeom>
          <a:solidFill>
            <a:srgbClr val="3E5C8A"/>
          </a:solidFill>
          <a:ln/>
        </p:spPr>
      </p:sp>
      <p:sp>
        <p:nvSpPr>
          <p:cNvPr id="21" name="Text 19"/>
          <p:cNvSpPr txBox="1"/>
          <p:nvPr/>
        </p:nvSpPr>
        <p:spPr>
          <a:xfrm>
            <a:off x="6519672" y="30632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3008376"/>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Covered by a partner</a:t>
            </a:r>
            <a:endParaRPr lang="en-US" sz="1550" dirty="0"/>
          </a:p>
        </p:txBody>
      </p:sp>
      <p:sp>
        <p:nvSpPr>
          <p:cNvPr id="23" name="Text 21"/>
          <p:cNvSpPr txBox="1"/>
          <p:nvPr/>
        </p:nvSpPr>
        <p:spPr>
          <a:xfrm>
            <a:off x="7040880" y="3337560"/>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150" dirty="0"/>
          </a:p>
        </p:txBody>
      </p:sp>
      <p:sp>
        <p:nvSpPr>
          <p:cNvPr id="24" name="Shape 22"/>
          <p:cNvSpPr/>
          <p:nvPr/>
        </p:nvSpPr>
        <p:spPr>
          <a:xfrm>
            <a:off x="640080" y="4032504"/>
            <a:ext cx="5257800" cy="1051560"/>
          </a:xfrm>
          <a:prstGeom prst="roundRect">
            <a:avLst>
              <a:gd name="adj" fmla="val 8696"/>
            </a:avLst>
          </a:prstGeom>
          <a:solidFill>
            <a:srgbClr val="EDF2FA"/>
          </a:solidFill>
          <a:ln/>
        </p:spPr>
      </p:sp>
      <p:sp>
        <p:nvSpPr>
          <p:cNvPr id="25" name="Shape 23"/>
          <p:cNvSpPr/>
          <p:nvPr/>
        </p:nvSpPr>
        <p:spPr>
          <a:xfrm>
            <a:off x="896112" y="4233672"/>
            <a:ext cx="365760" cy="365760"/>
          </a:xfrm>
          <a:prstGeom prst="ellipse">
            <a:avLst/>
          </a:prstGeom>
          <a:solidFill>
            <a:srgbClr val="1E2761"/>
          </a:solidFill>
          <a:ln/>
        </p:spPr>
      </p:sp>
      <p:sp>
        <p:nvSpPr>
          <p:cNvPr id="26" name="Text 24"/>
          <p:cNvSpPr txBox="1"/>
          <p:nvPr/>
        </p:nvSpPr>
        <p:spPr>
          <a:xfrm>
            <a:off x="89611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Deliverable by design</a:t>
            </a:r>
            <a:endParaRPr lang="en-US" sz="1550" dirty="0"/>
          </a:p>
        </p:txBody>
      </p:sp>
      <p:sp>
        <p:nvSpPr>
          <p:cNvPr id="28" name="Text 26"/>
          <p:cNvSpPr txBox="1"/>
          <p:nvPr/>
        </p:nvSpPr>
        <p:spPr>
          <a:xfrm>
            <a:off x="141732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150" dirty="0"/>
          </a:p>
        </p:txBody>
      </p:sp>
      <p:sp>
        <p:nvSpPr>
          <p:cNvPr id="29" name="Shape 27"/>
          <p:cNvSpPr/>
          <p:nvPr/>
        </p:nvSpPr>
        <p:spPr>
          <a:xfrm>
            <a:off x="6263640" y="4032504"/>
            <a:ext cx="5257800" cy="1051560"/>
          </a:xfrm>
          <a:prstGeom prst="roundRect">
            <a:avLst>
              <a:gd name="adj" fmla="val 8696"/>
            </a:avLst>
          </a:prstGeom>
          <a:solidFill>
            <a:srgbClr val="EDF2FA"/>
          </a:solidFill>
          <a:ln/>
        </p:spPr>
      </p:sp>
      <p:sp>
        <p:nvSpPr>
          <p:cNvPr id="30" name="Shape 28"/>
          <p:cNvSpPr/>
          <p:nvPr/>
        </p:nvSpPr>
        <p:spPr>
          <a:xfrm>
            <a:off x="6519672" y="4233672"/>
            <a:ext cx="365760" cy="365760"/>
          </a:xfrm>
          <a:prstGeom prst="ellipse">
            <a:avLst/>
          </a:prstGeom>
          <a:solidFill>
            <a:srgbClr val="3E5C8A"/>
          </a:solidFill>
          <a:ln/>
        </p:spPr>
      </p:sp>
      <p:sp>
        <p:nvSpPr>
          <p:cNvPr id="31" name="Text 29"/>
          <p:cNvSpPr txBox="1"/>
          <p:nvPr/>
        </p:nvSpPr>
        <p:spPr>
          <a:xfrm>
            <a:off x="6519672"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4178808"/>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Domain-specific, not agnostic</a:t>
            </a:r>
            <a:endParaRPr lang="en-US" sz="1550" dirty="0"/>
          </a:p>
        </p:txBody>
      </p:sp>
      <p:sp>
        <p:nvSpPr>
          <p:cNvPr id="33" name="Text 31"/>
          <p:cNvSpPr txBox="1"/>
          <p:nvPr/>
        </p:nvSpPr>
        <p:spPr>
          <a:xfrm>
            <a:off x="7040880" y="4507992"/>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Banking is specialised and clients expect it: every proposition, credential and CV speaks the domain.</a:t>
            </a:r>
            <a:endParaRPr lang="en-US" sz="1150" dirty="0"/>
          </a:p>
        </p:txBody>
      </p:sp>
      <p:sp>
        <p:nvSpPr>
          <p:cNvPr id="34" name="Shape 32"/>
          <p:cNvSpPr/>
          <p:nvPr/>
        </p:nvSpPr>
        <p:spPr>
          <a:xfrm>
            <a:off x="640080" y="5202936"/>
            <a:ext cx="5257800" cy="1051560"/>
          </a:xfrm>
          <a:prstGeom prst="roundRect">
            <a:avLst>
              <a:gd name="adj" fmla="val 8696"/>
            </a:avLst>
          </a:prstGeom>
          <a:solidFill>
            <a:srgbClr val="EDF2FA"/>
          </a:solidFill>
          <a:ln/>
        </p:spPr>
      </p:sp>
      <p:sp>
        <p:nvSpPr>
          <p:cNvPr id="35" name="Shape 33"/>
          <p:cNvSpPr/>
          <p:nvPr/>
        </p:nvSpPr>
        <p:spPr>
          <a:xfrm>
            <a:off x="896112" y="5404104"/>
            <a:ext cx="365760" cy="365760"/>
          </a:xfrm>
          <a:prstGeom prst="ellipse">
            <a:avLst/>
          </a:prstGeom>
          <a:solidFill>
            <a:srgbClr val="1E2761"/>
          </a:solidFill>
          <a:ln/>
        </p:spPr>
      </p:sp>
      <p:sp>
        <p:nvSpPr>
          <p:cNvPr id="36" name="Text 34"/>
          <p:cNvSpPr txBox="1"/>
          <p:nvPr/>
        </p:nvSpPr>
        <p:spPr>
          <a:xfrm>
            <a:off x="89611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AI and innovation embedded</a:t>
            </a:r>
            <a:endParaRPr lang="en-US" sz="1550" dirty="0"/>
          </a:p>
        </p:txBody>
      </p:sp>
      <p:sp>
        <p:nvSpPr>
          <p:cNvPr id="38" name="Text 36"/>
          <p:cNvSpPr txBox="1"/>
          <p:nvPr/>
        </p:nvSpPr>
        <p:spPr>
          <a:xfrm>
            <a:off x="141732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Not a separate offering: every proposition carries an AI and innovation component by design.</a:t>
            </a:r>
            <a:endParaRPr lang="en-US" sz="1150" dirty="0"/>
          </a:p>
        </p:txBody>
      </p:sp>
      <p:sp>
        <p:nvSpPr>
          <p:cNvPr id="39" name="Shape 37"/>
          <p:cNvSpPr/>
          <p:nvPr/>
        </p:nvSpPr>
        <p:spPr>
          <a:xfrm>
            <a:off x="6263640" y="5202936"/>
            <a:ext cx="5257800" cy="1051560"/>
          </a:xfrm>
          <a:prstGeom prst="roundRect">
            <a:avLst>
              <a:gd name="adj" fmla="val 8696"/>
            </a:avLst>
          </a:prstGeom>
          <a:solidFill>
            <a:srgbClr val="EDF2FA"/>
          </a:solidFill>
          <a:ln/>
        </p:spPr>
      </p:sp>
      <p:sp>
        <p:nvSpPr>
          <p:cNvPr id="40" name="Shape 38"/>
          <p:cNvSpPr/>
          <p:nvPr/>
        </p:nvSpPr>
        <p:spPr>
          <a:xfrm>
            <a:off x="6519672" y="5404104"/>
            <a:ext cx="365760" cy="365760"/>
          </a:xfrm>
          <a:prstGeom prst="ellipse">
            <a:avLst/>
          </a:prstGeom>
          <a:solidFill>
            <a:srgbClr val="3E5C8A"/>
          </a:solidFill>
          <a:ln/>
        </p:spPr>
      </p:sp>
      <p:sp>
        <p:nvSpPr>
          <p:cNvPr id="41" name="Text 39"/>
          <p:cNvSpPr txBox="1"/>
          <p:nvPr/>
        </p:nvSpPr>
        <p:spPr>
          <a:xfrm>
            <a:off x="6519672" y="54041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5349240"/>
            <a:ext cx="4297680" cy="292608"/>
          </a:xfrm>
          <a:prstGeom prst="rect">
            <a:avLst/>
          </a:prstGeom>
          <a:noFill/>
          <a:ln/>
        </p:spPr>
        <p:txBody>
          <a:bodyPr wrap="square" lIns="0" tIns="0" rIns="0" bIns="0" rtlCol="0" anchor="ctr"/>
          <a:lstStyle/>
          <a:p>
            <a:pPr indent="0" marL="0">
              <a:buNone/>
            </a:pPr>
            <a:r>
              <a:rPr lang="en-US" sz="1550" b="1" dirty="0">
                <a:solidFill>
                  <a:srgbClr val="16203A"/>
                </a:solidFill>
                <a:latin typeface="Calibri" pitchFamily="34" charset="0"/>
                <a:ea typeface="Calibri" pitchFamily="34" charset="-122"/>
                <a:cs typeface="Calibri" pitchFamily="34" charset="-120"/>
              </a:rPr>
              <a:t>One integrated market team</a:t>
            </a:r>
            <a:endParaRPr lang="en-US" sz="1550" dirty="0"/>
          </a:p>
        </p:txBody>
      </p:sp>
      <p:sp>
        <p:nvSpPr>
          <p:cNvPr id="43" name="Text 41"/>
          <p:cNvSpPr txBox="1"/>
          <p:nvPr/>
        </p:nvSpPr>
        <p:spPr>
          <a:xfrm>
            <a:off x="7040880" y="5678424"/>
            <a:ext cx="4297680" cy="530352"/>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Every partner and director knows the whole catalogue, reads the signals, positions level one, then pulls in the specialist.</a:t>
            </a:r>
            <a:endParaRPr lang="en-US" sz="1150" dirty="0"/>
          </a:p>
        </p:txBody>
      </p:sp>
      <p:sp>
        <p:nvSpPr>
          <p:cNvPr id="44" name="Text 42"/>
          <p:cNvSpPr txBox="1"/>
          <p:nvPr/>
        </p:nvSpPr>
        <p:spPr>
          <a:xfrm>
            <a:off x="640080" y="6355080"/>
            <a:ext cx="10881360" cy="365760"/>
          </a:xfrm>
          <a:prstGeom prst="rect">
            <a:avLst/>
          </a:prstGeom>
          <a:noFill/>
          <a:ln/>
        </p:spPr>
        <p:txBody>
          <a:bodyPr wrap="square" lIns="0" tIns="0" rIns="0" bIns="0" rtlCol="0" anchor="ctr"/>
          <a:lstStyle/>
          <a:p>
            <a:pPr indent="0" marL="0">
              <a:buNone/>
            </a:pPr>
            <a:r>
              <a:rPr lang="en-US" sz="120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Choose the vision, then frame the ambition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Price bands, ADR and target margin</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per account, gross and net, against capacity</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Five workstreams, one per pillar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pillar has one owner and a defined set of artefacts.</a:t>
            </a:r>
            <a:endParaRPr lang="en-US" sz="1450" dirty="0"/>
          </a:p>
        </p:txBody>
      </p:sp>
      <p:sp>
        <p:nvSpPr>
          <p:cNvPr id="4" name="Shape 2"/>
          <p:cNvSpPr/>
          <p:nvPr/>
        </p:nvSpPr>
        <p:spPr>
          <a:xfrm>
            <a:off x="640080" y="1874520"/>
            <a:ext cx="10881360" cy="749808"/>
          </a:xfrm>
          <a:prstGeom prst="roundRect">
            <a:avLst>
              <a:gd name="adj" fmla="val 12195"/>
            </a:avLst>
          </a:prstGeom>
          <a:solidFill>
            <a:srgbClr val="F2F6FC"/>
          </a:solidFill>
          <a:ln/>
        </p:spPr>
      </p:sp>
      <p:sp>
        <p:nvSpPr>
          <p:cNvPr id="5" name="Text 3"/>
          <p:cNvSpPr txBox="1"/>
          <p:nvPr/>
        </p:nvSpPr>
        <p:spPr>
          <a:xfrm>
            <a:off x="914400" y="191109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Market and clients</a:t>
            </a:r>
            <a:endParaRPr lang="en-US" sz="1350" dirty="0"/>
          </a:p>
        </p:txBody>
      </p:sp>
      <p:sp>
        <p:nvSpPr>
          <p:cNvPr id="6" name="Text 4"/>
          <p:cNvSpPr txBox="1"/>
          <p:nvPr/>
        </p:nvSpPr>
        <p:spPr>
          <a:xfrm>
            <a:off x="914400" y="224028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segments, named accounts, offerings and revenue per account, coverage</a:t>
            </a:r>
            <a:endParaRPr lang="en-US" sz="1050" dirty="0"/>
          </a:p>
        </p:txBody>
      </p:sp>
      <p:sp>
        <p:nvSpPr>
          <p:cNvPr id="7" name="Text 5"/>
          <p:cNvSpPr txBox="1"/>
          <p:nvPr/>
        </p:nvSpPr>
        <p:spPr>
          <a:xfrm>
            <a:off x="4846320" y="187452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Market prioritisation · target account list · account revenue plan · coverage map</a:t>
            </a:r>
            <a:endParaRPr lang="en-US" sz="1250" dirty="0"/>
          </a:p>
        </p:txBody>
      </p:sp>
      <p:sp>
        <p:nvSpPr>
          <p:cNvPr id="8" name="Shape 6"/>
          <p:cNvSpPr/>
          <p:nvPr/>
        </p:nvSpPr>
        <p:spPr>
          <a:xfrm>
            <a:off x="640080" y="2743200"/>
            <a:ext cx="10881360" cy="749808"/>
          </a:xfrm>
          <a:prstGeom prst="roundRect">
            <a:avLst>
              <a:gd name="adj" fmla="val 12195"/>
            </a:avLst>
          </a:prstGeom>
          <a:solidFill>
            <a:srgbClr val="EDF2FA"/>
          </a:solidFill>
          <a:ln/>
        </p:spPr>
      </p:sp>
      <p:sp>
        <p:nvSpPr>
          <p:cNvPr id="9" name="Text 7"/>
          <p:cNvSpPr txBox="1"/>
          <p:nvPr/>
        </p:nvSpPr>
        <p:spPr>
          <a:xfrm>
            <a:off x="914400" y="277977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Offerings</a:t>
            </a:r>
            <a:endParaRPr lang="en-US" sz="1350" dirty="0"/>
          </a:p>
        </p:txBody>
      </p:sp>
      <p:sp>
        <p:nvSpPr>
          <p:cNvPr id="10" name="Text 8"/>
          <p:cNvSpPr txBox="1"/>
          <p:nvPr/>
        </p:nvSpPr>
        <p:spPr>
          <a:xfrm>
            <a:off x="914400" y="310896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What we sell: integrated propositions, use cases and permitted flavours</a:t>
            </a:r>
            <a:endParaRPr lang="en-US" sz="1050" dirty="0"/>
          </a:p>
        </p:txBody>
      </p:sp>
      <p:sp>
        <p:nvSpPr>
          <p:cNvPr id="11" name="Text 9"/>
          <p:cNvSpPr txBox="1"/>
          <p:nvPr/>
        </p:nvSpPr>
        <p:spPr>
          <a:xfrm>
            <a:off x="4846320" y="274320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Proposition catalogue</a:t>
            </a:r>
            <a:endParaRPr lang="en-US" sz="1250" dirty="0"/>
          </a:p>
        </p:txBody>
      </p:sp>
      <p:sp>
        <p:nvSpPr>
          <p:cNvPr id="12" name="Shape 10"/>
          <p:cNvSpPr/>
          <p:nvPr/>
        </p:nvSpPr>
        <p:spPr>
          <a:xfrm>
            <a:off x="640080" y="3611880"/>
            <a:ext cx="10881360" cy="749808"/>
          </a:xfrm>
          <a:prstGeom prst="roundRect">
            <a:avLst>
              <a:gd name="adj" fmla="val 12195"/>
            </a:avLst>
          </a:prstGeom>
          <a:solidFill>
            <a:srgbClr val="F2F6FC"/>
          </a:solidFill>
          <a:ln/>
        </p:spPr>
      </p:sp>
      <p:sp>
        <p:nvSpPr>
          <p:cNvPr id="13" name="Text 11"/>
          <p:cNvSpPr txBox="1"/>
          <p:nvPr/>
        </p:nvSpPr>
        <p:spPr>
          <a:xfrm>
            <a:off x="914400" y="364845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Delivery and economics</a:t>
            </a:r>
            <a:endParaRPr lang="en-US" sz="1350" dirty="0"/>
          </a:p>
        </p:txBody>
      </p:sp>
      <p:sp>
        <p:nvSpPr>
          <p:cNvPr id="14" name="Text 12"/>
          <p:cNvSpPr txBox="1"/>
          <p:nvPr/>
        </p:nvSpPr>
        <p:spPr>
          <a:xfrm>
            <a:off x="914400" y="397764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Delivery model and construct, pricing, margin, team and targets</a:t>
            </a:r>
            <a:endParaRPr lang="en-US" sz="1050" dirty="0"/>
          </a:p>
        </p:txBody>
      </p:sp>
      <p:sp>
        <p:nvSpPr>
          <p:cNvPr id="15" name="Text 13"/>
          <p:cNvSpPr txBox="1"/>
          <p:nvPr/>
        </p:nvSpPr>
        <p:spPr>
          <a:xfrm>
            <a:off x="4846320" y="361188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Pricing bands · offering economics · team model · revenue targets</a:t>
            </a:r>
            <a:endParaRPr lang="en-US" sz="1250" dirty="0"/>
          </a:p>
        </p:txBody>
      </p:sp>
      <p:sp>
        <p:nvSpPr>
          <p:cNvPr id="16" name="Shape 14"/>
          <p:cNvSpPr/>
          <p:nvPr/>
        </p:nvSpPr>
        <p:spPr>
          <a:xfrm>
            <a:off x="640080" y="4480560"/>
            <a:ext cx="10881360" cy="749808"/>
          </a:xfrm>
          <a:prstGeom prst="roundRect">
            <a:avLst>
              <a:gd name="adj" fmla="val 12195"/>
            </a:avLst>
          </a:prstGeom>
          <a:solidFill>
            <a:srgbClr val="EDF2FA"/>
          </a:solidFill>
          <a:ln/>
        </p:spPr>
      </p:sp>
      <p:sp>
        <p:nvSpPr>
          <p:cNvPr id="17" name="Text 15"/>
          <p:cNvSpPr txBox="1"/>
          <p:nvPr/>
        </p:nvSpPr>
        <p:spPr>
          <a:xfrm>
            <a:off x="914400" y="451713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Route to market</a:t>
            </a:r>
            <a:endParaRPr lang="en-US" sz="1350" dirty="0"/>
          </a:p>
        </p:txBody>
      </p:sp>
      <p:sp>
        <p:nvSpPr>
          <p:cNvPr id="18" name="Text 16"/>
          <p:cNvSpPr txBox="1"/>
          <p:nvPr/>
        </p:nvSpPr>
        <p:spPr>
          <a:xfrm>
            <a:off x="914400" y="484632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 eminence and differentiation</a:t>
            </a:r>
            <a:endParaRPr lang="en-US" sz="1050" dirty="0"/>
          </a:p>
        </p:txBody>
      </p:sp>
      <p:sp>
        <p:nvSpPr>
          <p:cNvPr id="19" name="Text 17"/>
          <p:cNvSpPr txBox="1"/>
          <p:nvPr/>
        </p:nvSpPr>
        <p:spPr>
          <a:xfrm>
            <a:off x="4846320" y="448056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Alliance map · eminence calendar</a:t>
            </a:r>
            <a:endParaRPr lang="en-US" sz="1250" dirty="0"/>
          </a:p>
        </p:txBody>
      </p:sp>
      <p:sp>
        <p:nvSpPr>
          <p:cNvPr id="20" name="Shape 18"/>
          <p:cNvSpPr/>
          <p:nvPr/>
        </p:nvSpPr>
        <p:spPr>
          <a:xfrm>
            <a:off x="640080" y="5349240"/>
            <a:ext cx="10881360" cy="749808"/>
          </a:xfrm>
          <a:prstGeom prst="roundRect">
            <a:avLst>
              <a:gd name="adj" fmla="val 12195"/>
            </a:avLst>
          </a:prstGeom>
          <a:solidFill>
            <a:srgbClr val="F2F6FC"/>
          </a:solidFill>
          <a:ln/>
        </p:spPr>
      </p:sp>
      <p:sp>
        <p:nvSpPr>
          <p:cNvPr id="21" name="Text 19"/>
          <p:cNvSpPr txBox="1"/>
          <p:nvPr/>
        </p:nvSpPr>
        <p:spPr>
          <a:xfrm>
            <a:off x="914400" y="5385816"/>
            <a:ext cx="3657600" cy="310896"/>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Operating discipline</a:t>
            </a:r>
            <a:endParaRPr lang="en-US" sz="1350" dirty="0"/>
          </a:p>
        </p:txBody>
      </p:sp>
      <p:sp>
        <p:nvSpPr>
          <p:cNvPr id="22" name="Text 20"/>
          <p:cNvSpPr txBox="1"/>
          <p:nvPr/>
        </p:nvSpPr>
        <p:spPr>
          <a:xfrm>
            <a:off x="914400" y="5715000"/>
            <a:ext cx="3657600" cy="329184"/>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Rhythm, measures and decision rights after sign-off</a:t>
            </a:r>
            <a:endParaRPr lang="en-US" sz="1050" dirty="0"/>
          </a:p>
        </p:txBody>
      </p:sp>
      <p:sp>
        <p:nvSpPr>
          <p:cNvPr id="23" name="Text 21"/>
          <p:cNvSpPr txBox="1"/>
          <p:nvPr/>
        </p:nvSpPr>
        <p:spPr>
          <a:xfrm>
            <a:off x="4846320" y="5349240"/>
            <a:ext cx="6400800" cy="749808"/>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Operating rhythm · KPI scorecard · review calendar</a:t>
            </a:r>
            <a:endParaRPr lang="en-US" sz="1250" dirty="0"/>
          </a:p>
        </p:txBody>
      </p:sp>
      <p:sp>
        <p:nvSpPr>
          <p:cNvPr id="24" name="Text 22"/>
          <p:cNvSpPr txBox="1"/>
          <p:nvPr/>
        </p:nvSpPr>
        <p:spPr>
          <a:xfrm>
            <a:off x="640080" y="6309360"/>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Level 1 is the pillar and its owner. Level 2 is the topic, and every topic ends in one artefact in the appendix.</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Who is doing this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strategy development team.</a:t>
            </a:r>
            <a:endParaRPr lang="en-US" sz="1450" dirty="0"/>
          </a:p>
        </p:txBody>
      </p:sp>
      <p:sp>
        <p:nvSpPr>
          <p:cNvPr id="4" name="Shape 2"/>
          <p:cNvSpPr/>
          <p:nvPr/>
        </p:nvSpPr>
        <p:spPr>
          <a:xfrm>
            <a:off x="640080" y="1828800"/>
            <a:ext cx="10881360" cy="1051560"/>
          </a:xfrm>
          <a:prstGeom prst="roundRect">
            <a:avLst>
              <a:gd name="adj" fmla="val 8696"/>
            </a:avLst>
          </a:prstGeom>
          <a:solidFill>
            <a:srgbClr val="1E2761"/>
          </a:solidFill>
          <a:ln/>
        </p:spPr>
      </p:sp>
      <p:sp>
        <p:nvSpPr>
          <p:cNvPr id="5" name="Shape 3"/>
          <p:cNvSpPr/>
          <p:nvPr/>
        </p:nvSpPr>
        <p:spPr>
          <a:xfrm>
            <a:off x="960120" y="2084832"/>
            <a:ext cx="548640" cy="548640"/>
          </a:xfrm>
          <a:prstGeom prst="ellipse">
            <a:avLst/>
          </a:prstGeom>
          <a:solidFill>
            <a:srgbClr val="3E5C8A"/>
          </a:solidFill>
          <a:ln/>
        </p:spPr>
      </p:sp>
      <p:sp>
        <p:nvSpPr>
          <p:cNvPr id="6" name="Text 4"/>
          <p:cNvSpPr txBox="1"/>
          <p:nvPr/>
        </p:nvSpPr>
        <p:spPr>
          <a:xfrm>
            <a:off x="960120" y="2084832"/>
            <a:ext cx="548640" cy="5486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7" name="Text 5"/>
          <p:cNvSpPr txBox="1"/>
          <p:nvPr/>
        </p:nvSpPr>
        <p:spPr>
          <a:xfrm>
            <a:off x="1691640" y="2029968"/>
            <a:ext cx="2926080" cy="3657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Dany</a:t>
            </a:r>
            <a:endParaRPr lang="en-US" sz="2000" dirty="0"/>
          </a:p>
        </p:txBody>
      </p:sp>
      <p:sp>
        <p:nvSpPr>
          <p:cNvPr id="8" name="Text 6"/>
          <p:cNvSpPr txBox="1"/>
          <p:nvPr/>
        </p:nvSpPr>
        <p:spPr>
          <a:xfrm>
            <a:off x="1691640" y="2432304"/>
            <a:ext cx="9418320" cy="3657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Overall lead — owns the cycle, chairs the checkpoints, takes the strategy to sign-off</a:t>
            </a:r>
            <a:endParaRPr lang="en-US" sz="1300" dirty="0"/>
          </a:p>
        </p:txBody>
      </p:sp>
      <p:sp>
        <p:nvSpPr>
          <p:cNvPr id="9" name="Shape 7"/>
          <p:cNvSpPr/>
          <p:nvPr/>
        </p:nvSpPr>
        <p:spPr>
          <a:xfrm>
            <a:off x="640080" y="3108960"/>
            <a:ext cx="3520440" cy="1965960"/>
          </a:xfrm>
          <a:prstGeom prst="roundRect">
            <a:avLst>
              <a:gd name="adj" fmla="val 5581"/>
            </a:avLst>
          </a:prstGeom>
          <a:solidFill>
            <a:srgbClr val="EDF2FA"/>
          </a:solidFill>
          <a:ln/>
        </p:spPr>
      </p:sp>
      <p:sp>
        <p:nvSpPr>
          <p:cNvPr id="10" name="Shape 8"/>
          <p:cNvSpPr/>
          <p:nvPr/>
        </p:nvSpPr>
        <p:spPr>
          <a:xfrm>
            <a:off x="914400" y="3383280"/>
            <a:ext cx="475488" cy="475488"/>
          </a:xfrm>
          <a:prstGeom prst="ellipse">
            <a:avLst/>
          </a:prstGeom>
          <a:solidFill>
            <a:srgbClr val="1E2761"/>
          </a:solidFill>
          <a:ln/>
        </p:spPr>
      </p:sp>
      <p:sp>
        <p:nvSpPr>
          <p:cNvPr id="11" name="Text 9"/>
          <p:cNvSpPr txBox="1"/>
          <p:nvPr/>
        </p:nvSpPr>
        <p:spPr>
          <a:xfrm>
            <a:off x="914400"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12" name="Text 10"/>
          <p:cNvSpPr txBox="1"/>
          <p:nvPr/>
        </p:nvSpPr>
        <p:spPr>
          <a:xfrm>
            <a:off x="1554480"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Tanay</a:t>
            </a:r>
            <a:endParaRPr lang="en-US" sz="1900" dirty="0"/>
          </a:p>
        </p:txBody>
      </p:sp>
      <p:sp>
        <p:nvSpPr>
          <p:cNvPr id="13" name="Text 11"/>
          <p:cNvSpPr txBox="1"/>
          <p:nvPr/>
        </p:nvSpPr>
        <p:spPr>
          <a:xfrm>
            <a:off x="914400"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Industry Solutions</a:t>
            </a:r>
            <a:endParaRPr lang="en-US" sz="1400" dirty="0"/>
          </a:p>
        </p:txBody>
      </p:sp>
      <p:sp>
        <p:nvSpPr>
          <p:cNvPr id="14" name="Text 12"/>
          <p:cNvSpPr txBox="1"/>
          <p:nvPr/>
        </p:nvSpPr>
        <p:spPr>
          <a:xfrm>
            <a:off x="914400"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Core-led transformation, core banking and packages, full SI</a:t>
            </a:r>
            <a:endParaRPr lang="en-US" sz="1150" dirty="0"/>
          </a:p>
        </p:txBody>
      </p:sp>
      <p:sp>
        <p:nvSpPr>
          <p:cNvPr id="15" name="Shape 13"/>
          <p:cNvSpPr/>
          <p:nvPr/>
        </p:nvSpPr>
        <p:spPr>
          <a:xfrm>
            <a:off x="4325112" y="3108960"/>
            <a:ext cx="3520440" cy="1965960"/>
          </a:xfrm>
          <a:prstGeom prst="roundRect">
            <a:avLst>
              <a:gd name="adj" fmla="val 5581"/>
            </a:avLst>
          </a:prstGeom>
          <a:solidFill>
            <a:srgbClr val="EDF2FA"/>
          </a:solidFill>
          <a:ln/>
        </p:spPr>
      </p:sp>
      <p:sp>
        <p:nvSpPr>
          <p:cNvPr id="16" name="Shape 14"/>
          <p:cNvSpPr/>
          <p:nvPr/>
        </p:nvSpPr>
        <p:spPr>
          <a:xfrm>
            <a:off x="4599432" y="3383280"/>
            <a:ext cx="475488" cy="475488"/>
          </a:xfrm>
          <a:prstGeom prst="ellipse">
            <a:avLst/>
          </a:prstGeom>
          <a:solidFill>
            <a:srgbClr val="3E5C8A"/>
          </a:solidFill>
          <a:ln/>
        </p:spPr>
      </p:sp>
      <p:sp>
        <p:nvSpPr>
          <p:cNvPr id="17" name="Text 15"/>
          <p:cNvSpPr txBox="1"/>
          <p:nvPr/>
        </p:nvSpPr>
        <p:spPr>
          <a:xfrm>
            <a:off x="4599432"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18" name="Text 16"/>
          <p:cNvSpPr txBox="1"/>
          <p:nvPr/>
        </p:nvSpPr>
        <p:spPr>
          <a:xfrm>
            <a:off x="5239512"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Rachel</a:t>
            </a:r>
            <a:endParaRPr lang="en-US" sz="1900" dirty="0"/>
          </a:p>
        </p:txBody>
      </p:sp>
      <p:sp>
        <p:nvSpPr>
          <p:cNvPr id="19" name="Text 17"/>
          <p:cNvSpPr txBox="1"/>
          <p:nvPr/>
        </p:nvSpPr>
        <p:spPr>
          <a:xfrm>
            <a:off x="4599432"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and Data</a:t>
            </a:r>
            <a:endParaRPr lang="en-US" sz="1400" dirty="0"/>
          </a:p>
        </p:txBody>
      </p:sp>
      <p:sp>
        <p:nvSpPr>
          <p:cNvPr id="20" name="Text 18"/>
          <p:cNvSpPr txBox="1"/>
          <p:nvPr/>
        </p:nvSpPr>
        <p:spPr>
          <a:xfrm>
            <a:off x="4599432"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Enterprise and core AI, use-case activation, data platforms</a:t>
            </a:r>
            <a:endParaRPr lang="en-US" sz="1150" dirty="0"/>
          </a:p>
        </p:txBody>
      </p:sp>
      <p:sp>
        <p:nvSpPr>
          <p:cNvPr id="21" name="Shape 19"/>
          <p:cNvSpPr/>
          <p:nvPr/>
        </p:nvSpPr>
        <p:spPr>
          <a:xfrm>
            <a:off x="8010144" y="3108960"/>
            <a:ext cx="3520440" cy="1965960"/>
          </a:xfrm>
          <a:prstGeom prst="roundRect">
            <a:avLst>
              <a:gd name="adj" fmla="val 5581"/>
            </a:avLst>
          </a:prstGeom>
          <a:solidFill>
            <a:srgbClr val="EDF2FA"/>
          </a:solidFill>
          <a:ln/>
        </p:spPr>
      </p:sp>
      <p:sp>
        <p:nvSpPr>
          <p:cNvPr id="22" name="Shape 20"/>
          <p:cNvSpPr/>
          <p:nvPr/>
        </p:nvSpPr>
        <p:spPr>
          <a:xfrm>
            <a:off x="8284464" y="3383280"/>
            <a:ext cx="475488" cy="475488"/>
          </a:xfrm>
          <a:prstGeom prst="ellipse">
            <a:avLst/>
          </a:prstGeom>
          <a:solidFill>
            <a:srgbClr val="1E2761"/>
          </a:solidFill>
          <a:ln/>
        </p:spPr>
      </p:sp>
      <p:sp>
        <p:nvSpPr>
          <p:cNvPr id="23" name="Text 21"/>
          <p:cNvSpPr txBox="1"/>
          <p:nvPr/>
        </p:nvSpPr>
        <p:spPr>
          <a:xfrm>
            <a:off x="8284464" y="33832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4" name="Text 22"/>
          <p:cNvSpPr txBox="1"/>
          <p:nvPr/>
        </p:nvSpPr>
        <p:spPr>
          <a:xfrm>
            <a:off x="8924544" y="3364992"/>
            <a:ext cx="237744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Clifford</a:t>
            </a:r>
            <a:endParaRPr lang="en-US" sz="1900" dirty="0"/>
          </a:p>
        </p:txBody>
      </p:sp>
      <p:sp>
        <p:nvSpPr>
          <p:cNvPr id="25" name="Text 23"/>
          <p:cNvSpPr txBox="1"/>
          <p:nvPr/>
        </p:nvSpPr>
        <p:spPr>
          <a:xfrm>
            <a:off x="8284464" y="3977640"/>
            <a:ext cx="297180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Engineering</a:t>
            </a:r>
            <a:endParaRPr lang="en-US" sz="1400" dirty="0"/>
          </a:p>
        </p:txBody>
      </p:sp>
      <p:sp>
        <p:nvSpPr>
          <p:cNvPr id="26" name="Text 24"/>
          <p:cNvSpPr txBox="1"/>
          <p:nvPr/>
        </p:nvSpPr>
        <p:spPr>
          <a:xfrm>
            <a:off x="8284464" y="4315968"/>
            <a:ext cx="2971800" cy="64008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Cloud, integration, microservices, API and bespoke build</a:t>
            </a:r>
            <a:endParaRPr lang="en-US" sz="1150" dirty="0"/>
          </a:p>
        </p:txBody>
      </p:sp>
      <p:sp>
        <p:nvSpPr>
          <p:cNvPr id="27" name="Text 25"/>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Pillar ownership across the five workstreams is assigned from this group at kick-off; every artefact carries one name.</a:t>
            </a:r>
            <a:endParaRPr lang="en-US" sz="1300" dirty="0"/>
          </a:p>
        </p:txBody>
      </p:sp>
      <p:sp>
        <p:nvSpPr>
          <p:cNvPr id="28" name="Text 26"/>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dirty="0">
                <a:solidFill>
                  <a:srgbClr val="8792AB"/>
                </a:solidFill>
                <a:latin typeface="Calibri" pitchFamily="34" charset="0"/>
                <a:ea typeface="Calibri" pitchFamily="34" charset="-122"/>
                <a:cs typeface="Calibri" pitchFamily="34" charset="-120"/>
              </a:rPr>
              <a:t>Wider contributors — account partners, alliance leads, resourcing and finance — are pulled in per workstream rather than sitting on the core team.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Delivery and pricing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model, price and margin are one decision, not three.</a:t>
            </a:r>
            <a:endParaRPr lang="en-US" sz="1450" dirty="0"/>
          </a:p>
        </p:txBody>
      </p:sp>
      <p:sp>
        <p:nvSpPr>
          <p:cNvPr id="4" name="Shape 2"/>
          <p:cNvSpPr/>
          <p:nvPr/>
        </p:nvSpPr>
        <p:spPr>
          <a:xfrm>
            <a:off x="640080" y="1828800"/>
            <a:ext cx="2468880" cy="1600200"/>
          </a:xfrm>
          <a:prstGeom prst="roundRect">
            <a:avLst>
              <a:gd name="adj" fmla="val 6857"/>
            </a:avLst>
          </a:prstGeom>
          <a:solidFill>
            <a:srgbClr val="E4EBF7"/>
          </a:solidFill>
          <a:ln/>
        </p:spPr>
      </p:sp>
      <p:sp>
        <p:nvSpPr>
          <p:cNvPr id="5" name="Shape 3"/>
          <p:cNvSpPr/>
          <p:nvPr/>
        </p:nvSpPr>
        <p:spPr>
          <a:xfrm>
            <a:off x="868680" y="2029968"/>
            <a:ext cx="365760" cy="365760"/>
          </a:xfrm>
          <a:prstGeom prst="ellipse">
            <a:avLst/>
          </a:prstGeom>
          <a:solidFill>
            <a:srgbClr val="1E2761"/>
          </a:solidFill>
          <a:ln/>
        </p:spPr>
      </p:sp>
      <p:sp>
        <p:nvSpPr>
          <p:cNvPr id="6" name="Text 4"/>
          <p:cNvSpPr txBox="1"/>
          <p:nvPr/>
        </p:nvSpPr>
        <p:spPr>
          <a:xfrm>
            <a:off x="86868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price</a:t>
            </a:r>
            <a:endParaRPr lang="en-US" sz="1500" dirty="0"/>
          </a:p>
        </p:txBody>
      </p:sp>
      <p:sp>
        <p:nvSpPr>
          <p:cNvPr id="8" name="Text 6"/>
          <p:cNvSpPr txBox="1"/>
          <p:nvPr/>
        </p:nvSpPr>
        <p:spPr>
          <a:xfrm>
            <a:off x="86868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What the market pays for this offering, in bands</a:t>
            </a:r>
            <a:endParaRPr lang="en-US" sz="1150" dirty="0"/>
          </a:p>
        </p:txBody>
      </p:sp>
      <p:sp>
        <p:nvSpPr>
          <p:cNvPr id="9" name="Text 7"/>
          <p:cNvSpPr txBox="1"/>
          <p:nvPr/>
        </p:nvSpPr>
        <p:spPr>
          <a:xfrm>
            <a:off x="312724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3429000" y="1828800"/>
            <a:ext cx="2468880" cy="1600200"/>
          </a:xfrm>
          <a:prstGeom prst="roundRect">
            <a:avLst>
              <a:gd name="adj" fmla="val 6857"/>
            </a:avLst>
          </a:prstGeom>
          <a:solidFill>
            <a:srgbClr val="EDF2FA"/>
          </a:solidFill>
          <a:ln/>
        </p:spPr>
      </p:sp>
      <p:sp>
        <p:nvSpPr>
          <p:cNvPr id="11" name="Shape 9"/>
          <p:cNvSpPr/>
          <p:nvPr/>
        </p:nvSpPr>
        <p:spPr>
          <a:xfrm>
            <a:off x="3657600" y="2029968"/>
            <a:ext cx="365760" cy="365760"/>
          </a:xfrm>
          <a:prstGeom prst="ellipse">
            <a:avLst/>
          </a:prstGeom>
          <a:solidFill>
            <a:srgbClr val="1E2761"/>
          </a:solidFill>
          <a:ln/>
        </p:spPr>
      </p:sp>
      <p:sp>
        <p:nvSpPr>
          <p:cNvPr id="12" name="Text 10"/>
          <p:cNvSpPr txBox="1"/>
          <p:nvPr/>
        </p:nvSpPr>
        <p:spPr>
          <a:xfrm>
            <a:off x="365760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365760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Delivery construct</a:t>
            </a:r>
            <a:endParaRPr lang="en-US" sz="1500" dirty="0"/>
          </a:p>
        </p:txBody>
      </p:sp>
      <p:sp>
        <p:nvSpPr>
          <p:cNvPr id="14" name="Text 12"/>
          <p:cNvSpPr txBox="1"/>
          <p:nvPr/>
        </p:nvSpPr>
        <p:spPr>
          <a:xfrm>
            <a:off x="365760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onshore, nearshore and offshore mix it is priced on</a:t>
            </a:r>
            <a:endParaRPr lang="en-US" sz="1150" dirty="0"/>
          </a:p>
        </p:txBody>
      </p:sp>
      <p:sp>
        <p:nvSpPr>
          <p:cNvPr id="15" name="Text 13"/>
          <p:cNvSpPr txBox="1"/>
          <p:nvPr/>
        </p:nvSpPr>
        <p:spPr>
          <a:xfrm>
            <a:off x="591616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6217920" y="1828800"/>
            <a:ext cx="2468880" cy="1600200"/>
          </a:xfrm>
          <a:prstGeom prst="roundRect">
            <a:avLst>
              <a:gd name="adj" fmla="val 6857"/>
            </a:avLst>
          </a:prstGeom>
          <a:solidFill>
            <a:srgbClr val="E4EBF7"/>
          </a:solidFill>
          <a:ln/>
        </p:spPr>
      </p:sp>
      <p:sp>
        <p:nvSpPr>
          <p:cNvPr id="17" name="Shape 15"/>
          <p:cNvSpPr/>
          <p:nvPr/>
        </p:nvSpPr>
        <p:spPr>
          <a:xfrm>
            <a:off x="6446520" y="2029968"/>
            <a:ext cx="365760" cy="365760"/>
          </a:xfrm>
          <a:prstGeom prst="ellipse">
            <a:avLst/>
          </a:prstGeom>
          <a:solidFill>
            <a:srgbClr val="1E2761"/>
          </a:solidFill>
          <a:ln/>
        </p:spPr>
      </p:sp>
      <p:sp>
        <p:nvSpPr>
          <p:cNvPr id="18" name="Text 16"/>
          <p:cNvSpPr txBox="1"/>
          <p:nvPr/>
        </p:nvSpPr>
        <p:spPr>
          <a:xfrm>
            <a:off x="644652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4652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Blended ADR</a:t>
            </a:r>
            <a:endParaRPr lang="en-US" sz="1500" dirty="0"/>
          </a:p>
        </p:txBody>
      </p:sp>
      <p:sp>
        <p:nvSpPr>
          <p:cNvPr id="20" name="Text 18"/>
          <p:cNvSpPr txBox="1"/>
          <p:nvPr/>
        </p:nvSpPr>
        <p:spPr>
          <a:xfrm>
            <a:off x="644652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average daily rate that construct implies</a:t>
            </a:r>
            <a:endParaRPr lang="en-US" sz="1150" dirty="0"/>
          </a:p>
        </p:txBody>
      </p:sp>
      <p:sp>
        <p:nvSpPr>
          <p:cNvPr id="21" name="Text 19"/>
          <p:cNvSpPr txBox="1"/>
          <p:nvPr/>
        </p:nvSpPr>
        <p:spPr>
          <a:xfrm>
            <a:off x="8705088" y="2423160"/>
            <a:ext cx="274320" cy="365760"/>
          </a:xfrm>
          <a:prstGeom prst="rect">
            <a:avLst/>
          </a:prstGeom>
          <a:noFill/>
          <a:ln/>
        </p:spPr>
        <p:txBody>
          <a:bodyPr wrap="square" lIns="0" tIns="0" rIns="0" bIns="0" rtlCol="0" anchor="ctr"/>
          <a:lstStyle/>
          <a:p>
            <a:pPr algn="ctr" indent="0" marL="0">
              <a:buNone/>
            </a:pPr>
            <a:r>
              <a:rPr lang="en-US" sz="1800" dirty="0">
                <a:solidFill>
                  <a:srgbClr val="8792AB"/>
                </a:solidFill>
                <a:latin typeface="Calibri" pitchFamily="34" charset="0"/>
                <a:ea typeface="Calibri" pitchFamily="34" charset="-122"/>
                <a:cs typeface="Calibri" pitchFamily="34" charset="-120"/>
              </a:rPr>
              <a:t>→</a:t>
            </a:r>
            <a:endParaRPr lang="en-US" sz="1800" dirty="0"/>
          </a:p>
        </p:txBody>
      </p:sp>
      <p:sp>
        <p:nvSpPr>
          <p:cNvPr id="22" name="Shape 20"/>
          <p:cNvSpPr/>
          <p:nvPr/>
        </p:nvSpPr>
        <p:spPr>
          <a:xfrm>
            <a:off x="9006840" y="1828800"/>
            <a:ext cx="2468880" cy="1600200"/>
          </a:xfrm>
          <a:prstGeom prst="roundRect">
            <a:avLst>
              <a:gd name="adj" fmla="val 6857"/>
            </a:avLst>
          </a:prstGeom>
          <a:solidFill>
            <a:srgbClr val="EDF2FA"/>
          </a:solidFill>
          <a:ln/>
        </p:spPr>
      </p:sp>
      <p:sp>
        <p:nvSpPr>
          <p:cNvPr id="23" name="Shape 21"/>
          <p:cNvSpPr/>
          <p:nvPr/>
        </p:nvSpPr>
        <p:spPr>
          <a:xfrm>
            <a:off x="9235440" y="2029968"/>
            <a:ext cx="365760" cy="365760"/>
          </a:xfrm>
          <a:prstGeom prst="ellipse">
            <a:avLst/>
          </a:prstGeom>
          <a:solidFill>
            <a:srgbClr val="1E2761"/>
          </a:solidFill>
          <a:ln/>
        </p:spPr>
      </p:sp>
      <p:sp>
        <p:nvSpPr>
          <p:cNvPr id="24" name="Text 22"/>
          <p:cNvSpPr txBox="1"/>
          <p:nvPr/>
        </p:nvSpPr>
        <p:spPr>
          <a:xfrm>
            <a:off x="9235440" y="20299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Text 23"/>
          <p:cNvSpPr txBox="1"/>
          <p:nvPr/>
        </p:nvSpPr>
        <p:spPr>
          <a:xfrm>
            <a:off x="9235440" y="2487168"/>
            <a:ext cx="201168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Target margin</a:t>
            </a:r>
            <a:endParaRPr lang="en-US" sz="1500" dirty="0"/>
          </a:p>
        </p:txBody>
      </p:sp>
      <p:sp>
        <p:nvSpPr>
          <p:cNvPr id="26" name="Text 24"/>
          <p:cNvSpPr txBox="1"/>
          <p:nvPr/>
        </p:nvSpPr>
        <p:spPr>
          <a:xfrm>
            <a:off x="9235440" y="2834640"/>
            <a:ext cx="2057400" cy="54864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gross margin we commit to for this offering</a:t>
            </a:r>
            <a:endParaRPr lang="en-US" sz="1150" dirty="0"/>
          </a:p>
        </p:txBody>
      </p:sp>
      <p:sp>
        <p:nvSpPr>
          <p:cNvPr id="27" name="Shape 25"/>
          <p:cNvSpPr/>
          <p:nvPr/>
        </p:nvSpPr>
        <p:spPr>
          <a:xfrm>
            <a:off x="640080" y="3611880"/>
            <a:ext cx="10881360" cy="685800"/>
          </a:xfrm>
          <a:prstGeom prst="roundRect">
            <a:avLst>
              <a:gd name="adj" fmla="val 13333"/>
            </a:avLst>
          </a:prstGeom>
          <a:solidFill>
            <a:srgbClr val="1E2761"/>
          </a:solidFill>
          <a:ln/>
        </p:spPr>
      </p:sp>
      <p:sp>
        <p:nvSpPr>
          <p:cNvPr id="28" name="Text 26"/>
          <p:cNvSpPr txBox="1"/>
          <p:nvPr/>
        </p:nvSpPr>
        <p:spPr>
          <a:xfrm>
            <a:off x="914400" y="3611880"/>
            <a:ext cx="10332720" cy="68580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Set per offering, not per portfolio: a core banking programme and an AI activation carry different constructs, different rates and different margins.</a:t>
            </a:r>
            <a:endParaRPr lang="en-US" sz="1300" dirty="0"/>
          </a:p>
        </p:txBody>
      </p:sp>
      <p:sp>
        <p:nvSpPr>
          <p:cNvPr id="29" name="Shape 27"/>
          <p:cNvSpPr/>
          <p:nvPr/>
        </p:nvSpPr>
        <p:spPr>
          <a:xfrm>
            <a:off x="640080" y="4572000"/>
            <a:ext cx="329184" cy="329184"/>
          </a:xfrm>
          <a:prstGeom prst="ellipse">
            <a:avLst/>
          </a:prstGeom>
          <a:solidFill>
            <a:srgbClr val="3E5C8A"/>
          </a:solidFill>
          <a:ln/>
        </p:spPr>
      </p:sp>
      <p:sp>
        <p:nvSpPr>
          <p:cNvPr id="30" name="Text 28"/>
          <p:cNvSpPr txBox="1"/>
          <p:nvPr/>
        </p:nvSpPr>
        <p:spPr>
          <a:xfrm>
            <a:off x="64008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31" name="Text 29"/>
          <p:cNvSpPr txBox="1"/>
          <p:nvPr/>
        </p:nvSpPr>
        <p:spPr>
          <a:xfrm>
            <a:off x="111556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must stay onshore</a:t>
            </a:r>
            <a:endParaRPr lang="en-US" sz="1300" dirty="0"/>
          </a:p>
        </p:txBody>
      </p:sp>
      <p:sp>
        <p:nvSpPr>
          <p:cNvPr id="32" name="Text 30"/>
          <p:cNvSpPr txBox="1"/>
          <p:nvPr/>
        </p:nvSpPr>
        <p:spPr>
          <a:xfrm>
            <a:off x="352044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Client-facing, regulatory and data-residency constrained roles</a:t>
            </a:r>
            <a:endParaRPr lang="en-US" sz="1150" dirty="0"/>
          </a:p>
        </p:txBody>
      </p:sp>
      <p:sp>
        <p:nvSpPr>
          <p:cNvPr id="33" name="Shape 31"/>
          <p:cNvSpPr/>
          <p:nvPr/>
        </p:nvSpPr>
        <p:spPr>
          <a:xfrm>
            <a:off x="6263640" y="4572000"/>
            <a:ext cx="329184" cy="329184"/>
          </a:xfrm>
          <a:prstGeom prst="ellipse">
            <a:avLst/>
          </a:prstGeom>
          <a:solidFill>
            <a:srgbClr val="3E5C8A"/>
          </a:solidFill>
          <a:ln/>
        </p:spPr>
      </p:sp>
      <p:sp>
        <p:nvSpPr>
          <p:cNvPr id="34" name="Text 32"/>
          <p:cNvSpPr txBox="1"/>
          <p:nvPr/>
        </p:nvSpPr>
        <p:spPr>
          <a:xfrm>
            <a:off x="6263640" y="45720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35" name="Text 33"/>
          <p:cNvSpPr txBox="1"/>
          <p:nvPr/>
        </p:nvSpPr>
        <p:spPr>
          <a:xfrm>
            <a:off x="6739128" y="4535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can move</a:t>
            </a:r>
            <a:endParaRPr lang="en-US" sz="1300" dirty="0"/>
          </a:p>
        </p:txBody>
      </p:sp>
      <p:sp>
        <p:nvSpPr>
          <p:cNvPr id="36" name="Text 34"/>
          <p:cNvSpPr txBox="1"/>
          <p:nvPr/>
        </p:nvSpPr>
        <p:spPr>
          <a:xfrm>
            <a:off x="9144000" y="453542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Which roles run nearshore or offshore, and at what ratio</a:t>
            </a:r>
            <a:endParaRPr lang="en-US" sz="1150" dirty="0"/>
          </a:p>
        </p:txBody>
      </p:sp>
      <p:sp>
        <p:nvSpPr>
          <p:cNvPr id="37" name="Shape 35"/>
          <p:cNvSpPr/>
          <p:nvPr/>
        </p:nvSpPr>
        <p:spPr>
          <a:xfrm>
            <a:off x="640080" y="5394960"/>
            <a:ext cx="329184" cy="329184"/>
          </a:xfrm>
          <a:prstGeom prst="ellipse">
            <a:avLst/>
          </a:prstGeom>
          <a:solidFill>
            <a:srgbClr val="1E2761"/>
          </a:solidFill>
          <a:ln/>
        </p:spPr>
      </p:sp>
      <p:sp>
        <p:nvSpPr>
          <p:cNvPr id="38" name="Text 36"/>
          <p:cNvSpPr txBox="1"/>
          <p:nvPr/>
        </p:nvSpPr>
        <p:spPr>
          <a:xfrm>
            <a:off x="64008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39" name="Text 37"/>
          <p:cNvSpPr txBox="1"/>
          <p:nvPr/>
        </p:nvSpPr>
        <p:spPr>
          <a:xfrm>
            <a:off x="111556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margin we hold</a:t>
            </a:r>
            <a:endParaRPr lang="en-US" sz="1300" dirty="0"/>
          </a:p>
        </p:txBody>
      </p:sp>
      <p:sp>
        <p:nvSpPr>
          <p:cNvPr id="40" name="Text 38"/>
          <p:cNvSpPr txBox="1"/>
          <p:nvPr/>
        </p:nvSpPr>
        <p:spPr>
          <a:xfrm>
            <a:off x="352044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The target gross margin per offering, and the floor</a:t>
            </a:r>
            <a:endParaRPr lang="en-US" sz="1150" dirty="0"/>
          </a:p>
        </p:txBody>
      </p:sp>
      <p:sp>
        <p:nvSpPr>
          <p:cNvPr id="41" name="Shape 39"/>
          <p:cNvSpPr/>
          <p:nvPr/>
        </p:nvSpPr>
        <p:spPr>
          <a:xfrm>
            <a:off x="6263640" y="5394960"/>
            <a:ext cx="329184" cy="329184"/>
          </a:xfrm>
          <a:prstGeom prst="ellipse">
            <a:avLst/>
          </a:prstGeom>
          <a:solidFill>
            <a:srgbClr val="1E2761"/>
          </a:solidFill>
          <a:ln/>
        </p:spPr>
      </p:sp>
      <p:sp>
        <p:nvSpPr>
          <p:cNvPr id="42" name="Text 40"/>
          <p:cNvSpPr txBox="1"/>
          <p:nvPr/>
        </p:nvSpPr>
        <p:spPr>
          <a:xfrm>
            <a:off x="6263640" y="5394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43" name="Text 41"/>
          <p:cNvSpPr txBox="1"/>
          <p:nvPr/>
        </p:nvSpPr>
        <p:spPr>
          <a:xfrm>
            <a:off x="6739128" y="535838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happens below it</a:t>
            </a:r>
            <a:endParaRPr lang="en-US" sz="1300" dirty="0"/>
          </a:p>
        </p:txBody>
      </p:sp>
      <p:sp>
        <p:nvSpPr>
          <p:cNvPr id="44" name="Text 42"/>
          <p:cNvSpPr txBox="1"/>
          <p:nvPr/>
        </p:nvSpPr>
        <p:spPr>
          <a:xfrm>
            <a:off x="9144000" y="5358384"/>
            <a:ext cx="2468880" cy="502920"/>
          </a:xfrm>
          <a:prstGeom prst="rect">
            <a:avLst/>
          </a:prstGeom>
          <a:noFill/>
          <a:ln/>
        </p:spPr>
        <p:txBody>
          <a:bodyPr wrap="square" lIns="0" tIns="0" rIns="0" bIns="0" rtlCol="0" anchor="ctr"/>
          <a:lstStyle/>
          <a:p>
            <a:pPr indent="0" marL="0">
              <a:buNone/>
            </a:pPr>
            <a:r>
              <a:rPr lang="en-US" sz="1150" dirty="0">
                <a:solidFill>
                  <a:srgbClr val="44506B"/>
                </a:solidFill>
                <a:latin typeface="Calibri" pitchFamily="34" charset="0"/>
                <a:ea typeface="Calibri" pitchFamily="34" charset="-122"/>
                <a:cs typeface="Calibri" pitchFamily="34" charset="-120"/>
              </a:rPr>
              <a:t>Approval route when a deal prices under the floor</a:t>
            </a:r>
            <a:endParaRPr lang="en-US" sz="1150" dirty="0"/>
          </a:p>
        </p:txBody>
      </p:sp>
      <p:sp>
        <p:nvSpPr>
          <p:cNvPr id="45" name="Text 43"/>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Rates, ratios and margin targets are set in the cycle and recorded in the offering economics template.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the capacity behind the construct, in three parts.</a:t>
            </a:r>
            <a:endParaRPr lang="en-US" sz="1450" dirty="0"/>
          </a:p>
        </p:txBody>
      </p:sp>
      <p:sp>
        <p:nvSpPr>
          <p:cNvPr id="4" name="Shape 2"/>
          <p:cNvSpPr/>
          <p:nvPr/>
        </p:nvSpPr>
        <p:spPr>
          <a:xfrm>
            <a:off x="640080" y="1828800"/>
            <a:ext cx="3429000" cy="3383280"/>
          </a:xfrm>
          <a:prstGeom prst="roundRect">
            <a:avLst>
              <a:gd name="adj" fmla="val 3243"/>
            </a:avLst>
          </a:prstGeom>
          <a:solidFill>
            <a:srgbClr val="EDF2FA"/>
          </a:solidFill>
          <a:ln/>
        </p:spPr>
      </p:sp>
      <p:sp>
        <p:nvSpPr>
          <p:cNvPr id="5" name="Shape 3"/>
          <p:cNvSpPr/>
          <p:nvPr/>
        </p:nvSpPr>
        <p:spPr>
          <a:xfrm>
            <a:off x="640080" y="1828800"/>
            <a:ext cx="3429000" cy="658368"/>
          </a:xfrm>
          <a:prstGeom prst="rect">
            <a:avLst/>
          </a:prstGeom>
          <a:solidFill>
            <a:srgbClr val="1E2761"/>
          </a:solidFill>
          <a:ln/>
        </p:spPr>
      </p:sp>
      <p:sp>
        <p:nvSpPr>
          <p:cNvPr id="6" name="Text 4"/>
          <p:cNvSpPr txBox="1"/>
          <p:nvPr/>
        </p:nvSpPr>
        <p:spPr>
          <a:xfrm>
            <a:off x="914400"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dedicated team</a:t>
            </a:r>
            <a:endParaRPr lang="en-US" sz="1700" dirty="0"/>
          </a:p>
        </p:txBody>
      </p:sp>
      <p:sp>
        <p:nvSpPr>
          <p:cNvPr id="7" name="Text 5"/>
          <p:cNvSpPr txBox="1"/>
          <p:nvPr/>
        </p:nvSpPr>
        <p:spPr>
          <a:xfrm>
            <a:off x="914400"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Who works on FSI exclusively, across the three practices?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roles and levels do they hold?</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What is realistically deliverable with them alone?</a:t>
            </a:r>
            <a:endParaRPr lang="en-US" sz="1250" dirty="0"/>
          </a:p>
        </p:txBody>
      </p:sp>
      <p:sp>
        <p:nvSpPr>
          <p:cNvPr id="8" name="Shape 6"/>
          <p:cNvSpPr/>
          <p:nvPr/>
        </p:nvSpPr>
        <p:spPr>
          <a:xfrm>
            <a:off x="4361688" y="1828800"/>
            <a:ext cx="3429000" cy="3383280"/>
          </a:xfrm>
          <a:prstGeom prst="roundRect">
            <a:avLst>
              <a:gd name="adj" fmla="val 3243"/>
            </a:avLst>
          </a:prstGeom>
          <a:solidFill>
            <a:srgbClr val="EDF2FA"/>
          </a:solidFill>
          <a:ln/>
        </p:spPr>
      </p:sp>
      <p:sp>
        <p:nvSpPr>
          <p:cNvPr id="9" name="Shape 7"/>
          <p:cNvSpPr/>
          <p:nvPr/>
        </p:nvSpPr>
        <p:spPr>
          <a:xfrm>
            <a:off x="4361688" y="1828800"/>
            <a:ext cx="3429000" cy="658368"/>
          </a:xfrm>
          <a:prstGeom prst="rect">
            <a:avLst/>
          </a:prstGeom>
          <a:solidFill>
            <a:srgbClr val="3E5C8A"/>
          </a:solidFill>
          <a:ln/>
        </p:spPr>
      </p:sp>
      <p:sp>
        <p:nvSpPr>
          <p:cNvPr id="10" name="Text 8"/>
          <p:cNvSpPr txBox="1"/>
          <p:nvPr/>
        </p:nvSpPr>
        <p:spPr>
          <a:xfrm>
            <a:off x="4636008"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Shared capacity</a:t>
            </a:r>
            <a:endParaRPr lang="en-US" sz="1700" dirty="0"/>
          </a:p>
        </p:txBody>
      </p:sp>
      <p:sp>
        <p:nvSpPr>
          <p:cNvPr id="11" name="Text 9"/>
          <p:cNvSpPr txBox="1"/>
          <p:nvPr/>
        </p:nvSpPr>
        <p:spPr>
          <a:xfrm>
            <a:off x="4636008"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resources are shared with other portfolios?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much of their time can we count on?</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skills do we borrow rather than own?</a:t>
            </a:r>
            <a:endParaRPr lang="en-US" sz="1250" dirty="0"/>
          </a:p>
        </p:txBody>
      </p:sp>
      <p:sp>
        <p:nvSpPr>
          <p:cNvPr id="12" name="Shape 10"/>
          <p:cNvSpPr/>
          <p:nvPr/>
        </p:nvSpPr>
        <p:spPr>
          <a:xfrm>
            <a:off x="8083296" y="1828800"/>
            <a:ext cx="3429000" cy="3383280"/>
          </a:xfrm>
          <a:prstGeom prst="roundRect">
            <a:avLst>
              <a:gd name="adj" fmla="val 3243"/>
            </a:avLst>
          </a:prstGeom>
          <a:solidFill>
            <a:srgbClr val="EDF2FA"/>
          </a:solidFill>
          <a:ln/>
        </p:spPr>
      </p:sp>
      <p:sp>
        <p:nvSpPr>
          <p:cNvPr id="13" name="Shape 11"/>
          <p:cNvSpPr/>
          <p:nvPr/>
        </p:nvSpPr>
        <p:spPr>
          <a:xfrm>
            <a:off x="8083296" y="1828800"/>
            <a:ext cx="3429000" cy="658368"/>
          </a:xfrm>
          <a:prstGeom prst="rect">
            <a:avLst/>
          </a:prstGeom>
          <a:solidFill>
            <a:srgbClr val="1E2761"/>
          </a:solidFill>
          <a:ln/>
        </p:spPr>
      </p:sp>
      <p:sp>
        <p:nvSpPr>
          <p:cNvPr id="14" name="Text 12"/>
          <p:cNvSpPr txBox="1"/>
          <p:nvPr/>
        </p:nvSpPr>
        <p:spPr>
          <a:xfrm>
            <a:off x="8357616"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gap to close</a:t>
            </a:r>
            <a:endParaRPr lang="en-US" sz="1700" dirty="0"/>
          </a:p>
        </p:txBody>
      </p:sp>
      <p:sp>
        <p:nvSpPr>
          <p:cNvPr id="15" name="Text 13"/>
          <p:cNvSpPr txBox="1"/>
          <p:nvPr/>
        </p:nvSpPr>
        <p:spPr>
          <a:xfrm>
            <a:off x="8357616"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Build, borrow or buy for each gap?</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By when, to support the targets we set?</a:t>
            </a:r>
            <a:endParaRPr lang="en-US" sz="1250" dirty="0"/>
          </a:p>
        </p:txBody>
      </p:sp>
      <p:sp>
        <p:nvSpPr>
          <p:cNvPr id="16" name="Shape 14"/>
          <p:cNvSpPr/>
          <p:nvPr/>
        </p:nvSpPr>
        <p:spPr>
          <a:xfrm>
            <a:off x="3566160" y="5440680"/>
            <a:ext cx="5029200" cy="301752"/>
          </a:xfrm>
          <a:prstGeom prst="roundRect">
            <a:avLst>
              <a:gd name="adj" fmla="val 48485"/>
            </a:avLst>
          </a:prstGeom>
          <a:solidFill>
            <a:srgbClr val="FFFFFF"/>
          </a:solidFill>
          <a:ln w="12700">
            <a:solidFill>
              <a:srgbClr val="B8862B"/>
            </a:solidFill>
            <a:prstDash val="solid"/>
          </a:ln>
        </p:spPr>
      </p:sp>
      <p:sp>
        <p:nvSpPr>
          <p:cNvPr id="17" name="Text 15"/>
          <p:cNvSpPr txBox="1"/>
          <p:nvPr/>
        </p:nvSpPr>
        <p:spPr>
          <a:xfrm>
            <a:off x="3566160" y="544068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18" name="Text 16"/>
          <p:cNvSpPr txBox="1"/>
          <p:nvPr/>
        </p:nvSpPr>
        <p:spPr>
          <a:xfrm>
            <a:off x="640080" y="59893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Talent is treated as a strategy output, not an afterthought: targets we cannot staff are not targets.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how the market — outside and inside the firm — comes to know us for this.</a:t>
            </a:r>
            <a:endParaRPr lang="en-US" sz="1450" dirty="0"/>
          </a:p>
        </p:txBody>
      </p:sp>
      <p:sp>
        <p:nvSpPr>
          <p:cNvPr id="4" name="Shape 2"/>
          <p:cNvSpPr/>
          <p:nvPr/>
        </p:nvSpPr>
        <p:spPr>
          <a:xfrm>
            <a:off x="640080" y="1783080"/>
            <a:ext cx="2029968" cy="2148840"/>
          </a:xfrm>
          <a:prstGeom prst="roundRect">
            <a:avLst>
              <a:gd name="adj" fmla="val 5405"/>
            </a:avLst>
          </a:prstGeom>
          <a:solidFill>
            <a:srgbClr val="E4EBF7"/>
          </a:solidFill>
          <a:ln/>
        </p:spPr>
      </p:sp>
      <p:sp>
        <p:nvSpPr>
          <p:cNvPr id="5" name="Text 3"/>
          <p:cNvSpPr txBox="1"/>
          <p:nvPr/>
        </p:nvSpPr>
        <p:spPr>
          <a:xfrm>
            <a:off x="841248"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Published views</a:t>
            </a:r>
            <a:endParaRPr lang="en-US" sz="1400" dirty="0"/>
          </a:p>
        </p:txBody>
      </p:sp>
      <p:sp>
        <p:nvSpPr>
          <p:cNvPr id="6" name="Text 4"/>
          <p:cNvSpPr txBox="1"/>
          <p:nvPr/>
        </p:nvSpPr>
        <p:spPr>
          <a:xfrm>
            <a:off x="841248"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Points of view</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Articles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Benchmark reports</a:t>
            </a:r>
            <a:endParaRPr lang="en-US" sz="1100" dirty="0"/>
          </a:p>
        </p:txBody>
      </p:sp>
      <p:sp>
        <p:nvSpPr>
          <p:cNvPr id="7" name="Shape 5"/>
          <p:cNvSpPr/>
          <p:nvPr/>
        </p:nvSpPr>
        <p:spPr>
          <a:xfrm>
            <a:off x="2852928" y="1783080"/>
            <a:ext cx="2029968" cy="2148840"/>
          </a:xfrm>
          <a:prstGeom prst="roundRect">
            <a:avLst>
              <a:gd name="adj" fmla="val 5405"/>
            </a:avLst>
          </a:prstGeom>
          <a:solidFill>
            <a:srgbClr val="EDF2FA"/>
          </a:solidFill>
          <a:ln/>
        </p:spPr>
      </p:sp>
      <p:sp>
        <p:nvSpPr>
          <p:cNvPr id="8" name="Text 6"/>
          <p:cNvSpPr txBox="1"/>
          <p:nvPr/>
        </p:nvSpPr>
        <p:spPr>
          <a:xfrm>
            <a:off x="3054096"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Stages</a:t>
            </a:r>
            <a:endParaRPr lang="en-US" sz="1400" dirty="0"/>
          </a:p>
        </p:txBody>
      </p:sp>
      <p:sp>
        <p:nvSpPr>
          <p:cNvPr id="9" name="Text 7"/>
          <p:cNvSpPr txBox="1"/>
          <p:nvPr/>
        </p:nvSpPr>
        <p:spPr>
          <a:xfrm>
            <a:off x="3054096"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Industry conferences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Flagship FSI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Panels and keynotes</a:t>
            </a:r>
            <a:endParaRPr lang="en-US" sz="1100" dirty="0"/>
          </a:p>
        </p:txBody>
      </p:sp>
      <p:sp>
        <p:nvSpPr>
          <p:cNvPr id="10" name="Shape 8"/>
          <p:cNvSpPr/>
          <p:nvPr/>
        </p:nvSpPr>
        <p:spPr>
          <a:xfrm>
            <a:off x="5065776" y="1783080"/>
            <a:ext cx="2029968" cy="2148840"/>
          </a:xfrm>
          <a:prstGeom prst="roundRect">
            <a:avLst>
              <a:gd name="adj" fmla="val 5405"/>
            </a:avLst>
          </a:prstGeom>
          <a:solidFill>
            <a:srgbClr val="E4EBF7"/>
          </a:solidFill>
          <a:ln/>
        </p:spPr>
      </p:sp>
      <p:sp>
        <p:nvSpPr>
          <p:cNvPr id="11" name="Text 9"/>
          <p:cNvSpPr txBox="1"/>
          <p:nvPr/>
        </p:nvSpPr>
        <p:spPr>
          <a:xfrm>
            <a:off x="5266944"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Client formats</a:t>
            </a:r>
            <a:endParaRPr lang="en-US" sz="1400" dirty="0"/>
          </a:p>
        </p:txBody>
      </p:sp>
      <p:sp>
        <p:nvSpPr>
          <p:cNvPr id="12" name="Text 10"/>
          <p:cNvSpPr txBox="1"/>
          <p:nvPr/>
        </p:nvSpPr>
        <p:spPr>
          <a:xfrm>
            <a:off x="5266944"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Executive workshops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Seminars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Roundtables</a:t>
            </a:r>
            <a:endParaRPr lang="en-US" sz="1100" dirty="0"/>
          </a:p>
        </p:txBody>
      </p:sp>
      <p:sp>
        <p:nvSpPr>
          <p:cNvPr id="13" name="Shape 11"/>
          <p:cNvSpPr/>
          <p:nvPr/>
        </p:nvSpPr>
        <p:spPr>
          <a:xfrm>
            <a:off x="7278624" y="1783080"/>
            <a:ext cx="2029968" cy="2148840"/>
          </a:xfrm>
          <a:prstGeom prst="roundRect">
            <a:avLst>
              <a:gd name="adj" fmla="val 5405"/>
            </a:avLst>
          </a:prstGeom>
          <a:solidFill>
            <a:srgbClr val="EDF2FA"/>
          </a:solidFill>
          <a:ln/>
        </p:spPr>
      </p:sp>
      <p:sp>
        <p:nvSpPr>
          <p:cNvPr id="14" name="Text 12"/>
          <p:cNvSpPr txBox="1"/>
          <p:nvPr/>
        </p:nvSpPr>
        <p:spPr>
          <a:xfrm>
            <a:off x="7479792"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Digital</a:t>
            </a:r>
            <a:endParaRPr lang="en-US" sz="1400" dirty="0"/>
          </a:p>
        </p:txBody>
      </p:sp>
      <p:sp>
        <p:nvSpPr>
          <p:cNvPr id="15" name="Text 13"/>
          <p:cNvSpPr txBox="1"/>
          <p:nvPr/>
        </p:nvSpPr>
        <p:spPr>
          <a:xfrm>
            <a:off x="7479792"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Podcasts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Webinars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Social presence</a:t>
            </a:r>
            <a:endParaRPr lang="en-US" sz="1100" dirty="0"/>
          </a:p>
        </p:txBody>
      </p:sp>
      <p:sp>
        <p:nvSpPr>
          <p:cNvPr id="16" name="Shape 14"/>
          <p:cNvSpPr/>
          <p:nvPr/>
        </p:nvSpPr>
        <p:spPr>
          <a:xfrm>
            <a:off x="9491472" y="1783080"/>
            <a:ext cx="2029968" cy="2148840"/>
          </a:xfrm>
          <a:prstGeom prst="roundRect">
            <a:avLst>
              <a:gd name="adj" fmla="val 5405"/>
            </a:avLst>
          </a:prstGeom>
          <a:solidFill>
            <a:srgbClr val="E4EBF7"/>
          </a:solidFill>
          <a:ln/>
        </p:spPr>
      </p:sp>
      <p:sp>
        <p:nvSpPr>
          <p:cNvPr id="17" name="Text 15"/>
          <p:cNvSpPr txBox="1"/>
          <p:nvPr/>
        </p:nvSpPr>
        <p:spPr>
          <a:xfrm>
            <a:off x="9692640" y="1901952"/>
            <a:ext cx="1737360" cy="36576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Partner-led</a:t>
            </a:r>
            <a:endParaRPr lang="en-US" sz="1400" dirty="0"/>
          </a:p>
        </p:txBody>
      </p:sp>
      <p:sp>
        <p:nvSpPr>
          <p:cNvPr id="18" name="Text 16"/>
          <p:cNvSpPr txBox="1"/>
          <p:nvPr/>
        </p:nvSpPr>
        <p:spPr>
          <a:xfrm>
            <a:off x="9692640" y="2331720"/>
            <a:ext cx="16916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Joint content</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Alliance events</a:t>
            </a:r>
            <a:endParaRPr lang="en-US" sz="1100" dirty="0"/>
          </a:p>
          <a:p>
            <a:pPr marL="342900" indent="-342900">
              <a:spcAft>
                <a:spcPts val="500"/>
              </a:spcAft>
              <a:buSzPct val="100000"/>
              <a:buChar char="•"/>
            </a:pPr>
            <a:r>
              <a:rPr lang="en-US" sz="1100" dirty="0">
                <a:solidFill>
                  <a:srgbClr val="44506B"/>
                </a:solidFill>
                <a:latin typeface="Calibri" pitchFamily="34" charset="0"/>
                <a:ea typeface="Calibri" pitchFamily="34" charset="-122"/>
                <a:cs typeface="Calibri" pitchFamily="34" charset="-120"/>
              </a:rPr>
              <a:t>Co-branded assets</a:t>
            </a:r>
            <a:endParaRPr lang="en-US" sz="1100" dirty="0"/>
          </a:p>
        </p:txBody>
      </p:sp>
      <p:sp>
        <p:nvSpPr>
          <p:cNvPr id="19" name="Shape 17"/>
          <p:cNvSpPr/>
          <p:nvPr/>
        </p:nvSpPr>
        <p:spPr>
          <a:xfrm>
            <a:off x="640080" y="4114800"/>
            <a:ext cx="10881360" cy="1188720"/>
          </a:xfrm>
          <a:prstGeom prst="roundRect">
            <a:avLst>
              <a:gd name="adj" fmla="val 9231"/>
            </a:avLst>
          </a:prstGeom>
          <a:solidFill>
            <a:srgbClr val="EDF2FA"/>
          </a:solidFill>
          <a:ln/>
        </p:spPr>
      </p:sp>
      <p:sp>
        <p:nvSpPr>
          <p:cNvPr id="20" name="Shape 18"/>
          <p:cNvSpPr/>
          <p:nvPr/>
        </p:nvSpPr>
        <p:spPr>
          <a:xfrm>
            <a:off x="640080" y="4114800"/>
            <a:ext cx="2331720" cy="1188720"/>
          </a:xfrm>
          <a:prstGeom prst="rect">
            <a:avLst/>
          </a:prstGeom>
          <a:solidFill>
            <a:srgbClr val="3E5C8A"/>
          </a:solidFill>
          <a:ln/>
        </p:spPr>
      </p:sp>
      <p:sp>
        <p:nvSpPr>
          <p:cNvPr id="21" name="Text 19"/>
          <p:cNvSpPr txBox="1"/>
          <p:nvPr/>
        </p:nvSpPr>
        <p:spPr>
          <a:xfrm>
            <a:off x="841248" y="4114800"/>
            <a:ext cx="2011680" cy="1188720"/>
          </a:xfrm>
          <a:prstGeom prst="rect">
            <a:avLst/>
          </a:prstGeom>
          <a:noFill/>
          <a:ln/>
        </p:spPr>
        <p:txBody>
          <a:bodyPr wrap="square" lIns="0" tIns="0" rIns="0" bIns="0" rtlCol="0" anchor="ctr"/>
          <a:lstStyle/>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Internal</a:t>
            </a:r>
            <a:endParaRPr lang="en-US" sz="1500" dirty="0"/>
          </a:p>
          <a:p>
            <a:pPr indent="0" marL="0">
              <a:lnSpc>
                <a:spcPts val="1700"/>
              </a:lnSpc>
              <a:buNone/>
            </a:pPr>
            <a:r>
              <a:rPr lang="en-US" sz="1500" b="1" dirty="0">
                <a:solidFill>
                  <a:srgbClr val="FFFFFF"/>
                </a:solidFill>
                <a:latin typeface="Calibri" pitchFamily="34" charset="0"/>
                <a:ea typeface="Calibri" pitchFamily="34" charset="-122"/>
                <a:cs typeface="Calibri" pitchFamily="34" charset="-120"/>
              </a:rPr>
              <a:t>eminence</a:t>
            </a:r>
            <a:endParaRPr lang="en-US" sz="1500" dirty="0"/>
          </a:p>
        </p:txBody>
      </p:sp>
      <p:sp>
        <p:nvSpPr>
          <p:cNvPr id="22" name="Text 20"/>
          <p:cNvSpPr txBox="1"/>
          <p:nvPr/>
        </p:nvSpPr>
        <p:spPr>
          <a:xfrm>
            <a:off x="3200400" y="4114800"/>
            <a:ext cx="8138160" cy="118872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FS partners and directors in other portfolios are a market in their own right — they are in front of our clients every week. Catalogue briefings, enablement on the proposition one-pagers, deal clinics and internally circulated wins belong in the plan alongside the external channels.</a:t>
            </a:r>
            <a:endParaRPr lang="en-US" sz="1250" dirty="0"/>
          </a:p>
        </p:txBody>
      </p:sp>
      <p:sp>
        <p:nvSpPr>
          <p:cNvPr id="23" name="Shape 21"/>
          <p:cNvSpPr/>
          <p:nvPr/>
        </p:nvSpPr>
        <p:spPr>
          <a:xfrm>
            <a:off x="640080" y="5486400"/>
            <a:ext cx="10881360" cy="822960"/>
          </a:xfrm>
          <a:prstGeom prst="roundRect">
            <a:avLst>
              <a:gd name="adj" fmla="val 11111"/>
            </a:avLst>
          </a:prstGeom>
          <a:solidFill>
            <a:srgbClr val="1E2761"/>
          </a:solidFill>
          <a:ln/>
        </p:spPr>
      </p:sp>
      <p:sp>
        <p:nvSpPr>
          <p:cNvPr id="24" name="Text 22"/>
          <p:cNvSpPr txBox="1"/>
          <p:nvPr/>
        </p:nvSpPr>
        <p:spPr>
          <a:xfrm>
            <a:off x="914400" y="5486400"/>
            <a:ext cx="1033272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For each activity: internal or external, which channel, how often, who fronts it, which accounts or audiences it targets, and how we measure the return.</a:t>
            </a:r>
            <a:endParaRPr lang="en-US" sz="1300" dirty="0"/>
          </a:p>
        </p:txBody>
      </p:sp>
      <p:sp>
        <p:nvSpPr>
          <p:cNvPr id="25" name="Text 2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Channel mix and cadence to be defined in the cycle.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who we go to market with, and what we use each one for.</a:t>
            </a:r>
            <a:endParaRPr lang="en-US" sz="1450" dirty="0"/>
          </a:p>
        </p:txBody>
      </p:sp>
      <p:sp>
        <p:nvSpPr>
          <p:cNvPr id="4" name="Shape 2"/>
          <p:cNvSpPr/>
          <p:nvPr/>
        </p:nvSpPr>
        <p:spPr>
          <a:xfrm>
            <a:off x="640080" y="1828800"/>
            <a:ext cx="5120640" cy="2057400"/>
          </a:xfrm>
          <a:prstGeom prst="roundRect">
            <a:avLst>
              <a:gd name="adj" fmla="val 5333"/>
            </a:avLst>
          </a:prstGeom>
          <a:solidFill>
            <a:srgbClr val="EDF2FA"/>
          </a:solidFill>
          <a:ln/>
        </p:spPr>
      </p:sp>
      <p:sp>
        <p:nvSpPr>
          <p:cNvPr id="5" name="Text 3"/>
          <p:cNvSpPr txBox="1"/>
          <p:nvPr/>
        </p:nvSpPr>
        <p:spPr>
          <a:xfrm>
            <a:off x="914400" y="1965960"/>
            <a:ext cx="457200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Primary alliances</a:t>
            </a:r>
            <a:endParaRPr lang="en-US" sz="1700" dirty="0"/>
          </a:p>
        </p:txBody>
      </p:sp>
      <p:sp>
        <p:nvSpPr>
          <p:cNvPr id="6" name="Shape 4"/>
          <p:cNvSpPr/>
          <p:nvPr/>
        </p:nvSpPr>
        <p:spPr>
          <a:xfrm>
            <a:off x="914400" y="2468880"/>
            <a:ext cx="1402080" cy="1051560"/>
          </a:xfrm>
          <a:prstGeom prst="roundRect">
            <a:avLst>
              <a:gd name="adj" fmla="val 8696"/>
            </a:avLst>
          </a:prstGeom>
          <a:solidFill>
            <a:srgbClr val="1E2761"/>
          </a:solidFill>
          <a:ln/>
        </p:spPr>
      </p:sp>
      <p:sp>
        <p:nvSpPr>
          <p:cNvPr id="7" name="Text 5"/>
          <p:cNvSpPr txBox="1"/>
          <p:nvPr/>
        </p:nvSpPr>
        <p:spPr>
          <a:xfrm>
            <a:off x="91440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Oracle</a:t>
            </a:r>
            <a:endParaRPr lang="en-US" sz="1700" dirty="0"/>
          </a:p>
        </p:txBody>
      </p:sp>
      <p:sp>
        <p:nvSpPr>
          <p:cNvPr id="8" name="Shape 6"/>
          <p:cNvSpPr/>
          <p:nvPr/>
        </p:nvSpPr>
        <p:spPr>
          <a:xfrm>
            <a:off x="2499360" y="2468880"/>
            <a:ext cx="1402080" cy="1051560"/>
          </a:xfrm>
          <a:prstGeom prst="roundRect">
            <a:avLst>
              <a:gd name="adj" fmla="val 8696"/>
            </a:avLst>
          </a:prstGeom>
          <a:solidFill>
            <a:srgbClr val="1E2761"/>
          </a:solidFill>
          <a:ln/>
        </p:spPr>
      </p:sp>
      <p:sp>
        <p:nvSpPr>
          <p:cNvPr id="9" name="Text 7"/>
          <p:cNvSpPr txBox="1"/>
          <p:nvPr/>
        </p:nvSpPr>
        <p:spPr>
          <a:xfrm>
            <a:off x="249936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Google</a:t>
            </a:r>
            <a:endParaRPr lang="en-US" sz="1700" dirty="0"/>
          </a:p>
        </p:txBody>
      </p:sp>
      <p:sp>
        <p:nvSpPr>
          <p:cNvPr id="10" name="Shape 8"/>
          <p:cNvSpPr/>
          <p:nvPr/>
        </p:nvSpPr>
        <p:spPr>
          <a:xfrm>
            <a:off x="4084320" y="2468880"/>
            <a:ext cx="1402080" cy="1051560"/>
          </a:xfrm>
          <a:prstGeom prst="roundRect">
            <a:avLst>
              <a:gd name="adj" fmla="val 8696"/>
            </a:avLst>
          </a:prstGeom>
          <a:solidFill>
            <a:srgbClr val="1E2761"/>
          </a:solidFill>
          <a:ln/>
        </p:spPr>
      </p:sp>
      <p:sp>
        <p:nvSpPr>
          <p:cNvPr id="11" name="Text 9"/>
          <p:cNvSpPr txBox="1"/>
          <p:nvPr/>
        </p:nvSpPr>
        <p:spPr>
          <a:xfrm>
            <a:off x="408432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Amazon</a:t>
            </a:r>
            <a:endParaRPr lang="en-US" sz="1700" dirty="0"/>
          </a:p>
        </p:txBody>
      </p:sp>
      <p:sp>
        <p:nvSpPr>
          <p:cNvPr id="12" name="Shape 10"/>
          <p:cNvSpPr/>
          <p:nvPr/>
        </p:nvSpPr>
        <p:spPr>
          <a:xfrm>
            <a:off x="6309360" y="1828800"/>
            <a:ext cx="5212080" cy="2057400"/>
          </a:xfrm>
          <a:prstGeom prst="roundRect">
            <a:avLst>
              <a:gd name="adj" fmla="val 5333"/>
            </a:avLst>
          </a:prstGeom>
          <a:solidFill>
            <a:srgbClr val="EDF2FA"/>
          </a:solidFill>
          <a:ln/>
        </p:spPr>
      </p:sp>
      <p:sp>
        <p:nvSpPr>
          <p:cNvPr id="13" name="Text 11"/>
          <p:cNvSpPr txBox="1"/>
          <p:nvPr/>
        </p:nvSpPr>
        <p:spPr>
          <a:xfrm>
            <a:off x="6583680" y="1965960"/>
            <a:ext cx="4663440" cy="365760"/>
          </a:xfrm>
          <a:prstGeom prst="rect">
            <a:avLst/>
          </a:prstGeom>
          <a:noFill/>
          <a:ln/>
        </p:spPr>
        <p:txBody>
          <a:bodyPr wrap="square" lIns="0" tIns="0" rIns="0" bIns="0" rtlCol="0" anchor="ctr"/>
          <a:lstStyle/>
          <a:p>
            <a:pPr indent="0" marL="0">
              <a:buNone/>
            </a:pPr>
            <a:r>
              <a:rPr lang="en-US" sz="1700" b="1" dirty="0">
                <a:solidFill>
                  <a:srgbClr val="3E5C8A"/>
                </a:solidFill>
                <a:latin typeface="Calibri" pitchFamily="34" charset="0"/>
                <a:ea typeface="Calibri" pitchFamily="34" charset="-122"/>
                <a:cs typeface="Calibri" pitchFamily="34" charset="-120"/>
              </a:rPr>
              <a:t>Specialised alliances</a:t>
            </a:r>
            <a:endParaRPr lang="en-US" sz="1700" dirty="0"/>
          </a:p>
        </p:txBody>
      </p:sp>
      <p:sp>
        <p:nvSpPr>
          <p:cNvPr id="14" name="Shape 12"/>
          <p:cNvSpPr/>
          <p:nvPr/>
        </p:nvSpPr>
        <p:spPr>
          <a:xfrm>
            <a:off x="6583680" y="2468880"/>
            <a:ext cx="2240280" cy="1051560"/>
          </a:xfrm>
          <a:prstGeom prst="roundRect">
            <a:avLst>
              <a:gd name="adj" fmla="val 8696"/>
            </a:avLst>
          </a:prstGeom>
          <a:solidFill>
            <a:srgbClr val="3E5C8A"/>
          </a:solidFill>
          <a:ln/>
        </p:spPr>
      </p:sp>
      <p:sp>
        <p:nvSpPr>
          <p:cNvPr id="15" name="Text 13"/>
          <p:cNvSpPr txBox="1"/>
          <p:nvPr/>
        </p:nvSpPr>
        <p:spPr>
          <a:xfrm>
            <a:off x="658368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Temenos</a:t>
            </a:r>
            <a:endParaRPr lang="en-US" sz="1700" dirty="0"/>
          </a:p>
        </p:txBody>
      </p:sp>
      <p:sp>
        <p:nvSpPr>
          <p:cNvPr id="16" name="Shape 14"/>
          <p:cNvSpPr/>
          <p:nvPr/>
        </p:nvSpPr>
        <p:spPr>
          <a:xfrm>
            <a:off x="9006840" y="2468880"/>
            <a:ext cx="2240280" cy="1051560"/>
          </a:xfrm>
          <a:prstGeom prst="roundRect">
            <a:avLst>
              <a:gd name="adj" fmla="val 8696"/>
            </a:avLst>
          </a:prstGeom>
          <a:solidFill>
            <a:srgbClr val="3E5C8A"/>
          </a:solidFill>
          <a:ln/>
        </p:spPr>
      </p:sp>
      <p:sp>
        <p:nvSpPr>
          <p:cNvPr id="17" name="Text 15"/>
          <p:cNvSpPr txBox="1"/>
          <p:nvPr/>
        </p:nvSpPr>
        <p:spPr>
          <a:xfrm>
            <a:off x="900684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Intellect</a:t>
            </a:r>
            <a:endParaRPr lang="en-US" sz="1700" dirty="0"/>
          </a:p>
        </p:txBody>
      </p:sp>
      <p:sp>
        <p:nvSpPr>
          <p:cNvPr id="18" name="Shape 16"/>
          <p:cNvSpPr/>
          <p:nvPr/>
        </p:nvSpPr>
        <p:spPr>
          <a:xfrm>
            <a:off x="4023360" y="4023360"/>
            <a:ext cx="4114800" cy="301752"/>
          </a:xfrm>
          <a:prstGeom prst="roundRect">
            <a:avLst>
              <a:gd name="adj" fmla="val 48485"/>
            </a:avLst>
          </a:prstGeom>
          <a:solidFill>
            <a:srgbClr val="FFFFFF"/>
          </a:solidFill>
          <a:ln w="12700">
            <a:solidFill>
              <a:srgbClr val="B8862B"/>
            </a:solidFill>
            <a:prstDash val="solid"/>
          </a:ln>
        </p:spPr>
      </p:sp>
      <p:sp>
        <p:nvSpPr>
          <p:cNvPr id="19" name="Text 17"/>
          <p:cNvSpPr txBox="1"/>
          <p:nvPr/>
        </p:nvSpPr>
        <p:spPr>
          <a:xfrm>
            <a:off x="4023360" y="4023360"/>
            <a:ext cx="41148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further alliances to be defined in the cycle</a:t>
            </a:r>
            <a:endParaRPr lang="en-US" sz="1050" dirty="0"/>
          </a:p>
        </p:txBody>
      </p:sp>
      <p:sp>
        <p:nvSpPr>
          <p:cNvPr id="20" name="Text 18"/>
          <p:cNvSpPr txBox="1"/>
          <p:nvPr/>
        </p:nvSpPr>
        <p:spPr>
          <a:xfrm>
            <a:off x="640080" y="461772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For every alliance the plan must answer:</a:t>
            </a:r>
            <a:endParaRPr lang="en-US" sz="1400" dirty="0"/>
          </a:p>
        </p:txBody>
      </p:sp>
      <p:sp>
        <p:nvSpPr>
          <p:cNvPr id="21" name="Shape 19"/>
          <p:cNvSpPr/>
          <p:nvPr/>
        </p:nvSpPr>
        <p:spPr>
          <a:xfrm>
            <a:off x="640080" y="5029200"/>
            <a:ext cx="310896" cy="310896"/>
          </a:xfrm>
          <a:prstGeom prst="ellipse">
            <a:avLst/>
          </a:prstGeom>
          <a:solidFill>
            <a:srgbClr val="1E2761"/>
          </a:solidFill>
          <a:ln/>
        </p:spPr>
      </p:sp>
      <p:sp>
        <p:nvSpPr>
          <p:cNvPr id="22" name="Text 20"/>
          <p:cNvSpPr txBox="1"/>
          <p:nvPr/>
        </p:nvSpPr>
        <p:spPr>
          <a:xfrm>
            <a:off x="64008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3" name="Text 21"/>
          <p:cNvSpPr txBox="1"/>
          <p:nvPr/>
        </p:nvSpPr>
        <p:spPr>
          <a:xfrm>
            <a:off x="109728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we leverage it for</a:t>
            </a:r>
            <a:endParaRPr lang="en-US" sz="1300" dirty="0"/>
          </a:p>
        </p:txBody>
      </p:sp>
      <p:sp>
        <p:nvSpPr>
          <p:cNvPr id="24" name="Text 22"/>
          <p:cNvSpPr txBox="1"/>
          <p:nvPr/>
        </p:nvSpPr>
        <p:spPr>
          <a:xfrm>
            <a:off x="347472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propositions and which pillars it sits behind</a:t>
            </a:r>
            <a:endParaRPr lang="en-US" sz="1200" dirty="0"/>
          </a:p>
        </p:txBody>
      </p:sp>
      <p:sp>
        <p:nvSpPr>
          <p:cNvPr id="25" name="Shape 23"/>
          <p:cNvSpPr/>
          <p:nvPr/>
        </p:nvSpPr>
        <p:spPr>
          <a:xfrm>
            <a:off x="6263640" y="5029200"/>
            <a:ext cx="310896" cy="310896"/>
          </a:xfrm>
          <a:prstGeom prst="ellipse">
            <a:avLst/>
          </a:prstGeom>
          <a:solidFill>
            <a:srgbClr val="1E2761"/>
          </a:solidFill>
          <a:ln/>
        </p:spPr>
      </p:sp>
      <p:sp>
        <p:nvSpPr>
          <p:cNvPr id="26" name="Text 24"/>
          <p:cNvSpPr txBox="1"/>
          <p:nvPr/>
        </p:nvSpPr>
        <p:spPr>
          <a:xfrm>
            <a:off x="626364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7" name="Text 25"/>
          <p:cNvSpPr txBox="1"/>
          <p:nvPr/>
        </p:nvSpPr>
        <p:spPr>
          <a:xfrm>
            <a:off x="672084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the relationship is</a:t>
            </a:r>
            <a:endParaRPr lang="en-US" sz="1300" dirty="0"/>
          </a:p>
        </p:txBody>
      </p:sp>
      <p:sp>
        <p:nvSpPr>
          <p:cNvPr id="28" name="Text 26"/>
          <p:cNvSpPr txBox="1"/>
          <p:nvPr/>
        </p:nvSpPr>
        <p:spPr>
          <a:xfrm>
            <a:off x="909828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Co-sell, resell, delivery partner or referral</a:t>
            </a:r>
            <a:endParaRPr lang="en-US" sz="1200" dirty="0"/>
          </a:p>
        </p:txBody>
      </p:sp>
      <p:sp>
        <p:nvSpPr>
          <p:cNvPr id="29" name="Shape 27"/>
          <p:cNvSpPr/>
          <p:nvPr/>
        </p:nvSpPr>
        <p:spPr>
          <a:xfrm>
            <a:off x="640080" y="5715000"/>
            <a:ext cx="310896" cy="310896"/>
          </a:xfrm>
          <a:prstGeom prst="ellipse">
            <a:avLst/>
          </a:prstGeom>
          <a:solidFill>
            <a:srgbClr val="3E5C8A"/>
          </a:solidFill>
          <a:ln/>
        </p:spPr>
      </p:sp>
      <p:sp>
        <p:nvSpPr>
          <p:cNvPr id="30" name="Text 28"/>
          <p:cNvSpPr txBox="1"/>
          <p:nvPr/>
        </p:nvSpPr>
        <p:spPr>
          <a:xfrm>
            <a:off x="64008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1" name="Text 29"/>
          <p:cNvSpPr txBox="1"/>
          <p:nvPr/>
        </p:nvSpPr>
        <p:spPr>
          <a:xfrm>
            <a:off x="109728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Where it opens doors</a:t>
            </a:r>
            <a:endParaRPr lang="en-US" sz="1300" dirty="0"/>
          </a:p>
        </p:txBody>
      </p:sp>
      <p:sp>
        <p:nvSpPr>
          <p:cNvPr id="32" name="Text 30"/>
          <p:cNvSpPr txBox="1"/>
          <p:nvPr/>
        </p:nvSpPr>
        <p:spPr>
          <a:xfrm>
            <a:off x="347472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markets and which accounts it gives us access to</a:t>
            </a:r>
            <a:endParaRPr lang="en-US" sz="1200" dirty="0"/>
          </a:p>
        </p:txBody>
      </p:sp>
      <p:sp>
        <p:nvSpPr>
          <p:cNvPr id="33" name="Shape 31"/>
          <p:cNvSpPr/>
          <p:nvPr/>
        </p:nvSpPr>
        <p:spPr>
          <a:xfrm>
            <a:off x="6263640" y="5715000"/>
            <a:ext cx="310896" cy="310896"/>
          </a:xfrm>
          <a:prstGeom prst="ellipse">
            <a:avLst/>
          </a:prstGeom>
          <a:solidFill>
            <a:srgbClr val="3E5C8A"/>
          </a:solidFill>
          <a:ln/>
        </p:spPr>
      </p:sp>
      <p:sp>
        <p:nvSpPr>
          <p:cNvPr id="34" name="Text 32"/>
          <p:cNvSpPr txBox="1"/>
          <p:nvPr/>
        </p:nvSpPr>
        <p:spPr>
          <a:xfrm>
            <a:off x="626364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5" name="Text 33"/>
          <p:cNvSpPr txBox="1"/>
          <p:nvPr/>
        </p:nvSpPr>
        <p:spPr>
          <a:xfrm>
            <a:off x="672084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it costs us</a:t>
            </a:r>
            <a:endParaRPr lang="en-US" sz="1300" dirty="0"/>
          </a:p>
        </p:txBody>
      </p:sp>
      <p:sp>
        <p:nvSpPr>
          <p:cNvPr id="36" name="Text 34"/>
          <p:cNvSpPr txBox="1"/>
          <p:nvPr/>
        </p:nvSpPr>
        <p:spPr>
          <a:xfrm>
            <a:off x="909828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Certifications, credentials and commitments they expect back</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vision and the ambition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delivery construct, ADR and margin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account, offering and market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vision, then 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 by account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Dates and participants beyond the core team are set at kick-off.</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the strategy on a page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completed strategy on one sheet. Filled at sign-off, from the artefacts that follow.</a:t>
            </a:r>
            <a:endParaRPr lang="en-US" sz="1450" dirty="0"/>
          </a:p>
        </p:txBody>
      </p:sp>
      <p:sp>
        <p:nvSpPr>
          <p:cNvPr id="4" name="Shape 2"/>
          <p:cNvSpPr/>
          <p:nvPr/>
        </p:nvSpPr>
        <p:spPr>
          <a:xfrm>
            <a:off x="640080" y="1828800"/>
            <a:ext cx="10881360" cy="822960"/>
          </a:xfrm>
          <a:prstGeom prst="roundRect">
            <a:avLst>
              <a:gd name="adj" fmla="val 11111"/>
            </a:avLst>
          </a:prstGeom>
          <a:solidFill>
            <a:srgbClr val="FFFFFF"/>
          </a:solidFill>
          <a:ln w="15875">
            <a:solidFill>
              <a:srgbClr val="1E2761"/>
            </a:solidFill>
            <a:prstDash val="solid"/>
          </a:ln>
        </p:spPr>
      </p:sp>
      <p:sp>
        <p:nvSpPr>
          <p:cNvPr id="5" name="Text 3"/>
          <p:cNvSpPr txBox="1"/>
          <p:nvPr/>
        </p:nvSpPr>
        <p:spPr>
          <a:xfrm>
            <a:off x="914400" y="1828800"/>
            <a:ext cx="1828800" cy="82296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AMBITION</a:t>
            </a:r>
            <a:endParaRPr lang="en-US" sz="1200" dirty="0"/>
          </a:p>
        </p:txBody>
      </p:sp>
      <p:sp>
        <p:nvSpPr>
          <p:cNvPr id="6" name="Shape 4"/>
          <p:cNvSpPr/>
          <p:nvPr/>
        </p:nvSpPr>
        <p:spPr>
          <a:xfrm>
            <a:off x="2926080" y="2395728"/>
            <a:ext cx="8321040" cy="0"/>
          </a:xfrm>
          <a:prstGeom prst="line">
            <a:avLst/>
          </a:prstGeom>
          <a:noFill/>
          <a:ln w="12700">
            <a:solidFill>
              <a:srgbClr val="C9D4E6"/>
            </a:solidFill>
            <a:prstDash val="solid"/>
          </a:ln>
        </p:spPr>
      </p:sp>
      <p:sp>
        <p:nvSpPr>
          <p:cNvPr id="7" name="Shape 5"/>
          <p:cNvSpPr/>
          <p:nvPr/>
        </p:nvSpPr>
        <p:spPr>
          <a:xfrm>
            <a:off x="640080" y="2834640"/>
            <a:ext cx="2596896" cy="2514600"/>
          </a:xfrm>
          <a:prstGeom prst="roundRect">
            <a:avLst>
              <a:gd name="adj" fmla="val 3636"/>
            </a:avLst>
          </a:prstGeom>
          <a:solidFill>
            <a:srgbClr val="FFFFFF"/>
          </a:solidFill>
          <a:ln w="12700">
            <a:solidFill>
              <a:srgbClr val="C9D4E6"/>
            </a:solidFill>
            <a:prstDash val="solid"/>
          </a:ln>
        </p:spPr>
      </p:sp>
      <p:sp>
        <p:nvSpPr>
          <p:cNvPr id="8" name="Shape 6"/>
          <p:cNvSpPr/>
          <p:nvPr/>
        </p:nvSpPr>
        <p:spPr>
          <a:xfrm>
            <a:off x="640080" y="2834640"/>
            <a:ext cx="2596896" cy="502920"/>
          </a:xfrm>
          <a:prstGeom prst="rect">
            <a:avLst/>
          </a:prstGeom>
          <a:solidFill>
            <a:srgbClr val="1E2761"/>
          </a:solidFill>
          <a:ln/>
        </p:spPr>
      </p:sp>
      <p:sp>
        <p:nvSpPr>
          <p:cNvPr id="9" name="Text 7"/>
          <p:cNvSpPr txBox="1"/>
          <p:nvPr/>
        </p:nvSpPr>
        <p:spPr>
          <a:xfrm>
            <a:off x="786384"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and clients</a:t>
            </a:r>
            <a:endParaRPr lang="en-US" sz="1150" dirty="0"/>
          </a:p>
        </p:txBody>
      </p:sp>
      <p:sp>
        <p:nvSpPr>
          <p:cNvPr id="10" name="Text 8"/>
          <p:cNvSpPr txBox="1"/>
          <p:nvPr/>
        </p:nvSpPr>
        <p:spPr>
          <a:xfrm>
            <a:off x="841248"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Markets and segments</a:t>
            </a:r>
            <a:endParaRPr lang="en-US" sz="1050" dirty="0"/>
          </a:p>
        </p:txBody>
      </p:sp>
      <p:sp>
        <p:nvSpPr>
          <p:cNvPr id="11" name="Shape 9"/>
          <p:cNvSpPr/>
          <p:nvPr/>
        </p:nvSpPr>
        <p:spPr>
          <a:xfrm>
            <a:off x="841248" y="3867912"/>
            <a:ext cx="2194560" cy="0"/>
          </a:xfrm>
          <a:prstGeom prst="line">
            <a:avLst/>
          </a:prstGeom>
          <a:noFill/>
          <a:ln w="12700">
            <a:solidFill>
              <a:srgbClr val="E1E8F2"/>
            </a:solidFill>
            <a:prstDash val="solid"/>
          </a:ln>
        </p:spPr>
      </p:sp>
      <p:sp>
        <p:nvSpPr>
          <p:cNvPr id="12" name="Text 10"/>
          <p:cNvSpPr txBox="1"/>
          <p:nvPr/>
        </p:nvSpPr>
        <p:spPr>
          <a:xfrm>
            <a:off x="841248"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Top accounts and offerings</a:t>
            </a:r>
            <a:endParaRPr lang="en-US" sz="1050" dirty="0"/>
          </a:p>
        </p:txBody>
      </p:sp>
      <p:sp>
        <p:nvSpPr>
          <p:cNvPr id="13" name="Shape 11"/>
          <p:cNvSpPr/>
          <p:nvPr/>
        </p:nvSpPr>
        <p:spPr>
          <a:xfrm>
            <a:off x="841248" y="4434840"/>
            <a:ext cx="2194560" cy="0"/>
          </a:xfrm>
          <a:prstGeom prst="line">
            <a:avLst/>
          </a:prstGeom>
          <a:noFill/>
          <a:ln w="12700">
            <a:solidFill>
              <a:srgbClr val="E1E8F2"/>
            </a:solidFill>
            <a:prstDash val="solid"/>
          </a:ln>
        </p:spPr>
      </p:sp>
      <p:sp>
        <p:nvSpPr>
          <p:cNvPr id="14" name="Text 12"/>
          <p:cNvSpPr txBox="1"/>
          <p:nvPr/>
        </p:nvSpPr>
        <p:spPr>
          <a:xfrm>
            <a:off x="841248"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Revenue: gross / net</a:t>
            </a:r>
            <a:endParaRPr lang="en-US" sz="1050" dirty="0"/>
          </a:p>
        </p:txBody>
      </p:sp>
      <p:sp>
        <p:nvSpPr>
          <p:cNvPr id="15" name="Shape 13"/>
          <p:cNvSpPr/>
          <p:nvPr/>
        </p:nvSpPr>
        <p:spPr>
          <a:xfrm>
            <a:off x="841248" y="5001768"/>
            <a:ext cx="2194560" cy="0"/>
          </a:xfrm>
          <a:prstGeom prst="line">
            <a:avLst/>
          </a:prstGeom>
          <a:noFill/>
          <a:ln w="12700">
            <a:solidFill>
              <a:srgbClr val="E1E8F2"/>
            </a:solidFill>
            <a:prstDash val="solid"/>
          </a:ln>
        </p:spPr>
      </p:sp>
      <p:sp>
        <p:nvSpPr>
          <p:cNvPr id="16" name="Shape 14"/>
          <p:cNvSpPr/>
          <p:nvPr/>
        </p:nvSpPr>
        <p:spPr>
          <a:xfrm>
            <a:off x="3401568" y="2834640"/>
            <a:ext cx="2596896" cy="2514600"/>
          </a:xfrm>
          <a:prstGeom prst="roundRect">
            <a:avLst>
              <a:gd name="adj" fmla="val 3636"/>
            </a:avLst>
          </a:prstGeom>
          <a:solidFill>
            <a:srgbClr val="FFFFFF"/>
          </a:solidFill>
          <a:ln w="12700">
            <a:solidFill>
              <a:srgbClr val="C9D4E6"/>
            </a:solidFill>
            <a:prstDash val="solid"/>
          </a:ln>
        </p:spPr>
      </p:sp>
      <p:sp>
        <p:nvSpPr>
          <p:cNvPr id="17" name="Shape 15"/>
          <p:cNvSpPr/>
          <p:nvPr/>
        </p:nvSpPr>
        <p:spPr>
          <a:xfrm>
            <a:off x="3401568" y="2834640"/>
            <a:ext cx="2596896" cy="502920"/>
          </a:xfrm>
          <a:prstGeom prst="rect">
            <a:avLst/>
          </a:prstGeom>
          <a:solidFill>
            <a:srgbClr val="3E5C8A"/>
          </a:solidFill>
          <a:ln/>
        </p:spPr>
      </p:sp>
      <p:sp>
        <p:nvSpPr>
          <p:cNvPr id="18" name="Text 16"/>
          <p:cNvSpPr txBox="1"/>
          <p:nvPr/>
        </p:nvSpPr>
        <p:spPr>
          <a:xfrm>
            <a:off x="3547872"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a:t>
            </a:r>
            <a:endParaRPr lang="en-US" sz="1150" dirty="0"/>
          </a:p>
        </p:txBody>
      </p:sp>
      <p:sp>
        <p:nvSpPr>
          <p:cNvPr id="19" name="Text 17"/>
          <p:cNvSpPr txBox="1"/>
          <p:nvPr/>
        </p:nvSpPr>
        <p:spPr>
          <a:xfrm>
            <a:off x="3602736"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Propositions</a:t>
            </a:r>
            <a:endParaRPr lang="en-US" sz="1050" dirty="0"/>
          </a:p>
        </p:txBody>
      </p:sp>
      <p:sp>
        <p:nvSpPr>
          <p:cNvPr id="20" name="Shape 18"/>
          <p:cNvSpPr/>
          <p:nvPr/>
        </p:nvSpPr>
        <p:spPr>
          <a:xfrm>
            <a:off x="3602736" y="3867912"/>
            <a:ext cx="2194560" cy="0"/>
          </a:xfrm>
          <a:prstGeom prst="line">
            <a:avLst/>
          </a:prstGeom>
          <a:noFill/>
          <a:ln w="12700">
            <a:solidFill>
              <a:srgbClr val="E1E8F2"/>
            </a:solidFill>
            <a:prstDash val="solid"/>
          </a:ln>
        </p:spPr>
      </p:sp>
      <p:sp>
        <p:nvSpPr>
          <p:cNvPr id="21" name="Text 19"/>
          <p:cNvSpPr txBox="1"/>
          <p:nvPr/>
        </p:nvSpPr>
        <p:spPr>
          <a:xfrm>
            <a:off x="3602736"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Use cases</a:t>
            </a:r>
            <a:endParaRPr lang="en-US" sz="1050" dirty="0"/>
          </a:p>
        </p:txBody>
      </p:sp>
      <p:sp>
        <p:nvSpPr>
          <p:cNvPr id="22" name="Shape 20"/>
          <p:cNvSpPr/>
          <p:nvPr/>
        </p:nvSpPr>
        <p:spPr>
          <a:xfrm>
            <a:off x="3602736" y="4434840"/>
            <a:ext cx="2194560" cy="0"/>
          </a:xfrm>
          <a:prstGeom prst="line">
            <a:avLst/>
          </a:prstGeom>
          <a:noFill/>
          <a:ln w="12700">
            <a:solidFill>
              <a:srgbClr val="E1E8F2"/>
            </a:solidFill>
            <a:prstDash val="solid"/>
          </a:ln>
        </p:spPr>
      </p:sp>
      <p:sp>
        <p:nvSpPr>
          <p:cNvPr id="23" name="Text 21"/>
          <p:cNvSpPr txBox="1"/>
          <p:nvPr/>
        </p:nvSpPr>
        <p:spPr>
          <a:xfrm>
            <a:off x="3602736"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Flavours</a:t>
            </a:r>
            <a:endParaRPr lang="en-US" sz="1050" dirty="0"/>
          </a:p>
        </p:txBody>
      </p:sp>
      <p:sp>
        <p:nvSpPr>
          <p:cNvPr id="24" name="Shape 22"/>
          <p:cNvSpPr/>
          <p:nvPr/>
        </p:nvSpPr>
        <p:spPr>
          <a:xfrm>
            <a:off x="3602736" y="5001768"/>
            <a:ext cx="2194560" cy="0"/>
          </a:xfrm>
          <a:prstGeom prst="line">
            <a:avLst/>
          </a:prstGeom>
          <a:noFill/>
          <a:ln w="12700">
            <a:solidFill>
              <a:srgbClr val="E1E8F2"/>
            </a:solidFill>
            <a:prstDash val="solid"/>
          </a:ln>
        </p:spPr>
      </p:sp>
      <p:sp>
        <p:nvSpPr>
          <p:cNvPr id="25" name="Shape 23"/>
          <p:cNvSpPr/>
          <p:nvPr/>
        </p:nvSpPr>
        <p:spPr>
          <a:xfrm>
            <a:off x="6163056" y="2834640"/>
            <a:ext cx="2596896" cy="2514600"/>
          </a:xfrm>
          <a:prstGeom prst="roundRect">
            <a:avLst>
              <a:gd name="adj" fmla="val 3636"/>
            </a:avLst>
          </a:prstGeom>
          <a:solidFill>
            <a:srgbClr val="FFFFFF"/>
          </a:solidFill>
          <a:ln w="12700">
            <a:solidFill>
              <a:srgbClr val="C9D4E6"/>
            </a:solidFill>
            <a:prstDash val="solid"/>
          </a:ln>
        </p:spPr>
      </p:sp>
      <p:sp>
        <p:nvSpPr>
          <p:cNvPr id="26" name="Shape 24"/>
          <p:cNvSpPr/>
          <p:nvPr/>
        </p:nvSpPr>
        <p:spPr>
          <a:xfrm>
            <a:off x="6163056" y="2834640"/>
            <a:ext cx="2596896" cy="502920"/>
          </a:xfrm>
          <a:prstGeom prst="rect">
            <a:avLst/>
          </a:prstGeom>
          <a:solidFill>
            <a:srgbClr val="1E2761"/>
          </a:solidFill>
          <a:ln/>
        </p:spPr>
      </p:sp>
      <p:sp>
        <p:nvSpPr>
          <p:cNvPr id="27" name="Text 25"/>
          <p:cNvSpPr txBox="1"/>
          <p:nvPr/>
        </p:nvSpPr>
        <p:spPr>
          <a:xfrm>
            <a:off x="6309360"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and economics</a:t>
            </a:r>
            <a:endParaRPr lang="en-US" sz="1150" dirty="0"/>
          </a:p>
        </p:txBody>
      </p:sp>
      <p:sp>
        <p:nvSpPr>
          <p:cNvPr id="28" name="Text 26"/>
          <p:cNvSpPr txBox="1"/>
          <p:nvPr/>
        </p:nvSpPr>
        <p:spPr>
          <a:xfrm>
            <a:off x="6364224"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Construct and ADR</a:t>
            </a:r>
            <a:endParaRPr lang="en-US" sz="1050" dirty="0"/>
          </a:p>
        </p:txBody>
      </p:sp>
      <p:sp>
        <p:nvSpPr>
          <p:cNvPr id="29" name="Shape 27"/>
          <p:cNvSpPr/>
          <p:nvPr/>
        </p:nvSpPr>
        <p:spPr>
          <a:xfrm>
            <a:off x="6364224" y="3867912"/>
            <a:ext cx="2194560" cy="0"/>
          </a:xfrm>
          <a:prstGeom prst="line">
            <a:avLst/>
          </a:prstGeom>
          <a:noFill/>
          <a:ln w="12700">
            <a:solidFill>
              <a:srgbClr val="E1E8F2"/>
            </a:solidFill>
            <a:prstDash val="solid"/>
          </a:ln>
        </p:spPr>
      </p:sp>
      <p:sp>
        <p:nvSpPr>
          <p:cNvPr id="30" name="Text 28"/>
          <p:cNvSpPr txBox="1"/>
          <p:nvPr/>
        </p:nvSpPr>
        <p:spPr>
          <a:xfrm>
            <a:off x="6364224"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Margin</a:t>
            </a:r>
            <a:endParaRPr lang="en-US" sz="1050" dirty="0"/>
          </a:p>
        </p:txBody>
      </p:sp>
      <p:sp>
        <p:nvSpPr>
          <p:cNvPr id="31" name="Shape 29"/>
          <p:cNvSpPr/>
          <p:nvPr/>
        </p:nvSpPr>
        <p:spPr>
          <a:xfrm>
            <a:off x="6364224" y="4434840"/>
            <a:ext cx="2194560" cy="0"/>
          </a:xfrm>
          <a:prstGeom prst="line">
            <a:avLst/>
          </a:prstGeom>
          <a:noFill/>
          <a:ln w="12700">
            <a:solidFill>
              <a:srgbClr val="E1E8F2"/>
            </a:solidFill>
            <a:prstDash val="solid"/>
          </a:ln>
        </p:spPr>
      </p:sp>
      <p:sp>
        <p:nvSpPr>
          <p:cNvPr id="32" name="Text 30"/>
          <p:cNvSpPr txBox="1"/>
          <p:nvPr/>
        </p:nvSpPr>
        <p:spPr>
          <a:xfrm>
            <a:off x="6364224"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Team and gap</a:t>
            </a:r>
            <a:endParaRPr lang="en-US" sz="1050" dirty="0"/>
          </a:p>
        </p:txBody>
      </p:sp>
      <p:sp>
        <p:nvSpPr>
          <p:cNvPr id="33" name="Shape 31"/>
          <p:cNvSpPr/>
          <p:nvPr/>
        </p:nvSpPr>
        <p:spPr>
          <a:xfrm>
            <a:off x="6364224" y="5001768"/>
            <a:ext cx="2194560" cy="0"/>
          </a:xfrm>
          <a:prstGeom prst="line">
            <a:avLst/>
          </a:prstGeom>
          <a:noFill/>
          <a:ln w="12700">
            <a:solidFill>
              <a:srgbClr val="E1E8F2"/>
            </a:solidFill>
            <a:prstDash val="solid"/>
          </a:ln>
        </p:spPr>
      </p:sp>
      <p:sp>
        <p:nvSpPr>
          <p:cNvPr id="34" name="Shape 32"/>
          <p:cNvSpPr/>
          <p:nvPr/>
        </p:nvSpPr>
        <p:spPr>
          <a:xfrm>
            <a:off x="8924544" y="2834640"/>
            <a:ext cx="2596896" cy="2514600"/>
          </a:xfrm>
          <a:prstGeom prst="roundRect">
            <a:avLst>
              <a:gd name="adj" fmla="val 3636"/>
            </a:avLst>
          </a:prstGeom>
          <a:solidFill>
            <a:srgbClr val="FFFFFF"/>
          </a:solidFill>
          <a:ln w="12700">
            <a:solidFill>
              <a:srgbClr val="C9D4E6"/>
            </a:solidFill>
            <a:prstDash val="solid"/>
          </a:ln>
        </p:spPr>
      </p:sp>
      <p:sp>
        <p:nvSpPr>
          <p:cNvPr id="35" name="Shape 33"/>
          <p:cNvSpPr/>
          <p:nvPr/>
        </p:nvSpPr>
        <p:spPr>
          <a:xfrm>
            <a:off x="8924544" y="2834640"/>
            <a:ext cx="2596896" cy="502920"/>
          </a:xfrm>
          <a:prstGeom prst="rect">
            <a:avLst/>
          </a:prstGeom>
          <a:solidFill>
            <a:srgbClr val="3E5C8A"/>
          </a:solidFill>
          <a:ln/>
        </p:spPr>
      </p:sp>
      <p:sp>
        <p:nvSpPr>
          <p:cNvPr id="36" name="Text 34"/>
          <p:cNvSpPr txBox="1"/>
          <p:nvPr/>
        </p:nvSpPr>
        <p:spPr>
          <a:xfrm>
            <a:off x="9070848" y="2834640"/>
            <a:ext cx="2304288" cy="50292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Route to market</a:t>
            </a:r>
            <a:endParaRPr lang="en-US" sz="1150" dirty="0"/>
          </a:p>
        </p:txBody>
      </p:sp>
      <p:sp>
        <p:nvSpPr>
          <p:cNvPr id="37" name="Text 35"/>
          <p:cNvSpPr txBox="1"/>
          <p:nvPr/>
        </p:nvSpPr>
        <p:spPr>
          <a:xfrm>
            <a:off x="9125712" y="3547872"/>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Alliances</a:t>
            </a:r>
            <a:endParaRPr lang="en-US" sz="1050" dirty="0"/>
          </a:p>
        </p:txBody>
      </p:sp>
      <p:sp>
        <p:nvSpPr>
          <p:cNvPr id="38" name="Shape 36"/>
          <p:cNvSpPr/>
          <p:nvPr/>
        </p:nvSpPr>
        <p:spPr>
          <a:xfrm>
            <a:off x="9125712" y="3867912"/>
            <a:ext cx="2194560" cy="0"/>
          </a:xfrm>
          <a:prstGeom prst="line">
            <a:avLst/>
          </a:prstGeom>
          <a:noFill/>
          <a:ln w="12700">
            <a:solidFill>
              <a:srgbClr val="E1E8F2"/>
            </a:solidFill>
            <a:prstDash val="solid"/>
          </a:ln>
        </p:spPr>
      </p:sp>
      <p:sp>
        <p:nvSpPr>
          <p:cNvPr id="39" name="Text 37"/>
          <p:cNvSpPr txBox="1"/>
          <p:nvPr/>
        </p:nvSpPr>
        <p:spPr>
          <a:xfrm>
            <a:off x="9125712" y="4114800"/>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Eminence</a:t>
            </a:r>
            <a:endParaRPr lang="en-US" sz="1050" dirty="0"/>
          </a:p>
        </p:txBody>
      </p:sp>
      <p:sp>
        <p:nvSpPr>
          <p:cNvPr id="40" name="Shape 38"/>
          <p:cNvSpPr/>
          <p:nvPr/>
        </p:nvSpPr>
        <p:spPr>
          <a:xfrm>
            <a:off x="9125712" y="4434840"/>
            <a:ext cx="2194560" cy="0"/>
          </a:xfrm>
          <a:prstGeom prst="line">
            <a:avLst/>
          </a:prstGeom>
          <a:noFill/>
          <a:ln w="12700">
            <a:solidFill>
              <a:srgbClr val="E1E8F2"/>
            </a:solidFill>
            <a:prstDash val="solid"/>
          </a:ln>
        </p:spPr>
      </p:sp>
      <p:sp>
        <p:nvSpPr>
          <p:cNvPr id="41" name="Text 39"/>
          <p:cNvSpPr txBox="1"/>
          <p:nvPr/>
        </p:nvSpPr>
        <p:spPr>
          <a:xfrm>
            <a:off x="9125712" y="4681728"/>
            <a:ext cx="1417320" cy="274320"/>
          </a:xfrm>
          <a:prstGeom prst="rect">
            <a:avLst/>
          </a:prstGeom>
          <a:noFill/>
          <a:ln/>
        </p:spPr>
        <p:txBody>
          <a:bodyPr wrap="square" lIns="0" tIns="0" rIns="0" bIns="0" rtlCol="0" anchor="ctr"/>
          <a:lstStyle/>
          <a:p>
            <a:pPr indent="0" marL="0">
              <a:buNone/>
            </a:pPr>
            <a:r>
              <a:rPr lang="en-US" sz="1050" dirty="0">
                <a:solidFill>
                  <a:srgbClr val="8792AB"/>
                </a:solidFill>
                <a:latin typeface="Calibri" pitchFamily="34" charset="0"/>
                <a:ea typeface="Calibri" pitchFamily="34" charset="-122"/>
                <a:cs typeface="Calibri" pitchFamily="34" charset="-120"/>
              </a:rPr>
              <a:t>Differentiation</a:t>
            </a:r>
            <a:endParaRPr lang="en-US" sz="1050" dirty="0"/>
          </a:p>
        </p:txBody>
      </p:sp>
      <p:sp>
        <p:nvSpPr>
          <p:cNvPr id="42" name="Shape 40"/>
          <p:cNvSpPr/>
          <p:nvPr/>
        </p:nvSpPr>
        <p:spPr>
          <a:xfrm>
            <a:off x="9125712" y="5001768"/>
            <a:ext cx="2194560" cy="0"/>
          </a:xfrm>
          <a:prstGeom prst="line">
            <a:avLst/>
          </a:prstGeom>
          <a:noFill/>
          <a:ln w="12700">
            <a:solidFill>
              <a:srgbClr val="E1E8F2"/>
            </a:solidFill>
            <a:prstDash val="solid"/>
          </a:ln>
        </p:spPr>
      </p:sp>
      <p:sp>
        <p:nvSpPr>
          <p:cNvPr id="43" name="Shape 41"/>
          <p:cNvSpPr/>
          <p:nvPr/>
        </p:nvSpPr>
        <p:spPr>
          <a:xfrm>
            <a:off x="640080" y="5532120"/>
            <a:ext cx="10881360" cy="777240"/>
          </a:xfrm>
          <a:prstGeom prst="roundRect">
            <a:avLst>
              <a:gd name="adj" fmla="val 11765"/>
            </a:avLst>
          </a:prstGeom>
          <a:solidFill>
            <a:srgbClr val="FFFFFF"/>
          </a:solidFill>
          <a:ln w="15875">
            <a:solidFill>
              <a:srgbClr val="1E2761"/>
            </a:solidFill>
            <a:prstDash val="solid"/>
          </a:ln>
        </p:spPr>
      </p:sp>
      <p:sp>
        <p:nvSpPr>
          <p:cNvPr id="44" name="Text 42"/>
          <p:cNvSpPr txBox="1"/>
          <p:nvPr/>
        </p:nvSpPr>
        <p:spPr>
          <a:xfrm>
            <a:off x="914400" y="5532120"/>
            <a:ext cx="1828800" cy="777240"/>
          </a:xfrm>
          <a:prstGeom prst="rect">
            <a:avLst/>
          </a:prstGeom>
          <a:noFill/>
          <a:ln/>
        </p:spPr>
        <p:txBody>
          <a:bodyPr wrap="square" lIns="0" tIns="0" rIns="0" bIns="0" rtlCol="0" anchor="ctr"/>
          <a:lstStyle/>
          <a:p>
            <a:pPr indent="0" marL="0">
              <a:buNone/>
            </a:pPr>
            <a:r>
              <a:rPr lang="en-US" sz="1200" b="1" spc="150" kern="0" dirty="0">
                <a:solidFill>
                  <a:srgbClr val="1E2761"/>
                </a:solidFill>
                <a:latin typeface="Calibri" pitchFamily="34" charset="0"/>
                <a:ea typeface="Calibri" pitchFamily="34" charset="-122"/>
                <a:cs typeface="Calibri" pitchFamily="34" charset="-120"/>
              </a:rPr>
              <a:t>DISCIPLINE</a:t>
            </a:r>
            <a:endParaRPr lang="en-US" sz="1200" dirty="0"/>
          </a:p>
        </p:txBody>
      </p:sp>
      <p:sp>
        <p:nvSpPr>
          <p:cNvPr id="45" name="Shape 43"/>
          <p:cNvSpPr/>
          <p:nvPr/>
        </p:nvSpPr>
        <p:spPr>
          <a:xfrm>
            <a:off x="2926080" y="6062472"/>
            <a:ext cx="8321040" cy="0"/>
          </a:xfrm>
          <a:prstGeom prst="line">
            <a:avLst/>
          </a:prstGeom>
          <a:noFill/>
          <a:ln w="12700">
            <a:solidFill>
              <a:srgbClr val="C9D4E6"/>
            </a:solidFill>
            <a:prstDash val="solid"/>
          </a:ln>
        </p:spPr>
      </p:sp>
      <p:sp>
        <p:nvSpPr>
          <p:cNvPr id="46" name="Text 44"/>
          <p:cNvSpPr txBox="1"/>
          <p:nvPr/>
        </p:nvSpPr>
        <p:spPr>
          <a:xfrm>
            <a:off x="640080" y="6382512"/>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sheet, one version, dated. Everything behind it lives in the artefacts that follow.</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one-pager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One sheet per proposition in the catalogue. Every dimension on a single page.</a:t>
            </a:r>
            <a:endParaRPr lang="en-US" sz="1450" dirty="0"/>
          </a:p>
        </p:txBody>
      </p:sp>
      <p:sp>
        <p:nvSpPr>
          <p:cNvPr id="4" name="Shape 2"/>
          <p:cNvSpPr/>
          <p:nvPr/>
        </p:nvSpPr>
        <p:spPr>
          <a:xfrm>
            <a:off x="640080" y="1783080"/>
            <a:ext cx="10881360" cy="658368"/>
          </a:xfrm>
          <a:prstGeom prst="roundRect">
            <a:avLst>
              <a:gd name="adj" fmla="val 13889"/>
            </a:avLst>
          </a:prstGeom>
          <a:solidFill>
            <a:srgbClr val="1E2761"/>
          </a:solidFill>
          <a:ln/>
        </p:spPr>
      </p:sp>
      <p:sp>
        <p:nvSpPr>
          <p:cNvPr id="5" name="Text 3"/>
          <p:cNvSpPr txBox="1"/>
          <p:nvPr/>
        </p:nvSpPr>
        <p:spPr>
          <a:xfrm>
            <a:off x="914400" y="1783080"/>
            <a:ext cx="1920240" cy="658368"/>
          </a:xfrm>
          <a:prstGeom prst="rect">
            <a:avLst/>
          </a:prstGeom>
          <a:noFill/>
          <a:ln/>
        </p:spPr>
        <p:txBody>
          <a:bodyPr wrap="square" lIns="0" tIns="0" rIns="0" bIns="0" rtlCol="0" anchor="ctr"/>
          <a:lstStyle/>
          <a:p>
            <a:pPr indent="0" marL="0">
              <a:buNone/>
            </a:pPr>
            <a:r>
              <a:rPr lang="en-US" sz="1150" b="1" spc="150" kern="0" dirty="0">
                <a:solidFill>
                  <a:srgbClr val="CADCFC"/>
                </a:solidFill>
                <a:latin typeface="Calibri" pitchFamily="34" charset="0"/>
                <a:ea typeface="Calibri" pitchFamily="34" charset="-122"/>
                <a:cs typeface="Calibri" pitchFamily="34" charset="-120"/>
              </a:rPr>
              <a:t>PROPOSITION</a:t>
            </a:r>
            <a:endParaRPr lang="en-US" sz="1150" dirty="0"/>
          </a:p>
        </p:txBody>
      </p:sp>
      <p:sp>
        <p:nvSpPr>
          <p:cNvPr id="6" name="Shape 4"/>
          <p:cNvSpPr/>
          <p:nvPr/>
        </p:nvSpPr>
        <p:spPr>
          <a:xfrm>
            <a:off x="2926080" y="2212848"/>
            <a:ext cx="4937760" cy="0"/>
          </a:xfrm>
          <a:prstGeom prst="line">
            <a:avLst/>
          </a:prstGeom>
          <a:noFill/>
          <a:ln w="12700">
            <a:solidFill>
              <a:srgbClr val="5C6E96"/>
            </a:solidFill>
            <a:prstDash val="solid"/>
          </a:ln>
        </p:spPr>
      </p:sp>
      <p:sp>
        <p:nvSpPr>
          <p:cNvPr id="7" name="Text 5"/>
          <p:cNvSpPr txBox="1"/>
          <p:nvPr/>
        </p:nvSpPr>
        <p:spPr>
          <a:xfrm>
            <a:off x="8138160" y="1783080"/>
            <a:ext cx="2194560" cy="658368"/>
          </a:xfrm>
          <a:prstGeom prst="rect">
            <a:avLst/>
          </a:prstGeom>
          <a:noFill/>
          <a:ln/>
        </p:spPr>
        <p:txBody>
          <a:bodyPr wrap="square" lIns="0" tIns="0" rIns="0" bIns="0" rtlCol="0" anchor="ctr"/>
          <a:lstStyle/>
          <a:p>
            <a:pPr indent="0" marL="0">
              <a:buNone/>
            </a:pPr>
            <a:r>
              <a:rPr lang="en-US" sz="950" b="1" spc="100" kern="0" dirty="0">
                <a:solidFill>
                  <a:srgbClr val="9AA7C4"/>
                </a:solidFill>
                <a:latin typeface="Calibri" pitchFamily="34" charset="0"/>
                <a:ea typeface="Calibri" pitchFamily="34" charset="-122"/>
                <a:cs typeface="Calibri" pitchFamily="34" charset="-120"/>
              </a:rPr>
              <a:t>LEAD PILLAR / PRACTICE</a:t>
            </a:r>
            <a:endParaRPr lang="en-US" sz="950" dirty="0"/>
          </a:p>
        </p:txBody>
      </p:sp>
      <p:sp>
        <p:nvSpPr>
          <p:cNvPr id="8" name="Shape 6"/>
          <p:cNvSpPr/>
          <p:nvPr/>
        </p:nvSpPr>
        <p:spPr>
          <a:xfrm>
            <a:off x="10332720" y="2212848"/>
            <a:ext cx="1005840" cy="0"/>
          </a:xfrm>
          <a:prstGeom prst="line">
            <a:avLst/>
          </a:prstGeom>
          <a:noFill/>
          <a:ln w="12700">
            <a:solidFill>
              <a:srgbClr val="5C6E96"/>
            </a:solidFill>
            <a:prstDash val="solid"/>
          </a:ln>
        </p:spPr>
      </p:sp>
      <p:sp>
        <p:nvSpPr>
          <p:cNvPr id="9" name="Shape 7"/>
          <p:cNvSpPr/>
          <p:nvPr/>
        </p:nvSpPr>
        <p:spPr>
          <a:xfrm>
            <a:off x="640080" y="2606040"/>
            <a:ext cx="3520440" cy="1143000"/>
          </a:xfrm>
          <a:prstGeom prst="roundRect">
            <a:avLst>
              <a:gd name="adj" fmla="val 8000"/>
            </a:avLst>
          </a:prstGeom>
          <a:solidFill>
            <a:srgbClr val="FFFFFF"/>
          </a:solidFill>
          <a:ln w="12700">
            <a:solidFill>
              <a:srgbClr val="C9D4E6"/>
            </a:solidFill>
            <a:prstDash val="solid"/>
          </a:ln>
        </p:spPr>
      </p:sp>
      <p:sp>
        <p:nvSpPr>
          <p:cNvPr id="10" name="Text 8"/>
          <p:cNvSpPr txBox="1"/>
          <p:nvPr/>
        </p:nvSpPr>
        <p:spPr>
          <a:xfrm>
            <a:off x="822960"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What it is, and the use cases we lead with</a:t>
            </a:r>
            <a:endParaRPr lang="en-US" sz="1050" dirty="0"/>
          </a:p>
        </p:txBody>
      </p:sp>
      <p:sp>
        <p:nvSpPr>
          <p:cNvPr id="11" name="Shape 9"/>
          <p:cNvSpPr/>
          <p:nvPr/>
        </p:nvSpPr>
        <p:spPr>
          <a:xfrm>
            <a:off x="822960" y="3264408"/>
            <a:ext cx="3154680" cy="0"/>
          </a:xfrm>
          <a:prstGeom prst="line">
            <a:avLst/>
          </a:prstGeom>
          <a:noFill/>
          <a:ln w="12700">
            <a:solidFill>
              <a:srgbClr val="E1E8F2"/>
            </a:solidFill>
            <a:prstDash val="solid"/>
          </a:ln>
        </p:spPr>
      </p:sp>
      <p:sp>
        <p:nvSpPr>
          <p:cNvPr id="12" name="Shape 10"/>
          <p:cNvSpPr/>
          <p:nvPr/>
        </p:nvSpPr>
        <p:spPr>
          <a:xfrm>
            <a:off x="822960" y="3557016"/>
            <a:ext cx="3154680" cy="0"/>
          </a:xfrm>
          <a:prstGeom prst="line">
            <a:avLst/>
          </a:prstGeom>
          <a:noFill/>
          <a:ln w="12700">
            <a:solidFill>
              <a:srgbClr val="E1E8F2"/>
            </a:solidFill>
            <a:prstDash val="solid"/>
          </a:ln>
        </p:spPr>
      </p:sp>
      <p:sp>
        <p:nvSpPr>
          <p:cNvPr id="13" name="Shape 11"/>
          <p:cNvSpPr/>
          <p:nvPr/>
        </p:nvSpPr>
        <p:spPr>
          <a:xfrm>
            <a:off x="4325112" y="2606040"/>
            <a:ext cx="3520440" cy="1143000"/>
          </a:xfrm>
          <a:prstGeom prst="roundRect">
            <a:avLst>
              <a:gd name="adj" fmla="val 8000"/>
            </a:avLst>
          </a:prstGeom>
          <a:solidFill>
            <a:srgbClr val="FFFFFF"/>
          </a:solidFill>
          <a:ln w="12700">
            <a:solidFill>
              <a:srgbClr val="C9D4E6"/>
            </a:solidFill>
            <a:prstDash val="solid"/>
          </a:ln>
        </p:spPr>
      </p:sp>
      <p:sp>
        <p:nvSpPr>
          <p:cNvPr id="14" name="Text 12"/>
          <p:cNvSpPr txBox="1"/>
          <p:nvPr/>
        </p:nvSpPr>
        <p:spPr>
          <a:xfrm>
            <a:off x="4507992"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Buyer and client segments</a:t>
            </a:r>
            <a:endParaRPr lang="en-US" sz="1050" dirty="0"/>
          </a:p>
        </p:txBody>
      </p:sp>
      <p:sp>
        <p:nvSpPr>
          <p:cNvPr id="15" name="Shape 13"/>
          <p:cNvSpPr/>
          <p:nvPr/>
        </p:nvSpPr>
        <p:spPr>
          <a:xfrm>
            <a:off x="4507992" y="3264408"/>
            <a:ext cx="3154680" cy="0"/>
          </a:xfrm>
          <a:prstGeom prst="line">
            <a:avLst/>
          </a:prstGeom>
          <a:noFill/>
          <a:ln w="12700">
            <a:solidFill>
              <a:srgbClr val="E1E8F2"/>
            </a:solidFill>
            <a:prstDash val="solid"/>
          </a:ln>
        </p:spPr>
      </p:sp>
      <p:sp>
        <p:nvSpPr>
          <p:cNvPr id="16" name="Shape 14"/>
          <p:cNvSpPr/>
          <p:nvPr/>
        </p:nvSpPr>
        <p:spPr>
          <a:xfrm>
            <a:off x="4507992" y="3557016"/>
            <a:ext cx="3154680" cy="0"/>
          </a:xfrm>
          <a:prstGeom prst="line">
            <a:avLst/>
          </a:prstGeom>
          <a:noFill/>
          <a:ln w="12700">
            <a:solidFill>
              <a:srgbClr val="E1E8F2"/>
            </a:solidFill>
            <a:prstDash val="solid"/>
          </a:ln>
        </p:spPr>
      </p:sp>
      <p:sp>
        <p:nvSpPr>
          <p:cNvPr id="17" name="Shape 15"/>
          <p:cNvSpPr/>
          <p:nvPr/>
        </p:nvSpPr>
        <p:spPr>
          <a:xfrm>
            <a:off x="8010144" y="2606040"/>
            <a:ext cx="3520440" cy="1143000"/>
          </a:xfrm>
          <a:prstGeom prst="roundRect">
            <a:avLst>
              <a:gd name="adj" fmla="val 8000"/>
            </a:avLst>
          </a:prstGeom>
          <a:solidFill>
            <a:srgbClr val="FFFFFF"/>
          </a:solidFill>
          <a:ln w="12700">
            <a:solidFill>
              <a:srgbClr val="C9D4E6"/>
            </a:solidFill>
            <a:prstDash val="solid"/>
          </a:ln>
        </p:spPr>
      </p:sp>
      <p:sp>
        <p:nvSpPr>
          <p:cNvPr id="18" name="Text 16"/>
          <p:cNvSpPr txBox="1"/>
          <p:nvPr/>
        </p:nvSpPr>
        <p:spPr>
          <a:xfrm>
            <a:off x="8193024" y="267919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Permitted flavours and variants</a:t>
            </a:r>
            <a:endParaRPr lang="en-US" sz="1050" dirty="0"/>
          </a:p>
        </p:txBody>
      </p:sp>
      <p:sp>
        <p:nvSpPr>
          <p:cNvPr id="19" name="Shape 17"/>
          <p:cNvSpPr/>
          <p:nvPr/>
        </p:nvSpPr>
        <p:spPr>
          <a:xfrm>
            <a:off x="8193024" y="3264408"/>
            <a:ext cx="3154680" cy="0"/>
          </a:xfrm>
          <a:prstGeom prst="line">
            <a:avLst/>
          </a:prstGeom>
          <a:noFill/>
          <a:ln w="12700">
            <a:solidFill>
              <a:srgbClr val="E1E8F2"/>
            </a:solidFill>
            <a:prstDash val="solid"/>
          </a:ln>
        </p:spPr>
      </p:sp>
      <p:sp>
        <p:nvSpPr>
          <p:cNvPr id="20" name="Shape 18"/>
          <p:cNvSpPr/>
          <p:nvPr/>
        </p:nvSpPr>
        <p:spPr>
          <a:xfrm>
            <a:off x="8193024" y="3557016"/>
            <a:ext cx="3154680" cy="0"/>
          </a:xfrm>
          <a:prstGeom prst="line">
            <a:avLst/>
          </a:prstGeom>
          <a:noFill/>
          <a:ln w="12700">
            <a:solidFill>
              <a:srgbClr val="E1E8F2"/>
            </a:solidFill>
            <a:prstDash val="solid"/>
          </a:ln>
        </p:spPr>
      </p:sp>
      <p:sp>
        <p:nvSpPr>
          <p:cNvPr id="21" name="Shape 19"/>
          <p:cNvSpPr/>
          <p:nvPr/>
        </p:nvSpPr>
        <p:spPr>
          <a:xfrm>
            <a:off x="640080" y="3886200"/>
            <a:ext cx="3520440" cy="1143000"/>
          </a:xfrm>
          <a:prstGeom prst="roundRect">
            <a:avLst>
              <a:gd name="adj" fmla="val 8000"/>
            </a:avLst>
          </a:prstGeom>
          <a:solidFill>
            <a:srgbClr val="FFFFFF"/>
          </a:solidFill>
          <a:ln w="12700">
            <a:solidFill>
              <a:srgbClr val="C9D4E6"/>
            </a:solidFill>
            <a:prstDash val="solid"/>
          </a:ln>
        </p:spPr>
      </p:sp>
      <p:sp>
        <p:nvSpPr>
          <p:cNvPr id="22" name="Text 20"/>
          <p:cNvSpPr txBox="1"/>
          <p:nvPr/>
        </p:nvSpPr>
        <p:spPr>
          <a:xfrm>
            <a:off x="822960"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Target markets and accounts</a:t>
            </a:r>
            <a:endParaRPr lang="en-US" sz="1050" dirty="0"/>
          </a:p>
        </p:txBody>
      </p:sp>
      <p:sp>
        <p:nvSpPr>
          <p:cNvPr id="23" name="Shape 21"/>
          <p:cNvSpPr/>
          <p:nvPr/>
        </p:nvSpPr>
        <p:spPr>
          <a:xfrm>
            <a:off x="822960" y="4544568"/>
            <a:ext cx="3154680" cy="0"/>
          </a:xfrm>
          <a:prstGeom prst="line">
            <a:avLst/>
          </a:prstGeom>
          <a:noFill/>
          <a:ln w="12700">
            <a:solidFill>
              <a:srgbClr val="E1E8F2"/>
            </a:solidFill>
            <a:prstDash val="solid"/>
          </a:ln>
        </p:spPr>
      </p:sp>
      <p:sp>
        <p:nvSpPr>
          <p:cNvPr id="24" name="Shape 22"/>
          <p:cNvSpPr/>
          <p:nvPr/>
        </p:nvSpPr>
        <p:spPr>
          <a:xfrm>
            <a:off x="822960" y="4837176"/>
            <a:ext cx="3154680" cy="0"/>
          </a:xfrm>
          <a:prstGeom prst="line">
            <a:avLst/>
          </a:prstGeom>
          <a:noFill/>
          <a:ln w="12700">
            <a:solidFill>
              <a:srgbClr val="E1E8F2"/>
            </a:solidFill>
            <a:prstDash val="solid"/>
          </a:ln>
        </p:spPr>
      </p:sp>
      <p:sp>
        <p:nvSpPr>
          <p:cNvPr id="25" name="Shape 23"/>
          <p:cNvSpPr/>
          <p:nvPr/>
        </p:nvSpPr>
        <p:spPr>
          <a:xfrm>
            <a:off x="4325112" y="3886200"/>
            <a:ext cx="3520440" cy="1143000"/>
          </a:xfrm>
          <a:prstGeom prst="roundRect">
            <a:avLst>
              <a:gd name="adj" fmla="val 8000"/>
            </a:avLst>
          </a:prstGeom>
          <a:solidFill>
            <a:srgbClr val="FFFFFF"/>
          </a:solidFill>
          <a:ln w="12700">
            <a:solidFill>
              <a:srgbClr val="C9D4E6"/>
            </a:solidFill>
            <a:prstDash val="solid"/>
          </a:ln>
        </p:spPr>
      </p:sp>
      <p:sp>
        <p:nvSpPr>
          <p:cNvPr id="26" name="Text 24"/>
          <p:cNvSpPr txBox="1"/>
          <p:nvPr/>
        </p:nvSpPr>
        <p:spPr>
          <a:xfrm>
            <a:off x="4507992"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Deal size and price band</a:t>
            </a:r>
            <a:endParaRPr lang="en-US" sz="1050" dirty="0"/>
          </a:p>
        </p:txBody>
      </p:sp>
      <p:sp>
        <p:nvSpPr>
          <p:cNvPr id="27" name="Shape 25"/>
          <p:cNvSpPr/>
          <p:nvPr/>
        </p:nvSpPr>
        <p:spPr>
          <a:xfrm>
            <a:off x="4507992" y="4544568"/>
            <a:ext cx="3154680" cy="0"/>
          </a:xfrm>
          <a:prstGeom prst="line">
            <a:avLst/>
          </a:prstGeom>
          <a:noFill/>
          <a:ln w="12700">
            <a:solidFill>
              <a:srgbClr val="E1E8F2"/>
            </a:solidFill>
            <a:prstDash val="solid"/>
          </a:ln>
        </p:spPr>
      </p:sp>
      <p:sp>
        <p:nvSpPr>
          <p:cNvPr id="28" name="Shape 26"/>
          <p:cNvSpPr/>
          <p:nvPr/>
        </p:nvSpPr>
        <p:spPr>
          <a:xfrm>
            <a:off x="4507992" y="4837176"/>
            <a:ext cx="3154680" cy="0"/>
          </a:xfrm>
          <a:prstGeom prst="line">
            <a:avLst/>
          </a:prstGeom>
          <a:noFill/>
          <a:ln w="12700">
            <a:solidFill>
              <a:srgbClr val="E1E8F2"/>
            </a:solidFill>
            <a:prstDash val="solid"/>
          </a:ln>
        </p:spPr>
      </p:sp>
      <p:sp>
        <p:nvSpPr>
          <p:cNvPr id="29" name="Shape 27"/>
          <p:cNvSpPr/>
          <p:nvPr/>
        </p:nvSpPr>
        <p:spPr>
          <a:xfrm>
            <a:off x="8010144" y="3886200"/>
            <a:ext cx="3520440" cy="1143000"/>
          </a:xfrm>
          <a:prstGeom prst="roundRect">
            <a:avLst>
              <a:gd name="adj" fmla="val 8000"/>
            </a:avLst>
          </a:prstGeom>
          <a:solidFill>
            <a:srgbClr val="FFFFFF"/>
          </a:solidFill>
          <a:ln w="12700">
            <a:solidFill>
              <a:srgbClr val="C9D4E6"/>
            </a:solidFill>
            <a:prstDash val="solid"/>
          </a:ln>
        </p:spPr>
      </p:sp>
      <p:sp>
        <p:nvSpPr>
          <p:cNvPr id="30" name="Text 28"/>
          <p:cNvSpPr txBox="1"/>
          <p:nvPr/>
        </p:nvSpPr>
        <p:spPr>
          <a:xfrm>
            <a:off x="8193024" y="395935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Delivery construct, ADR and target margin</a:t>
            </a:r>
            <a:endParaRPr lang="en-US" sz="1050" dirty="0"/>
          </a:p>
        </p:txBody>
      </p:sp>
      <p:sp>
        <p:nvSpPr>
          <p:cNvPr id="31" name="Shape 29"/>
          <p:cNvSpPr/>
          <p:nvPr/>
        </p:nvSpPr>
        <p:spPr>
          <a:xfrm>
            <a:off x="8193024" y="4544568"/>
            <a:ext cx="3154680" cy="0"/>
          </a:xfrm>
          <a:prstGeom prst="line">
            <a:avLst/>
          </a:prstGeom>
          <a:noFill/>
          <a:ln w="12700">
            <a:solidFill>
              <a:srgbClr val="E1E8F2"/>
            </a:solidFill>
            <a:prstDash val="solid"/>
          </a:ln>
        </p:spPr>
      </p:sp>
      <p:sp>
        <p:nvSpPr>
          <p:cNvPr id="32" name="Shape 30"/>
          <p:cNvSpPr/>
          <p:nvPr/>
        </p:nvSpPr>
        <p:spPr>
          <a:xfrm>
            <a:off x="8193024" y="4837176"/>
            <a:ext cx="3154680" cy="0"/>
          </a:xfrm>
          <a:prstGeom prst="line">
            <a:avLst/>
          </a:prstGeom>
          <a:noFill/>
          <a:ln w="12700">
            <a:solidFill>
              <a:srgbClr val="E1E8F2"/>
            </a:solidFill>
            <a:prstDash val="solid"/>
          </a:ln>
        </p:spPr>
      </p:sp>
      <p:sp>
        <p:nvSpPr>
          <p:cNvPr id="33" name="Shape 31"/>
          <p:cNvSpPr/>
          <p:nvPr/>
        </p:nvSpPr>
        <p:spPr>
          <a:xfrm>
            <a:off x="640080" y="5166360"/>
            <a:ext cx="3520440" cy="1143000"/>
          </a:xfrm>
          <a:prstGeom prst="roundRect">
            <a:avLst>
              <a:gd name="adj" fmla="val 8000"/>
            </a:avLst>
          </a:prstGeom>
          <a:solidFill>
            <a:srgbClr val="FFFFFF"/>
          </a:solidFill>
          <a:ln w="12700">
            <a:solidFill>
              <a:srgbClr val="C9D4E6"/>
            </a:solidFill>
            <a:prstDash val="solid"/>
          </a:ln>
        </p:spPr>
      </p:sp>
      <p:sp>
        <p:nvSpPr>
          <p:cNvPr id="34" name="Text 32"/>
          <p:cNvSpPr txBox="1"/>
          <p:nvPr/>
        </p:nvSpPr>
        <p:spPr>
          <a:xfrm>
            <a:off x="822960"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AI and innovation embedded in it</a:t>
            </a:r>
            <a:endParaRPr lang="en-US" sz="1050" dirty="0"/>
          </a:p>
        </p:txBody>
      </p:sp>
      <p:sp>
        <p:nvSpPr>
          <p:cNvPr id="35" name="Shape 33"/>
          <p:cNvSpPr/>
          <p:nvPr/>
        </p:nvSpPr>
        <p:spPr>
          <a:xfrm>
            <a:off x="822960" y="5824728"/>
            <a:ext cx="3154680" cy="0"/>
          </a:xfrm>
          <a:prstGeom prst="line">
            <a:avLst/>
          </a:prstGeom>
          <a:noFill/>
          <a:ln w="12700">
            <a:solidFill>
              <a:srgbClr val="E1E8F2"/>
            </a:solidFill>
            <a:prstDash val="solid"/>
          </a:ln>
        </p:spPr>
      </p:sp>
      <p:sp>
        <p:nvSpPr>
          <p:cNvPr id="36" name="Shape 34"/>
          <p:cNvSpPr/>
          <p:nvPr/>
        </p:nvSpPr>
        <p:spPr>
          <a:xfrm>
            <a:off x="822960" y="6117336"/>
            <a:ext cx="3154680" cy="0"/>
          </a:xfrm>
          <a:prstGeom prst="line">
            <a:avLst/>
          </a:prstGeom>
          <a:noFill/>
          <a:ln w="12700">
            <a:solidFill>
              <a:srgbClr val="E1E8F2"/>
            </a:solidFill>
            <a:prstDash val="solid"/>
          </a:ln>
        </p:spPr>
      </p:sp>
      <p:sp>
        <p:nvSpPr>
          <p:cNvPr id="37" name="Shape 35"/>
          <p:cNvSpPr/>
          <p:nvPr/>
        </p:nvSpPr>
        <p:spPr>
          <a:xfrm>
            <a:off x="4325112" y="5166360"/>
            <a:ext cx="3520440" cy="1143000"/>
          </a:xfrm>
          <a:prstGeom prst="roundRect">
            <a:avLst>
              <a:gd name="adj" fmla="val 8000"/>
            </a:avLst>
          </a:prstGeom>
          <a:solidFill>
            <a:srgbClr val="FFFFFF"/>
          </a:solidFill>
          <a:ln w="12700">
            <a:solidFill>
              <a:srgbClr val="C9D4E6"/>
            </a:solidFill>
            <a:prstDash val="solid"/>
          </a:ln>
        </p:spPr>
      </p:sp>
      <p:sp>
        <p:nvSpPr>
          <p:cNvPr id="38" name="Text 36"/>
          <p:cNvSpPr txBox="1"/>
          <p:nvPr/>
        </p:nvSpPr>
        <p:spPr>
          <a:xfrm>
            <a:off x="4507992"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Alliance behind it, and what they bring</a:t>
            </a:r>
            <a:endParaRPr lang="en-US" sz="1050" dirty="0"/>
          </a:p>
        </p:txBody>
      </p:sp>
      <p:sp>
        <p:nvSpPr>
          <p:cNvPr id="39" name="Shape 37"/>
          <p:cNvSpPr/>
          <p:nvPr/>
        </p:nvSpPr>
        <p:spPr>
          <a:xfrm>
            <a:off x="4507992" y="5824728"/>
            <a:ext cx="3154680" cy="0"/>
          </a:xfrm>
          <a:prstGeom prst="line">
            <a:avLst/>
          </a:prstGeom>
          <a:noFill/>
          <a:ln w="12700">
            <a:solidFill>
              <a:srgbClr val="E1E8F2"/>
            </a:solidFill>
            <a:prstDash val="solid"/>
          </a:ln>
        </p:spPr>
      </p:sp>
      <p:sp>
        <p:nvSpPr>
          <p:cNvPr id="40" name="Shape 38"/>
          <p:cNvSpPr/>
          <p:nvPr/>
        </p:nvSpPr>
        <p:spPr>
          <a:xfrm>
            <a:off x="4507992" y="6117336"/>
            <a:ext cx="3154680" cy="0"/>
          </a:xfrm>
          <a:prstGeom prst="line">
            <a:avLst/>
          </a:prstGeom>
          <a:noFill/>
          <a:ln w="12700">
            <a:solidFill>
              <a:srgbClr val="E1E8F2"/>
            </a:solidFill>
            <a:prstDash val="solid"/>
          </a:ln>
        </p:spPr>
      </p:sp>
      <p:sp>
        <p:nvSpPr>
          <p:cNvPr id="41" name="Shape 39"/>
          <p:cNvSpPr/>
          <p:nvPr/>
        </p:nvSpPr>
        <p:spPr>
          <a:xfrm>
            <a:off x="8010144" y="5166360"/>
            <a:ext cx="3520440" cy="1143000"/>
          </a:xfrm>
          <a:prstGeom prst="roundRect">
            <a:avLst>
              <a:gd name="adj" fmla="val 8000"/>
            </a:avLst>
          </a:prstGeom>
          <a:solidFill>
            <a:srgbClr val="FFFFFF"/>
          </a:solidFill>
          <a:ln w="12700">
            <a:solidFill>
              <a:srgbClr val="C9D4E6"/>
            </a:solidFill>
            <a:prstDash val="solid"/>
          </a:ln>
        </p:spPr>
      </p:sp>
      <p:sp>
        <p:nvSpPr>
          <p:cNvPr id="42" name="Text 40"/>
          <p:cNvSpPr txBox="1"/>
          <p:nvPr/>
        </p:nvSpPr>
        <p:spPr>
          <a:xfrm>
            <a:off x="8193024" y="5239512"/>
            <a:ext cx="3154680" cy="411480"/>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Credentials, eminence hooks and key roles</a:t>
            </a:r>
            <a:endParaRPr lang="en-US" sz="1050" dirty="0"/>
          </a:p>
        </p:txBody>
      </p:sp>
      <p:sp>
        <p:nvSpPr>
          <p:cNvPr id="43" name="Shape 41"/>
          <p:cNvSpPr/>
          <p:nvPr/>
        </p:nvSpPr>
        <p:spPr>
          <a:xfrm>
            <a:off x="8193024" y="5824728"/>
            <a:ext cx="3154680" cy="0"/>
          </a:xfrm>
          <a:prstGeom prst="line">
            <a:avLst/>
          </a:prstGeom>
          <a:noFill/>
          <a:ln w="12700">
            <a:solidFill>
              <a:srgbClr val="E1E8F2"/>
            </a:solidFill>
            <a:prstDash val="solid"/>
          </a:ln>
        </p:spPr>
      </p:sp>
      <p:sp>
        <p:nvSpPr>
          <p:cNvPr id="44" name="Shape 42"/>
          <p:cNvSpPr/>
          <p:nvPr/>
        </p:nvSpPr>
        <p:spPr>
          <a:xfrm>
            <a:off x="8193024" y="6117336"/>
            <a:ext cx="3154680" cy="0"/>
          </a:xfrm>
          <a:prstGeom prst="line">
            <a:avLst/>
          </a:prstGeom>
          <a:noFill/>
          <a:ln w="12700">
            <a:solidFill>
              <a:srgbClr val="E1E8F2"/>
            </a:solidFill>
            <a:prstDash val="solid"/>
          </a:ln>
        </p:spPr>
      </p:sp>
      <p:sp>
        <p:nvSpPr>
          <p:cNvPr id="45" name="Text 43"/>
          <p:cNvSpPr txBox="1"/>
          <p:nvPr/>
        </p:nvSpPr>
        <p:spPr>
          <a:xfrm>
            <a:off x="640080" y="6400800"/>
            <a:ext cx="10881360" cy="320040"/>
          </a:xfrm>
          <a:prstGeom prst="rect">
            <a:avLst/>
          </a:prstGeom>
          <a:noFill/>
          <a:ln/>
        </p:spPr>
        <p:txBody>
          <a:bodyPr wrap="square" lIns="0" tIns="0" rIns="0" bIns="0" rtlCol="0" anchor="ctr"/>
          <a:lstStyle/>
          <a:p>
            <a:pPr indent="0" marL="0">
              <a:buNone/>
            </a:pPr>
            <a:r>
              <a:rPr lang="en-US" sz="1100" i="1" dirty="0">
                <a:solidFill>
                  <a:srgbClr val="8792AB"/>
                </a:solidFill>
                <a:latin typeface="Calibri" pitchFamily="34" charset="0"/>
                <a:ea typeface="Calibri" pitchFamily="34" charset="-122"/>
                <a:cs typeface="Calibri" pitchFamily="34" charset="-120"/>
              </a:rPr>
              <a:t>One page per proposition. If a box cannot be filled, the proposition is not ready for the catalogue.</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market.</a:t>
            </a:r>
            <a:endParaRPr lang="en-US" sz="14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Priority</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Priority: primary, secondary or watch. Rationale should stand on evidence, not familiarity.</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named account.</a:t>
            </a:r>
            <a:endParaRPr lang="en-US" sz="14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188720"/>
                <a:gridCol w="1280160"/>
                <a:gridCol w="2926080"/>
                <a:gridCol w="1371600"/>
                <a:gridCol w="1097280"/>
                <a:gridCol w="9144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we target there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85292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8" name="Text 5"/>
          <p:cNvSpPr txBox="1"/>
          <p:nvPr/>
        </p:nvSpPr>
        <p:spPr>
          <a:xfrm>
            <a:off x="40416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9" name="Text 6"/>
          <p:cNvSpPr txBox="1"/>
          <p:nvPr/>
        </p:nvSpPr>
        <p:spPr>
          <a:xfrm>
            <a:off x="532180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we target there</a:t>
            </a:r>
            <a:endParaRPr lang="en-US" sz="1150" dirty="0"/>
          </a:p>
        </p:txBody>
      </p:sp>
      <p:sp>
        <p:nvSpPr>
          <p:cNvPr id="10" name="Text 7"/>
          <p:cNvSpPr txBox="1"/>
          <p:nvPr/>
        </p:nvSpPr>
        <p:spPr>
          <a:xfrm>
            <a:off x="82478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1" name="Text 8"/>
          <p:cNvSpPr txBox="1"/>
          <p:nvPr/>
        </p:nvSpPr>
        <p:spPr>
          <a:xfrm>
            <a:off x="96194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2" name="Text 9"/>
          <p:cNvSpPr txBox="1"/>
          <p:nvPr/>
        </p:nvSpPr>
        <p:spPr>
          <a:xfrm>
            <a:off x="1071676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Stage: relationship only, qualified, active pursuit. Every account carries exactly one owner.</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account revenue plan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account and offering.</a:t>
            </a:r>
            <a:endParaRPr lang="en-US" sz="14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286000"/>
                <a:gridCol w="2743200"/>
                <a:gridCol w="1371600"/>
                <a:gridCol w="1554480"/>
                <a:gridCol w="1554480"/>
                <a:gridCol w="13716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 targeted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Timeframe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Gross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 revenue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Confidence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031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03580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 targeted</a:t>
            </a:r>
            <a:endParaRPr lang="en-US" sz="1150" dirty="0"/>
          </a:p>
        </p:txBody>
      </p:sp>
      <p:sp>
        <p:nvSpPr>
          <p:cNvPr id="8" name="Text 5"/>
          <p:cNvSpPr txBox="1"/>
          <p:nvPr/>
        </p:nvSpPr>
        <p:spPr>
          <a:xfrm>
            <a:off x="577900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Timeframe</a:t>
            </a:r>
            <a:endParaRPr lang="en-US" sz="1150" dirty="0"/>
          </a:p>
        </p:txBody>
      </p:sp>
      <p:sp>
        <p:nvSpPr>
          <p:cNvPr id="9" name="Text 6"/>
          <p:cNvSpPr txBox="1"/>
          <p:nvPr/>
        </p:nvSpPr>
        <p:spPr>
          <a:xfrm>
            <a:off x="715060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Gross revenue</a:t>
            </a:r>
            <a:endParaRPr lang="en-US" sz="1150" dirty="0"/>
          </a:p>
        </p:txBody>
      </p:sp>
      <p:sp>
        <p:nvSpPr>
          <p:cNvPr id="10" name="Text 7"/>
          <p:cNvSpPr txBox="1"/>
          <p:nvPr/>
        </p:nvSpPr>
        <p:spPr>
          <a:xfrm>
            <a:off x="8705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Net revenue</a:t>
            </a:r>
            <a:endParaRPr lang="en-US" sz="1150" dirty="0"/>
          </a:p>
        </p:txBody>
      </p:sp>
      <p:sp>
        <p:nvSpPr>
          <p:cNvPr id="11" name="Text 8"/>
          <p:cNvSpPr txBox="1"/>
          <p:nvPr/>
        </p:nvSpPr>
        <p:spPr>
          <a:xfrm>
            <a:off x="102595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Confidence</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Gross and net on every line. The account total and the market total must reconcile to the portfolio target.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1 · Market and clients · one row per priority account.</a:t>
            </a:r>
            <a:endParaRPr lang="en-US" sz="14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2 · Offerings · one row per integrated proposition.</a:t>
            </a:r>
            <a:endParaRPr lang="en-US" sz="14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011680"/>
                <a:gridCol w="23774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Lead 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Pillars involved</a:t>
            </a:r>
            <a:endParaRPr lang="en-US" sz="1150" dirty="0"/>
          </a:p>
        </p:txBody>
      </p:sp>
      <p:sp>
        <p:nvSpPr>
          <p:cNvPr id="8" name="Text 5"/>
          <p:cNvSpPr txBox="1"/>
          <p:nvPr/>
        </p:nvSpPr>
        <p:spPr>
          <a:xfrm>
            <a:off x="559612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a:t>
            </a:r>
            <a:endParaRPr lang="en-US" sz="1150" dirty="0"/>
          </a:p>
        </p:txBody>
      </p:sp>
      <p:sp>
        <p:nvSpPr>
          <p:cNvPr id="9" name="Text 6"/>
          <p:cNvSpPr txBox="1"/>
          <p:nvPr/>
        </p:nvSpPr>
        <p:spPr>
          <a:xfrm>
            <a:off x="7607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0" name="Text 7"/>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Lead pillar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offering economics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offering.</a:t>
            </a:r>
            <a:endParaRPr lang="en-US" sz="14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103120"/>
                <a:gridCol w="1280160"/>
                <a:gridCol w="1371600"/>
                <a:gridCol w="1280160"/>
                <a:gridCol w="128016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Price basis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Onshore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Nearshore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Offshore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Blended ADR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GM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Price basis</a:t>
            </a:r>
            <a:endParaRPr lang="en-US" sz="1150" dirty="0"/>
          </a:p>
        </p:txBody>
      </p:sp>
      <p:sp>
        <p:nvSpPr>
          <p:cNvPr id="8" name="Text 5"/>
          <p:cNvSpPr txBox="1"/>
          <p:nvPr/>
        </p:nvSpPr>
        <p:spPr>
          <a:xfrm>
            <a:off x="52303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Onshore %</a:t>
            </a:r>
            <a:endParaRPr lang="en-US" sz="1150" dirty="0"/>
          </a:p>
        </p:txBody>
      </p:sp>
      <p:sp>
        <p:nvSpPr>
          <p:cNvPr id="9" name="Text 6"/>
          <p:cNvSpPr txBox="1"/>
          <p:nvPr/>
        </p:nvSpPr>
        <p:spPr>
          <a:xfrm>
            <a:off x="651052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Nearshore %</a:t>
            </a:r>
            <a:endParaRPr lang="en-US" sz="1150" dirty="0"/>
          </a:p>
        </p:txBody>
      </p:sp>
      <p:sp>
        <p:nvSpPr>
          <p:cNvPr id="10" name="Text 7"/>
          <p:cNvSpPr txBox="1"/>
          <p:nvPr/>
        </p:nvSpPr>
        <p:spPr>
          <a:xfrm>
            <a:off x="78821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Offshore %</a:t>
            </a:r>
            <a:endParaRPr lang="en-US" sz="1150" dirty="0"/>
          </a:p>
        </p:txBody>
      </p:sp>
      <p:sp>
        <p:nvSpPr>
          <p:cNvPr id="11" name="Text 8"/>
          <p:cNvSpPr txBox="1"/>
          <p:nvPr/>
        </p:nvSpPr>
        <p:spPr>
          <a:xfrm>
            <a:off x="916228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Blended ADR</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GM</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The construct drives the rate, the rate drives the margin. Record the floor as well as the target.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market.</a:t>
            </a:r>
            <a:endParaRPr lang="en-US" sz="14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1920240"/>
                <a:gridCol w="1737360"/>
                <a:gridCol w="2011680"/>
                <a:gridCol w="155448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8" name="Text 5"/>
          <p:cNvSpPr txBox="1"/>
          <p:nvPr/>
        </p:nvSpPr>
        <p:spPr>
          <a:xfrm>
            <a:off x="48646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9" name="Text 6"/>
          <p:cNvSpPr txBox="1"/>
          <p:nvPr/>
        </p:nvSpPr>
        <p:spPr>
          <a:xfrm>
            <a:off x="660196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0" name="Text 7"/>
          <p:cNvSpPr txBox="1"/>
          <p:nvPr/>
        </p:nvSpPr>
        <p:spPr>
          <a:xfrm>
            <a:off x="861364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Set by market and offering, reconciled against the account revenue plan and against capacity.</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3 · Delivery and economics · one row per role and level.</a:t>
            </a:r>
            <a:endParaRPr lang="en-US" sz="14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alliance.</a:t>
            </a:r>
            <a:endParaRPr lang="en-US" sz="14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645920"/>
                <a:gridCol w="1554480"/>
                <a:gridCol w="2651760"/>
                <a:gridCol w="1463040"/>
                <a:gridCol w="20116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9572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8" name="Text 5"/>
          <p:cNvSpPr txBox="1"/>
          <p:nvPr/>
        </p:nvSpPr>
        <p:spPr>
          <a:xfrm>
            <a:off x="39502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it sits behind</a:t>
            </a:r>
            <a:endParaRPr lang="en-US" sz="1150" dirty="0"/>
          </a:p>
        </p:txBody>
      </p:sp>
      <p:sp>
        <p:nvSpPr>
          <p:cNvPr id="9" name="Text 6"/>
          <p:cNvSpPr txBox="1"/>
          <p:nvPr/>
        </p:nvSpPr>
        <p:spPr>
          <a:xfrm>
            <a:off x="66019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Markets</a:t>
            </a:r>
            <a:endParaRPr lang="en-US" sz="1150" dirty="0"/>
          </a:p>
        </p:txBody>
      </p:sp>
      <p:sp>
        <p:nvSpPr>
          <p:cNvPr id="10" name="Text 7"/>
          <p:cNvSpPr txBox="1"/>
          <p:nvPr/>
        </p:nvSpPr>
        <p:spPr>
          <a:xfrm>
            <a:off x="806500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Role: co-sell, resell, delivery partner or referral. Commitments run both ways.</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Pillar 4 · Route to market · one row per planned activity.</a:t>
            </a:r>
            <a:endParaRPr lang="en-US" sz="14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280160"/>
                <a:gridCol w="1554480"/>
                <a:gridCol w="2377440"/>
                <a:gridCol w="1280160"/>
                <a:gridCol w="1097280"/>
                <a:gridCol w="11887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audience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285292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Audience</a:t>
            </a:r>
            <a:endParaRPr lang="en-US" sz="1150" dirty="0"/>
          </a:p>
        </p:txBody>
      </p:sp>
      <p:sp>
        <p:nvSpPr>
          <p:cNvPr id="8" name="Text 5"/>
          <p:cNvSpPr txBox="1"/>
          <p:nvPr/>
        </p:nvSpPr>
        <p:spPr>
          <a:xfrm>
            <a:off x="41330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9" name="Text 6"/>
          <p:cNvSpPr txBox="1"/>
          <p:nvPr/>
        </p:nvSpPr>
        <p:spPr>
          <a:xfrm>
            <a:off x="568756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audience</a:t>
            </a:r>
            <a:endParaRPr lang="en-US" sz="1150" dirty="0"/>
          </a:p>
        </p:txBody>
      </p:sp>
      <p:sp>
        <p:nvSpPr>
          <p:cNvPr id="10" name="Text 7"/>
          <p:cNvSpPr txBox="1"/>
          <p:nvPr/>
        </p:nvSpPr>
        <p:spPr>
          <a:xfrm>
            <a:off x="806500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934516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2" name="Text 9"/>
          <p:cNvSpPr txBox="1"/>
          <p:nvPr/>
        </p:nvSpPr>
        <p:spPr>
          <a:xfrm>
            <a:off x="1044244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Audience: external client market, or internal — FS partners and directors in other portfolios.</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discipline · one row per measure.</a:t>
            </a:r>
            <a:endParaRPr lang="en-US" sz="14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2026-09-28T14:06:32Z</dcterms:created>
  <dcterms:modified xsi:type="dcterms:W3CDTF">2026-09-28T14:06:32Z</dcterms:modified>
</cp:coreProperties>
</file>