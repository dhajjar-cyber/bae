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delivery and capability: the integrated proposition catalogue and its permitted variants,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Twelve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three pillars, operating discipline</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Four workstreams, one per pillar</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Delivery and pricing economics</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Construct, price, ADR and margin</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Team and talent</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Eminence and positioning</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Alliances</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discipline · Governing the execution</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Rhythm and scorecard after sign-off</a:t>
            </a:r>
            <a:endParaRPr lang="en-US" sz="1100" dirty="0"/>
          </a:p>
        </p:txBody>
      </p:sp>
      <p:sp>
        <p:nvSpPr>
          <p:cNvPr id="59" name="Shape 57"/>
          <p:cNvSpPr/>
          <p:nvPr/>
        </p:nvSpPr>
        <p:spPr>
          <a:xfrm>
            <a:off x="6263640" y="5440680"/>
            <a:ext cx="5257800" cy="621792"/>
          </a:xfrm>
          <a:prstGeom prst="roundRect">
            <a:avLst>
              <a:gd name="adj" fmla="val 11765"/>
            </a:avLst>
          </a:prstGeom>
          <a:solidFill>
            <a:srgbClr val="EDF2FA"/>
          </a:solidFill>
          <a:ln/>
        </p:spPr>
      </p:sp>
      <p:sp>
        <p:nvSpPr>
          <p:cNvPr id="60" name="Shape 58"/>
          <p:cNvSpPr/>
          <p:nvPr/>
        </p:nvSpPr>
        <p:spPr>
          <a:xfrm>
            <a:off x="6464808" y="5550408"/>
            <a:ext cx="384048" cy="384048"/>
          </a:xfrm>
          <a:prstGeom prst="ellipse">
            <a:avLst/>
          </a:prstGeom>
          <a:solidFill>
            <a:srgbClr val="3E5C8A"/>
          </a:solidFill>
          <a:ln/>
        </p:spPr>
      </p:sp>
      <p:sp>
        <p:nvSpPr>
          <p:cNvPr id="61" name="Text 59"/>
          <p:cNvSpPr txBox="1"/>
          <p:nvPr/>
        </p:nvSpPr>
        <p:spPr>
          <a:xfrm>
            <a:off x="646480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704088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63" name="Text 61"/>
          <p:cNvSpPr txBox="1"/>
          <p:nvPr/>
        </p:nvSpPr>
        <p:spPr>
          <a:xfrm>
            <a:off x="704088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64" name="Text 62"/>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3520440" cy="2971800"/>
          </a:xfrm>
          <a:prstGeom prst="roundRect">
            <a:avLst>
              <a:gd name="adj" fmla="val 3692"/>
            </a:avLst>
          </a:prstGeom>
          <a:solidFill>
            <a:srgbClr val="E4EBF7"/>
          </a:solidFill>
          <a:ln/>
        </p:spPr>
      </p:sp>
      <p:sp>
        <p:nvSpPr>
          <p:cNvPr id="8" name="Shape 6"/>
          <p:cNvSpPr/>
          <p:nvPr/>
        </p:nvSpPr>
        <p:spPr>
          <a:xfrm>
            <a:off x="640080" y="2606040"/>
            <a:ext cx="3520440" cy="841248"/>
          </a:xfrm>
          <a:prstGeom prst="rect">
            <a:avLst/>
          </a:prstGeom>
          <a:solidFill>
            <a:srgbClr val="1E2761"/>
          </a:solidFill>
          <a:ln/>
        </p:spPr>
      </p:sp>
      <p:sp>
        <p:nvSpPr>
          <p:cNvPr id="9" name="Text 7"/>
          <p:cNvSpPr txBox="1"/>
          <p:nvPr/>
        </p:nvSpPr>
        <p:spPr>
          <a:xfrm>
            <a:off x="841248"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68680"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Markets and segments</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Named target accounts</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Coverage and ownership</a:t>
            </a:r>
            <a:endParaRPr lang="en-US" sz="1200" dirty="0"/>
          </a:p>
        </p:txBody>
      </p:sp>
      <p:sp>
        <p:nvSpPr>
          <p:cNvPr id="11" name="Shape 9"/>
          <p:cNvSpPr/>
          <p:nvPr/>
        </p:nvSpPr>
        <p:spPr>
          <a:xfrm>
            <a:off x="4325112" y="2606040"/>
            <a:ext cx="3520440" cy="2971800"/>
          </a:xfrm>
          <a:prstGeom prst="roundRect">
            <a:avLst>
              <a:gd name="adj" fmla="val 3692"/>
            </a:avLst>
          </a:prstGeom>
          <a:solidFill>
            <a:srgbClr val="EDF2FA"/>
          </a:solidFill>
          <a:ln/>
        </p:spPr>
      </p:sp>
      <p:sp>
        <p:nvSpPr>
          <p:cNvPr id="12" name="Shape 10"/>
          <p:cNvSpPr/>
          <p:nvPr/>
        </p:nvSpPr>
        <p:spPr>
          <a:xfrm>
            <a:off x="4325112" y="2606040"/>
            <a:ext cx="3520440" cy="841248"/>
          </a:xfrm>
          <a:prstGeom prst="rect">
            <a:avLst/>
          </a:prstGeom>
          <a:solidFill>
            <a:srgbClr val="3E5C8A"/>
          </a:solidFill>
          <a:ln/>
        </p:spPr>
      </p:sp>
      <p:sp>
        <p:nvSpPr>
          <p:cNvPr id="13" name="Text 11"/>
          <p:cNvSpPr txBox="1"/>
          <p:nvPr/>
        </p:nvSpPr>
        <p:spPr>
          <a:xfrm>
            <a:off x="4526280"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 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capability</a:t>
            </a:r>
            <a:endParaRPr lang="en-US" sz="1500" dirty="0"/>
          </a:p>
        </p:txBody>
      </p:sp>
      <p:sp>
        <p:nvSpPr>
          <p:cNvPr id="14" name="Text 12"/>
          <p:cNvSpPr txBox="1"/>
          <p:nvPr/>
        </p:nvSpPr>
        <p:spPr>
          <a:xfrm>
            <a:off x="4553712"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Proposition catalogue</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Delivery model and construct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Pricing, ADR and margin</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Team, capacity and recruitment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Revenue targets</a:t>
            </a:r>
            <a:endParaRPr lang="en-US" sz="1200" dirty="0"/>
          </a:p>
        </p:txBody>
      </p:sp>
      <p:sp>
        <p:nvSpPr>
          <p:cNvPr id="15" name="Shape 13"/>
          <p:cNvSpPr/>
          <p:nvPr/>
        </p:nvSpPr>
        <p:spPr>
          <a:xfrm>
            <a:off x="8010144" y="2606040"/>
            <a:ext cx="3520440" cy="2971800"/>
          </a:xfrm>
          <a:prstGeom prst="roundRect">
            <a:avLst>
              <a:gd name="adj" fmla="val 3692"/>
            </a:avLst>
          </a:prstGeom>
          <a:solidFill>
            <a:srgbClr val="E4EBF7"/>
          </a:solidFill>
          <a:ln/>
        </p:spPr>
      </p:sp>
      <p:sp>
        <p:nvSpPr>
          <p:cNvPr id="16" name="Shape 14"/>
          <p:cNvSpPr/>
          <p:nvPr/>
        </p:nvSpPr>
        <p:spPr>
          <a:xfrm>
            <a:off x="8010144" y="2606040"/>
            <a:ext cx="3520440" cy="841248"/>
          </a:xfrm>
          <a:prstGeom prst="rect">
            <a:avLst/>
          </a:prstGeom>
          <a:solidFill>
            <a:srgbClr val="1E2761"/>
          </a:solidFill>
          <a:ln/>
        </p:spPr>
      </p:sp>
      <p:sp>
        <p:nvSpPr>
          <p:cNvPr id="17" name="Text 15"/>
          <p:cNvSpPr txBox="1"/>
          <p:nvPr/>
        </p:nvSpPr>
        <p:spPr>
          <a:xfrm>
            <a:off x="8211312"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18" name="Text 16"/>
          <p:cNvSpPr txBox="1"/>
          <p:nvPr/>
        </p:nvSpPr>
        <p:spPr>
          <a:xfrm>
            <a:off x="8238744"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Alliances and what they unlock</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Eminence and positioning</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How we differentiate</a:t>
            </a:r>
            <a:endParaRPr lang="en-US" sz="1200" dirty="0"/>
          </a:p>
        </p:txBody>
      </p:sp>
      <p:sp>
        <p:nvSpPr>
          <p:cNvPr id="19" name="Shape 17"/>
          <p:cNvSpPr/>
          <p:nvPr/>
        </p:nvSpPr>
        <p:spPr>
          <a:xfrm>
            <a:off x="640080" y="5715000"/>
            <a:ext cx="10881360" cy="658368"/>
          </a:xfrm>
          <a:prstGeom prst="roundRect">
            <a:avLst>
              <a:gd name="adj" fmla="val 13889"/>
            </a:avLst>
          </a:prstGeom>
          <a:solidFill>
            <a:srgbClr val="1E2761"/>
          </a:solidFill>
          <a:ln/>
        </p:spPr>
      </p:sp>
      <p:sp>
        <p:nvSpPr>
          <p:cNvPr id="20" name="Text 18"/>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1" name="Text 19"/>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three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Four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965960"/>
            <a:ext cx="10881360" cy="841248"/>
          </a:xfrm>
          <a:prstGeom prst="roundRect">
            <a:avLst>
              <a:gd name="adj" fmla="val 10870"/>
            </a:avLst>
          </a:prstGeom>
          <a:solidFill>
            <a:srgbClr val="F2F6FC"/>
          </a:solidFill>
          <a:ln/>
        </p:spPr>
      </p:sp>
      <p:sp>
        <p:nvSpPr>
          <p:cNvPr id="5" name="Text 3"/>
          <p:cNvSpPr txBox="1"/>
          <p:nvPr/>
        </p:nvSpPr>
        <p:spPr>
          <a:xfrm>
            <a:off x="914400" y="20025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3317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coverage and ownership</a:t>
            </a:r>
            <a:endParaRPr lang="en-US" sz="1050" dirty="0"/>
          </a:p>
        </p:txBody>
      </p:sp>
      <p:sp>
        <p:nvSpPr>
          <p:cNvPr id="7" name="Text 5"/>
          <p:cNvSpPr txBox="1"/>
          <p:nvPr/>
        </p:nvSpPr>
        <p:spPr>
          <a:xfrm>
            <a:off x="4846320" y="196596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coverage map</a:t>
            </a:r>
            <a:endParaRPr lang="en-US" sz="1250" dirty="0"/>
          </a:p>
        </p:txBody>
      </p:sp>
      <p:sp>
        <p:nvSpPr>
          <p:cNvPr id="8" name="Shape 6"/>
          <p:cNvSpPr/>
          <p:nvPr/>
        </p:nvSpPr>
        <p:spPr>
          <a:xfrm>
            <a:off x="640080" y="2926080"/>
            <a:ext cx="10881360" cy="841248"/>
          </a:xfrm>
          <a:prstGeom prst="roundRect">
            <a:avLst>
              <a:gd name="adj" fmla="val 10870"/>
            </a:avLst>
          </a:prstGeom>
          <a:solidFill>
            <a:srgbClr val="EDF2FA"/>
          </a:solidFill>
          <a:ln/>
        </p:spPr>
      </p:sp>
      <p:sp>
        <p:nvSpPr>
          <p:cNvPr id="9" name="Text 7"/>
          <p:cNvSpPr txBox="1"/>
          <p:nvPr/>
        </p:nvSpPr>
        <p:spPr>
          <a:xfrm>
            <a:off x="914400" y="29626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 delivery and capability</a:t>
            </a:r>
            <a:endParaRPr lang="en-US" sz="1350" dirty="0"/>
          </a:p>
        </p:txBody>
      </p:sp>
      <p:sp>
        <p:nvSpPr>
          <p:cNvPr id="10" name="Text 8"/>
          <p:cNvSpPr txBox="1"/>
          <p:nvPr/>
        </p:nvSpPr>
        <p:spPr>
          <a:xfrm>
            <a:off x="914400" y="32918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Catalogue, delivery model and construct, pricing, margin, team and targets</a:t>
            </a:r>
            <a:endParaRPr lang="en-US" sz="1050" dirty="0"/>
          </a:p>
        </p:txBody>
      </p:sp>
      <p:sp>
        <p:nvSpPr>
          <p:cNvPr id="11" name="Text 9"/>
          <p:cNvSpPr txBox="1"/>
          <p:nvPr/>
        </p:nvSpPr>
        <p:spPr>
          <a:xfrm>
            <a:off x="4846320" y="292608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 · pricing bands · offering economics · team model · revenue targets</a:t>
            </a:r>
            <a:endParaRPr lang="en-US" sz="1250" dirty="0"/>
          </a:p>
        </p:txBody>
      </p:sp>
      <p:sp>
        <p:nvSpPr>
          <p:cNvPr id="12" name="Shape 10"/>
          <p:cNvSpPr/>
          <p:nvPr/>
        </p:nvSpPr>
        <p:spPr>
          <a:xfrm>
            <a:off x="640080" y="3886200"/>
            <a:ext cx="10881360" cy="841248"/>
          </a:xfrm>
          <a:prstGeom prst="roundRect">
            <a:avLst>
              <a:gd name="adj" fmla="val 10870"/>
            </a:avLst>
          </a:prstGeom>
          <a:solidFill>
            <a:srgbClr val="F2F6FC"/>
          </a:solidFill>
          <a:ln/>
        </p:spPr>
      </p:sp>
      <p:sp>
        <p:nvSpPr>
          <p:cNvPr id="13" name="Text 11"/>
          <p:cNvSpPr txBox="1"/>
          <p:nvPr/>
        </p:nvSpPr>
        <p:spPr>
          <a:xfrm>
            <a:off x="914400" y="3922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Route to market</a:t>
            </a:r>
            <a:endParaRPr lang="en-US" sz="1350" dirty="0"/>
          </a:p>
        </p:txBody>
      </p:sp>
      <p:sp>
        <p:nvSpPr>
          <p:cNvPr id="14" name="Text 12"/>
          <p:cNvSpPr txBox="1"/>
          <p:nvPr/>
        </p:nvSpPr>
        <p:spPr>
          <a:xfrm>
            <a:off x="914400" y="4251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5" name="Text 13"/>
          <p:cNvSpPr txBox="1"/>
          <p:nvPr/>
        </p:nvSpPr>
        <p:spPr>
          <a:xfrm>
            <a:off x="4846320" y="388620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16" name="Shape 14"/>
          <p:cNvSpPr/>
          <p:nvPr/>
        </p:nvSpPr>
        <p:spPr>
          <a:xfrm>
            <a:off x="640080" y="4846320"/>
            <a:ext cx="10881360" cy="841248"/>
          </a:xfrm>
          <a:prstGeom prst="roundRect">
            <a:avLst>
              <a:gd name="adj" fmla="val 10870"/>
            </a:avLst>
          </a:prstGeom>
          <a:solidFill>
            <a:srgbClr val="EDF2FA"/>
          </a:solidFill>
          <a:ln/>
        </p:spPr>
      </p:sp>
      <p:sp>
        <p:nvSpPr>
          <p:cNvPr id="17" name="Text 15"/>
          <p:cNvSpPr txBox="1"/>
          <p:nvPr/>
        </p:nvSpPr>
        <p:spPr>
          <a:xfrm>
            <a:off x="914400" y="48828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Operating discipline</a:t>
            </a:r>
            <a:endParaRPr lang="en-US" sz="1350" dirty="0"/>
          </a:p>
        </p:txBody>
      </p:sp>
      <p:sp>
        <p:nvSpPr>
          <p:cNvPr id="18" name="Text 16"/>
          <p:cNvSpPr txBox="1"/>
          <p:nvPr/>
        </p:nvSpPr>
        <p:spPr>
          <a:xfrm>
            <a:off x="914400" y="52120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19" name="Text 17"/>
          <p:cNvSpPr txBox="1"/>
          <p:nvPr/>
        </p:nvSpPr>
        <p:spPr>
          <a:xfrm>
            <a:off x="4846320" y="484632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0" name="Text 18"/>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3520440"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3520440" cy="502920"/>
          </a:xfrm>
          <a:prstGeom prst="rect">
            <a:avLst/>
          </a:prstGeom>
          <a:solidFill>
            <a:srgbClr val="1E2761"/>
          </a:solidFill>
          <a:ln/>
        </p:spPr>
      </p:sp>
      <p:sp>
        <p:nvSpPr>
          <p:cNvPr id="9" name="Text 7"/>
          <p:cNvSpPr txBox="1"/>
          <p:nvPr/>
        </p:nvSpPr>
        <p:spPr>
          <a:xfrm>
            <a:off x="804672"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Market and clients</a:t>
            </a:r>
            <a:endParaRPr lang="en-US" sz="12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a:t>
            </a:r>
            <a:endParaRPr lang="en-US" sz="1050" dirty="0"/>
          </a:p>
        </p:txBody>
      </p:sp>
      <p:sp>
        <p:nvSpPr>
          <p:cNvPr id="11" name="Shape 9"/>
          <p:cNvSpPr/>
          <p:nvPr/>
        </p:nvSpPr>
        <p:spPr>
          <a:xfrm>
            <a:off x="841248" y="3867912"/>
            <a:ext cx="3118104"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Segments</a:t>
            </a:r>
            <a:endParaRPr lang="en-US" sz="1050" dirty="0"/>
          </a:p>
        </p:txBody>
      </p:sp>
      <p:sp>
        <p:nvSpPr>
          <p:cNvPr id="13" name="Shape 11"/>
          <p:cNvSpPr/>
          <p:nvPr/>
        </p:nvSpPr>
        <p:spPr>
          <a:xfrm>
            <a:off x="841248" y="4434840"/>
            <a:ext cx="3118104"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a:t>
            </a:r>
            <a:endParaRPr lang="en-US" sz="1050" dirty="0"/>
          </a:p>
        </p:txBody>
      </p:sp>
      <p:sp>
        <p:nvSpPr>
          <p:cNvPr id="15" name="Shape 13"/>
          <p:cNvSpPr/>
          <p:nvPr/>
        </p:nvSpPr>
        <p:spPr>
          <a:xfrm>
            <a:off x="841248" y="5001768"/>
            <a:ext cx="3118104" cy="0"/>
          </a:xfrm>
          <a:prstGeom prst="line">
            <a:avLst/>
          </a:prstGeom>
          <a:noFill/>
          <a:ln w="12700">
            <a:solidFill>
              <a:srgbClr val="E1E8F2"/>
            </a:solidFill>
            <a:prstDash val="solid"/>
          </a:ln>
        </p:spPr>
      </p:sp>
      <p:sp>
        <p:nvSpPr>
          <p:cNvPr id="16" name="Shape 14"/>
          <p:cNvSpPr/>
          <p:nvPr/>
        </p:nvSpPr>
        <p:spPr>
          <a:xfrm>
            <a:off x="4325112" y="2834640"/>
            <a:ext cx="3520440"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4325112" y="2834640"/>
            <a:ext cx="3520440" cy="502920"/>
          </a:xfrm>
          <a:prstGeom prst="rect">
            <a:avLst/>
          </a:prstGeom>
          <a:solidFill>
            <a:srgbClr val="3E5C8A"/>
          </a:solidFill>
          <a:ln/>
        </p:spPr>
      </p:sp>
      <p:sp>
        <p:nvSpPr>
          <p:cNvPr id="18" name="Text 16"/>
          <p:cNvSpPr txBox="1"/>
          <p:nvPr/>
        </p:nvSpPr>
        <p:spPr>
          <a:xfrm>
            <a:off x="4489704"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Offerings, delivery and capability</a:t>
            </a:r>
            <a:endParaRPr lang="en-US" sz="1250" dirty="0"/>
          </a:p>
        </p:txBody>
      </p:sp>
      <p:sp>
        <p:nvSpPr>
          <p:cNvPr id="19" name="Text 17"/>
          <p:cNvSpPr txBox="1"/>
          <p:nvPr/>
        </p:nvSpPr>
        <p:spPr>
          <a:xfrm>
            <a:off x="4526280"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4526280" y="3867912"/>
            <a:ext cx="3118104" cy="0"/>
          </a:xfrm>
          <a:prstGeom prst="line">
            <a:avLst/>
          </a:prstGeom>
          <a:noFill/>
          <a:ln w="12700">
            <a:solidFill>
              <a:srgbClr val="E1E8F2"/>
            </a:solidFill>
            <a:prstDash val="solid"/>
          </a:ln>
        </p:spPr>
      </p:sp>
      <p:sp>
        <p:nvSpPr>
          <p:cNvPr id="21" name="Text 19"/>
          <p:cNvSpPr txBox="1"/>
          <p:nvPr/>
        </p:nvSpPr>
        <p:spPr>
          <a:xfrm>
            <a:off x="4526280"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margin</a:t>
            </a:r>
            <a:endParaRPr lang="en-US" sz="1050" dirty="0"/>
          </a:p>
        </p:txBody>
      </p:sp>
      <p:sp>
        <p:nvSpPr>
          <p:cNvPr id="22" name="Shape 20"/>
          <p:cNvSpPr/>
          <p:nvPr/>
        </p:nvSpPr>
        <p:spPr>
          <a:xfrm>
            <a:off x="4526280" y="4434840"/>
            <a:ext cx="3118104" cy="0"/>
          </a:xfrm>
          <a:prstGeom prst="line">
            <a:avLst/>
          </a:prstGeom>
          <a:noFill/>
          <a:ln w="12700">
            <a:solidFill>
              <a:srgbClr val="E1E8F2"/>
            </a:solidFill>
            <a:prstDash val="solid"/>
          </a:ln>
        </p:spPr>
      </p:sp>
      <p:sp>
        <p:nvSpPr>
          <p:cNvPr id="23" name="Text 21"/>
          <p:cNvSpPr txBox="1"/>
          <p:nvPr/>
        </p:nvSpPr>
        <p:spPr>
          <a:xfrm>
            <a:off x="4526280"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24" name="Shape 22"/>
          <p:cNvSpPr/>
          <p:nvPr/>
        </p:nvSpPr>
        <p:spPr>
          <a:xfrm>
            <a:off x="4526280" y="5001768"/>
            <a:ext cx="3118104" cy="0"/>
          </a:xfrm>
          <a:prstGeom prst="line">
            <a:avLst/>
          </a:prstGeom>
          <a:noFill/>
          <a:ln w="12700">
            <a:solidFill>
              <a:srgbClr val="E1E8F2"/>
            </a:solidFill>
            <a:prstDash val="solid"/>
          </a:ln>
        </p:spPr>
      </p:sp>
      <p:sp>
        <p:nvSpPr>
          <p:cNvPr id="25" name="Shape 23"/>
          <p:cNvSpPr/>
          <p:nvPr/>
        </p:nvSpPr>
        <p:spPr>
          <a:xfrm>
            <a:off x="8010144" y="2834640"/>
            <a:ext cx="3520440"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8010144" y="2834640"/>
            <a:ext cx="3520440" cy="502920"/>
          </a:xfrm>
          <a:prstGeom prst="rect">
            <a:avLst/>
          </a:prstGeom>
          <a:solidFill>
            <a:srgbClr val="1E2761"/>
          </a:solidFill>
          <a:ln/>
        </p:spPr>
      </p:sp>
      <p:sp>
        <p:nvSpPr>
          <p:cNvPr id="27" name="Text 25"/>
          <p:cNvSpPr txBox="1"/>
          <p:nvPr/>
        </p:nvSpPr>
        <p:spPr>
          <a:xfrm>
            <a:off x="8174736"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Route to market</a:t>
            </a:r>
            <a:endParaRPr lang="en-US" sz="1250" dirty="0"/>
          </a:p>
        </p:txBody>
      </p:sp>
      <p:sp>
        <p:nvSpPr>
          <p:cNvPr id="28" name="Text 26"/>
          <p:cNvSpPr txBox="1"/>
          <p:nvPr/>
        </p:nvSpPr>
        <p:spPr>
          <a:xfrm>
            <a:off x="82113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29" name="Shape 27"/>
          <p:cNvSpPr/>
          <p:nvPr/>
        </p:nvSpPr>
        <p:spPr>
          <a:xfrm>
            <a:off x="8211312" y="3867912"/>
            <a:ext cx="3118104" cy="0"/>
          </a:xfrm>
          <a:prstGeom prst="line">
            <a:avLst/>
          </a:prstGeom>
          <a:noFill/>
          <a:ln w="12700">
            <a:solidFill>
              <a:srgbClr val="E1E8F2"/>
            </a:solidFill>
            <a:prstDash val="solid"/>
          </a:ln>
        </p:spPr>
      </p:sp>
      <p:sp>
        <p:nvSpPr>
          <p:cNvPr id="30" name="Text 28"/>
          <p:cNvSpPr txBox="1"/>
          <p:nvPr/>
        </p:nvSpPr>
        <p:spPr>
          <a:xfrm>
            <a:off x="82113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31" name="Shape 29"/>
          <p:cNvSpPr/>
          <p:nvPr/>
        </p:nvSpPr>
        <p:spPr>
          <a:xfrm>
            <a:off x="8211312" y="4434840"/>
            <a:ext cx="3118104" cy="0"/>
          </a:xfrm>
          <a:prstGeom prst="line">
            <a:avLst/>
          </a:prstGeom>
          <a:noFill/>
          <a:ln w="12700">
            <a:solidFill>
              <a:srgbClr val="E1E8F2"/>
            </a:solidFill>
            <a:prstDash val="solid"/>
          </a:ln>
        </p:spPr>
      </p:sp>
      <p:sp>
        <p:nvSpPr>
          <p:cNvPr id="32" name="Text 30"/>
          <p:cNvSpPr txBox="1"/>
          <p:nvPr/>
        </p:nvSpPr>
        <p:spPr>
          <a:xfrm>
            <a:off x="82113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33" name="Shape 31"/>
          <p:cNvSpPr/>
          <p:nvPr/>
        </p:nvSpPr>
        <p:spPr>
          <a:xfrm>
            <a:off x="8211312" y="5001768"/>
            <a:ext cx="3118104" cy="0"/>
          </a:xfrm>
          <a:prstGeom prst="line">
            <a:avLst/>
          </a:prstGeom>
          <a:noFill/>
          <a:ln w="12700">
            <a:solidFill>
              <a:srgbClr val="E1E8F2"/>
            </a:solidFill>
            <a:prstDash val="solid"/>
          </a:ln>
        </p:spPr>
      </p:sp>
      <p:sp>
        <p:nvSpPr>
          <p:cNvPr id="34" name="Shape 32"/>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35" name="Text 33"/>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36" name="Shape 34"/>
          <p:cNvSpPr/>
          <p:nvPr/>
        </p:nvSpPr>
        <p:spPr>
          <a:xfrm>
            <a:off x="2926080" y="6062472"/>
            <a:ext cx="8321040" cy="0"/>
          </a:xfrm>
          <a:prstGeom prst="line">
            <a:avLst/>
          </a:prstGeom>
          <a:noFill/>
          <a:ln w="12700">
            <a:solidFill>
              <a:srgbClr val="C9D4E6"/>
            </a:solidFill>
            <a:prstDash val="solid"/>
          </a:ln>
        </p:spPr>
      </p:sp>
      <p:sp>
        <p:nvSpPr>
          <p:cNvPr id="37" name="Text 35"/>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to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to lead with</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integrated proposition.</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offering.</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market.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Targets are set by market and by offering, then reconciled against capacity before they are agreed.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role and level.</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Route to market · one row per alliance.</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Route to market · one row per planned activity.</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2026-09-28T12:19:35Z</dcterms:created>
  <dcterms:modified xsi:type="dcterms:W3CDTF">2026-09-28T12:19:35Z</dcterms:modified>
</cp:coreProperties>
</file>