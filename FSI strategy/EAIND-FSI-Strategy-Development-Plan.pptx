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FSI here means three segments, in priority order: banking first, then funds (sovereign wealth funds, national and development funds, fund and investment management), then insurance.
Three pillars:
1. Industry Solutions — core-led transformation: core modernisation and core platform packages, whatever the segment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segments.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EAIND is a portfolio serving several industries, and it already has its own strategy. This is the financial services cut of it, not a parallel strategy, and the pack says so early so nobody reads it as the portfolio going its own way.
Three relationships to keep straight:
Inherited — the portfolio vision and direction, the standard delivery model and quality bars, the alliance framework and partner tiers, the talent and career model, and the financial targets cascaded to us. We confirm these rather than reinvent them; the cycle should not spend time re-deciding them.
Set here — what is genuinely industry-specific: segments and their priority, markets and tiering, named accounts and coverage, FSI propositions and their flavours, segment-specific alliances such as core platform vendors, eminence in this industry, and the capability, certification and hiring asks that follow.
Fed back — the part usually forgotten. Assets and accelerators built for FSI that other industries can reuse; demand signals that should shape portfolio investment; alliance leverage earned through our volume; and, honestly, where the portfolio strategy constrains what we could otherwise do here.
Practical step for the cycle: put the current portfolio strategy in front of the team at kick-off, and add alignment to the sign-off checklist. Where this strategy diverges — a different segment priority, an alliance the portfolio has not signed, an offering outside the standard catalogue — that is an escalation, not a footnote.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segments, in this priority order.
1. Banking — the priority segment,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segment rather than per industry: a core banking reference does not win a policy administration programme.
Practical consequence for the cycle: segment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segments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segments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segment,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segment.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segment.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segment priorities imply, the insurance core and fund platform vendors where we currently hold nothing. These are offering-level and segment-level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segment and by scope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segment: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segment and scope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segments.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segment.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segment.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Five parts, in the order the strategy actually gets built.</a:t>
            </a:r>
            <a:endParaRPr lang="en-US" sz="1450" dirty="0"/>
          </a:p>
        </p:txBody>
      </p:sp>
      <p:sp>
        <p:nvSpPr>
          <p:cNvPr id="4" name="Shape 2"/>
          <p:cNvSpPr/>
          <p:nvPr/>
        </p:nvSpPr>
        <p:spPr>
          <a:xfrm>
            <a:off x="640080" y="1783080"/>
            <a:ext cx="10881360" cy="777240"/>
          </a:xfrm>
          <a:prstGeom prst="roundRect">
            <a:avLst>
              <a:gd name="adj" fmla="val 11765"/>
            </a:avLst>
          </a:prstGeom>
          <a:solidFill>
            <a:srgbClr val="F2F6FC"/>
          </a:solidFill>
          <a:ln/>
        </p:spPr>
      </p:sp>
      <p:sp>
        <p:nvSpPr>
          <p:cNvPr id="5" name="Shape 3"/>
          <p:cNvSpPr/>
          <p:nvPr/>
        </p:nvSpPr>
        <p:spPr>
          <a:xfrm>
            <a:off x="640080" y="1783080"/>
            <a:ext cx="1737360" cy="777240"/>
          </a:xfrm>
          <a:prstGeom prst="rect">
            <a:avLst/>
          </a:prstGeom>
          <a:solidFill>
            <a:srgbClr val="1E2761"/>
          </a:solidFill>
          <a:ln/>
        </p:spPr>
      </p:sp>
      <p:sp>
        <p:nvSpPr>
          <p:cNvPr id="6" name="Text 4"/>
          <p:cNvSpPr txBox="1"/>
          <p:nvPr/>
        </p:nvSpPr>
        <p:spPr>
          <a:xfrm>
            <a:off x="640080" y="1783080"/>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874520"/>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frame</a:t>
            </a:r>
            <a:endParaRPr lang="en-US" sz="1550" dirty="0"/>
          </a:p>
        </p:txBody>
      </p:sp>
      <p:sp>
        <p:nvSpPr>
          <p:cNvPr id="8" name="Text 6"/>
          <p:cNvSpPr txBox="1"/>
          <p:nvPr/>
        </p:nvSpPr>
        <p:spPr>
          <a:xfrm>
            <a:off x="2606040" y="2194560"/>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What this document is · how this fits the EAIND strategy · the industry we mean</a:t>
            </a:r>
            <a:endParaRPr lang="en-US" sz="1100" dirty="0"/>
          </a:p>
        </p:txBody>
      </p:sp>
      <p:sp>
        <p:nvSpPr>
          <p:cNvPr id="9" name="Text 7"/>
          <p:cNvSpPr txBox="1"/>
          <p:nvPr/>
        </p:nvSpPr>
        <p:spPr>
          <a:xfrm>
            <a:off x="10149840" y="1783080"/>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0" name="Shape 8"/>
          <p:cNvSpPr/>
          <p:nvPr/>
        </p:nvSpPr>
        <p:spPr>
          <a:xfrm>
            <a:off x="640080" y="2679192"/>
            <a:ext cx="10881360" cy="777240"/>
          </a:xfrm>
          <a:prstGeom prst="roundRect">
            <a:avLst>
              <a:gd name="adj" fmla="val 11765"/>
            </a:avLst>
          </a:prstGeom>
          <a:solidFill>
            <a:srgbClr val="EDF2FA"/>
          </a:solidFill>
          <a:ln/>
        </p:spPr>
      </p:sp>
      <p:sp>
        <p:nvSpPr>
          <p:cNvPr id="11" name="Shape 9"/>
          <p:cNvSpPr/>
          <p:nvPr/>
        </p:nvSpPr>
        <p:spPr>
          <a:xfrm>
            <a:off x="640080" y="2679192"/>
            <a:ext cx="1737360" cy="777240"/>
          </a:xfrm>
          <a:prstGeom prst="rect">
            <a:avLst/>
          </a:prstGeom>
          <a:solidFill>
            <a:srgbClr val="3E5C8A"/>
          </a:solidFill>
          <a:ln/>
        </p:spPr>
      </p:sp>
      <p:sp>
        <p:nvSpPr>
          <p:cNvPr id="12" name="Text 10"/>
          <p:cNvSpPr txBox="1"/>
          <p:nvPr/>
        </p:nvSpPr>
        <p:spPr>
          <a:xfrm>
            <a:off x="640080" y="2679192"/>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770632"/>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destination</a:t>
            </a:r>
            <a:endParaRPr lang="en-US" sz="1550" dirty="0"/>
          </a:p>
        </p:txBody>
      </p:sp>
      <p:sp>
        <p:nvSpPr>
          <p:cNvPr id="14" name="Text 12"/>
          <p:cNvSpPr txBox="1"/>
          <p:nvPr/>
        </p:nvSpPr>
        <p:spPr>
          <a:xfrm>
            <a:off x="2606040" y="3090672"/>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Vision drivers · candidate statements · principles</a:t>
            </a:r>
            <a:endParaRPr lang="en-US" sz="1100" dirty="0"/>
          </a:p>
        </p:txBody>
      </p:sp>
      <p:sp>
        <p:nvSpPr>
          <p:cNvPr id="15" name="Text 13"/>
          <p:cNvSpPr txBox="1"/>
          <p:nvPr/>
        </p:nvSpPr>
        <p:spPr>
          <a:xfrm>
            <a:off x="10149840" y="2679192"/>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575304"/>
            <a:ext cx="10881360" cy="777240"/>
          </a:xfrm>
          <a:prstGeom prst="roundRect">
            <a:avLst>
              <a:gd name="adj" fmla="val 11765"/>
            </a:avLst>
          </a:prstGeom>
          <a:solidFill>
            <a:srgbClr val="F2F6FC"/>
          </a:solidFill>
          <a:ln/>
        </p:spPr>
      </p:sp>
      <p:sp>
        <p:nvSpPr>
          <p:cNvPr id="17" name="Shape 15"/>
          <p:cNvSpPr/>
          <p:nvPr/>
        </p:nvSpPr>
        <p:spPr>
          <a:xfrm>
            <a:off x="640080" y="3575304"/>
            <a:ext cx="1737360" cy="777240"/>
          </a:xfrm>
          <a:prstGeom prst="rect">
            <a:avLst/>
          </a:prstGeom>
          <a:solidFill>
            <a:srgbClr val="1E2761"/>
          </a:solidFill>
          <a:ln/>
        </p:spPr>
      </p:sp>
      <p:sp>
        <p:nvSpPr>
          <p:cNvPr id="18" name="Text 16"/>
          <p:cNvSpPr txBox="1"/>
          <p:nvPr/>
        </p:nvSpPr>
        <p:spPr>
          <a:xfrm>
            <a:off x="640080" y="3575304"/>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666744"/>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the strategy must cover</a:t>
            </a:r>
            <a:endParaRPr lang="en-US" sz="1550" dirty="0"/>
          </a:p>
        </p:txBody>
      </p:sp>
      <p:sp>
        <p:nvSpPr>
          <p:cNvPr id="20" name="Text 18"/>
          <p:cNvSpPr txBox="1"/>
          <p:nvPr/>
        </p:nvSpPr>
        <p:spPr>
          <a:xfrm>
            <a:off x="2606040" y="3986784"/>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architecture · markets and tiers · delivery, economics and people · alliances and eminence</a:t>
            </a:r>
            <a:endParaRPr lang="en-US" sz="1100" dirty="0"/>
          </a:p>
        </p:txBody>
      </p:sp>
      <p:sp>
        <p:nvSpPr>
          <p:cNvPr id="21" name="Text 19"/>
          <p:cNvSpPr txBox="1"/>
          <p:nvPr/>
        </p:nvSpPr>
        <p:spPr>
          <a:xfrm>
            <a:off x="10149840" y="3575304"/>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6 slides</a:t>
            </a:r>
            <a:endParaRPr lang="en-US" sz="1100" dirty="0"/>
          </a:p>
        </p:txBody>
      </p:sp>
      <p:sp>
        <p:nvSpPr>
          <p:cNvPr id="22" name="Shape 20"/>
          <p:cNvSpPr/>
          <p:nvPr/>
        </p:nvSpPr>
        <p:spPr>
          <a:xfrm>
            <a:off x="640080" y="4471416"/>
            <a:ext cx="10881360" cy="777240"/>
          </a:xfrm>
          <a:prstGeom prst="roundRect">
            <a:avLst>
              <a:gd name="adj" fmla="val 11765"/>
            </a:avLst>
          </a:prstGeom>
          <a:solidFill>
            <a:srgbClr val="EDF2FA"/>
          </a:solidFill>
          <a:ln/>
        </p:spPr>
      </p:sp>
      <p:sp>
        <p:nvSpPr>
          <p:cNvPr id="23" name="Shape 21"/>
          <p:cNvSpPr/>
          <p:nvPr/>
        </p:nvSpPr>
        <p:spPr>
          <a:xfrm>
            <a:off x="640080" y="4471416"/>
            <a:ext cx="1737360" cy="777240"/>
          </a:xfrm>
          <a:prstGeom prst="rect">
            <a:avLst/>
          </a:prstGeom>
          <a:solidFill>
            <a:srgbClr val="3E5C8A"/>
          </a:solidFill>
          <a:ln/>
        </p:spPr>
      </p:sp>
      <p:sp>
        <p:nvSpPr>
          <p:cNvPr id="24" name="Text 22"/>
          <p:cNvSpPr txBox="1"/>
          <p:nvPr/>
        </p:nvSpPr>
        <p:spPr>
          <a:xfrm>
            <a:off x="640080" y="4471416"/>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4562856"/>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How we build it</a:t>
            </a:r>
            <a:endParaRPr lang="en-US" sz="1550" dirty="0"/>
          </a:p>
        </p:txBody>
      </p:sp>
      <p:sp>
        <p:nvSpPr>
          <p:cNvPr id="26" name="Text 24"/>
          <p:cNvSpPr txBox="1"/>
          <p:nvPr/>
        </p:nvSpPr>
        <p:spPr>
          <a:xfrm>
            <a:off x="2606040" y="4882896"/>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approach · workstreams and owners · the three-week journey · how we run the cycle</a:t>
            </a:r>
            <a:endParaRPr lang="en-US" sz="1100" dirty="0"/>
          </a:p>
        </p:txBody>
      </p:sp>
      <p:sp>
        <p:nvSpPr>
          <p:cNvPr id="27" name="Text 25"/>
          <p:cNvSpPr txBox="1"/>
          <p:nvPr/>
        </p:nvSpPr>
        <p:spPr>
          <a:xfrm>
            <a:off x="10149840" y="4471416"/>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5 slides</a:t>
            </a:r>
            <a:endParaRPr lang="en-US" sz="1100" dirty="0"/>
          </a:p>
        </p:txBody>
      </p:sp>
      <p:sp>
        <p:nvSpPr>
          <p:cNvPr id="28" name="Shape 26"/>
          <p:cNvSpPr/>
          <p:nvPr/>
        </p:nvSpPr>
        <p:spPr>
          <a:xfrm>
            <a:off x="640080" y="5367528"/>
            <a:ext cx="10881360" cy="777240"/>
          </a:xfrm>
          <a:prstGeom prst="roundRect">
            <a:avLst>
              <a:gd name="adj" fmla="val 11765"/>
            </a:avLst>
          </a:prstGeom>
          <a:solidFill>
            <a:srgbClr val="F2F6FC"/>
          </a:solidFill>
          <a:ln/>
        </p:spPr>
      </p:sp>
      <p:sp>
        <p:nvSpPr>
          <p:cNvPr id="29" name="Shape 27"/>
          <p:cNvSpPr/>
          <p:nvPr/>
        </p:nvSpPr>
        <p:spPr>
          <a:xfrm>
            <a:off x="640080" y="5367528"/>
            <a:ext cx="1737360" cy="777240"/>
          </a:xfrm>
          <a:prstGeom prst="rect">
            <a:avLst/>
          </a:prstGeom>
          <a:solidFill>
            <a:srgbClr val="1E2761"/>
          </a:solidFill>
          <a:ln/>
        </p:spPr>
      </p:sp>
      <p:sp>
        <p:nvSpPr>
          <p:cNvPr id="30" name="Text 28"/>
          <p:cNvSpPr txBox="1"/>
          <p:nvPr/>
        </p:nvSpPr>
        <p:spPr>
          <a:xfrm>
            <a:off x="640080" y="5367528"/>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5458968"/>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After sign-off</a:t>
            </a:r>
            <a:endParaRPr lang="en-US" sz="1550" dirty="0"/>
          </a:p>
        </p:txBody>
      </p:sp>
      <p:sp>
        <p:nvSpPr>
          <p:cNvPr id="32" name="Text 30"/>
          <p:cNvSpPr txBox="1"/>
          <p:nvPr/>
        </p:nvSpPr>
        <p:spPr>
          <a:xfrm>
            <a:off x="2606040" y="5779008"/>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Governing the execution</a:t>
            </a:r>
            <a:endParaRPr lang="en-US" sz="1100" dirty="0"/>
          </a:p>
        </p:txBody>
      </p:sp>
      <p:sp>
        <p:nvSpPr>
          <p:cNvPr id="33" name="Text 31"/>
          <p:cNvSpPr txBox="1"/>
          <p:nvPr/>
        </p:nvSpPr>
        <p:spPr>
          <a:xfrm>
            <a:off x="10149840" y="5367528"/>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1 slide</a:t>
            </a:r>
            <a:endParaRPr lang="en-US" sz="110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FSI is one industry strategy inside the EAIND portfolio strategy — not a parallel one.</a:t>
            </a:r>
            <a:endParaRPr lang="en-US" sz="1450" dirty="0"/>
          </a:p>
        </p:txBody>
      </p:sp>
      <p:sp>
        <p:nvSpPr>
          <p:cNvPr id="4" name="Shape 2"/>
          <p:cNvSpPr/>
          <p:nvPr/>
        </p:nvSpPr>
        <p:spPr>
          <a:xfrm>
            <a:off x="640080" y="1783080"/>
            <a:ext cx="10881360" cy="777240"/>
          </a:xfrm>
          <a:prstGeom prst="roundRect">
            <a:avLst>
              <a:gd name="adj" fmla="val 11765"/>
            </a:avLst>
          </a:prstGeom>
          <a:solidFill>
            <a:srgbClr val="1E2761"/>
          </a:solidFill>
          <a:ln/>
        </p:spPr>
      </p:sp>
      <p:sp>
        <p:nvSpPr>
          <p:cNvPr id="5" name="Text 3"/>
          <p:cNvSpPr txBox="1"/>
          <p:nvPr/>
        </p:nvSpPr>
        <p:spPr>
          <a:xfrm>
            <a:off x="914400" y="1783080"/>
            <a:ext cx="3840480" cy="777240"/>
          </a:xfrm>
          <a:prstGeom prst="rect">
            <a:avLst/>
          </a:prstGeom>
          <a:noFill/>
          <a:ln/>
        </p:spPr>
        <p:txBody>
          <a:bodyPr wrap="square" lIns="0" tIns="0" rIns="0" bIns="0" rtlCol="0" anchor="ctr"/>
          <a:lstStyle/>
          <a:p>
            <a:pPr indent="0" marL="0">
              <a:buNone/>
            </a:pPr>
            <a:r>
              <a:rPr lang="en-US" sz="1250" b="1" spc="120" kern="0" dirty="0">
                <a:solidFill>
                  <a:srgbClr val="CADCFC"/>
                </a:solidFill>
                <a:latin typeface="Calibri" pitchFamily="34" charset="0"/>
                <a:ea typeface="Calibri" pitchFamily="34" charset="-122"/>
                <a:cs typeface="Calibri" pitchFamily="34" charset="-120"/>
              </a:rPr>
              <a:t>EAIND PORTFOLIO STRATEGY</a:t>
            </a:r>
            <a:endParaRPr lang="en-US" sz="1250" dirty="0"/>
          </a:p>
        </p:txBody>
      </p:sp>
      <p:sp>
        <p:nvSpPr>
          <p:cNvPr id="6" name="Text 4"/>
          <p:cNvSpPr txBox="1"/>
          <p:nvPr/>
        </p:nvSpPr>
        <p:spPr>
          <a:xfrm>
            <a:off x="4846320" y="1783080"/>
            <a:ext cx="6400800" cy="7772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Engineering, AI and Data — across every industry we serve</a:t>
            </a:r>
            <a:endParaRPr lang="en-US" sz="1300" dirty="0"/>
          </a:p>
        </p:txBody>
      </p:sp>
      <p:sp>
        <p:nvSpPr>
          <p:cNvPr id="7" name="Shape 5"/>
          <p:cNvSpPr/>
          <p:nvPr/>
        </p:nvSpPr>
        <p:spPr>
          <a:xfrm>
            <a:off x="640080" y="2697480"/>
            <a:ext cx="5303520" cy="621792"/>
          </a:xfrm>
          <a:prstGeom prst="roundRect">
            <a:avLst>
              <a:gd name="adj" fmla="val 14706"/>
            </a:avLst>
          </a:prstGeom>
          <a:solidFill>
            <a:srgbClr val="3E5C8A"/>
          </a:solidFill>
          <a:ln/>
        </p:spPr>
      </p:sp>
      <p:sp>
        <p:nvSpPr>
          <p:cNvPr id="8" name="Text 6"/>
          <p:cNvSpPr txBox="1"/>
          <p:nvPr/>
        </p:nvSpPr>
        <p:spPr>
          <a:xfrm>
            <a:off x="640080" y="2697480"/>
            <a:ext cx="5303520" cy="621792"/>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Financial services — this strategy</a:t>
            </a:r>
            <a:endParaRPr lang="en-US" sz="1350" dirty="0"/>
          </a:p>
        </p:txBody>
      </p:sp>
      <p:sp>
        <p:nvSpPr>
          <p:cNvPr id="9" name="Shape 7"/>
          <p:cNvSpPr/>
          <p:nvPr/>
        </p:nvSpPr>
        <p:spPr>
          <a:xfrm>
            <a:off x="6217920" y="2697480"/>
            <a:ext cx="5303520" cy="621792"/>
          </a:xfrm>
          <a:prstGeom prst="roundRect">
            <a:avLst>
              <a:gd name="adj" fmla="val 14706"/>
            </a:avLst>
          </a:prstGeom>
          <a:solidFill>
            <a:srgbClr val="E4EBF7"/>
          </a:solidFill>
          <a:ln/>
        </p:spPr>
      </p:sp>
      <p:sp>
        <p:nvSpPr>
          <p:cNvPr id="10" name="Text 8"/>
          <p:cNvSpPr txBox="1"/>
          <p:nvPr/>
        </p:nvSpPr>
        <p:spPr>
          <a:xfrm>
            <a:off x="6217920" y="2697480"/>
            <a:ext cx="5303520" cy="621792"/>
          </a:xfrm>
          <a:prstGeom prst="rect">
            <a:avLst/>
          </a:prstGeom>
          <a:noFill/>
          <a:ln/>
        </p:spPr>
        <p:txBody>
          <a:bodyPr wrap="square" lIns="0" tIns="0" rIns="0" bIns="0" rtlCol="0" anchor="ctr"/>
          <a:lstStyle/>
          <a:p>
            <a:pPr algn="ctr" indent="0" marL="0">
              <a:buNone/>
            </a:pPr>
            <a:r>
              <a:rPr lang="en-US" sz="1350" b="1" dirty="0">
                <a:solidFill>
                  <a:srgbClr val="44506B"/>
                </a:solidFill>
                <a:latin typeface="Calibri" pitchFamily="34" charset="0"/>
                <a:ea typeface="Calibri" pitchFamily="34" charset="-122"/>
                <a:cs typeface="Calibri" pitchFamily="34" charset="-120"/>
              </a:rPr>
              <a:t>Other industry strategies</a:t>
            </a:r>
            <a:endParaRPr lang="en-US" sz="1350" dirty="0"/>
          </a:p>
        </p:txBody>
      </p:sp>
      <p:sp>
        <p:nvSpPr>
          <p:cNvPr id="11" name="Shape 9"/>
          <p:cNvSpPr/>
          <p:nvPr/>
        </p:nvSpPr>
        <p:spPr>
          <a:xfrm>
            <a:off x="640080" y="3520440"/>
            <a:ext cx="3520440" cy="2423160"/>
          </a:xfrm>
          <a:prstGeom prst="roundRect">
            <a:avLst>
              <a:gd name="adj" fmla="val 4528"/>
            </a:avLst>
          </a:prstGeom>
          <a:solidFill>
            <a:srgbClr val="EDF2FA"/>
          </a:solidFill>
          <a:ln/>
        </p:spPr>
      </p:sp>
      <p:sp>
        <p:nvSpPr>
          <p:cNvPr id="12" name="Shape 10"/>
          <p:cNvSpPr/>
          <p:nvPr/>
        </p:nvSpPr>
        <p:spPr>
          <a:xfrm>
            <a:off x="640080" y="3520440"/>
            <a:ext cx="3520440" cy="548640"/>
          </a:xfrm>
          <a:prstGeom prst="rect">
            <a:avLst/>
          </a:prstGeom>
          <a:solidFill>
            <a:srgbClr val="1E2761"/>
          </a:solidFill>
          <a:ln/>
        </p:spPr>
      </p:sp>
      <p:sp>
        <p:nvSpPr>
          <p:cNvPr id="13" name="Text 11"/>
          <p:cNvSpPr txBox="1"/>
          <p:nvPr/>
        </p:nvSpPr>
        <p:spPr>
          <a:xfrm>
            <a:off x="868680" y="352044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we inherit</a:t>
            </a:r>
            <a:endParaRPr lang="en-US" sz="1400" dirty="0"/>
          </a:p>
        </p:txBody>
      </p:sp>
      <p:sp>
        <p:nvSpPr>
          <p:cNvPr id="14" name="Text 12"/>
          <p:cNvSpPr txBox="1"/>
          <p:nvPr/>
        </p:nvSpPr>
        <p:spPr>
          <a:xfrm>
            <a:off x="868680" y="4206240"/>
            <a:ext cx="3063240" cy="16459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The portfolio vision and direction of travel</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The standard delivery model and quality bars</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The alliance framework and partner tiers</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The talent and career model</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Financial targets cascaded to us</a:t>
            </a:r>
            <a:endParaRPr lang="en-US" sz="1050" dirty="0"/>
          </a:p>
        </p:txBody>
      </p:sp>
      <p:sp>
        <p:nvSpPr>
          <p:cNvPr id="15" name="Shape 13"/>
          <p:cNvSpPr/>
          <p:nvPr/>
        </p:nvSpPr>
        <p:spPr>
          <a:xfrm>
            <a:off x="4325112" y="3520440"/>
            <a:ext cx="3520440" cy="2423160"/>
          </a:xfrm>
          <a:prstGeom prst="roundRect">
            <a:avLst>
              <a:gd name="adj" fmla="val 4528"/>
            </a:avLst>
          </a:prstGeom>
          <a:solidFill>
            <a:srgbClr val="EDF2FA"/>
          </a:solidFill>
          <a:ln/>
        </p:spPr>
      </p:sp>
      <p:sp>
        <p:nvSpPr>
          <p:cNvPr id="16" name="Shape 14"/>
          <p:cNvSpPr/>
          <p:nvPr/>
        </p:nvSpPr>
        <p:spPr>
          <a:xfrm>
            <a:off x="4325112" y="3520440"/>
            <a:ext cx="3520440" cy="548640"/>
          </a:xfrm>
          <a:prstGeom prst="rect">
            <a:avLst/>
          </a:prstGeom>
          <a:solidFill>
            <a:srgbClr val="3E5C8A"/>
          </a:solidFill>
          <a:ln/>
        </p:spPr>
      </p:sp>
      <p:sp>
        <p:nvSpPr>
          <p:cNvPr id="17" name="Text 15"/>
          <p:cNvSpPr txBox="1"/>
          <p:nvPr/>
        </p:nvSpPr>
        <p:spPr>
          <a:xfrm>
            <a:off x="4553712" y="352044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we set here</a:t>
            </a:r>
            <a:endParaRPr lang="en-US" sz="1400" dirty="0"/>
          </a:p>
        </p:txBody>
      </p:sp>
      <p:sp>
        <p:nvSpPr>
          <p:cNvPr id="18" name="Text 16"/>
          <p:cNvSpPr txBox="1"/>
          <p:nvPr/>
        </p:nvSpPr>
        <p:spPr>
          <a:xfrm>
            <a:off x="4553712" y="4206240"/>
            <a:ext cx="3063240" cy="16459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Segments, markets and tiering</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Named accounts, coverage and revenue per account</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FSI propositions, use cases and flavours</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Segment alliances and industry eminence</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FSI capability, certification and hiring asks</a:t>
            </a:r>
            <a:endParaRPr lang="en-US" sz="1050" dirty="0"/>
          </a:p>
        </p:txBody>
      </p:sp>
      <p:sp>
        <p:nvSpPr>
          <p:cNvPr id="19" name="Shape 17"/>
          <p:cNvSpPr/>
          <p:nvPr/>
        </p:nvSpPr>
        <p:spPr>
          <a:xfrm>
            <a:off x="8010144" y="3520440"/>
            <a:ext cx="3520440" cy="2423160"/>
          </a:xfrm>
          <a:prstGeom prst="roundRect">
            <a:avLst>
              <a:gd name="adj" fmla="val 4528"/>
            </a:avLst>
          </a:prstGeom>
          <a:solidFill>
            <a:srgbClr val="EDF2FA"/>
          </a:solidFill>
          <a:ln/>
        </p:spPr>
      </p:sp>
      <p:sp>
        <p:nvSpPr>
          <p:cNvPr id="20" name="Shape 18"/>
          <p:cNvSpPr/>
          <p:nvPr/>
        </p:nvSpPr>
        <p:spPr>
          <a:xfrm>
            <a:off x="8010144" y="3520440"/>
            <a:ext cx="3520440" cy="548640"/>
          </a:xfrm>
          <a:prstGeom prst="rect">
            <a:avLst/>
          </a:prstGeom>
          <a:solidFill>
            <a:srgbClr val="1E2761"/>
          </a:solidFill>
          <a:ln/>
        </p:spPr>
      </p:sp>
      <p:sp>
        <p:nvSpPr>
          <p:cNvPr id="21" name="Text 19"/>
          <p:cNvSpPr txBox="1"/>
          <p:nvPr/>
        </p:nvSpPr>
        <p:spPr>
          <a:xfrm>
            <a:off x="8238744" y="352044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we feed back</a:t>
            </a:r>
            <a:endParaRPr lang="en-US" sz="1400" dirty="0"/>
          </a:p>
        </p:txBody>
      </p:sp>
      <p:sp>
        <p:nvSpPr>
          <p:cNvPr id="22" name="Text 20"/>
          <p:cNvSpPr txBox="1"/>
          <p:nvPr/>
        </p:nvSpPr>
        <p:spPr>
          <a:xfrm>
            <a:off x="8238744" y="4206240"/>
            <a:ext cx="3063240" cy="16459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Assets and accelerators other industries can reuse</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Demand signals into portfolio investment</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Alliance leverage earned through FSI volume</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Where the portfolio strategy constrains us</a:t>
            </a:r>
            <a:endParaRPr lang="en-US" sz="1050" dirty="0"/>
          </a:p>
        </p:txBody>
      </p:sp>
      <p:sp>
        <p:nvSpPr>
          <p:cNvPr id="23" name="Text 21"/>
          <p:cNvSpPr txBox="1"/>
          <p:nvPr/>
        </p:nvSpPr>
        <p:spPr>
          <a:xfrm>
            <a:off x="640080" y="608076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Sign-off test: nothing here contradicts the portfolio strategy, and anything that diverges is named and escalated rather than quietly assumed.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segments,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segment</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Segment is a dimension throughout: every proposition says which segments it serves, every account carries its segment, and targets are set by market and segment,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Sub-segments are indicative; the cycle confirms which we actually pursue.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segments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Each FSI segment is specialised and clients expect it: propositions, credentials and CVs speak that segment’s language.</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segments.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Promotion and demotion criteria, and the tier one list itself, are set in the cycle.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segment: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practices?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segments it sits behind, which accounts it opens, and what it costs us back.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five-step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current EAIND portfolio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the portfolio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After sign-off</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Segments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segment where they differ. Rationale should stand on evidence, not familiarity.</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Segment: banking, funds or insurance. Tier one accounts are named individually; tier two may be grouped.</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Practices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Practices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segment</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segment. Reconciles to the account revenue plan and to capacity.</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and segments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and segments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2026-09-28T15:06:13Z</dcterms:created>
  <dcterms:modified xsi:type="dcterms:W3CDTF">2026-09-28T15:06:13Z</dcterms:modified>
</cp:coreProperties>
</file>