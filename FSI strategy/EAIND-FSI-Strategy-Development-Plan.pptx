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primarily banking.
Three pillars:
1. Industry Solutions — core-led transformation: core modernisation, core banking and other core packages. Also full systems-integration capability: we can take the SI role and own the end-to-end setup, including design governance, functional governance, delivery management and individual stream management, to stand up a greenfield bank or modernise an incumbent.
2. Data and AI — enterprise AI, core AI, AI use-case activation, and standard data work: data platforms, warehouses, ETL, reporting, all for banking.
3. Engineering and Cloud — cloud advisory and implementation, plus custom engineered solutions: integration management, microservices, API gateways, and bespoke core engineering. Less common in banking; likeliest in investments and wealth.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banking modernisation and migration varies by retail, corporate or SME scope;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Artefact templates are blank at this stage and are populated during the cycle.
Notes per workstream:
- WS1 Proposition and catalogue: integrated propositions first, permitted variants second. Must cover all three pillars and the cross-pillar plays.
- WS2 Market and account targeting: markets are broadly known (primary: Saudi, UAE, Qatar; secondary: Kuwait, Oman, Jordan). The real output is the named account list and the segment logic behind it.
- WS3 Commercial sizing and pricing: size of each product, who buys it, and the typical price the market pays — with the variation drivers spelled out (retail/corporate/SME, single/multi-country, data migration in or out of scope).
- WS4 Coverage and ownership: two distinct mappings — our partners to accounts (who owns the relationship) and alliance partners to accounts (who we go to market with, and what they drive).
- WS5 Delivery model and readiness: largely inherited; confirm and note gaps.
- WS6 Team and talent: see the talent slide.
- WS7 Eminence and positioning: see the eminence slide.
- WS8 Alliances: see the alliances slide. Primary alliances today are Oracle, Google and Amazon; specialised alliances are Temenos and Intellect.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were called out as important in implementation and technology work.
Current alliances named: Oracle, Google and Amazon as the primary ones; Temenos and Intellect as specialised, banking-platform alliances. They are on the slide as current state, not as a conclusion — what we do with each is the open question.
The work is to decide, per alliance: what we leverage it for, which of our integrated propositions it sits behind, what kind of relationship it is (co-sell, resell, delivery, referral), which markets and accounts it opens, and what it demands from us in certifications, trained staff and pipeline commitments.
Two links to the rest of the strategy: the alliance map must reconcile with the account coverage map (an alliance that opens an account should show up against that account), and with the talent plan (certifications and accredited staff are a recruitment and training cost).
If other alliances belong here — hyperscaler or platform vendors we do not yet work with, or regional players — the cycle is where we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COO, CIO, head of retail banking, chief data officer,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banking modernisation and migration the drivers include retail versus corporate versus SME scope,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banking-platform alliances. Add any others the cycle identifies.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Ten sections, plus an appendix of blank templates.</a:t>
            </a:r>
            <a:endParaRPr lang="en-US" sz="1450" dirty="0"/>
          </a:p>
        </p:txBody>
      </p:sp>
      <p:sp>
        <p:nvSpPr>
          <p:cNvPr id="4" name="Shape 2"/>
          <p:cNvSpPr/>
          <p:nvPr/>
        </p:nvSpPr>
        <p:spPr>
          <a:xfrm>
            <a:off x="640080" y="1783080"/>
            <a:ext cx="5257800" cy="713232"/>
          </a:xfrm>
          <a:prstGeom prst="roundRect">
            <a:avLst>
              <a:gd name="adj" fmla="val 10256"/>
            </a:avLst>
          </a:prstGeom>
          <a:solidFill>
            <a:srgbClr val="F2F6FC"/>
          </a:solidFill>
          <a:ln/>
        </p:spPr>
      </p:sp>
      <p:sp>
        <p:nvSpPr>
          <p:cNvPr id="5" name="Shape 3"/>
          <p:cNvSpPr/>
          <p:nvPr/>
        </p:nvSpPr>
        <p:spPr>
          <a:xfrm>
            <a:off x="841248" y="1938528"/>
            <a:ext cx="402336" cy="402336"/>
          </a:xfrm>
          <a:prstGeom prst="ellipse">
            <a:avLst/>
          </a:prstGeom>
          <a:solidFill>
            <a:srgbClr val="1E2761"/>
          </a:solidFill>
          <a:ln/>
        </p:spPr>
      </p:sp>
      <p:sp>
        <p:nvSpPr>
          <p:cNvPr id="6" name="Text 4"/>
          <p:cNvSpPr txBox="1"/>
          <p:nvPr/>
        </p:nvSpPr>
        <p:spPr>
          <a:xfrm>
            <a:off x="841248" y="193852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56232"/>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What this document is</a:t>
            </a:r>
            <a:endParaRPr lang="en-US" sz="1500" dirty="0"/>
          </a:p>
        </p:txBody>
      </p:sp>
      <p:sp>
        <p:nvSpPr>
          <p:cNvPr id="8" name="Text 6"/>
          <p:cNvSpPr txBox="1"/>
          <p:nvPr/>
        </p:nvSpPr>
        <p:spPr>
          <a:xfrm>
            <a:off x="1417320" y="2167128"/>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Method, not conclusion</a:t>
            </a:r>
            <a:endParaRPr lang="en-US" sz="1150" dirty="0"/>
          </a:p>
        </p:txBody>
      </p:sp>
      <p:sp>
        <p:nvSpPr>
          <p:cNvPr id="9" name="Shape 7"/>
          <p:cNvSpPr/>
          <p:nvPr/>
        </p:nvSpPr>
        <p:spPr>
          <a:xfrm>
            <a:off x="6263640" y="1783080"/>
            <a:ext cx="5257800" cy="713232"/>
          </a:xfrm>
          <a:prstGeom prst="roundRect">
            <a:avLst>
              <a:gd name="adj" fmla="val 10256"/>
            </a:avLst>
          </a:prstGeom>
          <a:solidFill>
            <a:srgbClr val="EDF2FA"/>
          </a:solidFill>
          <a:ln/>
        </p:spPr>
      </p:sp>
      <p:sp>
        <p:nvSpPr>
          <p:cNvPr id="10" name="Shape 8"/>
          <p:cNvSpPr/>
          <p:nvPr/>
        </p:nvSpPr>
        <p:spPr>
          <a:xfrm>
            <a:off x="6464808" y="1938528"/>
            <a:ext cx="402336" cy="402336"/>
          </a:xfrm>
          <a:prstGeom prst="ellipse">
            <a:avLst/>
          </a:prstGeom>
          <a:solidFill>
            <a:srgbClr val="3E5C8A"/>
          </a:solidFill>
          <a:ln/>
        </p:spPr>
      </p:sp>
      <p:sp>
        <p:nvSpPr>
          <p:cNvPr id="11" name="Text 9"/>
          <p:cNvSpPr txBox="1"/>
          <p:nvPr/>
        </p:nvSpPr>
        <p:spPr>
          <a:xfrm>
            <a:off x="6464808" y="193852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56232"/>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Eight questions to answer</a:t>
            </a:r>
            <a:endParaRPr lang="en-US" sz="1500" dirty="0"/>
          </a:p>
        </p:txBody>
      </p:sp>
      <p:sp>
        <p:nvSpPr>
          <p:cNvPr id="13" name="Text 11"/>
          <p:cNvSpPr txBox="1"/>
          <p:nvPr/>
        </p:nvSpPr>
        <p:spPr>
          <a:xfrm>
            <a:off x="7040880" y="2167128"/>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The dimensions the strategy must close</a:t>
            </a:r>
            <a:endParaRPr lang="en-US" sz="1150" dirty="0"/>
          </a:p>
        </p:txBody>
      </p:sp>
      <p:sp>
        <p:nvSpPr>
          <p:cNvPr id="14" name="Shape 12"/>
          <p:cNvSpPr/>
          <p:nvPr/>
        </p:nvSpPr>
        <p:spPr>
          <a:xfrm>
            <a:off x="640080" y="2633472"/>
            <a:ext cx="5257800" cy="713232"/>
          </a:xfrm>
          <a:prstGeom prst="roundRect">
            <a:avLst>
              <a:gd name="adj" fmla="val 10256"/>
            </a:avLst>
          </a:prstGeom>
          <a:solidFill>
            <a:srgbClr val="F2F6FC"/>
          </a:solidFill>
          <a:ln/>
        </p:spPr>
      </p:sp>
      <p:sp>
        <p:nvSpPr>
          <p:cNvPr id="15" name="Shape 13"/>
          <p:cNvSpPr/>
          <p:nvPr/>
        </p:nvSpPr>
        <p:spPr>
          <a:xfrm>
            <a:off x="841248" y="2788920"/>
            <a:ext cx="402336" cy="402336"/>
          </a:xfrm>
          <a:prstGeom prst="ellipse">
            <a:avLst/>
          </a:prstGeom>
          <a:solidFill>
            <a:srgbClr val="1E2761"/>
          </a:solidFill>
          <a:ln/>
        </p:spPr>
      </p:sp>
      <p:sp>
        <p:nvSpPr>
          <p:cNvPr id="16" name="Text 14"/>
          <p:cNvSpPr txBox="1"/>
          <p:nvPr/>
        </p:nvSpPr>
        <p:spPr>
          <a:xfrm>
            <a:off x="841248" y="278892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2706624"/>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Principles we hold going in</a:t>
            </a:r>
            <a:endParaRPr lang="en-US" sz="1500" dirty="0"/>
          </a:p>
        </p:txBody>
      </p:sp>
      <p:sp>
        <p:nvSpPr>
          <p:cNvPr id="18" name="Text 16"/>
          <p:cNvSpPr txBox="1"/>
          <p:nvPr/>
        </p:nvSpPr>
        <p:spPr>
          <a:xfrm>
            <a:off x="1417320" y="3017520"/>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Constraints agreed before the work starts</a:t>
            </a:r>
            <a:endParaRPr lang="en-US" sz="1150" dirty="0"/>
          </a:p>
        </p:txBody>
      </p:sp>
      <p:sp>
        <p:nvSpPr>
          <p:cNvPr id="19" name="Shape 17"/>
          <p:cNvSpPr/>
          <p:nvPr/>
        </p:nvSpPr>
        <p:spPr>
          <a:xfrm>
            <a:off x="6263640" y="2633472"/>
            <a:ext cx="5257800" cy="713232"/>
          </a:xfrm>
          <a:prstGeom prst="roundRect">
            <a:avLst>
              <a:gd name="adj" fmla="val 10256"/>
            </a:avLst>
          </a:prstGeom>
          <a:solidFill>
            <a:srgbClr val="EDF2FA"/>
          </a:solidFill>
          <a:ln/>
        </p:spPr>
      </p:sp>
      <p:sp>
        <p:nvSpPr>
          <p:cNvPr id="20" name="Shape 18"/>
          <p:cNvSpPr/>
          <p:nvPr/>
        </p:nvSpPr>
        <p:spPr>
          <a:xfrm>
            <a:off x="6464808" y="2788920"/>
            <a:ext cx="402336" cy="402336"/>
          </a:xfrm>
          <a:prstGeom prst="ellipse">
            <a:avLst/>
          </a:prstGeom>
          <a:solidFill>
            <a:srgbClr val="3E5C8A"/>
          </a:solidFill>
          <a:ln/>
        </p:spPr>
      </p:sp>
      <p:sp>
        <p:nvSpPr>
          <p:cNvPr id="21" name="Text 19"/>
          <p:cNvSpPr txBox="1"/>
          <p:nvPr/>
        </p:nvSpPr>
        <p:spPr>
          <a:xfrm>
            <a:off x="6464808" y="278892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2706624"/>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How we will get there</a:t>
            </a:r>
            <a:endParaRPr lang="en-US" sz="1500" dirty="0"/>
          </a:p>
        </p:txBody>
      </p:sp>
      <p:sp>
        <p:nvSpPr>
          <p:cNvPr id="23" name="Text 21"/>
          <p:cNvSpPr txBox="1"/>
          <p:nvPr/>
        </p:nvSpPr>
        <p:spPr>
          <a:xfrm>
            <a:off x="7040880" y="3017520"/>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The five-step approach</a:t>
            </a:r>
            <a:endParaRPr lang="en-US" sz="1150" dirty="0"/>
          </a:p>
        </p:txBody>
      </p:sp>
      <p:sp>
        <p:nvSpPr>
          <p:cNvPr id="24" name="Shape 22"/>
          <p:cNvSpPr/>
          <p:nvPr/>
        </p:nvSpPr>
        <p:spPr>
          <a:xfrm>
            <a:off x="640080" y="3483864"/>
            <a:ext cx="5257800" cy="713232"/>
          </a:xfrm>
          <a:prstGeom prst="roundRect">
            <a:avLst>
              <a:gd name="adj" fmla="val 10256"/>
            </a:avLst>
          </a:prstGeom>
          <a:solidFill>
            <a:srgbClr val="F2F6FC"/>
          </a:solidFill>
          <a:ln/>
        </p:spPr>
      </p:sp>
      <p:sp>
        <p:nvSpPr>
          <p:cNvPr id="25" name="Shape 23"/>
          <p:cNvSpPr/>
          <p:nvPr/>
        </p:nvSpPr>
        <p:spPr>
          <a:xfrm>
            <a:off x="841248" y="3639312"/>
            <a:ext cx="402336" cy="402336"/>
          </a:xfrm>
          <a:prstGeom prst="ellipse">
            <a:avLst/>
          </a:prstGeom>
          <a:solidFill>
            <a:srgbClr val="1E2761"/>
          </a:solidFill>
          <a:ln/>
        </p:spPr>
      </p:sp>
      <p:sp>
        <p:nvSpPr>
          <p:cNvPr id="26" name="Text 24"/>
          <p:cNvSpPr txBox="1"/>
          <p:nvPr/>
        </p:nvSpPr>
        <p:spPr>
          <a:xfrm>
            <a:off x="841248" y="363931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3557016"/>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Eight workstreams, eight artefacts</a:t>
            </a:r>
            <a:endParaRPr lang="en-US" sz="1500" dirty="0"/>
          </a:p>
        </p:txBody>
      </p:sp>
      <p:sp>
        <p:nvSpPr>
          <p:cNvPr id="28" name="Text 26"/>
          <p:cNvSpPr txBox="1"/>
          <p:nvPr/>
        </p:nvSpPr>
        <p:spPr>
          <a:xfrm>
            <a:off x="1417320" y="3867912"/>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Who owns what, and what each produces</a:t>
            </a:r>
            <a:endParaRPr lang="en-US" sz="1150" dirty="0"/>
          </a:p>
        </p:txBody>
      </p:sp>
      <p:sp>
        <p:nvSpPr>
          <p:cNvPr id="29" name="Shape 27"/>
          <p:cNvSpPr/>
          <p:nvPr/>
        </p:nvSpPr>
        <p:spPr>
          <a:xfrm>
            <a:off x="6263640" y="3483864"/>
            <a:ext cx="5257800" cy="713232"/>
          </a:xfrm>
          <a:prstGeom prst="roundRect">
            <a:avLst>
              <a:gd name="adj" fmla="val 10256"/>
            </a:avLst>
          </a:prstGeom>
          <a:solidFill>
            <a:srgbClr val="EDF2FA"/>
          </a:solidFill>
          <a:ln/>
        </p:spPr>
      </p:sp>
      <p:sp>
        <p:nvSpPr>
          <p:cNvPr id="30" name="Shape 28"/>
          <p:cNvSpPr/>
          <p:nvPr/>
        </p:nvSpPr>
        <p:spPr>
          <a:xfrm>
            <a:off x="6464808" y="3639312"/>
            <a:ext cx="402336" cy="402336"/>
          </a:xfrm>
          <a:prstGeom prst="ellipse">
            <a:avLst/>
          </a:prstGeom>
          <a:solidFill>
            <a:srgbClr val="3E5C8A"/>
          </a:solidFill>
          <a:ln/>
        </p:spPr>
      </p:sp>
      <p:sp>
        <p:nvSpPr>
          <p:cNvPr id="31" name="Text 29"/>
          <p:cNvSpPr txBox="1"/>
          <p:nvPr/>
        </p:nvSpPr>
        <p:spPr>
          <a:xfrm>
            <a:off x="6464808" y="363931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3557016"/>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Team and talent</a:t>
            </a:r>
            <a:endParaRPr lang="en-US" sz="1500" dirty="0"/>
          </a:p>
        </p:txBody>
      </p:sp>
      <p:sp>
        <p:nvSpPr>
          <p:cNvPr id="33" name="Text 31"/>
          <p:cNvSpPr txBox="1"/>
          <p:nvPr/>
        </p:nvSpPr>
        <p:spPr>
          <a:xfrm>
            <a:off x="7040880" y="3867912"/>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Dedicated, shared and the gap to close</a:t>
            </a:r>
            <a:endParaRPr lang="en-US" sz="1150" dirty="0"/>
          </a:p>
        </p:txBody>
      </p:sp>
      <p:sp>
        <p:nvSpPr>
          <p:cNvPr id="34" name="Shape 32"/>
          <p:cNvSpPr/>
          <p:nvPr/>
        </p:nvSpPr>
        <p:spPr>
          <a:xfrm>
            <a:off x="640080" y="4334256"/>
            <a:ext cx="5257800" cy="713232"/>
          </a:xfrm>
          <a:prstGeom prst="roundRect">
            <a:avLst>
              <a:gd name="adj" fmla="val 10256"/>
            </a:avLst>
          </a:prstGeom>
          <a:solidFill>
            <a:srgbClr val="F2F6FC"/>
          </a:solidFill>
          <a:ln/>
        </p:spPr>
      </p:sp>
      <p:sp>
        <p:nvSpPr>
          <p:cNvPr id="35" name="Shape 33"/>
          <p:cNvSpPr/>
          <p:nvPr/>
        </p:nvSpPr>
        <p:spPr>
          <a:xfrm>
            <a:off x="841248" y="4489704"/>
            <a:ext cx="402336" cy="402336"/>
          </a:xfrm>
          <a:prstGeom prst="ellipse">
            <a:avLst/>
          </a:prstGeom>
          <a:solidFill>
            <a:srgbClr val="1E2761"/>
          </a:solidFill>
          <a:ln/>
        </p:spPr>
      </p:sp>
      <p:sp>
        <p:nvSpPr>
          <p:cNvPr id="36" name="Text 34"/>
          <p:cNvSpPr txBox="1"/>
          <p:nvPr/>
        </p:nvSpPr>
        <p:spPr>
          <a:xfrm>
            <a:off x="841248" y="448970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4407408"/>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Eminence and positioning</a:t>
            </a:r>
            <a:endParaRPr lang="en-US" sz="1500" dirty="0"/>
          </a:p>
        </p:txBody>
      </p:sp>
      <p:sp>
        <p:nvSpPr>
          <p:cNvPr id="38" name="Text 36"/>
          <p:cNvSpPr txBox="1"/>
          <p:nvPr/>
        </p:nvSpPr>
        <p:spPr>
          <a:xfrm>
            <a:off x="1417320" y="4718304"/>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How the market comes to know us</a:t>
            </a:r>
            <a:endParaRPr lang="en-US" sz="1150" dirty="0"/>
          </a:p>
        </p:txBody>
      </p:sp>
      <p:sp>
        <p:nvSpPr>
          <p:cNvPr id="39" name="Shape 37"/>
          <p:cNvSpPr/>
          <p:nvPr/>
        </p:nvSpPr>
        <p:spPr>
          <a:xfrm>
            <a:off x="6263640" y="4334256"/>
            <a:ext cx="5257800" cy="713232"/>
          </a:xfrm>
          <a:prstGeom prst="roundRect">
            <a:avLst>
              <a:gd name="adj" fmla="val 10256"/>
            </a:avLst>
          </a:prstGeom>
          <a:solidFill>
            <a:srgbClr val="EDF2FA"/>
          </a:solidFill>
          <a:ln/>
        </p:spPr>
      </p:sp>
      <p:sp>
        <p:nvSpPr>
          <p:cNvPr id="40" name="Shape 38"/>
          <p:cNvSpPr/>
          <p:nvPr/>
        </p:nvSpPr>
        <p:spPr>
          <a:xfrm>
            <a:off x="6464808" y="4489704"/>
            <a:ext cx="402336" cy="402336"/>
          </a:xfrm>
          <a:prstGeom prst="ellipse">
            <a:avLst/>
          </a:prstGeom>
          <a:solidFill>
            <a:srgbClr val="3E5C8A"/>
          </a:solidFill>
          <a:ln/>
        </p:spPr>
      </p:sp>
      <p:sp>
        <p:nvSpPr>
          <p:cNvPr id="41" name="Text 39"/>
          <p:cNvSpPr txBox="1"/>
          <p:nvPr/>
        </p:nvSpPr>
        <p:spPr>
          <a:xfrm>
            <a:off x="6464808" y="448970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4407408"/>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Alliances</a:t>
            </a:r>
            <a:endParaRPr lang="en-US" sz="1500" dirty="0"/>
          </a:p>
        </p:txBody>
      </p:sp>
      <p:sp>
        <p:nvSpPr>
          <p:cNvPr id="43" name="Text 41"/>
          <p:cNvSpPr txBox="1"/>
          <p:nvPr/>
        </p:nvSpPr>
        <p:spPr>
          <a:xfrm>
            <a:off x="7040880" y="4718304"/>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Who we go to market with, and for what</a:t>
            </a:r>
            <a:endParaRPr lang="en-US" sz="1150" dirty="0"/>
          </a:p>
        </p:txBody>
      </p:sp>
      <p:sp>
        <p:nvSpPr>
          <p:cNvPr id="44" name="Shape 42"/>
          <p:cNvSpPr/>
          <p:nvPr/>
        </p:nvSpPr>
        <p:spPr>
          <a:xfrm>
            <a:off x="640080" y="5184648"/>
            <a:ext cx="5257800" cy="713232"/>
          </a:xfrm>
          <a:prstGeom prst="roundRect">
            <a:avLst>
              <a:gd name="adj" fmla="val 10256"/>
            </a:avLst>
          </a:prstGeom>
          <a:solidFill>
            <a:srgbClr val="F2F6FC"/>
          </a:solidFill>
          <a:ln/>
        </p:spPr>
      </p:sp>
      <p:sp>
        <p:nvSpPr>
          <p:cNvPr id="45" name="Shape 43"/>
          <p:cNvSpPr/>
          <p:nvPr/>
        </p:nvSpPr>
        <p:spPr>
          <a:xfrm>
            <a:off x="841248" y="5340096"/>
            <a:ext cx="402336" cy="402336"/>
          </a:xfrm>
          <a:prstGeom prst="ellipse">
            <a:avLst/>
          </a:prstGeom>
          <a:solidFill>
            <a:srgbClr val="1E2761"/>
          </a:solidFill>
          <a:ln/>
        </p:spPr>
      </p:sp>
      <p:sp>
        <p:nvSpPr>
          <p:cNvPr id="46" name="Text 44"/>
          <p:cNvSpPr txBox="1"/>
          <p:nvPr/>
        </p:nvSpPr>
        <p:spPr>
          <a:xfrm>
            <a:off x="841248" y="534009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417320" y="5257800"/>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three-week journey</a:t>
            </a:r>
            <a:endParaRPr lang="en-US" sz="1500" dirty="0"/>
          </a:p>
        </p:txBody>
      </p:sp>
      <p:sp>
        <p:nvSpPr>
          <p:cNvPr id="48" name="Text 46"/>
          <p:cNvSpPr txBox="1"/>
          <p:nvPr/>
        </p:nvSpPr>
        <p:spPr>
          <a:xfrm>
            <a:off x="1417320" y="5568696"/>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Week by week, with a gate each week</a:t>
            </a:r>
            <a:endParaRPr lang="en-US" sz="1150" dirty="0"/>
          </a:p>
        </p:txBody>
      </p:sp>
      <p:sp>
        <p:nvSpPr>
          <p:cNvPr id="49" name="Shape 47"/>
          <p:cNvSpPr/>
          <p:nvPr/>
        </p:nvSpPr>
        <p:spPr>
          <a:xfrm>
            <a:off x="6263640" y="5184648"/>
            <a:ext cx="5257800" cy="713232"/>
          </a:xfrm>
          <a:prstGeom prst="roundRect">
            <a:avLst>
              <a:gd name="adj" fmla="val 10256"/>
            </a:avLst>
          </a:prstGeom>
          <a:solidFill>
            <a:srgbClr val="EDF2FA"/>
          </a:solidFill>
          <a:ln/>
        </p:spPr>
      </p:sp>
      <p:sp>
        <p:nvSpPr>
          <p:cNvPr id="50" name="Shape 48"/>
          <p:cNvSpPr/>
          <p:nvPr/>
        </p:nvSpPr>
        <p:spPr>
          <a:xfrm>
            <a:off x="6464808" y="5340096"/>
            <a:ext cx="402336" cy="402336"/>
          </a:xfrm>
          <a:prstGeom prst="ellipse">
            <a:avLst/>
          </a:prstGeom>
          <a:solidFill>
            <a:srgbClr val="3E5C8A"/>
          </a:solidFill>
          <a:ln/>
        </p:spPr>
      </p:sp>
      <p:sp>
        <p:nvSpPr>
          <p:cNvPr id="51" name="Text 49"/>
          <p:cNvSpPr txBox="1"/>
          <p:nvPr/>
        </p:nvSpPr>
        <p:spPr>
          <a:xfrm>
            <a:off x="6464808" y="534009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7040880" y="5257800"/>
            <a:ext cx="4297680" cy="310896"/>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How we run it</a:t>
            </a:r>
            <a:endParaRPr lang="en-US" sz="1500" dirty="0"/>
          </a:p>
        </p:txBody>
      </p:sp>
      <p:sp>
        <p:nvSpPr>
          <p:cNvPr id="53" name="Text 51"/>
          <p:cNvSpPr txBox="1"/>
          <p:nvPr/>
        </p:nvSpPr>
        <p:spPr>
          <a:xfrm>
            <a:off x="7040880" y="5568696"/>
            <a:ext cx="4297680" cy="274320"/>
          </a:xfrm>
          <a:prstGeom prst="rect">
            <a:avLst/>
          </a:prstGeom>
          <a:noFill/>
          <a:ln/>
        </p:spPr>
        <p:txBody>
          <a:bodyPr wrap="square" lIns="0" tIns="0" rIns="0" bIns="0" rtlCol="0" anchor="ctr"/>
          <a:lstStyle/>
          <a:p>
            <a:pPr indent="0" marL="0">
              <a:buNone/>
            </a:pPr>
            <a:r>
              <a:rPr lang="en-US" sz="1150" dirty="0">
                <a:solidFill>
                  <a:srgbClr val="8792AB"/>
                </a:solidFill>
                <a:latin typeface="Calibri" pitchFamily="34" charset="0"/>
                <a:ea typeface="Calibri" pitchFamily="34" charset="-122"/>
                <a:cs typeface="Calibri" pitchFamily="34" charset="-120"/>
              </a:rPr>
              <a:t>Cadence, inputs and decisions requested</a:t>
            </a:r>
            <a:endParaRPr lang="en-US" sz="1150" dirty="0"/>
          </a:p>
        </p:txBody>
      </p:sp>
      <p:sp>
        <p:nvSpPr>
          <p:cNvPr id="54" name="Text 52"/>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Eight questions to answer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dimension is owned by one workstream and closed at sign-off.</a:t>
            </a:r>
            <a:endParaRPr lang="en-US" sz="1450" dirty="0"/>
          </a:p>
        </p:txBody>
      </p:sp>
      <p:sp>
        <p:nvSpPr>
          <p:cNvPr id="4" name="Shape 2"/>
          <p:cNvSpPr/>
          <p:nvPr/>
        </p:nvSpPr>
        <p:spPr>
          <a:xfrm>
            <a:off x="640080" y="1828800"/>
            <a:ext cx="2606040" cy="1783080"/>
          </a:xfrm>
          <a:prstGeom prst="roundRect">
            <a:avLst>
              <a:gd name="adj" fmla="val 6154"/>
            </a:avLst>
          </a:prstGeom>
          <a:solidFill>
            <a:srgbClr val="E4EBF7"/>
          </a:solidFill>
          <a:ln/>
        </p:spPr>
      </p:sp>
      <p:sp>
        <p:nvSpPr>
          <p:cNvPr id="5" name="Shape 3"/>
          <p:cNvSpPr/>
          <p:nvPr/>
        </p:nvSpPr>
        <p:spPr>
          <a:xfrm>
            <a:off x="868680" y="2084832"/>
            <a:ext cx="365760" cy="365760"/>
          </a:xfrm>
          <a:prstGeom prst="ellipse">
            <a:avLst/>
          </a:prstGeom>
          <a:solidFill>
            <a:srgbClr val="1E2761"/>
          </a:solidFill>
          <a:ln/>
        </p:spPr>
      </p:sp>
      <p:sp>
        <p:nvSpPr>
          <p:cNvPr id="6" name="Text 4"/>
          <p:cNvSpPr txBox="1"/>
          <p:nvPr/>
        </p:nvSpPr>
        <p:spPr>
          <a:xfrm>
            <a:off x="8686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Where to play</a:t>
            </a:r>
            <a:endParaRPr lang="en-US" sz="1450" dirty="0"/>
          </a:p>
        </p:txBody>
      </p:sp>
      <p:sp>
        <p:nvSpPr>
          <p:cNvPr id="8" name="Text 6"/>
          <p:cNvSpPr txBox="1"/>
          <p:nvPr/>
        </p:nvSpPr>
        <p:spPr>
          <a:xfrm>
            <a:off x="8961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markets, in what priority?</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client segments?</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named accounts?</a:t>
            </a:r>
            <a:endParaRPr lang="en-US" sz="1050" dirty="0"/>
          </a:p>
        </p:txBody>
      </p:sp>
      <p:sp>
        <p:nvSpPr>
          <p:cNvPr id="9" name="Shape 7"/>
          <p:cNvSpPr/>
          <p:nvPr/>
        </p:nvSpPr>
        <p:spPr>
          <a:xfrm>
            <a:off x="3383280" y="1828800"/>
            <a:ext cx="2606040" cy="1783080"/>
          </a:xfrm>
          <a:prstGeom prst="roundRect">
            <a:avLst>
              <a:gd name="adj" fmla="val 6154"/>
            </a:avLst>
          </a:prstGeom>
          <a:solidFill>
            <a:srgbClr val="EDF2FA"/>
          </a:solidFill>
          <a:ln/>
        </p:spPr>
      </p:sp>
      <p:sp>
        <p:nvSpPr>
          <p:cNvPr id="10" name="Shape 8"/>
          <p:cNvSpPr/>
          <p:nvPr/>
        </p:nvSpPr>
        <p:spPr>
          <a:xfrm>
            <a:off x="3611880" y="2084832"/>
            <a:ext cx="365760" cy="365760"/>
          </a:xfrm>
          <a:prstGeom prst="ellipse">
            <a:avLst/>
          </a:prstGeom>
          <a:solidFill>
            <a:srgbClr val="1E2761"/>
          </a:solidFill>
          <a:ln/>
        </p:spPr>
      </p:sp>
      <p:sp>
        <p:nvSpPr>
          <p:cNvPr id="11" name="Text 9"/>
          <p:cNvSpPr txBox="1"/>
          <p:nvPr/>
        </p:nvSpPr>
        <p:spPr>
          <a:xfrm>
            <a:off x="36118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40965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we offer</a:t>
            </a:r>
            <a:endParaRPr lang="en-US" sz="1450" dirty="0"/>
          </a:p>
        </p:txBody>
      </p:sp>
      <p:sp>
        <p:nvSpPr>
          <p:cNvPr id="13" name="Text 11"/>
          <p:cNvSpPr txBox="1"/>
          <p:nvPr/>
        </p:nvSpPr>
        <p:spPr>
          <a:xfrm>
            <a:off x="36393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integrated propositions across the three pillars?</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partial offerings are permitted?</a:t>
            </a:r>
            <a:endParaRPr lang="en-US" sz="1050" dirty="0"/>
          </a:p>
        </p:txBody>
      </p:sp>
      <p:sp>
        <p:nvSpPr>
          <p:cNvPr id="14" name="Shape 12"/>
          <p:cNvSpPr/>
          <p:nvPr/>
        </p:nvSpPr>
        <p:spPr>
          <a:xfrm>
            <a:off x="6126480" y="1828800"/>
            <a:ext cx="2606040" cy="1783080"/>
          </a:xfrm>
          <a:prstGeom prst="roundRect">
            <a:avLst>
              <a:gd name="adj" fmla="val 6154"/>
            </a:avLst>
          </a:prstGeom>
          <a:solidFill>
            <a:srgbClr val="E4EBF7"/>
          </a:solidFill>
          <a:ln/>
        </p:spPr>
      </p:sp>
      <p:sp>
        <p:nvSpPr>
          <p:cNvPr id="15" name="Shape 13"/>
          <p:cNvSpPr/>
          <p:nvPr/>
        </p:nvSpPr>
        <p:spPr>
          <a:xfrm>
            <a:off x="6355080" y="2084832"/>
            <a:ext cx="365760" cy="365760"/>
          </a:xfrm>
          <a:prstGeom prst="ellipse">
            <a:avLst/>
          </a:prstGeom>
          <a:solidFill>
            <a:srgbClr val="1E2761"/>
          </a:solidFill>
          <a:ln/>
        </p:spPr>
      </p:sp>
      <p:sp>
        <p:nvSpPr>
          <p:cNvPr id="16" name="Text 14"/>
          <p:cNvSpPr txBox="1"/>
          <p:nvPr/>
        </p:nvSpPr>
        <p:spPr>
          <a:xfrm>
            <a:off x="63550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8397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win</a:t>
            </a:r>
            <a:endParaRPr lang="en-US" sz="1450" dirty="0"/>
          </a:p>
        </p:txBody>
      </p:sp>
      <p:sp>
        <p:nvSpPr>
          <p:cNvPr id="18" name="Text 16"/>
          <p:cNvSpPr txBox="1"/>
          <p:nvPr/>
        </p:nvSpPr>
        <p:spPr>
          <a:xfrm>
            <a:off x="63825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differentiates us?</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alliances and credentials are needed?</a:t>
            </a:r>
            <a:endParaRPr lang="en-US" sz="1050" dirty="0"/>
          </a:p>
        </p:txBody>
      </p:sp>
      <p:sp>
        <p:nvSpPr>
          <p:cNvPr id="19" name="Shape 17"/>
          <p:cNvSpPr/>
          <p:nvPr/>
        </p:nvSpPr>
        <p:spPr>
          <a:xfrm>
            <a:off x="8869680" y="1828800"/>
            <a:ext cx="2606040" cy="1783080"/>
          </a:xfrm>
          <a:prstGeom prst="roundRect">
            <a:avLst>
              <a:gd name="adj" fmla="val 6154"/>
            </a:avLst>
          </a:prstGeom>
          <a:solidFill>
            <a:srgbClr val="EDF2FA"/>
          </a:solidFill>
          <a:ln/>
        </p:spPr>
      </p:sp>
      <p:sp>
        <p:nvSpPr>
          <p:cNvPr id="20" name="Shape 18"/>
          <p:cNvSpPr/>
          <p:nvPr/>
        </p:nvSpPr>
        <p:spPr>
          <a:xfrm>
            <a:off x="9098280" y="2084832"/>
            <a:ext cx="365760" cy="365760"/>
          </a:xfrm>
          <a:prstGeom prst="ellipse">
            <a:avLst/>
          </a:prstGeom>
          <a:solidFill>
            <a:srgbClr val="1E2761"/>
          </a:solidFill>
          <a:ln/>
        </p:spPr>
      </p:sp>
      <p:sp>
        <p:nvSpPr>
          <p:cNvPr id="21" name="Text 19"/>
          <p:cNvSpPr txBox="1"/>
          <p:nvPr/>
        </p:nvSpPr>
        <p:spPr>
          <a:xfrm>
            <a:off x="90982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95829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much</a:t>
            </a:r>
            <a:endParaRPr lang="en-US" sz="1450" dirty="0"/>
          </a:p>
        </p:txBody>
      </p:sp>
      <p:sp>
        <p:nvSpPr>
          <p:cNvPr id="23" name="Text 21"/>
          <p:cNvSpPr txBox="1"/>
          <p:nvPr/>
        </p:nvSpPr>
        <p:spPr>
          <a:xfrm>
            <a:off x="91257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revenue by market and by offering?</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deal sizes and price bands does the market pay?</a:t>
            </a:r>
            <a:endParaRPr lang="en-US" sz="1050" dirty="0"/>
          </a:p>
        </p:txBody>
      </p:sp>
      <p:sp>
        <p:nvSpPr>
          <p:cNvPr id="24" name="Shape 22"/>
          <p:cNvSpPr/>
          <p:nvPr/>
        </p:nvSpPr>
        <p:spPr>
          <a:xfrm>
            <a:off x="640080" y="3794760"/>
            <a:ext cx="2606040" cy="1783080"/>
          </a:xfrm>
          <a:prstGeom prst="roundRect">
            <a:avLst>
              <a:gd name="adj" fmla="val 6154"/>
            </a:avLst>
          </a:prstGeom>
          <a:solidFill>
            <a:srgbClr val="E4EBF7"/>
          </a:solidFill>
          <a:ln/>
        </p:spPr>
      </p:sp>
      <p:sp>
        <p:nvSpPr>
          <p:cNvPr id="25" name="Shape 23"/>
          <p:cNvSpPr/>
          <p:nvPr/>
        </p:nvSpPr>
        <p:spPr>
          <a:xfrm>
            <a:off x="868680" y="4050792"/>
            <a:ext cx="365760" cy="365760"/>
          </a:xfrm>
          <a:prstGeom prst="ellipse">
            <a:avLst/>
          </a:prstGeom>
          <a:solidFill>
            <a:srgbClr val="1E2761"/>
          </a:solidFill>
          <a:ln/>
        </p:spPr>
      </p:sp>
      <p:sp>
        <p:nvSpPr>
          <p:cNvPr id="26" name="Text 24"/>
          <p:cNvSpPr txBox="1"/>
          <p:nvPr/>
        </p:nvSpPr>
        <p:spPr>
          <a:xfrm>
            <a:off x="86868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353312" y="403250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Who covers what</a:t>
            </a:r>
            <a:endParaRPr lang="en-US" sz="1450" dirty="0"/>
          </a:p>
        </p:txBody>
      </p:sp>
      <p:sp>
        <p:nvSpPr>
          <p:cNvPr id="28" name="Text 26"/>
          <p:cNvSpPr txBox="1"/>
          <p:nvPr/>
        </p:nvSpPr>
        <p:spPr>
          <a:xfrm>
            <a:off x="896112" y="450799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partner owns which account?</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coverage model across markets?</a:t>
            </a:r>
            <a:endParaRPr lang="en-US" sz="1050" dirty="0"/>
          </a:p>
        </p:txBody>
      </p:sp>
      <p:sp>
        <p:nvSpPr>
          <p:cNvPr id="29" name="Shape 27"/>
          <p:cNvSpPr/>
          <p:nvPr/>
        </p:nvSpPr>
        <p:spPr>
          <a:xfrm>
            <a:off x="3383280" y="3794760"/>
            <a:ext cx="2606040" cy="1783080"/>
          </a:xfrm>
          <a:prstGeom prst="roundRect">
            <a:avLst>
              <a:gd name="adj" fmla="val 6154"/>
            </a:avLst>
          </a:prstGeom>
          <a:solidFill>
            <a:srgbClr val="EDF2FA"/>
          </a:solidFill>
          <a:ln/>
        </p:spPr>
      </p:sp>
      <p:sp>
        <p:nvSpPr>
          <p:cNvPr id="30" name="Shape 28"/>
          <p:cNvSpPr/>
          <p:nvPr/>
        </p:nvSpPr>
        <p:spPr>
          <a:xfrm>
            <a:off x="3611880" y="4050792"/>
            <a:ext cx="365760" cy="365760"/>
          </a:xfrm>
          <a:prstGeom prst="ellipse">
            <a:avLst/>
          </a:prstGeom>
          <a:solidFill>
            <a:srgbClr val="1E2761"/>
          </a:solidFill>
          <a:ln/>
        </p:spPr>
      </p:sp>
      <p:sp>
        <p:nvSpPr>
          <p:cNvPr id="31" name="Text 29"/>
          <p:cNvSpPr txBox="1"/>
          <p:nvPr/>
        </p:nvSpPr>
        <p:spPr>
          <a:xfrm>
            <a:off x="361188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4096512" y="403250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Who delivers it</a:t>
            </a:r>
            <a:endParaRPr lang="en-US" sz="1450" dirty="0"/>
          </a:p>
        </p:txBody>
      </p:sp>
      <p:sp>
        <p:nvSpPr>
          <p:cNvPr id="33" name="Text 31"/>
          <p:cNvSpPr txBox="1"/>
          <p:nvPr/>
        </p:nvSpPr>
        <p:spPr>
          <a:xfrm>
            <a:off x="3639312" y="450799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Who is dedicated to FSI?</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shared capacity can we draw on?</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must we recruit?</a:t>
            </a:r>
            <a:endParaRPr lang="en-US" sz="1050" dirty="0"/>
          </a:p>
        </p:txBody>
      </p:sp>
      <p:sp>
        <p:nvSpPr>
          <p:cNvPr id="34" name="Shape 32"/>
          <p:cNvSpPr/>
          <p:nvPr/>
        </p:nvSpPr>
        <p:spPr>
          <a:xfrm>
            <a:off x="6126480" y="3794760"/>
            <a:ext cx="2606040" cy="1783080"/>
          </a:xfrm>
          <a:prstGeom prst="roundRect">
            <a:avLst>
              <a:gd name="adj" fmla="val 6154"/>
            </a:avLst>
          </a:prstGeom>
          <a:solidFill>
            <a:srgbClr val="E4EBF7"/>
          </a:solidFill>
          <a:ln/>
        </p:spPr>
      </p:sp>
      <p:sp>
        <p:nvSpPr>
          <p:cNvPr id="35" name="Shape 33"/>
          <p:cNvSpPr/>
          <p:nvPr/>
        </p:nvSpPr>
        <p:spPr>
          <a:xfrm>
            <a:off x="6355080" y="4050792"/>
            <a:ext cx="365760" cy="365760"/>
          </a:xfrm>
          <a:prstGeom prst="ellipse">
            <a:avLst/>
          </a:prstGeom>
          <a:solidFill>
            <a:srgbClr val="1E2761"/>
          </a:solidFill>
          <a:ln/>
        </p:spPr>
      </p:sp>
      <p:sp>
        <p:nvSpPr>
          <p:cNvPr id="36" name="Text 34"/>
          <p:cNvSpPr txBox="1"/>
          <p:nvPr/>
        </p:nvSpPr>
        <p:spPr>
          <a:xfrm>
            <a:off x="635508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6839712" y="403250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are known</a:t>
            </a:r>
            <a:endParaRPr lang="en-US" sz="1450" dirty="0"/>
          </a:p>
        </p:txBody>
      </p:sp>
      <p:sp>
        <p:nvSpPr>
          <p:cNvPr id="38" name="Text 36"/>
          <p:cNvSpPr txBox="1"/>
          <p:nvPr/>
        </p:nvSpPr>
        <p:spPr>
          <a:xfrm>
            <a:off x="6382512" y="450799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Where must we be visible?</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do we publish, host or speak at?</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How do we measure it?</a:t>
            </a:r>
            <a:endParaRPr lang="en-US" sz="1050" dirty="0"/>
          </a:p>
        </p:txBody>
      </p:sp>
      <p:sp>
        <p:nvSpPr>
          <p:cNvPr id="39" name="Shape 37"/>
          <p:cNvSpPr/>
          <p:nvPr/>
        </p:nvSpPr>
        <p:spPr>
          <a:xfrm>
            <a:off x="8869680" y="3794760"/>
            <a:ext cx="2606040" cy="1783080"/>
          </a:xfrm>
          <a:prstGeom prst="roundRect">
            <a:avLst>
              <a:gd name="adj" fmla="val 6154"/>
            </a:avLst>
          </a:prstGeom>
          <a:solidFill>
            <a:srgbClr val="EDF2FA"/>
          </a:solidFill>
          <a:ln/>
        </p:spPr>
      </p:sp>
      <p:sp>
        <p:nvSpPr>
          <p:cNvPr id="40" name="Shape 38"/>
          <p:cNvSpPr/>
          <p:nvPr/>
        </p:nvSpPr>
        <p:spPr>
          <a:xfrm>
            <a:off x="9098280" y="4050792"/>
            <a:ext cx="365760" cy="365760"/>
          </a:xfrm>
          <a:prstGeom prst="ellipse">
            <a:avLst/>
          </a:prstGeom>
          <a:solidFill>
            <a:srgbClr val="1E2761"/>
          </a:solidFill>
          <a:ln/>
        </p:spPr>
      </p:sp>
      <p:sp>
        <p:nvSpPr>
          <p:cNvPr id="41" name="Text 39"/>
          <p:cNvSpPr txBox="1"/>
          <p:nvPr/>
        </p:nvSpPr>
        <p:spPr>
          <a:xfrm>
            <a:off x="909828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9582912" y="403250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Who we go with</a:t>
            </a:r>
            <a:endParaRPr lang="en-US" sz="1450" dirty="0"/>
          </a:p>
        </p:txBody>
      </p:sp>
      <p:sp>
        <p:nvSpPr>
          <p:cNvPr id="43" name="Text 41"/>
          <p:cNvSpPr txBox="1"/>
          <p:nvPr/>
        </p:nvSpPr>
        <p:spPr>
          <a:xfrm>
            <a:off x="9125712" y="450799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alliances matter for which offering?</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do we leverage each one for?</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do they expect back?</a:t>
            </a:r>
            <a:endParaRPr lang="en-US" sz="1050" dirty="0"/>
          </a:p>
        </p:txBody>
      </p:sp>
      <p:sp>
        <p:nvSpPr>
          <p:cNvPr id="44" name="Shape 42"/>
          <p:cNvSpPr/>
          <p:nvPr/>
        </p:nvSpPr>
        <p:spPr>
          <a:xfrm>
            <a:off x="4251960" y="6035040"/>
            <a:ext cx="3657600" cy="301752"/>
          </a:xfrm>
          <a:prstGeom prst="roundRect">
            <a:avLst>
              <a:gd name="adj" fmla="val 48485"/>
            </a:avLst>
          </a:prstGeom>
          <a:solidFill>
            <a:srgbClr val="FFFFFF"/>
          </a:solidFill>
          <a:ln w="12700">
            <a:solidFill>
              <a:srgbClr val="B8862B"/>
            </a:solidFill>
            <a:prstDash val="solid"/>
          </a:ln>
        </p:spPr>
      </p:sp>
      <p:sp>
        <p:nvSpPr>
          <p:cNvPr id="45" name="Text 43"/>
          <p:cNvSpPr txBox="1"/>
          <p:nvPr/>
        </p:nvSpPr>
        <p:spPr>
          <a:xfrm>
            <a:off x="4251960" y="603504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answers to be defined in the cycle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5257800" cy="1280160"/>
          </a:xfrm>
          <a:prstGeom prst="roundRect">
            <a:avLst>
              <a:gd name="adj" fmla="val 7143"/>
            </a:avLst>
          </a:prstGeom>
          <a:solidFill>
            <a:srgbClr val="EDF2FA"/>
          </a:solidFill>
          <a:ln/>
        </p:spPr>
      </p:sp>
      <p:sp>
        <p:nvSpPr>
          <p:cNvPr id="5" name="Shape 3"/>
          <p:cNvSpPr/>
          <p:nvPr/>
        </p:nvSpPr>
        <p:spPr>
          <a:xfrm>
            <a:off x="914400" y="2039112"/>
            <a:ext cx="384048" cy="384048"/>
          </a:xfrm>
          <a:prstGeom prst="ellipse">
            <a:avLst/>
          </a:prstGeom>
          <a:solidFill>
            <a:srgbClr val="1E2761"/>
          </a:solidFill>
          <a:ln/>
        </p:spPr>
      </p:sp>
      <p:sp>
        <p:nvSpPr>
          <p:cNvPr id="6" name="Text 4"/>
          <p:cNvSpPr txBox="1"/>
          <p:nvPr/>
        </p:nvSpPr>
        <p:spPr>
          <a:xfrm>
            <a:off x="91440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8132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Integrated, not siloed</a:t>
            </a:r>
            <a:endParaRPr lang="en-US" sz="1700" dirty="0"/>
          </a:p>
        </p:txBody>
      </p:sp>
      <p:sp>
        <p:nvSpPr>
          <p:cNvPr id="8" name="Text 6"/>
          <p:cNvSpPr txBox="1"/>
          <p:nvPr/>
        </p:nvSpPr>
        <p:spPr>
          <a:xfrm>
            <a:off x="148132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250" dirty="0"/>
          </a:p>
        </p:txBody>
      </p:sp>
      <p:sp>
        <p:nvSpPr>
          <p:cNvPr id="9" name="Shape 7"/>
          <p:cNvSpPr/>
          <p:nvPr/>
        </p:nvSpPr>
        <p:spPr>
          <a:xfrm>
            <a:off x="6263640" y="1783080"/>
            <a:ext cx="5257800" cy="1280160"/>
          </a:xfrm>
          <a:prstGeom prst="roundRect">
            <a:avLst>
              <a:gd name="adj" fmla="val 7143"/>
            </a:avLst>
          </a:prstGeom>
          <a:solidFill>
            <a:srgbClr val="EDF2FA"/>
          </a:solidFill>
          <a:ln/>
        </p:spPr>
      </p:sp>
      <p:sp>
        <p:nvSpPr>
          <p:cNvPr id="10" name="Shape 8"/>
          <p:cNvSpPr/>
          <p:nvPr/>
        </p:nvSpPr>
        <p:spPr>
          <a:xfrm>
            <a:off x="6537960" y="2039112"/>
            <a:ext cx="384048" cy="384048"/>
          </a:xfrm>
          <a:prstGeom prst="ellipse">
            <a:avLst/>
          </a:prstGeom>
          <a:solidFill>
            <a:srgbClr val="3E5C8A"/>
          </a:solidFill>
          <a:ln/>
        </p:spPr>
      </p:sp>
      <p:sp>
        <p:nvSpPr>
          <p:cNvPr id="11" name="Text 9"/>
          <p:cNvSpPr txBox="1"/>
          <p:nvPr/>
        </p:nvSpPr>
        <p:spPr>
          <a:xfrm>
            <a:off x="653796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10488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Named accounts, not averages</a:t>
            </a:r>
            <a:endParaRPr lang="en-US" sz="1700" dirty="0"/>
          </a:p>
        </p:txBody>
      </p:sp>
      <p:sp>
        <p:nvSpPr>
          <p:cNvPr id="13" name="Text 11"/>
          <p:cNvSpPr txBox="1"/>
          <p:nvPr/>
        </p:nvSpPr>
        <p:spPr>
          <a:xfrm>
            <a:off x="710488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250" dirty="0"/>
          </a:p>
        </p:txBody>
      </p:sp>
      <p:sp>
        <p:nvSpPr>
          <p:cNvPr id="14" name="Shape 12"/>
          <p:cNvSpPr/>
          <p:nvPr/>
        </p:nvSpPr>
        <p:spPr>
          <a:xfrm>
            <a:off x="640080" y="3264408"/>
            <a:ext cx="5257800" cy="1280160"/>
          </a:xfrm>
          <a:prstGeom prst="roundRect">
            <a:avLst>
              <a:gd name="adj" fmla="val 7143"/>
            </a:avLst>
          </a:prstGeom>
          <a:solidFill>
            <a:srgbClr val="EDF2FA"/>
          </a:solidFill>
          <a:ln/>
        </p:spPr>
      </p:sp>
      <p:sp>
        <p:nvSpPr>
          <p:cNvPr id="15" name="Shape 13"/>
          <p:cNvSpPr/>
          <p:nvPr/>
        </p:nvSpPr>
        <p:spPr>
          <a:xfrm>
            <a:off x="914400" y="3520440"/>
            <a:ext cx="384048" cy="384048"/>
          </a:xfrm>
          <a:prstGeom prst="ellipse">
            <a:avLst/>
          </a:prstGeom>
          <a:solidFill>
            <a:srgbClr val="1E2761"/>
          </a:solidFill>
          <a:ln/>
        </p:spPr>
      </p:sp>
      <p:sp>
        <p:nvSpPr>
          <p:cNvPr id="16" name="Text 14"/>
          <p:cNvSpPr txBox="1"/>
          <p:nvPr/>
        </p:nvSpPr>
        <p:spPr>
          <a:xfrm>
            <a:off x="91440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8132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Sized and priced</a:t>
            </a:r>
            <a:endParaRPr lang="en-US" sz="1700" dirty="0"/>
          </a:p>
        </p:txBody>
      </p:sp>
      <p:sp>
        <p:nvSpPr>
          <p:cNvPr id="18" name="Text 16"/>
          <p:cNvSpPr txBox="1"/>
          <p:nvPr/>
        </p:nvSpPr>
        <p:spPr>
          <a:xfrm>
            <a:off x="148132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250" dirty="0"/>
          </a:p>
        </p:txBody>
      </p:sp>
      <p:sp>
        <p:nvSpPr>
          <p:cNvPr id="19" name="Shape 17"/>
          <p:cNvSpPr/>
          <p:nvPr/>
        </p:nvSpPr>
        <p:spPr>
          <a:xfrm>
            <a:off x="6263640" y="3264408"/>
            <a:ext cx="5257800" cy="1280160"/>
          </a:xfrm>
          <a:prstGeom prst="roundRect">
            <a:avLst>
              <a:gd name="adj" fmla="val 7143"/>
            </a:avLst>
          </a:prstGeom>
          <a:solidFill>
            <a:srgbClr val="EDF2FA"/>
          </a:solidFill>
          <a:ln/>
        </p:spPr>
      </p:sp>
      <p:sp>
        <p:nvSpPr>
          <p:cNvPr id="20" name="Shape 18"/>
          <p:cNvSpPr/>
          <p:nvPr/>
        </p:nvSpPr>
        <p:spPr>
          <a:xfrm>
            <a:off x="6537960" y="3520440"/>
            <a:ext cx="384048" cy="384048"/>
          </a:xfrm>
          <a:prstGeom prst="ellipse">
            <a:avLst/>
          </a:prstGeom>
          <a:solidFill>
            <a:srgbClr val="3E5C8A"/>
          </a:solidFill>
          <a:ln/>
        </p:spPr>
      </p:sp>
      <p:sp>
        <p:nvSpPr>
          <p:cNvPr id="21" name="Text 19"/>
          <p:cNvSpPr txBox="1"/>
          <p:nvPr/>
        </p:nvSpPr>
        <p:spPr>
          <a:xfrm>
            <a:off x="653796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10488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Covered by a partner</a:t>
            </a:r>
            <a:endParaRPr lang="en-US" sz="1700" dirty="0"/>
          </a:p>
        </p:txBody>
      </p:sp>
      <p:sp>
        <p:nvSpPr>
          <p:cNvPr id="23" name="Text 21"/>
          <p:cNvSpPr txBox="1"/>
          <p:nvPr/>
        </p:nvSpPr>
        <p:spPr>
          <a:xfrm>
            <a:off x="710488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250" dirty="0"/>
          </a:p>
        </p:txBody>
      </p:sp>
      <p:sp>
        <p:nvSpPr>
          <p:cNvPr id="24" name="Shape 22"/>
          <p:cNvSpPr/>
          <p:nvPr/>
        </p:nvSpPr>
        <p:spPr>
          <a:xfrm>
            <a:off x="640080" y="4745736"/>
            <a:ext cx="5257800" cy="1280160"/>
          </a:xfrm>
          <a:prstGeom prst="roundRect">
            <a:avLst>
              <a:gd name="adj" fmla="val 7143"/>
            </a:avLst>
          </a:prstGeom>
          <a:solidFill>
            <a:srgbClr val="EDF2FA"/>
          </a:solidFill>
          <a:ln/>
        </p:spPr>
      </p:sp>
      <p:sp>
        <p:nvSpPr>
          <p:cNvPr id="25" name="Shape 23"/>
          <p:cNvSpPr/>
          <p:nvPr/>
        </p:nvSpPr>
        <p:spPr>
          <a:xfrm>
            <a:off x="914400" y="5001768"/>
            <a:ext cx="384048" cy="384048"/>
          </a:xfrm>
          <a:prstGeom prst="ellipse">
            <a:avLst/>
          </a:prstGeom>
          <a:solidFill>
            <a:srgbClr val="1E2761"/>
          </a:solidFill>
          <a:ln/>
        </p:spPr>
      </p:sp>
      <p:sp>
        <p:nvSpPr>
          <p:cNvPr id="26" name="Text 24"/>
          <p:cNvSpPr txBox="1"/>
          <p:nvPr/>
        </p:nvSpPr>
        <p:spPr>
          <a:xfrm>
            <a:off x="914400" y="5001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81328" y="4946904"/>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Deliverable by design</a:t>
            </a:r>
            <a:endParaRPr lang="en-US" sz="1700" dirty="0"/>
          </a:p>
        </p:txBody>
      </p:sp>
      <p:sp>
        <p:nvSpPr>
          <p:cNvPr id="28" name="Text 26"/>
          <p:cNvSpPr txBox="1"/>
          <p:nvPr/>
        </p:nvSpPr>
        <p:spPr>
          <a:xfrm>
            <a:off x="1481328" y="5321808"/>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250" dirty="0"/>
          </a:p>
        </p:txBody>
      </p:sp>
      <p:sp>
        <p:nvSpPr>
          <p:cNvPr id="29" name="Text 27"/>
          <p:cNvSpPr txBox="1"/>
          <p:nvPr/>
        </p:nvSpPr>
        <p:spPr>
          <a:xfrm>
            <a:off x="6263640" y="5532120"/>
            <a:ext cx="5120640" cy="45720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Agree inputs and cadence</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Deal sizes and market price bands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targets and the capacity to service them</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Eight workstreams, eight artefacts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workstream owns one dimension and produces one deliverable.</a:t>
            </a:r>
            <a:endParaRPr lang="en-US" sz="14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881360" cy="914400"/>
        </p:xfrm>
        <a:graphic>
          <a:graphicData uri="http://schemas.openxmlformats.org/drawingml/2006/table">
            <a:tbl>
              <a:tblPr/>
              <a:tblGrid>
                <a:gridCol w="3017520"/>
                <a:gridCol w="2377440"/>
                <a:gridCol w="5486400"/>
              </a:tblGrid>
              <a:tr h="420624">
                <a:tc>
                  <a:txBody>
                    <a:bodyPr/>
                    <a:lstStyle/>
                    <a:p>
                      <a:pPr algn="l" indent="0" marL="0">
                        <a:buNone/>
                      </a:pPr>
                      <a:r>
                        <a:rPr lang="en-US" sz="1150" b="1" dirty="0">
                          <a:solidFill>
                            <a:srgbClr val="44506B"/>
                          </a:solidFill>
                          <a:latin typeface="Calibri" pitchFamily="34" charset="0"/>
                          <a:ea typeface="Calibri" pitchFamily="34" charset="-122"/>
                          <a:cs typeface="Calibri" pitchFamily="34" charset="-120"/>
                        </a:rPr>
                        <a:t>Workstream</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44506B"/>
                          </a:solidFill>
                          <a:latin typeface="Calibri" pitchFamily="34" charset="0"/>
                          <a:ea typeface="Calibri" pitchFamily="34" charset="-122"/>
                          <a:cs typeface="Calibri" pitchFamily="34" charset="-120"/>
                        </a:rPr>
                        <a:t>Question it closes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44506B"/>
                          </a:solidFill>
                          <a:latin typeface="Calibri" pitchFamily="34" charset="0"/>
                          <a:ea typeface="Calibri" pitchFamily="34" charset="-122"/>
                          <a:cs typeface="Calibri" pitchFamily="34" charset="-120"/>
                        </a:rPr>
                        <a:t>Artefact produced</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1 · Proposition &amp; catalogue</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What we offer</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Integrated proposition catalogue with permitted variants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2 · Market &amp; account targeting</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Where to play</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Prioritised markets, segments and named account list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3 · Commercial sizing &amp; pricing</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How much</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Deal-size bands, price benchmarks, revenue targets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4 · Coverage &amp; ownership</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Who covers what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Account-to-partner map and coverage model</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5 · Delivery model &amp; readiness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How we win</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Delivery approach and delivery standards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6 · Team &amp; talent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Who delivers it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Dedicated FSI team, shared capacity view, recruitment plan</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7 · Eminence &amp; positioning</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How we are known</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Eminence plan: content, events and speaking calendar</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8 · Alliances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Who we go with</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Alliance map: role, offerings and accounts per partner</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828800"/>
            <a:ext cx="10881360" cy="438912"/>
          </a:xfrm>
          <a:prstGeom prst="rect">
            <a:avLst/>
          </a:prstGeom>
          <a:solidFill>
            <a:srgbClr val="1E2761"/>
          </a:solidFill>
          <a:ln/>
        </p:spPr>
      </p:sp>
      <p:sp>
        <p:nvSpPr>
          <p:cNvPr id="6" name="Text 3"/>
          <p:cNvSpPr txBox="1"/>
          <p:nvPr/>
        </p:nvSpPr>
        <p:spPr>
          <a:xfrm>
            <a:off x="777240" y="1828800"/>
            <a:ext cx="2926080" cy="43891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Workstream</a:t>
            </a:r>
            <a:endParaRPr lang="en-US" sz="1250" dirty="0"/>
          </a:p>
        </p:txBody>
      </p:sp>
      <p:sp>
        <p:nvSpPr>
          <p:cNvPr id="7" name="Text 4"/>
          <p:cNvSpPr txBox="1"/>
          <p:nvPr/>
        </p:nvSpPr>
        <p:spPr>
          <a:xfrm>
            <a:off x="3794760" y="1828800"/>
            <a:ext cx="2286000" cy="43891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Question it closes</a:t>
            </a:r>
            <a:endParaRPr lang="en-US" sz="1250" dirty="0"/>
          </a:p>
        </p:txBody>
      </p:sp>
      <p:sp>
        <p:nvSpPr>
          <p:cNvPr id="8" name="Text 5"/>
          <p:cNvSpPr txBox="1"/>
          <p:nvPr/>
        </p:nvSpPr>
        <p:spPr>
          <a:xfrm>
            <a:off x="6172200" y="1828800"/>
            <a:ext cx="5120640" cy="43891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Artefact produced</a:t>
            </a:r>
            <a:endParaRPr lang="en-US" sz="1250" dirty="0"/>
          </a:p>
        </p:txBody>
      </p:sp>
      <p:sp>
        <p:nvSpPr>
          <p:cNvPr id="9" name="Text 6"/>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250" i="1" dirty="0">
                <a:solidFill>
                  <a:srgbClr val="8792AB"/>
                </a:solidFill>
                <a:latin typeface="Calibri" pitchFamily="34" charset="0"/>
                <a:ea typeface="Calibri" pitchFamily="34" charset="-122"/>
                <a:cs typeface="Calibri" pitchFamily="34" charset="-120"/>
              </a:rPr>
              <a:t>Workstreams run in parallel; dependencies are resolved at the weekly checkpoint.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capacity question, answered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pillars?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How the market comes to know us for this.</a:t>
            </a:r>
            <a:endParaRPr lang="en-US" sz="1450" dirty="0"/>
          </a:p>
        </p:txBody>
      </p:sp>
      <p:sp>
        <p:nvSpPr>
          <p:cNvPr id="4" name="Shape 2"/>
          <p:cNvSpPr/>
          <p:nvPr/>
        </p:nvSpPr>
        <p:spPr>
          <a:xfrm>
            <a:off x="640080" y="1874520"/>
            <a:ext cx="2029968" cy="2651760"/>
          </a:xfrm>
          <a:prstGeom prst="roundRect">
            <a:avLst>
              <a:gd name="adj" fmla="val 5405"/>
            </a:avLst>
          </a:prstGeom>
          <a:solidFill>
            <a:srgbClr val="E4EBF7"/>
          </a:solidFill>
          <a:ln/>
        </p:spPr>
      </p:sp>
      <p:sp>
        <p:nvSpPr>
          <p:cNvPr id="5" name="Shape 3"/>
          <p:cNvSpPr/>
          <p:nvPr/>
        </p:nvSpPr>
        <p:spPr>
          <a:xfrm>
            <a:off x="868680" y="2103120"/>
            <a:ext cx="365760" cy="365760"/>
          </a:xfrm>
          <a:prstGeom prst="ellipse">
            <a:avLst/>
          </a:prstGeom>
          <a:solidFill>
            <a:srgbClr val="3E5C8A"/>
          </a:solidFill>
          <a:ln/>
        </p:spPr>
      </p:sp>
      <p:sp>
        <p:nvSpPr>
          <p:cNvPr id="6" name="Text 4"/>
          <p:cNvSpPr txBox="1"/>
          <p:nvPr/>
        </p:nvSpPr>
        <p:spPr>
          <a:xfrm>
            <a:off x="868680"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Published views</a:t>
            </a:r>
            <a:endParaRPr lang="en-US" sz="1500" dirty="0"/>
          </a:p>
        </p:txBody>
      </p:sp>
      <p:sp>
        <p:nvSpPr>
          <p:cNvPr id="8" name="Text 6"/>
          <p:cNvSpPr txBox="1"/>
          <p:nvPr/>
        </p:nvSpPr>
        <p:spPr>
          <a:xfrm>
            <a:off x="868680"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Points of view</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Articles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Benchmark reports</a:t>
            </a:r>
            <a:endParaRPr lang="en-US" sz="1150" dirty="0"/>
          </a:p>
        </p:txBody>
      </p:sp>
      <p:sp>
        <p:nvSpPr>
          <p:cNvPr id="9" name="Shape 7"/>
          <p:cNvSpPr/>
          <p:nvPr/>
        </p:nvSpPr>
        <p:spPr>
          <a:xfrm>
            <a:off x="2852928" y="1874520"/>
            <a:ext cx="2029968" cy="2651760"/>
          </a:xfrm>
          <a:prstGeom prst="roundRect">
            <a:avLst>
              <a:gd name="adj" fmla="val 5405"/>
            </a:avLst>
          </a:prstGeom>
          <a:solidFill>
            <a:srgbClr val="EDF2FA"/>
          </a:solidFill>
          <a:ln/>
        </p:spPr>
      </p:sp>
      <p:sp>
        <p:nvSpPr>
          <p:cNvPr id="10" name="Shape 8"/>
          <p:cNvSpPr/>
          <p:nvPr/>
        </p:nvSpPr>
        <p:spPr>
          <a:xfrm>
            <a:off x="3081528" y="2103120"/>
            <a:ext cx="365760" cy="365760"/>
          </a:xfrm>
          <a:prstGeom prst="ellipse">
            <a:avLst/>
          </a:prstGeom>
          <a:solidFill>
            <a:srgbClr val="3E5C8A"/>
          </a:solidFill>
          <a:ln/>
        </p:spPr>
      </p:sp>
      <p:sp>
        <p:nvSpPr>
          <p:cNvPr id="11" name="Text 9"/>
          <p:cNvSpPr txBox="1"/>
          <p:nvPr/>
        </p:nvSpPr>
        <p:spPr>
          <a:xfrm>
            <a:off x="3081528"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081528"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Stages</a:t>
            </a:r>
            <a:endParaRPr lang="en-US" sz="1500" dirty="0"/>
          </a:p>
        </p:txBody>
      </p:sp>
      <p:sp>
        <p:nvSpPr>
          <p:cNvPr id="13" name="Text 11"/>
          <p:cNvSpPr txBox="1"/>
          <p:nvPr/>
        </p:nvSpPr>
        <p:spPr>
          <a:xfrm>
            <a:off x="3081528"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Industry conferences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Flagship FSI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Panels and keynotes</a:t>
            </a:r>
            <a:endParaRPr lang="en-US" sz="1150" dirty="0"/>
          </a:p>
        </p:txBody>
      </p:sp>
      <p:sp>
        <p:nvSpPr>
          <p:cNvPr id="14" name="Shape 12"/>
          <p:cNvSpPr/>
          <p:nvPr/>
        </p:nvSpPr>
        <p:spPr>
          <a:xfrm>
            <a:off x="5065776" y="1874520"/>
            <a:ext cx="2029968" cy="2651760"/>
          </a:xfrm>
          <a:prstGeom prst="roundRect">
            <a:avLst>
              <a:gd name="adj" fmla="val 5405"/>
            </a:avLst>
          </a:prstGeom>
          <a:solidFill>
            <a:srgbClr val="E4EBF7"/>
          </a:solidFill>
          <a:ln/>
        </p:spPr>
      </p:sp>
      <p:sp>
        <p:nvSpPr>
          <p:cNvPr id="15" name="Shape 13"/>
          <p:cNvSpPr/>
          <p:nvPr/>
        </p:nvSpPr>
        <p:spPr>
          <a:xfrm>
            <a:off x="5294376" y="2103120"/>
            <a:ext cx="365760" cy="365760"/>
          </a:xfrm>
          <a:prstGeom prst="ellipse">
            <a:avLst/>
          </a:prstGeom>
          <a:solidFill>
            <a:srgbClr val="3E5C8A"/>
          </a:solidFill>
          <a:ln/>
        </p:spPr>
      </p:sp>
      <p:sp>
        <p:nvSpPr>
          <p:cNvPr id="16" name="Text 14"/>
          <p:cNvSpPr txBox="1"/>
          <p:nvPr/>
        </p:nvSpPr>
        <p:spPr>
          <a:xfrm>
            <a:off x="5294376"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5294376"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Client formats</a:t>
            </a:r>
            <a:endParaRPr lang="en-US" sz="1500" dirty="0"/>
          </a:p>
        </p:txBody>
      </p:sp>
      <p:sp>
        <p:nvSpPr>
          <p:cNvPr id="18" name="Text 16"/>
          <p:cNvSpPr txBox="1"/>
          <p:nvPr/>
        </p:nvSpPr>
        <p:spPr>
          <a:xfrm>
            <a:off x="5294376"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Executive workshops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Seminars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Roundtables</a:t>
            </a:r>
            <a:endParaRPr lang="en-US" sz="1150" dirty="0"/>
          </a:p>
        </p:txBody>
      </p:sp>
      <p:sp>
        <p:nvSpPr>
          <p:cNvPr id="19" name="Shape 17"/>
          <p:cNvSpPr/>
          <p:nvPr/>
        </p:nvSpPr>
        <p:spPr>
          <a:xfrm>
            <a:off x="7278624" y="1874520"/>
            <a:ext cx="2029968" cy="2651760"/>
          </a:xfrm>
          <a:prstGeom prst="roundRect">
            <a:avLst>
              <a:gd name="adj" fmla="val 5405"/>
            </a:avLst>
          </a:prstGeom>
          <a:solidFill>
            <a:srgbClr val="EDF2FA"/>
          </a:solidFill>
          <a:ln/>
        </p:spPr>
      </p:sp>
      <p:sp>
        <p:nvSpPr>
          <p:cNvPr id="20" name="Shape 18"/>
          <p:cNvSpPr/>
          <p:nvPr/>
        </p:nvSpPr>
        <p:spPr>
          <a:xfrm>
            <a:off x="7507224" y="2103120"/>
            <a:ext cx="365760" cy="365760"/>
          </a:xfrm>
          <a:prstGeom prst="ellipse">
            <a:avLst/>
          </a:prstGeom>
          <a:solidFill>
            <a:srgbClr val="3E5C8A"/>
          </a:solidFill>
          <a:ln/>
        </p:spPr>
      </p:sp>
      <p:sp>
        <p:nvSpPr>
          <p:cNvPr id="21" name="Text 19"/>
          <p:cNvSpPr txBox="1"/>
          <p:nvPr/>
        </p:nvSpPr>
        <p:spPr>
          <a:xfrm>
            <a:off x="7507224"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507224"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Digital</a:t>
            </a:r>
            <a:endParaRPr lang="en-US" sz="1500" dirty="0"/>
          </a:p>
        </p:txBody>
      </p:sp>
      <p:sp>
        <p:nvSpPr>
          <p:cNvPr id="23" name="Text 21"/>
          <p:cNvSpPr txBox="1"/>
          <p:nvPr/>
        </p:nvSpPr>
        <p:spPr>
          <a:xfrm>
            <a:off x="7507224"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Podcasts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Webinars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Social presence</a:t>
            </a:r>
            <a:endParaRPr lang="en-US" sz="1150" dirty="0"/>
          </a:p>
        </p:txBody>
      </p:sp>
      <p:sp>
        <p:nvSpPr>
          <p:cNvPr id="24" name="Shape 22"/>
          <p:cNvSpPr/>
          <p:nvPr/>
        </p:nvSpPr>
        <p:spPr>
          <a:xfrm>
            <a:off x="9491472" y="1874520"/>
            <a:ext cx="2029968" cy="2651760"/>
          </a:xfrm>
          <a:prstGeom prst="roundRect">
            <a:avLst>
              <a:gd name="adj" fmla="val 5405"/>
            </a:avLst>
          </a:prstGeom>
          <a:solidFill>
            <a:srgbClr val="E4EBF7"/>
          </a:solidFill>
          <a:ln/>
        </p:spPr>
      </p:sp>
      <p:sp>
        <p:nvSpPr>
          <p:cNvPr id="25" name="Shape 23"/>
          <p:cNvSpPr/>
          <p:nvPr/>
        </p:nvSpPr>
        <p:spPr>
          <a:xfrm>
            <a:off x="9720072" y="2103120"/>
            <a:ext cx="365760" cy="365760"/>
          </a:xfrm>
          <a:prstGeom prst="ellipse">
            <a:avLst/>
          </a:prstGeom>
          <a:solidFill>
            <a:srgbClr val="3E5C8A"/>
          </a:solidFill>
          <a:ln/>
        </p:spPr>
      </p:sp>
      <p:sp>
        <p:nvSpPr>
          <p:cNvPr id="26" name="Text 24"/>
          <p:cNvSpPr txBox="1"/>
          <p:nvPr/>
        </p:nvSpPr>
        <p:spPr>
          <a:xfrm>
            <a:off x="9720072"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9720072"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Partner-led</a:t>
            </a:r>
            <a:endParaRPr lang="en-US" sz="1500" dirty="0"/>
          </a:p>
        </p:txBody>
      </p:sp>
      <p:sp>
        <p:nvSpPr>
          <p:cNvPr id="28" name="Text 26"/>
          <p:cNvSpPr txBox="1"/>
          <p:nvPr/>
        </p:nvSpPr>
        <p:spPr>
          <a:xfrm>
            <a:off x="9720072"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Joint content</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Alliance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Co-branded assets</a:t>
            </a:r>
            <a:endParaRPr lang="en-US" sz="1150" dirty="0"/>
          </a:p>
        </p:txBody>
      </p:sp>
      <p:sp>
        <p:nvSpPr>
          <p:cNvPr id="29" name="Shape 27"/>
          <p:cNvSpPr/>
          <p:nvPr/>
        </p:nvSpPr>
        <p:spPr>
          <a:xfrm>
            <a:off x="640080" y="4800600"/>
            <a:ext cx="10881360" cy="960120"/>
          </a:xfrm>
          <a:prstGeom prst="roundRect">
            <a:avLst>
              <a:gd name="adj" fmla="val 9524"/>
            </a:avLst>
          </a:prstGeom>
          <a:solidFill>
            <a:srgbClr val="1E2761"/>
          </a:solidFill>
          <a:ln/>
        </p:spPr>
      </p:sp>
      <p:sp>
        <p:nvSpPr>
          <p:cNvPr id="30" name="Text 28"/>
          <p:cNvSpPr txBox="1"/>
          <p:nvPr/>
        </p:nvSpPr>
        <p:spPr>
          <a:xfrm>
            <a:off x="914400" y="4800600"/>
            <a:ext cx="10332720" cy="96012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For each channel the plan must answer: which ones we commit to, at what frequency, who fronts them, which accounts they target, and how we measure the return.</a:t>
            </a:r>
            <a:endParaRPr lang="en-US" sz="1350" dirty="0"/>
          </a:p>
        </p:txBody>
      </p:sp>
      <p:sp>
        <p:nvSpPr>
          <p:cNvPr id="31" name="Shape 29"/>
          <p:cNvSpPr/>
          <p:nvPr/>
        </p:nvSpPr>
        <p:spPr>
          <a:xfrm>
            <a:off x="4251960" y="5989320"/>
            <a:ext cx="3657600" cy="301752"/>
          </a:xfrm>
          <a:prstGeom prst="roundRect">
            <a:avLst>
              <a:gd name="adj" fmla="val 48485"/>
            </a:avLst>
          </a:prstGeom>
          <a:solidFill>
            <a:srgbClr val="FFFFFF"/>
          </a:solidFill>
          <a:ln w="12700">
            <a:solidFill>
              <a:srgbClr val="B8862B"/>
            </a:solidFill>
            <a:prstDash val="solid"/>
          </a:ln>
        </p:spPr>
      </p:sp>
      <p:sp>
        <p:nvSpPr>
          <p:cNvPr id="32" name="Text 30"/>
          <p:cNvSpPr txBox="1"/>
          <p:nvPr/>
        </p:nvSpPr>
        <p:spPr>
          <a:xfrm>
            <a:off x="4251960" y="598932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channel mix to be defined in the cycle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Who we go to market with, and what we use each one for.</a:t>
            </a:r>
            <a:endParaRPr lang="en-US" sz="1450" dirty="0"/>
          </a:p>
        </p:txBody>
      </p:sp>
      <p:sp>
        <p:nvSpPr>
          <p:cNvPr id="4" name="Shape 2"/>
          <p:cNvSpPr/>
          <p:nvPr/>
        </p:nvSpPr>
        <p:spPr>
          <a:xfrm>
            <a:off x="640080" y="1828800"/>
            <a:ext cx="5120640" cy="2057400"/>
          </a:xfrm>
          <a:prstGeom prst="roundRect">
            <a:avLst>
              <a:gd name="adj" fmla="val 5333"/>
            </a:avLst>
          </a:prstGeom>
          <a:solidFill>
            <a:srgbClr val="EDF2FA"/>
          </a:solidFill>
          <a:ln/>
        </p:spPr>
      </p:sp>
      <p:sp>
        <p:nvSpPr>
          <p:cNvPr id="5" name="Text 3"/>
          <p:cNvSpPr txBox="1"/>
          <p:nvPr/>
        </p:nvSpPr>
        <p:spPr>
          <a:xfrm>
            <a:off x="914400" y="1965960"/>
            <a:ext cx="457200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Primary alliances</a:t>
            </a:r>
            <a:endParaRPr lang="en-US" sz="1700" dirty="0"/>
          </a:p>
        </p:txBody>
      </p:sp>
      <p:sp>
        <p:nvSpPr>
          <p:cNvPr id="6" name="Shape 4"/>
          <p:cNvSpPr/>
          <p:nvPr/>
        </p:nvSpPr>
        <p:spPr>
          <a:xfrm>
            <a:off x="914400" y="2468880"/>
            <a:ext cx="1402080" cy="1051560"/>
          </a:xfrm>
          <a:prstGeom prst="roundRect">
            <a:avLst>
              <a:gd name="adj" fmla="val 8696"/>
            </a:avLst>
          </a:prstGeom>
          <a:solidFill>
            <a:srgbClr val="1E2761"/>
          </a:solidFill>
          <a:ln/>
        </p:spPr>
      </p:sp>
      <p:sp>
        <p:nvSpPr>
          <p:cNvPr id="7" name="Text 5"/>
          <p:cNvSpPr txBox="1"/>
          <p:nvPr/>
        </p:nvSpPr>
        <p:spPr>
          <a:xfrm>
            <a:off x="91440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Oracle</a:t>
            </a:r>
            <a:endParaRPr lang="en-US" sz="1700" dirty="0"/>
          </a:p>
        </p:txBody>
      </p:sp>
      <p:sp>
        <p:nvSpPr>
          <p:cNvPr id="8" name="Shape 6"/>
          <p:cNvSpPr/>
          <p:nvPr/>
        </p:nvSpPr>
        <p:spPr>
          <a:xfrm>
            <a:off x="2499360" y="2468880"/>
            <a:ext cx="1402080" cy="1051560"/>
          </a:xfrm>
          <a:prstGeom prst="roundRect">
            <a:avLst>
              <a:gd name="adj" fmla="val 8696"/>
            </a:avLst>
          </a:prstGeom>
          <a:solidFill>
            <a:srgbClr val="1E2761"/>
          </a:solidFill>
          <a:ln/>
        </p:spPr>
      </p:sp>
      <p:sp>
        <p:nvSpPr>
          <p:cNvPr id="9" name="Text 7"/>
          <p:cNvSpPr txBox="1"/>
          <p:nvPr/>
        </p:nvSpPr>
        <p:spPr>
          <a:xfrm>
            <a:off x="249936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Google</a:t>
            </a:r>
            <a:endParaRPr lang="en-US" sz="1700" dirty="0"/>
          </a:p>
        </p:txBody>
      </p:sp>
      <p:sp>
        <p:nvSpPr>
          <p:cNvPr id="10" name="Shape 8"/>
          <p:cNvSpPr/>
          <p:nvPr/>
        </p:nvSpPr>
        <p:spPr>
          <a:xfrm>
            <a:off x="4084320" y="2468880"/>
            <a:ext cx="1402080" cy="1051560"/>
          </a:xfrm>
          <a:prstGeom prst="roundRect">
            <a:avLst>
              <a:gd name="adj" fmla="val 8696"/>
            </a:avLst>
          </a:prstGeom>
          <a:solidFill>
            <a:srgbClr val="1E2761"/>
          </a:solidFill>
          <a:ln/>
        </p:spPr>
      </p:sp>
      <p:sp>
        <p:nvSpPr>
          <p:cNvPr id="11" name="Text 9"/>
          <p:cNvSpPr txBox="1"/>
          <p:nvPr/>
        </p:nvSpPr>
        <p:spPr>
          <a:xfrm>
            <a:off x="408432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Amazon</a:t>
            </a:r>
            <a:endParaRPr lang="en-US" sz="1700" dirty="0"/>
          </a:p>
        </p:txBody>
      </p:sp>
      <p:sp>
        <p:nvSpPr>
          <p:cNvPr id="12" name="Shape 10"/>
          <p:cNvSpPr/>
          <p:nvPr/>
        </p:nvSpPr>
        <p:spPr>
          <a:xfrm>
            <a:off x="6309360" y="1828800"/>
            <a:ext cx="5212080" cy="2057400"/>
          </a:xfrm>
          <a:prstGeom prst="roundRect">
            <a:avLst>
              <a:gd name="adj" fmla="val 5333"/>
            </a:avLst>
          </a:prstGeom>
          <a:solidFill>
            <a:srgbClr val="EDF2FA"/>
          </a:solidFill>
          <a:ln/>
        </p:spPr>
      </p:sp>
      <p:sp>
        <p:nvSpPr>
          <p:cNvPr id="13" name="Text 11"/>
          <p:cNvSpPr txBox="1"/>
          <p:nvPr/>
        </p:nvSpPr>
        <p:spPr>
          <a:xfrm>
            <a:off x="6583680" y="1965960"/>
            <a:ext cx="4663440" cy="365760"/>
          </a:xfrm>
          <a:prstGeom prst="rect">
            <a:avLst/>
          </a:prstGeom>
          <a:noFill/>
          <a:ln/>
        </p:spPr>
        <p:txBody>
          <a:bodyPr wrap="square" lIns="0" tIns="0" rIns="0" bIns="0" rtlCol="0" anchor="ctr"/>
          <a:lstStyle/>
          <a:p>
            <a:pPr indent="0" marL="0">
              <a:buNone/>
            </a:pPr>
            <a:r>
              <a:rPr lang="en-US" sz="1700" b="1" dirty="0">
                <a:solidFill>
                  <a:srgbClr val="3E5C8A"/>
                </a:solidFill>
                <a:latin typeface="Calibri" pitchFamily="34" charset="0"/>
                <a:ea typeface="Calibri" pitchFamily="34" charset="-122"/>
                <a:cs typeface="Calibri" pitchFamily="34" charset="-120"/>
              </a:rPr>
              <a:t>Specialised alliances</a:t>
            </a:r>
            <a:endParaRPr lang="en-US" sz="1700" dirty="0"/>
          </a:p>
        </p:txBody>
      </p:sp>
      <p:sp>
        <p:nvSpPr>
          <p:cNvPr id="14" name="Shape 12"/>
          <p:cNvSpPr/>
          <p:nvPr/>
        </p:nvSpPr>
        <p:spPr>
          <a:xfrm>
            <a:off x="6583680" y="2468880"/>
            <a:ext cx="2240280" cy="1051560"/>
          </a:xfrm>
          <a:prstGeom prst="roundRect">
            <a:avLst>
              <a:gd name="adj" fmla="val 8696"/>
            </a:avLst>
          </a:prstGeom>
          <a:solidFill>
            <a:srgbClr val="3E5C8A"/>
          </a:solidFill>
          <a:ln/>
        </p:spPr>
      </p:sp>
      <p:sp>
        <p:nvSpPr>
          <p:cNvPr id="15" name="Text 13"/>
          <p:cNvSpPr txBox="1"/>
          <p:nvPr/>
        </p:nvSpPr>
        <p:spPr>
          <a:xfrm>
            <a:off x="658368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Temenos</a:t>
            </a:r>
            <a:endParaRPr lang="en-US" sz="1700" dirty="0"/>
          </a:p>
        </p:txBody>
      </p:sp>
      <p:sp>
        <p:nvSpPr>
          <p:cNvPr id="16" name="Shape 14"/>
          <p:cNvSpPr/>
          <p:nvPr/>
        </p:nvSpPr>
        <p:spPr>
          <a:xfrm>
            <a:off x="9006840" y="2468880"/>
            <a:ext cx="2240280" cy="1051560"/>
          </a:xfrm>
          <a:prstGeom prst="roundRect">
            <a:avLst>
              <a:gd name="adj" fmla="val 8696"/>
            </a:avLst>
          </a:prstGeom>
          <a:solidFill>
            <a:srgbClr val="3E5C8A"/>
          </a:solidFill>
          <a:ln/>
        </p:spPr>
      </p:sp>
      <p:sp>
        <p:nvSpPr>
          <p:cNvPr id="17" name="Text 15"/>
          <p:cNvSpPr txBox="1"/>
          <p:nvPr/>
        </p:nvSpPr>
        <p:spPr>
          <a:xfrm>
            <a:off x="900684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Intellect</a:t>
            </a:r>
            <a:endParaRPr lang="en-US" sz="1700" dirty="0"/>
          </a:p>
        </p:txBody>
      </p:sp>
      <p:sp>
        <p:nvSpPr>
          <p:cNvPr id="18" name="Shape 16"/>
          <p:cNvSpPr/>
          <p:nvPr/>
        </p:nvSpPr>
        <p:spPr>
          <a:xfrm>
            <a:off x="4023360" y="4023360"/>
            <a:ext cx="4114800" cy="301752"/>
          </a:xfrm>
          <a:prstGeom prst="roundRect">
            <a:avLst>
              <a:gd name="adj" fmla="val 48485"/>
            </a:avLst>
          </a:prstGeom>
          <a:solidFill>
            <a:srgbClr val="FFFFFF"/>
          </a:solidFill>
          <a:ln w="12700">
            <a:solidFill>
              <a:srgbClr val="B8862B"/>
            </a:solidFill>
            <a:prstDash val="solid"/>
          </a:ln>
        </p:spPr>
      </p:sp>
      <p:sp>
        <p:nvSpPr>
          <p:cNvPr id="19" name="Text 17"/>
          <p:cNvSpPr txBox="1"/>
          <p:nvPr/>
        </p:nvSpPr>
        <p:spPr>
          <a:xfrm>
            <a:off x="4023360" y="4023360"/>
            <a:ext cx="41148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further alliances to be defined in the cycle</a:t>
            </a:r>
            <a:endParaRPr lang="en-US" sz="1050" dirty="0"/>
          </a:p>
        </p:txBody>
      </p:sp>
      <p:sp>
        <p:nvSpPr>
          <p:cNvPr id="20" name="Text 18"/>
          <p:cNvSpPr txBox="1"/>
          <p:nvPr/>
        </p:nvSpPr>
        <p:spPr>
          <a:xfrm>
            <a:off x="640080" y="461772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For every alliance the plan must answer:</a:t>
            </a:r>
            <a:endParaRPr lang="en-US" sz="1400" dirty="0"/>
          </a:p>
        </p:txBody>
      </p:sp>
      <p:sp>
        <p:nvSpPr>
          <p:cNvPr id="21" name="Shape 19"/>
          <p:cNvSpPr/>
          <p:nvPr/>
        </p:nvSpPr>
        <p:spPr>
          <a:xfrm>
            <a:off x="640080" y="5029200"/>
            <a:ext cx="310896" cy="310896"/>
          </a:xfrm>
          <a:prstGeom prst="ellipse">
            <a:avLst/>
          </a:prstGeom>
          <a:solidFill>
            <a:srgbClr val="1E2761"/>
          </a:solidFill>
          <a:ln/>
        </p:spPr>
      </p:sp>
      <p:sp>
        <p:nvSpPr>
          <p:cNvPr id="22" name="Text 20"/>
          <p:cNvSpPr txBox="1"/>
          <p:nvPr/>
        </p:nvSpPr>
        <p:spPr>
          <a:xfrm>
            <a:off x="64008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3" name="Text 21"/>
          <p:cNvSpPr txBox="1"/>
          <p:nvPr/>
        </p:nvSpPr>
        <p:spPr>
          <a:xfrm>
            <a:off x="109728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we leverage it for</a:t>
            </a:r>
            <a:endParaRPr lang="en-US" sz="1300" dirty="0"/>
          </a:p>
        </p:txBody>
      </p:sp>
      <p:sp>
        <p:nvSpPr>
          <p:cNvPr id="24" name="Text 22"/>
          <p:cNvSpPr txBox="1"/>
          <p:nvPr/>
        </p:nvSpPr>
        <p:spPr>
          <a:xfrm>
            <a:off x="347472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propositions and which pillars it sits behind</a:t>
            </a:r>
            <a:endParaRPr lang="en-US" sz="1200" dirty="0"/>
          </a:p>
        </p:txBody>
      </p:sp>
      <p:sp>
        <p:nvSpPr>
          <p:cNvPr id="25" name="Shape 23"/>
          <p:cNvSpPr/>
          <p:nvPr/>
        </p:nvSpPr>
        <p:spPr>
          <a:xfrm>
            <a:off x="6263640" y="5029200"/>
            <a:ext cx="310896" cy="310896"/>
          </a:xfrm>
          <a:prstGeom prst="ellipse">
            <a:avLst/>
          </a:prstGeom>
          <a:solidFill>
            <a:srgbClr val="1E2761"/>
          </a:solidFill>
          <a:ln/>
        </p:spPr>
      </p:sp>
      <p:sp>
        <p:nvSpPr>
          <p:cNvPr id="26" name="Text 24"/>
          <p:cNvSpPr txBox="1"/>
          <p:nvPr/>
        </p:nvSpPr>
        <p:spPr>
          <a:xfrm>
            <a:off x="626364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672084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the relationship is</a:t>
            </a:r>
            <a:endParaRPr lang="en-US" sz="1300" dirty="0"/>
          </a:p>
        </p:txBody>
      </p:sp>
      <p:sp>
        <p:nvSpPr>
          <p:cNvPr id="28" name="Text 26"/>
          <p:cNvSpPr txBox="1"/>
          <p:nvPr/>
        </p:nvSpPr>
        <p:spPr>
          <a:xfrm>
            <a:off x="909828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Co-sell, resell, delivery partner or referral</a:t>
            </a:r>
            <a:endParaRPr lang="en-US" sz="1200" dirty="0"/>
          </a:p>
        </p:txBody>
      </p:sp>
      <p:sp>
        <p:nvSpPr>
          <p:cNvPr id="29" name="Shape 27"/>
          <p:cNvSpPr/>
          <p:nvPr/>
        </p:nvSpPr>
        <p:spPr>
          <a:xfrm>
            <a:off x="640080" y="5715000"/>
            <a:ext cx="310896" cy="310896"/>
          </a:xfrm>
          <a:prstGeom prst="ellipse">
            <a:avLst/>
          </a:prstGeom>
          <a:solidFill>
            <a:srgbClr val="3E5C8A"/>
          </a:solidFill>
          <a:ln/>
        </p:spPr>
      </p:sp>
      <p:sp>
        <p:nvSpPr>
          <p:cNvPr id="30" name="Text 28"/>
          <p:cNvSpPr txBox="1"/>
          <p:nvPr/>
        </p:nvSpPr>
        <p:spPr>
          <a:xfrm>
            <a:off x="64008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109728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Where it opens doors</a:t>
            </a:r>
            <a:endParaRPr lang="en-US" sz="1300" dirty="0"/>
          </a:p>
        </p:txBody>
      </p:sp>
      <p:sp>
        <p:nvSpPr>
          <p:cNvPr id="32" name="Text 30"/>
          <p:cNvSpPr txBox="1"/>
          <p:nvPr/>
        </p:nvSpPr>
        <p:spPr>
          <a:xfrm>
            <a:off x="347472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markets and which accounts it gives us access to</a:t>
            </a:r>
            <a:endParaRPr lang="en-US" sz="1200" dirty="0"/>
          </a:p>
        </p:txBody>
      </p:sp>
      <p:sp>
        <p:nvSpPr>
          <p:cNvPr id="33" name="Shape 31"/>
          <p:cNvSpPr/>
          <p:nvPr/>
        </p:nvSpPr>
        <p:spPr>
          <a:xfrm>
            <a:off x="6263640" y="5715000"/>
            <a:ext cx="310896" cy="310896"/>
          </a:xfrm>
          <a:prstGeom prst="ellipse">
            <a:avLst/>
          </a:prstGeom>
          <a:solidFill>
            <a:srgbClr val="3E5C8A"/>
          </a:solidFill>
          <a:ln/>
        </p:spPr>
      </p:sp>
      <p:sp>
        <p:nvSpPr>
          <p:cNvPr id="34" name="Text 32"/>
          <p:cNvSpPr txBox="1"/>
          <p:nvPr/>
        </p:nvSpPr>
        <p:spPr>
          <a:xfrm>
            <a:off x="626364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txBox="1"/>
          <p:nvPr/>
        </p:nvSpPr>
        <p:spPr>
          <a:xfrm>
            <a:off x="672084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it costs us</a:t>
            </a:r>
            <a:endParaRPr lang="en-US" sz="1300" dirty="0"/>
          </a:p>
        </p:txBody>
      </p:sp>
      <p:sp>
        <p:nvSpPr>
          <p:cNvPr id="36" name="Text 34"/>
          <p:cNvSpPr txBox="1"/>
          <p:nvPr/>
        </p:nvSpPr>
        <p:spPr>
          <a:xfrm>
            <a:off x="909828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Certifications, credentials and commitments they expect back</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it</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Owners, dates and participants are set at kick-off.</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2 · one row per market.</a:t>
            </a:r>
            <a:endParaRPr lang="en-US" sz="14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Priority</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Priority: primary, secondary or watch. Rationale should stand on evidence, not familiarity.</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2 · one row per named account.</a:t>
            </a:r>
            <a:endParaRPr lang="en-US" sz="14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188720"/>
                <a:gridCol w="1280160"/>
                <a:gridCol w="2926080"/>
                <a:gridCol w="1371600"/>
                <a:gridCol w="1097280"/>
                <a:gridCol w="9144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to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8" name="Text 5"/>
          <p:cNvSpPr txBox="1"/>
          <p:nvPr/>
        </p:nvSpPr>
        <p:spPr>
          <a:xfrm>
            <a:off x="4041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9" name="Text 6"/>
          <p:cNvSpPr txBox="1"/>
          <p:nvPr/>
        </p:nvSpPr>
        <p:spPr>
          <a:xfrm>
            <a:off x="53218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to lead with</a:t>
            </a:r>
            <a:endParaRPr lang="en-US" sz="1150" dirty="0"/>
          </a:p>
        </p:txBody>
      </p:sp>
      <p:sp>
        <p:nvSpPr>
          <p:cNvPr id="10" name="Text 7"/>
          <p:cNvSpPr txBox="1"/>
          <p:nvPr/>
        </p:nvSpPr>
        <p:spPr>
          <a:xfrm>
            <a:off x="82478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1" name="Text 8"/>
          <p:cNvSpPr txBox="1"/>
          <p:nvPr/>
        </p:nvSpPr>
        <p:spPr>
          <a:xfrm>
            <a:off x="96194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1071676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Stage: relationship only, qualified, active pursuit. Every account carries exactly one owner.</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1 · one row per integrated proposition.</a:t>
            </a:r>
            <a:endParaRPr lang="en-US" sz="14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011680"/>
                <a:gridCol w="23774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Lead 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Pillars involved</a:t>
            </a:r>
            <a:endParaRPr lang="en-US" sz="1150" dirty="0"/>
          </a:p>
        </p:txBody>
      </p:sp>
      <p:sp>
        <p:nvSpPr>
          <p:cNvPr id="8" name="Text 5"/>
          <p:cNvSpPr txBox="1"/>
          <p:nvPr/>
        </p:nvSpPr>
        <p:spPr>
          <a:xfrm>
            <a:off x="55961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a:t>
            </a:r>
            <a:endParaRPr lang="en-US" sz="1150" dirty="0"/>
          </a:p>
        </p:txBody>
      </p:sp>
      <p:sp>
        <p:nvSpPr>
          <p:cNvPr id="9" name="Text 6"/>
          <p:cNvSpPr txBox="1"/>
          <p:nvPr/>
        </p:nvSpPr>
        <p:spPr>
          <a:xfrm>
            <a:off x="7607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0" name="Text 7"/>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Lead pillar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3 · one row per offering.</a:t>
            </a:r>
            <a:endParaRPr lang="en-US" sz="14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3 · one row per market, one column per offering group.</a:t>
            </a:r>
            <a:endParaRPr lang="en-US" sz="14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920240"/>
                <a:gridCol w="1737360"/>
                <a:gridCol w="2011680"/>
                <a:gridCol w="155448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8" name="Text 5"/>
          <p:cNvSpPr txBox="1"/>
          <p:nvPr/>
        </p:nvSpPr>
        <p:spPr>
          <a:xfrm>
            <a:off x="48646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9" name="Text 6"/>
          <p:cNvSpPr txBox="1"/>
          <p:nvPr/>
        </p:nvSpPr>
        <p:spPr>
          <a:xfrm>
            <a:off x="660196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0" name="Text 7"/>
          <p:cNvSpPr txBox="1"/>
          <p:nvPr/>
        </p:nvSpPr>
        <p:spPr>
          <a:xfrm>
            <a:off x="861364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Targets are set by market and by offering, then reconciled against capacity before they are agreed.</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4 · one row per priority account.</a:t>
            </a:r>
            <a:endParaRPr lang="en-US" sz="1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6 · one row per role and level.</a:t>
            </a:r>
            <a:endParaRPr lang="en-US" sz="14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7 · one row per planned activity.</a:t>
            </a:r>
            <a:endParaRPr lang="en-US" sz="14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645920"/>
                <a:gridCol w="2743200"/>
                <a:gridCol w="1371600"/>
                <a:gridCol w="128016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How we measure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3127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8" name="Text 5"/>
          <p:cNvSpPr txBox="1"/>
          <p:nvPr/>
        </p:nvSpPr>
        <p:spPr>
          <a:xfrm>
            <a:off x="477316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markets</a:t>
            </a:r>
            <a:endParaRPr lang="en-US" sz="1150" dirty="0"/>
          </a:p>
        </p:txBody>
      </p:sp>
      <p:sp>
        <p:nvSpPr>
          <p:cNvPr id="9" name="Text 6"/>
          <p:cNvSpPr txBox="1"/>
          <p:nvPr/>
        </p:nvSpPr>
        <p:spPr>
          <a:xfrm>
            <a:off x="7516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8879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How we measure it</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activity points at named accounts or markets. General brand-building does not earn a row.</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8 · one row per alliance.</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645920"/>
                <a:gridCol w="1554480"/>
                <a:gridCol w="2651760"/>
                <a:gridCol w="1463040"/>
                <a:gridCol w="20116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9572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8" name="Text 5"/>
          <p:cNvSpPr txBox="1"/>
          <p:nvPr/>
        </p:nvSpPr>
        <p:spPr>
          <a:xfrm>
            <a:off x="39502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it sits behind</a:t>
            </a:r>
            <a:endParaRPr lang="en-US" sz="1150" dirty="0"/>
          </a:p>
        </p:txBody>
      </p:sp>
      <p:sp>
        <p:nvSpPr>
          <p:cNvPr id="9" name="Text 6"/>
          <p:cNvSpPr txBox="1"/>
          <p:nvPr/>
        </p:nvSpPr>
        <p:spPr>
          <a:xfrm>
            <a:off x="66019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Markets</a:t>
            </a:r>
            <a:endParaRPr lang="en-US" sz="1150" dirty="0"/>
          </a:p>
        </p:txBody>
      </p:sp>
      <p:sp>
        <p:nvSpPr>
          <p:cNvPr id="10" name="Text 7"/>
          <p:cNvSpPr txBox="1"/>
          <p:nvPr/>
        </p:nvSpPr>
        <p:spPr>
          <a:xfrm>
            <a:off x="806500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Role: co-sell, resell, delivery partner or referral. Commitments run both ways.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2026-09-27T19:02:26Z</dcterms:created>
  <dcterms:modified xsi:type="dcterms:W3CDTF">2026-09-27T19:02:26Z</dcterms:modified>
</cp:coreProperties>
</file>