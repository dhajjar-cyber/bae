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
The inclusion point matters as much as the ownership one. Each lead is the point of contact for the cycle, but they are also the conduit into their own offering: taking our emerging thinking to the FSI partners and directors there, collecting ideas we would otherwise miss, and testing conclusions before they harden. Two reasons. The obvious one is better content — the people in front of clients every week know things this group does not. The less obvious one is adoption: a strategy that arrives finished, from four people, gets complied with at best. One that people recognise their own input in gets used.
Practically: each lead runs at least one working conversation inside their offering during weeks one and two, and brings back what they heard. It is a standing item at the weekly checkpoint, not an optional courtesy.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argument was living only in speaker notes, which is where arguments go to die. It belongs on the page, because every pursuit runs into one of these four alternatives.
It can be said without ever using the word risk: complex, multi-stream, regulated change lands with us and stalls elsewhere. That is a claim about judgement and accountability, not a contractual promise.
The honest half is the bottom of the slide. An argument without evidence is a boast, and the evidence is where we are thin — particularly sector credentials in funds and insurance, and assets a client can actually see working. Naming that gap here is what turns it into an initiative rather than a slide.
Worth rehearsing as a team: each alternative needs a different counter. Against an internal team it is capacity and governance; against a low-cost integrator it is what happens when the programme moves; against a product vendor it is everything around the platform; against a global SI it is depth and presence. Lost pursuits usually mean the wrong counter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team actually works inside the sprint, and the answer to a fair question: if everything has to be integrated, how do four people cover this much ground in three weeks?
Divide. Each offering lead works their own view first, because that is where the knowledge is: what we sell today, which accounts we serve, what capability we hold, and — the important part — where their offering could extend into something larger. That is a single-offering lens deliberately, and it is faster than trying to think integrated from a blank page.
Converge. We come together to abstract and refactor: three overlapping proposition lists become one catalogue; three account views become an account-level play; near-duplicates get merged rather than all three surviving. This is where integration is actually created, and it needs to be a working session, not a report-back.
The rhythm is weekly, not once: diverge early in the week, converge before it closes, so nothing carries over un-merged. It applies through Baseline, Define and Quantify — Mobilise and Commit are collective by nature.
One warning. Convergence is where the integrated-not-siloed principle is either honoured or quietly abandoned. If the converged output is still recognisably three lists stapled together, the session has not done its job — and that is worth calling out in the room rather than at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behind the three weeks, at the three levels that matter. Indicative durations rather than fixed: a kick-off of half a day, working sessions of ninety minutes to two hours, gates of an hour, sign-off of two hours.
Core team is the four leads and whoever they pull in per workstream. This is where the work is actually done, and it is the heaviest load in weeks one and two.
Offering level is the conduit role made concrete. In week one it is an ideas session inside each offering, deliberately before conclusions harden. In week two it is a validation session on the emerging catalogue and account list. In week three it is a read-out so nobody is surprised at sign-off. After sign-off it becomes the socialisation session per offering.
Leadership is deliberately light: attendance at kick-off, two gates, sign-off, then the monthly review. Gates need decisions, not presentations, so pre-reads go out the day before and the session opens on the open questions.
Two scheduling realities to plan around: get the offering-level sessions in the calendar during kick-off week, since partner diaries in this region fill weeks ahead; and hold the gates on a fixed day each week so they cannot drift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honest. A three-week cycle fails in predictable ways, and naming them at kick-off costs nothing.
The two that matter most: inputs arriving late, which is the most common cause of a compressed cycle slipping, and gates being deferred. A gate is a decision taken with the information available, not a decision waited for. If one cannot close, escalate at the checkpoint rather than letting the week drift.
Two items here are not really risks and should move to the initiative register as soon as they are confirmed: the missing platform alliances in funds and insurance, and whatever credential gaps the baseline exposes. Neither can be solved inside three weeks, and pretending otherwise is how a strategy ends up carrying commitments nobody can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template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Core-led transformation and core platform work across the three sectors, plus the full systems-integration role. Expect the longest-running propositions here, and the ones most likely to already be described differently by different partners.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and core AI, use-case activation, and the data platform work underneath it. Watch for propositions that are really capabilities — a platform build is not a proposition until it names the buyer and the outcome.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integration, microservices, API and bespoke build. The most likely home of genuinely focused propositions, such as a cloud migration strategy that never leaves this offering.
Fill this before week one rather than debating it during the baseline session. Two things to look for once all three are on the table: the same proposition appearing in slightly different forms across offerings, which is the silo showing; and propositions nobody has sold in the last year, which carry into the catalogue only if someone owns reviving them.
Integrated or focused is the column that starts the useful argument. Most of what sits here today will be marked focused, and the gap between that and the catalogue we design is one of the most useful outputs of the baseline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already are, before any prioritisation. Sourced from the firm's account plans and the pipeline rather than from memory.
Status should say what the relationship actually is: delivering, dormant, a single project, a framework agreement, or a relationship held elsewhere in the firm that we have not yet used.
This feeds the tiering exercise without pre-empting it. An account we are already in is not automatically tier one, and an account we have never worked with can be, if the opportunity justifies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 starting point, and the one input people most often skip because it is uncomfortable.
Two figures per measure: what FSI as a whole carries this financial year, and how much of that sits with EAI&amp;D. The third column — our share of it — is the one that provokes the useful conversation: if we hold a small slice of a large FSI number, the strategy is about capture; if we hold most of it already, the strategy is about growing the whole.
Split by sector and market wherever the plan already does, since banking, funds and insurance will not carry equal weight and the tiering work later depends on knowing that.
Source it from finance rather than from memory or a partner’s recollection, and date it. Everything downstream — the ambition, the revenue targets by account, the capacity plan — reconciles back to this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template: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ambition becomes a path rather than a destination. Two levels: the offering, and the propositions inside it that carry the growth.
Year on year matters because the shape differs by proposition. A core platform programme books slowly then heavily; an AI activation books quickly and repeats; an eminence-led proposition may show nothing in year one. A single three-year number hides all of that, and hides whether the plan is front or back loaded.
The driver column is the discipline. Growth comes from a small number of things — more accounts, larger deals, better price, higher share of an account, a new sector — and each row should name which. A row whose driver is "market growth" is a forecast, not a strategy.
Reconciliations: year one has to sit against the current FY plan from the inputs section; the account revenue plan has to add up to year one; and the capacity plan has to support each year, not just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us and not them, written down rather than improvised in the room.
One row per claim. Who it beats matters, because the counter differs: an internal team, a lower-cost integrator, a product vendor and a global SI each need a different argument, and losing pursuits usually means the wrong one was used.
Proof we have should name things — a programme, a reference, an asset a client can see working — not adjectives. Proof to build is the honest column, and every entry in it should appear in the initiative register with an owner and a date.
Expect the thinnest rows to be sector credentials in funds and insurance. Better to see that here than to discover it in a pursuit.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management system behind the strategy, recorded so it survives the people who set it up.
Three loops to fill in at minimum: the weekly pursuit review owned by account owners, the monthly review of pipeline, coverage, initiatives and talent against target, and the quarterly review that re-tests the choices themselves rather than only the numbers.
The column that does the work is decisions it can take. Without it, forums drift into reporting and every real decision waits for someone who is not in the room. Escalates to closes the loop — where a decision goes when it exceeds that forum.
Where the FSI industry strategy already runs a forum, we join it rather than create a parallel one, and this table should say which.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parts, in the order the strategy actually gets built.</a:t>
            </a:r>
            <a:endParaRPr lang="en-US" sz="1450" dirty="0"/>
          </a:p>
        </p:txBody>
      </p:sp>
      <p:sp>
        <p:nvSpPr>
          <p:cNvPr id="4" name="Shape 2"/>
          <p:cNvSpPr/>
          <p:nvPr/>
        </p:nvSpPr>
        <p:spPr>
          <a:xfrm>
            <a:off x="640080" y="1737360"/>
            <a:ext cx="10881360" cy="676656"/>
          </a:xfrm>
          <a:prstGeom prst="roundRect">
            <a:avLst>
              <a:gd name="adj" fmla="val 13514"/>
            </a:avLst>
          </a:prstGeom>
          <a:solidFill>
            <a:srgbClr val="F2F6FC"/>
          </a:solidFill>
          <a:ln/>
        </p:spPr>
      </p:sp>
      <p:sp>
        <p:nvSpPr>
          <p:cNvPr id="5" name="Shape 3"/>
          <p:cNvSpPr/>
          <p:nvPr/>
        </p:nvSpPr>
        <p:spPr>
          <a:xfrm>
            <a:off x="640080" y="1737360"/>
            <a:ext cx="1737360" cy="676656"/>
          </a:xfrm>
          <a:prstGeom prst="rect">
            <a:avLst/>
          </a:prstGeom>
          <a:solidFill>
            <a:srgbClr val="1E2761"/>
          </a:solidFill>
          <a:ln/>
        </p:spPr>
      </p:sp>
      <p:sp>
        <p:nvSpPr>
          <p:cNvPr id="6" name="Text 4"/>
          <p:cNvSpPr txBox="1"/>
          <p:nvPr/>
        </p:nvSpPr>
        <p:spPr>
          <a:xfrm>
            <a:off x="640080" y="17373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7922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frame</a:t>
            </a:r>
            <a:endParaRPr lang="en-US" sz="1450" dirty="0"/>
          </a:p>
        </p:txBody>
      </p:sp>
      <p:sp>
        <p:nvSpPr>
          <p:cNvPr id="8" name="Text 6"/>
          <p:cNvSpPr txBox="1"/>
          <p:nvPr/>
        </p:nvSpPr>
        <p:spPr>
          <a:xfrm>
            <a:off x="2606040" y="21031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this journey is, how it fits, and who is involved</a:t>
            </a:r>
            <a:endParaRPr lang="en-US" sz="1050" dirty="0"/>
          </a:p>
        </p:txBody>
      </p:sp>
      <p:sp>
        <p:nvSpPr>
          <p:cNvPr id="9" name="Text 7"/>
          <p:cNvSpPr txBox="1"/>
          <p:nvPr/>
        </p:nvSpPr>
        <p:spPr>
          <a:xfrm>
            <a:off x="10149840" y="17373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468880"/>
            <a:ext cx="10881360" cy="676656"/>
          </a:xfrm>
          <a:prstGeom prst="roundRect">
            <a:avLst>
              <a:gd name="adj" fmla="val 13514"/>
            </a:avLst>
          </a:prstGeom>
          <a:solidFill>
            <a:srgbClr val="EDF2FA"/>
          </a:solidFill>
          <a:ln/>
        </p:spPr>
      </p:sp>
      <p:sp>
        <p:nvSpPr>
          <p:cNvPr id="11" name="Shape 9"/>
          <p:cNvSpPr/>
          <p:nvPr/>
        </p:nvSpPr>
        <p:spPr>
          <a:xfrm>
            <a:off x="640080" y="2468880"/>
            <a:ext cx="1737360" cy="676656"/>
          </a:xfrm>
          <a:prstGeom prst="rect">
            <a:avLst/>
          </a:prstGeom>
          <a:solidFill>
            <a:srgbClr val="3E5C8A"/>
          </a:solidFill>
          <a:ln/>
        </p:spPr>
      </p:sp>
      <p:sp>
        <p:nvSpPr>
          <p:cNvPr id="12" name="Text 10"/>
          <p:cNvSpPr txBox="1"/>
          <p:nvPr/>
        </p:nvSpPr>
        <p:spPr>
          <a:xfrm>
            <a:off x="640080" y="246888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52374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destination</a:t>
            </a:r>
            <a:endParaRPr lang="en-US" sz="1450" dirty="0"/>
          </a:p>
        </p:txBody>
      </p:sp>
      <p:sp>
        <p:nvSpPr>
          <p:cNvPr id="14" name="Text 12"/>
          <p:cNvSpPr txBox="1"/>
          <p:nvPr/>
        </p:nvSpPr>
        <p:spPr>
          <a:xfrm>
            <a:off x="2606040" y="283464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Vision drivers · candidate statements · principles</a:t>
            </a:r>
            <a:endParaRPr lang="en-US" sz="1050" dirty="0"/>
          </a:p>
        </p:txBody>
      </p:sp>
      <p:sp>
        <p:nvSpPr>
          <p:cNvPr id="15" name="Text 13"/>
          <p:cNvSpPr txBox="1"/>
          <p:nvPr/>
        </p:nvSpPr>
        <p:spPr>
          <a:xfrm>
            <a:off x="10149840" y="246888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200400"/>
            <a:ext cx="10881360" cy="676656"/>
          </a:xfrm>
          <a:prstGeom prst="roundRect">
            <a:avLst>
              <a:gd name="adj" fmla="val 13514"/>
            </a:avLst>
          </a:prstGeom>
          <a:solidFill>
            <a:srgbClr val="F2F6FC"/>
          </a:solidFill>
          <a:ln/>
        </p:spPr>
      </p:sp>
      <p:sp>
        <p:nvSpPr>
          <p:cNvPr id="17" name="Shape 15"/>
          <p:cNvSpPr/>
          <p:nvPr/>
        </p:nvSpPr>
        <p:spPr>
          <a:xfrm>
            <a:off x="640080" y="3200400"/>
            <a:ext cx="1737360" cy="676656"/>
          </a:xfrm>
          <a:prstGeom prst="rect">
            <a:avLst/>
          </a:prstGeom>
          <a:solidFill>
            <a:srgbClr val="1E2761"/>
          </a:solidFill>
          <a:ln/>
        </p:spPr>
      </p:sp>
      <p:sp>
        <p:nvSpPr>
          <p:cNvPr id="18" name="Text 16"/>
          <p:cNvSpPr txBox="1"/>
          <p:nvPr/>
        </p:nvSpPr>
        <p:spPr>
          <a:xfrm>
            <a:off x="640080" y="320040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25526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20" name="Text 18"/>
          <p:cNvSpPr txBox="1"/>
          <p:nvPr/>
        </p:nvSpPr>
        <p:spPr>
          <a:xfrm>
            <a:off x="2606040" y="356616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architecture · sectors, markets and tiers · the catalogue · delivery and economics · why us · alliances and eminence</a:t>
            </a:r>
            <a:endParaRPr lang="en-US" sz="1050" dirty="0"/>
          </a:p>
        </p:txBody>
      </p:sp>
      <p:sp>
        <p:nvSpPr>
          <p:cNvPr id="21" name="Text 19"/>
          <p:cNvSpPr txBox="1"/>
          <p:nvPr/>
        </p:nvSpPr>
        <p:spPr>
          <a:xfrm>
            <a:off x="10149840" y="320040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9 slides</a:t>
            </a:r>
            <a:endParaRPr lang="en-US" sz="1100" dirty="0"/>
          </a:p>
        </p:txBody>
      </p:sp>
      <p:sp>
        <p:nvSpPr>
          <p:cNvPr id="22" name="Shape 20"/>
          <p:cNvSpPr/>
          <p:nvPr/>
        </p:nvSpPr>
        <p:spPr>
          <a:xfrm>
            <a:off x="640080" y="3931920"/>
            <a:ext cx="10881360" cy="676656"/>
          </a:xfrm>
          <a:prstGeom prst="roundRect">
            <a:avLst>
              <a:gd name="adj" fmla="val 13514"/>
            </a:avLst>
          </a:prstGeom>
          <a:solidFill>
            <a:srgbClr val="EDF2FA"/>
          </a:solidFill>
          <a:ln/>
        </p:spPr>
      </p:sp>
      <p:sp>
        <p:nvSpPr>
          <p:cNvPr id="23" name="Shape 21"/>
          <p:cNvSpPr/>
          <p:nvPr/>
        </p:nvSpPr>
        <p:spPr>
          <a:xfrm>
            <a:off x="640080" y="3931920"/>
            <a:ext cx="1737360" cy="676656"/>
          </a:xfrm>
          <a:prstGeom prst="rect">
            <a:avLst/>
          </a:prstGeom>
          <a:solidFill>
            <a:srgbClr val="3E5C8A"/>
          </a:solidFill>
          <a:ln/>
        </p:spPr>
      </p:sp>
      <p:sp>
        <p:nvSpPr>
          <p:cNvPr id="24" name="Text 22"/>
          <p:cNvSpPr txBox="1"/>
          <p:nvPr/>
        </p:nvSpPr>
        <p:spPr>
          <a:xfrm>
            <a:off x="640080" y="393192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398678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build it</a:t>
            </a:r>
            <a:endParaRPr lang="en-US" sz="1450" dirty="0"/>
          </a:p>
        </p:txBody>
      </p:sp>
      <p:sp>
        <p:nvSpPr>
          <p:cNvPr id="26" name="Text 24"/>
          <p:cNvSpPr txBox="1"/>
          <p:nvPr/>
        </p:nvSpPr>
        <p:spPr>
          <a:xfrm>
            <a:off x="2606040" y="429768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approach · divide and converge · workstreams · the journey · sessions · risks</a:t>
            </a:r>
            <a:endParaRPr lang="en-US" sz="1050" dirty="0"/>
          </a:p>
        </p:txBody>
      </p:sp>
      <p:sp>
        <p:nvSpPr>
          <p:cNvPr id="27" name="Text 25"/>
          <p:cNvSpPr txBox="1"/>
          <p:nvPr/>
        </p:nvSpPr>
        <p:spPr>
          <a:xfrm>
            <a:off x="10149840" y="393192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8" name="Shape 26"/>
          <p:cNvSpPr/>
          <p:nvPr/>
        </p:nvSpPr>
        <p:spPr>
          <a:xfrm>
            <a:off x="640080" y="4663440"/>
            <a:ext cx="10881360" cy="676656"/>
          </a:xfrm>
          <a:prstGeom prst="roundRect">
            <a:avLst>
              <a:gd name="adj" fmla="val 13514"/>
            </a:avLst>
          </a:prstGeom>
          <a:solidFill>
            <a:srgbClr val="F2F6FC"/>
          </a:solidFill>
          <a:ln/>
        </p:spPr>
      </p:sp>
      <p:sp>
        <p:nvSpPr>
          <p:cNvPr id="29" name="Shape 27"/>
          <p:cNvSpPr/>
          <p:nvPr/>
        </p:nvSpPr>
        <p:spPr>
          <a:xfrm>
            <a:off x="640080" y="4663440"/>
            <a:ext cx="1737360" cy="676656"/>
          </a:xfrm>
          <a:prstGeom prst="rect">
            <a:avLst/>
          </a:prstGeom>
          <a:solidFill>
            <a:srgbClr val="1E2761"/>
          </a:solidFill>
          <a:ln/>
        </p:spPr>
      </p:sp>
      <p:sp>
        <p:nvSpPr>
          <p:cNvPr id="30" name="Text 28"/>
          <p:cNvSpPr txBox="1"/>
          <p:nvPr/>
        </p:nvSpPr>
        <p:spPr>
          <a:xfrm>
            <a:off x="640080" y="466344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471830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comes next</a:t>
            </a:r>
            <a:endParaRPr lang="en-US" sz="1450" dirty="0"/>
          </a:p>
        </p:txBody>
      </p:sp>
      <p:sp>
        <p:nvSpPr>
          <p:cNvPr id="32" name="Text 30"/>
          <p:cNvSpPr txBox="1"/>
          <p:nvPr/>
        </p:nvSpPr>
        <p:spPr>
          <a:xfrm>
            <a:off x="2606040" y="502920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Initiatives that outlive the cycle · governing the execution</a:t>
            </a:r>
            <a:endParaRPr lang="en-US" sz="1050" dirty="0"/>
          </a:p>
        </p:txBody>
      </p:sp>
      <p:sp>
        <p:nvSpPr>
          <p:cNvPr id="33" name="Text 31"/>
          <p:cNvSpPr txBox="1"/>
          <p:nvPr/>
        </p:nvSpPr>
        <p:spPr>
          <a:xfrm>
            <a:off x="10149840" y="466344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34" name="Shape 32"/>
          <p:cNvSpPr/>
          <p:nvPr/>
        </p:nvSpPr>
        <p:spPr>
          <a:xfrm>
            <a:off x="640080" y="5394960"/>
            <a:ext cx="10881360" cy="676656"/>
          </a:xfrm>
          <a:prstGeom prst="roundRect">
            <a:avLst>
              <a:gd name="adj" fmla="val 13514"/>
            </a:avLst>
          </a:prstGeom>
          <a:solidFill>
            <a:srgbClr val="EDF2FA"/>
          </a:solidFill>
          <a:ln/>
        </p:spPr>
      </p:sp>
      <p:sp>
        <p:nvSpPr>
          <p:cNvPr id="35" name="Shape 33"/>
          <p:cNvSpPr/>
          <p:nvPr/>
        </p:nvSpPr>
        <p:spPr>
          <a:xfrm>
            <a:off x="640080" y="5394960"/>
            <a:ext cx="1737360" cy="676656"/>
          </a:xfrm>
          <a:prstGeom prst="rect">
            <a:avLst/>
          </a:prstGeom>
          <a:solidFill>
            <a:srgbClr val="3E5C8A"/>
          </a:solidFill>
          <a:ln/>
        </p:spPr>
      </p:sp>
      <p:sp>
        <p:nvSpPr>
          <p:cNvPr id="36" name="Text 34"/>
          <p:cNvSpPr txBox="1"/>
          <p:nvPr/>
        </p:nvSpPr>
        <p:spPr>
          <a:xfrm>
            <a:off x="640080" y="5394960"/>
            <a:ext cx="1737360" cy="67665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SIX</a:t>
            </a:r>
            <a:endParaRPr lang="en-US" sz="1150" dirty="0"/>
          </a:p>
        </p:txBody>
      </p:sp>
      <p:sp>
        <p:nvSpPr>
          <p:cNvPr id="37" name="Text 35"/>
          <p:cNvSpPr txBox="1"/>
          <p:nvPr/>
        </p:nvSpPr>
        <p:spPr>
          <a:xfrm>
            <a:off x="2606040" y="5449824"/>
            <a:ext cx="38404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Strategy inputs</a:t>
            </a:r>
            <a:endParaRPr lang="en-US" sz="1450" dirty="0"/>
          </a:p>
        </p:txBody>
      </p:sp>
      <p:sp>
        <p:nvSpPr>
          <p:cNvPr id="38" name="Text 36"/>
          <p:cNvSpPr txBox="1"/>
          <p:nvPr/>
        </p:nvSpPr>
        <p:spPr>
          <a:xfrm>
            <a:off x="2606040" y="5760720"/>
            <a:ext cx="768096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today, by offering · the priority account list · this year’s targets</a:t>
            </a:r>
            <a:endParaRPr lang="en-US" sz="1050" dirty="0"/>
          </a:p>
        </p:txBody>
      </p:sp>
      <p:sp>
        <p:nvSpPr>
          <p:cNvPr id="39" name="Text 37"/>
          <p:cNvSpPr txBox="1"/>
          <p:nvPr/>
        </p:nvSpPr>
        <p:spPr>
          <a:xfrm>
            <a:off x="10149840" y="5394960"/>
            <a:ext cx="1188720" cy="676656"/>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40" name="Text 38"/>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template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strategy on one page — the direction</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initiative register — the work that follows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 with owners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proposition catalogue with economics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targets by account and market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Shape 25"/>
          <p:cNvSpPr/>
          <p:nvPr/>
        </p:nvSpPr>
        <p:spPr>
          <a:xfrm>
            <a:off x="640080" y="5257800"/>
            <a:ext cx="10881360" cy="914400"/>
          </a:xfrm>
          <a:prstGeom prst="roundRect">
            <a:avLst>
              <a:gd name="adj" fmla="val 10000"/>
            </a:avLst>
          </a:prstGeom>
          <a:solidFill>
            <a:srgbClr val="1E2761"/>
          </a:solidFill>
          <a:ln/>
        </p:spPr>
      </p:sp>
      <p:sp>
        <p:nvSpPr>
          <p:cNvPr id="28" name="Text 26"/>
          <p:cNvSpPr txBox="1"/>
          <p:nvPr/>
        </p:nvSpPr>
        <p:spPr>
          <a:xfrm>
            <a:off x="914400" y="5257800"/>
            <a:ext cx="10332720" cy="9144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Each lead is a point of contact and a conduit: they take our thinking back into their own offering, test it with the FSI partners and directors there, and bring that view in. Nobody should meet this strategy for the first time when it is finished.</a:t>
            </a:r>
            <a:endParaRPr lang="en-US" sz="1250" dirty="0"/>
          </a:p>
        </p:txBody>
      </p:sp>
      <p:sp>
        <p:nvSpPr>
          <p:cNvPr id="29" name="Text 27"/>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Pillar ownership is assigned from this group at kick-off; wider contributors are pulled in per workstream.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Implied in how we describe the work, never promised as carrying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Cross-offering propositions are the default catalogue; a single-offering sale is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architecture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and the three-year path</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Why us and not them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the argument we have to be able to make, and the evidence it needs.</a:t>
            </a:r>
            <a:endParaRPr lang="en-US" sz="1450" dirty="0"/>
          </a:p>
        </p:txBody>
      </p:sp>
      <p:sp>
        <p:nvSpPr>
          <p:cNvPr id="4" name="Shape 2"/>
          <p:cNvSpPr/>
          <p:nvPr/>
        </p:nvSpPr>
        <p:spPr>
          <a:xfrm>
            <a:off x="640080" y="1828800"/>
            <a:ext cx="5257800" cy="1188720"/>
          </a:xfrm>
          <a:prstGeom prst="roundRect">
            <a:avLst>
              <a:gd name="adj" fmla="val 7692"/>
            </a:avLst>
          </a:prstGeom>
          <a:solidFill>
            <a:srgbClr val="EDF2FA"/>
          </a:solidFill>
          <a:ln/>
        </p:spPr>
      </p:sp>
      <p:sp>
        <p:nvSpPr>
          <p:cNvPr id="5" name="Text 3"/>
          <p:cNvSpPr txBox="1"/>
          <p:nvPr/>
        </p:nvSpPr>
        <p:spPr>
          <a:xfrm>
            <a:off x="91440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They do it themselves</a:t>
            </a:r>
            <a:endParaRPr lang="en-US" sz="1450" dirty="0"/>
          </a:p>
        </p:txBody>
      </p:sp>
      <p:sp>
        <p:nvSpPr>
          <p:cNvPr id="6" name="Text 4"/>
          <p:cNvSpPr txBox="1"/>
          <p:nvPr/>
        </p:nvSpPr>
        <p:spPr>
          <a:xfrm>
            <a:off x="91440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An internal team can build. It cannot govern a dozen streams, a vendor ecosystem and a regulator at once while running the institution.</a:t>
            </a:r>
            <a:endParaRPr lang="en-US" sz="1100" dirty="0"/>
          </a:p>
        </p:txBody>
      </p:sp>
      <p:sp>
        <p:nvSpPr>
          <p:cNvPr id="7" name="Shape 5"/>
          <p:cNvSpPr/>
          <p:nvPr/>
        </p:nvSpPr>
        <p:spPr>
          <a:xfrm>
            <a:off x="6263640" y="1828800"/>
            <a:ext cx="5257800" cy="1188720"/>
          </a:xfrm>
          <a:prstGeom prst="roundRect">
            <a:avLst>
              <a:gd name="adj" fmla="val 7692"/>
            </a:avLst>
          </a:prstGeom>
          <a:solidFill>
            <a:srgbClr val="EDF2FA"/>
          </a:solidFill>
          <a:ln/>
        </p:spPr>
      </p:sp>
      <p:sp>
        <p:nvSpPr>
          <p:cNvPr id="8" name="Text 6"/>
          <p:cNvSpPr txBox="1"/>
          <p:nvPr/>
        </p:nvSpPr>
        <p:spPr>
          <a:xfrm>
            <a:off x="6537960" y="19568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lower-cost integrator</a:t>
            </a:r>
            <a:endParaRPr lang="en-US" sz="1450" dirty="0"/>
          </a:p>
        </p:txBody>
      </p:sp>
      <p:sp>
        <p:nvSpPr>
          <p:cNvPr id="9" name="Text 7"/>
          <p:cNvSpPr txBox="1"/>
          <p:nvPr/>
        </p:nvSpPr>
        <p:spPr>
          <a:xfrm>
            <a:off x="6537960" y="23042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Cheaper capacity is everywhere. What is scarce is the judgement to sequence complex change, and accountability when it moves.</a:t>
            </a:r>
            <a:endParaRPr lang="en-US" sz="1100" dirty="0"/>
          </a:p>
        </p:txBody>
      </p:sp>
      <p:sp>
        <p:nvSpPr>
          <p:cNvPr id="10" name="Shape 8"/>
          <p:cNvSpPr/>
          <p:nvPr/>
        </p:nvSpPr>
        <p:spPr>
          <a:xfrm>
            <a:off x="640080" y="3200400"/>
            <a:ext cx="5257800" cy="1188720"/>
          </a:xfrm>
          <a:prstGeom prst="roundRect">
            <a:avLst>
              <a:gd name="adj" fmla="val 7692"/>
            </a:avLst>
          </a:prstGeom>
          <a:solidFill>
            <a:srgbClr val="EDF2FA"/>
          </a:solidFill>
          <a:ln/>
        </p:spPr>
      </p:sp>
      <p:sp>
        <p:nvSpPr>
          <p:cNvPr id="11" name="Text 9"/>
          <p:cNvSpPr txBox="1"/>
          <p:nvPr/>
        </p:nvSpPr>
        <p:spPr>
          <a:xfrm>
            <a:off x="91440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product vendor</a:t>
            </a:r>
            <a:endParaRPr lang="en-US" sz="1450" dirty="0"/>
          </a:p>
        </p:txBody>
      </p:sp>
      <p:sp>
        <p:nvSpPr>
          <p:cNvPr id="12" name="Text 10"/>
          <p:cNvSpPr txBox="1"/>
          <p:nvPr/>
        </p:nvSpPr>
        <p:spPr>
          <a:xfrm>
            <a:off x="91440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The vendor knows its platform. It does not own the data estate, the integration layer or the operating model around it.</a:t>
            </a:r>
            <a:endParaRPr lang="en-US" sz="1100" dirty="0"/>
          </a:p>
        </p:txBody>
      </p:sp>
      <p:sp>
        <p:nvSpPr>
          <p:cNvPr id="13" name="Shape 11"/>
          <p:cNvSpPr/>
          <p:nvPr/>
        </p:nvSpPr>
        <p:spPr>
          <a:xfrm>
            <a:off x="6263640" y="3200400"/>
            <a:ext cx="5257800" cy="1188720"/>
          </a:xfrm>
          <a:prstGeom prst="roundRect">
            <a:avLst>
              <a:gd name="adj" fmla="val 7692"/>
            </a:avLst>
          </a:prstGeom>
          <a:solidFill>
            <a:srgbClr val="EDF2FA"/>
          </a:solidFill>
          <a:ln/>
        </p:spPr>
      </p:sp>
      <p:sp>
        <p:nvSpPr>
          <p:cNvPr id="14" name="Text 12"/>
          <p:cNvSpPr txBox="1"/>
          <p:nvPr/>
        </p:nvSpPr>
        <p:spPr>
          <a:xfrm>
            <a:off x="6537960" y="3328416"/>
            <a:ext cx="4663440" cy="310896"/>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global SI</a:t>
            </a:r>
            <a:endParaRPr lang="en-US" sz="1450" dirty="0"/>
          </a:p>
        </p:txBody>
      </p:sp>
      <p:sp>
        <p:nvSpPr>
          <p:cNvPr id="15" name="Text 13"/>
          <p:cNvSpPr txBox="1"/>
          <p:nvPr/>
        </p:nvSpPr>
        <p:spPr>
          <a:xfrm>
            <a:off x="6537960" y="3675888"/>
            <a:ext cx="4709160" cy="640080"/>
          </a:xfrm>
          <a:prstGeom prst="rect">
            <a:avLst/>
          </a:prstGeom>
          <a:noFill/>
          <a:ln/>
        </p:spPr>
        <p:txBody>
          <a:bodyPr wrap="square" lIns="0" tIns="0" rIns="0" bIns="0" rtlCol="0" anchor="ctr"/>
          <a:lstStyle/>
          <a:p>
            <a:pPr indent="0" marL="0">
              <a:buNone/>
            </a:pPr>
            <a:r>
              <a:rPr lang="en-US" sz="1100" dirty="0">
                <a:solidFill>
                  <a:srgbClr val="44506B"/>
                </a:solidFill>
                <a:latin typeface="Calibri" pitchFamily="34" charset="0"/>
                <a:ea typeface="Calibri" pitchFamily="34" charset="-122"/>
                <a:cs typeface="Calibri" pitchFamily="34" charset="-120"/>
              </a:rPr>
              <a:t>Scale is not scarce here either. Sector depth, regional presence and a team that stays after go-live are.</a:t>
            </a:r>
            <a:endParaRPr lang="en-US" sz="1100" dirty="0"/>
          </a:p>
        </p:txBody>
      </p:sp>
      <p:sp>
        <p:nvSpPr>
          <p:cNvPr id="16" name="Text 14"/>
          <p:cNvSpPr txBox="1"/>
          <p:nvPr/>
        </p:nvSpPr>
        <p:spPr>
          <a:xfrm>
            <a:off x="640080" y="470916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The evidence this argument needs</a:t>
            </a:r>
            <a:endParaRPr lang="en-US" sz="1400" dirty="0"/>
          </a:p>
        </p:txBody>
      </p:sp>
      <p:sp>
        <p:nvSpPr>
          <p:cNvPr id="17" name="Text 15"/>
          <p:cNvSpPr txBox="1"/>
          <p:nvPr/>
        </p:nvSpPr>
        <p:spPr>
          <a:xfrm>
            <a:off x="640080" y="5074920"/>
            <a:ext cx="10881360" cy="109728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Programmes that landed — named, including what went wrong and how it was recovered</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Multi-stream governance depth we can point to, not describe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Sector credentials in each of banking, funds and insurance</a:t>
            </a:r>
            <a:endParaRPr lang="en-US" sz="1200" dirty="0"/>
          </a:p>
          <a:p>
            <a:pPr marL="342900" indent="-342900">
              <a:spcAft>
                <a:spcPts val="500"/>
              </a:spcAft>
              <a:buSzPct val="100000"/>
              <a:buChar char="•"/>
            </a:pPr>
            <a:r>
              <a:rPr lang="en-US" sz="1200" dirty="0">
                <a:solidFill>
                  <a:srgbClr val="44506B"/>
                </a:solidFill>
                <a:latin typeface="Calibri" pitchFamily="34" charset="0"/>
                <a:ea typeface="Calibri" pitchFamily="34" charset="-122"/>
                <a:cs typeface="Calibri" pitchFamily="34" charset="-120"/>
              </a:rPr>
              <a:t>Assets and accelerators a client can see working</a:t>
            </a:r>
            <a:endParaRPr lang="en-US" sz="1200" dirty="0"/>
          </a:p>
        </p:txBody>
      </p:sp>
      <p:sp>
        <p:nvSpPr>
          <p:cNvPr id="18" name="Text 16"/>
          <p:cNvSpPr txBox="1"/>
          <p:nvPr/>
        </p:nvSpPr>
        <p:spPr>
          <a:xfrm>
            <a:off x="640080" y="6309360"/>
            <a:ext cx="10881360" cy="32004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 cycle names the evidence we have — and turns what we are missing into an initiative.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six-step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Divide, then converge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Who meets, and when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could derail this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six-step approach: five to decide, one to bring everyone with us.</a:t>
            </a:r>
            <a:endParaRPr lang="en-US" sz="1450" dirty="0"/>
          </a:p>
        </p:txBody>
      </p:sp>
      <p:sp>
        <p:nvSpPr>
          <p:cNvPr id="4" name="Shape 2"/>
          <p:cNvSpPr/>
          <p:nvPr/>
        </p:nvSpPr>
        <p:spPr>
          <a:xfrm>
            <a:off x="640080" y="1874520"/>
            <a:ext cx="1691640" cy="713232"/>
          </a:xfrm>
          <a:prstGeom prst="chevron">
            <a:avLst/>
          </a:prstGeom>
          <a:solidFill>
            <a:srgbClr val="1E2761"/>
          </a:solidFill>
          <a:ln/>
        </p:spPr>
      </p:sp>
      <p:sp>
        <p:nvSpPr>
          <p:cNvPr id="5" name="Text 3"/>
          <p:cNvSpPr txBox="1"/>
          <p:nvPr/>
        </p:nvSpPr>
        <p:spPr>
          <a:xfrm>
            <a:off x="78638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Mobilise</a:t>
            </a:r>
            <a:endParaRPr lang="en-US" sz="1300" dirty="0"/>
          </a:p>
        </p:txBody>
      </p:sp>
      <p:sp>
        <p:nvSpPr>
          <p:cNvPr id="6" name="Shape 4"/>
          <p:cNvSpPr/>
          <p:nvPr/>
        </p:nvSpPr>
        <p:spPr>
          <a:xfrm>
            <a:off x="1312164" y="2788920"/>
            <a:ext cx="347472" cy="347472"/>
          </a:xfrm>
          <a:prstGeom prst="ellipse">
            <a:avLst/>
          </a:prstGeom>
          <a:solidFill>
            <a:srgbClr val="B8862B"/>
          </a:solidFill>
          <a:ln/>
        </p:spPr>
      </p:sp>
      <p:sp>
        <p:nvSpPr>
          <p:cNvPr id="7" name="Text 5"/>
          <p:cNvSpPr txBox="1"/>
          <p:nvPr/>
        </p:nvSpPr>
        <p:spPr>
          <a:xfrm>
            <a:off x="131216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Choose the vision, then frame the ambition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Confirm scope, principles and owners</a:t>
            </a:r>
            <a:endParaRPr lang="en-US" sz="1050" dirty="0"/>
          </a:p>
        </p:txBody>
      </p:sp>
      <p:sp>
        <p:nvSpPr>
          <p:cNvPr id="9" name="Text 7"/>
          <p:cNvSpPr txBox="1"/>
          <p:nvPr/>
        </p:nvSpPr>
        <p:spPr>
          <a:xfrm>
            <a:off x="64008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0" name="Shape 8"/>
          <p:cNvSpPr/>
          <p:nvPr/>
        </p:nvSpPr>
        <p:spPr>
          <a:xfrm>
            <a:off x="2478024" y="1874520"/>
            <a:ext cx="1691640" cy="713232"/>
          </a:xfrm>
          <a:prstGeom prst="chevron">
            <a:avLst/>
          </a:prstGeom>
          <a:solidFill>
            <a:srgbClr val="3E5C8A"/>
          </a:solidFill>
          <a:ln/>
        </p:spPr>
      </p:sp>
      <p:sp>
        <p:nvSpPr>
          <p:cNvPr id="11" name="Text 9"/>
          <p:cNvSpPr txBox="1"/>
          <p:nvPr/>
        </p:nvSpPr>
        <p:spPr>
          <a:xfrm>
            <a:off x="2624328"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a:t>
            </a:r>
            <a:endParaRPr lang="en-US" sz="1300" dirty="0"/>
          </a:p>
        </p:txBody>
      </p:sp>
      <p:sp>
        <p:nvSpPr>
          <p:cNvPr id="12" name="Shape 10"/>
          <p:cNvSpPr/>
          <p:nvPr/>
        </p:nvSpPr>
        <p:spPr>
          <a:xfrm>
            <a:off x="3150108" y="2788920"/>
            <a:ext cx="347472" cy="347472"/>
          </a:xfrm>
          <a:prstGeom prst="ellipse">
            <a:avLst/>
          </a:prstGeom>
          <a:solidFill>
            <a:srgbClr val="B8862B"/>
          </a:solidFill>
          <a:ln/>
        </p:spPr>
      </p:sp>
      <p:sp>
        <p:nvSpPr>
          <p:cNvPr id="13" name="Text 11"/>
          <p:cNvSpPr txBox="1"/>
          <p:nvPr/>
        </p:nvSpPr>
        <p:spPr>
          <a:xfrm>
            <a:off x="315010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78024"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Credentials, pipeline and current wins</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Who we have today: dedicated and shared</a:t>
            </a:r>
            <a:endParaRPr lang="en-US" sz="1050" dirty="0"/>
          </a:p>
        </p:txBody>
      </p:sp>
      <p:sp>
        <p:nvSpPr>
          <p:cNvPr id="15" name="Text 13"/>
          <p:cNvSpPr txBox="1"/>
          <p:nvPr/>
        </p:nvSpPr>
        <p:spPr>
          <a:xfrm>
            <a:off x="2478024"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1</a:t>
            </a:r>
            <a:endParaRPr lang="en-US" sz="1050" dirty="0"/>
          </a:p>
        </p:txBody>
      </p:sp>
      <p:sp>
        <p:nvSpPr>
          <p:cNvPr id="16" name="Shape 14"/>
          <p:cNvSpPr/>
          <p:nvPr/>
        </p:nvSpPr>
        <p:spPr>
          <a:xfrm>
            <a:off x="4315968" y="1874520"/>
            <a:ext cx="1691640" cy="713232"/>
          </a:xfrm>
          <a:prstGeom prst="chevron">
            <a:avLst/>
          </a:prstGeom>
          <a:solidFill>
            <a:srgbClr val="1E2761"/>
          </a:solidFill>
          <a:ln/>
        </p:spPr>
      </p:sp>
      <p:sp>
        <p:nvSpPr>
          <p:cNvPr id="17" name="Text 15"/>
          <p:cNvSpPr txBox="1"/>
          <p:nvPr/>
        </p:nvSpPr>
        <p:spPr>
          <a:xfrm>
            <a:off x="4462272"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Define</a:t>
            </a:r>
            <a:endParaRPr lang="en-US" sz="1300" dirty="0"/>
          </a:p>
        </p:txBody>
      </p:sp>
      <p:sp>
        <p:nvSpPr>
          <p:cNvPr id="18" name="Shape 16"/>
          <p:cNvSpPr/>
          <p:nvPr/>
        </p:nvSpPr>
        <p:spPr>
          <a:xfrm>
            <a:off x="4988052" y="2788920"/>
            <a:ext cx="347472" cy="347472"/>
          </a:xfrm>
          <a:prstGeom prst="ellipse">
            <a:avLst/>
          </a:prstGeom>
          <a:solidFill>
            <a:srgbClr val="B8862B"/>
          </a:solidFill>
          <a:ln/>
        </p:spPr>
      </p:sp>
      <p:sp>
        <p:nvSpPr>
          <p:cNvPr id="19" name="Text 17"/>
          <p:cNvSpPr txBox="1"/>
          <p:nvPr/>
        </p:nvSpPr>
        <p:spPr>
          <a:xfrm>
            <a:off x="498805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315968"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Offering views, then merged into one catalogue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Markets, sectors and candidate accounts</a:t>
            </a:r>
            <a:endParaRPr lang="en-US" sz="1050" dirty="0"/>
          </a:p>
        </p:txBody>
      </p:sp>
      <p:sp>
        <p:nvSpPr>
          <p:cNvPr id="21" name="Text 19"/>
          <p:cNvSpPr txBox="1"/>
          <p:nvPr/>
        </p:nvSpPr>
        <p:spPr>
          <a:xfrm>
            <a:off x="4315968"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Weeks 1–2</a:t>
            </a:r>
            <a:endParaRPr lang="en-US" sz="1050" dirty="0"/>
          </a:p>
        </p:txBody>
      </p:sp>
      <p:sp>
        <p:nvSpPr>
          <p:cNvPr id="22" name="Shape 20"/>
          <p:cNvSpPr/>
          <p:nvPr/>
        </p:nvSpPr>
        <p:spPr>
          <a:xfrm>
            <a:off x="6153912" y="1874520"/>
            <a:ext cx="1691640" cy="713232"/>
          </a:xfrm>
          <a:prstGeom prst="chevron">
            <a:avLst/>
          </a:prstGeom>
          <a:solidFill>
            <a:srgbClr val="3E5C8A"/>
          </a:solidFill>
          <a:ln/>
        </p:spPr>
      </p:sp>
      <p:sp>
        <p:nvSpPr>
          <p:cNvPr id="23" name="Text 21"/>
          <p:cNvSpPr txBox="1"/>
          <p:nvPr/>
        </p:nvSpPr>
        <p:spPr>
          <a:xfrm>
            <a:off x="6300216"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Quantify</a:t>
            </a:r>
            <a:endParaRPr lang="en-US" sz="1300" dirty="0"/>
          </a:p>
        </p:txBody>
      </p:sp>
      <p:sp>
        <p:nvSpPr>
          <p:cNvPr id="24" name="Shape 22"/>
          <p:cNvSpPr/>
          <p:nvPr/>
        </p:nvSpPr>
        <p:spPr>
          <a:xfrm>
            <a:off x="6825996" y="2788920"/>
            <a:ext cx="347472" cy="347472"/>
          </a:xfrm>
          <a:prstGeom prst="ellipse">
            <a:avLst/>
          </a:prstGeom>
          <a:solidFill>
            <a:srgbClr val="B8862B"/>
          </a:solidFill>
          <a:ln/>
        </p:spPr>
      </p:sp>
      <p:sp>
        <p:nvSpPr>
          <p:cNvPr id="25" name="Text 23"/>
          <p:cNvSpPr txBox="1"/>
          <p:nvPr/>
        </p:nvSpPr>
        <p:spPr>
          <a:xfrm>
            <a:off x="682599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6153912"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Price bands, ADR and target margin</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Revenue and the three-year growth path</a:t>
            </a:r>
            <a:endParaRPr lang="en-US" sz="1050" dirty="0"/>
          </a:p>
        </p:txBody>
      </p:sp>
      <p:sp>
        <p:nvSpPr>
          <p:cNvPr id="27" name="Text 25"/>
          <p:cNvSpPr txBox="1"/>
          <p:nvPr/>
        </p:nvSpPr>
        <p:spPr>
          <a:xfrm>
            <a:off x="6153912"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2</a:t>
            </a:r>
            <a:endParaRPr lang="en-US" sz="1050" dirty="0"/>
          </a:p>
        </p:txBody>
      </p:sp>
      <p:sp>
        <p:nvSpPr>
          <p:cNvPr id="28" name="Shape 26"/>
          <p:cNvSpPr/>
          <p:nvPr/>
        </p:nvSpPr>
        <p:spPr>
          <a:xfrm>
            <a:off x="7991856" y="1874520"/>
            <a:ext cx="1691640" cy="713232"/>
          </a:xfrm>
          <a:prstGeom prst="chevron">
            <a:avLst/>
          </a:prstGeom>
          <a:solidFill>
            <a:srgbClr val="1E2761"/>
          </a:solidFill>
          <a:ln/>
        </p:spPr>
      </p:sp>
      <p:sp>
        <p:nvSpPr>
          <p:cNvPr id="29" name="Text 27"/>
          <p:cNvSpPr txBox="1"/>
          <p:nvPr/>
        </p:nvSpPr>
        <p:spPr>
          <a:xfrm>
            <a:off x="8138160"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Commit</a:t>
            </a:r>
            <a:endParaRPr lang="en-US" sz="1300" dirty="0"/>
          </a:p>
        </p:txBody>
      </p:sp>
      <p:sp>
        <p:nvSpPr>
          <p:cNvPr id="30" name="Shape 28"/>
          <p:cNvSpPr/>
          <p:nvPr/>
        </p:nvSpPr>
        <p:spPr>
          <a:xfrm>
            <a:off x="8663940" y="2788920"/>
            <a:ext cx="347472" cy="347472"/>
          </a:xfrm>
          <a:prstGeom prst="ellipse">
            <a:avLst/>
          </a:prstGeom>
          <a:solidFill>
            <a:srgbClr val="B8862B"/>
          </a:solidFill>
          <a:ln/>
        </p:spPr>
      </p:sp>
      <p:sp>
        <p:nvSpPr>
          <p:cNvPr id="31" name="Text 29"/>
          <p:cNvSpPr txBox="1"/>
          <p:nvPr/>
        </p:nvSpPr>
        <p:spPr>
          <a:xfrm>
            <a:off x="866394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7991856"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Account ownership and coverage</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Team, eminence and activation plans signed off</a:t>
            </a:r>
            <a:endParaRPr lang="en-US" sz="1050" dirty="0"/>
          </a:p>
        </p:txBody>
      </p:sp>
      <p:sp>
        <p:nvSpPr>
          <p:cNvPr id="33" name="Text 31"/>
          <p:cNvSpPr txBox="1"/>
          <p:nvPr/>
        </p:nvSpPr>
        <p:spPr>
          <a:xfrm>
            <a:off x="7991856"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34" name="Shape 32"/>
          <p:cNvSpPr/>
          <p:nvPr/>
        </p:nvSpPr>
        <p:spPr>
          <a:xfrm>
            <a:off x="9829800" y="1874520"/>
            <a:ext cx="1691640" cy="713232"/>
          </a:xfrm>
          <a:prstGeom prst="chevron">
            <a:avLst/>
          </a:prstGeom>
          <a:solidFill>
            <a:srgbClr val="3E5C8A"/>
          </a:solidFill>
          <a:ln/>
        </p:spPr>
      </p:sp>
      <p:sp>
        <p:nvSpPr>
          <p:cNvPr id="35" name="Text 33"/>
          <p:cNvSpPr txBox="1"/>
          <p:nvPr/>
        </p:nvSpPr>
        <p:spPr>
          <a:xfrm>
            <a:off x="9976104" y="1874520"/>
            <a:ext cx="14538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Socialise</a:t>
            </a:r>
            <a:endParaRPr lang="en-US" sz="1300" dirty="0"/>
          </a:p>
        </p:txBody>
      </p:sp>
      <p:sp>
        <p:nvSpPr>
          <p:cNvPr id="36" name="Shape 34"/>
          <p:cNvSpPr/>
          <p:nvPr/>
        </p:nvSpPr>
        <p:spPr>
          <a:xfrm>
            <a:off x="10501884" y="2788920"/>
            <a:ext cx="347472" cy="347472"/>
          </a:xfrm>
          <a:prstGeom prst="ellipse">
            <a:avLst/>
          </a:prstGeom>
          <a:solidFill>
            <a:srgbClr val="B8862B"/>
          </a:solidFill>
          <a:ln/>
        </p:spPr>
      </p:sp>
      <p:sp>
        <p:nvSpPr>
          <p:cNvPr id="37" name="Text 35"/>
          <p:cNvSpPr txBox="1"/>
          <p:nvPr/>
        </p:nvSpPr>
        <p:spPr>
          <a:xfrm>
            <a:off x="1050188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txBox="1"/>
          <p:nvPr/>
        </p:nvSpPr>
        <p:spPr>
          <a:xfrm>
            <a:off x="9829800" y="3337560"/>
            <a:ext cx="1783080" cy="1554480"/>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Present to the wider FSI community</a:t>
            </a:r>
            <a:endParaRPr lang="en-US" sz="1050" dirty="0"/>
          </a:p>
          <a:p>
            <a:pPr marL="342900" indent="-342900">
              <a:spcAft>
                <a:spcPts val="800"/>
              </a:spcAft>
              <a:buSzPct val="100000"/>
              <a:buChar char="•"/>
            </a:pPr>
            <a:r>
              <a:rPr lang="en-US" sz="1050" dirty="0">
                <a:solidFill>
                  <a:srgbClr val="44506B"/>
                </a:solidFill>
                <a:latin typeface="Calibri" pitchFamily="34" charset="0"/>
                <a:ea typeface="Calibri" pitchFamily="34" charset="-122"/>
                <a:cs typeface="Calibri" pitchFamily="34" charset="-120"/>
              </a:rPr>
              <a:t>Hand initiatives to their owners</a:t>
            </a:r>
            <a:endParaRPr lang="en-US" sz="1050" dirty="0"/>
          </a:p>
        </p:txBody>
      </p:sp>
      <p:sp>
        <p:nvSpPr>
          <p:cNvPr id="39" name="Text 37"/>
          <p:cNvSpPr txBox="1"/>
          <p:nvPr/>
        </p:nvSpPr>
        <p:spPr>
          <a:xfrm>
            <a:off x="9829800" y="4983480"/>
            <a:ext cx="1691640" cy="320040"/>
          </a:xfrm>
          <a:prstGeom prst="rect">
            <a:avLst/>
          </a:prstGeom>
          <a:noFill/>
          <a:ln/>
        </p:spPr>
        <p:txBody>
          <a:bodyPr wrap="square" lIns="0" tIns="0" rIns="0" bIns="0" rtlCol="0" anchor="ctr"/>
          <a:lstStyle/>
          <a:p>
            <a:pPr algn="ctr" indent="0" marL="0">
              <a:buNone/>
            </a:pPr>
            <a:r>
              <a:rPr lang="en-US" sz="1050" b="1" dirty="0">
                <a:solidFill>
                  <a:srgbClr val="8792AB"/>
                </a:solidFill>
                <a:latin typeface="Calibri" pitchFamily="34" charset="0"/>
                <a:ea typeface="Calibri" pitchFamily="34" charset="-122"/>
                <a:cs typeface="Calibri" pitchFamily="34" charset="-120"/>
              </a:rPr>
              <a:t>Week 3+</a:t>
            </a:r>
            <a:endParaRPr lang="en-US" sz="1050" dirty="0"/>
          </a:p>
        </p:txBody>
      </p:sp>
      <p:sp>
        <p:nvSpPr>
          <p:cNvPr id="40" name="Text 38"/>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last one is not optional — a strategy nobody has heard is not activated.</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Divide, then converge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offering works its own view first — then we merge it into something integrated.</a:t>
            </a:r>
            <a:endParaRPr lang="en-US" sz="1450" dirty="0"/>
          </a:p>
        </p:txBody>
      </p:sp>
      <p:sp>
        <p:nvSpPr>
          <p:cNvPr id="4" name="Shape 2"/>
          <p:cNvSpPr/>
          <p:nvPr/>
        </p:nvSpPr>
        <p:spPr>
          <a:xfrm>
            <a:off x="640080" y="1920240"/>
            <a:ext cx="4114800" cy="868680"/>
          </a:xfrm>
          <a:prstGeom prst="roundRect">
            <a:avLst>
              <a:gd name="adj" fmla="val 10526"/>
            </a:avLst>
          </a:prstGeom>
          <a:solidFill>
            <a:srgbClr val="EDF2FA"/>
          </a:solidFill>
          <a:ln/>
        </p:spPr>
      </p:sp>
      <p:sp>
        <p:nvSpPr>
          <p:cNvPr id="5" name="Shape 3"/>
          <p:cNvSpPr/>
          <p:nvPr/>
        </p:nvSpPr>
        <p:spPr>
          <a:xfrm>
            <a:off x="640080" y="1920240"/>
            <a:ext cx="146304" cy="868680"/>
          </a:xfrm>
          <a:prstGeom prst="rect">
            <a:avLst/>
          </a:prstGeom>
          <a:solidFill>
            <a:srgbClr val="1E2761"/>
          </a:solidFill>
          <a:ln/>
        </p:spPr>
      </p:sp>
      <p:sp>
        <p:nvSpPr>
          <p:cNvPr id="6" name="Text 4"/>
          <p:cNvSpPr txBox="1"/>
          <p:nvPr/>
        </p:nvSpPr>
        <p:spPr>
          <a:xfrm>
            <a:off x="960120" y="197510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Industry Solutions</a:t>
            </a:r>
            <a:endParaRPr lang="en-US" sz="1300" dirty="0"/>
          </a:p>
        </p:txBody>
      </p:sp>
      <p:sp>
        <p:nvSpPr>
          <p:cNvPr id="7" name="Text 5"/>
          <p:cNvSpPr txBox="1"/>
          <p:nvPr/>
        </p:nvSpPr>
        <p:spPr>
          <a:xfrm>
            <a:off x="960120" y="230428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8" name="Shape 6"/>
          <p:cNvSpPr/>
          <p:nvPr/>
        </p:nvSpPr>
        <p:spPr>
          <a:xfrm>
            <a:off x="4846320" y="2354580"/>
            <a:ext cx="1005840" cy="1028700"/>
          </a:xfrm>
          <a:prstGeom prst="line">
            <a:avLst/>
          </a:prstGeom>
          <a:noFill/>
          <a:ln w="15875">
            <a:solidFill>
              <a:srgbClr val="3E5C8A"/>
            </a:solidFill>
            <a:prstDash val="solid"/>
            <a:tailEnd type="triangle"/>
          </a:ln>
        </p:spPr>
      </p:sp>
      <p:sp>
        <p:nvSpPr>
          <p:cNvPr id="9" name="Shape 7"/>
          <p:cNvSpPr/>
          <p:nvPr/>
        </p:nvSpPr>
        <p:spPr>
          <a:xfrm>
            <a:off x="640080" y="2971800"/>
            <a:ext cx="4114800" cy="868680"/>
          </a:xfrm>
          <a:prstGeom prst="roundRect">
            <a:avLst>
              <a:gd name="adj" fmla="val 10526"/>
            </a:avLst>
          </a:prstGeom>
          <a:solidFill>
            <a:srgbClr val="EDF2FA"/>
          </a:solidFill>
          <a:ln/>
        </p:spPr>
      </p:sp>
      <p:sp>
        <p:nvSpPr>
          <p:cNvPr id="10" name="Shape 8"/>
          <p:cNvSpPr/>
          <p:nvPr/>
        </p:nvSpPr>
        <p:spPr>
          <a:xfrm>
            <a:off x="640080" y="2971800"/>
            <a:ext cx="146304" cy="868680"/>
          </a:xfrm>
          <a:prstGeom prst="rect">
            <a:avLst/>
          </a:prstGeom>
          <a:solidFill>
            <a:srgbClr val="3E5C8A"/>
          </a:solidFill>
          <a:ln/>
        </p:spPr>
      </p:sp>
      <p:sp>
        <p:nvSpPr>
          <p:cNvPr id="11" name="Text 9"/>
          <p:cNvSpPr txBox="1"/>
          <p:nvPr/>
        </p:nvSpPr>
        <p:spPr>
          <a:xfrm>
            <a:off x="960120" y="302666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AI and Data</a:t>
            </a:r>
            <a:endParaRPr lang="en-US" sz="1300" dirty="0"/>
          </a:p>
        </p:txBody>
      </p:sp>
      <p:sp>
        <p:nvSpPr>
          <p:cNvPr id="12" name="Text 10"/>
          <p:cNvSpPr txBox="1"/>
          <p:nvPr/>
        </p:nvSpPr>
        <p:spPr>
          <a:xfrm>
            <a:off x="960120" y="335584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3" name="Shape 11"/>
          <p:cNvSpPr/>
          <p:nvPr/>
        </p:nvSpPr>
        <p:spPr>
          <a:xfrm flipV="1">
            <a:off x="4846320" y="3383280"/>
            <a:ext cx="1005840" cy="22860"/>
          </a:xfrm>
          <a:prstGeom prst="line">
            <a:avLst/>
          </a:prstGeom>
          <a:noFill/>
          <a:ln w="15875">
            <a:solidFill>
              <a:srgbClr val="3E5C8A"/>
            </a:solidFill>
            <a:prstDash val="solid"/>
            <a:tailEnd type="triangle"/>
          </a:ln>
        </p:spPr>
      </p:sp>
      <p:sp>
        <p:nvSpPr>
          <p:cNvPr id="14" name="Shape 12"/>
          <p:cNvSpPr/>
          <p:nvPr/>
        </p:nvSpPr>
        <p:spPr>
          <a:xfrm>
            <a:off x="640080" y="4023360"/>
            <a:ext cx="4114800" cy="868680"/>
          </a:xfrm>
          <a:prstGeom prst="roundRect">
            <a:avLst>
              <a:gd name="adj" fmla="val 10526"/>
            </a:avLst>
          </a:prstGeom>
          <a:solidFill>
            <a:srgbClr val="EDF2FA"/>
          </a:solidFill>
          <a:ln/>
        </p:spPr>
      </p:sp>
      <p:sp>
        <p:nvSpPr>
          <p:cNvPr id="15" name="Shape 13"/>
          <p:cNvSpPr/>
          <p:nvPr/>
        </p:nvSpPr>
        <p:spPr>
          <a:xfrm>
            <a:off x="640080" y="4023360"/>
            <a:ext cx="146304" cy="868680"/>
          </a:xfrm>
          <a:prstGeom prst="rect">
            <a:avLst/>
          </a:prstGeom>
          <a:solidFill>
            <a:srgbClr val="1E2761"/>
          </a:solidFill>
          <a:ln/>
        </p:spPr>
      </p:sp>
      <p:sp>
        <p:nvSpPr>
          <p:cNvPr id="16" name="Text 14"/>
          <p:cNvSpPr txBox="1"/>
          <p:nvPr/>
        </p:nvSpPr>
        <p:spPr>
          <a:xfrm>
            <a:off x="960120" y="4078224"/>
            <a:ext cx="301752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Engineering</a:t>
            </a:r>
            <a:endParaRPr lang="en-US" sz="1300" dirty="0"/>
          </a:p>
        </p:txBody>
      </p:sp>
      <p:sp>
        <p:nvSpPr>
          <p:cNvPr id="17" name="Text 15"/>
          <p:cNvSpPr txBox="1"/>
          <p:nvPr/>
        </p:nvSpPr>
        <p:spPr>
          <a:xfrm>
            <a:off x="960120" y="4407408"/>
            <a:ext cx="3017520" cy="41148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Propositions, accounts and capability, seen from this offering</a:t>
            </a:r>
            <a:endParaRPr lang="en-US" sz="1050" dirty="0"/>
          </a:p>
        </p:txBody>
      </p:sp>
      <p:sp>
        <p:nvSpPr>
          <p:cNvPr id="18" name="Shape 16"/>
          <p:cNvSpPr/>
          <p:nvPr/>
        </p:nvSpPr>
        <p:spPr>
          <a:xfrm flipV="1">
            <a:off x="4846320" y="3383280"/>
            <a:ext cx="1005840" cy="1074420"/>
          </a:xfrm>
          <a:prstGeom prst="line">
            <a:avLst/>
          </a:prstGeom>
          <a:noFill/>
          <a:ln w="15875">
            <a:solidFill>
              <a:srgbClr val="3E5C8A"/>
            </a:solidFill>
            <a:prstDash val="solid"/>
            <a:tailEnd type="triangle"/>
          </a:ln>
        </p:spPr>
      </p:sp>
      <p:sp>
        <p:nvSpPr>
          <p:cNvPr id="19" name="Shape 17"/>
          <p:cNvSpPr/>
          <p:nvPr/>
        </p:nvSpPr>
        <p:spPr>
          <a:xfrm>
            <a:off x="5897880" y="2651760"/>
            <a:ext cx="2468880" cy="1463040"/>
          </a:xfrm>
          <a:prstGeom prst="roundRect">
            <a:avLst>
              <a:gd name="adj" fmla="val 7500"/>
            </a:avLst>
          </a:prstGeom>
          <a:solidFill>
            <a:srgbClr val="1E2761"/>
          </a:solidFill>
          <a:ln/>
        </p:spPr>
      </p:sp>
      <p:sp>
        <p:nvSpPr>
          <p:cNvPr id="20" name="Text 18"/>
          <p:cNvSpPr txBox="1"/>
          <p:nvPr/>
        </p:nvSpPr>
        <p:spPr>
          <a:xfrm>
            <a:off x="5897880" y="2651760"/>
            <a:ext cx="2468880" cy="1463040"/>
          </a:xfrm>
          <a:prstGeom prst="rect">
            <a:avLst/>
          </a:prstGeom>
          <a:noFill/>
          <a:ln/>
        </p:spPr>
        <p:txBody>
          <a:bodyPr wrap="square" lIns="0" tIns="0" rIns="0" bIns="0" rtlCol="0" anchor="ctr"/>
          <a:lstStyle/>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Integration</a:t>
            </a:r>
            <a:endParaRPr lang="en-US" sz="1500" dirty="0"/>
          </a:p>
          <a:p>
            <a:pPr algn="ctr" indent="0" marL="0">
              <a:lnSpc>
                <a:spcPts val="1800"/>
              </a:lnSpc>
              <a:buNone/>
            </a:pPr>
            <a:r>
              <a:rPr lang="en-US" sz="1500" b="1" dirty="0">
                <a:solidFill>
                  <a:srgbClr val="FFFFFF"/>
                </a:solidFill>
                <a:latin typeface="Calibri" pitchFamily="34" charset="0"/>
                <a:ea typeface="Calibri" pitchFamily="34" charset="-122"/>
                <a:cs typeface="Calibri" pitchFamily="34" charset="-120"/>
              </a:rPr>
              <a:t>session</a:t>
            </a:r>
            <a:endParaRPr lang="en-US" sz="1500" dirty="0"/>
          </a:p>
        </p:txBody>
      </p:sp>
      <p:sp>
        <p:nvSpPr>
          <p:cNvPr id="21" name="Shape 19"/>
          <p:cNvSpPr/>
          <p:nvPr/>
        </p:nvSpPr>
        <p:spPr>
          <a:xfrm>
            <a:off x="8458200" y="3383280"/>
            <a:ext cx="640080" cy="0"/>
          </a:xfrm>
          <a:prstGeom prst="line">
            <a:avLst/>
          </a:prstGeom>
          <a:noFill/>
          <a:ln w="15875">
            <a:solidFill>
              <a:srgbClr val="3E5C8A"/>
            </a:solidFill>
            <a:prstDash val="solid"/>
            <a:tailEnd type="triangle"/>
          </a:ln>
        </p:spPr>
      </p:sp>
      <p:sp>
        <p:nvSpPr>
          <p:cNvPr id="22" name="Shape 20"/>
          <p:cNvSpPr/>
          <p:nvPr/>
        </p:nvSpPr>
        <p:spPr>
          <a:xfrm>
            <a:off x="9189720" y="2331720"/>
            <a:ext cx="2331720" cy="2103120"/>
          </a:xfrm>
          <a:prstGeom prst="roundRect">
            <a:avLst>
              <a:gd name="adj" fmla="val 5217"/>
            </a:avLst>
          </a:prstGeom>
          <a:solidFill>
            <a:srgbClr val="FFFFFF"/>
          </a:solidFill>
          <a:ln w="15875">
            <a:solidFill>
              <a:srgbClr val="1E2761"/>
            </a:solidFill>
            <a:prstDash val="solid"/>
          </a:ln>
        </p:spPr>
      </p:sp>
      <p:sp>
        <p:nvSpPr>
          <p:cNvPr id="23" name="Text 21"/>
          <p:cNvSpPr txBox="1"/>
          <p:nvPr/>
        </p:nvSpPr>
        <p:spPr>
          <a:xfrm>
            <a:off x="9372600" y="2468880"/>
            <a:ext cx="20116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What comes out</a:t>
            </a:r>
            <a:endParaRPr lang="en-US" sz="1200" dirty="0"/>
          </a:p>
        </p:txBody>
      </p:sp>
      <p:sp>
        <p:nvSpPr>
          <p:cNvPr id="24" name="Text 22"/>
          <p:cNvSpPr txBox="1"/>
          <p:nvPr/>
        </p:nvSpPr>
        <p:spPr>
          <a:xfrm>
            <a:off x="9372600" y="2834640"/>
            <a:ext cx="2011680" cy="14630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Integrated propositions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Account-level plays</a:t>
            </a:r>
            <a:endParaRPr lang="en-US" sz="1100" dirty="0"/>
          </a:p>
          <a:p>
            <a:pPr marL="342900" indent="-342900">
              <a:spcAft>
                <a:spcPts val="600"/>
              </a:spcAft>
              <a:buSzPct val="100000"/>
              <a:buChar char="•"/>
            </a:pPr>
            <a:r>
              <a:rPr lang="en-US" sz="1100" dirty="0">
                <a:solidFill>
                  <a:srgbClr val="44506B"/>
                </a:solidFill>
                <a:latin typeface="Calibri" pitchFamily="34" charset="0"/>
                <a:ea typeface="Calibri" pitchFamily="34" charset="-122"/>
                <a:cs typeface="Calibri" pitchFamily="34" charset="-120"/>
              </a:rPr>
              <a:t>One catalogue, not three</a:t>
            </a:r>
            <a:endParaRPr lang="en-US" sz="1100" dirty="0"/>
          </a:p>
        </p:txBody>
      </p:sp>
      <p:sp>
        <p:nvSpPr>
          <p:cNvPr id="25" name="Shape 23"/>
          <p:cNvSpPr/>
          <p:nvPr/>
        </p:nvSpPr>
        <p:spPr>
          <a:xfrm>
            <a:off x="640080" y="5257800"/>
            <a:ext cx="10881360" cy="868680"/>
          </a:xfrm>
          <a:prstGeom prst="roundRect">
            <a:avLst>
              <a:gd name="adj" fmla="val 10526"/>
            </a:avLst>
          </a:prstGeom>
          <a:solidFill>
            <a:srgbClr val="EDF2FA"/>
          </a:solidFill>
          <a:ln/>
        </p:spPr>
      </p:sp>
      <p:sp>
        <p:nvSpPr>
          <p:cNvPr id="26" name="Text 24"/>
          <p:cNvSpPr txBox="1"/>
          <p:nvPr/>
        </p:nvSpPr>
        <p:spPr>
          <a:xfrm>
            <a:off x="914400" y="5257800"/>
            <a:ext cx="10332720" cy="86868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weekly rhythm: diverge early in the week, converge before it closes. Nothing carries into the next week un-merged, and the integration session is where abstraction and refactoring happen — not in the gate.</a:t>
            </a:r>
            <a:endParaRPr lang="en-US" sz="1250" dirty="0"/>
          </a:p>
        </p:txBody>
      </p:sp>
      <p:sp>
        <p:nvSpPr>
          <p:cNvPr id="27" name="Text 25"/>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Applies through Baseline, Define and Quantify — the three steps where the work is actually generated.</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targets and the three-year path</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 economics · team and capability · revenue and the three-year path</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Converge the offering views into integrated propositions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and the three-year growth path</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Sign off, then socialise to the FSI community</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1088136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 Socialisation follows sign-off, and the initiatives run on from there.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meets, and when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levels of session across the sprint. Everything else is working time.</a:t>
            </a:r>
            <a:endParaRPr lang="en-US" sz="1450" dirty="0"/>
          </a:p>
        </p:txBody>
      </p:sp>
      <p:sp>
        <p:nvSpPr>
          <p:cNvPr id="4" name="Text 2"/>
          <p:cNvSpPr txBox="1"/>
          <p:nvPr/>
        </p:nvSpPr>
        <p:spPr>
          <a:xfrm>
            <a:off x="2743200"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1</a:t>
            </a:r>
            <a:endParaRPr lang="en-US" sz="1250" dirty="0"/>
          </a:p>
        </p:txBody>
      </p:sp>
      <p:sp>
        <p:nvSpPr>
          <p:cNvPr id="5" name="Text 3"/>
          <p:cNvSpPr txBox="1"/>
          <p:nvPr/>
        </p:nvSpPr>
        <p:spPr>
          <a:xfrm>
            <a:off x="4956048"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2</a:t>
            </a:r>
            <a:endParaRPr lang="en-US" sz="1250" dirty="0"/>
          </a:p>
        </p:txBody>
      </p:sp>
      <p:sp>
        <p:nvSpPr>
          <p:cNvPr id="6" name="Text 4"/>
          <p:cNvSpPr txBox="1"/>
          <p:nvPr/>
        </p:nvSpPr>
        <p:spPr>
          <a:xfrm>
            <a:off x="7168896"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Week 3</a:t>
            </a:r>
            <a:endParaRPr lang="en-US" sz="1250" dirty="0"/>
          </a:p>
        </p:txBody>
      </p:sp>
      <p:sp>
        <p:nvSpPr>
          <p:cNvPr id="7" name="Text 5"/>
          <p:cNvSpPr txBox="1"/>
          <p:nvPr/>
        </p:nvSpPr>
        <p:spPr>
          <a:xfrm>
            <a:off x="9381744" y="1783080"/>
            <a:ext cx="2103120" cy="36576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After sign-off</a:t>
            </a:r>
            <a:endParaRPr lang="en-US" sz="1250" dirty="0"/>
          </a:p>
        </p:txBody>
      </p:sp>
      <p:sp>
        <p:nvSpPr>
          <p:cNvPr id="8" name="Shape 6"/>
          <p:cNvSpPr/>
          <p:nvPr/>
        </p:nvSpPr>
        <p:spPr>
          <a:xfrm>
            <a:off x="640080" y="2240280"/>
            <a:ext cx="1965960" cy="1280160"/>
          </a:xfrm>
          <a:prstGeom prst="roundRect">
            <a:avLst>
              <a:gd name="adj" fmla="val 7143"/>
            </a:avLst>
          </a:prstGeom>
          <a:solidFill>
            <a:srgbClr val="1E2761"/>
          </a:solidFill>
          <a:ln/>
        </p:spPr>
      </p:sp>
      <p:sp>
        <p:nvSpPr>
          <p:cNvPr id="9" name="Text 7"/>
          <p:cNvSpPr txBox="1"/>
          <p:nvPr/>
        </p:nvSpPr>
        <p:spPr>
          <a:xfrm>
            <a:off x="731520" y="224028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Core team</a:t>
            </a:r>
            <a:endParaRPr lang="en-US" sz="1400" dirty="0"/>
          </a:p>
        </p:txBody>
      </p:sp>
      <p:sp>
        <p:nvSpPr>
          <p:cNvPr id="10" name="Shape 8"/>
          <p:cNvSpPr/>
          <p:nvPr/>
        </p:nvSpPr>
        <p:spPr>
          <a:xfrm>
            <a:off x="2743200" y="2240280"/>
            <a:ext cx="2103120" cy="1280160"/>
          </a:xfrm>
          <a:prstGeom prst="roundRect">
            <a:avLst>
              <a:gd name="adj" fmla="val 7143"/>
            </a:avLst>
          </a:prstGeom>
          <a:solidFill>
            <a:srgbClr val="F2F6FC"/>
          </a:solidFill>
          <a:ln/>
        </p:spPr>
      </p:sp>
      <p:sp>
        <p:nvSpPr>
          <p:cNvPr id="11" name="Text 9"/>
          <p:cNvSpPr txBox="1"/>
          <p:nvPr/>
        </p:nvSpPr>
        <p:spPr>
          <a:xfrm>
            <a:off x="2907792"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half a day</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Two working sessions</a:t>
            </a:r>
            <a:endParaRPr lang="en-US" sz="950" dirty="0"/>
          </a:p>
        </p:txBody>
      </p:sp>
      <p:sp>
        <p:nvSpPr>
          <p:cNvPr id="12" name="Shape 10"/>
          <p:cNvSpPr/>
          <p:nvPr/>
        </p:nvSpPr>
        <p:spPr>
          <a:xfrm>
            <a:off x="4956048" y="2240280"/>
            <a:ext cx="2103120" cy="1280160"/>
          </a:xfrm>
          <a:prstGeom prst="roundRect">
            <a:avLst>
              <a:gd name="adj" fmla="val 7143"/>
            </a:avLst>
          </a:prstGeom>
          <a:solidFill>
            <a:srgbClr val="EDF2FA"/>
          </a:solidFill>
          <a:ln/>
        </p:spPr>
      </p:sp>
      <p:sp>
        <p:nvSpPr>
          <p:cNvPr id="13" name="Text 11"/>
          <p:cNvSpPr txBox="1"/>
          <p:nvPr/>
        </p:nvSpPr>
        <p:spPr>
          <a:xfrm>
            <a:off x="5120640"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Working session per workstream</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Mid-week checkpoint</a:t>
            </a:r>
            <a:endParaRPr lang="en-US" sz="950" dirty="0"/>
          </a:p>
        </p:txBody>
      </p:sp>
      <p:sp>
        <p:nvSpPr>
          <p:cNvPr id="14" name="Shape 12"/>
          <p:cNvSpPr/>
          <p:nvPr/>
        </p:nvSpPr>
        <p:spPr>
          <a:xfrm>
            <a:off x="7168896" y="2240280"/>
            <a:ext cx="2103120" cy="1280160"/>
          </a:xfrm>
          <a:prstGeom prst="roundRect">
            <a:avLst>
              <a:gd name="adj" fmla="val 7143"/>
            </a:avLst>
          </a:prstGeom>
          <a:solidFill>
            <a:srgbClr val="F2F6FC"/>
          </a:solidFill>
          <a:ln/>
        </p:spPr>
      </p:sp>
      <p:sp>
        <p:nvSpPr>
          <p:cNvPr id="15" name="Text 13"/>
          <p:cNvSpPr txBox="1"/>
          <p:nvPr/>
        </p:nvSpPr>
        <p:spPr>
          <a:xfrm>
            <a:off x="7333488"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Consolidation session</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Dry run of the strategy on a page</a:t>
            </a:r>
            <a:endParaRPr lang="en-US" sz="950" dirty="0"/>
          </a:p>
        </p:txBody>
      </p:sp>
      <p:sp>
        <p:nvSpPr>
          <p:cNvPr id="16" name="Shape 14"/>
          <p:cNvSpPr/>
          <p:nvPr/>
        </p:nvSpPr>
        <p:spPr>
          <a:xfrm>
            <a:off x="9381744" y="2240280"/>
            <a:ext cx="2103120" cy="1280160"/>
          </a:xfrm>
          <a:prstGeom prst="roundRect">
            <a:avLst>
              <a:gd name="adj" fmla="val 7143"/>
            </a:avLst>
          </a:prstGeom>
          <a:solidFill>
            <a:srgbClr val="EDF2FA"/>
          </a:solidFill>
          <a:ln/>
        </p:spPr>
      </p:sp>
      <p:sp>
        <p:nvSpPr>
          <p:cNvPr id="17" name="Text 15"/>
          <p:cNvSpPr txBox="1"/>
          <p:nvPr/>
        </p:nvSpPr>
        <p:spPr>
          <a:xfrm>
            <a:off x="9546336" y="235000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Hand over to initiative owners</a:t>
            </a:r>
            <a:endParaRPr lang="en-US" sz="950" dirty="0"/>
          </a:p>
        </p:txBody>
      </p:sp>
      <p:sp>
        <p:nvSpPr>
          <p:cNvPr id="18" name="Shape 16"/>
          <p:cNvSpPr/>
          <p:nvPr/>
        </p:nvSpPr>
        <p:spPr>
          <a:xfrm>
            <a:off x="640080" y="3657600"/>
            <a:ext cx="1965960" cy="1280160"/>
          </a:xfrm>
          <a:prstGeom prst="roundRect">
            <a:avLst>
              <a:gd name="adj" fmla="val 7143"/>
            </a:avLst>
          </a:prstGeom>
          <a:solidFill>
            <a:srgbClr val="3E5C8A"/>
          </a:solidFill>
          <a:ln/>
        </p:spPr>
      </p:sp>
      <p:sp>
        <p:nvSpPr>
          <p:cNvPr id="19" name="Text 17"/>
          <p:cNvSpPr txBox="1"/>
          <p:nvPr/>
        </p:nvSpPr>
        <p:spPr>
          <a:xfrm>
            <a:off x="731520" y="365760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Offering level</a:t>
            </a:r>
            <a:endParaRPr lang="en-US" sz="1400" dirty="0"/>
          </a:p>
        </p:txBody>
      </p:sp>
      <p:sp>
        <p:nvSpPr>
          <p:cNvPr id="20" name="Shape 18"/>
          <p:cNvSpPr/>
          <p:nvPr/>
        </p:nvSpPr>
        <p:spPr>
          <a:xfrm>
            <a:off x="2743200" y="3657600"/>
            <a:ext cx="2103120" cy="1280160"/>
          </a:xfrm>
          <a:prstGeom prst="roundRect">
            <a:avLst>
              <a:gd name="adj" fmla="val 7143"/>
            </a:avLst>
          </a:prstGeom>
          <a:solidFill>
            <a:srgbClr val="EDF2FA"/>
          </a:solidFill>
          <a:ln/>
        </p:spPr>
      </p:sp>
      <p:sp>
        <p:nvSpPr>
          <p:cNvPr id="21" name="Text 19"/>
          <p:cNvSpPr txBox="1"/>
          <p:nvPr/>
        </p:nvSpPr>
        <p:spPr>
          <a:xfrm>
            <a:off x="2907792"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Ideas session inside each offering</a:t>
            </a:r>
            <a:endParaRPr lang="en-US" sz="950" dirty="0"/>
          </a:p>
        </p:txBody>
      </p:sp>
      <p:sp>
        <p:nvSpPr>
          <p:cNvPr id="22" name="Shape 20"/>
          <p:cNvSpPr/>
          <p:nvPr/>
        </p:nvSpPr>
        <p:spPr>
          <a:xfrm>
            <a:off x="4956048" y="3657600"/>
            <a:ext cx="2103120" cy="1280160"/>
          </a:xfrm>
          <a:prstGeom prst="roundRect">
            <a:avLst>
              <a:gd name="adj" fmla="val 7143"/>
            </a:avLst>
          </a:prstGeom>
          <a:solidFill>
            <a:srgbClr val="F2F6FC"/>
          </a:solidFill>
          <a:ln/>
        </p:spPr>
      </p:sp>
      <p:sp>
        <p:nvSpPr>
          <p:cNvPr id="23" name="Text 21"/>
          <p:cNvSpPr txBox="1"/>
          <p:nvPr/>
        </p:nvSpPr>
        <p:spPr>
          <a:xfrm>
            <a:off x="5120640"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Validation session on the emerging catalogue and accounts</a:t>
            </a:r>
            <a:endParaRPr lang="en-US" sz="950" dirty="0"/>
          </a:p>
        </p:txBody>
      </p:sp>
      <p:sp>
        <p:nvSpPr>
          <p:cNvPr id="24" name="Shape 22"/>
          <p:cNvSpPr/>
          <p:nvPr/>
        </p:nvSpPr>
        <p:spPr>
          <a:xfrm>
            <a:off x="7168896" y="3657600"/>
            <a:ext cx="2103120" cy="1280160"/>
          </a:xfrm>
          <a:prstGeom prst="roundRect">
            <a:avLst>
              <a:gd name="adj" fmla="val 7143"/>
            </a:avLst>
          </a:prstGeom>
          <a:solidFill>
            <a:srgbClr val="EDF2FA"/>
          </a:solidFill>
          <a:ln/>
        </p:spPr>
      </p:sp>
      <p:sp>
        <p:nvSpPr>
          <p:cNvPr id="25" name="Text 23"/>
          <p:cNvSpPr txBox="1"/>
          <p:nvPr/>
        </p:nvSpPr>
        <p:spPr>
          <a:xfrm>
            <a:off x="7333488"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Read-out of the draft</a:t>
            </a:r>
            <a:endParaRPr lang="en-US" sz="950" dirty="0"/>
          </a:p>
        </p:txBody>
      </p:sp>
      <p:sp>
        <p:nvSpPr>
          <p:cNvPr id="26" name="Shape 24"/>
          <p:cNvSpPr/>
          <p:nvPr/>
        </p:nvSpPr>
        <p:spPr>
          <a:xfrm>
            <a:off x="9381744" y="3657600"/>
            <a:ext cx="2103120" cy="1280160"/>
          </a:xfrm>
          <a:prstGeom prst="roundRect">
            <a:avLst>
              <a:gd name="adj" fmla="val 7143"/>
            </a:avLst>
          </a:prstGeom>
          <a:solidFill>
            <a:srgbClr val="F2F6FC"/>
          </a:solidFill>
          <a:ln/>
        </p:spPr>
      </p:sp>
      <p:sp>
        <p:nvSpPr>
          <p:cNvPr id="27" name="Text 25"/>
          <p:cNvSpPr txBox="1"/>
          <p:nvPr/>
        </p:nvSpPr>
        <p:spPr>
          <a:xfrm>
            <a:off x="9546336" y="376732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Socialisation session in each offering</a:t>
            </a:r>
            <a:endParaRPr lang="en-US" sz="950" dirty="0"/>
          </a:p>
        </p:txBody>
      </p:sp>
      <p:sp>
        <p:nvSpPr>
          <p:cNvPr id="28" name="Shape 26"/>
          <p:cNvSpPr/>
          <p:nvPr/>
        </p:nvSpPr>
        <p:spPr>
          <a:xfrm>
            <a:off x="640080" y="5074920"/>
            <a:ext cx="1965960" cy="1280160"/>
          </a:xfrm>
          <a:prstGeom prst="roundRect">
            <a:avLst>
              <a:gd name="adj" fmla="val 7143"/>
            </a:avLst>
          </a:prstGeom>
          <a:solidFill>
            <a:srgbClr val="1E2761"/>
          </a:solidFill>
          <a:ln/>
        </p:spPr>
      </p:sp>
      <p:sp>
        <p:nvSpPr>
          <p:cNvPr id="29" name="Text 27"/>
          <p:cNvSpPr txBox="1"/>
          <p:nvPr/>
        </p:nvSpPr>
        <p:spPr>
          <a:xfrm>
            <a:off x="731520" y="5074920"/>
            <a:ext cx="178308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Leadership</a:t>
            </a:r>
            <a:endParaRPr lang="en-US" sz="1400" dirty="0"/>
          </a:p>
        </p:txBody>
      </p:sp>
      <p:sp>
        <p:nvSpPr>
          <p:cNvPr id="30" name="Shape 28"/>
          <p:cNvSpPr/>
          <p:nvPr/>
        </p:nvSpPr>
        <p:spPr>
          <a:xfrm>
            <a:off x="2743200" y="5074920"/>
            <a:ext cx="2103120" cy="1280160"/>
          </a:xfrm>
          <a:prstGeom prst="roundRect">
            <a:avLst>
              <a:gd name="adj" fmla="val 7143"/>
            </a:avLst>
          </a:prstGeom>
          <a:solidFill>
            <a:srgbClr val="F2F6FC"/>
          </a:solidFill>
          <a:ln/>
        </p:spPr>
      </p:sp>
      <p:sp>
        <p:nvSpPr>
          <p:cNvPr id="31" name="Text 29"/>
          <p:cNvSpPr txBox="1"/>
          <p:nvPr/>
        </p:nvSpPr>
        <p:spPr>
          <a:xfrm>
            <a:off x="2907792"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Kick-off attendance</a:t>
            </a:r>
            <a:endParaRPr lang="en-US" sz="950" dirty="0"/>
          </a:p>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1: markets and sectors</a:t>
            </a:r>
            <a:endParaRPr lang="en-US" sz="950" dirty="0"/>
          </a:p>
        </p:txBody>
      </p:sp>
      <p:sp>
        <p:nvSpPr>
          <p:cNvPr id="32" name="Shape 30"/>
          <p:cNvSpPr/>
          <p:nvPr/>
        </p:nvSpPr>
        <p:spPr>
          <a:xfrm>
            <a:off x="4956048" y="5074920"/>
            <a:ext cx="2103120" cy="1280160"/>
          </a:xfrm>
          <a:prstGeom prst="roundRect">
            <a:avLst>
              <a:gd name="adj" fmla="val 7143"/>
            </a:avLst>
          </a:prstGeom>
          <a:solidFill>
            <a:srgbClr val="EDF2FA"/>
          </a:solidFill>
          <a:ln/>
        </p:spPr>
      </p:sp>
      <p:sp>
        <p:nvSpPr>
          <p:cNvPr id="33" name="Text 31"/>
          <p:cNvSpPr txBox="1"/>
          <p:nvPr/>
        </p:nvSpPr>
        <p:spPr>
          <a:xfrm>
            <a:off x="5120640"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Gate 2: catalogue and shortlist</a:t>
            </a:r>
            <a:endParaRPr lang="en-US" sz="950" dirty="0"/>
          </a:p>
        </p:txBody>
      </p:sp>
      <p:sp>
        <p:nvSpPr>
          <p:cNvPr id="34" name="Shape 32"/>
          <p:cNvSpPr/>
          <p:nvPr/>
        </p:nvSpPr>
        <p:spPr>
          <a:xfrm>
            <a:off x="7168896" y="5074920"/>
            <a:ext cx="2103120" cy="1280160"/>
          </a:xfrm>
          <a:prstGeom prst="roundRect">
            <a:avLst>
              <a:gd name="adj" fmla="val 7143"/>
            </a:avLst>
          </a:prstGeom>
          <a:solidFill>
            <a:srgbClr val="F2F6FC"/>
          </a:solidFill>
          <a:ln/>
        </p:spPr>
      </p:sp>
      <p:sp>
        <p:nvSpPr>
          <p:cNvPr id="35" name="Text 33"/>
          <p:cNvSpPr txBox="1"/>
          <p:nvPr/>
        </p:nvSpPr>
        <p:spPr>
          <a:xfrm>
            <a:off x="7333488"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Sign-off session</a:t>
            </a:r>
            <a:endParaRPr lang="en-US" sz="950" dirty="0"/>
          </a:p>
        </p:txBody>
      </p:sp>
      <p:sp>
        <p:nvSpPr>
          <p:cNvPr id="36" name="Shape 34"/>
          <p:cNvSpPr/>
          <p:nvPr/>
        </p:nvSpPr>
        <p:spPr>
          <a:xfrm>
            <a:off x="9381744" y="5074920"/>
            <a:ext cx="2103120" cy="1280160"/>
          </a:xfrm>
          <a:prstGeom prst="roundRect">
            <a:avLst>
              <a:gd name="adj" fmla="val 7143"/>
            </a:avLst>
          </a:prstGeom>
          <a:solidFill>
            <a:srgbClr val="EDF2FA"/>
          </a:solidFill>
          <a:ln/>
        </p:spPr>
      </p:sp>
      <p:sp>
        <p:nvSpPr>
          <p:cNvPr id="37" name="Text 35"/>
          <p:cNvSpPr txBox="1"/>
          <p:nvPr/>
        </p:nvSpPr>
        <p:spPr>
          <a:xfrm>
            <a:off x="9546336" y="5184648"/>
            <a:ext cx="1783080" cy="10972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44506B"/>
                </a:solidFill>
                <a:latin typeface="Calibri" pitchFamily="34" charset="0"/>
                <a:ea typeface="Calibri" pitchFamily="34" charset="-122"/>
                <a:cs typeface="Calibri" pitchFamily="34" charset="-120"/>
              </a:rPr>
              <a:t>Monthly review against the scorecard</a:t>
            </a:r>
            <a:endParaRPr lang="en-US" sz="950" dirty="0"/>
          </a:p>
        </p:txBody>
      </p:sp>
      <p:sp>
        <p:nvSpPr>
          <p:cNvPr id="38" name="Shape 36"/>
          <p:cNvSpPr/>
          <p:nvPr/>
        </p:nvSpPr>
        <p:spPr>
          <a:xfrm>
            <a:off x="640080" y="6400800"/>
            <a:ext cx="10881360" cy="0"/>
          </a:xfrm>
          <a:prstGeom prst="roundRect">
            <a:avLst/>
          </a:prstGeom>
          <a:solidFill>
            <a:srgbClr val="FFFFFF"/>
          </a:solidFill>
          <a:ln/>
        </p:spPr>
      </p:sp>
      <p:sp>
        <p:nvSpPr>
          <p:cNvPr id="39" name="Text 37"/>
          <p:cNvSpPr txBox="1"/>
          <p:nvPr/>
        </p:nvSpPr>
        <p:spPr>
          <a:xfrm>
            <a:off x="640080" y="6446520"/>
            <a:ext cx="10881360" cy="320040"/>
          </a:xfrm>
          <a:prstGeom prst="rect">
            <a:avLst/>
          </a:prstGeom>
          <a:noFill/>
          <a:ln/>
        </p:spPr>
        <p:txBody>
          <a:bodyPr wrap="square" lIns="0" tIns="0" rIns="0" bIns="0" rtlCol="0" anchor="ctr"/>
          <a:lstStyle/>
          <a:p>
            <a:pPr indent="0" marL="0">
              <a:buNone/>
            </a:pPr>
            <a:r>
              <a:rPr lang="en-US" sz="1150" i="1" dirty="0">
                <a:solidFill>
                  <a:srgbClr val="3E5C8A"/>
                </a:solidFill>
                <a:latin typeface="Calibri" pitchFamily="34" charset="0"/>
                <a:ea typeface="Calibri" pitchFamily="34" charset="-122"/>
                <a:cs typeface="Calibri" pitchFamily="34" charset="-120"/>
              </a:rPr>
              <a:t>Offering-level sessions are how the leads bring their partners and directors in — and are where socialisation starts, not ends.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could derail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Named now, so they are managed rather than discovered.</a:t>
            </a:r>
            <a:endParaRPr lang="en-US" sz="1450" dirty="0"/>
          </a:p>
        </p:txBody>
      </p:sp>
      <p:sp>
        <p:nvSpPr>
          <p:cNvPr id="4" name="Shape 2"/>
          <p:cNvSpPr/>
          <p:nvPr/>
        </p:nvSpPr>
        <p:spPr>
          <a:xfrm>
            <a:off x="640080" y="1828800"/>
            <a:ext cx="3520440" cy="1783080"/>
          </a:xfrm>
          <a:prstGeom prst="roundRect">
            <a:avLst>
              <a:gd name="adj" fmla="val 6154"/>
            </a:avLst>
          </a:prstGeom>
          <a:solidFill>
            <a:srgbClr val="EDF2FA"/>
          </a:solidFill>
          <a:ln/>
        </p:spPr>
      </p:sp>
      <p:sp>
        <p:nvSpPr>
          <p:cNvPr id="5" name="Shape 3"/>
          <p:cNvSpPr/>
          <p:nvPr/>
        </p:nvSpPr>
        <p:spPr>
          <a:xfrm>
            <a:off x="896112" y="2048256"/>
            <a:ext cx="365760" cy="365760"/>
          </a:xfrm>
          <a:prstGeom prst="ellipse">
            <a:avLst/>
          </a:prstGeom>
          <a:solidFill>
            <a:srgbClr val="1E2761"/>
          </a:solidFill>
          <a:ln/>
        </p:spPr>
      </p:sp>
      <p:sp>
        <p:nvSpPr>
          <p:cNvPr id="6" name="Text 4"/>
          <p:cNvSpPr txBox="1"/>
          <p:nvPr/>
        </p:nvSpPr>
        <p:spPr>
          <a:xfrm>
            <a:off x="896112"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71600"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Inputs arrive late</a:t>
            </a:r>
            <a:endParaRPr lang="en-US" sz="1300" dirty="0"/>
          </a:p>
        </p:txBody>
      </p:sp>
      <p:sp>
        <p:nvSpPr>
          <p:cNvPr id="8" name="Text 6"/>
          <p:cNvSpPr txBox="1"/>
          <p:nvPr/>
        </p:nvSpPr>
        <p:spPr>
          <a:xfrm>
            <a:off x="914400"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revenue, capacity and deal history sit with several people. Chase in the first 48 hours or week one slips.</a:t>
            </a:r>
            <a:endParaRPr lang="en-US" sz="1050" dirty="0"/>
          </a:p>
        </p:txBody>
      </p:sp>
      <p:sp>
        <p:nvSpPr>
          <p:cNvPr id="9" name="Shape 7"/>
          <p:cNvSpPr/>
          <p:nvPr/>
        </p:nvSpPr>
        <p:spPr>
          <a:xfrm>
            <a:off x="4325112" y="1828800"/>
            <a:ext cx="3520440" cy="1783080"/>
          </a:xfrm>
          <a:prstGeom prst="roundRect">
            <a:avLst>
              <a:gd name="adj" fmla="val 6154"/>
            </a:avLst>
          </a:prstGeom>
          <a:solidFill>
            <a:srgbClr val="EDF2FA"/>
          </a:solidFill>
          <a:ln/>
        </p:spPr>
      </p:sp>
      <p:sp>
        <p:nvSpPr>
          <p:cNvPr id="10" name="Shape 8"/>
          <p:cNvSpPr/>
          <p:nvPr/>
        </p:nvSpPr>
        <p:spPr>
          <a:xfrm>
            <a:off x="4581144" y="2048256"/>
            <a:ext cx="365760" cy="365760"/>
          </a:xfrm>
          <a:prstGeom prst="ellipse">
            <a:avLst/>
          </a:prstGeom>
          <a:solidFill>
            <a:srgbClr val="3E5C8A"/>
          </a:solidFill>
          <a:ln/>
        </p:spPr>
      </p:sp>
      <p:sp>
        <p:nvSpPr>
          <p:cNvPr id="11" name="Text 9"/>
          <p:cNvSpPr txBox="1"/>
          <p:nvPr/>
        </p:nvSpPr>
        <p:spPr>
          <a:xfrm>
            <a:off x="4581144"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56632"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parent strategies disagree</a:t>
            </a:r>
            <a:endParaRPr lang="en-US" sz="1300" dirty="0"/>
          </a:p>
        </p:txBody>
      </p:sp>
      <p:sp>
        <p:nvSpPr>
          <p:cNvPr id="13" name="Text 11"/>
          <p:cNvSpPr txBox="1"/>
          <p:nvPr/>
        </p:nvSpPr>
        <p:spPr>
          <a:xfrm>
            <a:off x="4599432"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different sector priority or an unsigned alliance is an escalation, not something this team settles quietly.</a:t>
            </a:r>
            <a:endParaRPr lang="en-US" sz="1050" dirty="0"/>
          </a:p>
        </p:txBody>
      </p:sp>
      <p:sp>
        <p:nvSpPr>
          <p:cNvPr id="14" name="Shape 12"/>
          <p:cNvSpPr/>
          <p:nvPr/>
        </p:nvSpPr>
        <p:spPr>
          <a:xfrm>
            <a:off x="8010144" y="1828800"/>
            <a:ext cx="3520440" cy="1783080"/>
          </a:xfrm>
          <a:prstGeom prst="roundRect">
            <a:avLst>
              <a:gd name="adj" fmla="val 6154"/>
            </a:avLst>
          </a:prstGeom>
          <a:solidFill>
            <a:srgbClr val="EDF2FA"/>
          </a:solidFill>
          <a:ln/>
        </p:spPr>
      </p:sp>
      <p:sp>
        <p:nvSpPr>
          <p:cNvPr id="15" name="Shape 13"/>
          <p:cNvSpPr/>
          <p:nvPr/>
        </p:nvSpPr>
        <p:spPr>
          <a:xfrm>
            <a:off x="8266176" y="2048256"/>
            <a:ext cx="365760" cy="365760"/>
          </a:xfrm>
          <a:prstGeom prst="ellipse">
            <a:avLst/>
          </a:prstGeom>
          <a:solidFill>
            <a:srgbClr val="1E2761"/>
          </a:solidFill>
          <a:ln/>
        </p:spPr>
      </p:sp>
      <p:sp>
        <p:nvSpPr>
          <p:cNvPr id="16" name="Text 14"/>
          <p:cNvSpPr txBox="1"/>
          <p:nvPr/>
        </p:nvSpPr>
        <p:spPr>
          <a:xfrm>
            <a:off x="8266176" y="20482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41664" y="201168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People are not available</a:t>
            </a:r>
            <a:endParaRPr lang="en-US" sz="1300" dirty="0"/>
          </a:p>
        </p:txBody>
      </p:sp>
      <p:sp>
        <p:nvSpPr>
          <p:cNvPr id="18" name="Text 16"/>
          <p:cNvSpPr txBox="1"/>
          <p:nvPr/>
        </p:nvSpPr>
        <p:spPr>
          <a:xfrm>
            <a:off x="8284464" y="257860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cycle needs the four leads in the room weekly. Partial attendance produces partial decisions.</a:t>
            </a:r>
            <a:endParaRPr lang="en-US" sz="1050" dirty="0"/>
          </a:p>
        </p:txBody>
      </p:sp>
      <p:sp>
        <p:nvSpPr>
          <p:cNvPr id="19" name="Shape 17"/>
          <p:cNvSpPr/>
          <p:nvPr/>
        </p:nvSpPr>
        <p:spPr>
          <a:xfrm>
            <a:off x="640080" y="3794760"/>
            <a:ext cx="3520440" cy="1783080"/>
          </a:xfrm>
          <a:prstGeom prst="roundRect">
            <a:avLst>
              <a:gd name="adj" fmla="val 6154"/>
            </a:avLst>
          </a:prstGeom>
          <a:solidFill>
            <a:srgbClr val="EDF2FA"/>
          </a:solidFill>
          <a:ln/>
        </p:spPr>
      </p:sp>
      <p:sp>
        <p:nvSpPr>
          <p:cNvPr id="20" name="Shape 18"/>
          <p:cNvSpPr/>
          <p:nvPr/>
        </p:nvSpPr>
        <p:spPr>
          <a:xfrm>
            <a:off x="896112" y="4014216"/>
            <a:ext cx="365760" cy="365760"/>
          </a:xfrm>
          <a:prstGeom prst="ellipse">
            <a:avLst/>
          </a:prstGeom>
          <a:solidFill>
            <a:srgbClr val="3E5C8A"/>
          </a:solidFill>
          <a:ln/>
        </p:spPr>
      </p:sp>
      <p:sp>
        <p:nvSpPr>
          <p:cNvPr id="21" name="Text 19"/>
          <p:cNvSpPr txBox="1"/>
          <p:nvPr/>
        </p:nvSpPr>
        <p:spPr>
          <a:xfrm>
            <a:off x="896112"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71600"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No platform alliance in funds or insurance</a:t>
            </a:r>
            <a:endParaRPr lang="en-US" sz="1300" dirty="0"/>
          </a:p>
        </p:txBody>
      </p:sp>
      <p:sp>
        <p:nvSpPr>
          <p:cNvPr id="23" name="Text 21"/>
          <p:cNvSpPr txBox="1"/>
          <p:nvPr/>
        </p:nvSpPr>
        <p:spPr>
          <a:xfrm>
            <a:off x="914400"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Two of three sectors have no specialised vendor relationship. We can name it; we cannot close it in three weeks.</a:t>
            </a:r>
            <a:endParaRPr lang="en-US" sz="1050" dirty="0"/>
          </a:p>
        </p:txBody>
      </p:sp>
      <p:sp>
        <p:nvSpPr>
          <p:cNvPr id="24" name="Shape 22"/>
          <p:cNvSpPr/>
          <p:nvPr/>
        </p:nvSpPr>
        <p:spPr>
          <a:xfrm>
            <a:off x="4325112" y="3794760"/>
            <a:ext cx="3520440" cy="1783080"/>
          </a:xfrm>
          <a:prstGeom prst="roundRect">
            <a:avLst>
              <a:gd name="adj" fmla="val 6154"/>
            </a:avLst>
          </a:prstGeom>
          <a:solidFill>
            <a:srgbClr val="EDF2FA"/>
          </a:solidFill>
          <a:ln/>
        </p:spPr>
      </p:sp>
      <p:sp>
        <p:nvSpPr>
          <p:cNvPr id="25" name="Shape 23"/>
          <p:cNvSpPr/>
          <p:nvPr/>
        </p:nvSpPr>
        <p:spPr>
          <a:xfrm>
            <a:off x="4581144" y="4014216"/>
            <a:ext cx="365760" cy="365760"/>
          </a:xfrm>
          <a:prstGeom prst="ellipse">
            <a:avLst/>
          </a:prstGeom>
          <a:solidFill>
            <a:srgbClr val="1E2761"/>
          </a:solidFill>
          <a:ln/>
        </p:spPr>
      </p:sp>
      <p:sp>
        <p:nvSpPr>
          <p:cNvPr id="26" name="Text 24"/>
          <p:cNvSpPr txBox="1"/>
          <p:nvPr/>
        </p:nvSpPr>
        <p:spPr>
          <a:xfrm>
            <a:off x="4581144"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56632"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Evidence gaps surface late</a:t>
            </a:r>
            <a:endParaRPr lang="en-US" sz="1300" dirty="0"/>
          </a:p>
        </p:txBody>
      </p:sp>
      <p:sp>
        <p:nvSpPr>
          <p:cNvPr id="28" name="Text 26"/>
          <p:cNvSpPr txBox="1"/>
          <p:nvPr/>
        </p:nvSpPr>
        <p:spPr>
          <a:xfrm>
            <a:off x="4599432"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Credentials we assume we hold may not exist per sector. Test in week one, then make it an initiative.</a:t>
            </a:r>
            <a:endParaRPr lang="en-US" sz="1050" dirty="0"/>
          </a:p>
        </p:txBody>
      </p:sp>
      <p:sp>
        <p:nvSpPr>
          <p:cNvPr id="29" name="Shape 27"/>
          <p:cNvSpPr/>
          <p:nvPr/>
        </p:nvSpPr>
        <p:spPr>
          <a:xfrm>
            <a:off x="8010144" y="3794760"/>
            <a:ext cx="3520440" cy="1783080"/>
          </a:xfrm>
          <a:prstGeom prst="roundRect">
            <a:avLst>
              <a:gd name="adj" fmla="val 6154"/>
            </a:avLst>
          </a:prstGeom>
          <a:solidFill>
            <a:srgbClr val="EDF2FA"/>
          </a:solidFill>
          <a:ln/>
        </p:spPr>
      </p:sp>
      <p:sp>
        <p:nvSpPr>
          <p:cNvPr id="30" name="Shape 28"/>
          <p:cNvSpPr/>
          <p:nvPr/>
        </p:nvSpPr>
        <p:spPr>
          <a:xfrm>
            <a:off x="8266176" y="4014216"/>
            <a:ext cx="365760" cy="365760"/>
          </a:xfrm>
          <a:prstGeom prst="ellipse">
            <a:avLst/>
          </a:prstGeom>
          <a:solidFill>
            <a:srgbClr val="3E5C8A"/>
          </a:solidFill>
          <a:ln/>
        </p:spPr>
      </p:sp>
      <p:sp>
        <p:nvSpPr>
          <p:cNvPr id="31" name="Text 29"/>
          <p:cNvSpPr txBox="1"/>
          <p:nvPr/>
        </p:nvSpPr>
        <p:spPr>
          <a:xfrm>
            <a:off x="8266176" y="40142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41664" y="3977640"/>
            <a:ext cx="2606040" cy="45720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The timebox slips</a:t>
            </a:r>
            <a:endParaRPr lang="en-US" sz="1300" dirty="0"/>
          </a:p>
        </p:txBody>
      </p:sp>
      <p:sp>
        <p:nvSpPr>
          <p:cNvPr id="33" name="Text 31"/>
          <p:cNvSpPr txBox="1"/>
          <p:nvPr/>
        </p:nvSpPr>
        <p:spPr>
          <a:xfrm>
            <a:off x="8284464" y="4544568"/>
            <a:ext cx="2971800" cy="9144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Three weeks holds only if gates are decisions. A gate deferred twice means the cycle has failed, not paused.</a:t>
            </a:r>
            <a:endParaRPr lang="en-US" sz="10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Each has an owner from kick-off. Two of them — the alliance gap and the evidence gap — become initiatives rather than risks.</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comes next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Initiatives that outlive the cycle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SIX</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Strategy inputs</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stand today — the starting position the cycle works from.</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propositions, one slide per offering</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FSI industry priority account list</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Current FY financial targets, and our share</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Industry Solutions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AI and Data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Engineering today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propositions we sell today, one row each.</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468880"/>
                <a:gridCol w="4480560"/>
                <a:gridCol w="1737360"/>
                <a:gridCol w="21945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buys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218688" y="1965960"/>
            <a:ext cx="4297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is</a:t>
            </a:r>
            <a:endParaRPr lang="en-US" sz="1150" dirty="0"/>
          </a:p>
        </p:txBody>
      </p:sp>
      <p:sp>
        <p:nvSpPr>
          <p:cNvPr id="8" name="Text 5"/>
          <p:cNvSpPr txBox="1"/>
          <p:nvPr/>
        </p:nvSpPr>
        <p:spPr>
          <a:xfrm>
            <a:off x="769924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94366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buys it</a:t>
            </a:r>
            <a:endParaRPr lang="en-US" sz="1150" dirty="0"/>
          </a:p>
        </p:txBody>
      </p:sp>
      <p:sp>
        <p:nvSpPr>
          <p:cNvPr id="10" name="Text 7"/>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 sold today, in the words used with clients — not the catalogue we intend to build.</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priority account list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the FSI industry priority account list as it stands today.</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188720"/>
                <a:gridCol w="1828800"/>
                <a:gridCol w="29260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Relationship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do there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41330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53218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Relationship owner</a:t>
            </a:r>
            <a:endParaRPr lang="en-US" sz="1150" dirty="0"/>
          </a:p>
        </p:txBody>
      </p:sp>
      <p:sp>
        <p:nvSpPr>
          <p:cNvPr id="10" name="Text 7"/>
          <p:cNvSpPr txBox="1"/>
          <p:nvPr/>
        </p:nvSpPr>
        <p:spPr>
          <a:xfrm>
            <a:off x="71506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do there today</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2" name="Text 9"/>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Today’s position. The target list is an output of the cycle.</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This year’s numbers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Strategy inputs · current FY financial targets for FSI, and how much of that sits with us.</a:t>
            </a:r>
            <a:endParaRPr lang="en-US" sz="1450" dirty="0"/>
          </a:p>
        </p:txBody>
      </p:sp>
      <p:sp>
        <p:nvSpPr>
          <p:cNvPr id="4" name="Shape 2"/>
          <p:cNvSpPr/>
          <p:nvPr/>
        </p:nvSpPr>
        <p:spPr>
          <a:xfrm>
            <a:off x="640080" y="1828800"/>
            <a:ext cx="10881360" cy="457200"/>
          </a:xfrm>
          <a:prstGeom prst="rect">
            <a:avLst/>
          </a:prstGeom>
          <a:solidFill>
            <a:srgbClr val="1E2761"/>
          </a:solidFill>
          <a:ln/>
        </p:spPr>
      </p:sp>
      <p:sp>
        <p:nvSpPr>
          <p:cNvPr id="5" name="Text 3"/>
          <p:cNvSpPr txBox="1"/>
          <p:nvPr/>
        </p:nvSpPr>
        <p:spPr>
          <a:xfrm>
            <a:off x="822960" y="1828800"/>
            <a:ext cx="28346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p>
        </p:txBody>
      </p:sp>
      <p:sp>
        <p:nvSpPr>
          <p:cNvPr id="6" name="Text 4"/>
          <p:cNvSpPr txBox="1"/>
          <p:nvPr/>
        </p:nvSpPr>
        <p:spPr>
          <a:xfrm>
            <a:off x="4023360" y="1828800"/>
            <a:ext cx="246888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FSI total, current FY</a:t>
            </a:r>
            <a:endParaRPr lang="en-US" sz="1200" dirty="0"/>
          </a:p>
        </p:txBody>
      </p:sp>
      <p:sp>
        <p:nvSpPr>
          <p:cNvPr id="7" name="Text 5"/>
          <p:cNvSpPr txBox="1"/>
          <p:nvPr/>
        </p:nvSpPr>
        <p:spPr>
          <a:xfrm>
            <a:off x="685800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EAI&amp;D share</a:t>
            </a:r>
            <a:endParaRPr lang="en-US" sz="1200" dirty="0"/>
          </a:p>
        </p:txBody>
      </p:sp>
      <p:sp>
        <p:nvSpPr>
          <p:cNvPr id="8" name="Text 6"/>
          <p:cNvSpPr txBox="1"/>
          <p:nvPr/>
        </p:nvSpPr>
        <p:spPr>
          <a:xfrm>
            <a:off x="9326880" y="1828800"/>
            <a:ext cx="21031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Our share of it</a:t>
            </a:r>
            <a:endParaRPr lang="en-US" sz="1200" dirty="0"/>
          </a:p>
        </p:txBody>
      </p:sp>
      <p:sp>
        <p:nvSpPr>
          <p:cNvPr id="9" name="Shape 7"/>
          <p:cNvSpPr/>
          <p:nvPr/>
        </p:nvSpPr>
        <p:spPr>
          <a:xfrm>
            <a:off x="640080" y="2286000"/>
            <a:ext cx="10881360" cy="658368"/>
          </a:xfrm>
          <a:prstGeom prst="rect">
            <a:avLst/>
          </a:prstGeom>
          <a:solidFill>
            <a:srgbClr val="F7FAFD"/>
          </a:solidFill>
          <a:ln/>
        </p:spPr>
      </p:sp>
      <p:sp>
        <p:nvSpPr>
          <p:cNvPr id="10" name="Text 8"/>
          <p:cNvSpPr txBox="1"/>
          <p:nvPr/>
        </p:nvSpPr>
        <p:spPr>
          <a:xfrm>
            <a:off x="822960" y="2286000"/>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Revenue</a:t>
            </a:r>
            <a:endParaRPr lang="en-US" sz="1250" dirty="0"/>
          </a:p>
        </p:txBody>
      </p:sp>
      <p:sp>
        <p:nvSpPr>
          <p:cNvPr id="11" name="Shape 9"/>
          <p:cNvSpPr/>
          <p:nvPr/>
        </p:nvSpPr>
        <p:spPr>
          <a:xfrm>
            <a:off x="4023360" y="2724912"/>
            <a:ext cx="2286000" cy="0"/>
          </a:xfrm>
          <a:prstGeom prst="line">
            <a:avLst/>
          </a:prstGeom>
          <a:noFill/>
          <a:ln w="12700">
            <a:solidFill>
              <a:srgbClr val="C9D4E6"/>
            </a:solidFill>
            <a:prstDash val="solid"/>
          </a:ln>
        </p:spPr>
      </p:sp>
      <p:sp>
        <p:nvSpPr>
          <p:cNvPr id="12" name="Shape 10"/>
          <p:cNvSpPr/>
          <p:nvPr/>
        </p:nvSpPr>
        <p:spPr>
          <a:xfrm>
            <a:off x="6858000" y="2724912"/>
            <a:ext cx="1920240" cy="0"/>
          </a:xfrm>
          <a:prstGeom prst="line">
            <a:avLst/>
          </a:prstGeom>
          <a:noFill/>
          <a:ln w="12700">
            <a:solidFill>
              <a:srgbClr val="C9D4E6"/>
            </a:solidFill>
            <a:prstDash val="solid"/>
          </a:ln>
        </p:spPr>
      </p:sp>
      <p:sp>
        <p:nvSpPr>
          <p:cNvPr id="13" name="Shape 11"/>
          <p:cNvSpPr/>
          <p:nvPr/>
        </p:nvSpPr>
        <p:spPr>
          <a:xfrm>
            <a:off x="9326880" y="2724912"/>
            <a:ext cx="1920240" cy="0"/>
          </a:xfrm>
          <a:prstGeom prst="line">
            <a:avLst/>
          </a:prstGeom>
          <a:noFill/>
          <a:ln w="12700">
            <a:solidFill>
              <a:srgbClr val="C9D4E6"/>
            </a:solidFill>
            <a:prstDash val="solid"/>
          </a:ln>
        </p:spPr>
      </p:sp>
      <p:sp>
        <p:nvSpPr>
          <p:cNvPr id="14" name="Shape 12"/>
          <p:cNvSpPr/>
          <p:nvPr/>
        </p:nvSpPr>
        <p:spPr>
          <a:xfrm>
            <a:off x="640080" y="2944368"/>
            <a:ext cx="10881360" cy="658368"/>
          </a:xfrm>
          <a:prstGeom prst="rect">
            <a:avLst/>
          </a:prstGeom>
          <a:solidFill>
            <a:srgbClr val="EDF2FA"/>
          </a:solidFill>
          <a:ln/>
        </p:spPr>
      </p:sp>
      <p:sp>
        <p:nvSpPr>
          <p:cNvPr id="15" name="Text 13"/>
          <p:cNvSpPr txBox="1"/>
          <p:nvPr/>
        </p:nvSpPr>
        <p:spPr>
          <a:xfrm>
            <a:off x="822960" y="2944368"/>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Sales and bookings</a:t>
            </a:r>
            <a:endParaRPr lang="en-US" sz="1250" dirty="0"/>
          </a:p>
        </p:txBody>
      </p:sp>
      <p:sp>
        <p:nvSpPr>
          <p:cNvPr id="16" name="Shape 14"/>
          <p:cNvSpPr/>
          <p:nvPr/>
        </p:nvSpPr>
        <p:spPr>
          <a:xfrm>
            <a:off x="4023360" y="3383280"/>
            <a:ext cx="2286000" cy="0"/>
          </a:xfrm>
          <a:prstGeom prst="line">
            <a:avLst/>
          </a:prstGeom>
          <a:noFill/>
          <a:ln w="12700">
            <a:solidFill>
              <a:srgbClr val="C9D4E6"/>
            </a:solidFill>
            <a:prstDash val="solid"/>
          </a:ln>
        </p:spPr>
      </p:sp>
      <p:sp>
        <p:nvSpPr>
          <p:cNvPr id="17" name="Shape 15"/>
          <p:cNvSpPr/>
          <p:nvPr/>
        </p:nvSpPr>
        <p:spPr>
          <a:xfrm>
            <a:off x="6858000" y="3383280"/>
            <a:ext cx="1920240" cy="0"/>
          </a:xfrm>
          <a:prstGeom prst="line">
            <a:avLst/>
          </a:prstGeom>
          <a:noFill/>
          <a:ln w="12700">
            <a:solidFill>
              <a:srgbClr val="C9D4E6"/>
            </a:solidFill>
            <a:prstDash val="solid"/>
          </a:ln>
        </p:spPr>
      </p:sp>
      <p:sp>
        <p:nvSpPr>
          <p:cNvPr id="18" name="Shape 16"/>
          <p:cNvSpPr/>
          <p:nvPr/>
        </p:nvSpPr>
        <p:spPr>
          <a:xfrm>
            <a:off x="9326880" y="3383280"/>
            <a:ext cx="1920240" cy="0"/>
          </a:xfrm>
          <a:prstGeom prst="line">
            <a:avLst/>
          </a:prstGeom>
          <a:noFill/>
          <a:ln w="12700">
            <a:solidFill>
              <a:srgbClr val="C9D4E6"/>
            </a:solidFill>
            <a:prstDash val="solid"/>
          </a:ln>
        </p:spPr>
      </p:sp>
      <p:sp>
        <p:nvSpPr>
          <p:cNvPr id="19" name="Shape 17"/>
          <p:cNvSpPr/>
          <p:nvPr/>
        </p:nvSpPr>
        <p:spPr>
          <a:xfrm>
            <a:off x="640080" y="3602736"/>
            <a:ext cx="10881360" cy="658368"/>
          </a:xfrm>
          <a:prstGeom prst="rect">
            <a:avLst/>
          </a:prstGeom>
          <a:solidFill>
            <a:srgbClr val="F7FAFD"/>
          </a:solidFill>
          <a:ln/>
        </p:spPr>
      </p:sp>
      <p:sp>
        <p:nvSpPr>
          <p:cNvPr id="20" name="Text 18"/>
          <p:cNvSpPr txBox="1"/>
          <p:nvPr/>
        </p:nvSpPr>
        <p:spPr>
          <a:xfrm>
            <a:off x="822960" y="3602736"/>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Pipeline</a:t>
            </a:r>
            <a:endParaRPr lang="en-US" sz="1250" dirty="0"/>
          </a:p>
        </p:txBody>
      </p:sp>
      <p:sp>
        <p:nvSpPr>
          <p:cNvPr id="21" name="Shape 19"/>
          <p:cNvSpPr/>
          <p:nvPr/>
        </p:nvSpPr>
        <p:spPr>
          <a:xfrm>
            <a:off x="4023360" y="4041648"/>
            <a:ext cx="2286000" cy="0"/>
          </a:xfrm>
          <a:prstGeom prst="line">
            <a:avLst/>
          </a:prstGeom>
          <a:noFill/>
          <a:ln w="12700">
            <a:solidFill>
              <a:srgbClr val="C9D4E6"/>
            </a:solidFill>
            <a:prstDash val="solid"/>
          </a:ln>
        </p:spPr>
      </p:sp>
      <p:sp>
        <p:nvSpPr>
          <p:cNvPr id="22" name="Shape 20"/>
          <p:cNvSpPr/>
          <p:nvPr/>
        </p:nvSpPr>
        <p:spPr>
          <a:xfrm>
            <a:off x="6858000" y="4041648"/>
            <a:ext cx="1920240" cy="0"/>
          </a:xfrm>
          <a:prstGeom prst="line">
            <a:avLst/>
          </a:prstGeom>
          <a:noFill/>
          <a:ln w="12700">
            <a:solidFill>
              <a:srgbClr val="C9D4E6"/>
            </a:solidFill>
            <a:prstDash val="solid"/>
          </a:ln>
        </p:spPr>
      </p:sp>
      <p:sp>
        <p:nvSpPr>
          <p:cNvPr id="23" name="Shape 21"/>
          <p:cNvSpPr/>
          <p:nvPr/>
        </p:nvSpPr>
        <p:spPr>
          <a:xfrm>
            <a:off x="9326880" y="4041648"/>
            <a:ext cx="1920240" cy="0"/>
          </a:xfrm>
          <a:prstGeom prst="line">
            <a:avLst/>
          </a:prstGeom>
          <a:noFill/>
          <a:ln w="12700">
            <a:solidFill>
              <a:srgbClr val="C9D4E6"/>
            </a:solidFill>
            <a:prstDash val="solid"/>
          </a:ln>
        </p:spPr>
      </p:sp>
      <p:sp>
        <p:nvSpPr>
          <p:cNvPr id="24" name="Shape 22"/>
          <p:cNvSpPr/>
          <p:nvPr/>
        </p:nvSpPr>
        <p:spPr>
          <a:xfrm>
            <a:off x="640080" y="4261104"/>
            <a:ext cx="10881360" cy="658368"/>
          </a:xfrm>
          <a:prstGeom prst="rect">
            <a:avLst/>
          </a:prstGeom>
          <a:solidFill>
            <a:srgbClr val="EDF2FA"/>
          </a:solidFill>
          <a:ln/>
        </p:spPr>
      </p:sp>
      <p:sp>
        <p:nvSpPr>
          <p:cNvPr id="25" name="Text 23"/>
          <p:cNvSpPr txBox="1"/>
          <p:nvPr/>
        </p:nvSpPr>
        <p:spPr>
          <a:xfrm>
            <a:off x="822960" y="4261104"/>
            <a:ext cx="2834640" cy="65836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Headcount deployed</a:t>
            </a:r>
            <a:endParaRPr lang="en-US" sz="1250" dirty="0"/>
          </a:p>
        </p:txBody>
      </p:sp>
      <p:sp>
        <p:nvSpPr>
          <p:cNvPr id="26" name="Shape 24"/>
          <p:cNvSpPr/>
          <p:nvPr/>
        </p:nvSpPr>
        <p:spPr>
          <a:xfrm>
            <a:off x="4023360" y="4700016"/>
            <a:ext cx="2286000" cy="0"/>
          </a:xfrm>
          <a:prstGeom prst="line">
            <a:avLst/>
          </a:prstGeom>
          <a:noFill/>
          <a:ln w="12700">
            <a:solidFill>
              <a:srgbClr val="C9D4E6"/>
            </a:solidFill>
            <a:prstDash val="solid"/>
          </a:ln>
        </p:spPr>
      </p:sp>
      <p:sp>
        <p:nvSpPr>
          <p:cNvPr id="27" name="Shape 25"/>
          <p:cNvSpPr/>
          <p:nvPr/>
        </p:nvSpPr>
        <p:spPr>
          <a:xfrm>
            <a:off x="6858000" y="4700016"/>
            <a:ext cx="1920240" cy="0"/>
          </a:xfrm>
          <a:prstGeom prst="line">
            <a:avLst/>
          </a:prstGeom>
          <a:noFill/>
          <a:ln w="12700">
            <a:solidFill>
              <a:srgbClr val="C9D4E6"/>
            </a:solidFill>
            <a:prstDash val="solid"/>
          </a:ln>
        </p:spPr>
      </p:sp>
      <p:sp>
        <p:nvSpPr>
          <p:cNvPr id="28" name="Shape 26"/>
          <p:cNvSpPr/>
          <p:nvPr/>
        </p:nvSpPr>
        <p:spPr>
          <a:xfrm>
            <a:off x="9326880" y="4700016"/>
            <a:ext cx="1920240" cy="0"/>
          </a:xfrm>
          <a:prstGeom prst="line">
            <a:avLst/>
          </a:prstGeom>
          <a:noFill/>
          <a:ln w="12700">
            <a:solidFill>
              <a:srgbClr val="C9D4E6"/>
            </a:solidFill>
            <a:prstDash val="solid"/>
          </a:ln>
        </p:spPr>
      </p:sp>
      <p:sp>
        <p:nvSpPr>
          <p:cNvPr id="29" name="Shape 27"/>
          <p:cNvSpPr/>
          <p:nvPr/>
        </p:nvSpPr>
        <p:spPr>
          <a:xfrm>
            <a:off x="640080" y="5120640"/>
            <a:ext cx="10881360" cy="822960"/>
          </a:xfrm>
          <a:prstGeom prst="roundRect">
            <a:avLst>
              <a:gd name="adj" fmla="val 11111"/>
            </a:avLst>
          </a:prstGeom>
          <a:solidFill>
            <a:srgbClr val="1E2761"/>
          </a:solidFill>
          <a:ln/>
        </p:spPr>
      </p:sp>
      <p:sp>
        <p:nvSpPr>
          <p:cNvPr id="30" name="Text 28"/>
          <p:cNvSpPr txBox="1"/>
          <p:nvPr/>
        </p:nvSpPr>
        <p:spPr>
          <a:xfrm>
            <a:off x="914400" y="51206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ambition we set has to reconcile to these: a number that ignores this year’s plan is an aspiration, and a number that only repeats it is not a strategy.</a:t>
            </a:r>
            <a:endParaRPr lang="en-US" sz="1250" dirty="0"/>
          </a:p>
        </p:txBody>
      </p:sp>
      <p:sp>
        <p:nvSpPr>
          <p:cNvPr id="31" name="Text 29"/>
          <p:cNvSpPr txBox="1"/>
          <p:nvPr/>
        </p:nvSpPr>
        <p:spPr>
          <a:xfrm>
            <a:off x="640080" y="60350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Split by sector and market where the plan already does. Source from finance, not from memory.</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strategy template — a placeholder for every answer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783080"/>
            <a:ext cx="5303520" cy="777240"/>
          </a:xfrm>
          <a:prstGeom prst="roundRect">
            <a:avLst>
              <a:gd name="adj" fmla="val 11765"/>
            </a:avLst>
          </a:prstGeom>
          <a:solidFill>
            <a:srgbClr val="FFFFFF"/>
          </a:solidFill>
          <a:ln w="15875">
            <a:solidFill>
              <a:srgbClr val="1E2761"/>
            </a:solidFill>
            <a:prstDash val="solid"/>
          </a:ln>
        </p:spPr>
      </p:sp>
      <p:sp>
        <p:nvSpPr>
          <p:cNvPr id="5" name="Text 3"/>
          <p:cNvSpPr txBox="1"/>
          <p:nvPr/>
        </p:nvSpPr>
        <p:spPr>
          <a:xfrm>
            <a:off x="89611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VISION</a:t>
            </a:r>
            <a:endParaRPr lang="en-US" sz="1150" dirty="0"/>
          </a:p>
        </p:txBody>
      </p:sp>
      <p:sp>
        <p:nvSpPr>
          <p:cNvPr id="6" name="Shape 4"/>
          <p:cNvSpPr/>
          <p:nvPr/>
        </p:nvSpPr>
        <p:spPr>
          <a:xfrm>
            <a:off x="2468880" y="2304288"/>
            <a:ext cx="3200400" cy="0"/>
          </a:xfrm>
          <a:prstGeom prst="line">
            <a:avLst/>
          </a:prstGeom>
          <a:noFill/>
          <a:ln w="12700">
            <a:solidFill>
              <a:srgbClr val="C9D4E6"/>
            </a:solidFill>
            <a:prstDash val="solid"/>
          </a:ln>
        </p:spPr>
      </p:sp>
      <p:sp>
        <p:nvSpPr>
          <p:cNvPr id="7" name="Shape 5"/>
          <p:cNvSpPr/>
          <p:nvPr/>
        </p:nvSpPr>
        <p:spPr>
          <a:xfrm>
            <a:off x="6217920" y="1783080"/>
            <a:ext cx="5303520" cy="777240"/>
          </a:xfrm>
          <a:prstGeom prst="roundRect">
            <a:avLst>
              <a:gd name="adj" fmla="val 11765"/>
            </a:avLst>
          </a:prstGeom>
          <a:solidFill>
            <a:srgbClr val="FFFFFF"/>
          </a:solidFill>
          <a:ln w="15875">
            <a:solidFill>
              <a:srgbClr val="1E2761"/>
            </a:solidFill>
            <a:prstDash val="solid"/>
          </a:ln>
        </p:spPr>
      </p:sp>
      <p:sp>
        <p:nvSpPr>
          <p:cNvPr id="8" name="Text 6"/>
          <p:cNvSpPr txBox="1"/>
          <p:nvPr/>
        </p:nvSpPr>
        <p:spPr>
          <a:xfrm>
            <a:off x="6473952" y="1783080"/>
            <a:ext cx="1463040" cy="777240"/>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AMBITION</a:t>
            </a:r>
            <a:endParaRPr lang="en-US" sz="1150" dirty="0"/>
          </a:p>
        </p:txBody>
      </p:sp>
      <p:sp>
        <p:nvSpPr>
          <p:cNvPr id="9" name="Shape 7"/>
          <p:cNvSpPr/>
          <p:nvPr/>
        </p:nvSpPr>
        <p:spPr>
          <a:xfrm>
            <a:off x="8046720" y="2304288"/>
            <a:ext cx="3200400" cy="0"/>
          </a:xfrm>
          <a:prstGeom prst="line">
            <a:avLst/>
          </a:prstGeom>
          <a:noFill/>
          <a:ln w="12700">
            <a:solidFill>
              <a:srgbClr val="C9D4E6"/>
            </a:solidFill>
            <a:prstDash val="solid"/>
          </a:ln>
        </p:spPr>
      </p:sp>
      <p:sp>
        <p:nvSpPr>
          <p:cNvPr id="10" name="Shape 8"/>
          <p:cNvSpPr/>
          <p:nvPr/>
        </p:nvSpPr>
        <p:spPr>
          <a:xfrm>
            <a:off x="640080" y="2743200"/>
            <a:ext cx="2596896" cy="2423160"/>
          </a:xfrm>
          <a:prstGeom prst="roundRect">
            <a:avLst>
              <a:gd name="adj" fmla="val 3774"/>
            </a:avLst>
          </a:prstGeom>
          <a:solidFill>
            <a:srgbClr val="FFFFFF"/>
          </a:solidFill>
          <a:ln w="12700">
            <a:solidFill>
              <a:srgbClr val="C9D4E6"/>
            </a:solidFill>
            <a:prstDash val="solid"/>
          </a:ln>
        </p:spPr>
      </p:sp>
      <p:sp>
        <p:nvSpPr>
          <p:cNvPr id="11" name="Shape 9"/>
          <p:cNvSpPr/>
          <p:nvPr/>
        </p:nvSpPr>
        <p:spPr>
          <a:xfrm>
            <a:off x="640080" y="2743200"/>
            <a:ext cx="2596896" cy="502920"/>
          </a:xfrm>
          <a:prstGeom prst="rect">
            <a:avLst/>
          </a:prstGeom>
          <a:solidFill>
            <a:srgbClr val="1E2761"/>
          </a:solidFill>
          <a:ln/>
        </p:spPr>
      </p:sp>
      <p:sp>
        <p:nvSpPr>
          <p:cNvPr id="12" name="Text 10"/>
          <p:cNvSpPr txBox="1"/>
          <p:nvPr/>
        </p:nvSpPr>
        <p:spPr>
          <a:xfrm>
            <a:off x="786384"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3" name="Text 11"/>
          <p:cNvSpPr txBox="1"/>
          <p:nvPr/>
        </p:nvSpPr>
        <p:spPr>
          <a:xfrm>
            <a:off x="841248"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4" name="Shape 12"/>
          <p:cNvSpPr/>
          <p:nvPr/>
        </p:nvSpPr>
        <p:spPr>
          <a:xfrm>
            <a:off x="841248" y="3794760"/>
            <a:ext cx="2194560" cy="0"/>
          </a:xfrm>
          <a:prstGeom prst="line">
            <a:avLst/>
          </a:prstGeom>
          <a:noFill/>
          <a:ln w="12700">
            <a:solidFill>
              <a:srgbClr val="E1E8F2"/>
            </a:solidFill>
            <a:prstDash val="solid"/>
          </a:ln>
        </p:spPr>
      </p:sp>
      <p:sp>
        <p:nvSpPr>
          <p:cNvPr id="15" name="Text 13"/>
          <p:cNvSpPr txBox="1"/>
          <p:nvPr/>
        </p:nvSpPr>
        <p:spPr>
          <a:xfrm>
            <a:off x="841248"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6" name="Shape 14"/>
          <p:cNvSpPr/>
          <p:nvPr/>
        </p:nvSpPr>
        <p:spPr>
          <a:xfrm>
            <a:off x="841248" y="4361688"/>
            <a:ext cx="2194560" cy="0"/>
          </a:xfrm>
          <a:prstGeom prst="line">
            <a:avLst/>
          </a:prstGeom>
          <a:noFill/>
          <a:ln w="12700">
            <a:solidFill>
              <a:srgbClr val="E1E8F2"/>
            </a:solidFill>
            <a:prstDash val="solid"/>
          </a:ln>
        </p:spPr>
      </p:sp>
      <p:sp>
        <p:nvSpPr>
          <p:cNvPr id="17" name="Text 15"/>
          <p:cNvSpPr txBox="1"/>
          <p:nvPr/>
        </p:nvSpPr>
        <p:spPr>
          <a:xfrm>
            <a:off x="841248"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8" name="Shape 16"/>
          <p:cNvSpPr/>
          <p:nvPr/>
        </p:nvSpPr>
        <p:spPr>
          <a:xfrm>
            <a:off x="841248" y="4928616"/>
            <a:ext cx="2194560" cy="0"/>
          </a:xfrm>
          <a:prstGeom prst="line">
            <a:avLst/>
          </a:prstGeom>
          <a:noFill/>
          <a:ln w="12700">
            <a:solidFill>
              <a:srgbClr val="E1E8F2"/>
            </a:solidFill>
            <a:prstDash val="solid"/>
          </a:ln>
        </p:spPr>
      </p:sp>
      <p:sp>
        <p:nvSpPr>
          <p:cNvPr id="19" name="Shape 17"/>
          <p:cNvSpPr/>
          <p:nvPr/>
        </p:nvSpPr>
        <p:spPr>
          <a:xfrm>
            <a:off x="3401568" y="2743200"/>
            <a:ext cx="2596896" cy="2423160"/>
          </a:xfrm>
          <a:prstGeom prst="roundRect">
            <a:avLst>
              <a:gd name="adj" fmla="val 3774"/>
            </a:avLst>
          </a:prstGeom>
          <a:solidFill>
            <a:srgbClr val="FFFFFF"/>
          </a:solidFill>
          <a:ln w="12700">
            <a:solidFill>
              <a:srgbClr val="C9D4E6"/>
            </a:solidFill>
            <a:prstDash val="solid"/>
          </a:ln>
        </p:spPr>
      </p:sp>
      <p:sp>
        <p:nvSpPr>
          <p:cNvPr id="20" name="Shape 18"/>
          <p:cNvSpPr/>
          <p:nvPr/>
        </p:nvSpPr>
        <p:spPr>
          <a:xfrm>
            <a:off x="3401568" y="2743200"/>
            <a:ext cx="2596896" cy="502920"/>
          </a:xfrm>
          <a:prstGeom prst="rect">
            <a:avLst/>
          </a:prstGeom>
          <a:solidFill>
            <a:srgbClr val="3E5C8A"/>
          </a:solidFill>
          <a:ln/>
        </p:spPr>
      </p:sp>
      <p:sp>
        <p:nvSpPr>
          <p:cNvPr id="21" name="Text 19"/>
          <p:cNvSpPr txBox="1"/>
          <p:nvPr/>
        </p:nvSpPr>
        <p:spPr>
          <a:xfrm>
            <a:off x="3547872"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22" name="Text 20"/>
          <p:cNvSpPr txBox="1"/>
          <p:nvPr/>
        </p:nvSpPr>
        <p:spPr>
          <a:xfrm>
            <a:off x="3602736"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3" name="Shape 21"/>
          <p:cNvSpPr/>
          <p:nvPr/>
        </p:nvSpPr>
        <p:spPr>
          <a:xfrm>
            <a:off x="3602736" y="3794760"/>
            <a:ext cx="2194560" cy="0"/>
          </a:xfrm>
          <a:prstGeom prst="line">
            <a:avLst/>
          </a:prstGeom>
          <a:noFill/>
          <a:ln w="12700">
            <a:solidFill>
              <a:srgbClr val="E1E8F2"/>
            </a:solidFill>
            <a:prstDash val="solid"/>
          </a:ln>
        </p:spPr>
      </p:sp>
      <p:sp>
        <p:nvSpPr>
          <p:cNvPr id="24" name="Text 22"/>
          <p:cNvSpPr txBox="1"/>
          <p:nvPr/>
        </p:nvSpPr>
        <p:spPr>
          <a:xfrm>
            <a:off x="3602736"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5" name="Shape 23"/>
          <p:cNvSpPr/>
          <p:nvPr/>
        </p:nvSpPr>
        <p:spPr>
          <a:xfrm>
            <a:off x="3602736" y="4361688"/>
            <a:ext cx="2194560" cy="0"/>
          </a:xfrm>
          <a:prstGeom prst="line">
            <a:avLst/>
          </a:prstGeom>
          <a:noFill/>
          <a:ln w="12700">
            <a:solidFill>
              <a:srgbClr val="E1E8F2"/>
            </a:solidFill>
            <a:prstDash val="solid"/>
          </a:ln>
        </p:spPr>
      </p:sp>
      <p:sp>
        <p:nvSpPr>
          <p:cNvPr id="26" name="Text 24"/>
          <p:cNvSpPr txBox="1"/>
          <p:nvPr/>
        </p:nvSpPr>
        <p:spPr>
          <a:xfrm>
            <a:off x="3602736"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7" name="Shape 25"/>
          <p:cNvSpPr/>
          <p:nvPr/>
        </p:nvSpPr>
        <p:spPr>
          <a:xfrm>
            <a:off x="3602736" y="4928616"/>
            <a:ext cx="2194560" cy="0"/>
          </a:xfrm>
          <a:prstGeom prst="line">
            <a:avLst/>
          </a:prstGeom>
          <a:noFill/>
          <a:ln w="12700">
            <a:solidFill>
              <a:srgbClr val="E1E8F2"/>
            </a:solidFill>
            <a:prstDash val="solid"/>
          </a:ln>
        </p:spPr>
      </p:sp>
      <p:sp>
        <p:nvSpPr>
          <p:cNvPr id="28" name="Shape 26"/>
          <p:cNvSpPr/>
          <p:nvPr/>
        </p:nvSpPr>
        <p:spPr>
          <a:xfrm>
            <a:off x="6163056" y="2743200"/>
            <a:ext cx="2596896" cy="2423160"/>
          </a:xfrm>
          <a:prstGeom prst="roundRect">
            <a:avLst>
              <a:gd name="adj" fmla="val 3774"/>
            </a:avLst>
          </a:prstGeom>
          <a:solidFill>
            <a:srgbClr val="FFFFFF"/>
          </a:solidFill>
          <a:ln w="12700">
            <a:solidFill>
              <a:srgbClr val="C9D4E6"/>
            </a:solidFill>
            <a:prstDash val="solid"/>
          </a:ln>
        </p:spPr>
      </p:sp>
      <p:sp>
        <p:nvSpPr>
          <p:cNvPr id="29" name="Shape 27"/>
          <p:cNvSpPr/>
          <p:nvPr/>
        </p:nvSpPr>
        <p:spPr>
          <a:xfrm>
            <a:off x="6163056" y="2743200"/>
            <a:ext cx="2596896" cy="502920"/>
          </a:xfrm>
          <a:prstGeom prst="rect">
            <a:avLst/>
          </a:prstGeom>
          <a:solidFill>
            <a:srgbClr val="1E2761"/>
          </a:solidFill>
          <a:ln/>
        </p:spPr>
      </p:sp>
      <p:sp>
        <p:nvSpPr>
          <p:cNvPr id="30" name="Text 28"/>
          <p:cNvSpPr txBox="1"/>
          <p:nvPr/>
        </p:nvSpPr>
        <p:spPr>
          <a:xfrm>
            <a:off x="6309360"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31" name="Text 29"/>
          <p:cNvSpPr txBox="1"/>
          <p:nvPr/>
        </p:nvSpPr>
        <p:spPr>
          <a:xfrm>
            <a:off x="6364224"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32" name="Shape 30"/>
          <p:cNvSpPr/>
          <p:nvPr/>
        </p:nvSpPr>
        <p:spPr>
          <a:xfrm>
            <a:off x="6364224" y="3794760"/>
            <a:ext cx="2194560" cy="0"/>
          </a:xfrm>
          <a:prstGeom prst="line">
            <a:avLst/>
          </a:prstGeom>
          <a:noFill/>
          <a:ln w="12700">
            <a:solidFill>
              <a:srgbClr val="E1E8F2"/>
            </a:solidFill>
            <a:prstDash val="solid"/>
          </a:ln>
        </p:spPr>
      </p:sp>
      <p:sp>
        <p:nvSpPr>
          <p:cNvPr id="33" name="Text 31"/>
          <p:cNvSpPr txBox="1"/>
          <p:nvPr/>
        </p:nvSpPr>
        <p:spPr>
          <a:xfrm>
            <a:off x="6364224"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4" name="Shape 32"/>
          <p:cNvSpPr/>
          <p:nvPr/>
        </p:nvSpPr>
        <p:spPr>
          <a:xfrm>
            <a:off x="6364224" y="4361688"/>
            <a:ext cx="2194560" cy="0"/>
          </a:xfrm>
          <a:prstGeom prst="line">
            <a:avLst/>
          </a:prstGeom>
          <a:noFill/>
          <a:ln w="12700">
            <a:solidFill>
              <a:srgbClr val="E1E8F2"/>
            </a:solidFill>
            <a:prstDash val="solid"/>
          </a:ln>
        </p:spPr>
      </p:sp>
      <p:sp>
        <p:nvSpPr>
          <p:cNvPr id="35" name="Text 33"/>
          <p:cNvSpPr txBox="1"/>
          <p:nvPr/>
        </p:nvSpPr>
        <p:spPr>
          <a:xfrm>
            <a:off x="6364224"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Three-year growth</a:t>
            </a:r>
            <a:endParaRPr lang="en-US" sz="1050" dirty="0"/>
          </a:p>
        </p:txBody>
      </p:sp>
      <p:sp>
        <p:nvSpPr>
          <p:cNvPr id="36" name="Shape 34"/>
          <p:cNvSpPr/>
          <p:nvPr/>
        </p:nvSpPr>
        <p:spPr>
          <a:xfrm>
            <a:off x="6364224" y="4928616"/>
            <a:ext cx="2194560" cy="0"/>
          </a:xfrm>
          <a:prstGeom prst="line">
            <a:avLst/>
          </a:prstGeom>
          <a:noFill/>
          <a:ln w="12700">
            <a:solidFill>
              <a:srgbClr val="E1E8F2"/>
            </a:solidFill>
            <a:prstDash val="solid"/>
          </a:ln>
        </p:spPr>
      </p:sp>
      <p:sp>
        <p:nvSpPr>
          <p:cNvPr id="37" name="Shape 35"/>
          <p:cNvSpPr/>
          <p:nvPr/>
        </p:nvSpPr>
        <p:spPr>
          <a:xfrm>
            <a:off x="8924544" y="2743200"/>
            <a:ext cx="2596896" cy="2423160"/>
          </a:xfrm>
          <a:prstGeom prst="roundRect">
            <a:avLst>
              <a:gd name="adj" fmla="val 3774"/>
            </a:avLst>
          </a:prstGeom>
          <a:solidFill>
            <a:srgbClr val="FFFFFF"/>
          </a:solidFill>
          <a:ln w="12700">
            <a:solidFill>
              <a:srgbClr val="C9D4E6"/>
            </a:solidFill>
            <a:prstDash val="solid"/>
          </a:ln>
        </p:spPr>
      </p:sp>
      <p:sp>
        <p:nvSpPr>
          <p:cNvPr id="38" name="Shape 36"/>
          <p:cNvSpPr/>
          <p:nvPr/>
        </p:nvSpPr>
        <p:spPr>
          <a:xfrm>
            <a:off x="8924544" y="2743200"/>
            <a:ext cx="2596896" cy="502920"/>
          </a:xfrm>
          <a:prstGeom prst="rect">
            <a:avLst/>
          </a:prstGeom>
          <a:solidFill>
            <a:srgbClr val="3E5C8A"/>
          </a:solidFill>
          <a:ln/>
        </p:spPr>
      </p:sp>
      <p:sp>
        <p:nvSpPr>
          <p:cNvPr id="39" name="Text 37"/>
          <p:cNvSpPr txBox="1"/>
          <p:nvPr/>
        </p:nvSpPr>
        <p:spPr>
          <a:xfrm>
            <a:off x="9070848" y="274320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40" name="Text 38"/>
          <p:cNvSpPr txBox="1"/>
          <p:nvPr/>
        </p:nvSpPr>
        <p:spPr>
          <a:xfrm>
            <a:off x="9125712" y="347472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41" name="Shape 39"/>
          <p:cNvSpPr/>
          <p:nvPr/>
        </p:nvSpPr>
        <p:spPr>
          <a:xfrm>
            <a:off x="9125712" y="3794760"/>
            <a:ext cx="2194560" cy="0"/>
          </a:xfrm>
          <a:prstGeom prst="line">
            <a:avLst/>
          </a:prstGeom>
          <a:noFill/>
          <a:ln w="12700">
            <a:solidFill>
              <a:srgbClr val="E1E8F2"/>
            </a:solidFill>
            <a:prstDash val="solid"/>
          </a:ln>
        </p:spPr>
      </p:sp>
      <p:sp>
        <p:nvSpPr>
          <p:cNvPr id="42" name="Text 40"/>
          <p:cNvSpPr txBox="1"/>
          <p:nvPr/>
        </p:nvSpPr>
        <p:spPr>
          <a:xfrm>
            <a:off x="9125712" y="404164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3" name="Shape 41"/>
          <p:cNvSpPr/>
          <p:nvPr/>
        </p:nvSpPr>
        <p:spPr>
          <a:xfrm>
            <a:off x="9125712" y="4361688"/>
            <a:ext cx="2194560" cy="0"/>
          </a:xfrm>
          <a:prstGeom prst="line">
            <a:avLst/>
          </a:prstGeom>
          <a:noFill/>
          <a:ln w="12700">
            <a:solidFill>
              <a:srgbClr val="E1E8F2"/>
            </a:solidFill>
            <a:prstDash val="solid"/>
          </a:ln>
        </p:spPr>
      </p:sp>
      <p:sp>
        <p:nvSpPr>
          <p:cNvPr id="44" name="Text 42"/>
          <p:cNvSpPr txBox="1"/>
          <p:nvPr/>
        </p:nvSpPr>
        <p:spPr>
          <a:xfrm>
            <a:off x="9125712" y="4608576"/>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5" name="Shape 43"/>
          <p:cNvSpPr/>
          <p:nvPr/>
        </p:nvSpPr>
        <p:spPr>
          <a:xfrm>
            <a:off x="9125712" y="4928616"/>
            <a:ext cx="2194560" cy="0"/>
          </a:xfrm>
          <a:prstGeom prst="line">
            <a:avLst/>
          </a:prstGeom>
          <a:noFill/>
          <a:ln w="12700">
            <a:solidFill>
              <a:srgbClr val="E1E8F2"/>
            </a:solidFill>
            <a:prstDash val="solid"/>
          </a:ln>
        </p:spPr>
      </p:sp>
      <p:sp>
        <p:nvSpPr>
          <p:cNvPr id="46" name="Shape 44"/>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8" name="Shape 46"/>
          <p:cNvSpPr/>
          <p:nvPr/>
        </p:nvSpPr>
        <p:spPr>
          <a:xfrm>
            <a:off x="2926080" y="5742432"/>
            <a:ext cx="8321040" cy="0"/>
          </a:xfrm>
          <a:prstGeom prst="line">
            <a:avLst/>
          </a:prstGeom>
          <a:noFill/>
          <a:ln w="12700">
            <a:solidFill>
              <a:srgbClr val="C9D4E6"/>
            </a:solidFill>
            <a:prstDash val="solid"/>
          </a:ln>
        </p:spPr>
      </p:sp>
      <p:sp>
        <p:nvSpPr>
          <p:cNvPr id="49" name="Shape 47"/>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50" name="Text 48"/>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51" name="Shape 49"/>
          <p:cNvSpPr/>
          <p:nvPr/>
        </p:nvSpPr>
        <p:spPr>
          <a:xfrm>
            <a:off x="2926080" y="6364224"/>
            <a:ext cx="8321040" cy="0"/>
          </a:xfrm>
          <a:prstGeom prst="line">
            <a:avLst/>
          </a:prstGeom>
          <a:noFill/>
          <a:ln w="12700">
            <a:solidFill>
              <a:srgbClr val="C9D4E6"/>
            </a:solidFill>
            <a:prstDash val="solid"/>
          </a:ln>
        </p:spPr>
      </p:sp>
      <p:sp>
        <p:nvSpPr>
          <p:cNvPr id="52" name="Text 50"/>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 aligned to the portfolio and industry strategies. Everything behind it is in the templates that follow.</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the index — one row per proposition.</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743200"/>
                <a:gridCol w="2377440"/>
                <a:gridCol w="1828800"/>
                <a:gridCol w="228600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 or focused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930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8" name="Text 5"/>
          <p:cNvSpPr txBox="1"/>
          <p:nvPr/>
        </p:nvSpPr>
        <p:spPr>
          <a:xfrm>
            <a:off x="58704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 or focused</a:t>
            </a:r>
            <a:endParaRPr lang="en-US" sz="1150" dirty="0"/>
          </a:p>
        </p:txBody>
      </p:sp>
      <p:sp>
        <p:nvSpPr>
          <p:cNvPr id="9" name="Text 6"/>
          <p:cNvSpPr txBox="1"/>
          <p:nvPr/>
        </p:nvSpPr>
        <p:spPr>
          <a:xfrm>
            <a:off x="769924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p>
        </p:txBody>
      </p:sp>
      <p:sp>
        <p:nvSpPr>
          <p:cNvPr id="11" name="Text 8"/>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index to the catalogue. Detail for each one lives on its proposition one-pager.</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our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three-year growth</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 then per proposition.</a:t>
            </a:r>
            <a:endParaRPr lang="en-US" sz="14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560320"/>
                <a:gridCol w="1280160"/>
                <a:gridCol w="1188720"/>
                <a:gridCol w="1188720"/>
                <a:gridCol w="1188720"/>
                <a:gridCol w="1005840"/>
                <a:gridCol w="24688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 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Current FY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Year 1</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Year 2</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Year 3</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CAGR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 proposition</a:t>
            </a:r>
            <a:endParaRPr lang="en-US" sz="1150" dirty="0"/>
          </a:p>
        </p:txBody>
      </p:sp>
      <p:sp>
        <p:nvSpPr>
          <p:cNvPr id="7" name="Text 4"/>
          <p:cNvSpPr txBox="1"/>
          <p:nvPr/>
        </p:nvSpPr>
        <p:spPr>
          <a:xfrm>
            <a:off x="3310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Current FY</a:t>
            </a:r>
            <a:endParaRPr lang="en-US" sz="1150" dirty="0"/>
          </a:p>
        </p:txBody>
      </p:sp>
      <p:sp>
        <p:nvSpPr>
          <p:cNvPr id="8" name="Text 5"/>
          <p:cNvSpPr txBox="1"/>
          <p:nvPr/>
        </p:nvSpPr>
        <p:spPr>
          <a:xfrm>
            <a:off x="45902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Year 1</a:t>
            </a:r>
            <a:endParaRPr lang="en-US" sz="1150" dirty="0"/>
          </a:p>
        </p:txBody>
      </p:sp>
      <p:sp>
        <p:nvSpPr>
          <p:cNvPr id="9" name="Text 6"/>
          <p:cNvSpPr txBox="1"/>
          <p:nvPr/>
        </p:nvSpPr>
        <p:spPr>
          <a:xfrm>
            <a:off x="57790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Year 2</a:t>
            </a:r>
            <a:endParaRPr lang="en-US" sz="1150" dirty="0"/>
          </a:p>
        </p:txBody>
      </p:sp>
      <p:sp>
        <p:nvSpPr>
          <p:cNvPr id="10" name="Text 7"/>
          <p:cNvSpPr txBox="1"/>
          <p:nvPr/>
        </p:nvSpPr>
        <p:spPr>
          <a:xfrm>
            <a:off x="69677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Year 3</a:t>
            </a:r>
            <a:endParaRPr lang="en-US" sz="1150" dirty="0"/>
          </a:p>
        </p:txBody>
      </p:sp>
      <p:sp>
        <p:nvSpPr>
          <p:cNvPr id="11" name="Text 8"/>
          <p:cNvSpPr txBox="1"/>
          <p:nvPr/>
        </p:nvSpPr>
        <p:spPr>
          <a:xfrm>
            <a:off x="81564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CAGR</a:t>
            </a:r>
            <a:endParaRPr lang="en-US" sz="1150" dirty="0"/>
          </a:p>
        </p:txBody>
      </p:sp>
      <p:sp>
        <p:nvSpPr>
          <p:cNvPr id="12" name="Text 9"/>
          <p:cNvSpPr txBox="1"/>
          <p:nvPr/>
        </p:nvSpPr>
        <p:spPr>
          <a:xfrm>
            <a:off x="916228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it</a:t>
            </a:r>
            <a:endParaRPr lang="en-US" sz="1150" dirty="0"/>
          </a:p>
        </p:txBody>
      </p:sp>
      <p:sp>
        <p:nvSpPr>
          <p:cNvPr id="13" name="Text 10"/>
          <p:cNvSpPr txBox="1"/>
          <p:nvPr/>
        </p:nvSpPr>
        <p:spPr>
          <a:xfrm>
            <a:off x="640080" y="636422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Growth stated year by year, not as a single end-state number. The driver column is what makes it defensible.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differentiation and proof</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claim we make.</a:t>
            </a:r>
            <a:endParaRPr lang="en-US" sz="14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371600"/>
                <a:gridCol w="2194560"/>
                <a:gridCol w="2011680"/>
                <a:gridCol w="192024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The claim we make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it beats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it holds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we have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Proof to build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 claim we make</a:t>
            </a:r>
            <a:endParaRPr lang="en-US" sz="1150" dirty="0"/>
          </a:p>
        </p:txBody>
      </p:sp>
      <p:sp>
        <p:nvSpPr>
          <p:cNvPr id="7" name="Text 4"/>
          <p:cNvSpPr txBox="1"/>
          <p:nvPr/>
        </p:nvSpPr>
        <p:spPr>
          <a:xfrm>
            <a:off x="2944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it beats</a:t>
            </a:r>
            <a:endParaRPr lang="en-US" sz="1150" dirty="0"/>
          </a:p>
        </p:txBody>
      </p:sp>
      <p:sp>
        <p:nvSpPr>
          <p:cNvPr id="8" name="Text 5"/>
          <p:cNvSpPr txBox="1"/>
          <p:nvPr/>
        </p:nvSpPr>
        <p:spPr>
          <a:xfrm>
            <a:off x="43159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it holds</a:t>
            </a:r>
            <a:endParaRPr lang="en-US" sz="1150" dirty="0"/>
          </a:p>
        </p:txBody>
      </p:sp>
      <p:sp>
        <p:nvSpPr>
          <p:cNvPr id="9" name="Text 6"/>
          <p:cNvSpPr txBox="1"/>
          <p:nvPr/>
        </p:nvSpPr>
        <p:spPr>
          <a:xfrm>
            <a:off x="65105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we have</a:t>
            </a:r>
            <a:endParaRPr lang="en-US" sz="1150" dirty="0"/>
          </a:p>
        </p:txBody>
      </p:sp>
      <p:sp>
        <p:nvSpPr>
          <p:cNvPr id="10" name="Text 7"/>
          <p:cNvSpPr txBox="1"/>
          <p:nvPr/>
        </p:nvSpPr>
        <p:spPr>
          <a:xfrm>
            <a:off x="85222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Proof to build</a:t>
            </a:r>
            <a:endParaRPr lang="en-US" sz="1150" dirty="0"/>
          </a:p>
        </p:txBody>
      </p:sp>
      <p:sp>
        <p:nvSpPr>
          <p:cNvPr id="11" name="Text 8"/>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Anything in the last column becomes an initiative, with an owner and a date.</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operating rhythm</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forum.</a:t>
            </a:r>
            <a:endParaRPr lang="en-US" sz="14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377440"/>
                <a:gridCol w="1280160"/>
                <a:gridCol w="1280160"/>
                <a:gridCol w="24688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Chair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Decisions it can take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Escalates to</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7" name="Text 4"/>
          <p:cNvSpPr txBox="1"/>
          <p:nvPr/>
        </p:nvSpPr>
        <p:spPr>
          <a:xfrm>
            <a:off x="267004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Purpose</a:t>
            </a:r>
            <a:endParaRPr lang="en-US" sz="1150" dirty="0"/>
          </a:p>
        </p:txBody>
      </p:sp>
      <p:sp>
        <p:nvSpPr>
          <p:cNvPr id="8" name="Text 5"/>
          <p:cNvSpPr txBox="1"/>
          <p:nvPr/>
        </p:nvSpPr>
        <p:spPr>
          <a:xfrm>
            <a:off x="50474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9" name="Text 6"/>
          <p:cNvSpPr txBox="1"/>
          <p:nvPr/>
        </p:nvSpPr>
        <p:spPr>
          <a:xfrm>
            <a:off x="6327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Chair</a:t>
            </a:r>
            <a:endParaRPr lang="en-US" sz="1150" dirty="0"/>
          </a:p>
        </p:txBody>
      </p:sp>
      <p:sp>
        <p:nvSpPr>
          <p:cNvPr id="10" name="Text 7"/>
          <p:cNvSpPr txBox="1"/>
          <p:nvPr/>
        </p:nvSpPr>
        <p:spPr>
          <a:xfrm>
            <a:off x="7607808" y="1965960"/>
            <a:ext cx="22860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Decisions it can take</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Escalates to</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Name what each forum can settle without escalation, and where anything larger goes.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Every row carries an owner, a milestone and a date.</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carries an owner and the forum it is presented 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2026-09-30T11:44:17Z</dcterms:created>
  <dcterms:modified xsi:type="dcterms:W3CDTF">2026-09-30T11:44:17Z</dcterms:modified>
</cp:coreProperties>
</file>