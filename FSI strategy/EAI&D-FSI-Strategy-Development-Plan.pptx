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FOR THE TEAM — do not put on the slide.
The portfolio is EAI&amp;D: Engineering, AI and Data. It is a consulting portfolio — think technology advisory and delivery. We design, advise on and implement end-to-end technology transformation for the financial services industry. FSI here means three sectors, in priority order: banking first, then funds (sovereign wealth funds, national and development funds, fund and investment management), then insurance.
Three pillars:
1. Industry Solutions — core-led transformation: core modernisation and core platform packages, whatever the sector calls its core (core banking, policy administration and claims in insurance, portfolio, fund accounting and investment platforms in funds). Also full systems-integration capability: we can take the SI role and own the end-to-end setup, including design governance, functional governance, delivery management and individual stream management, to stand up a greenfield institution or modernise an incumbent.
2. Data and AI — enterprise AI, core AI, AI use-case activation, and standard data work: data platforms, warehouses, ETL, reporting, across all three sectors.
3. Engineering and Cloud — cloud advisory and implementation, plus custom engineered solutions: integration management, microservices, API gateways, and bespoke core engineering. Less common around the core; likeliest in investments, wealth and fund operations.
This deck is the plan for developing the FSI strategy, not the strategy. Target: strategy finalised within three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pack in two halves. Sections 1 to 5 are the method: what this document is, the questions, the principles, the approach and the workstreams. Sections 6 to 8 are the dimensions that were called out as needing their own treatment — talent, eminence and alliances. Sections 9 and 10 are the plan and the governance.
If time is short, the three slides that carry the decision are: the eight questions, the five-step approach, and how we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given: this pack carries no answers. We know things already — focus markets, likely accounts — but none of it belongs here. Everything is a blank to be filled through the cycle, so reviewers engage with the method first and do not anchor on half-formed conclusions.
Still open before we finalise this pack:
- Audience: leadership approval pack, or team working document?
- What "partner" means where we say account ownership: our own consulting partners (the people who carry accounts) versus alliance and vendor partners. Both matter; they are different lists.
- Start date for the three-week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strategy has two parents, and both matter.
The EAI&amp;D portfolio strategy is the capability axis: it serves several industries and already sets our vision and direction, the delivery model and quality bars, the alliance framework and partner tiers, the talent model, and the financial targets cascaded to us. We confirm those rather than reinvent them.
The FSI industry strategy is the industry axis: the firm already has one, and it comes with its own account list and tiering, account leadership and partner-to-account mappings, governance forums and cadence, an eminence programme, and client relationship plans already running. That is not ours to duplicate.
What is genuinely ours sits at the intersection: how EAI&amp;D propositions land in those accounts, the economics of delivering them, sector platform alliances, FSI capability and certification, and our own revenue targets by account and offering.
The practical rule, and the one most likely to be broken: no parallel machinery. We do not build a second account plan next to the industry one, a second set of forums, or a separate eminence calendar. Our account view attaches to the existing account plan, our reviews sit inside the existing forums where they exist, and our eminence rides the industry programme, adding EAI&amp;D content rather than competing for the same audience.
Two things to confirm at kick-off: who owns the account relationship where the industry strategy has already named an account leader, and which forum our operating rhythm plugs into rather than replaces. Where the two parent strategies disagree — different sector priority, an alliance one supports and the other does not — that is an escalation, not something for this team to resolve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two minutes at kick-off. Most of the circular discussion in strategy work is two people using one word for different things.
The distinction that matters most: an offering is an internal unit — how the portfolio is organised and where people sit. A proposition is what we take to market. Clients do not buy offerings; they buy propositions. So the catalogue is a list of propositions, and each one records which offerings it draws on.
From that, integrated and focused fall out naturally. A proposition that needs two or more offerings is integrated — a greenfield digital bank setup needs all three. A proposition that genuinely sits inside one is focused — a cloud migration strategy never leaves Engineering. Integrated is the default; focused is permitted and sold as a way in.
Two more worth holding: sector is not market — banking, funds and insurance are sectors, retail or corporate are segments within them, while Saudi, the UAE and Qatar are markets, and both carry a tier. And account plan means the firm’s single plan per client; what we produce attaches to it rather than competing with it.
Pillar is used only for the structure of this strategy, so it should never be heard as a synonym for offering.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Correcting the frame: this is a financial services strategy, not a banking strategy. Three sectors, in this priority order.
1. Banking — the priority sector, and where most of the existing capability and credentials sit.
2. Funds — sovereign wealth funds, national and development funds, and fund or investment management. Often a small number of very large institutions rather than a market of many, which changes how coverage and pursuit work: fewer accounts, longer cycles, far higher stakes per relationship.
3. Insurance — life, general, takaful, health, brokers and reinsurance. Different core platforms, different regulators, different buyers.
They are not interchangeable. The core platform, the regulator, the buyer and the language all change between them, which is exactly why the domain-specific principle is stated per sector rather than per industry: a core banking reference does not win a policy administration programme.
Practical consequence for the cycle: sector is a column in the market prioritisation, the account list, the proposition catalogue and the revenue targets. Where we are thin — and funds and insurance are where we are thin — the strategy has to say whether we build, borrow, hire or partner into them, and the alliance map has to answer the platform question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Agreeing the drivers before the words stops the discussion turning into a wordsmithing exercise, and stops later revisions quietly trading one theme away for another.
Two of them carry most of the weight and deserve to be explained in the room.
Complexity, handled: our real competition is not another integrated pitch. It is the institution doing it internally, and the lower-cost integrator quoting half the price. Neither can absorb a multi-stream, regulated, interconnected programme. We say that through words like landed, on time, cannot afford to get wrong — never by claiming we carry or underwrite the risk, which starts a procurement and legal conversation the vision should not start.
AI at the core, not on the badge: AI-native is oversubscribed and clients have heard it from everyone. Leading with it makes us sound like the crowd; putting it late and proving it makes it credible. It shows up twice in practice — in what we build for the client, and in how we deliver, through assets, accelerators and AI-assisted engineering.
The remaining four are straightforward but non-negotiable: end-to-end accountability including alliances, acceleration, both halves of the institution, and all three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candidate: "Complexity, compressed." Two alternates kept for the discussion.
Six themes every candidate has to carry, held deliberately so revisions do not trade one away for another:
1. Integrated and end to end — one accountable team, alliances counted as part of what we bring.
2. Complexity handled reliably — implied through words like landed, on time, cannot afford to get wrong. Never stated as carrying or underwriting risk: that is a procurement and legal conversation we do not want the vision to start.
3. Acceleration — time to market and time to value, because a platform that is not live is cost carried or revenue missed.
4. Both halves of the institution — what it takes to market, and how it runs inside. The second half is where enterprise AI, workplace tooling and intelligent operations sit.
5. AI present but never the headline. AI-native is oversubscribed; the credibility comes from AI at the core of what we build and how we deliver, stated once and late.
6. All three sectors — banks, funds and insurers.
Why "compressed" rather than "sooner" or "faster": it reads as engineering rather than marketing, and it carries the complexity claim and the speed claim in the same word.
What the vision obliges elsewhere in the strategy: the catalogue must show the internal-facing propositions, not only client-facing platforms, or the second half of the claim is unsupported; the delivery model must show the assets, accelerators and AI-assisted delivery that make compression real; and the differentiation argument — why an internal team or a lower-cost integrator cannot do this — belongs in how we win, with evidence, rather than in the vision itself.
Whichever is chosen, the ambition then puts numbers and a date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carry the most weight here.
AI and innovation embedded: AI is not a separate line item we sell when asked. Every proposition in the catalogue carries an AI or innovation component by design — a core modernisation that lands with intelligent operations and automated testing, an integration programme that ships with AI-assisted engineering, a data platform that arrives with use cases already running. Two reasons: it is where client expectation is heading in this region, and it is what stops the catalogue reading like commodity systems integration. Practically it becomes a test applied to the catalogue in the offerings workstream: if a proposition has no AI or innovation content, say why, or change it.
Domain-specific, not agnostic: financial services is specialised enough that generic technology credentials do not travel, and the three sectors do not transfer to each other either. A banking client expects us to know core banking, payments and regulatory reporting; a fund expects portfolio, fund accounting, valuations and investor reporting; an insurer expects policy administration, claims, underwriting and actuarial. Credibility is per sector, not per industry. Practically this means propositions are written in banking language and mapped to banking outcomes; credentials and case studies are FSI ones; CVs put domain experience forward; and where we borrow capability from a horizontal pool, it is fronted by people who know the domain. It also bounds what we take on: a generic engagement we could win anywhere is not automatically ours to chase.
One integrated market team: every partner and director in the portfolio is expected to know the full catalogue, not only their own practice. In a client conversation they should recognise the signal — a core replacement being considered, a data estate that cannot answer regulatory questions, an integration layer at end of life, an AI ambition with no platform underneath it — position the first level of our answer credibly, and then pull in the specialist lead. Nobody is expected to be expert in everything; everybody is expected to open the door rather than let it pass because it sits outside their pillar.
This is what makes the integrated-propositions principle real in practice rather than on paper. It also creates an enablement obligation: the proposition one-pagers in the appendix are the tool for it, and the cycle should say how the portfolio is trained on them and how often it is refreshed.
The hard rule from the portfolio: no siloed solutions. Our primary go-to-market catalogue is integrated propositions across the three pillars. Even where we sell a focused solution — enterprise AI, for example — it is sold as an entry point into an integrated play, and the catalogue is built that way. Archetypes and partial offerings are permitted as variants of an integrated proposition, not as the default.
Delivery model: we expect to inherit the standard firm delivery model rather than invent one. The work here is to confirm it and note where FSI-specific governance (design authority, functional governance, stream management on large SI programmes) needs to be explicit.
Confirm all five principles at kick-off; they bound every later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is loosely a strategy cascade (where to play, how to play), extended for a consulting portfolio with commercial, coverage, talent and eminence dimensions.
Context we already hold, to be validated rather than assumed during the cycle:
- Primary markets: Saudi Arabia, UAE, Qatar.
- Secondary markets: Kuwait, Oman, Jordan — where we focus our key relationships.
- The output must go further than markets: a specific, named target account list, with account mapping — who covers whom.
- Offerings must be expressed as products and services with a buyer attached: who buys this, and what do they typically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Tiering applies twice — to geographies and to accounts — and independently of sector. A tier one account can sit in a tier two market, and occasionally the reverse.
Tier one is where the energy goes: deliberate coverage with people physically present working the relationships, named individual targets each with an owner, individual gross and net revenue targets, and the eminence and investment concentrated there. The scorecard is read against tier one.
Tier two is deliberately lighter. Accounts and markets are handled as clusters or groups rather than one by one, pursuit is reactive rather than campaigned, and coverage is a named watcher rather than an accountable owner. It exists for two reasons: to keep us present in what is emerging, and to stop us over-concentrating everything in a handful of names.
Two things the cycle must define rather than leave to instinct: what promotes a tier two account or market to tier one — a real signal, not enthusiasm — and what minimum tier two coverage actually means, so it is not simply a list nobody reads.
Watch the balance. If almost everything lands in tier one, nothing is prioritised. If tier one is too narrow, the plan is fragile to one or two decisions going against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principle made concrete, and the examples are the clearest way to settle the argument.
A greenfield digital bank setup pulls from every practice: the core platform and functional design from Industry Solutions, the data foundation and intelligence from AI and Data, the integration layer, cloud and channels from Engineering. Nobody sells that as three engagements.
A cloud migration strategy will never span beyond Engineering, and pretending otherwise to satisfy a principle makes us look like we are padding. It is a legitimate focused offering.
So the rule has two halves. Integrated is the default: the catalogue is built as cross-practice propositions, and that is what we lead with. Focused offerings stay in the catalogue where the work genuinely does not span, and they are sold as an entry point into a larger relationship rather than as the whole of it.
Two practical consequences for the cycle. First, every proposition in the catalogue records which practices it involves, which is why the catalogue template has that column. Second, a focused offering should carry a named follow-on: what it typically opens next. A focused sale with no onward path is just a small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Costing and delivery model are treated as one topic because they determine each other: the price the market will pay only becomes a business if the delivery construct behind it produces the blended ADR and the gross margin we want.
The chain to work through, per offering: target price band, then the delivery construct it assumes (the split across onshore, nearshore and offshore or global delivery centres), then the blended average daily rate that construct implies, then the gross margin that falls out. If the margin is short, one of the first three has to change — usually the construct.
Nuance to carry: this varies sharply by offering and by sector. A core banking modernisation with heavy onshore functional and governance presence looks nothing like a fund platform implementation, an insurance policy-administration migration, or an AI use-case activation that can run largely offshore. Regulatory and data-residency rules in Saudi and the UAE constrain what can leave the country, and some clients contractually require onshore staffing — both drive the construct before commercial preference does.
The delivery model itself is largely inherited from the firm; what we are setting here is the construct and the economics per offering, plus the margin floor and the approval route when a deal prices below it.
Acceleration sits inside the delivery model, not beside it. If we position on time to market — and the client problem is real, since every month a platform is not live is cost carried or revenue missed — then the delivery model has to show how we go faster than a standard build: reusable assets and accelerators, reference architectures and pre-configured builds, templated stream setup and governance, alliance-provided integrations and platform accelerators, and AI applied to our own delivery (code, test, migration, documentation) rather than only to what we build for the client.
It also changes the economics, which is why it belongs here. Reuse raises margin at the same price, and it makes fixed-price and outcome-based pricing viable where time and materials was the only safe basis. The offering economics template records the assets behind each offering for exactly that reason: an offering with no asset behind it is a bespoke build, and bespoke is both slower and thinner.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called out as an important dimension in its own right.
Three things to establish:
1. The dedicated team — who in the portfolio works on FSI exclusively, across Industry Solutions, Data and AI, and Engineering and Cloud. Roles, levels, and what we can credibly deliver with them alone.
2. Generic and shared capacity — who we can draw on from the wider portfolio and firm, how much of their time we can actually count on, and which skills we borrow rather than own.
3. The recruitment gap — what remains once dedicated and shared capacity is counted, expressed by level: partners, directors, and other delivery staff. Then build, borrow or buy, and by when.
The link to the rest of the strategy is direct: a revenue target we cannot staff is not a target. Capacity is sized against the targets set in the commercial workstream.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Alliances split into two categories that behave differently, and the plan should treat them differently.
Broad technology alliances — the hyperscalers and platform players: Google, AWS, Microsoft and Oracle. They are relevant to every proposition in the catalogue, so they are a portfolio-level relationship rather than an offering-level one. Three things we take from them: co-sell into their own account relationships, funding and credits to activate use cases on their platforms (a real commercial lever, not a nicety — it can fund the first proof of value), and the certifications and platform credibility clients increasingly ask for.
Specialised product vendors — relevant only where the offering matches. Core banking and origination platforms (Temenos and Intellect today), specialised data vendors such as Informatica, and, as the sector priorities imply, the insurance core and fund platform vendors where we currently hold nothing. These are offering-level and sector-level relationships, so the map must show which propositions each sits behind rather than treating them as general alliances.
The gap to close in the cycle: our specialised alliances are banking-weighted. Funds and insurance are priority two and three with no platform partner named, which is a decision the strategy has to make rather than defer.
Two links to the rest of the strategy: the alliance map must reconcile with the account coverage map (an alliance that opens an account should appear against that account), and with the capacity plan, because certifications and accredited people are a real training and hiring cost. Funding available from the broad alliances should also appear in the commercial view — it changes what a first engagement can be priced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Raised as a distinct part of the plan: how we enhance our positioning in the market, specifically in FSI, around what we do.
Channels mentioned: workshops, seminars, podcasts, articles, and participation in key industry events — Money20/20 was named as an example of the class of event we should consider. The plan should decide which of these are relevant to us rather than assume all of them.
For each channel the plan answers: do we commit, how often, who fronts it, which accounts or markets it targets, and how we measure return — inbound enquiries, meetings created, inclusion on shortlists and RFP invitations.
Worth linking eminence to the account list: eminence activity should point at the accounts and markets the strategy has prioritised, not at general brand awareness.
Internal eminence matters as much as external here. The FS partners and directors sitting in other portfolios are in front of our target clients constantly, and they can only pull us in if they know what we sell. That means scheduled briefings on the catalogue, enablement on the proposition one-pagers, deal clinics where they bring a live situation and we shape the play, and our wins circulated internally rather than only externally. It is the mechanism behind the integrated-market-team principle — the principle sets the expectation, the internal eminence plan is how it is actually resourced and scheduled.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steps are the process view; the workstream and calendar views that follow are the same journey cut by owner and by week.
Note on Quantify: pricing will not reduce to a single number per offering. Core modernisation and migration varies by sector and by segment — retail, corporate or SME in banking; life versus general in insurance; fund accounting versus front-office in funds — and by single-country versus multi-country, and by whether full data migration is in scope. So the artefact is price bands and deal-size ranges with the drivers named, not a price list. Same logic for AI and data platform work, and for cloud and integration engagements.
Baseline also covers people: who we have today, dedicated and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is two levels on purpose. Level 1 is the pillar — one owner, one accountable partner. Level 2 is the topic inside it, and each topic ends in exactly one artefact in the appendix.
What each pillar carries:
- Market and clients: markets and sectors (primary expected to be Saudi, UAE and Qatar; secondary Kuwait, Oman and Jordan, all to be validated), the named account list, and the coverage map. Two mappings live here — our own partners who own the relationship, and the alliance partner behind the account.
- Offerings: the catalogue itself, and nothing else — integrated propositions, the use cases we lead with, and the permitted archetypes or partial offerings. It stands alone because it is the What: everything else in the strategy either sells it, delivers it or prices it.
- Delivery and economics: the delivery model and the construct behind each offering price bands with the drivers that move them, blended ADR and target margin, and the revenue targets that fall out. Delivery model and pricing sit in one pillar because they determine each other: the construct sets the cost, the cost sets the achievable price and margin.
  Capability sits in the same pillar: the dedicated FSI team, the shared capacity we can genuinely draw on, and the recruitment gap by level. It belongs here because the construct and the margin only hold if the people behind them exist — a target we cannot staff is not a target.
- Route to market: alliances (Oracle, Google, Amazon as primary; Temenos and Intellect as specialised) and the eminence plan.
- Operating discipline: the rhythm, scorecard and decision rights that keep the rest alive after sign-off.
Dependencies to watch: revenue targets cannot be set without the capacity view, and the alliance map must reconcile with the coverage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team as agreed: Dany leads overall; Tanay leads Industry Solutions; Rachel leads AI and Data; Clifford leads Engineering.
Note the shape difference: the three leads represent the three practices, while the workstreams are cut by pillar, which is deliberate — the strategy is one portfolio strategy, not three practice strategies stapled together. Each pillar therefore needs a named owner drawn from this group, with the other two contributing their practice view into it.
A workable split to propose at kick-off: Dany takes the ambition and the operating discipline; the offerings catalogue is owned jointly but chaired by one lead, since integrated propositions cut across all three practices; market and clients sits with whoever carries the strongest regional relationships; delivery and economics sits with the lead whose practice has the largest delivery footprint. Confirm rather than assume.
Everything else — account partners, alliance leads, resourcing, finance — is pulled in per workstream and not standing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is the timebox given: the strategy should be finalised in no more than about three weeks. The constraint is deliberate — it forces decisions rather than analysis.
Each week ends at a gate, and a gate is a decision taken, not a document circulated. If a gate cannot be closed, we escalate at the checkpoint rather than let the week slip.
Start date to be set at kick-off.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two asks: confirm the principles, and nominate the workstream owners.
Inputs are the long pole — pipeline, revenue by pillar and market, existing relationships, alliance status, delivery capacity and historical deal values all sit with different people. Chase them in the first 48 hours or week 1 slips.
Decisions requested at sign-off: priority markets and sectors, the target account list, revenue and margin targets, account ownership, and the investment and hiring asks coming out of the talent and eminence workstreams.
Open items to resolve at kick-off: audience for this pack, the definition of partner for account ownership, and the start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because a strategy that is signed off and then unmanaged reverts to whatever the pipeline happens to offer. This is the management-system layer: the rhythm, the measures and the decision rights that keep the choices alive.
Three loops, deliberately different in purpose: weekly is deal-level and run by the account owners; monthly is coverage and progress against target, including talent and alliance commitments; quarterly re-tests the choices themselves — markets, accounts, propositions — rather than just the numbers.
The scorecard is designed so that the strategy's own principles are measurable. The mix KPI is the important one: if the share of revenue from integrated propositions does not move, we are back to selling in silos whatever the catalogue says.
Still to set at sign-off: who chairs each forum, what decisions each can take without escalation, and where the strategy log lives so it stays current rather than being rebuilt each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is the strategy log: the templates we fill in as the cycle runs. Each one maps to a workstream artefact, so at sign-off the completed appendix is the strategy itself, not a separate write-up.
Keep them as living tables — one file, versioned, updated at each weekly checkpoint rather than rebuilt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strategy, in the form it will be presented and carried: one sheet.
It mirrors the architecture slide earlier in the pack, but where that one names the questions, this one holds the answers: the ambition in numbers, the three pillars filled in, and the operating discipline underneath.
Rule of thumb: if something cannot be said on this sheet, it belongs in one of the artefacts behind it, not in the strategy. The sheet is what leadership signs and what the quarterly review is held against; the artefacts are the working record.
Keep it dated and versioned. When the quarterly review changes a choice, this sheet is reissued rather than annotated.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sheet for each proposition, pulling every dimension we have discussed onto one page: what it is and the use cases, the buyer, the permitted archetypes, where and to whom we sell it, the price band, the delivery construct with ADR and margin, the AI and innovation content, the alliance behind it, and the credentials and roles needed to sell and deliver it.
It doubles as the readiness test. The principles bite here: if the AI and innovation box is empty, the proposition breaches the embedded-AI principle. If the delivery construct and margin box is empty, it is priced without knowing whether it makes money. If the credentials box is empty, we cannot yet sell it in this domain. An unfillable box is a gap, not a formatting problem.
Keep one sheet per proposition rather than a long catalogue document — it is what a partner takes into an account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one row per market under consideration, including the ones we decide against — the rejected rows are as useful as the accepted ones when this is revisited.
Context: Saudi Arabia, UAE and Qatar are the expected primary markets; Kuwait, Oman and Jordan the secondary set where our key relationships sit. Both to be confirmed against evidence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artefact of the whole exercise — the named account list with account mapping.
One account, one plan. The firm runs a single account plan per client and it is not ours to duplicate: this table is the EAI&amp;D view that attaches to it. What is genuinely ours to decide is which offerings we prioritise in each account, what we target from them, and who from our side carries it — all of which lands inside the existing plan rather than beside it.
Rules: one owner per account, never two. The propositions column names what we lead with, not everything we could sell. The alliance column links to the alliance map, so we can see which accounts a partner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turns a target account list into a plan: for each account, which offerings we are going there with, and how much revenue each is expected to carry.
Both numbers are recorded. Gross is the full contract value we bill, including pass-through, third-party software and partner or subcontract content. Net is the revenue delivered by our own people — what the capacity plan and the margin calculation actually run on. Fix the exact definition at kick-off; different parts of the firm use these words differently, and mixing them makes the roll-up meaningless.
Timeframe matters because a core platform programme books over years while an AI activation books in a quarter; without it, an account total is unreadable.
Confidence keeps the plan honest: relationship-only ambition and a qualified pursuit should not be added together as if they were the same thing.
Three reconciliations to hold: account lines roll up to the market total, market totals roll up to the portfolio ambition, and net revenue reconciles to the capacity we have or plan to hire.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mappings live side by side here: the EAI&amp;D partner accountable for our content in the account, and the alliance or vendor partner we go to market with there. Neither displaces the account leader named in the firm's account plan — where one exists, our owner works inside that account team, and the strategy should say so explicitly to avoid a second chain of accountability forming.
Cadence keeps this honest — an owner with no contact rhythm is a name on 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bites hardest here: the catalogue is integrated propositions across Industry Solutions, Data and AI, and Engineering and Cloud. Focused offers such as enterprise AI are recorded as permitted variants of an integrated proposition and sold as entry points.
Buyer means the actual role that signs, and it differs by sector: COO, CIO or head of retail banking in a bank; COO or head of investment operations in a fund; chief underwriting or claims officer in an insurer.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will not reduce to one number per offering. For core modernisation and migration the drivers include sector and segment (retail, corporate or SME in banking; life or general in insurance; fund accounting or front-office in funds), single-country versus multi-country, and whether full data migration is in scope. Record the drivers alongside the band so the number can be reconstructed.
Same discipline for data platform work, AI activation, and cloud and integration engagements.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between what the market pays and what we keep. One row per offering, because the construct differs sharply between a core platform programme, a data platform build and an AI activation — and again between sectors.
Price basis: fixed price, time and materials, outcome-based or a managed service — it changes how margin is earned and where the risk sits.
Keep the onshore split honest. Regulatory and data-residency requirements in Saudi and the UAE, and client contractual terms, often set the floor for onshore presence before commercial preference does.
Record both the target gross margin and the floor, and note the approval route for anything below it. A margin floor that nobody enforces is not a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integrated column is deliberate: if most revenue sits in single-pillar columns, the strategy has not been followed.
Reconcile every target against the talent template before sign-off. A number we cannot staff is not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per row: who is ours exclusively, what we can draw on from the wider portfolio, and what is missing once both are counted.
The gap is expressed by level — partners, directors, managers, specialists — because that is how recruitment is approved. Each gap then gets a route (build from within, borrow from another portfolio, or hire) and a date tied to the targets it supports.
Skills and enablement is the part most easily left implicit, so it is called out here. Four distinct needs, and they are not the same thing:
- Capability mapping: which skills the catalogue actually requires, offering by offering. Start from the propositions, not from the org chart.
- Offering enablement: the portfolio trained on the catalogue itself, using the proposition one-pagers. This is what makes the integrated market team principle real — a partner who cannot describe the catalogue cannot recognise the signal or position the first level.
- Domain training and industry certification: financial services specific, and specific by sector. Banking, funds and insurance each have their own qualifications, regulatory context and language, and this is what backs the domain-specific principle. Where we are thin in funds and insurance, training is one of the routes in, alongside hiring.
- Alliance and platform certification: the hyperscalers and product vendors require accredited people, and certification levels often gate partner status, funding and co-sell eligibility. It is a cost with a commercial return attached, so it belongs in the plan rather than in someone's development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between the catalogue and the people. Work from the propositions backwards: each one names the capabilities it needs, and this is where they are counted and closed.
Four kinds of row, and they should not be blurred together:
- Offering enablement — the portfolio trained on the catalogue itself, so any partner or director can recognise the signal and position the first level before pulling in a specialist.
- Domain capability — financial services knowledge by sector. Banking, funds and insurance carry different qualifications, regulators and vocabulary, and this is what makes the domain-specific claim true rather than asserted.
- Technical and platform capability — the skills the delivery construct assumes, including the assets and accelerators.
- Certification — alliance and vendor accreditations. These gate partner tier, funding and co-sell eligibility, so they carry a commercial return, not just a development benefit.
Who needs it should say how many and at what level, not simply the practice name. A capability held by one person is a dependency, not a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alliances we already hold: Oracle, Google and Amazon as primary; Temenos and Intellect as specialised platform alliances, both weighted to banking. The cycle should decide what we do about funds and insurance platforms, where we currently hold no specialised alliance.
The last column matters as much as the rest — certifications, accredited staff and pipeline commitments are a cost that lands in the talent plan and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Channels in scope: published views and articles, conference stages and flagship FSI events, executive workshops, seminars and roundtables, podcasts and webinars, and joint activity with alliance partners.
Measurement should be concrete: inbound enquiries, meetings created, shortlist and RFP invitations — not impressions.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behind the operating rhythm. Keep it short — six to eight measures — so the review stays a decision meeting rather than a reporting one.
The measure to fight for is the mix: share of revenue coming from integrated propositions. It is the only number that tells us whether the integrated-not-siloed principle survived contact with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503920" y="-1645920"/>
            <a:ext cx="6035040" cy="6035040"/>
          </a:xfrm>
          <a:prstGeom prst="ellipse">
            <a:avLst/>
          </a:prstGeom>
          <a:solidFill>
            <a:srgbClr val="3E5C8A">
              <a:alpha val="55000"/>
            </a:srgbClr>
          </a:solidFill>
          <a:ln/>
        </p:spPr>
      </p:sp>
      <p:sp>
        <p:nvSpPr>
          <p:cNvPr id="3" name="Shape 1"/>
          <p:cNvSpPr/>
          <p:nvPr/>
        </p:nvSpPr>
        <p:spPr>
          <a:xfrm>
            <a:off x="10058400" y="3566160"/>
            <a:ext cx="3291840" cy="3291840"/>
          </a:xfrm>
          <a:prstGeom prst="ellipse">
            <a:avLst/>
          </a:prstGeom>
          <a:solidFill>
            <a:srgbClr val="CADCFC">
              <a:alpha val="20000"/>
            </a:srgbClr>
          </a:solidFill>
          <a:ln/>
        </p:spPr>
      </p:sp>
      <p:sp>
        <p:nvSpPr>
          <p:cNvPr id="4" name="Text 2"/>
          <p:cNvSpPr txBox="1"/>
          <p:nvPr/>
        </p:nvSpPr>
        <p:spPr>
          <a:xfrm>
            <a:off x="822960" y="1737360"/>
            <a:ext cx="8229600" cy="411480"/>
          </a:xfrm>
          <a:prstGeom prst="rect">
            <a:avLst/>
          </a:prstGeom>
          <a:noFill/>
          <a:ln/>
        </p:spPr>
        <p:txBody>
          <a:bodyPr wrap="square" lIns="0" tIns="0" rIns="0" bIns="0" rtlCol="0" anchor="ctr"/>
          <a:lstStyle/>
          <a:p>
            <a:pPr indent="0" marL="0">
              <a:buNone/>
            </a:pPr>
            <a:r>
              <a:rPr lang="en-US" sz="1600" spc="200" kern="0" dirty="0">
                <a:solidFill>
                  <a:srgbClr val="CADCFC"/>
                </a:solidFill>
                <a:latin typeface="Calibri" pitchFamily="34" charset="0"/>
                <a:ea typeface="Calibri" pitchFamily="34" charset="-122"/>
                <a:cs typeface="Calibri" pitchFamily="34" charset="-120"/>
              </a:rPr>
              <a:t>EAI&amp;D  ·  Engineering, AI and Data</a:t>
            </a:r>
            <a:endParaRPr lang="en-US" sz="1600" dirty="0"/>
          </a:p>
        </p:txBody>
      </p:sp>
      <p:sp>
        <p:nvSpPr>
          <p:cNvPr id="5" name="Text 3"/>
          <p:cNvSpPr txBox="1"/>
          <p:nvPr/>
        </p:nvSpPr>
        <p:spPr>
          <a:xfrm>
            <a:off x="804672" y="2240280"/>
            <a:ext cx="8229600" cy="1828800"/>
          </a:xfrm>
          <a:prstGeom prst="rect">
            <a:avLst/>
          </a:prstGeom>
          <a:noFill/>
          <a:ln/>
        </p:spPr>
        <p:txBody>
          <a:bodyPr wrap="square" lIns="0" tIns="0" rIns="0" bIns="0" rtlCol="0" anchor="ctr"/>
          <a:lstStyle/>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FSI Strategy</a:t>
            </a:r>
            <a:endParaRPr lang="en-US" sz="4800" dirty="0"/>
          </a:p>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Development Plan</a:t>
            </a:r>
            <a:endParaRPr lang="en-US" sz="4800" dirty="0"/>
          </a:p>
        </p:txBody>
      </p:sp>
      <p:sp>
        <p:nvSpPr>
          <p:cNvPr id="6" name="Text 4"/>
          <p:cNvSpPr txBox="1"/>
          <p:nvPr/>
        </p:nvSpPr>
        <p:spPr>
          <a:xfrm>
            <a:off x="850392" y="4160520"/>
            <a:ext cx="786384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The journey to a defined go-to-market and activation strategy for financial services</a:t>
            </a:r>
            <a:endParaRPr lang="en-US" sz="1500" dirty="0"/>
          </a:p>
        </p:txBody>
      </p:sp>
      <p:sp>
        <p:nvSpPr>
          <p:cNvPr id="7" name="Text 5"/>
          <p:cNvSpPr txBox="1"/>
          <p:nvPr/>
        </p:nvSpPr>
        <p:spPr>
          <a:xfrm>
            <a:off x="850392" y="5806440"/>
            <a:ext cx="7315200" cy="365760"/>
          </a:xfrm>
          <a:prstGeom prst="rect">
            <a:avLst/>
          </a:prstGeom>
          <a:noFill/>
          <a:ln/>
        </p:spPr>
        <p:txBody>
          <a:bodyPr wrap="square" lIns="0" tIns="0" rIns="0" bIns="0" rtlCol="0" anchor="ctr"/>
          <a:lstStyle/>
          <a:p>
            <a:pPr indent="0" marL="0">
              <a:buNone/>
            </a:pPr>
            <a:r>
              <a:rPr lang="en-US" sz="1200" dirty="0">
                <a:solidFill>
                  <a:srgbClr val="9AA7C4"/>
                </a:solidFill>
                <a:latin typeface="Calibri" pitchFamily="34" charset="0"/>
                <a:ea typeface="Calibri" pitchFamily="34" charset="-122"/>
                <a:cs typeface="Calibri" pitchFamily="34" charset="-120"/>
              </a:rPr>
              <a:t>Framework only — content to be developed over a three-week cycle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How this pack runs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Five parts, in the order the strategy actually gets built.</a:t>
            </a:r>
            <a:endParaRPr lang="en-US" sz="1450" dirty="0"/>
          </a:p>
        </p:txBody>
      </p:sp>
      <p:sp>
        <p:nvSpPr>
          <p:cNvPr id="4" name="Shape 2"/>
          <p:cNvSpPr/>
          <p:nvPr/>
        </p:nvSpPr>
        <p:spPr>
          <a:xfrm>
            <a:off x="640080" y="1783080"/>
            <a:ext cx="10881360" cy="777240"/>
          </a:xfrm>
          <a:prstGeom prst="roundRect">
            <a:avLst>
              <a:gd name="adj" fmla="val 11765"/>
            </a:avLst>
          </a:prstGeom>
          <a:solidFill>
            <a:srgbClr val="F2F6FC"/>
          </a:solidFill>
          <a:ln/>
        </p:spPr>
      </p:sp>
      <p:sp>
        <p:nvSpPr>
          <p:cNvPr id="5" name="Shape 3"/>
          <p:cNvSpPr/>
          <p:nvPr/>
        </p:nvSpPr>
        <p:spPr>
          <a:xfrm>
            <a:off x="640080" y="1783080"/>
            <a:ext cx="1737360" cy="777240"/>
          </a:xfrm>
          <a:prstGeom prst="rect">
            <a:avLst/>
          </a:prstGeom>
          <a:solidFill>
            <a:srgbClr val="1E2761"/>
          </a:solidFill>
          <a:ln/>
        </p:spPr>
      </p:sp>
      <p:sp>
        <p:nvSpPr>
          <p:cNvPr id="6" name="Text 4"/>
          <p:cNvSpPr txBox="1"/>
          <p:nvPr/>
        </p:nvSpPr>
        <p:spPr>
          <a:xfrm>
            <a:off x="640080" y="1783080"/>
            <a:ext cx="1737360" cy="77724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PART ONE</a:t>
            </a:r>
            <a:endParaRPr lang="en-US" sz="1150" dirty="0"/>
          </a:p>
        </p:txBody>
      </p:sp>
      <p:sp>
        <p:nvSpPr>
          <p:cNvPr id="7" name="Text 5"/>
          <p:cNvSpPr txBox="1"/>
          <p:nvPr/>
        </p:nvSpPr>
        <p:spPr>
          <a:xfrm>
            <a:off x="2606040" y="1874520"/>
            <a:ext cx="3840480" cy="32004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The frame</a:t>
            </a:r>
            <a:endParaRPr lang="en-US" sz="1550" dirty="0"/>
          </a:p>
        </p:txBody>
      </p:sp>
      <p:sp>
        <p:nvSpPr>
          <p:cNvPr id="8" name="Text 6"/>
          <p:cNvSpPr txBox="1"/>
          <p:nvPr/>
        </p:nvSpPr>
        <p:spPr>
          <a:xfrm>
            <a:off x="2606040" y="2194560"/>
            <a:ext cx="7680960" cy="292608"/>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What this document is · how this fits · the words we use · the industry we mean</a:t>
            </a:r>
            <a:endParaRPr lang="en-US" sz="1100" dirty="0"/>
          </a:p>
        </p:txBody>
      </p:sp>
      <p:sp>
        <p:nvSpPr>
          <p:cNvPr id="9" name="Text 7"/>
          <p:cNvSpPr txBox="1"/>
          <p:nvPr/>
        </p:nvSpPr>
        <p:spPr>
          <a:xfrm>
            <a:off x="10149840" y="1783080"/>
            <a:ext cx="1188720" cy="777240"/>
          </a:xfrm>
          <a:prstGeom prst="rect">
            <a:avLst/>
          </a:prstGeom>
          <a:noFill/>
          <a:ln/>
        </p:spPr>
        <p:txBody>
          <a:bodyPr wrap="square" lIns="0" tIns="0" rIns="0" bIns="0" rtlCol="0" anchor="ctr"/>
          <a:lstStyle/>
          <a:p>
            <a:pPr algn="r" indent="0" marL="0">
              <a:buNone/>
            </a:pPr>
            <a:r>
              <a:rPr lang="en-US" sz="1100" dirty="0">
                <a:solidFill>
                  <a:srgbClr val="8792AB"/>
                </a:solidFill>
                <a:latin typeface="Calibri" pitchFamily="34" charset="0"/>
                <a:ea typeface="Calibri" pitchFamily="34" charset="-122"/>
                <a:cs typeface="Calibri" pitchFamily="34" charset="-120"/>
              </a:rPr>
              <a:t>4 slides</a:t>
            </a:r>
            <a:endParaRPr lang="en-US" sz="1100" dirty="0"/>
          </a:p>
        </p:txBody>
      </p:sp>
      <p:sp>
        <p:nvSpPr>
          <p:cNvPr id="10" name="Shape 8"/>
          <p:cNvSpPr/>
          <p:nvPr/>
        </p:nvSpPr>
        <p:spPr>
          <a:xfrm>
            <a:off x="640080" y="2679192"/>
            <a:ext cx="10881360" cy="777240"/>
          </a:xfrm>
          <a:prstGeom prst="roundRect">
            <a:avLst>
              <a:gd name="adj" fmla="val 11765"/>
            </a:avLst>
          </a:prstGeom>
          <a:solidFill>
            <a:srgbClr val="EDF2FA"/>
          </a:solidFill>
          <a:ln/>
        </p:spPr>
      </p:sp>
      <p:sp>
        <p:nvSpPr>
          <p:cNvPr id="11" name="Shape 9"/>
          <p:cNvSpPr/>
          <p:nvPr/>
        </p:nvSpPr>
        <p:spPr>
          <a:xfrm>
            <a:off x="640080" y="2679192"/>
            <a:ext cx="1737360" cy="777240"/>
          </a:xfrm>
          <a:prstGeom prst="rect">
            <a:avLst/>
          </a:prstGeom>
          <a:solidFill>
            <a:srgbClr val="3E5C8A"/>
          </a:solidFill>
          <a:ln/>
        </p:spPr>
      </p:sp>
      <p:sp>
        <p:nvSpPr>
          <p:cNvPr id="12" name="Text 10"/>
          <p:cNvSpPr txBox="1"/>
          <p:nvPr/>
        </p:nvSpPr>
        <p:spPr>
          <a:xfrm>
            <a:off x="640080" y="2679192"/>
            <a:ext cx="1737360" cy="77724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PART TWO</a:t>
            </a:r>
            <a:endParaRPr lang="en-US" sz="1150" dirty="0"/>
          </a:p>
        </p:txBody>
      </p:sp>
      <p:sp>
        <p:nvSpPr>
          <p:cNvPr id="13" name="Text 11"/>
          <p:cNvSpPr txBox="1"/>
          <p:nvPr/>
        </p:nvSpPr>
        <p:spPr>
          <a:xfrm>
            <a:off x="2606040" y="2770632"/>
            <a:ext cx="3840480" cy="32004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The destination</a:t>
            </a:r>
            <a:endParaRPr lang="en-US" sz="1550" dirty="0"/>
          </a:p>
        </p:txBody>
      </p:sp>
      <p:sp>
        <p:nvSpPr>
          <p:cNvPr id="14" name="Text 12"/>
          <p:cNvSpPr txBox="1"/>
          <p:nvPr/>
        </p:nvSpPr>
        <p:spPr>
          <a:xfrm>
            <a:off x="2606040" y="3090672"/>
            <a:ext cx="7680960" cy="292608"/>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Vision drivers · candidate statements · principles</a:t>
            </a:r>
            <a:endParaRPr lang="en-US" sz="1100" dirty="0"/>
          </a:p>
        </p:txBody>
      </p:sp>
      <p:sp>
        <p:nvSpPr>
          <p:cNvPr id="15" name="Text 13"/>
          <p:cNvSpPr txBox="1"/>
          <p:nvPr/>
        </p:nvSpPr>
        <p:spPr>
          <a:xfrm>
            <a:off x="10149840" y="2679192"/>
            <a:ext cx="1188720" cy="777240"/>
          </a:xfrm>
          <a:prstGeom prst="rect">
            <a:avLst/>
          </a:prstGeom>
          <a:noFill/>
          <a:ln/>
        </p:spPr>
        <p:txBody>
          <a:bodyPr wrap="square" lIns="0" tIns="0" rIns="0" bIns="0" rtlCol="0" anchor="ctr"/>
          <a:lstStyle/>
          <a:p>
            <a:pPr algn="r" indent="0" marL="0">
              <a:buNone/>
            </a:pPr>
            <a:r>
              <a:rPr lang="en-US" sz="1100" dirty="0">
                <a:solidFill>
                  <a:srgbClr val="8792AB"/>
                </a:solidFill>
                <a:latin typeface="Calibri" pitchFamily="34" charset="0"/>
                <a:ea typeface="Calibri" pitchFamily="34" charset="-122"/>
                <a:cs typeface="Calibri" pitchFamily="34" charset="-120"/>
              </a:rPr>
              <a:t>3 slides</a:t>
            </a:r>
            <a:endParaRPr lang="en-US" sz="1100" dirty="0"/>
          </a:p>
        </p:txBody>
      </p:sp>
      <p:sp>
        <p:nvSpPr>
          <p:cNvPr id="16" name="Shape 14"/>
          <p:cNvSpPr/>
          <p:nvPr/>
        </p:nvSpPr>
        <p:spPr>
          <a:xfrm>
            <a:off x="640080" y="3575304"/>
            <a:ext cx="10881360" cy="777240"/>
          </a:xfrm>
          <a:prstGeom prst="roundRect">
            <a:avLst>
              <a:gd name="adj" fmla="val 11765"/>
            </a:avLst>
          </a:prstGeom>
          <a:solidFill>
            <a:srgbClr val="F2F6FC"/>
          </a:solidFill>
          <a:ln/>
        </p:spPr>
      </p:sp>
      <p:sp>
        <p:nvSpPr>
          <p:cNvPr id="17" name="Shape 15"/>
          <p:cNvSpPr/>
          <p:nvPr/>
        </p:nvSpPr>
        <p:spPr>
          <a:xfrm>
            <a:off x="640080" y="3575304"/>
            <a:ext cx="1737360" cy="777240"/>
          </a:xfrm>
          <a:prstGeom prst="rect">
            <a:avLst/>
          </a:prstGeom>
          <a:solidFill>
            <a:srgbClr val="1E2761"/>
          </a:solidFill>
          <a:ln/>
        </p:spPr>
      </p:sp>
      <p:sp>
        <p:nvSpPr>
          <p:cNvPr id="18" name="Text 16"/>
          <p:cNvSpPr txBox="1"/>
          <p:nvPr/>
        </p:nvSpPr>
        <p:spPr>
          <a:xfrm>
            <a:off x="640080" y="3575304"/>
            <a:ext cx="1737360" cy="77724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PART THREE</a:t>
            </a:r>
            <a:endParaRPr lang="en-US" sz="1150" dirty="0"/>
          </a:p>
        </p:txBody>
      </p:sp>
      <p:sp>
        <p:nvSpPr>
          <p:cNvPr id="19" name="Text 17"/>
          <p:cNvSpPr txBox="1"/>
          <p:nvPr/>
        </p:nvSpPr>
        <p:spPr>
          <a:xfrm>
            <a:off x="2606040" y="3666744"/>
            <a:ext cx="3840480" cy="32004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What the strategy must cover</a:t>
            </a:r>
            <a:endParaRPr lang="en-US" sz="1550" dirty="0"/>
          </a:p>
        </p:txBody>
      </p:sp>
      <p:sp>
        <p:nvSpPr>
          <p:cNvPr id="20" name="Text 18"/>
          <p:cNvSpPr txBox="1"/>
          <p:nvPr/>
        </p:nvSpPr>
        <p:spPr>
          <a:xfrm>
            <a:off x="2606040" y="3986784"/>
            <a:ext cx="7680960" cy="292608"/>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The architecture · markets and tiers · the catalogue · delivery, economics and people · alliances and eminence</a:t>
            </a:r>
            <a:endParaRPr lang="en-US" sz="1100" dirty="0"/>
          </a:p>
        </p:txBody>
      </p:sp>
      <p:sp>
        <p:nvSpPr>
          <p:cNvPr id="21" name="Text 19"/>
          <p:cNvSpPr txBox="1"/>
          <p:nvPr/>
        </p:nvSpPr>
        <p:spPr>
          <a:xfrm>
            <a:off x="10149840" y="3575304"/>
            <a:ext cx="1188720" cy="777240"/>
          </a:xfrm>
          <a:prstGeom prst="rect">
            <a:avLst/>
          </a:prstGeom>
          <a:noFill/>
          <a:ln/>
        </p:spPr>
        <p:txBody>
          <a:bodyPr wrap="square" lIns="0" tIns="0" rIns="0" bIns="0" rtlCol="0" anchor="ctr"/>
          <a:lstStyle/>
          <a:p>
            <a:pPr algn="r" indent="0" marL="0">
              <a:buNone/>
            </a:pPr>
            <a:r>
              <a:rPr lang="en-US" sz="1100" dirty="0">
                <a:solidFill>
                  <a:srgbClr val="8792AB"/>
                </a:solidFill>
                <a:latin typeface="Calibri" pitchFamily="34" charset="0"/>
                <a:ea typeface="Calibri" pitchFamily="34" charset="-122"/>
                <a:cs typeface="Calibri" pitchFamily="34" charset="-120"/>
              </a:rPr>
              <a:t>7 slides</a:t>
            </a:r>
            <a:endParaRPr lang="en-US" sz="1100" dirty="0"/>
          </a:p>
        </p:txBody>
      </p:sp>
      <p:sp>
        <p:nvSpPr>
          <p:cNvPr id="22" name="Shape 20"/>
          <p:cNvSpPr/>
          <p:nvPr/>
        </p:nvSpPr>
        <p:spPr>
          <a:xfrm>
            <a:off x="640080" y="4471416"/>
            <a:ext cx="10881360" cy="777240"/>
          </a:xfrm>
          <a:prstGeom prst="roundRect">
            <a:avLst>
              <a:gd name="adj" fmla="val 11765"/>
            </a:avLst>
          </a:prstGeom>
          <a:solidFill>
            <a:srgbClr val="EDF2FA"/>
          </a:solidFill>
          <a:ln/>
        </p:spPr>
      </p:sp>
      <p:sp>
        <p:nvSpPr>
          <p:cNvPr id="23" name="Shape 21"/>
          <p:cNvSpPr/>
          <p:nvPr/>
        </p:nvSpPr>
        <p:spPr>
          <a:xfrm>
            <a:off x="640080" y="4471416"/>
            <a:ext cx="1737360" cy="777240"/>
          </a:xfrm>
          <a:prstGeom prst="rect">
            <a:avLst/>
          </a:prstGeom>
          <a:solidFill>
            <a:srgbClr val="3E5C8A"/>
          </a:solidFill>
          <a:ln/>
        </p:spPr>
      </p:sp>
      <p:sp>
        <p:nvSpPr>
          <p:cNvPr id="24" name="Text 22"/>
          <p:cNvSpPr txBox="1"/>
          <p:nvPr/>
        </p:nvSpPr>
        <p:spPr>
          <a:xfrm>
            <a:off x="640080" y="4471416"/>
            <a:ext cx="1737360" cy="77724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PART FOUR</a:t>
            </a:r>
            <a:endParaRPr lang="en-US" sz="1150" dirty="0"/>
          </a:p>
        </p:txBody>
      </p:sp>
      <p:sp>
        <p:nvSpPr>
          <p:cNvPr id="25" name="Text 23"/>
          <p:cNvSpPr txBox="1"/>
          <p:nvPr/>
        </p:nvSpPr>
        <p:spPr>
          <a:xfrm>
            <a:off x="2606040" y="4562856"/>
            <a:ext cx="3840480" cy="32004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How we build it</a:t>
            </a:r>
            <a:endParaRPr lang="en-US" sz="1550" dirty="0"/>
          </a:p>
        </p:txBody>
      </p:sp>
      <p:sp>
        <p:nvSpPr>
          <p:cNvPr id="26" name="Text 24"/>
          <p:cNvSpPr txBox="1"/>
          <p:nvPr/>
        </p:nvSpPr>
        <p:spPr>
          <a:xfrm>
            <a:off x="2606040" y="4882896"/>
            <a:ext cx="7680960" cy="292608"/>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The approach · workstreams and owners · the three-week journey · how we run the cycle</a:t>
            </a:r>
            <a:endParaRPr lang="en-US" sz="1100" dirty="0"/>
          </a:p>
        </p:txBody>
      </p:sp>
      <p:sp>
        <p:nvSpPr>
          <p:cNvPr id="27" name="Text 25"/>
          <p:cNvSpPr txBox="1"/>
          <p:nvPr/>
        </p:nvSpPr>
        <p:spPr>
          <a:xfrm>
            <a:off x="10149840" y="4471416"/>
            <a:ext cx="1188720" cy="777240"/>
          </a:xfrm>
          <a:prstGeom prst="rect">
            <a:avLst/>
          </a:prstGeom>
          <a:noFill/>
          <a:ln/>
        </p:spPr>
        <p:txBody>
          <a:bodyPr wrap="square" lIns="0" tIns="0" rIns="0" bIns="0" rtlCol="0" anchor="ctr"/>
          <a:lstStyle/>
          <a:p>
            <a:pPr algn="r" indent="0" marL="0">
              <a:buNone/>
            </a:pPr>
            <a:r>
              <a:rPr lang="en-US" sz="1100" dirty="0">
                <a:solidFill>
                  <a:srgbClr val="8792AB"/>
                </a:solidFill>
                <a:latin typeface="Calibri" pitchFamily="34" charset="0"/>
                <a:ea typeface="Calibri" pitchFamily="34" charset="-122"/>
                <a:cs typeface="Calibri" pitchFamily="34" charset="-120"/>
              </a:rPr>
              <a:t>5 slides</a:t>
            </a:r>
            <a:endParaRPr lang="en-US" sz="1100" dirty="0"/>
          </a:p>
        </p:txBody>
      </p:sp>
      <p:sp>
        <p:nvSpPr>
          <p:cNvPr id="28" name="Shape 26"/>
          <p:cNvSpPr/>
          <p:nvPr/>
        </p:nvSpPr>
        <p:spPr>
          <a:xfrm>
            <a:off x="640080" y="5367528"/>
            <a:ext cx="10881360" cy="777240"/>
          </a:xfrm>
          <a:prstGeom prst="roundRect">
            <a:avLst>
              <a:gd name="adj" fmla="val 11765"/>
            </a:avLst>
          </a:prstGeom>
          <a:solidFill>
            <a:srgbClr val="F2F6FC"/>
          </a:solidFill>
          <a:ln/>
        </p:spPr>
      </p:sp>
      <p:sp>
        <p:nvSpPr>
          <p:cNvPr id="29" name="Shape 27"/>
          <p:cNvSpPr/>
          <p:nvPr/>
        </p:nvSpPr>
        <p:spPr>
          <a:xfrm>
            <a:off x="640080" y="5367528"/>
            <a:ext cx="1737360" cy="777240"/>
          </a:xfrm>
          <a:prstGeom prst="rect">
            <a:avLst/>
          </a:prstGeom>
          <a:solidFill>
            <a:srgbClr val="1E2761"/>
          </a:solidFill>
          <a:ln/>
        </p:spPr>
      </p:sp>
      <p:sp>
        <p:nvSpPr>
          <p:cNvPr id="30" name="Text 28"/>
          <p:cNvSpPr txBox="1"/>
          <p:nvPr/>
        </p:nvSpPr>
        <p:spPr>
          <a:xfrm>
            <a:off x="640080" y="5367528"/>
            <a:ext cx="1737360" cy="777240"/>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PART FIVE</a:t>
            </a:r>
            <a:endParaRPr lang="en-US" sz="1150" dirty="0"/>
          </a:p>
        </p:txBody>
      </p:sp>
      <p:sp>
        <p:nvSpPr>
          <p:cNvPr id="31" name="Text 29"/>
          <p:cNvSpPr txBox="1"/>
          <p:nvPr/>
        </p:nvSpPr>
        <p:spPr>
          <a:xfrm>
            <a:off x="2606040" y="5458968"/>
            <a:ext cx="3840480" cy="32004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After sign-off</a:t>
            </a:r>
            <a:endParaRPr lang="en-US" sz="1550" dirty="0"/>
          </a:p>
        </p:txBody>
      </p:sp>
      <p:sp>
        <p:nvSpPr>
          <p:cNvPr id="32" name="Text 30"/>
          <p:cNvSpPr txBox="1"/>
          <p:nvPr/>
        </p:nvSpPr>
        <p:spPr>
          <a:xfrm>
            <a:off x="2606040" y="5779008"/>
            <a:ext cx="7680960" cy="292608"/>
          </a:xfrm>
          <a:prstGeom prst="rect">
            <a:avLst/>
          </a:prstGeom>
          <a:noFill/>
          <a:ln/>
        </p:spPr>
        <p:txBody>
          <a:bodyPr wrap="square" lIns="0" tIns="0" rIns="0" bIns="0" rtlCol="0" anchor="ctr"/>
          <a:lstStyle/>
          <a:p>
            <a:pPr indent="0" marL="0">
              <a:buNone/>
            </a:pPr>
            <a:r>
              <a:rPr lang="en-US" sz="1100" dirty="0">
                <a:solidFill>
                  <a:srgbClr val="8792AB"/>
                </a:solidFill>
                <a:latin typeface="Calibri" pitchFamily="34" charset="0"/>
                <a:ea typeface="Calibri" pitchFamily="34" charset="-122"/>
                <a:cs typeface="Calibri" pitchFamily="34" charset="-120"/>
              </a:rPr>
              <a:t>Governing the execution</a:t>
            </a:r>
            <a:endParaRPr lang="en-US" sz="1100" dirty="0"/>
          </a:p>
        </p:txBody>
      </p:sp>
      <p:sp>
        <p:nvSpPr>
          <p:cNvPr id="33" name="Text 31"/>
          <p:cNvSpPr txBox="1"/>
          <p:nvPr/>
        </p:nvSpPr>
        <p:spPr>
          <a:xfrm>
            <a:off x="10149840" y="5367528"/>
            <a:ext cx="1188720" cy="777240"/>
          </a:xfrm>
          <a:prstGeom prst="rect">
            <a:avLst/>
          </a:prstGeom>
          <a:noFill/>
          <a:ln/>
        </p:spPr>
        <p:txBody>
          <a:bodyPr wrap="square" lIns="0" tIns="0" rIns="0" bIns="0" rtlCol="0" anchor="ctr"/>
          <a:lstStyle/>
          <a:p>
            <a:pPr algn="r" indent="0" marL="0">
              <a:buNone/>
            </a:pPr>
            <a:r>
              <a:rPr lang="en-US" sz="1100" dirty="0">
                <a:solidFill>
                  <a:srgbClr val="8792AB"/>
                </a:solidFill>
                <a:latin typeface="Calibri" pitchFamily="34" charset="0"/>
                <a:ea typeface="Calibri" pitchFamily="34" charset="-122"/>
                <a:cs typeface="Calibri" pitchFamily="34" charset="-120"/>
              </a:rPr>
              <a:t>1 slide</a:t>
            </a:r>
            <a:endParaRPr lang="en-US" sz="1100" dirty="0"/>
          </a:p>
        </p:txBody>
      </p:sp>
      <p:sp>
        <p:nvSpPr>
          <p:cNvPr id="34" name="Text 32"/>
          <p:cNvSpPr txBox="1"/>
          <p:nvPr/>
        </p:nvSpPr>
        <p:spPr>
          <a:xfrm>
            <a:off x="640080" y="6172200"/>
            <a:ext cx="10881360" cy="365760"/>
          </a:xfrm>
          <a:prstGeom prst="rect">
            <a:avLst/>
          </a:prstGeom>
          <a:noFill/>
          <a:ln/>
        </p:spPr>
        <p:txBody>
          <a:bodyPr wrap="square" lIns="0" tIns="0" rIns="0" bIns="0" rtlCol="0" anchor="ctr"/>
          <a:lstStyle/>
          <a:p>
            <a:pPr indent="0" marL="0">
              <a:buNone/>
            </a:pPr>
            <a:r>
              <a:rPr lang="en-US" sz="1200" i="1" dirty="0">
                <a:solidFill>
                  <a:srgbClr val="3E5C8A"/>
                </a:solidFill>
                <a:latin typeface="Calibri" pitchFamily="34" charset="0"/>
                <a:ea typeface="Calibri" pitchFamily="34" charset="-122"/>
                <a:cs typeface="Calibri" pitchFamily="34" charset="-120"/>
              </a:rPr>
              <a:t>Appendix: a blank template for every artefact the cycle produces — the strategy log itself.</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3108960"/>
            <a:ext cx="5120640" cy="5120640"/>
          </a:xfrm>
          <a:prstGeom prst="ellipse">
            <a:avLst/>
          </a:prstGeom>
          <a:solidFill>
            <a:srgbClr val="3E5C8A">
              <a:alpha val="45000"/>
            </a:srgbClr>
          </a:solidFill>
          <a:ln/>
        </p:spPr>
      </p:sp>
      <p:sp>
        <p:nvSpPr>
          <p:cNvPr id="3" name="Text 1"/>
          <p:cNvSpPr txBox="1"/>
          <p:nvPr/>
        </p:nvSpPr>
        <p:spPr>
          <a:xfrm>
            <a:off x="822960" y="1965960"/>
            <a:ext cx="4572000" cy="365760"/>
          </a:xfrm>
          <a:prstGeom prst="rect">
            <a:avLst/>
          </a:prstGeom>
          <a:noFill/>
          <a:ln/>
        </p:spPr>
        <p:txBody>
          <a:bodyPr wrap="square" lIns="0" tIns="0" rIns="0" bIns="0" rtlCol="0" anchor="ctr"/>
          <a:lstStyle/>
          <a:p>
            <a:pPr indent="0" marL="0">
              <a:buNone/>
            </a:pPr>
            <a:r>
              <a:rPr lang="en-US" sz="1300" b="1" spc="200" kern="0" dirty="0">
                <a:solidFill>
                  <a:srgbClr val="9AA7C4"/>
                </a:solidFill>
                <a:latin typeface="Calibri" pitchFamily="34" charset="0"/>
                <a:ea typeface="Calibri" pitchFamily="34" charset="-122"/>
                <a:cs typeface="Calibri" pitchFamily="34" charset="-120"/>
              </a:rPr>
              <a:t>PART ONE</a:t>
            </a:r>
            <a:endParaRPr lang="en-US" sz="1300" dirty="0"/>
          </a:p>
        </p:txBody>
      </p:sp>
      <p:sp>
        <p:nvSpPr>
          <p:cNvPr id="4" name="Text 2"/>
          <p:cNvSpPr txBox="1"/>
          <p:nvPr/>
        </p:nvSpPr>
        <p:spPr>
          <a:xfrm>
            <a:off x="804672" y="2377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frame</a:t>
            </a:r>
            <a:endParaRPr lang="en-US" sz="3800" dirty="0"/>
          </a:p>
        </p:txBody>
      </p:sp>
      <p:sp>
        <p:nvSpPr>
          <p:cNvPr id="5" name="Text 3"/>
          <p:cNvSpPr txBox="1"/>
          <p:nvPr/>
        </p:nvSpPr>
        <p:spPr>
          <a:xfrm>
            <a:off x="850392" y="3337560"/>
            <a:ext cx="758952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What this document is, and the industry it is for.</a:t>
            </a:r>
            <a:endParaRPr lang="en-US" sz="1500" dirty="0"/>
          </a:p>
        </p:txBody>
      </p:sp>
      <p:sp>
        <p:nvSpPr>
          <p:cNvPr id="6" name="Text 4"/>
          <p:cNvSpPr txBox="1"/>
          <p:nvPr/>
        </p:nvSpPr>
        <p:spPr>
          <a:xfrm>
            <a:off x="850392" y="4023360"/>
            <a:ext cx="7589520" cy="16459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What this document is — method, not conclusion</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The industry we mean: banking, funds and insurance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What this document is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A method, not a conclusion.</a:t>
            </a:r>
            <a:endParaRPr lang="en-US" sz="1450" dirty="0"/>
          </a:p>
        </p:txBody>
      </p:sp>
      <p:sp>
        <p:nvSpPr>
          <p:cNvPr id="4" name="Shape 2"/>
          <p:cNvSpPr/>
          <p:nvPr/>
        </p:nvSpPr>
        <p:spPr>
          <a:xfrm>
            <a:off x="640080" y="1828800"/>
            <a:ext cx="457200" cy="457200"/>
          </a:xfrm>
          <a:prstGeom prst="ellipse">
            <a:avLst/>
          </a:prstGeom>
          <a:solidFill>
            <a:srgbClr val="1E2761"/>
          </a:solidFill>
          <a:ln/>
        </p:spPr>
      </p:sp>
      <p:sp>
        <p:nvSpPr>
          <p:cNvPr id="5" name="Text 3"/>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25880" y="1801368"/>
            <a:ext cx="594360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A plan to build the strategy</a:t>
            </a:r>
            <a:endParaRPr lang="en-US" sz="1900" dirty="0"/>
          </a:p>
        </p:txBody>
      </p:sp>
      <p:sp>
        <p:nvSpPr>
          <p:cNvPr id="7" name="Text 5"/>
          <p:cNvSpPr txBox="1"/>
          <p:nvPr/>
        </p:nvSpPr>
        <p:spPr>
          <a:xfrm>
            <a:off x="1325880" y="2212848"/>
            <a:ext cx="6035040" cy="68580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It describes the journey, the questions and the sequence — it does not pre-empt the answers.</a:t>
            </a:r>
            <a:endParaRPr lang="en-US" sz="1400" dirty="0"/>
          </a:p>
        </p:txBody>
      </p:sp>
      <p:sp>
        <p:nvSpPr>
          <p:cNvPr id="8" name="Shape 6"/>
          <p:cNvSpPr/>
          <p:nvPr/>
        </p:nvSpPr>
        <p:spPr>
          <a:xfrm>
            <a:off x="640080" y="3063240"/>
            <a:ext cx="457200" cy="457200"/>
          </a:xfrm>
          <a:prstGeom prst="ellipse">
            <a:avLst/>
          </a:prstGeom>
          <a:solidFill>
            <a:srgbClr val="3E5C8A"/>
          </a:solidFill>
          <a:ln/>
        </p:spPr>
      </p:sp>
      <p:sp>
        <p:nvSpPr>
          <p:cNvPr id="9" name="Text 7"/>
          <p:cNvSpPr txBox="1"/>
          <p:nvPr/>
        </p:nvSpPr>
        <p:spPr>
          <a:xfrm>
            <a:off x="640080" y="3063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325880" y="3035808"/>
            <a:ext cx="594360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Every element is deliberately open</a:t>
            </a:r>
            <a:endParaRPr lang="en-US" sz="1900" dirty="0"/>
          </a:p>
        </p:txBody>
      </p:sp>
      <p:sp>
        <p:nvSpPr>
          <p:cNvPr id="11" name="Text 9"/>
          <p:cNvSpPr txBox="1"/>
          <p:nvPr/>
        </p:nvSpPr>
        <p:spPr>
          <a:xfrm>
            <a:off x="1325880" y="3447288"/>
            <a:ext cx="6035040" cy="68580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Markets, accounts, offerings, targets and owners are left blank by design and filled through the workstreams.</a:t>
            </a:r>
            <a:endParaRPr lang="en-US" sz="1400" dirty="0"/>
          </a:p>
        </p:txBody>
      </p:sp>
      <p:sp>
        <p:nvSpPr>
          <p:cNvPr id="12" name="Shape 10"/>
          <p:cNvSpPr/>
          <p:nvPr/>
        </p:nvSpPr>
        <p:spPr>
          <a:xfrm>
            <a:off x="640080" y="4297680"/>
            <a:ext cx="457200" cy="457200"/>
          </a:xfrm>
          <a:prstGeom prst="ellipse">
            <a:avLst/>
          </a:prstGeom>
          <a:solidFill>
            <a:srgbClr val="1E2761"/>
          </a:solidFill>
          <a:ln/>
        </p:spPr>
      </p:sp>
      <p:sp>
        <p:nvSpPr>
          <p:cNvPr id="13" name="Text 11"/>
          <p:cNvSpPr txBox="1"/>
          <p:nvPr/>
        </p:nvSpPr>
        <p:spPr>
          <a:xfrm>
            <a:off x="640080" y="4297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325880" y="4270248"/>
            <a:ext cx="594360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One cycle, one sign-off</a:t>
            </a:r>
            <a:endParaRPr lang="en-US" sz="1900" dirty="0"/>
          </a:p>
        </p:txBody>
      </p:sp>
      <p:sp>
        <p:nvSpPr>
          <p:cNvPr id="15" name="Text 13"/>
          <p:cNvSpPr txBox="1"/>
          <p:nvPr/>
        </p:nvSpPr>
        <p:spPr>
          <a:xfrm>
            <a:off x="1325880" y="4681728"/>
            <a:ext cx="6035040" cy="685800"/>
          </a:xfrm>
          <a:prstGeom prst="rect">
            <a:avLst/>
          </a:prstGeom>
          <a:noFill/>
          <a:ln/>
        </p:spPr>
        <p:txBody>
          <a:bodyPr wrap="square" lIns="0" tIns="0" rIns="0" bIns="0" rtlCol="0" anchor="ctr"/>
          <a:lstStyle/>
          <a:p>
            <a:pPr indent="0" marL="0">
              <a:buNone/>
            </a:pPr>
            <a:r>
              <a:rPr lang="en-US" sz="1400" dirty="0">
                <a:solidFill>
                  <a:srgbClr val="44506B"/>
                </a:solidFill>
                <a:latin typeface="Calibri" pitchFamily="34" charset="0"/>
                <a:ea typeface="Calibri" pitchFamily="34" charset="-122"/>
                <a:cs typeface="Calibri" pitchFamily="34" charset="-120"/>
              </a:rPr>
              <a:t>The strategy is treated as a single three-week cycle ending in a decision, not a rolling exercise.</a:t>
            </a:r>
            <a:endParaRPr lang="en-US" sz="1400" dirty="0"/>
          </a:p>
        </p:txBody>
      </p:sp>
      <p:sp>
        <p:nvSpPr>
          <p:cNvPr id="16" name="Shape 14"/>
          <p:cNvSpPr/>
          <p:nvPr/>
        </p:nvSpPr>
        <p:spPr>
          <a:xfrm>
            <a:off x="7863840" y="1783080"/>
            <a:ext cx="3657600" cy="3840480"/>
          </a:xfrm>
          <a:prstGeom prst="roundRect">
            <a:avLst>
              <a:gd name="adj" fmla="val 3000"/>
            </a:avLst>
          </a:prstGeom>
          <a:solidFill>
            <a:srgbClr val="EDF2FA"/>
          </a:solidFill>
          <a:ln/>
        </p:spPr>
      </p:sp>
      <p:sp>
        <p:nvSpPr>
          <p:cNvPr id="17" name="Text 15"/>
          <p:cNvSpPr txBox="1"/>
          <p:nvPr/>
        </p:nvSpPr>
        <p:spPr>
          <a:xfrm>
            <a:off x="8183880" y="2057400"/>
            <a:ext cx="310896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What "done" looks like</a:t>
            </a:r>
            <a:endParaRPr lang="en-US" sz="1700" dirty="0"/>
          </a:p>
        </p:txBody>
      </p:sp>
      <p:sp>
        <p:nvSpPr>
          <p:cNvPr id="18" name="Text 16"/>
          <p:cNvSpPr txBox="1"/>
          <p:nvPr/>
        </p:nvSpPr>
        <p:spPr>
          <a:xfrm>
            <a:off x="8183880" y="2560320"/>
            <a:ext cx="3108960" cy="27432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An agreed service catalogue</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 named target account list</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Revenue and pricing targets</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An owner against every account</a:t>
            </a:r>
            <a:endParaRPr lang="en-US" sz="1350" dirty="0"/>
          </a:p>
          <a:p>
            <a:pPr marL="342900" indent="-342900">
              <a:spcAft>
                <a:spcPts val="1000"/>
              </a:spcAft>
              <a:buSzPct val="100000"/>
              <a:buChar char="•"/>
            </a:pPr>
            <a:r>
              <a:rPr lang="en-US" sz="1350" dirty="0">
                <a:solidFill>
                  <a:srgbClr val="44506B"/>
                </a:solidFill>
                <a:latin typeface="Calibri" pitchFamily="34" charset="0"/>
                <a:ea typeface="Calibri" pitchFamily="34" charset="-122"/>
                <a:cs typeface="Calibri" pitchFamily="34" charset="-120"/>
              </a:rPr>
              <a:t>A first-90-days activation plan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How this fits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We sit where two strategies meet — and we plug into them rather than run beside them.</a:t>
            </a:r>
            <a:endParaRPr lang="en-US" sz="1450" dirty="0"/>
          </a:p>
        </p:txBody>
      </p:sp>
      <p:sp>
        <p:nvSpPr>
          <p:cNvPr id="4" name="Shape 2"/>
          <p:cNvSpPr/>
          <p:nvPr/>
        </p:nvSpPr>
        <p:spPr>
          <a:xfrm>
            <a:off x="640080" y="1737360"/>
            <a:ext cx="5303520" cy="868680"/>
          </a:xfrm>
          <a:prstGeom prst="roundRect">
            <a:avLst>
              <a:gd name="adj" fmla="val 10526"/>
            </a:avLst>
          </a:prstGeom>
          <a:solidFill>
            <a:srgbClr val="1E2761"/>
          </a:solidFill>
          <a:ln/>
        </p:spPr>
      </p:sp>
      <p:sp>
        <p:nvSpPr>
          <p:cNvPr id="5" name="Text 3"/>
          <p:cNvSpPr txBox="1"/>
          <p:nvPr/>
        </p:nvSpPr>
        <p:spPr>
          <a:xfrm>
            <a:off x="914400" y="1810512"/>
            <a:ext cx="47548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EAI&amp;D portfolio strategy</a:t>
            </a:r>
            <a:endParaRPr lang="en-US" sz="1500" dirty="0"/>
          </a:p>
        </p:txBody>
      </p:sp>
      <p:sp>
        <p:nvSpPr>
          <p:cNvPr id="6" name="Text 4"/>
          <p:cNvSpPr txBox="1"/>
          <p:nvPr/>
        </p:nvSpPr>
        <p:spPr>
          <a:xfrm>
            <a:off x="914400" y="2176272"/>
            <a:ext cx="475488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Engineering, AI and Data — across every industry we serve</a:t>
            </a:r>
            <a:endParaRPr lang="en-US" sz="1150" dirty="0"/>
          </a:p>
        </p:txBody>
      </p:sp>
      <p:sp>
        <p:nvSpPr>
          <p:cNvPr id="7" name="Shape 5"/>
          <p:cNvSpPr/>
          <p:nvPr/>
        </p:nvSpPr>
        <p:spPr>
          <a:xfrm>
            <a:off x="6217920" y="1737360"/>
            <a:ext cx="5303520" cy="868680"/>
          </a:xfrm>
          <a:prstGeom prst="roundRect">
            <a:avLst>
              <a:gd name="adj" fmla="val 10526"/>
            </a:avLst>
          </a:prstGeom>
          <a:solidFill>
            <a:srgbClr val="3E5C8A"/>
          </a:solidFill>
          <a:ln/>
        </p:spPr>
      </p:sp>
      <p:sp>
        <p:nvSpPr>
          <p:cNvPr id="8" name="Text 6"/>
          <p:cNvSpPr txBox="1"/>
          <p:nvPr/>
        </p:nvSpPr>
        <p:spPr>
          <a:xfrm>
            <a:off x="6492240" y="1810512"/>
            <a:ext cx="47548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FSI industry strategy</a:t>
            </a:r>
            <a:endParaRPr lang="en-US" sz="1500" dirty="0"/>
          </a:p>
        </p:txBody>
      </p:sp>
      <p:sp>
        <p:nvSpPr>
          <p:cNvPr id="9" name="Text 7"/>
          <p:cNvSpPr txBox="1"/>
          <p:nvPr/>
        </p:nvSpPr>
        <p:spPr>
          <a:xfrm>
            <a:off x="6492240" y="2176272"/>
            <a:ext cx="475488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Financial services — across the whole firm</a:t>
            </a:r>
            <a:endParaRPr lang="en-US" sz="1150" dirty="0"/>
          </a:p>
        </p:txBody>
      </p:sp>
      <p:sp>
        <p:nvSpPr>
          <p:cNvPr id="10" name="Shape 8"/>
          <p:cNvSpPr/>
          <p:nvPr/>
        </p:nvSpPr>
        <p:spPr>
          <a:xfrm>
            <a:off x="3291840" y="2651760"/>
            <a:ext cx="1463040" cy="320040"/>
          </a:xfrm>
          <a:prstGeom prst="line">
            <a:avLst/>
          </a:prstGeom>
          <a:noFill/>
          <a:ln w="19050">
            <a:solidFill>
              <a:srgbClr val="3E5C8A"/>
            </a:solidFill>
            <a:prstDash val="solid"/>
            <a:tailEnd type="triangle"/>
          </a:ln>
        </p:spPr>
      </p:sp>
      <p:sp>
        <p:nvSpPr>
          <p:cNvPr id="11" name="Shape 9"/>
          <p:cNvSpPr/>
          <p:nvPr/>
        </p:nvSpPr>
        <p:spPr>
          <a:xfrm flipH="1">
            <a:off x="7406640" y="2651760"/>
            <a:ext cx="1463040" cy="320040"/>
          </a:xfrm>
          <a:prstGeom prst="line">
            <a:avLst/>
          </a:prstGeom>
          <a:noFill/>
          <a:ln w="19050">
            <a:solidFill>
              <a:srgbClr val="3E5C8A"/>
            </a:solidFill>
            <a:prstDash val="solid"/>
            <a:tailEnd type="triangle"/>
          </a:ln>
        </p:spPr>
      </p:sp>
      <p:sp>
        <p:nvSpPr>
          <p:cNvPr id="12" name="Shape 10"/>
          <p:cNvSpPr/>
          <p:nvPr/>
        </p:nvSpPr>
        <p:spPr>
          <a:xfrm>
            <a:off x="3657600" y="2971800"/>
            <a:ext cx="4846320" cy="658368"/>
          </a:xfrm>
          <a:prstGeom prst="roundRect">
            <a:avLst>
              <a:gd name="adj" fmla="val 13889"/>
            </a:avLst>
          </a:prstGeom>
          <a:solidFill>
            <a:srgbClr val="E4EBF7"/>
          </a:solidFill>
          <a:ln w="15875">
            <a:solidFill>
              <a:srgbClr val="1E2761"/>
            </a:solidFill>
            <a:prstDash val="solid"/>
          </a:ln>
        </p:spPr>
      </p:sp>
      <p:sp>
        <p:nvSpPr>
          <p:cNvPr id="13" name="Text 11"/>
          <p:cNvSpPr txBox="1"/>
          <p:nvPr/>
        </p:nvSpPr>
        <p:spPr>
          <a:xfrm>
            <a:off x="3657600" y="2971800"/>
            <a:ext cx="4846320" cy="658368"/>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EAI&amp;D in financial services — this strategy</a:t>
            </a:r>
            <a:endParaRPr lang="en-US" sz="1350" dirty="0"/>
          </a:p>
        </p:txBody>
      </p:sp>
      <p:sp>
        <p:nvSpPr>
          <p:cNvPr id="14" name="Shape 12"/>
          <p:cNvSpPr/>
          <p:nvPr/>
        </p:nvSpPr>
        <p:spPr>
          <a:xfrm>
            <a:off x="6080760" y="3630168"/>
            <a:ext cx="0" cy="256032"/>
          </a:xfrm>
          <a:prstGeom prst="line">
            <a:avLst/>
          </a:prstGeom>
          <a:noFill/>
          <a:ln w="19050">
            <a:solidFill>
              <a:srgbClr val="3E5C8A"/>
            </a:solidFill>
            <a:prstDash val="solid"/>
            <a:tailEnd type="triangle"/>
          </a:ln>
        </p:spPr>
      </p:sp>
      <p:sp>
        <p:nvSpPr>
          <p:cNvPr id="15" name="Shape 13"/>
          <p:cNvSpPr/>
          <p:nvPr/>
        </p:nvSpPr>
        <p:spPr>
          <a:xfrm>
            <a:off x="640080" y="3931920"/>
            <a:ext cx="3520440" cy="1920240"/>
          </a:xfrm>
          <a:prstGeom prst="roundRect">
            <a:avLst>
              <a:gd name="adj" fmla="val 5714"/>
            </a:avLst>
          </a:prstGeom>
          <a:solidFill>
            <a:srgbClr val="EDF2FA"/>
          </a:solidFill>
          <a:ln/>
        </p:spPr>
      </p:sp>
      <p:sp>
        <p:nvSpPr>
          <p:cNvPr id="16" name="Shape 14"/>
          <p:cNvSpPr/>
          <p:nvPr/>
        </p:nvSpPr>
        <p:spPr>
          <a:xfrm>
            <a:off x="640080" y="3931920"/>
            <a:ext cx="3520440" cy="475488"/>
          </a:xfrm>
          <a:prstGeom prst="rect">
            <a:avLst/>
          </a:prstGeom>
          <a:solidFill>
            <a:srgbClr val="1E2761"/>
          </a:solidFill>
          <a:ln/>
        </p:spPr>
      </p:sp>
      <p:sp>
        <p:nvSpPr>
          <p:cNvPr id="17" name="Text 15"/>
          <p:cNvSpPr txBox="1"/>
          <p:nvPr/>
        </p:nvSpPr>
        <p:spPr>
          <a:xfrm>
            <a:off x="868680" y="3931920"/>
            <a:ext cx="306324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From the portfolio</a:t>
            </a:r>
            <a:endParaRPr lang="en-US" sz="1300" dirty="0"/>
          </a:p>
        </p:txBody>
      </p:sp>
      <p:sp>
        <p:nvSpPr>
          <p:cNvPr id="18" name="Text 16"/>
          <p:cNvSpPr txBox="1"/>
          <p:nvPr/>
        </p:nvSpPr>
        <p:spPr>
          <a:xfrm>
            <a:off x="868680" y="4526280"/>
            <a:ext cx="3063240" cy="128016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Vision and direction of travel</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Delivery model and quality bars</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Alliance framework and partner tiers</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Talent and career model</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Cascaded financial targets</a:t>
            </a:r>
            <a:endParaRPr lang="en-US" sz="1000" dirty="0"/>
          </a:p>
        </p:txBody>
      </p:sp>
      <p:sp>
        <p:nvSpPr>
          <p:cNvPr id="19" name="Shape 17"/>
          <p:cNvSpPr/>
          <p:nvPr/>
        </p:nvSpPr>
        <p:spPr>
          <a:xfrm>
            <a:off x="4325112" y="3931920"/>
            <a:ext cx="3520440" cy="1920240"/>
          </a:xfrm>
          <a:prstGeom prst="roundRect">
            <a:avLst>
              <a:gd name="adj" fmla="val 5714"/>
            </a:avLst>
          </a:prstGeom>
          <a:solidFill>
            <a:srgbClr val="EDF2FA"/>
          </a:solidFill>
          <a:ln/>
        </p:spPr>
      </p:sp>
      <p:sp>
        <p:nvSpPr>
          <p:cNvPr id="20" name="Shape 18"/>
          <p:cNvSpPr/>
          <p:nvPr/>
        </p:nvSpPr>
        <p:spPr>
          <a:xfrm>
            <a:off x="4325112" y="3931920"/>
            <a:ext cx="3520440" cy="475488"/>
          </a:xfrm>
          <a:prstGeom prst="rect">
            <a:avLst/>
          </a:prstGeom>
          <a:solidFill>
            <a:srgbClr val="3E5C8A"/>
          </a:solidFill>
          <a:ln/>
        </p:spPr>
      </p:sp>
      <p:sp>
        <p:nvSpPr>
          <p:cNvPr id="21" name="Text 19"/>
          <p:cNvSpPr txBox="1"/>
          <p:nvPr/>
        </p:nvSpPr>
        <p:spPr>
          <a:xfrm>
            <a:off x="4553712" y="3931920"/>
            <a:ext cx="306324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From the industry</a:t>
            </a:r>
            <a:endParaRPr lang="en-US" sz="1300" dirty="0"/>
          </a:p>
        </p:txBody>
      </p:sp>
      <p:sp>
        <p:nvSpPr>
          <p:cNvPr id="22" name="Text 20"/>
          <p:cNvSpPr txBox="1"/>
          <p:nvPr/>
        </p:nvSpPr>
        <p:spPr>
          <a:xfrm>
            <a:off x="4553712" y="4526280"/>
            <a:ext cx="3063240" cy="128016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The firm’s FSI account list and tiering</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Account leadership and partner mappings</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Industry governance forums and cadence</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The industry eminence programme</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Client relationship plans already in flight</a:t>
            </a:r>
            <a:endParaRPr lang="en-US" sz="1000" dirty="0"/>
          </a:p>
        </p:txBody>
      </p:sp>
      <p:sp>
        <p:nvSpPr>
          <p:cNvPr id="23" name="Shape 21"/>
          <p:cNvSpPr/>
          <p:nvPr/>
        </p:nvSpPr>
        <p:spPr>
          <a:xfrm>
            <a:off x="8010144" y="3931920"/>
            <a:ext cx="3520440" cy="1920240"/>
          </a:xfrm>
          <a:prstGeom prst="roundRect">
            <a:avLst>
              <a:gd name="adj" fmla="val 5714"/>
            </a:avLst>
          </a:prstGeom>
          <a:solidFill>
            <a:srgbClr val="EDF2FA"/>
          </a:solidFill>
          <a:ln/>
        </p:spPr>
      </p:sp>
      <p:sp>
        <p:nvSpPr>
          <p:cNvPr id="24" name="Shape 22"/>
          <p:cNvSpPr/>
          <p:nvPr/>
        </p:nvSpPr>
        <p:spPr>
          <a:xfrm>
            <a:off x="8010144" y="3931920"/>
            <a:ext cx="3520440" cy="475488"/>
          </a:xfrm>
          <a:prstGeom prst="rect">
            <a:avLst/>
          </a:prstGeom>
          <a:solidFill>
            <a:srgbClr val="1E2761"/>
          </a:solidFill>
          <a:ln/>
        </p:spPr>
      </p:sp>
      <p:sp>
        <p:nvSpPr>
          <p:cNvPr id="25" name="Text 23"/>
          <p:cNvSpPr txBox="1"/>
          <p:nvPr/>
        </p:nvSpPr>
        <p:spPr>
          <a:xfrm>
            <a:off x="8238744" y="3931920"/>
            <a:ext cx="306324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Ours to set</a:t>
            </a:r>
            <a:endParaRPr lang="en-US" sz="1300" dirty="0"/>
          </a:p>
        </p:txBody>
      </p:sp>
      <p:sp>
        <p:nvSpPr>
          <p:cNvPr id="26" name="Text 24"/>
          <p:cNvSpPr txBox="1"/>
          <p:nvPr/>
        </p:nvSpPr>
        <p:spPr>
          <a:xfrm>
            <a:off x="8238744" y="4526280"/>
            <a:ext cx="3063240" cy="128016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How our propositions land in those accounts</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Offering economics: construct, ADR, margin</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Sector platform alliances</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FSI capability, certification and hiring</a:t>
            </a:r>
            <a:endParaRPr lang="en-US" sz="1000" dirty="0"/>
          </a:p>
          <a:p>
            <a:pPr marL="342900" indent="-342900">
              <a:spcAft>
                <a:spcPts val="300"/>
              </a:spcAft>
              <a:buSzPct val="100000"/>
              <a:buChar char="•"/>
            </a:pPr>
            <a:r>
              <a:rPr lang="en-US" sz="1000" dirty="0">
                <a:solidFill>
                  <a:srgbClr val="44506B"/>
                </a:solidFill>
                <a:latin typeface="Calibri" pitchFamily="34" charset="0"/>
                <a:ea typeface="Calibri" pitchFamily="34" charset="-122"/>
                <a:cs typeface="Calibri" pitchFamily="34" charset="-120"/>
              </a:rPr>
              <a:t>Our revenue targets by account and offering</a:t>
            </a:r>
            <a:endParaRPr lang="en-US" sz="1000" dirty="0"/>
          </a:p>
        </p:txBody>
      </p:sp>
      <p:sp>
        <p:nvSpPr>
          <p:cNvPr id="27" name="Shape 25"/>
          <p:cNvSpPr/>
          <p:nvPr/>
        </p:nvSpPr>
        <p:spPr>
          <a:xfrm>
            <a:off x="640080" y="5989320"/>
            <a:ext cx="10881360" cy="685800"/>
          </a:xfrm>
          <a:prstGeom prst="roundRect">
            <a:avLst>
              <a:gd name="adj" fmla="val 13333"/>
            </a:avLst>
          </a:prstGeom>
          <a:solidFill>
            <a:srgbClr val="1E2761"/>
          </a:solidFill>
          <a:ln/>
        </p:spPr>
      </p:sp>
      <p:sp>
        <p:nvSpPr>
          <p:cNvPr id="28" name="Text 26"/>
          <p:cNvSpPr txBox="1"/>
          <p:nvPr/>
        </p:nvSpPr>
        <p:spPr>
          <a:xfrm>
            <a:off x="914400" y="5989320"/>
            <a:ext cx="10332720" cy="6858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No parallel machinery: we use the existing account plans, forums and eminence programme, and add the EAI&amp;D layer inside them.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The words we use</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Agreed before anything else, because half the arguments are vocabulary.</a:t>
            </a:r>
            <a:endParaRPr lang="en-US" sz="1450" dirty="0"/>
          </a:p>
        </p:txBody>
      </p:sp>
      <p:sp>
        <p:nvSpPr>
          <p:cNvPr id="4" name="Shape 2"/>
          <p:cNvSpPr/>
          <p:nvPr/>
        </p:nvSpPr>
        <p:spPr>
          <a:xfrm>
            <a:off x="640080" y="1783080"/>
            <a:ext cx="3520440" cy="932688"/>
          </a:xfrm>
          <a:prstGeom prst="roundRect">
            <a:avLst>
              <a:gd name="adj" fmla="val 9804"/>
            </a:avLst>
          </a:prstGeom>
          <a:solidFill>
            <a:srgbClr val="F2F6FC"/>
          </a:solidFill>
          <a:ln/>
        </p:spPr>
      </p:sp>
      <p:sp>
        <p:nvSpPr>
          <p:cNvPr id="5" name="Text 3"/>
          <p:cNvSpPr txBox="1"/>
          <p:nvPr/>
        </p:nvSpPr>
        <p:spPr>
          <a:xfrm>
            <a:off x="896112" y="1874520"/>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Portfolio</a:t>
            </a:r>
            <a:endParaRPr lang="en-US" sz="1400" dirty="0"/>
          </a:p>
        </p:txBody>
      </p:sp>
      <p:sp>
        <p:nvSpPr>
          <p:cNvPr id="6" name="Text 4"/>
          <p:cNvSpPr txBox="1"/>
          <p:nvPr/>
        </p:nvSpPr>
        <p:spPr>
          <a:xfrm>
            <a:off x="896112" y="2167128"/>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EAI&amp;D — Engineering, AI and Data. One portfolio, several industries.</a:t>
            </a:r>
            <a:endParaRPr lang="en-US" sz="1000" dirty="0"/>
          </a:p>
        </p:txBody>
      </p:sp>
      <p:sp>
        <p:nvSpPr>
          <p:cNvPr id="7" name="Shape 5"/>
          <p:cNvSpPr/>
          <p:nvPr/>
        </p:nvSpPr>
        <p:spPr>
          <a:xfrm>
            <a:off x="4325112" y="1783080"/>
            <a:ext cx="3520440" cy="932688"/>
          </a:xfrm>
          <a:prstGeom prst="roundRect">
            <a:avLst>
              <a:gd name="adj" fmla="val 9804"/>
            </a:avLst>
          </a:prstGeom>
          <a:solidFill>
            <a:srgbClr val="EDF2FA"/>
          </a:solidFill>
          <a:ln/>
        </p:spPr>
      </p:sp>
      <p:sp>
        <p:nvSpPr>
          <p:cNvPr id="8" name="Text 6"/>
          <p:cNvSpPr txBox="1"/>
          <p:nvPr/>
        </p:nvSpPr>
        <p:spPr>
          <a:xfrm>
            <a:off x="4581144" y="1874520"/>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Offering</a:t>
            </a:r>
            <a:endParaRPr lang="en-US" sz="1400" dirty="0"/>
          </a:p>
        </p:txBody>
      </p:sp>
      <p:sp>
        <p:nvSpPr>
          <p:cNvPr id="9" name="Text 7"/>
          <p:cNvSpPr txBox="1"/>
          <p:nvPr/>
        </p:nvSpPr>
        <p:spPr>
          <a:xfrm>
            <a:off x="4581144" y="2167128"/>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An internal capability unit of the portfolio: Industry Solutions, AI and Data, Engineering.</a:t>
            </a:r>
            <a:endParaRPr lang="en-US" sz="1000" dirty="0"/>
          </a:p>
        </p:txBody>
      </p:sp>
      <p:sp>
        <p:nvSpPr>
          <p:cNvPr id="10" name="Shape 8"/>
          <p:cNvSpPr/>
          <p:nvPr/>
        </p:nvSpPr>
        <p:spPr>
          <a:xfrm>
            <a:off x="8010144" y="1783080"/>
            <a:ext cx="3520440" cy="932688"/>
          </a:xfrm>
          <a:prstGeom prst="roundRect">
            <a:avLst>
              <a:gd name="adj" fmla="val 9804"/>
            </a:avLst>
          </a:prstGeom>
          <a:solidFill>
            <a:srgbClr val="F2F6FC"/>
          </a:solidFill>
          <a:ln/>
        </p:spPr>
      </p:sp>
      <p:sp>
        <p:nvSpPr>
          <p:cNvPr id="11" name="Text 9"/>
          <p:cNvSpPr txBox="1"/>
          <p:nvPr/>
        </p:nvSpPr>
        <p:spPr>
          <a:xfrm>
            <a:off x="8266176" y="1874520"/>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Proposition</a:t>
            </a:r>
            <a:endParaRPr lang="en-US" sz="1400" dirty="0"/>
          </a:p>
        </p:txBody>
      </p:sp>
      <p:sp>
        <p:nvSpPr>
          <p:cNvPr id="12" name="Text 10"/>
          <p:cNvSpPr txBox="1"/>
          <p:nvPr/>
        </p:nvSpPr>
        <p:spPr>
          <a:xfrm>
            <a:off x="8266176" y="2167128"/>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What we take to market. Integrated when it spans two or more offerings, focused when it sits within one.</a:t>
            </a:r>
            <a:endParaRPr lang="en-US" sz="1000" dirty="0"/>
          </a:p>
        </p:txBody>
      </p:sp>
      <p:sp>
        <p:nvSpPr>
          <p:cNvPr id="13" name="Shape 11"/>
          <p:cNvSpPr/>
          <p:nvPr/>
        </p:nvSpPr>
        <p:spPr>
          <a:xfrm>
            <a:off x="640080" y="2843784"/>
            <a:ext cx="3520440" cy="932688"/>
          </a:xfrm>
          <a:prstGeom prst="roundRect">
            <a:avLst>
              <a:gd name="adj" fmla="val 9804"/>
            </a:avLst>
          </a:prstGeom>
          <a:solidFill>
            <a:srgbClr val="EDF2FA"/>
          </a:solidFill>
          <a:ln/>
        </p:spPr>
      </p:sp>
      <p:sp>
        <p:nvSpPr>
          <p:cNvPr id="14" name="Text 12"/>
          <p:cNvSpPr txBox="1"/>
          <p:nvPr/>
        </p:nvSpPr>
        <p:spPr>
          <a:xfrm>
            <a:off x="896112" y="2935224"/>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Archetype</a:t>
            </a:r>
            <a:endParaRPr lang="en-US" sz="1400" dirty="0"/>
          </a:p>
        </p:txBody>
      </p:sp>
      <p:sp>
        <p:nvSpPr>
          <p:cNvPr id="15" name="Text 13"/>
          <p:cNvSpPr txBox="1"/>
          <p:nvPr/>
        </p:nvSpPr>
        <p:spPr>
          <a:xfrm>
            <a:off x="896112" y="3227832"/>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A recognised shape a proposition takes — by scope, sector or delivery model. Each carries its own economics.</a:t>
            </a:r>
            <a:endParaRPr lang="en-US" sz="1000" dirty="0"/>
          </a:p>
        </p:txBody>
      </p:sp>
      <p:sp>
        <p:nvSpPr>
          <p:cNvPr id="16" name="Shape 14"/>
          <p:cNvSpPr/>
          <p:nvPr/>
        </p:nvSpPr>
        <p:spPr>
          <a:xfrm>
            <a:off x="4325112" y="2843784"/>
            <a:ext cx="3520440" cy="932688"/>
          </a:xfrm>
          <a:prstGeom prst="roundRect">
            <a:avLst>
              <a:gd name="adj" fmla="val 9804"/>
            </a:avLst>
          </a:prstGeom>
          <a:solidFill>
            <a:srgbClr val="F2F6FC"/>
          </a:solidFill>
          <a:ln/>
        </p:spPr>
      </p:sp>
      <p:sp>
        <p:nvSpPr>
          <p:cNvPr id="17" name="Text 15"/>
          <p:cNvSpPr txBox="1"/>
          <p:nvPr/>
        </p:nvSpPr>
        <p:spPr>
          <a:xfrm>
            <a:off x="4581144" y="2935224"/>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Use case</a:t>
            </a:r>
            <a:endParaRPr lang="en-US" sz="1400" dirty="0"/>
          </a:p>
        </p:txBody>
      </p:sp>
      <p:sp>
        <p:nvSpPr>
          <p:cNvPr id="18" name="Text 16"/>
          <p:cNvSpPr txBox="1"/>
          <p:nvPr/>
        </p:nvSpPr>
        <p:spPr>
          <a:xfrm>
            <a:off x="4581144" y="3227832"/>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The specific client problem a proposition is sold against.</a:t>
            </a:r>
            <a:endParaRPr lang="en-US" sz="1000" dirty="0"/>
          </a:p>
        </p:txBody>
      </p:sp>
      <p:sp>
        <p:nvSpPr>
          <p:cNvPr id="19" name="Shape 17"/>
          <p:cNvSpPr/>
          <p:nvPr/>
        </p:nvSpPr>
        <p:spPr>
          <a:xfrm>
            <a:off x="8010144" y="2843784"/>
            <a:ext cx="3520440" cy="932688"/>
          </a:xfrm>
          <a:prstGeom prst="roundRect">
            <a:avLst>
              <a:gd name="adj" fmla="val 9804"/>
            </a:avLst>
          </a:prstGeom>
          <a:solidFill>
            <a:srgbClr val="EDF2FA"/>
          </a:solidFill>
          <a:ln/>
        </p:spPr>
      </p:sp>
      <p:sp>
        <p:nvSpPr>
          <p:cNvPr id="20" name="Text 18"/>
          <p:cNvSpPr txBox="1"/>
          <p:nvPr/>
        </p:nvSpPr>
        <p:spPr>
          <a:xfrm>
            <a:off x="8266176" y="2935224"/>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Sector</a:t>
            </a:r>
            <a:endParaRPr lang="en-US" sz="1400" dirty="0"/>
          </a:p>
        </p:txBody>
      </p:sp>
      <p:sp>
        <p:nvSpPr>
          <p:cNvPr id="21" name="Text 19"/>
          <p:cNvSpPr txBox="1"/>
          <p:nvPr/>
        </p:nvSpPr>
        <p:spPr>
          <a:xfrm>
            <a:off x="8266176" y="3227832"/>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Banking, funds or insurance. Not a market, and not interchangeable.</a:t>
            </a:r>
            <a:endParaRPr lang="en-US" sz="1000" dirty="0"/>
          </a:p>
        </p:txBody>
      </p:sp>
      <p:sp>
        <p:nvSpPr>
          <p:cNvPr id="22" name="Shape 20"/>
          <p:cNvSpPr/>
          <p:nvPr/>
        </p:nvSpPr>
        <p:spPr>
          <a:xfrm>
            <a:off x="640080" y="3904488"/>
            <a:ext cx="3520440" cy="932688"/>
          </a:xfrm>
          <a:prstGeom prst="roundRect">
            <a:avLst>
              <a:gd name="adj" fmla="val 9804"/>
            </a:avLst>
          </a:prstGeom>
          <a:solidFill>
            <a:srgbClr val="F2F6FC"/>
          </a:solidFill>
          <a:ln/>
        </p:spPr>
      </p:sp>
      <p:sp>
        <p:nvSpPr>
          <p:cNvPr id="23" name="Text 21"/>
          <p:cNvSpPr txBox="1"/>
          <p:nvPr/>
        </p:nvSpPr>
        <p:spPr>
          <a:xfrm>
            <a:off x="896112" y="3995928"/>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Segment</a:t>
            </a:r>
            <a:endParaRPr lang="en-US" sz="1400" dirty="0"/>
          </a:p>
        </p:txBody>
      </p:sp>
      <p:sp>
        <p:nvSpPr>
          <p:cNvPr id="24" name="Text 22"/>
          <p:cNvSpPr txBox="1"/>
          <p:nvPr/>
        </p:nvSpPr>
        <p:spPr>
          <a:xfrm>
            <a:off x="896112" y="4288536"/>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A slice within a sector — retail, corporate, SME, life, general, and so on.</a:t>
            </a:r>
            <a:endParaRPr lang="en-US" sz="1000" dirty="0"/>
          </a:p>
        </p:txBody>
      </p:sp>
      <p:sp>
        <p:nvSpPr>
          <p:cNvPr id="25" name="Shape 23"/>
          <p:cNvSpPr/>
          <p:nvPr/>
        </p:nvSpPr>
        <p:spPr>
          <a:xfrm>
            <a:off x="4325112" y="3904488"/>
            <a:ext cx="3520440" cy="932688"/>
          </a:xfrm>
          <a:prstGeom prst="roundRect">
            <a:avLst>
              <a:gd name="adj" fmla="val 9804"/>
            </a:avLst>
          </a:prstGeom>
          <a:solidFill>
            <a:srgbClr val="EDF2FA"/>
          </a:solidFill>
          <a:ln/>
        </p:spPr>
      </p:sp>
      <p:sp>
        <p:nvSpPr>
          <p:cNvPr id="26" name="Text 24"/>
          <p:cNvSpPr txBox="1"/>
          <p:nvPr/>
        </p:nvSpPr>
        <p:spPr>
          <a:xfrm>
            <a:off x="4581144" y="3995928"/>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Market</a:t>
            </a:r>
            <a:endParaRPr lang="en-US" sz="1400" dirty="0"/>
          </a:p>
        </p:txBody>
      </p:sp>
      <p:sp>
        <p:nvSpPr>
          <p:cNvPr id="27" name="Text 25"/>
          <p:cNvSpPr txBox="1"/>
          <p:nvPr/>
        </p:nvSpPr>
        <p:spPr>
          <a:xfrm>
            <a:off x="4581144" y="4288536"/>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A country we sell into, each tiered one or two.</a:t>
            </a:r>
            <a:endParaRPr lang="en-US" sz="1000" dirty="0"/>
          </a:p>
        </p:txBody>
      </p:sp>
      <p:sp>
        <p:nvSpPr>
          <p:cNvPr id="28" name="Shape 26"/>
          <p:cNvSpPr/>
          <p:nvPr/>
        </p:nvSpPr>
        <p:spPr>
          <a:xfrm>
            <a:off x="8010144" y="3904488"/>
            <a:ext cx="3520440" cy="932688"/>
          </a:xfrm>
          <a:prstGeom prst="roundRect">
            <a:avLst>
              <a:gd name="adj" fmla="val 9804"/>
            </a:avLst>
          </a:prstGeom>
          <a:solidFill>
            <a:srgbClr val="F2F6FC"/>
          </a:solidFill>
          <a:ln/>
        </p:spPr>
      </p:sp>
      <p:sp>
        <p:nvSpPr>
          <p:cNvPr id="29" name="Text 27"/>
          <p:cNvSpPr txBox="1"/>
          <p:nvPr/>
        </p:nvSpPr>
        <p:spPr>
          <a:xfrm>
            <a:off x="8266176" y="3995928"/>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Account plan</a:t>
            </a:r>
            <a:endParaRPr lang="en-US" sz="1400" dirty="0"/>
          </a:p>
        </p:txBody>
      </p:sp>
      <p:sp>
        <p:nvSpPr>
          <p:cNvPr id="30" name="Text 28"/>
          <p:cNvSpPr txBox="1"/>
          <p:nvPr/>
        </p:nvSpPr>
        <p:spPr>
          <a:xfrm>
            <a:off x="8266176" y="4288536"/>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The firm’s single plan per client. Our content is a layer inside it, never a second plan.</a:t>
            </a:r>
            <a:endParaRPr lang="en-US" sz="1000" dirty="0"/>
          </a:p>
        </p:txBody>
      </p:sp>
      <p:sp>
        <p:nvSpPr>
          <p:cNvPr id="31" name="Shape 29"/>
          <p:cNvSpPr/>
          <p:nvPr/>
        </p:nvSpPr>
        <p:spPr>
          <a:xfrm>
            <a:off x="640080" y="4965192"/>
            <a:ext cx="3520440" cy="932688"/>
          </a:xfrm>
          <a:prstGeom prst="roundRect">
            <a:avLst>
              <a:gd name="adj" fmla="val 9804"/>
            </a:avLst>
          </a:prstGeom>
          <a:solidFill>
            <a:srgbClr val="EDF2FA"/>
          </a:solidFill>
          <a:ln/>
        </p:spPr>
      </p:sp>
      <p:sp>
        <p:nvSpPr>
          <p:cNvPr id="32" name="Text 30"/>
          <p:cNvSpPr txBox="1"/>
          <p:nvPr/>
        </p:nvSpPr>
        <p:spPr>
          <a:xfrm>
            <a:off x="896112" y="5056632"/>
            <a:ext cx="301752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Pillar</a:t>
            </a:r>
            <a:endParaRPr lang="en-US" sz="1400" dirty="0"/>
          </a:p>
        </p:txBody>
      </p:sp>
      <p:sp>
        <p:nvSpPr>
          <p:cNvPr id="33" name="Text 31"/>
          <p:cNvSpPr txBox="1"/>
          <p:nvPr/>
        </p:nvSpPr>
        <p:spPr>
          <a:xfrm>
            <a:off x="896112" y="5349240"/>
            <a:ext cx="3017520" cy="512064"/>
          </a:xfrm>
          <a:prstGeom prst="rect">
            <a:avLst/>
          </a:prstGeom>
          <a:noFill/>
          <a:ln/>
        </p:spPr>
        <p:txBody>
          <a:bodyPr wrap="square" lIns="0" tIns="0" rIns="0" bIns="0" rtlCol="0" anchor="ctr"/>
          <a:lstStyle/>
          <a:p>
            <a:pPr indent="0" marL="0">
              <a:buNone/>
            </a:pPr>
            <a:r>
              <a:rPr lang="en-US" sz="1000" dirty="0">
                <a:solidFill>
                  <a:srgbClr val="44506B"/>
                </a:solidFill>
                <a:latin typeface="Calibri" pitchFamily="34" charset="0"/>
                <a:ea typeface="Calibri" pitchFamily="34" charset="-122"/>
                <a:cs typeface="Calibri" pitchFamily="34" charset="-120"/>
              </a:rPr>
              <a:t>A section of this strategy — never a synonym for offering.</a:t>
            </a:r>
            <a:endParaRPr lang="en-US" sz="1000" dirty="0"/>
          </a:p>
        </p:txBody>
      </p:sp>
      <p:sp>
        <p:nvSpPr>
          <p:cNvPr id="34" name="Shape 32"/>
          <p:cNvSpPr/>
          <p:nvPr/>
        </p:nvSpPr>
        <p:spPr>
          <a:xfrm>
            <a:off x="640080" y="6126480"/>
            <a:ext cx="10881360" cy="566928"/>
          </a:xfrm>
          <a:prstGeom prst="roundRect">
            <a:avLst>
              <a:gd name="adj" fmla="val 16129"/>
            </a:avLst>
          </a:prstGeom>
          <a:solidFill>
            <a:srgbClr val="1E2761"/>
          </a:solidFill>
          <a:ln/>
        </p:spPr>
      </p:sp>
      <p:sp>
        <p:nvSpPr>
          <p:cNvPr id="35" name="Text 33"/>
          <p:cNvSpPr txBox="1"/>
          <p:nvPr/>
        </p:nvSpPr>
        <p:spPr>
          <a:xfrm>
            <a:off x="914400" y="6126480"/>
            <a:ext cx="10332720" cy="56692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Offerings are how we are organised. Propositions are what the client buys. The catalogue is made of propositions, not offerings.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The industry we mean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Financial services is three sectors, and they are not interchangeable.</a:t>
            </a:r>
            <a:endParaRPr lang="en-US" sz="1450" dirty="0"/>
          </a:p>
        </p:txBody>
      </p:sp>
      <p:sp>
        <p:nvSpPr>
          <p:cNvPr id="4" name="Shape 2"/>
          <p:cNvSpPr/>
          <p:nvPr/>
        </p:nvSpPr>
        <p:spPr>
          <a:xfrm>
            <a:off x="640080" y="1828800"/>
            <a:ext cx="3520440" cy="3200400"/>
          </a:xfrm>
          <a:prstGeom prst="roundRect">
            <a:avLst>
              <a:gd name="adj" fmla="val 3429"/>
            </a:avLst>
          </a:prstGeom>
          <a:solidFill>
            <a:srgbClr val="EDF2FA"/>
          </a:solidFill>
          <a:ln/>
        </p:spPr>
      </p:sp>
      <p:sp>
        <p:nvSpPr>
          <p:cNvPr id="5" name="Shape 3"/>
          <p:cNvSpPr/>
          <p:nvPr/>
        </p:nvSpPr>
        <p:spPr>
          <a:xfrm>
            <a:off x="640080" y="1828800"/>
            <a:ext cx="3520440" cy="868680"/>
          </a:xfrm>
          <a:prstGeom prst="rect">
            <a:avLst/>
          </a:prstGeom>
          <a:solidFill>
            <a:srgbClr val="1E2761"/>
          </a:solidFill>
          <a:ln/>
        </p:spPr>
      </p:sp>
      <p:sp>
        <p:nvSpPr>
          <p:cNvPr id="6" name="Text 4"/>
          <p:cNvSpPr txBox="1"/>
          <p:nvPr/>
        </p:nvSpPr>
        <p:spPr>
          <a:xfrm>
            <a:off x="914400" y="1901952"/>
            <a:ext cx="2468880" cy="38404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Banking</a:t>
            </a:r>
            <a:endParaRPr lang="en-US" sz="1900" dirty="0"/>
          </a:p>
        </p:txBody>
      </p:sp>
      <p:sp>
        <p:nvSpPr>
          <p:cNvPr id="7" name="Text 5"/>
          <p:cNvSpPr txBox="1"/>
          <p:nvPr/>
        </p:nvSpPr>
        <p:spPr>
          <a:xfrm>
            <a:off x="914400" y="2286000"/>
            <a:ext cx="2468880" cy="32004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Priority sector</a:t>
            </a:r>
            <a:endParaRPr lang="en-US" sz="1150" dirty="0"/>
          </a:p>
        </p:txBody>
      </p:sp>
      <p:sp>
        <p:nvSpPr>
          <p:cNvPr id="8" name="Text 6"/>
          <p:cNvSpPr txBox="1"/>
          <p:nvPr/>
        </p:nvSpPr>
        <p:spPr>
          <a:xfrm>
            <a:off x="3383280" y="1920240"/>
            <a:ext cx="548640" cy="640080"/>
          </a:xfrm>
          <a:prstGeom prst="rect">
            <a:avLst/>
          </a:prstGeom>
          <a:noFill/>
          <a:ln/>
        </p:spPr>
        <p:txBody>
          <a:bodyPr wrap="square" lIns="0" tIns="0" rIns="0" bIns="0" rtlCol="0" anchor="ctr"/>
          <a:lstStyle/>
          <a:p>
            <a:pPr algn="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9" name="Text 7"/>
          <p:cNvSpPr txBox="1"/>
          <p:nvPr/>
        </p:nvSpPr>
        <p:spPr>
          <a:xfrm>
            <a:off x="914400" y="2880360"/>
            <a:ext cx="2971800" cy="19202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Retail, corporate and SME banking</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Islamic banking</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Payments and cards</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Greenfield and challenger banks</a:t>
            </a:r>
            <a:endParaRPr lang="en-US" sz="1200" dirty="0"/>
          </a:p>
        </p:txBody>
      </p:sp>
      <p:sp>
        <p:nvSpPr>
          <p:cNvPr id="10" name="Shape 8"/>
          <p:cNvSpPr/>
          <p:nvPr/>
        </p:nvSpPr>
        <p:spPr>
          <a:xfrm>
            <a:off x="4325112" y="1828800"/>
            <a:ext cx="3520440" cy="3200400"/>
          </a:xfrm>
          <a:prstGeom prst="roundRect">
            <a:avLst>
              <a:gd name="adj" fmla="val 3429"/>
            </a:avLst>
          </a:prstGeom>
          <a:solidFill>
            <a:srgbClr val="EDF2FA"/>
          </a:solidFill>
          <a:ln/>
        </p:spPr>
      </p:sp>
      <p:sp>
        <p:nvSpPr>
          <p:cNvPr id="11" name="Shape 9"/>
          <p:cNvSpPr/>
          <p:nvPr/>
        </p:nvSpPr>
        <p:spPr>
          <a:xfrm>
            <a:off x="4325112" y="1828800"/>
            <a:ext cx="3520440" cy="868680"/>
          </a:xfrm>
          <a:prstGeom prst="rect">
            <a:avLst/>
          </a:prstGeom>
          <a:solidFill>
            <a:srgbClr val="3E5C8A"/>
          </a:solidFill>
          <a:ln/>
        </p:spPr>
      </p:sp>
      <p:sp>
        <p:nvSpPr>
          <p:cNvPr id="12" name="Text 10"/>
          <p:cNvSpPr txBox="1"/>
          <p:nvPr/>
        </p:nvSpPr>
        <p:spPr>
          <a:xfrm>
            <a:off x="4599432" y="1901952"/>
            <a:ext cx="2468880" cy="38404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Funds</a:t>
            </a:r>
            <a:endParaRPr lang="en-US" sz="1900" dirty="0"/>
          </a:p>
        </p:txBody>
      </p:sp>
      <p:sp>
        <p:nvSpPr>
          <p:cNvPr id="13" name="Text 11"/>
          <p:cNvSpPr txBox="1"/>
          <p:nvPr/>
        </p:nvSpPr>
        <p:spPr>
          <a:xfrm>
            <a:off x="4599432" y="2286000"/>
            <a:ext cx="2468880" cy="32004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Second priority</a:t>
            </a:r>
            <a:endParaRPr lang="en-US" sz="1150" dirty="0"/>
          </a:p>
        </p:txBody>
      </p:sp>
      <p:sp>
        <p:nvSpPr>
          <p:cNvPr id="14" name="Text 12"/>
          <p:cNvSpPr txBox="1"/>
          <p:nvPr/>
        </p:nvSpPr>
        <p:spPr>
          <a:xfrm>
            <a:off x="7068312" y="1920240"/>
            <a:ext cx="548640" cy="640080"/>
          </a:xfrm>
          <a:prstGeom prst="rect">
            <a:avLst/>
          </a:prstGeom>
          <a:noFill/>
          <a:ln/>
        </p:spPr>
        <p:txBody>
          <a:bodyPr wrap="square" lIns="0" tIns="0" rIns="0" bIns="0" rtlCol="0" anchor="ctr"/>
          <a:lstStyle/>
          <a:p>
            <a:pPr algn="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5" name="Text 13"/>
          <p:cNvSpPr txBox="1"/>
          <p:nvPr/>
        </p:nvSpPr>
        <p:spPr>
          <a:xfrm>
            <a:off x="4599432" y="2880360"/>
            <a:ext cx="2971800" cy="19202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Sovereign wealth funds</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National and development funds</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Fund and investment management</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Investment operations and custody</a:t>
            </a:r>
            <a:endParaRPr lang="en-US" sz="1200" dirty="0"/>
          </a:p>
        </p:txBody>
      </p:sp>
      <p:sp>
        <p:nvSpPr>
          <p:cNvPr id="16" name="Shape 14"/>
          <p:cNvSpPr/>
          <p:nvPr/>
        </p:nvSpPr>
        <p:spPr>
          <a:xfrm>
            <a:off x="8010144" y="1828800"/>
            <a:ext cx="3520440" cy="3200400"/>
          </a:xfrm>
          <a:prstGeom prst="roundRect">
            <a:avLst>
              <a:gd name="adj" fmla="val 3429"/>
            </a:avLst>
          </a:prstGeom>
          <a:solidFill>
            <a:srgbClr val="EDF2FA"/>
          </a:solidFill>
          <a:ln/>
        </p:spPr>
      </p:sp>
      <p:sp>
        <p:nvSpPr>
          <p:cNvPr id="17" name="Shape 15"/>
          <p:cNvSpPr/>
          <p:nvPr/>
        </p:nvSpPr>
        <p:spPr>
          <a:xfrm>
            <a:off x="8010144" y="1828800"/>
            <a:ext cx="3520440" cy="868680"/>
          </a:xfrm>
          <a:prstGeom prst="rect">
            <a:avLst/>
          </a:prstGeom>
          <a:solidFill>
            <a:srgbClr val="1E2761"/>
          </a:solidFill>
          <a:ln/>
        </p:spPr>
      </p:sp>
      <p:sp>
        <p:nvSpPr>
          <p:cNvPr id="18" name="Text 16"/>
          <p:cNvSpPr txBox="1"/>
          <p:nvPr/>
        </p:nvSpPr>
        <p:spPr>
          <a:xfrm>
            <a:off x="8284464" y="1901952"/>
            <a:ext cx="2468880" cy="38404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Insurance</a:t>
            </a:r>
            <a:endParaRPr lang="en-US" sz="1900" dirty="0"/>
          </a:p>
        </p:txBody>
      </p:sp>
      <p:sp>
        <p:nvSpPr>
          <p:cNvPr id="19" name="Text 17"/>
          <p:cNvSpPr txBox="1"/>
          <p:nvPr/>
        </p:nvSpPr>
        <p:spPr>
          <a:xfrm>
            <a:off x="8284464" y="2286000"/>
            <a:ext cx="2468880" cy="32004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Third priority</a:t>
            </a:r>
            <a:endParaRPr lang="en-US" sz="1150" dirty="0"/>
          </a:p>
        </p:txBody>
      </p:sp>
      <p:sp>
        <p:nvSpPr>
          <p:cNvPr id="20" name="Text 18"/>
          <p:cNvSpPr txBox="1"/>
          <p:nvPr/>
        </p:nvSpPr>
        <p:spPr>
          <a:xfrm>
            <a:off x="10753344" y="1920240"/>
            <a:ext cx="548640" cy="640080"/>
          </a:xfrm>
          <a:prstGeom prst="rect">
            <a:avLst/>
          </a:prstGeom>
          <a:noFill/>
          <a:ln/>
        </p:spPr>
        <p:txBody>
          <a:bodyPr wrap="square" lIns="0" tIns="0" rIns="0" bIns="0" rtlCol="0" anchor="ctr"/>
          <a:lstStyle/>
          <a:p>
            <a:pPr algn="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9"/>
          <p:cNvSpPr txBox="1"/>
          <p:nvPr/>
        </p:nvSpPr>
        <p:spPr>
          <a:xfrm>
            <a:off x="8284464" y="2880360"/>
            <a:ext cx="2971800" cy="19202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Life and general insurance</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Takaful</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Health insurance</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Brokers and reinsurance</a:t>
            </a:r>
            <a:endParaRPr lang="en-US" sz="1200" dirty="0"/>
          </a:p>
        </p:txBody>
      </p:sp>
      <p:sp>
        <p:nvSpPr>
          <p:cNvPr id="22" name="Shape 20"/>
          <p:cNvSpPr/>
          <p:nvPr/>
        </p:nvSpPr>
        <p:spPr>
          <a:xfrm>
            <a:off x="640080" y="5212080"/>
            <a:ext cx="10881360" cy="914400"/>
          </a:xfrm>
          <a:prstGeom prst="roundRect">
            <a:avLst>
              <a:gd name="adj" fmla="val 10000"/>
            </a:avLst>
          </a:prstGeom>
          <a:solidFill>
            <a:srgbClr val="1E2761"/>
          </a:solidFill>
          <a:ln/>
        </p:spPr>
      </p:sp>
      <p:sp>
        <p:nvSpPr>
          <p:cNvPr id="23" name="Text 21"/>
          <p:cNvSpPr txBox="1"/>
          <p:nvPr/>
        </p:nvSpPr>
        <p:spPr>
          <a:xfrm>
            <a:off x="914400" y="5212080"/>
            <a:ext cx="10332720" cy="9144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Sector is a dimension throughout: every proposition says which sectors it serves, every account carries its sector, and targets are set by market and sector, not for FSI as a whole.</a:t>
            </a:r>
            <a:endParaRPr lang="en-US" sz="1300" dirty="0"/>
          </a:p>
        </p:txBody>
      </p:sp>
      <p:sp>
        <p:nvSpPr>
          <p:cNvPr id="24" name="Text 22"/>
          <p:cNvSpPr txBox="1"/>
          <p:nvPr/>
        </p:nvSpPr>
        <p:spPr>
          <a:xfrm>
            <a:off x="640080" y="6217920"/>
            <a:ext cx="10881360" cy="320040"/>
          </a:xfrm>
          <a:prstGeom prst="rect">
            <a:avLst/>
          </a:prstGeom>
          <a:noFill/>
          <a:ln/>
        </p:spPr>
        <p:txBody>
          <a:bodyPr wrap="square" lIns="0" tIns="0" rIns="0" bIns="0" rtlCol="0" anchor="ctr"/>
          <a:lstStyle/>
          <a:p>
            <a:pPr indent="0" marL="0">
              <a:buNone/>
            </a:pPr>
            <a:r>
              <a:rPr lang="en-US" sz="1100" i="1" dirty="0">
                <a:solidFill>
                  <a:srgbClr val="8792AB"/>
                </a:solidFill>
                <a:latin typeface="Calibri" pitchFamily="34" charset="0"/>
                <a:ea typeface="Calibri" pitchFamily="34" charset="-122"/>
                <a:cs typeface="Calibri" pitchFamily="34" charset="-120"/>
              </a:rPr>
              <a:t>Segments within each sector are indicative; the cycle confirms which we actually pursue.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3108960"/>
            <a:ext cx="5120640" cy="5120640"/>
          </a:xfrm>
          <a:prstGeom prst="ellipse">
            <a:avLst/>
          </a:prstGeom>
          <a:solidFill>
            <a:srgbClr val="3E5C8A">
              <a:alpha val="45000"/>
            </a:srgbClr>
          </a:solidFill>
          <a:ln/>
        </p:spPr>
      </p:sp>
      <p:sp>
        <p:nvSpPr>
          <p:cNvPr id="3" name="Text 1"/>
          <p:cNvSpPr txBox="1"/>
          <p:nvPr/>
        </p:nvSpPr>
        <p:spPr>
          <a:xfrm>
            <a:off x="822960" y="1965960"/>
            <a:ext cx="4572000" cy="365760"/>
          </a:xfrm>
          <a:prstGeom prst="rect">
            <a:avLst/>
          </a:prstGeom>
          <a:noFill/>
          <a:ln/>
        </p:spPr>
        <p:txBody>
          <a:bodyPr wrap="square" lIns="0" tIns="0" rIns="0" bIns="0" rtlCol="0" anchor="ctr"/>
          <a:lstStyle/>
          <a:p>
            <a:pPr indent="0" marL="0">
              <a:buNone/>
            </a:pPr>
            <a:r>
              <a:rPr lang="en-US" sz="1300" b="1" spc="200" kern="0" dirty="0">
                <a:solidFill>
                  <a:srgbClr val="9AA7C4"/>
                </a:solidFill>
                <a:latin typeface="Calibri" pitchFamily="34" charset="0"/>
                <a:ea typeface="Calibri" pitchFamily="34" charset="-122"/>
                <a:cs typeface="Calibri" pitchFamily="34" charset="-120"/>
              </a:rPr>
              <a:t>PART TWO</a:t>
            </a:r>
            <a:endParaRPr lang="en-US" sz="1300" dirty="0"/>
          </a:p>
        </p:txBody>
      </p:sp>
      <p:sp>
        <p:nvSpPr>
          <p:cNvPr id="4" name="Text 2"/>
          <p:cNvSpPr txBox="1"/>
          <p:nvPr/>
        </p:nvSpPr>
        <p:spPr>
          <a:xfrm>
            <a:off x="804672" y="2377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destination</a:t>
            </a:r>
            <a:endParaRPr lang="en-US" sz="3800" dirty="0"/>
          </a:p>
        </p:txBody>
      </p:sp>
      <p:sp>
        <p:nvSpPr>
          <p:cNvPr id="5" name="Text 3"/>
          <p:cNvSpPr txBox="1"/>
          <p:nvPr/>
        </p:nvSpPr>
        <p:spPr>
          <a:xfrm>
            <a:off x="850392" y="3337560"/>
            <a:ext cx="758952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Where we are going, and the rules we hold going in.</a:t>
            </a:r>
            <a:endParaRPr lang="en-US" sz="1500" dirty="0"/>
          </a:p>
        </p:txBody>
      </p:sp>
      <p:sp>
        <p:nvSpPr>
          <p:cNvPr id="6" name="Text 4"/>
          <p:cNvSpPr txBox="1"/>
          <p:nvPr/>
        </p:nvSpPr>
        <p:spPr>
          <a:xfrm>
            <a:off x="850392" y="4023360"/>
            <a:ext cx="7589520" cy="16459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What the vision has to earn</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Three candidate statements</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Principles we hold going in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What the vision has to earn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Six drivers, agreed before the words. Every candidate is tested against them.</a:t>
            </a:r>
            <a:endParaRPr lang="en-US" sz="1450" dirty="0"/>
          </a:p>
        </p:txBody>
      </p:sp>
      <p:sp>
        <p:nvSpPr>
          <p:cNvPr id="4" name="Shape 2"/>
          <p:cNvSpPr/>
          <p:nvPr/>
        </p:nvSpPr>
        <p:spPr>
          <a:xfrm>
            <a:off x="640080" y="1874520"/>
            <a:ext cx="3520440" cy="1783080"/>
          </a:xfrm>
          <a:prstGeom prst="roundRect">
            <a:avLst>
              <a:gd name="adj" fmla="val 6154"/>
            </a:avLst>
          </a:prstGeom>
          <a:solidFill>
            <a:srgbClr val="E4EBF7"/>
          </a:solidFill>
          <a:ln/>
        </p:spPr>
      </p:sp>
      <p:sp>
        <p:nvSpPr>
          <p:cNvPr id="5" name="Shape 3"/>
          <p:cNvSpPr/>
          <p:nvPr/>
        </p:nvSpPr>
        <p:spPr>
          <a:xfrm>
            <a:off x="896112" y="2112264"/>
            <a:ext cx="384048" cy="384048"/>
          </a:xfrm>
          <a:prstGeom prst="ellipse">
            <a:avLst/>
          </a:prstGeom>
          <a:solidFill>
            <a:srgbClr val="1E2761"/>
          </a:solidFill>
          <a:ln/>
        </p:spPr>
      </p:sp>
      <p:sp>
        <p:nvSpPr>
          <p:cNvPr id="6" name="Text 4"/>
          <p:cNvSpPr txBox="1"/>
          <p:nvPr/>
        </p:nvSpPr>
        <p:spPr>
          <a:xfrm>
            <a:off x="896112" y="21122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17320" y="2075688"/>
            <a:ext cx="2560320"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No seams</a:t>
            </a:r>
            <a:endParaRPr lang="en-US" sz="1500" dirty="0"/>
          </a:p>
        </p:txBody>
      </p:sp>
      <p:sp>
        <p:nvSpPr>
          <p:cNvPr id="8" name="Text 6"/>
          <p:cNvSpPr txBox="1"/>
          <p:nvPr/>
        </p:nvSpPr>
        <p:spPr>
          <a:xfrm>
            <a:off x="914400" y="2651760"/>
            <a:ext cx="2971800" cy="8686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One accountable team across every stream, with our alliances counted as part of what we bring — not a separate arrangement.</a:t>
            </a:r>
            <a:endParaRPr lang="en-US" sz="1150" dirty="0"/>
          </a:p>
        </p:txBody>
      </p:sp>
      <p:sp>
        <p:nvSpPr>
          <p:cNvPr id="9" name="Shape 7"/>
          <p:cNvSpPr/>
          <p:nvPr/>
        </p:nvSpPr>
        <p:spPr>
          <a:xfrm>
            <a:off x="4325112" y="1874520"/>
            <a:ext cx="3520440" cy="1783080"/>
          </a:xfrm>
          <a:prstGeom prst="roundRect">
            <a:avLst>
              <a:gd name="adj" fmla="val 6154"/>
            </a:avLst>
          </a:prstGeom>
          <a:solidFill>
            <a:srgbClr val="EDF2FA"/>
          </a:solidFill>
          <a:ln/>
        </p:spPr>
      </p:sp>
      <p:sp>
        <p:nvSpPr>
          <p:cNvPr id="10" name="Shape 8"/>
          <p:cNvSpPr/>
          <p:nvPr/>
        </p:nvSpPr>
        <p:spPr>
          <a:xfrm>
            <a:off x="4581144" y="2112264"/>
            <a:ext cx="384048" cy="384048"/>
          </a:xfrm>
          <a:prstGeom prst="ellipse">
            <a:avLst/>
          </a:prstGeom>
          <a:solidFill>
            <a:srgbClr val="3E5C8A"/>
          </a:solidFill>
          <a:ln/>
        </p:spPr>
      </p:sp>
      <p:sp>
        <p:nvSpPr>
          <p:cNvPr id="11" name="Text 9"/>
          <p:cNvSpPr txBox="1"/>
          <p:nvPr/>
        </p:nvSpPr>
        <p:spPr>
          <a:xfrm>
            <a:off x="4581144" y="21122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5102352" y="2075688"/>
            <a:ext cx="2560320"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Where others stall</a:t>
            </a:r>
            <a:endParaRPr lang="en-US" sz="1500" dirty="0"/>
          </a:p>
        </p:txBody>
      </p:sp>
      <p:sp>
        <p:nvSpPr>
          <p:cNvPr id="13" name="Text 11"/>
          <p:cNvSpPr txBox="1"/>
          <p:nvPr/>
        </p:nvSpPr>
        <p:spPr>
          <a:xfrm>
            <a:off x="4599432" y="2651760"/>
            <a:ext cx="2971800" cy="8686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programmes that go sideways in other hands. Said through language, never as carrying or underwriting risk.</a:t>
            </a:r>
            <a:endParaRPr lang="en-US" sz="1150" dirty="0"/>
          </a:p>
        </p:txBody>
      </p:sp>
      <p:sp>
        <p:nvSpPr>
          <p:cNvPr id="14" name="Shape 12"/>
          <p:cNvSpPr/>
          <p:nvPr/>
        </p:nvSpPr>
        <p:spPr>
          <a:xfrm>
            <a:off x="8010144" y="1874520"/>
            <a:ext cx="3520440" cy="1783080"/>
          </a:xfrm>
          <a:prstGeom prst="roundRect">
            <a:avLst>
              <a:gd name="adj" fmla="val 6154"/>
            </a:avLst>
          </a:prstGeom>
          <a:solidFill>
            <a:srgbClr val="E4EBF7"/>
          </a:solidFill>
          <a:ln/>
        </p:spPr>
      </p:sp>
      <p:sp>
        <p:nvSpPr>
          <p:cNvPr id="15" name="Shape 13"/>
          <p:cNvSpPr/>
          <p:nvPr/>
        </p:nvSpPr>
        <p:spPr>
          <a:xfrm>
            <a:off x="8266176" y="2112264"/>
            <a:ext cx="384048" cy="384048"/>
          </a:xfrm>
          <a:prstGeom prst="ellipse">
            <a:avLst/>
          </a:prstGeom>
          <a:solidFill>
            <a:srgbClr val="1E2761"/>
          </a:solidFill>
          <a:ln/>
        </p:spPr>
      </p:sp>
      <p:sp>
        <p:nvSpPr>
          <p:cNvPr id="16" name="Text 14"/>
          <p:cNvSpPr txBox="1"/>
          <p:nvPr/>
        </p:nvSpPr>
        <p:spPr>
          <a:xfrm>
            <a:off x="8266176" y="21122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787384" y="2075688"/>
            <a:ext cx="2560320"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Speed that holds</a:t>
            </a:r>
            <a:endParaRPr lang="en-US" sz="1500" dirty="0"/>
          </a:p>
        </p:txBody>
      </p:sp>
      <p:sp>
        <p:nvSpPr>
          <p:cNvPr id="18" name="Text 16"/>
          <p:cNvSpPr txBox="1"/>
          <p:nvPr/>
        </p:nvSpPr>
        <p:spPr>
          <a:xfrm>
            <a:off x="8284464" y="2651760"/>
            <a:ext cx="2971800" cy="8686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Every month a platform is not live is cost carried or revenue missed — but fast only counts if it survives production.</a:t>
            </a:r>
            <a:endParaRPr lang="en-US" sz="1150" dirty="0"/>
          </a:p>
        </p:txBody>
      </p:sp>
      <p:sp>
        <p:nvSpPr>
          <p:cNvPr id="19" name="Shape 17"/>
          <p:cNvSpPr/>
          <p:nvPr/>
        </p:nvSpPr>
        <p:spPr>
          <a:xfrm>
            <a:off x="640080" y="3840480"/>
            <a:ext cx="3520440" cy="1783080"/>
          </a:xfrm>
          <a:prstGeom prst="roundRect">
            <a:avLst>
              <a:gd name="adj" fmla="val 6154"/>
            </a:avLst>
          </a:prstGeom>
          <a:solidFill>
            <a:srgbClr val="EDF2FA"/>
          </a:solidFill>
          <a:ln/>
        </p:spPr>
      </p:sp>
      <p:sp>
        <p:nvSpPr>
          <p:cNvPr id="20" name="Shape 18"/>
          <p:cNvSpPr/>
          <p:nvPr/>
        </p:nvSpPr>
        <p:spPr>
          <a:xfrm>
            <a:off x="896112" y="4078224"/>
            <a:ext cx="384048" cy="384048"/>
          </a:xfrm>
          <a:prstGeom prst="ellipse">
            <a:avLst/>
          </a:prstGeom>
          <a:solidFill>
            <a:srgbClr val="3E5C8A"/>
          </a:solidFill>
          <a:ln/>
        </p:spPr>
      </p:sp>
      <p:sp>
        <p:nvSpPr>
          <p:cNvPr id="21" name="Text 19"/>
          <p:cNvSpPr txBox="1"/>
          <p:nvPr/>
        </p:nvSpPr>
        <p:spPr>
          <a:xfrm>
            <a:off x="896112" y="40782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417320" y="4041648"/>
            <a:ext cx="2560320"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Outside and in</a:t>
            </a:r>
            <a:endParaRPr lang="en-US" sz="1500" dirty="0"/>
          </a:p>
        </p:txBody>
      </p:sp>
      <p:sp>
        <p:nvSpPr>
          <p:cNvPr id="23" name="Text 21"/>
          <p:cNvSpPr txBox="1"/>
          <p:nvPr/>
        </p:nvSpPr>
        <p:spPr>
          <a:xfrm>
            <a:off x="914400" y="4617720"/>
            <a:ext cx="2971800" cy="8686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What the institution takes to market, and how it runs inside — smarter operations and better tools for its people.</a:t>
            </a:r>
            <a:endParaRPr lang="en-US" sz="1150" dirty="0"/>
          </a:p>
        </p:txBody>
      </p:sp>
      <p:sp>
        <p:nvSpPr>
          <p:cNvPr id="24" name="Shape 22"/>
          <p:cNvSpPr/>
          <p:nvPr/>
        </p:nvSpPr>
        <p:spPr>
          <a:xfrm>
            <a:off x="4325112" y="3840480"/>
            <a:ext cx="3520440" cy="1783080"/>
          </a:xfrm>
          <a:prstGeom prst="roundRect">
            <a:avLst>
              <a:gd name="adj" fmla="val 6154"/>
            </a:avLst>
          </a:prstGeom>
          <a:solidFill>
            <a:srgbClr val="E4EBF7"/>
          </a:solidFill>
          <a:ln/>
        </p:spPr>
      </p:sp>
      <p:sp>
        <p:nvSpPr>
          <p:cNvPr id="25" name="Shape 23"/>
          <p:cNvSpPr/>
          <p:nvPr/>
        </p:nvSpPr>
        <p:spPr>
          <a:xfrm>
            <a:off x="4581144" y="4078224"/>
            <a:ext cx="384048" cy="384048"/>
          </a:xfrm>
          <a:prstGeom prst="ellipse">
            <a:avLst/>
          </a:prstGeom>
          <a:solidFill>
            <a:srgbClr val="1E2761"/>
          </a:solidFill>
          <a:ln/>
        </p:spPr>
      </p:sp>
      <p:sp>
        <p:nvSpPr>
          <p:cNvPr id="26" name="Text 24"/>
          <p:cNvSpPr txBox="1"/>
          <p:nvPr/>
        </p:nvSpPr>
        <p:spPr>
          <a:xfrm>
            <a:off x="4581144" y="40782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5102352" y="4041648"/>
            <a:ext cx="2560320"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AI in the engine, not on the badge</a:t>
            </a:r>
            <a:endParaRPr lang="en-US" sz="1500" dirty="0"/>
          </a:p>
        </p:txBody>
      </p:sp>
      <p:sp>
        <p:nvSpPr>
          <p:cNvPr id="28" name="Text 26"/>
          <p:cNvSpPr txBox="1"/>
          <p:nvPr/>
        </p:nvSpPr>
        <p:spPr>
          <a:xfrm>
            <a:off x="4599432" y="4617720"/>
            <a:ext cx="2971800" cy="8686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In what we build and how we deliver. AI-native is oversubscribed; the credibility is in the proof, not the claim.</a:t>
            </a:r>
            <a:endParaRPr lang="en-US" sz="1150" dirty="0"/>
          </a:p>
        </p:txBody>
      </p:sp>
      <p:sp>
        <p:nvSpPr>
          <p:cNvPr id="29" name="Shape 27"/>
          <p:cNvSpPr/>
          <p:nvPr/>
        </p:nvSpPr>
        <p:spPr>
          <a:xfrm>
            <a:off x="8010144" y="3840480"/>
            <a:ext cx="3520440" cy="1783080"/>
          </a:xfrm>
          <a:prstGeom prst="roundRect">
            <a:avLst>
              <a:gd name="adj" fmla="val 6154"/>
            </a:avLst>
          </a:prstGeom>
          <a:solidFill>
            <a:srgbClr val="EDF2FA"/>
          </a:solidFill>
          <a:ln/>
        </p:spPr>
      </p:sp>
      <p:sp>
        <p:nvSpPr>
          <p:cNvPr id="30" name="Shape 28"/>
          <p:cNvSpPr/>
          <p:nvPr/>
        </p:nvSpPr>
        <p:spPr>
          <a:xfrm>
            <a:off x="8266176" y="4078224"/>
            <a:ext cx="384048" cy="384048"/>
          </a:xfrm>
          <a:prstGeom prst="ellipse">
            <a:avLst/>
          </a:prstGeom>
          <a:solidFill>
            <a:srgbClr val="3E5C8A"/>
          </a:solidFill>
          <a:ln/>
        </p:spPr>
      </p:sp>
      <p:sp>
        <p:nvSpPr>
          <p:cNvPr id="31" name="Text 29"/>
          <p:cNvSpPr txBox="1"/>
          <p:nvPr/>
        </p:nvSpPr>
        <p:spPr>
          <a:xfrm>
            <a:off x="8266176" y="40782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8787384" y="4041648"/>
            <a:ext cx="2560320"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All three, or it does not count</a:t>
            </a:r>
            <a:endParaRPr lang="en-US" sz="1500" dirty="0"/>
          </a:p>
        </p:txBody>
      </p:sp>
      <p:sp>
        <p:nvSpPr>
          <p:cNvPr id="33" name="Text 31"/>
          <p:cNvSpPr txBox="1"/>
          <p:nvPr/>
        </p:nvSpPr>
        <p:spPr>
          <a:xfrm>
            <a:off x="8284464" y="4617720"/>
            <a:ext cx="2971800" cy="8686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Banking, funds and insurance. A statement that only works for banks is a banking strategy, not ours.</a:t>
            </a:r>
            <a:endParaRPr lang="en-US" sz="1150" dirty="0"/>
          </a:p>
        </p:txBody>
      </p:sp>
      <p:sp>
        <p:nvSpPr>
          <p:cNvPr id="34" name="Text 32"/>
          <p:cNvSpPr txBox="1"/>
          <p:nvPr/>
        </p:nvSpPr>
        <p:spPr>
          <a:xfrm>
            <a:off x="640080" y="5897880"/>
            <a:ext cx="10881360" cy="365760"/>
          </a:xfrm>
          <a:prstGeom prst="rect">
            <a:avLst/>
          </a:prstGeom>
          <a:noFill/>
          <a:ln/>
        </p:spPr>
        <p:txBody>
          <a:bodyPr wrap="square" lIns="0" tIns="0" rIns="0" bIns="0" rtlCol="0" anchor="ctr"/>
          <a:lstStyle/>
          <a:p>
            <a:pPr indent="0" marL="0">
              <a:buNone/>
            </a:pPr>
            <a:r>
              <a:rPr lang="en-US" sz="1300" i="1" dirty="0">
                <a:solidFill>
                  <a:srgbClr val="3E5C8A"/>
                </a:solidFill>
                <a:latin typeface="Calibri" pitchFamily="34" charset="0"/>
                <a:ea typeface="Calibri" pitchFamily="34" charset="-122"/>
                <a:cs typeface="Calibri" pitchFamily="34" charset="-120"/>
              </a:rPr>
              <a:t>A statement that drops one of these is not a shorter vision — it is a different 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Three candidate statements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All three carry the six drivers. They differ in register and in what the headline claims.</a:t>
            </a:r>
            <a:endParaRPr lang="en-US" sz="1450" dirty="0"/>
          </a:p>
        </p:txBody>
      </p:sp>
      <p:sp>
        <p:nvSpPr>
          <p:cNvPr id="4" name="Shape 2"/>
          <p:cNvSpPr/>
          <p:nvPr/>
        </p:nvSpPr>
        <p:spPr>
          <a:xfrm>
            <a:off x="640080" y="1828800"/>
            <a:ext cx="3520440" cy="3611880"/>
          </a:xfrm>
          <a:prstGeom prst="roundRect">
            <a:avLst>
              <a:gd name="adj" fmla="val 3117"/>
            </a:avLst>
          </a:prstGeom>
          <a:solidFill>
            <a:srgbClr val="E4EBF7"/>
          </a:solidFill>
          <a:ln/>
        </p:spPr>
      </p:sp>
      <p:sp>
        <p:nvSpPr>
          <p:cNvPr id="5" name="Shape 3"/>
          <p:cNvSpPr/>
          <p:nvPr/>
        </p:nvSpPr>
        <p:spPr>
          <a:xfrm>
            <a:off x="914400" y="2057400"/>
            <a:ext cx="420624" cy="420624"/>
          </a:xfrm>
          <a:prstGeom prst="ellipse">
            <a:avLst/>
          </a:prstGeom>
          <a:solidFill>
            <a:srgbClr val="1E2761"/>
          </a:solidFill>
          <a:ln/>
        </p:spPr>
      </p:sp>
      <p:sp>
        <p:nvSpPr>
          <p:cNvPr id="6" name="Text 4"/>
          <p:cNvSpPr txBox="1"/>
          <p:nvPr/>
        </p:nvSpPr>
        <p:spPr>
          <a:xfrm>
            <a:off x="914400"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508760" y="2029968"/>
            <a:ext cx="2468880" cy="50292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Complexity, compressed</a:t>
            </a:r>
            <a:endParaRPr lang="en-US" sz="1550" dirty="0"/>
          </a:p>
        </p:txBody>
      </p:sp>
      <p:sp>
        <p:nvSpPr>
          <p:cNvPr id="8" name="Text 6"/>
          <p:cNvSpPr txBox="1"/>
          <p:nvPr/>
        </p:nvSpPr>
        <p:spPr>
          <a:xfrm>
            <a:off x="914400" y="2697480"/>
            <a:ext cx="2971800" cy="1828800"/>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“We take on the change financial institutions cannot afford to get wrong — modern platforms for their customers, intelligence and better tools for their people — brought end to end by one accountable team, with the assets and partnerships that compress the path.”</a:t>
            </a:r>
            <a:endParaRPr lang="en-US" sz="1150" dirty="0"/>
          </a:p>
        </p:txBody>
      </p:sp>
      <p:sp>
        <p:nvSpPr>
          <p:cNvPr id="9" name="Text 7"/>
          <p:cNvSpPr txBox="1"/>
          <p:nvPr/>
        </p:nvSpPr>
        <p:spPr>
          <a:xfrm>
            <a:off x="914400" y="4572000"/>
            <a:ext cx="2971800" cy="457200"/>
          </a:xfrm>
          <a:prstGeom prst="rect">
            <a:avLst/>
          </a:prstGeom>
          <a:noFill/>
          <a:ln/>
        </p:spPr>
        <p:txBody>
          <a:bodyPr wrap="square" lIns="0" tIns="0" rIns="0" bIns="0" rtlCol="0" anchor="ctr"/>
          <a:lstStyle/>
          <a:p>
            <a:pPr indent="0" marL="0">
              <a:buNone/>
            </a:pPr>
            <a:r>
              <a:rPr lang="en-US" sz="1150" b="1" dirty="0">
                <a:solidFill>
                  <a:srgbClr val="44506B"/>
                </a:solidFill>
                <a:latin typeface="Calibri" pitchFamily="34" charset="0"/>
                <a:ea typeface="Calibri" pitchFamily="34" charset="-122"/>
                <a:cs typeface="Calibri" pitchFamily="34" charset="-120"/>
              </a:rPr>
              <a:t>Lead candidate.</a:t>
            </a:r>
            <a:endParaRPr lang="en-US" sz="1150" dirty="0"/>
          </a:p>
        </p:txBody>
      </p:sp>
      <p:sp>
        <p:nvSpPr>
          <p:cNvPr id="10" name="Text 8"/>
          <p:cNvSpPr txBox="1"/>
          <p:nvPr/>
        </p:nvSpPr>
        <p:spPr>
          <a:xfrm>
            <a:off x="914400" y="4983480"/>
            <a:ext cx="2971800" cy="41148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Hard programmes and acceleration, in two words.</a:t>
            </a:r>
            <a:endParaRPr lang="en-US" sz="1050" dirty="0"/>
          </a:p>
        </p:txBody>
      </p:sp>
      <p:sp>
        <p:nvSpPr>
          <p:cNvPr id="11" name="Shape 9"/>
          <p:cNvSpPr/>
          <p:nvPr/>
        </p:nvSpPr>
        <p:spPr>
          <a:xfrm>
            <a:off x="4325112" y="1828800"/>
            <a:ext cx="3520440" cy="3611880"/>
          </a:xfrm>
          <a:prstGeom prst="roundRect">
            <a:avLst>
              <a:gd name="adj" fmla="val 3117"/>
            </a:avLst>
          </a:prstGeom>
          <a:solidFill>
            <a:srgbClr val="EDF2FA"/>
          </a:solidFill>
          <a:ln/>
        </p:spPr>
      </p:sp>
      <p:sp>
        <p:nvSpPr>
          <p:cNvPr id="12" name="Shape 10"/>
          <p:cNvSpPr/>
          <p:nvPr/>
        </p:nvSpPr>
        <p:spPr>
          <a:xfrm>
            <a:off x="4599432" y="2057400"/>
            <a:ext cx="420624" cy="420624"/>
          </a:xfrm>
          <a:prstGeom prst="ellipse">
            <a:avLst/>
          </a:prstGeom>
          <a:solidFill>
            <a:srgbClr val="3E5C8A"/>
          </a:solidFill>
          <a:ln/>
        </p:spPr>
      </p:sp>
      <p:sp>
        <p:nvSpPr>
          <p:cNvPr id="13" name="Text 11"/>
          <p:cNvSpPr txBox="1"/>
          <p:nvPr/>
        </p:nvSpPr>
        <p:spPr>
          <a:xfrm>
            <a:off x="4599432"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4" name="Text 12"/>
          <p:cNvSpPr txBox="1"/>
          <p:nvPr/>
        </p:nvSpPr>
        <p:spPr>
          <a:xfrm>
            <a:off x="5193792" y="2029968"/>
            <a:ext cx="2468880" cy="50292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Complex change, delivered at pace</a:t>
            </a:r>
            <a:endParaRPr lang="en-US" sz="1550" dirty="0"/>
          </a:p>
        </p:txBody>
      </p:sp>
      <p:sp>
        <p:nvSpPr>
          <p:cNvPr id="15" name="Text 13"/>
          <p:cNvSpPr txBox="1"/>
          <p:nvPr/>
        </p:nvSpPr>
        <p:spPr>
          <a:xfrm>
            <a:off x="4599432" y="2697480"/>
            <a:ext cx="2971800" cy="1828800"/>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“For the region’s banks, funds and insurers we turn the hardest change into working outcomes — platforms live for their customers, intelligence at work inside — one team across every stream, with the assets and alliances that shorten the path.”</a:t>
            </a:r>
            <a:endParaRPr lang="en-US" sz="1150" dirty="0"/>
          </a:p>
        </p:txBody>
      </p:sp>
      <p:sp>
        <p:nvSpPr>
          <p:cNvPr id="16" name="Text 14"/>
          <p:cNvSpPr txBox="1"/>
          <p:nvPr/>
        </p:nvSpPr>
        <p:spPr>
          <a:xfrm>
            <a:off x="4599432" y="4572000"/>
            <a:ext cx="2971800" cy="457200"/>
          </a:xfrm>
          <a:prstGeom prst="rect">
            <a:avLst/>
          </a:prstGeom>
          <a:noFill/>
          <a:ln/>
        </p:spPr>
        <p:txBody>
          <a:bodyPr wrap="square" lIns="0" tIns="0" rIns="0" bIns="0" rtlCol="0" anchor="ctr"/>
          <a:lstStyle/>
          <a:p>
            <a:pPr indent="0" marL="0">
              <a:buNone/>
            </a:pPr>
            <a:r>
              <a:rPr lang="en-US" sz="1150" b="1" dirty="0">
                <a:solidFill>
                  <a:srgbClr val="44506B"/>
                </a:solidFill>
                <a:latin typeface="Calibri" pitchFamily="34" charset="0"/>
                <a:ea typeface="Calibri" pitchFamily="34" charset="-122"/>
                <a:cs typeface="Calibri" pitchFamily="34" charset="-120"/>
              </a:rPr>
              <a:t>Alternate.</a:t>
            </a:r>
            <a:endParaRPr lang="en-US" sz="1150" dirty="0"/>
          </a:p>
        </p:txBody>
      </p:sp>
      <p:sp>
        <p:nvSpPr>
          <p:cNvPr id="17" name="Text 15"/>
          <p:cNvSpPr txBox="1"/>
          <p:nvPr/>
        </p:nvSpPr>
        <p:spPr>
          <a:xfrm>
            <a:off x="4599432" y="4983480"/>
            <a:ext cx="2971800" cy="41148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Most literal; names the sectors explicitly.</a:t>
            </a:r>
            <a:endParaRPr lang="en-US" sz="1050" dirty="0"/>
          </a:p>
        </p:txBody>
      </p:sp>
      <p:sp>
        <p:nvSpPr>
          <p:cNvPr id="18" name="Shape 16"/>
          <p:cNvSpPr/>
          <p:nvPr/>
        </p:nvSpPr>
        <p:spPr>
          <a:xfrm>
            <a:off x="8010144" y="1828800"/>
            <a:ext cx="3520440" cy="3611880"/>
          </a:xfrm>
          <a:prstGeom prst="roundRect">
            <a:avLst>
              <a:gd name="adj" fmla="val 3117"/>
            </a:avLst>
          </a:prstGeom>
          <a:solidFill>
            <a:srgbClr val="E4EBF7"/>
          </a:solidFill>
          <a:ln/>
        </p:spPr>
      </p:sp>
      <p:sp>
        <p:nvSpPr>
          <p:cNvPr id="19" name="Shape 17"/>
          <p:cNvSpPr/>
          <p:nvPr/>
        </p:nvSpPr>
        <p:spPr>
          <a:xfrm>
            <a:off x="8284464" y="2057400"/>
            <a:ext cx="420624" cy="420624"/>
          </a:xfrm>
          <a:prstGeom prst="ellipse">
            <a:avLst/>
          </a:prstGeom>
          <a:solidFill>
            <a:srgbClr val="1E2761"/>
          </a:solidFill>
          <a:ln/>
        </p:spPr>
      </p:sp>
      <p:sp>
        <p:nvSpPr>
          <p:cNvPr id="20" name="Text 18"/>
          <p:cNvSpPr txBox="1"/>
          <p:nvPr/>
        </p:nvSpPr>
        <p:spPr>
          <a:xfrm>
            <a:off x="8284464"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1" name="Text 19"/>
          <p:cNvSpPr txBox="1"/>
          <p:nvPr/>
        </p:nvSpPr>
        <p:spPr>
          <a:xfrm>
            <a:off x="8878824" y="2029968"/>
            <a:ext cx="2468880" cy="502920"/>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The hard things, on time</a:t>
            </a:r>
            <a:endParaRPr lang="en-US" sz="1550" dirty="0"/>
          </a:p>
        </p:txBody>
      </p:sp>
      <p:sp>
        <p:nvSpPr>
          <p:cNvPr id="22" name="Text 20"/>
          <p:cNvSpPr txBox="1"/>
          <p:nvPr/>
        </p:nvSpPr>
        <p:spPr>
          <a:xfrm>
            <a:off x="8284464" y="2697480"/>
            <a:ext cx="2971800" cy="1828800"/>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“We are the partner for the change that cannot slip — what they take to market and how they run inside — every stream under one accountable team, with proven assets behind it.”</a:t>
            </a:r>
            <a:endParaRPr lang="en-US" sz="1150" dirty="0"/>
          </a:p>
        </p:txBody>
      </p:sp>
      <p:sp>
        <p:nvSpPr>
          <p:cNvPr id="23" name="Text 21"/>
          <p:cNvSpPr txBox="1"/>
          <p:nvPr/>
        </p:nvSpPr>
        <p:spPr>
          <a:xfrm>
            <a:off x="8284464" y="4572000"/>
            <a:ext cx="2971800" cy="457200"/>
          </a:xfrm>
          <a:prstGeom prst="rect">
            <a:avLst/>
          </a:prstGeom>
          <a:noFill/>
          <a:ln/>
        </p:spPr>
        <p:txBody>
          <a:bodyPr wrap="square" lIns="0" tIns="0" rIns="0" bIns="0" rtlCol="0" anchor="ctr"/>
          <a:lstStyle/>
          <a:p>
            <a:pPr indent="0" marL="0">
              <a:buNone/>
            </a:pPr>
            <a:r>
              <a:rPr lang="en-US" sz="1150" b="1" dirty="0">
                <a:solidFill>
                  <a:srgbClr val="44506B"/>
                </a:solidFill>
                <a:latin typeface="Calibri" pitchFamily="34" charset="0"/>
                <a:ea typeface="Calibri" pitchFamily="34" charset="-122"/>
                <a:cs typeface="Calibri" pitchFamily="34" charset="-120"/>
              </a:rPr>
              <a:t>Alternate.</a:t>
            </a:r>
            <a:endParaRPr lang="en-US" sz="1150" dirty="0"/>
          </a:p>
        </p:txBody>
      </p:sp>
      <p:sp>
        <p:nvSpPr>
          <p:cNvPr id="24" name="Text 22"/>
          <p:cNvSpPr txBox="1"/>
          <p:nvPr/>
        </p:nvSpPr>
        <p:spPr>
          <a:xfrm>
            <a:off x="8284464" y="4983480"/>
            <a:ext cx="2971800" cy="41148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Understated; argues against the alternatives, not for us.</a:t>
            </a:r>
            <a:endParaRPr lang="en-US" sz="1050" dirty="0"/>
          </a:p>
        </p:txBody>
      </p:sp>
      <p:sp>
        <p:nvSpPr>
          <p:cNvPr id="25" name="Shape 23"/>
          <p:cNvSpPr/>
          <p:nvPr/>
        </p:nvSpPr>
        <p:spPr>
          <a:xfrm>
            <a:off x="640080" y="5577840"/>
            <a:ext cx="10881360" cy="822960"/>
          </a:xfrm>
          <a:prstGeom prst="roundRect">
            <a:avLst>
              <a:gd name="adj" fmla="val 11111"/>
            </a:avLst>
          </a:prstGeom>
          <a:solidFill>
            <a:srgbClr val="1E2761"/>
          </a:solidFill>
          <a:ln/>
        </p:spPr>
      </p:sp>
      <p:sp>
        <p:nvSpPr>
          <p:cNvPr id="26" name="Text 24"/>
          <p:cNvSpPr txBox="1"/>
          <p:nvPr/>
        </p:nvSpPr>
        <p:spPr>
          <a:xfrm>
            <a:off x="914400" y="5577840"/>
            <a:ext cx="10332720" cy="8229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 test: does the headline alone already exclude an internal team and a lower-cost integrator — and could a competitor lift it word for word?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Principles we hold going in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Constraints on the answers, agreed before the work starts.</a:t>
            </a:r>
            <a:endParaRPr lang="en-US" sz="1450" dirty="0"/>
          </a:p>
        </p:txBody>
      </p:sp>
      <p:sp>
        <p:nvSpPr>
          <p:cNvPr id="4" name="Shape 2"/>
          <p:cNvSpPr/>
          <p:nvPr/>
        </p:nvSpPr>
        <p:spPr>
          <a:xfrm>
            <a:off x="640080" y="1691640"/>
            <a:ext cx="5257800" cy="1051560"/>
          </a:xfrm>
          <a:prstGeom prst="roundRect">
            <a:avLst>
              <a:gd name="adj" fmla="val 8696"/>
            </a:avLst>
          </a:prstGeom>
          <a:solidFill>
            <a:srgbClr val="EDF2FA"/>
          </a:solidFill>
          <a:ln/>
        </p:spPr>
      </p:sp>
      <p:sp>
        <p:nvSpPr>
          <p:cNvPr id="5" name="Shape 3"/>
          <p:cNvSpPr/>
          <p:nvPr/>
        </p:nvSpPr>
        <p:spPr>
          <a:xfrm>
            <a:off x="896112" y="1892808"/>
            <a:ext cx="365760" cy="365760"/>
          </a:xfrm>
          <a:prstGeom prst="ellipse">
            <a:avLst/>
          </a:prstGeom>
          <a:solidFill>
            <a:srgbClr val="1E2761"/>
          </a:solidFill>
          <a:ln/>
        </p:spPr>
      </p:sp>
      <p:sp>
        <p:nvSpPr>
          <p:cNvPr id="6" name="Text 4"/>
          <p:cNvSpPr txBox="1"/>
          <p:nvPr/>
        </p:nvSpPr>
        <p:spPr>
          <a:xfrm>
            <a:off x="896112" y="18928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17320" y="1837944"/>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Integrated, not siloed</a:t>
            </a:r>
            <a:endParaRPr lang="en-US" sz="1550" dirty="0"/>
          </a:p>
        </p:txBody>
      </p:sp>
      <p:sp>
        <p:nvSpPr>
          <p:cNvPr id="8" name="Text 6"/>
          <p:cNvSpPr txBox="1"/>
          <p:nvPr/>
        </p:nvSpPr>
        <p:spPr>
          <a:xfrm>
            <a:off x="1417320" y="2167128"/>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Cross-pillar propositions are the default catalogue; single-pillar sales are an entry point, not the destination.</a:t>
            </a:r>
            <a:endParaRPr lang="en-US" sz="1150" dirty="0"/>
          </a:p>
        </p:txBody>
      </p:sp>
      <p:sp>
        <p:nvSpPr>
          <p:cNvPr id="9" name="Shape 7"/>
          <p:cNvSpPr/>
          <p:nvPr/>
        </p:nvSpPr>
        <p:spPr>
          <a:xfrm>
            <a:off x="6263640" y="1691640"/>
            <a:ext cx="5257800" cy="1051560"/>
          </a:xfrm>
          <a:prstGeom prst="roundRect">
            <a:avLst>
              <a:gd name="adj" fmla="val 8696"/>
            </a:avLst>
          </a:prstGeom>
          <a:solidFill>
            <a:srgbClr val="EDF2FA"/>
          </a:solidFill>
          <a:ln/>
        </p:spPr>
      </p:sp>
      <p:sp>
        <p:nvSpPr>
          <p:cNvPr id="10" name="Shape 8"/>
          <p:cNvSpPr/>
          <p:nvPr/>
        </p:nvSpPr>
        <p:spPr>
          <a:xfrm>
            <a:off x="6519672" y="1892808"/>
            <a:ext cx="365760" cy="365760"/>
          </a:xfrm>
          <a:prstGeom prst="ellipse">
            <a:avLst/>
          </a:prstGeom>
          <a:solidFill>
            <a:srgbClr val="3E5C8A"/>
          </a:solidFill>
          <a:ln/>
        </p:spPr>
      </p:sp>
      <p:sp>
        <p:nvSpPr>
          <p:cNvPr id="11" name="Text 9"/>
          <p:cNvSpPr txBox="1"/>
          <p:nvPr/>
        </p:nvSpPr>
        <p:spPr>
          <a:xfrm>
            <a:off x="6519672" y="18928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7040880" y="1837944"/>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Named accounts, not averages</a:t>
            </a:r>
            <a:endParaRPr lang="en-US" sz="1550" dirty="0"/>
          </a:p>
        </p:txBody>
      </p:sp>
      <p:sp>
        <p:nvSpPr>
          <p:cNvPr id="13" name="Text 11"/>
          <p:cNvSpPr txBox="1"/>
          <p:nvPr/>
        </p:nvSpPr>
        <p:spPr>
          <a:xfrm>
            <a:off x="7040880" y="2167128"/>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output is a specific target list with owners, not a market-size view.</a:t>
            </a:r>
            <a:endParaRPr lang="en-US" sz="1150" dirty="0"/>
          </a:p>
        </p:txBody>
      </p:sp>
      <p:sp>
        <p:nvSpPr>
          <p:cNvPr id="14" name="Shape 12"/>
          <p:cNvSpPr/>
          <p:nvPr/>
        </p:nvSpPr>
        <p:spPr>
          <a:xfrm>
            <a:off x="640080" y="2862072"/>
            <a:ext cx="5257800" cy="1051560"/>
          </a:xfrm>
          <a:prstGeom prst="roundRect">
            <a:avLst>
              <a:gd name="adj" fmla="val 8696"/>
            </a:avLst>
          </a:prstGeom>
          <a:solidFill>
            <a:srgbClr val="EDF2FA"/>
          </a:solidFill>
          <a:ln/>
        </p:spPr>
      </p:sp>
      <p:sp>
        <p:nvSpPr>
          <p:cNvPr id="15" name="Shape 13"/>
          <p:cNvSpPr/>
          <p:nvPr/>
        </p:nvSpPr>
        <p:spPr>
          <a:xfrm>
            <a:off x="896112" y="3063240"/>
            <a:ext cx="365760" cy="365760"/>
          </a:xfrm>
          <a:prstGeom prst="ellipse">
            <a:avLst/>
          </a:prstGeom>
          <a:solidFill>
            <a:srgbClr val="1E2761"/>
          </a:solidFill>
          <a:ln/>
        </p:spPr>
      </p:sp>
      <p:sp>
        <p:nvSpPr>
          <p:cNvPr id="16" name="Text 14"/>
          <p:cNvSpPr txBox="1"/>
          <p:nvPr/>
        </p:nvSpPr>
        <p:spPr>
          <a:xfrm>
            <a:off x="896112" y="3063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417320" y="3008376"/>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Sized and priced</a:t>
            </a:r>
            <a:endParaRPr lang="en-US" sz="1550" dirty="0"/>
          </a:p>
        </p:txBody>
      </p:sp>
      <p:sp>
        <p:nvSpPr>
          <p:cNvPr id="18" name="Text 16"/>
          <p:cNvSpPr txBox="1"/>
          <p:nvPr/>
        </p:nvSpPr>
        <p:spPr>
          <a:xfrm>
            <a:off x="1417320" y="3337560"/>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Every proposition carries a buyer, an indicative deal size and a price band.</a:t>
            </a:r>
            <a:endParaRPr lang="en-US" sz="1150" dirty="0"/>
          </a:p>
        </p:txBody>
      </p:sp>
      <p:sp>
        <p:nvSpPr>
          <p:cNvPr id="19" name="Shape 17"/>
          <p:cNvSpPr/>
          <p:nvPr/>
        </p:nvSpPr>
        <p:spPr>
          <a:xfrm>
            <a:off x="6263640" y="2862072"/>
            <a:ext cx="5257800" cy="1051560"/>
          </a:xfrm>
          <a:prstGeom prst="roundRect">
            <a:avLst>
              <a:gd name="adj" fmla="val 8696"/>
            </a:avLst>
          </a:prstGeom>
          <a:solidFill>
            <a:srgbClr val="EDF2FA"/>
          </a:solidFill>
          <a:ln/>
        </p:spPr>
      </p:sp>
      <p:sp>
        <p:nvSpPr>
          <p:cNvPr id="20" name="Shape 18"/>
          <p:cNvSpPr/>
          <p:nvPr/>
        </p:nvSpPr>
        <p:spPr>
          <a:xfrm>
            <a:off x="6519672" y="3063240"/>
            <a:ext cx="365760" cy="365760"/>
          </a:xfrm>
          <a:prstGeom prst="ellipse">
            <a:avLst/>
          </a:prstGeom>
          <a:solidFill>
            <a:srgbClr val="3E5C8A"/>
          </a:solidFill>
          <a:ln/>
        </p:spPr>
      </p:sp>
      <p:sp>
        <p:nvSpPr>
          <p:cNvPr id="21" name="Text 19"/>
          <p:cNvSpPr txBox="1"/>
          <p:nvPr/>
        </p:nvSpPr>
        <p:spPr>
          <a:xfrm>
            <a:off x="6519672" y="3063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040880" y="3008376"/>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Covered by a partner</a:t>
            </a:r>
            <a:endParaRPr lang="en-US" sz="1550" dirty="0"/>
          </a:p>
        </p:txBody>
      </p:sp>
      <p:sp>
        <p:nvSpPr>
          <p:cNvPr id="23" name="Text 21"/>
          <p:cNvSpPr txBox="1"/>
          <p:nvPr/>
        </p:nvSpPr>
        <p:spPr>
          <a:xfrm>
            <a:off x="7040880" y="3337560"/>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Every priority account has one accountable owner and a defined partner play.</a:t>
            </a:r>
            <a:endParaRPr lang="en-US" sz="1150" dirty="0"/>
          </a:p>
        </p:txBody>
      </p:sp>
      <p:sp>
        <p:nvSpPr>
          <p:cNvPr id="24" name="Shape 22"/>
          <p:cNvSpPr/>
          <p:nvPr/>
        </p:nvSpPr>
        <p:spPr>
          <a:xfrm>
            <a:off x="640080" y="4032504"/>
            <a:ext cx="5257800" cy="1051560"/>
          </a:xfrm>
          <a:prstGeom prst="roundRect">
            <a:avLst>
              <a:gd name="adj" fmla="val 8696"/>
            </a:avLst>
          </a:prstGeom>
          <a:solidFill>
            <a:srgbClr val="EDF2FA"/>
          </a:solidFill>
          <a:ln/>
        </p:spPr>
      </p:sp>
      <p:sp>
        <p:nvSpPr>
          <p:cNvPr id="25" name="Shape 23"/>
          <p:cNvSpPr/>
          <p:nvPr/>
        </p:nvSpPr>
        <p:spPr>
          <a:xfrm>
            <a:off x="896112" y="4233672"/>
            <a:ext cx="365760" cy="365760"/>
          </a:xfrm>
          <a:prstGeom prst="ellipse">
            <a:avLst/>
          </a:prstGeom>
          <a:solidFill>
            <a:srgbClr val="1E2761"/>
          </a:solidFill>
          <a:ln/>
        </p:spPr>
      </p:sp>
      <p:sp>
        <p:nvSpPr>
          <p:cNvPr id="26" name="Text 24"/>
          <p:cNvSpPr txBox="1"/>
          <p:nvPr/>
        </p:nvSpPr>
        <p:spPr>
          <a:xfrm>
            <a:off x="896112" y="4233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417320" y="4178808"/>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Deliverable by design</a:t>
            </a:r>
            <a:endParaRPr lang="en-US" sz="1550" dirty="0"/>
          </a:p>
        </p:txBody>
      </p:sp>
      <p:sp>
        <p:nvSpPr>
          <p:cNvPr id="28" name="Text 26"/>
          <p:cNvSpPr txBox="1"/>
          <p:nvPr/>
        </p:nvSpPr>
        <p:spPr>
          <a:xfrm>
            <a:off x="1417320" y="4507992"/>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Nothing enters the catalogue that we cannot staff and deliver to standard.</a:t>
            </a:r>
            <a:endParaRPr lang="en-US" sz="1150" dirty="0"/>
          </a:p>
        </p:txBody>
      </p:sp>
      <p:sp>
        <p:nvSpPr>
          <p:cNvPr id="29" name="Shape 27"/>
          <p:cNvSpPr/>
          <p:nvPr/>
        </p:nvSpPr>
        <p:spPr>
          <a:xfrm>
            <a:off x="6263640" y="4032504"/>
            <a:ext cx="5257800" cy="1051560"/>
          </a:xfrm>
          <a:prstGeom prst="roundRect">
            <a:avLst>
              <a:gd name="adj" fmla="val 8696"/>
            </a:avLst>
          </a:prstGeom>
          <a:solidFill>
            <a:srgbClr val="EDF2FA"/>
          </a:solidFill>
          <a:ln/>
        </p:spPr>
      </p:sp>
      <p:sp>
        <p:nvSpPr>
          <p:cNvPr id="30" name="Shape 28"/>
          <p:cNvSpPr/>
          <p:nvPr/>
        </p:nvSpPr>
        <p:spPr>
          <a:xfrm>
            <a:off x="6519672" y="4233672"/>
            <a:ext cx="365760" cy="365760"/>
          </a:xfrm>
          <a:prstGeom prst="ellipse">
            <a:avLst/>
          </a:prstGeom>
          <a:solidFill>
            <a:srgbClr val="3E5C8A"/>
          </a:solidFill>
          <a:ln/>
        </p:spPr>
      </p:sp>
      <p:sp>
        <p:nvSpPr>
          <p:cNvPr id="31" name="Text 29"/>
          <p:cNvSpPr txBox="1"/>
          <p:nvPr/>
        </p:nvSpPr>
        <p:spPr>
          <a:xfrm>
            <a:off x="6519672" y="4233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7040880" y="4178808"/>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Domain-specific, not agnostic</a:t>
            </a:r>
            <a:endParaRPr lang="en-US" sz="1550" dirty="0"/>
          </a:p>
        </p:txBody>
      </p:sp>
      <p:sp>
        <p:nvSpPr>
          <p:cNvPr id="33" name="Text 31"/>
          <p:cNvSpPr txBox="1"/>
          <p:nvPr/>
        </p:nvSpPr>
        <p:spPr>
          <a:xfrm>
            <a:off x="7040880" y="4507992"/>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Each FSI sector is specialised and clients expect it: propositions, credentials and CVs speak that sector’s language.</a:t>
            </a:r>
            <a:endParaRPr lang="en-US" sz="1150" dirty="0"/>
          </a:p>
        </p:txBody>
      </p:sp>
      <p:sp>
        <p:nvSpPr>
          <p:cNvPr id="34" name="Shape 32"/>
          <p:cNvSpPr/>
          <p:nvPr/>
        </p:nvSpPr>
        <p:spPr>
          <a:xfrm>
            <a:off x="640080" y="5202936"/>
            <a:ext cx="5257800" cy="1051560"/>
          </a:xfrm>
          <a:prstGeom prst="roundRect">
            <a:avLst>
              <a:gd name="adj" fmla="val 8696"/>
            </a:avLst>
          </a:prstGeom>
          <a:solidFill>
            <a:srgbClr val="EDF2FA"/>
          </a:solidFill>
          <a:ln/>
        </p:spPr>
      </p:sp>
      <p:sp>
        <p:nvSpPr>
          <p:cNvPr id="35" name="Shape 33"/>
          <p:cNvSpPr/>
          <p:nvPr/>
        </p:nvSpPr>
        <p:spPr>
          <a:xfrm>
            <a:off x="896112" y="5404104"/>
            <a:ext cx="365760" cy="365760"/>
          </a:xfrm>
          <a:prstGeom prst="ellipse">
            <a:avLst/>
          </a:prstGeom>
          <a:solidFill>
            <a:srgbClr val="1E2761"/>
          </a:solidFill>
          <a:ln/>
        </p:spPr>
      </p:sp>
      <p:sp>
        <p:nvSpPr>
          <p:cNvPr id="36" name="Text 34"/>
          <p:cNvSpPr txBox="1"/>
          <p:nvPr/>
        </p:nvSpPr>
        <p:spPr>
          <a:xfrm>
            <a:off x="896112" y="54041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txBox="1"/>
          <p:nvPr/>
        </p:nvSpPr>
        <p:spPr>
          <a:xfrm>
            <a:off x="1417320" y="5349240"/>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AI and innovation embedded</a:t>
            </a:r>
            <a:endParaRPr lang="en-US" sz="1550" dirty="0"/>
          </a:p>
        </p:txBody>
      </p:sp>
      <p:sp>
        <p:nvSpPr>
          <p:cNvPr id="38" name="Text 36"/>
          <p:cNvSpPr txBox="1"/>
          <p:nvPr/>
        </p:nvSpPr>
        <p:spPr>
          <a:xfrm>
            <a:off x="1417320" y="5678424"/>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Not a separate offering: every proposition carries an AI and innovation component by design.</a:t>
            </a:r>
            <a:endParaRPr lang="en-US" sz="1150" dirty="0"/>
          </a:p>
        </p:txBody>
      </p:sp>
      <p:sp>
        <p:nvSpPr>
          <p:cNvPr id="39" name="Shape 37"/>
          <p:cNvSpPr/>
          <p:nvPr/>
        </p:nvSpPr>
        <p:spPr>
          <a:xfrm>
            <a:off x="6263640" y="5202936"/>
            <a:ext cx="5257800" cy="1051560"/>
          </a:xfrm>
          <a:prstGeom prst="roundRect">
            <a:avLst>
              <a:gd name="adj" fmla="val 8696"/>
            </a:avLst>
          </a:prstGeom>
          <a:solidFill>
            <a:srgbClr val="EDF2FA"/>
          </a:solidFill>
          <a:ln/>
        </p:spPr>
      </p:sp>
      <p:sp>
        <p:nvSpPr>
          <p:cNvPr id="40" name="Shape 38"/>
          <p:cNvSpPr/>
          <p:nvPr/>
        </p:nvSpPr>
        <p:spPr>
          <a:xfrm>
            <a:off x="6519672" y="5404104"/>
            <a:ext cx="365760" cy="365760"/>
          </a:xfrm>
          <a:prstGeom prst="ellipse">
            <a:avLst/>
          </a:prstGeom>
          <a:solidFill>
            <a:srgbClr val="3E5C8A"/>
          </a:solidFill>
          <a:ln/>
        </p:spPr>
      </p:sp>
      <p:sp>
        <p:nvSpPr>
          <p:cNvPr id="41" name="Text 39"/>
          <p:cNvSpPr txBox="1"/>
          <p:nvPr/>
        </p:nvSpPr>
        <p:spPr>
          <a:xfrm>
            <a:off x="6519672" y="54041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7040880" y="5349240"/>
            <a:ext cx="4297680" cy="292608"/>
          </a:xfrm>
          <a:prstGeom prst="rect">
            <a:avLst/>
          </a:prstGeom>
          <a:noFill/>
          <a:ln/>
        </p:spPr>
        <p:txBody>
          <a:bodyPr wrap="square" lIns="0" tIns="0" rIns="0" bIns="0" rtlCol="0" anchor="ctr"/>
          <a:lstStyle/>
          <a:p>
            <a:pPr indent="0" marL="0">
              <a:buNone/>
            </a:pPr>
            <a:r>
              <a:rPr lang="en-US" sz="1550" b="1" dirty="0">
                <a:solidFill>
                  <a:srgbClr val="16203A"/>
                </a:solidFill>
                <a:latin typeface="Calibri" pitchFamily="34" charset="0"/>
                <a:ea typeface="Calibri" pitchFamily="34" charset="-122"/>
                <a:cs typeface="Calibri" pitchFamily="34" charset="-120"/>
              </a:rPr>
              <a:t>One integrated market team</a:t>
            </a:r>
            <a:endParaRPr lang="en-US" sz="1550" dirty="0"/>
          </a:p>
        </p:txBody>
      </p:sp>
      <p:sp>
        <p:nvSpPr>
          <p:cNvPr id="43" name="Text 41"/>
          <p:cNvSpPr txBox="1"/>
          <p:nvPr/>
        </p:nvSpPr>
        <p:spPr>
          <a:xfrm>
            <a:off x="7040880" y="5678424"/>
            <a:ext cx="4297680" cy="530352"/>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Every partner and director knows the whole catalogue, reads the signals, positions level one, then pulls in the specialist.</a:t>
            </a:r>
            <a:endParaRPr lang="en-US" sz="1150" dirty="0"/>
          </a:p>
        </p:txBody>
      </p:sp>
      <p:sp>
        <p:nvSpPr>
          <p:cNvPr id="44" name="Text 42"/>
          <p:cNvSpPr txBox="1"/>
          <p:nvPr/>
        </p:nvSpPr>
        <p:spPr>
          <a:xfrm>
            <a:off x="640080" y="6355080"/>
            <a:ext cx="10881360" cy="365760"/>
          </a:xfrm>
          <a:prstGeom prst="rect">
            <a:avLst/>
          </a:prstGeom>
          <a:noFill/>
          <a:ln/>
        </p:spPr>
        <p:txBody>
          <a:bodyPr wrap="square" lIns="0" tIns="0" rIns="0" bIns="0" rtlCol="0" anchor="ctr"/>
          <a:lstStyle/>
          <a:p>
            <a:pPr indent="0" marL="0">
              <a:buNone/>
            </a:pPr>
            <a:r>
              <a:rPr lang="en-US" sz="1200" i="1" dirty="0">
                <a:solidFill>
                  <a:srgbClr val="3E5C8A"/>
                </a:solidFill>
                <a:latin typeface="Calibri" pitchFamily="34" charset="0"/>
                <a:ea typeface="Calibri" pitchFamily="34" charset="-122"/>
                <a:cs typeface="Calibri" pitchFamily="34" charset="-120"/>
              </a:rPr>
              <a:t>These are the rules the strategy must obey. Anything else remains open.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3108960"/>
            <a:ext cx="5120640" cy="5120640"/>
          </a:xfrm>
          <a:prstGeom prst="ellipse">
            <a:avLst/>
          </a:prstGeom>
          <a:solidFill>
            <a:srgbClr val="3E5C8A">
              <a:alpha val="45000"/>
            </a:srgbClr>
          </a:solidFill>
          <a:ln/>
        </p:spPr>
      </p:sp>
      <p:sp>
        <p:nvSpPr>
          <p:cNvPr id="3" name="Text 1"/>
          <p:cNvSpPr txBox="1"/>
          <p:nvPr/>
        </p:nvSpPr>
        <p:spPr>
          <a:xfrm>
            <a:off x="822960" y="1965960"/>
            <a:ext cx="4572000" cy="365760"/>
          </a:xfrm>
          <a:prstGeom prst="rect">
            <a:avLst/>
          </a:prstGeom>
          <a:noFill/>
          <a:ln/>
        </p:spPr>
        <p:txBody>
          <a:bodyPr wrap="square" lIns="0" tIns="0" rIns="0" bIns="0" rtlCol="0" anchor="ctr"/>
          <a:lstStyle/>
          <a:p>
            <a:pPr indent="0" marL="0">
              <a:buNone/>
            </a:pPr>
            <a:r>
              <a:rPr lang="en-US" sz="1300" b="1" spc="200" kern="0" dirty="0">
                <a:solidFill>
                  <a:srgbClr val="9AA7C4"/>
                </a:solidFill>
                <a:latin typeface="Calibri" pitchFamily="34" charset="0"/>
                <a:ea typeface="Calibri" pitchFamily="34" charset="-122"/>
                <a:cs typeface="Calibri" pitchFamily="34" charset="-120"/>
              </a:rPr>
              <a:t>PART THREE</a:t>
            </a:r>
            <a:endParaRPr lang="en-US" sz="1300" dirty="0"/>
          </a:p>
        </p:txBody>
      </p:sp>
      <p:sp>
        <p:nvSpPr>
          <p:cNvPr id="4" name="Text 2"/>
          <p:cNvSpPr txBox="1"/>
          <p:nvPr/>
        </p:nvSpPr>
        <p:spPr>
          <a:xfrm>
            <a:off x="804672" y="2377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the strategy must cover</a:t>
            </a:r>
            <a:endParaRPr lang="en-US" sz="3800" dirty="0"/>
          </a:p>
        </p:txBody>
      </p:sp>
      <p:sp>
        <p:nvSpPr>
          <p:cNvPr id="5" name="Text 3"/>
          <p:cNvSpPr txBox="1"/>
          <p:nvPr/>
        </p:nvSpPr>
        <p:spPr>
          <a:xfrm>
            <a:off x="850392" y="3337560"/>
            <a:ext cx="758952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architecture, then a closer look at each pillar.</a:t>
            </a:r>
            <a:endParaRPr lang="en-US" sz="1500" dirty="0"/>
          </a:p>
        </p:txBody>
      </p:sp>
      <p:sp>
        <p:nvSpPr>
          <p:cNvPr id="6" name="Text 4"/>
          <p:cNvSpPr txBox="1"/>
          <p:nvPr/>
        </p:nvSpPr>
        <p:spPr>
          <a:xfrm>
            <a:off x="850392" y="4023360"/>
            <a:ext cx="7589520" cy="16459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The ambition, four pillars and the discipline</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Markets, tiers and accounts</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Delivery, economics and people</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Alliances and eminence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What the strategy must cover</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The shape of the strategy we are going to build — not the strategy itself.</a:t>
            </a:r>
            <a:endParaRPr lang="en-US" sz="1450" dirty="0"/>
          </a:p>
        </p:txBody>
      </p:sp>
      <p:sp>
        <p:nvSpPr>
          <p:cNvPr id="4" name="Shape 2"/>
          <p:cNvSpPr/>
          <p:nvPr/>
        </p:nvSpPr>
        <p:spPr>
          <a:xfrm>
            <a:off x="640080" y="1737360"/>
            <a:ext cx="10881360" cy="713232"/>
          </a:xfrm>
          <a:prstGeom prst="roundRect">
            <a:avLst>
              <a:gd name="adj" fmla="val 12821"/>
            </a:avLst>
          </a:prstGeom>
          <a:solidFill>
            <a:srgbClr val="1E2761"/>
          </a:solidFill>
          <a:ln/>
        </p:spPr>
      </p:sp>
      <p:sp>
        <p:nvSpPr>
          <p:cNvPr id="5" name="Text 3"/>
          <p:cNvSpPr txBox="1"/>
          <p:nvPr/>
        </p:nvSpPr>
        <p:spPr>
          <a:xfrm>
            <a:off x="914400" y="1737360"/>
            <a:ext cx="2377440" cy="713232"/>
          </a:xfrm>
          <a:prstGeom prst="rect">
            <a:avLst/>
          </a:prstGeom>
          <a:noFill/>
          <a:ln/>
        </p:spPr>
        <p:txBody>
          <a:bodyPr wrap="square" lIns="0" tIns="0" rIns="0" bIns="0" rtlCol="0" anchor="ctr"/>
          <a:lstStyle/>
          <a:p>
            <a:pPr indent="0" marL="0">
              <a:buNone/>
            </a:pPr>
            <a:r>
              <a:rPr lang="en-US" sz="1300" b="1" spc="150" kern="0" dirty="0">
                <a:solidFill>
                  <a:srgbClr val="CADCFC"/>
                </a:solidFill>
                <a:latin typeface="Calibri" pitchFamily="34" charset="0"/>
                <a:ea typeface="Calibri" pitchFamily="34" charset="-122"/>
                <a:cs typeface="Calibri" pitchFamily="34" charset="-120"/>
              </a:rPr>
              <a:t>THE AMBITION</a:t>
            </a:r>
            <a:endParaRPr lang="en-US" sz="1300" dirty="0"/>
          </a:p>
        </p:txBody>
      </p:sp>
      <p:sp>
        <p:nvSpPr>
          <p:cNvPr id="6" name="Text 4"/>
          <p:cNvSpPr txBox="1"/>
          <p:nvPr/>
        </p:nvSpPr>
        <p:spPr>
          <a:xfrm>
            <a:off x="3383280" y="1737360"/>
            <a:ext cx="7863840" cy="71323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What winning looks like, in numbers, by when</a:t>
            </a:r>
            <a:endParaRPr lang="en-US" sz="1500" dirty="0"/>
          </a:p>
        </p:txBody>
      </p:sp>
      <p:sp>
        <p:nvSpPr>
          <p:cNvPr id="7" name="Shape 5"/>
          <p:cNvSpPr/>
          <p:nvPr/>
        </p:nvSpPr>
        <p:spPr>
          <a:xfrm>
            <a:off x="640080" y="2606040"/>
            <a:ext cx="2596896" cy="2971800"/>
          </a:xfrm>
          <a:prstGeom prst="roundRect">
            <a:avLst>
              <a:gd name="adj" fmla="val 4225"/>
            </a:avLst>
          </a:prstGeom>
          <a:solidFill>
            <a:srgbClr val="E4EBF7"/>
          </a:solidFill>
          <a:ln/>
        </p:spPr>
      </p:sp>
      <p:sp>
        <p:nvSpPr>
          <p:cNvPr id="8" name="Shape 6"/>
          <p:cNvSpPr/>
          <p:nvPr/>
        </p:nvSpPr>
        <p:spPr>
          <a:xfrm>
            <a:off x="640080" y="2606040"/>
            <a:ext cx="2596896" cy="841248"/>
          </a:xfrm>
          <a:prstGeom prst="rect">
            <a:avLst/>
          </a:prstGeom>
          <a:solidFill>
            <a:srgbClr val="1E2761"/>
          </a:solidFill>
          <a:ln/>
        </p:spPr>
      </p:sp>
      <p:sp>
        <p:nvSpPr>
          <p:cNvPr id="9" name="Text 7"/>
          <p:cNvSpPr txBox="1"/>
          <p:nvPr/>
        </p:nvSpPr>
        <p:spPr>
          <a:xfrm>
            <a:off x="841248" y="2606040"/>
            <a:ext cx="2194560" cy="841248"/>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Market</a:t>
            </a:r>
            <a:endParaRPr lang="en-US" sz="1500" dirty="0"/>
          </a:p>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and clients</a:t>
            </a:r>
            <a:endParaRPr lang="en-US" sz="1500" dirty="0"/>
          </a:p>
        </p:txBody>
      </p:sp>
      <p:sp>
        <p:nvSpPr>
          <p:cNvPr id="10" name="Text 8"/>
          <p:cNvSpPr txBox="1"/>
          <p:nvPr/>
        </p:nvSpPr>
        <p:spPr>
          <a:xfrm>
            <a:off x="841248" y="3611880"/>
            <a:ext cx="2212848" cy="18745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Markets and FSI sectors</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Tier one and tier two</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Named target accounts</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Offerings and revenue per account</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Coverage and ownership</a:t>
            </a:r>
            <a:endParaRPr lang="en-US" sz="1150" dirty="0"/>
          </a:p>
        </p:txBody>
      </p:sp>
      <p:sp>
        <p:nvSpPr>
          <p:cNvPr id="11" name="Shape 9"/>
          <p:cNvSpPr/>
          <p:nvPr/>
        </p:nvSpPr>
        <p:spPr>
          <a:xfrm>
            <a:off x="3401568" y="2606040"/>
            <a:ext cx="2596896" cy="2971800"/>
          </a:xfrm>
          <a:prstGeom prst="roundRect">
            <a:avLst>
              <a:gd name="adj" fmla="val 4225"/>
            </a:avLst>
          </a:prstGeom>
          <a:solidFill>
            <a:srgbClr val="EDF2FA"/>
          </a:solidFill>
          <a:ln/>
        </p:spPr>
      </p:sp>
      <p:sp>
        <p:nvSpPr>
          <p:cNvPr id="12" name="Shape 10"/>
          <p:cNvSpPr/>
          <p:nvPr/>
        </p:nvSpPr>
        <p:spPr>
          <a:xfrm>
            <a:off x="3401568" y="2606040"/>
            <a:ext cx="2596896" cy="841248"/>
          </a:xfrm>
          <a:prstGeom prst="rect">
            <a:avLst/>
          </a:prstGeom>
          <a:solidFill>
            <a:srgbClr val="3E5C8A"/>
          </a:solidFill>
          <a:ln/>
        </p:spPr>
      </p:sp>
      <p:sp>
        <p:nvSpPr>
          <p:cNvPr id="13" name="Text 11"/>
          <p:cNvSpPr txBox="1"/>
          <p:nvPr/>
        </p:nvSpPr>
        <p:spPr>
          <a:xfrm>
            <a:off x="3602736" y="2606040"/>
            <a:ext cx="2194560" cy="841248"/>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Propositions</a:t>
            </a:r>
            <a:endParaRPr lang="en-US" sz="1500" dirty="0"/>
          </a:p>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(what we sell)</a:t>
            </a:r>
            <a:endParaRPr lang="en-US" sz="1500" dirty="0"/>
          </a:p>
        </p:txBody>
      </p:sp>
      <p:sp>
        <p:nvSpPr>
          <p:cNvPr id="14" name="Text 12"/>
          <p:cNvSpPr txBox="1"/>
          <p:nvPr/>
        </p:nvSpPr>
        <p:spPr>
          <a:xfrm>
            <a:off x="3602736" y="3611880"/>
            <a:ext cx="2212848" cy="18745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Integrated propositions</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Use cases we lead with</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Archetypes and permitted variants</a:t>
            </a:r>
            <a:endParaRPr lang="en-US" sz="1150" dirty="0"/>
          </a:p>
        </p:txBody>
      </p:sp>
      <p:sp>
        <p:nvSpPr>
          <p:cNvPr id="15" name="Shape 13"/>
          <p:cNvSpPr/>
          <p:nvPr/>
        </p:nvSpPr>
        <p:spPr>
          <a:xfrm>
            <a:off x="6163056" y="2606040"/>
            <a:ext cx="2596896" cy="2971800"/>
          </a:xfrm>
          <a:prstGeom prst="roundRect">
            <a:avLst>
              <a:gd name="adj" fmla="val 4225"/>
            </a:avLst>
          </a:prstGeom>
          <a:solidFill>
            <a:srgbClr val="E4EBF7"/>
          </a:solidFill>
          <a:ln/>
        </p:spPr>
      </p:sp>
      <p:sp>
        <p:nvSpPr>
          <p:cNvPr id="16" name="Shape 14"/>
          <p:cNvSpPr/>
          <p:nvPr/>
        </p:nvSpPr>
        <p:spPr>
          <a:xfrm>
            <a:off x="6163056" y="2606040"/>
            <a:ext cx="2596896" cy="841248"/>
          </a:xfrm>
          <a:prstGeom prst="rect">
            <a:avLst/>
          </a:prstGeom>
          <a:solidFill>
            <a:srgbClr val="1E2761"/>
          </a:solidFill>
          <a:ln/>
        </p:spPr>
      </p:sp>
      <p:sp>
        <p:nvSpPr>
          <p:cNvPr id="17" name="Text 15"/>
          <p:cNvSpPr txBox="1"/>
          <p:nvPr/>
        </p:nvSpPr>
        <p:spPr>
          <a:xfrm>
            <a:off x="6364224" y="2606040"/>
            <a:ext cx="2194560" cy="841248"/>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Delivery</a:t>
            </a:r>
            <a:endParaRPr lang="en-US" sz="1500" dirty="0"/>
          </a:p>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and economics</a:t>
            </a:r>
            <a:endParaRPr lang="en-US" sz="1500" dirty="0"/>
          </a:p>
        </p:txBody>
      </p:sp>
      <p:sp>
        <p:nvSpPr>
          <p:cNvPr id="18" name="Text 16"/>
          <p:cNvSpPr txBox="1"/>
          <p:nvPr/>
        </p:nvSpPr>
        <p:spPr>
          <a:xfrm>
            <a:off x="6364224" y="3611880"/>
            <a:ext cx="2212848" cy="18745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Delivery model, assets and accelerators</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Construct, pricing, ADR and margin</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Team, skills, certification and capacity</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Revenue targets</a:t>
            </a:r>
            <a:endParaRPr lang="en-US" sz="1150" dirty="0"/>
          </a:p>
        </p:txBody>
      </p:sp>
      <p:sp>
        <p:nvSpPr>
          <p:cNvPr id="19" name="Shape 17"/>
          <p:cNvSpPr/>
          <p:nvPr/>
        </p:nvSpPr>
        <p:spPr>
          <a:xfrm>
            <a:off x="8924544" y="2606040"/>
            <a:ext cx="2596896" cy="2971800"/>
          </a:xfrm>
          <a:prstGeom prst="roundRect">
            <a:avLst>
              <a:gd name="adj" fmla="val 4225"/>
            </a:avLst>
          </a:prstGeom>
          <a:solidFill>
            <a:srgbClr val="EDF2FA"/>
          </a:solidFill>
          <a:ln/>
        </p:spPr>
      </p:sp>
      <p:sp>
        <p:nvSpPr>
          <p:cNvPr id="20" name="Shape 18"/>
          <p:cNvSpPr/>
          <p:nvPr/>
        </p:nvSpPr>
        <p:spPr>
          <a:xfrm>
            <a:off x="8924544" y="2606040"/>
            <a:ext cx="2596896" cy="841248"/>
          </a:xfrm>
          <a:prstGeom prst="rect">
            <a:avLst/>
          </a:prstGeom>
          <a:solidFill>
            <a:srgbClr val="3E5C8A"/>
          </a:solidFill>
          <a:ln/>
        </p:spPr>
      </p:sp>
      <p:sp>
        <p:nvSpPr>
          <p:cNvPr id="21" name="Text 19"/>
          <p:cNvSpPr txBox="1"/>
          <p:nvPr/>
        </p:nvSpPr>
        <p:spPr>
          <a:xfrm>
            <a:off x="9125712" y="2606040"/>
            <a:ext cx="2194560" cy="841248"/>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Route</a:t>
            </a:r>
            <a:endParaRPr lang="en-US" sz="1500" dirty="0"/>
          </a:p>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to market</a:t>
            </a:r>
            <a:endParaRPr lang="en-US" sz="1500" dirty="0"/>
          </a:p>
        </p:txBody>
      </p:sp>
      <p:sp>
        <p:nvSpPr>
          <p:cNvPr id="22" name="Text 20"/>
          <p:cNvSpPr txBox="1"/>
          <p:nvPr/>
        </p:nvSpPr>
        <p:spPr>
          <a:xfrm>
            <a:off x="9125712" y="3611880"/>
            <a:ext cx="2212848" cy="187452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Alliances and what they unlock</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Eminence and positioning</a:t>
            </a:r>
            <a:endParaRPr lang="en-US" sz="1150" dirty="0"/>
          </a:p>
          <a:p>
            <a:pPr marL="342900" indent="-342900">
              <a:spcAft>
                <a:spcPts val="700"/>
              </a:spcAft>
              <a:buSzPct val="100000"/>
              <a:buChar char="•"/>
            </a:pPr>
            <a:r>
              <a:rPr lang="en-US" sz="1150" dirty="0">
                <a:solidFill>
                  <a:srgbClr val="44506B"/>
                </a:solidFill>
                <a:latin typeface="Calibri" pitchFamily="34" charset="0"/>
                <a:ea typeface="Calibri" pitchFamily="34" charset="-122"/>
                <a:cs typeface="Calibri" pitchFamily="34" charset="-120"/>
              </a:rPr>
              <a:t>How we differentiate</a:t>
            </a:r>
            <a:endParaRPr lang="en-US" sz="1150" dirty="0"/>
          </a:p>
        </p:txBody>
      </p:sp>
      <p:sp>
        <p:nvSpPr>
          <p:cNvPr id="23" name="Shape 21"/>
          <p:cNvSpPr/>
          <p:nvPr/>
        </p:nvSpPr>
        <p:spPr>
          <a:xfrm>
            <a:off x="640080" y="5715000"/>
            <a:ext cx="10881360" cy="658368"/>
          </a:xfrm>
          <a:prstGeom prst="roundRect">
            <a:avLst>
              <a:gd name="adj" fmla="val 13889"/>
            </a:avLst>
          </a:prstGeom>
          <a:solidFill>
            <a:srgbClr val="1E2761"/>
          </a:solidFill>
          <a:ln/>
        </p:spPr>
      </p:sp>
      <p:sp>
        <p:nvSpPr>
          <p:cNvPr id="24" name="Text 22"/>
          <p:cNvSpPr txBox="1"/>
          <p:nvPr/>
        </p:nvSpPr>
        <p:spPr>
          <a:xfrm>
            <a:off x="914400" y="5715000"/>
            <a:ext cx="2377440" cy="658368"/>
          </a:xfrm>
          <a:prstGeom prst="rect">
            <a:avLst/>
          </a:prstGeom>
          <a:noFill/>
          <a:ln/>
        </p:spPr>
        <p:txBody>
          <a:bodyPr wrap="square" lIns="0" tIns="0" rIns="0" bIns="0" rtlCol="0" anchor="ctr"/>
          <a:lstStyle/>
          <a:p>
            <a:pPr indent="0" marL="0">
              <a:buNone/>
            </a:pPr>
            <a:r>
              <a:rPr lang="en-US" sz="1300" b="1" spc="150" kern="0" dirty="0">
                <a:solidFill>
                  <a:srgbClr val="CADCFC"/>
                </a:solidFill>
                <a:latin typeface="Calibri" pitchFamily="34" charset="0"/>
                <a:ea typeface="Calibri" pitchFamily="34" charset="-122"/>
                <a:cs typeface="Calibri" pitchFamily="34" charset="-120"/>
              </a:rPr>
              <a:t>THE DISCIPLINE</a:t>
            </a:r>
            <a:endParaRPr lang="en-US" sz="1300" dirty="0"/>
          </a:p>
        </p:txBody>
      </p:sp>
      <p:sp>
        <p:nvSpPr>
          <p:cNvPr id="25" name="Text 23"/>
          <p:cNvSpPr txBox="1"/>
          <p:nvPr/>
        </p:nvSpPr>
        <p:spPr>
          <a:xfrm>
            <a:off x="3383280" y="5715000"/>
            <a:ext cx="7863840" cy="65836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Operating rhythm, scorecard and decision rights that keep the four pillars honest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Tier one and tier two</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1 · where the energy goes, and where we stay present without over-investing.</a:t>
            </a:r>
            <a:endParaRPr lang="en-US" sz="1450" dirty="0"/>
          </a:p>
        </p:txBody>
      </p:sp>
      <p:sp>
        <p:nvSpPr>
          <p:cNvPr id="4" name="Shape 2"/>
          <p:cNvSpPr/>
          <p:nvPr/>
        </p:nvSpPr>
        <p:spPr>
          <a:xfrm>
            <a:off x="640080" y="1828800"/>
            <a:ext cx="5303520" cy="3291840"/>
          </a:xfrm>
          <a:prstGeom prst="roundRect">
            <a:avLst>
              <a:gd name="adj" fmla="val 3333"/>
            </a:avLst>
          </a:prstGeom>
          <a:solidFill>
            <a:srgbClr val="EDF2FA"/>
          </a:solidFill>
          <a:ln/>
        </p:spPr>
      </p:sp>
      <p:sp>
        <p:nvSpPr>
          <p:cNvPr id="5" name="Shape 3"/>
          <p:cNvSpPr/>
          <p:nvPr/>
        </p:nvSpPr>
        <p:spPr>
          <a:xfrm>
            <a:off x="640080" y="1828800"/>
            <a:ext cx="5303520" cy="868680"/>
          </a:xfrm>
          <a:prstGeom prst="rect">
            <a:avLst/>
          </a:prstGeom>
          <a:solidFill>
            <a:srgbClr val="1E2761"/>
          </a:solidFill>
          <a:ln/>
        </p:spPr>
      </p:sp>
      <p:sp>
        <p:nvSpPr>
          <p:cNvPr id="6" name="Text 4"/>
          <p:cNvSpPr txBox="1"/>
          <p:nvPr/>
        </p:nvSpPr>
        <p:spPr>
          <a:xfrm>
            <a:off x="914400" y="1901952"/>
            <a:ext cx="475488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Tier one</a:t>
            </a:r>
            <a:endParaRPr lang="en-US" sz="2000" dirty="0"/>
          </a:p>
        </p:txBody>
      </p:sp>
      <p:sp>
        <p:nvSpPr>
          <p:cNvPr id="7" name="Text 5"/>
          <p:cNvSpPr txBox="1"/>
          <p:nvPr/>
        </p:nvSpPr>
        <p:spPr>
          <a:xfrm>
            <a:off x="914400" y="2286000"/>
            <a:ext cx="47548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Priority geographies and named accounts</a:t>
            </a:r>
            <a:endParaRPr lang="en-US" sz="1200" dirty="0"/>
          </a:p>
        </p:txBody>
      </p:sp>
      <p:sp>
        <p:nvSpPr>
          <p:cNvPr id="8" name="Text 6"/>
          <p:cNvSpPr txBox="1"/>
          <p:nvPr/>
        </p:nvSpPr>
        <p:spPr>
          <a:xfrm>
            <a:off x="914400" y="2880360"/>
            <a:ext cx="4754880" cy="210312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Active, deliberate coverage — people walking the corridors</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Named individual account targets, each with an owner</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Individual revenue targets, gross and net</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Where the metrics, the eminence and the investment concentrate</a:t>
            </a:r>
            <a:endParaRPr lang="en-US" sz="1250" dirty="0"/>
          </a:p>
        </p:txBody>
      </p:sp>
      <p:sp>
        <p:nvSpPr>
          <p:cNvPr id="9" name="Shape 7"/>
          <p:cNvSpPr/>
          <p:nvPr/>
        </p:nvSpPr>
        <p:spPr>
          <a:xfrm>
            <a:off x="6217920" y="1828800"/>
            <a:ext cx="5303520" cy="3291840"/>
          </a:xfrm>
          <a:prstGeom prst="roundRect">
            <a:avLst>
              <a:gd name="adj" fmla="val 3333"/>
            </a:avLst>
          </a:prstGeom>
          <a:solidFill>
            <a:srgbClr val="EDF2FA"/>
          </a:solidFill>
          <a:ln/>
        </p:spPr>
      </p:sp>
      <p:sp>
        <p:nvSpPr>
          <p:cNvPr id="10" name="Shape 8"/>
          <p:cNvSpPr/>
          <p:nvPr/>
        </p:nvSpPr>
        <p:spPr>
          <a:xfrm>
            <a:off x="6217920" y="1828800"/>
            <a:ext cx="5303520" cy="868680"/>
          </a:xfrm>
          <a:prstGeom prst="rect">
            <a:avLst/>
          </a:prstGeom>
          <a:solidFill>
            <a:srgbClr val="3E5C8A"/>
          </a:solidFill>
          <a:ln/>
        </p:spPr>
      </p:sp>
      <p:sp>
        <p:nvSpPr>
          <p:cNvPr id="11" name="Text 9"/>
          <p:cNvSpPr txBox="1"/>
          <p:nvPr/>
        </p:nvSpPr>
        <p:spPr>
          <a:xfrm>
            <a:off x="6492240" y="1901952"/>
            <a:ext cx="475488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Tier two</a:t>
            </a:r>
            <a:endParaRPr lang="en-US" sz="2000" dirty="0"/>
          </a:p>
        </p:txBody>
      </p:sp>
      <p:sp>
        <p:nvSpPr>
          <p:cNvPr id="12" name="Text 10"/>
          <p:cNvSpPr txBox="1"/>
          <p:nvPr/>
        </p:nvSpPr>
        <p:spPr>
          <a:xfrm>
            <a:off x="6492240" y="2286000"/>
            <a:ext cx="47548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Emerging and reactive</a:t>
            </a:r>
            <a:endParaRPr lang="en-US" sz="1200" dirty="0"/>
          </a:p>
        </p:txBody>
      </p:sp>
      <p:sp>
        <p:nvSpPr>
          <p:cNvPr id="13" name="Text 11"/>
          <p:cNvSpPr txBox="1"/>
          <p:nvPr/>
        </p:nvSpPr>
        <p:spPr>
          <a:xfrm>
            <a:off x="6492240" y="2880360"/>
            <a:ext cx="4754880" cy="210312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Managed as clusters and groups, not one by one</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Reactive pursuit: we respond, we do not camp there</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Light coverage — a named watcher rather than an owner</a:t>
            </a:r>
            <a:endParaRPr lang="en-US" sz="1250" dirty="0"/>
          </a:p>
          <a:p>
            <a:pPr marL="342900" indent="-342900">
              <a:spcAft>
                <a:spcPts val="1000"/>
              </a:spcAft>
              <a:buSzPct val="100000"/>
              <a:buChar char="•"/>
            </a:pPr>
            <a:r>
              <a:rPr lang="en-US" sz="1250" dirty="0">
                <a:solidFill>
                  <a:srgbClr val="44506B"/>
                </a:solidFill>
                <a:latin typeface="Calibri" pitchFamily="34" charset="0"/>
                <a:ea typeface="Calibri" pitchFamily="34" charset="-122"/>
                <a:cs typeface="Calibri" pitchFamily="34" charset="-120"/>
              </a:rPr>
              <a:t>Promoted to tier one when the signal justifies it</a:t>
            </a:r>
            <a:endParaRPr lang="en-US" sz="1250" dirty="0"/>
          </a:p>
        </p:txBody>
      </p:sp>
      <p:sp>
        <p:nvSpPr>
          <p:cNvPr id="14" name="Shape 12"/>
          <p:cNvSpPr/>
          <p:nvPr/>
        </p:nvSpPr>
        <p:spPr>
          <a:xfrm>
            <a:off x="640080" y="5303520"/>
            <a:ext cx="10881360" cy="868680"/>
          </a:xfrm>
          <a:prstGeom prst="roundRect">
            <a:avLst>
              <a:gd name="adj" fmla="val 10526"/>
            </a:avLst>
          </a:prstGeom>
          <a:solidFill>
            <a:srgbClr val="1E2761"/>
          </a:solidFill>
          <a:ln/>
        </p:spPr>
      </p:sp>
      <p:sp>
        <p:nvSpPr>
          <p:cNvPr id="15" name="Text 13"/>
          <p:cNvSpPr txBox="1"/>
          <p:nvPr/>
        </p:nvSpPr>
        <p:spPr>
          <a:xfrm>
            <a:off x="914400" y="5303520"/>
            <a:ext cx="10332720" cy="8686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Tiering applies to geographies and to accounts, across all three sectors. Tier two keeps us present in what is emerging without diluting tier one.</a:t>
            </a:r>
            <a:endParaRPr lang="en-US" sz="1300" dirty="0"/>
          </a:p>
        </p:txBody>
      </p:sp>
      <p:sp>
        <p:nvSpPr>
          <p:cNvPr id="16" name="Text 14"/>
          <p:cNvSpPr txBox="1"/>
          <p:nvPr/>
        </p:nvSpPr>
        <p:spPr>
          <a:xfrm>
            <a:off x="640080" y="6263640"/>
            <a:ext cx="10881360" cy="320040"/>
          </a:xfrm>
          <a:prstGeom prst="rect">
            <a:avLst/>
          </a:prstGeom>
          <a:noFill/>
          <a:ln/>
        </p:spPr>
        <p:txBody>
          <a:bodyPr wrap="square" lIns="0" tIns="0" rIns="0" bIns="0" rtlCol="0" anchor="ctr"/>
          <a:lstStyle/>
          <a:p>
            <a:pPr indent="0" marL="0">
              <a:buNone/>
            </a:pPr>
            <a:r>
              <a:rPr lang="en-US" sz="1100" i="1" dirty="0">
                <a:solidFill>
                  <a:srgbClr val="8792AB"/>
                </a:solidFill>
                <a:latin typeface="Calibri" pitchFamily="34" charset="0"/>
                <a:ea typeface="Calibri" pitchFamily="34" charset="-122"/>
                <a:cs typeface="Calibri" pitchFamily="34" charset="-120"/>
              </a:rPr>
              <a:t>Tiering is our prioritisation inside the firm’s single account plan, not a separate account list.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Integrated by default, focused by exception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2 · most propositions span the practices. Some genuinely do not, and that is allowed.</a:t>
            </a:r>
            <a:endParaRPr lang="en-US" sz="1450" dirty="0"/>
          </a:p>
        </p:txBody>
      </p:sp>
      <p:sp>
        <p:nvSpPr>
          <p:cNvPr id="4" name="Text 2"/>
          <p:cNvSpPr txBox="1"/>
          <p:nvPr/>
        </p:nvSpPr>
        <p:spPr>
          <a:xfrm>
            <a:off x="5943600" y="1828800"/>
            <a:ext cx="1783080" cy="457200"/>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Industry Solutions</a:t>
            </a:r>
            <a:endParaRPr lang="en-US" sz="1150" dirty="0"/>
          </a:p>
        </p:txBody>
      </p:sp>
      <p:sp>
        <p:nvSpPr>
          <p:cNvPr id="5" name="Text 3"/>
          <p:cNvSpPr txBox="1"/>
          <p:nvPr/>
        </p:nvSpPr>
        <p:spPr>
          <a:xfrm>
            <a:off x="7818120" y="1828800"/>
            <a:ext cx="1783080" cy="457200"/>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AI and Data</a:t>
            </a:r>
            <a:endParaRPr lang="en-US" sz="1150" dirty="0"/>
          </a:p>
        </p:txBody>
      </p:sp>
      <p:sp>
        <p:nvSpPr>
          <p:cNvPr id="6" name="Text 4"/>
          <p:cNvSpPr txBox="1"/>
          <p:nvPr/>
        </p:nvSpPr>
        <p:spPr>
          <a:xfrm>
            <a:off x="9692640" y="1828800"/>
            <a:ext cx="1783080" cy="457200"/>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Engineering</a:t>
            </a:r>
            <a:endParaRPr lang="en-US" sz="1150" dirty="0"/>
          </a:p>
        </p:txBody>
      </p:sp>
      <p:sp>
        <p:nvSpPr>
          <p:cNvPr id="7" name="Shape 5"/>
          <p:cNvSpPr/>
          <p:nvPr/>
        </p:nvSpPr>
        <p:spPr>
          <a:xfrm>
            <a:off x="640080" y="2377440"/>
            <a:ext cx="10881360" cy="566928"/>
          </a:xfrm>
          <a:prstGeom prst="roundRect">
            <a:avLst>
              <a:gd name="adj" fmla="val 12903"/>
            </a:avLst>
          </a:prstGeom>
          <a:solidFill>
            <a:srgbClr val="F2F6FC"/>
          </a:solidFill>
          <a:ln/>
        </p:spPr>
      </p:sp>
      <p:sp>
        <p:nvSpPr>
          <p:cNvPr id="8" name="Text 6"/>
          <p:cNvSpPr txBox="1"/>
          <p:nvPr/>
        </p:nvSpPr>
        <p:spPr>
          <a:xfrm>
            <a:off x="914400" y="2377440"/>
            <a:ext cx="4023360" cy="566928"/>
          </a:xfrm>
          <a:prstGeom prst="rect">
            <a:avLst/>
          </a:prstGeom>
          <a:noFill/>
          <a:ln/>
        </p:spPr>
        <p:txBody>
          <a:bodyPr wrap="square" lIns="0" tIns="0" rIns="0" bIns="0" rtlCol="0" anchor="ctr"/>
          <a:lstStyle/>
          <a:p>
            <a:pPr indent="0" marL="0">
              <a:buNone/>
            </a:pPr>
            <a:r>
              <a:rPr lang="en-US" sz="1250" dirty="0">
                <a:solidFill>
                  <a:srgbClr val="16203A"/>
                </a:solidFill>
                <a:latin typeface="Calibri" pitchFamily="34" charset="0"/>
                <a:ea typeface="Calibri" pitchFamily="34" charset="-122"/>
                <a:cs typeface="Calibri" pitchFamily="34" charset="-120"/>
              </a:rPr>
              <a:t>Greenfield digital bank setup</a:t>
            </a:r>
            <a:endParaRPr lang="en-US" sz="1250" dirty="0"/>
          </a:p>
        </p:txBody>
      </p:sp>
      <p:sp>
        <p:nvSpPr>
          <p:cNvPr id="9" name="Text 7"/>
          <p:cNvSpPr txBox="1"/>
          <p:nvPr/>
        </p:nvSpPr>
        <p:spPr>
          <a:xfrm>
            <a:off x="4937760" y="2377440"/>
            <a:ext cx="1005840" cy="566928"/>
          </a:xfrm>
          <a:prstGeom prst="rect">
            <a:avLst/>
          </a:prstGeom>
          <a:noFill/>
          <a:ln/>
        </p:spPr>
        <p:txBody>
          <a:bodyPr wrap="square" lIns="0" tIns="0" rIns="0" bIns="0" rtlCol="0" anchor="ctr"/>
          <a:lstStyle/>
          <a:p>
            <a:pPr indent="0" marL="0">
              <a:buNone/>
            </a:pPr>
            <a:r>
              <a:rPr lang="en-US" sz="1050" b="1" dirty="0">
                <a:solidFill>
                  <a:srgbClr val="3E5C8A"/>
                </a:solidFill>
                <a:latin typeface="Calibri" pitchFamily="34" charset="0"/>
                <a:ea typeface="Calibri" pitchFamily="34" charset="-122"/>
                <a:cs typeface="Calibri" pitchFamily="34" charset="-120"/>
              </a:rPr>
              <a:t>Integrated</a:t>
            </a:r>
            <a:endParaRPr lang="en-US" sz="1050" dirty="0"/>
          </a:p>
        </p:txBody>
      </p:sp>
      <p:sp>
        <p:nvSpPr>
          <p:cNvPr id="10" name="Shape 8"/>
          <p:cNvSpPr/>
          <p:nvPr/>
        </p:nvSpPr>
        <p:spPr>
          <a:xfrm>
            <a:off x="6693408" y="2523744"/>
            <a:ext cx="274320" cy="274320"/>
          </a:xfrm>
          <a:prstGeom prst="ellipse">
            <a:avLst/>
          </a:prstGeom>
          <a:solidFill>
            <a:srgbClr val="1E2761"/>
          </a:solidFill>
          <a:ln w="15875">
            <a:solidFill>
              <a:srgbClr val="1E2761"/>
            </a:solidFill>
            <a:prstDash val="solid"/>
          </a:ln>
        </p:spPr>
      </p:sp>
      <p:sp>
        <p:nvSpPr>
          <p:cNvPr id="11" name="Shape 9"/>
          <p:cNvSpPr/>
          <p:nvPr/>
        </p:nvSpPr>
        <p:spPr>
          <a:xfrm>
            <a:off x="8567928" y="2523744"/>
            <a:ext cx="274320" cy="274320"/>
          </a:xfrm>
          <a:prstGeom prst="ellipse">
            <a:avLst/>
          </a:prstGeom>
          <a:solidFill>
            <a:srgbClr val="1E2761"/>
          </a:solidFill>
          <a:ln w="15875">
            <a:solidFill>
              <a:srgbClr val="1E2761"/>
            </a:solidFill>
            <a:prstDash val="solid"/>
          </a:ln>
        </p:spPr>
      </p:sp>
      <p:sp>
        <p:nvSpPr>
          <p:cNvPr id="12" name="Shape 10"/>
          <p:cNvSpPr/>
          <p:nvPr/>
        </p:nvSpPr>
        <p:spPr>
          <a:xfrm>
            <a:off x="10442448" y="2523744"/>
            <a:ext cx="274320" cy="274320"/>
          </a:xfrm>
          <a:prstGeom prst="ellipse">
            <a:avLst/>
          </a:prstGeom>
          <a:solidFill>
            <a:srgbClr val="1E2761"/>
          </a:solidFill>
          <a:ln w="15875">
            <a:solidFill>
              <a:srgbClr val="1E2761"/>
            </a:solidFill>
            <a:prstDash val="solid"/>
          </a:ln>
        </p:spPr>
      </p:sp>
      <p:sp>
        <p:nvSpPr>
          <p:cNvPr id="13" name="Shape 11"/>
          <p:cNvSpPr/>
          <p:nvPr/>
        </p:nvSpPr>
        <p:spPr>
          <a:xfrm>
            <a:off x="640080" y="3035808"/>
            <a:ext cx="10881360" cy="566928"/>
          </a:xfrm>
          <a:prstGeom prst="roundRect">
            <a:avLst>
              <a:gd name="adj" fmla="val 12903"/>
            </a:avLst>
          </a:prstGeom>
          <a:solidFill>
            <a:srgbClr val="EDF2FA"/>
          </a:solidFill>
          <a:ln/>
        </p:spPr>
      </p:sp>
      <p:sp>
        <p:nvSpPr>
          <p:cNvPr id="14" name="Text 12"/>
          <p:cNvSpPr txBox="1"/>
          <p:nvPr/>
        </p:nvSpPr>
        <p:spPr>
          <a:xfrm>
            <a:off x="914400" y="3035808"/>
            <a:ext cx="4023360" cy="566928"/>
          </a:xfrm>
          <a:prstGeom prst="rect">
            <a:avLst/>
          </a:prstGeom>
          <a:noFill/>
          <a:ln/>
        </p:spPr>
        <p:txBody>
          <a:bodyPr wrap="square" lIns="0" tIns="0" rIns="0" bIns="0" rtlCol="0" anchor="ctr"/>
          <a:lstStyle/>
          <a:p>
            <a:pPr indent="0" marL="0">
              <a:buNone/>
            </a:pPr>
            <a:r>
              <a:rPr lang="en-US" sz="1250" dirty="0">
                <a:solidFill>
                  <a:srgbClr val="16203A"/>
                </a:solidFill>
                <a:latin typeface="Calibri" pitchFamily="34" charset="0"/>
                <a:ea typeface="Calibri" pitchFamily="34" charset="-122"/>
                <a:cs typeface="Calibri" pitchFamily="34" charset="-120"/>
              </a:rPr>
              <a:t>Core modernisation and migration</a:t>
            </a:r>
            <a:endParaRPr lang="en-US" sz="1250" dirty="0"/>
          </a:p>
        </p:txBody>
      </p:sp>
      <p:sp>
        <p:nvSpPr>
          <p:cNvPr id="15" name="Text 13"/>
          <p:cNvSpPr txBox="1"/>
          <p:nvPr/>
        </p:nvSpPr>
        <p:spPr>
          <a:xfrm>
            <a:off x="4937760" y="3035808"/>
            <a:ext cx="1005840" cy="566928"/>
          </a:xfrm>
          <a:prstGeom prst="rect">
            <a:avLst/>
          </a:prstGeom>
          <a:noFill/>
          <a:ln/>
        </p:spPr>
        <p:txBody>
          <a:bodyPr wrap="square" lIns="0" tIns="0" rIns="0" bIns="0" rtlCol="0" anchor="ctr"/>
          <a:lstStyle/>
          <a:p>
            <a:pPr indent="0" marL="0">
              <a:buNone/>
            </a:pPr>
            <a:r>
              <a:rPr lang="en-US" sz="1050" b="1" dirty="0">
                <a:solidFill>
                  <a:srgbClr val="3E5C8A"/>
                </a:solidFill>
                <a:latin typeface="Calibri" pitchFamily="34" charset="0"/>
                <a:ea typeface="Calibri" pitchFamily="34" charset="-122"/>
                <a:cs typeface="Calibri" pitchFamily="34" charset="-120"/>
              </a:rPr>
              <a:t>Integrated</a:t>
            </a:r>
            <a:endParaRPr lang="en-US" sz="1050" dirty="0"/>
          </a:p>
        </p:txBody>
      </p:sp>
      <p:sp>
        <p:nvSpPr>
          <p:cNvPr id="16" name="Shape 14"/>
          <p:cNvSpPr/>
          <p:nvPr/>
        </p:nvSpPr>
        <p:spPr>
          <a:xfrm>
            <a:off x="6693408" y="3182112"/>
            <a:ext cx="274320" cy="274320"/>
          </a:xfrm>
          <a:prstGeom prst="ellipse">
            <a:avLst/>
          </a:prstGeom>
          <a:solidFill>
            <a:srgbClr val="1E2761"/>
          </a:solidFill>
          <a:ln w="15875">
            <a:solidFill>
              <a:srgbClr val="1E2761"/>
            </a:solidFill>
            <a:prstDash val="solid"/>
          </a:ln>
        </p:spPr>
      </p:sp>
      <p:sp>
        <p:nvSpPr>
          <p:cNvPr id="17" name="Shape 15"/>
          <p:cNvSpPr/>
          <p:nvPr/>
        </p:nvSpPr>
        <p:spPr>
          <a:xfrm>
            <a:off x="8567928" y="3182112"/>
            <a:ext cx="274320" cy="274320"/>
          </a:xfrm>
          <a:prstGeom prst="ellipse">
            <a:avLst/>
          </a:prstGeom>
          <a:solidFill>
            <a:srgbClr val="1E2761"/>
          </a:solidFill>
          <a:ln w="15875">
            <a:solidFill>
              <a:srgbClr val="1E2761"/>
            </a:solidFill>
            <a:prstDash val="solid"/>
          </a:ln>
        </p:spPr>
      </p:sp>
      <p:sp>
        <p:nvSpPr>
          <p:cNvPr id="18" name="Shape 16"/>
          <p:cNvSpPr/>
          <p:nvPr/>
        </p:nvSpPr>
        <p:spPr>
          <a:xfrm>
            <a:off x="10442448" y="3182112"/>
            <a:ext cx="274320" cy="274320"/>
          </a:xfrm>
          <a:prstGeom prst="ellipse">
            <a:avLst/>
          </a:prstGeom>
          <a:solidFill>
            <a:srgbClr val="1E2761"/>
          </a:solidFill>
          <a:ln w="15875">
            <a:solidFill>
              <a:srgbClr val="1E2761"/>
            </a:solidFill>
            <a:prstDash val="solid"/>
          </a:ln>
        </p:spPr>
      </p:sp>
      <p:sp>
        <p:nvSpPr>
          <p:cNvPr id="19" name="Shape 17"/>
          <p:cNvSpPr/>
          <p:nvPr/>
        </p:nvSpPr>
        <p:spPr>
          <a:xfrm>
            <a:off x="640080" y="3694176"/>
            <a:ext cx="10881360" cy="566928"/>
          </a:xfrm>
          <a:prstGeom prst="roundRect">
            <a:avLst>
              <a:gd name="adj" fmla="val 12903"/>
            </a:avLst>
          </a:prstGeom>
          <a:solidFill>
            <a:srgbClr val="F2F6FC"/>
          </a:solidFill>
          <a:ln/>
        </p:spPr>
      </p:sp>
      <p:sp>
        <p:nvSpPr>
          <p:cNvPr id="20" name="Text 18"/>
          <p:cNvSpPr txBox="1"/>
          <p:nvPr/>
        </p:nvSpPr>
        <p:spPr>
          <a:xfrm>
            <a:off x="914400" y="3694176"/>
            <a:ext cx="4023360" cy="566928"/>
          </a:xfrm>
          <a:prstGeom prst="rect">
            <a:avLst/>
          </a:prstGeom>
          <a:noFill/>
          <a:ln/>
        </p:spPr>
        <p:txBody>
          <a:bodyPr wrap="square" lIns="0" tIns="0" rIns="0" bIns="0" rtlCol="0" anchor="ctr"/>
          <a:lstStyle/>
          <a:p>
            <a:pPr indent="0" marL="0">
              <a:buNone/>
            </a:pPr>
            <a:r>
              <a:rPr lang="en-US" sz="1250" dirty="0">
                <a:solidFill>
                  <a:srgbClr val="16203A"/>
                </a:solidFill>
                <a:latin typeface="Calibri" pitchFamily="34" charset="0"/>
                <a:ea typeface="Calibri" pitchFamily="34" charset="-122"/>
                <a:cs typeface="Calibri" pitchFamily="34" charset="-120"/>
              </a:rPr>
              <a:t>Intelligent operations for claims</a:t>
            </a:r>
            <a:endParaRPr lang="en-US" sz="1250" dirty="0"/>
          </a:p>
        </p:txBody>
      </p:sp>
      <p:sp>
        <p:nvSpPr>
          <p:cNvPr id="21" name="Text 19"/>
          <p:cNvSpPr txBox="1"/>
          <p:nvPr/>
        </p:nvSpPr>
        <p:spPr>
          <a:xfrm>
            <a:off x="4937760" y="3694176"/>
            <a:ext cx="1005840" cy="566928"/>
          </a:xfrm>
          <a:prstGeom prst="rect">
            <a:avLst/>
          </a:prstGeom>
          <a:noFill/>
          <a:ln/>
        </p:spPr>
        <p:txBody>
          <a:bodyPr wrap="square" lIns="0" tIns="0" rIns="0" bIns="0" rtlCol="0" anchor="ctr"/>
          <a:lstStyle/>
          <a:p>
            <a:pPr indent="0" marL="0">
              <a:buNone/>
            </a:pPr>
            <a:r>
              <a:rPr lang="en-US" sz="1050" b="1" dirty="0">
                <a:solidFill>
                  <a:srgbClr val="3E5C8A"/>
                </a:solidFill>
                <a:latin typeface="Calibri" pitchFamily="34" charset="0"/>
                <a:ea typeface="Calibri" pitchFamily="34" charset="-122"/>
                <a:cs typeface="Calibri" pitchFamily="34" charset="-120"/>
              </a:rPr>
              <a:t>Integrated</a:t>
            </a:r>
            <a:endParaRPr lang="en-US" sz="1050" dirty="0"/>
          </a:p>
        </p:txBody>
      </p:sp>
      <p:sp>
        <p:nvSpPr>
          <p:cNvPr id="22" name="Shape 20"/>
          <p:cNvSpPr/>
          <p:nvPr/>
        </p:nvSpPr>
        <p:spPr>
          <a:xfrm>
            <a:off x="6693408" y="3840480"/>
            <a:ext cx="274320" cy="274320"/>
          </a:xfrm>
          <a:prstGeom prst="ellipse">
            <a:avLst/>
          </a:prstGeom>
          <a:solidFill>
            <a:srgbClr val="1E2761"/>
          </a:solidFill>
          <a:ln w="15875">
            <a:solidFill>
              <a:srgbClr val="1E2761"/>
            </a:solidFill>
            <a:prstDash val="solid"/>
          </a:ln>
        </p:spPr>
      </p:sp>
      <p:sp>
        <p:nvSpPr>
          <p:cNvPr id="23" name="Shape 21"/>
          <p:cNvSpPr/>
          <p:nvPr/>
        </p:nvSpPr>
        <p:spPr>
          <a:xfrm>
            <a:off x="8567928" y="3840480"/>
            <a:ext cx="274320" cy="274320"/>
          </a:xfrm>
          <a:prstGeom prst="ellipse">
            <a:avLst/>
          </a:prstGeom>
          <a:solidFill>
            <a:srgbClr val="1E2761"/>
          </a:solidFill>
          <a:ln w="15875">
            <a:solidFill>
              <a:srgbClr val="1E2761"/>
            </a:solidFill>
            <a:prstDash val="solid"/>
          </a:ln>
        </p:spPr>
      </p:sp>
      <p:sp>
        <p:nvSpPr>
          <p:cNvPr id="24" name="Shape 22"/>
          <p:cNvSpPr/>
          <p:nvPr/>
        </p:nvSpPr>
        <p:spPr>
          <a:xfrm>
            <a:off x="10442448" y="3840480"/>
            <a:ext cx="274320" cy="274320"/>
          </a:xfrm>
          <a:prstGeom prst="ellipse">
            <a:avLst/>
          </a:prstGeom>
          <a:solidFill>
            <a:srgbClr val="FFFFFF"/>
          </a:solidFill>
          <a:ln w="15875">
            <a:solidFill>
              <a:srgbClr val="C9D4E6"/>
            </a:solidFill>
            <a:prstDash val="solid"/>
          </a:ln>
        </p:spPr>
      </p:sp>
      <p:sp>
        <p:nvSpPr>
          <p:cNvPr id="25" name="Shape 23"/>
          <p:cNvSpPr/>
          <p:nvPr/>
        </p:nvSpPr>
        <p:spPr>
          <a:xfrm>
            <a:off x="640080" y="4352544"/>
            <a:ext cx="10881360" cy="566928"/>
          </a:xfrm>
          <a:prstGeom prst="roundRect">
            <a:avLst>
              <a:gd name="adj" fmla="val 12903"/>
            </a:avLst>
          </a:prstGeom>
          <a:solidFill>
            <a:srgbClr val="EDF2FA"/>
          </a:solidFill>
          <a:ln/>
        </p:spPr>
      </p:sp>
      <p:sp>
        <p:nvSpPr>
          <p:cNvPr id="26" name="Text 24"/>
          <p:cNvSpPr txBox="1"/>
          <p:nvPr/>
        </p:nvSpPr>
        <p:spPr>
          <a:xfrm>
            <a:off x="914400" y="4352544"/>
            <a:ext cx="4023360" cy="566928"/>
          </a:xfrm>
          <a:prstGeom prst="rect">
            <a:avLst/>
          </a:prstGeom>
          <a:noFill/>
          <a:ln/>
        </p:spPr>
        <p:txBody>
          <a:bodyPr wrap="square" lIns="0" tIns="0" rIns="0" bIns="0" rtlCol="0" anchor="ctr"/>
          <a:lstStyle/>
          <a:p>
            <a:pPr indent="0" marL="0">
              <a:buNone/>
            </a:pPr>
            <a:r>
              <a:rPr lang="en-US" sz="1250" dirty="0">
                <a:solidFill>
                  <a:srgbClr val="16203A"/>
                </a:solidFill>
                <a:latin typeface="Calibri" pitchFamily="34" charset="0"/>
                <a:ea typeface="Calibri" pitchFamily="34" charset="-122"/>
                <a:cs typeface="Calibri" pitchFamily="34" charset="-120"/>
              </a:rPr>
              <a:t>Enterprise AI activation</a:t>
            </a:r>
            <a:endParaRPr lang="en-US" sz="1250" dirty="0"/>
          </a:p>
        </p:txBody>
      </p:sp>
      <p:sp>
        <p:nvSpPr>
          <p:cNvPr id="27" name="Text 25"/>
          <p:cNvSpPr txBox="1"/>
          <p:nvPr/>
        </p:nvSpPr>
        <p:spPr>
          <a:xfrm>
            <a:off x="4937760" y="4352544"/>
            <a:ext cx="1005840" cy="566928"/>
          </a:xfrm>
          <a:prstGeom prst="rect">
            <a:avLst/>
          </a:prstGeom>
          <a:noFill/>
          <a:ln/>
        </p:spPr>
        <p:txBody>
          <a:bodyPr wrap="square" lIns="0" tIns="0" rIns="0" bIns="0" rtlCol="0" anchor="ctr"/>
          <a:lstStyle/>
          <a:p>
            <a:pPr indent="0" marL="0">
              <a:buNone/>
            </a:pPr>
            <a:r>
              <a:rPr lang="en-US" sz="1050" b="1" dirty="0">
                <a:solidFill>
                  <a:srgbClr val="3E5C8A"/>
                </a:solidFill>
                <a:latin typeface="Calibri" pitchFamily="34" charset="0"/>
                <a:ea typeface="Calibri" pitchFamily="34" charset="-122"/>
                <a:cs typeface="Calibri" pitchFamily="34" charset="-120"/>
              </a:rPr>
              <a:t>Integrated</a:t>
            </a:r>
            <a:endParaRPr lang="en-US" sz="1050" dirty="0"/>
          </a:p>
        </p:txBody>
      </p:sp>
      <p:sp>
        <p:nvSpPr>
          <p:cNvPr id="28" name="Shape 26"/>
          <p:cNvSpPr/>
          <p:nvPr/>
        </p:nvSpPr>
        <p:spPr>
          <a:xfrm>
            <a:off x="6693408" y="4498848"/>
            <a:ext cx="274320" cy="274320"/>
          </a:xfrm>
          <a:prstGeom prst="ellipse">
            <a:avLst/>
          </a:prstGeom>
          <a:solidFill>
            <a:srgbClr val="FFFFFF"/>
          </a:solidFill>
          <a:ln w="15875">
            <a:solidFill>
              <a:srgbClr val="C9D4E6"/>
            </a:solidFill>
            <a:prstDash val="solid"/>
          </a:ln>
        </p:spPr>
      </p:sp>
      <p:sp>
        <p:nvSpPr>
          <p:cNvPr id="29" name="Shape 27"/>
          <p:cNvSpPr/>
          <p:nvPr/>
        </p:nvSpPr>
        <p:spPr>
          <a:xfrm>
            <a:off x="8567928" y="4498848"/>
            <a:ext cx="274320" cy="274320"/>
          </a:xfrm>
          <a:prstGeom prst="ellipse">
            <a:avLst/>
          </a:prstGeom>
          <a:solidFill>
            <a:srgbClr val="1E2761"/>
          </a:solidFill>
          <a:ln w="15875">
            <a:solidFill>
              <a:srgbClr val="1E2761"/>
            </a:solidFill>
            <a:prstDash val="solid"/>
          </a:ln>
        </p:spPr>
      </p:sp>
      <p:sp>
        <p:nvSpPr>
          <p:cNvPr id="30" name="Shape 28"/>
          <p:cNvSpPr/>
          <p:nvPr/>
        </p:nvSpPr>
        <p:spPr>
          <a:xfrm>
            <a:off x="10442448" y="4498848"/>
            <a:ext cx="274320" cy="274320"/>
          </a:xfrm>
          <a:prstGeom prst="ellipse">
            <a:avLst/>
          </a:prstGeom>
          <a:solidFill>
            <a:srgbClr val="1E2761"/>
          </a:solidFill>
          <a:ln w="15875">
            <a:solidFill>
              <a:srgbClr val="1E2761"/>
            </a:solidFill>
            <a:prstDash val="solid"/>
          </a:ln>
        </p:spPr>
      </p:sp>
      <p:sp>
        <p:nvSpPr>
          <p:cNvPr id="31" name="Shape 29"/>
          <p:cNvSpPr/>
          <p:nvPr/>
        </p:nvSpPr>
        <p:spPr>
          <a:xfrm>
            <a:off x="640080" y="5010912"/>
            <a:ext cx="10881360" cy="566928"/>
          </a:xfrm>
          <a:prstGeom prst="roundRect">
            <a:avLst>
              <a:gd name="adj" fmla="val 12903"/>
            </a:avLst>
          </a:prstGeom>
          <a:solidFill>
            <a:srgbClr val="F2F6FC"/>
          </a:solidFill>
          <a:ln/>
        </p:spPr>
      </p:sp>
      <p:sp>
        <p:nvSpPr>
          <p:cNvPr id="32" name="Text 30"/>
          <p:cNvSpPr txBox="1"/>
          <p:nvPr/>
        </p:nvSpPr>
        <p:spPr>
          <a:xfrm>
            <a:off x="914400" y="5010912"/>
            <a:ext cx="4023360" cy="566928"/>
          </a:xfrm>
          <a:prstGeom prst="rect">
            <a:avLst/>
          </a:prstGeom>
          <a:noFill/>
          <a:ln/>
        </p:spPr>
        <p:txBody>
          <a:bodyPr wrap="square" lIns="0" tIns="0" rIns="0" bIns="0" rtlCol="0" anchor="ctr"/>
          <a:lstStyle/>
          <a:p>
            <a:pPr indent="0" marL="0">
              <a:buNone/>
            </a:pPr>
            <a:r>
              <a:rPr lang="en-US" sz="1250" dirty="0">
                <a:solidFill>
                  <a:srgbClr val="16203A"/>
                </a:solidFill>
                <a:latin typeface="Calibri" pitchFamily="34" charset="0"/>
                <a:ea typeface="Calibri" pitchFamily="34" charset="-122"/>
                <a:cs typeface="Calibri" pitchFamily="34" charset="-120"/>
              </a:rPr>
              <a:t>Cloud migration strategy</a:t>
            </a:r>
            <a:endParaRPr lang="en-US" sz="1250" dirty="0"/>
          </a:p>
        </p:txBody>
      </p:sp>
      <p:sp>
        <p:nvSpPr>
          <p:cNvPr id="33" name="Text 31"/>
          <p:cNvSpPr txBox="1"/>
          <p:nvPr/>
        </p:nvSpPr>
        <p:spPr>
          <a:xfrm>
            <a:off x="4937760" y="5010912"/>
            <a:ext cx="1005840" cy="566928"/>
          </a:xfrm>
          <a:prstGeom prst="rect">
            <a:avLst/>
          </a:prstGeom>
          <a:noFill/>
          <a:ln/>
        </p:spPr>
        <p:txBody>
          <a:bodyPr wrap="square" lIns="0" tIns="0" rIns="0" bIns="0" rtlCol="0" anchor="ctr"/>
          <a:lstStyle/>
          <a:p>
            <a:pPr indent="0" marL="0">
              <a:buNone/>
            </a:pPr>
            <a:r>
              <a:rPr lang="en-US" sz="1050" b="1" dirty="0">
                <a:solidFill>
                  <a:srgbClr val="B8862B"/>
                </a:solidFill>
                <a:latin typeface="Calibri" pitchFamily="34" charset="0"/>
                <a:ea typeface="Calibri" pitchFamily="34" charset="-122"/>
                <a:cs typeface="Calibri" pitchFamily="34" charset="-120"/>
              </a:rPr>
              <a:t>Focused</a:t>
            </a:r>
            <a:endParaRPr lang="en-US" sz="1050" dirty="0"/>
          </a:p>
        </p:txBody>
      </p:sp>
      <p:sp>
        <p:nvSpPr>
          <p:cNvPr id="34" name="Shape 32"/>
          <p:cNvSpPr/>
          <p:nvPr/>
        </p:nvSpPr>
        <p:spPr>
          <a:xfrm>
            <a:off x="6693408" y="5157216"/>
            <a:ext cx="274320" cy="274320"/>
          </a:xfrm>
          <a:prstGeom prst="ellipse">
            <a:avLst/>
          </a:prstGeom>
          <a:solidFill>
            <a:srgbClr val="FFFFFF"/>
          </a:solidFill>
          <a:ln w="15875">
            <a:solidFill>
              <a:srgbClr val="C9D4E6"/>
            </a:solidFill>
            <a:prstDash val="solid"/>
          </a:ln>
        </p:spPr>
      </p:sp>
      <p:sp>
        <p:nvSpPr>
          <p:cNvPr id="35" name="Shape 33"/>
          <p:cNvSpPr/>
          <p:nvPr/>
        </p:nvSpPr>
        <p:spPr>
          <a:xfrm>
            <a:off x="8567928" y="5157216"/>
            <a:ext cx="274320" cy="274320"/>
          </a:xfrm>
          <a:prstGeom prst="ellipse">
            <a:avLst/>
          </a:prstGeom>
          <a:solidFill>
            <a:srgbClr val="FFFFFF"/>
          </a:solidFill>
          <a:ln w="15875">
            <a:solidFill>
              <a:srgbClr val="C9D4E6"/>
            </a:solidFill>
            <a:prstDash val="solid"/>
          </a:ln>
        </p:spPr>
      </p:sp>
      <p:sp>
        <p:nvSpPr>
          <p:cNvPr id="36" name="Shape 34"/>
          <p:cNvSpPr/>
          <p:nvPr/>
        </p:nvSpPr>
        <p:spPr>
          <a:xfrm>
            <a:off x="10442448" y="5157216"/>
            <a:ext cx="274320" cy="274320"/>
          </a:xfrm>
          <a:prstGeom prst="ellipse">
            <a:avLst/>
          </a:prstGeom>
          <a:solidFill>
            <a:srgbClr val="1E2761"/>
          </a:solidFill>
          <a:ln w="15875">
            <a:solidFill>
              <a:srgbClr val="1E2761"/>
            </a:solidFill>
            <a:prstDash val="solid"/>
          </a:ln>
        </p:spPr>
      </p:sp>
      <p:sp>
        <p:nvSpPr>
          <p:cNvPr id="37" name="Shape 35"/>
          <p:cNvSpPr/>
          <p:nvPr/>
        </p:nvSpPr>
        <p:spPr>
          <a:xfrm>
            <a:off x="640080" y="5760720"/>
            <a:ext cx="10881360" cy="777240"/>
          </a:xfrm>
          <a:prstGeom prst="roundRect">
            <a:avLst>
              <a:gd name="adj" fmla="val 11765"/>
            </a:avLst>
          </a:prstGeom>
          <a:solidFill>
            <a:srgbClr val="1E2761"/>
          </a:solidFill>
          <a:ln/>
        </p:spPr>
      </p:sp>
      <p:sp>
        <p:nvSpPr>
          <p:cNvPr id="38" name="Text 36"/>
          <p:cNvSpPr txBox="1"/>
          <p:nvPr/>
        </p:nvSpPr>
        <p:spPr>
          <a:xfrm>
            <a:off x="914400" y="5760720"/>
            <a:ext cx="1033272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 rule: integrated is the default and the catalogue is built that way. A focused offering is permitted where the work genuinely does not span — and it is sold as a way in, not as the destination.</a:t>
            </a:r>
            <a:endParaRPr lang="en-US" sz="1250" dirty="0"/>
          </a:p>
        </p:txBody>
      </p:sp>
      <p:sp>
        <p:nvSpPr>
          <p:cNvPr id="39" name="Text 37"/>
          <p:cNvSpPr txBox="1"/>
          <p:nvPr/>
        </p:nvSpPr>
        <p:spPr>
          <a:xfrm>
            <a:off x="640080" y="6583680"/>
            <a:ext cx="5486400" cy="274320"/>
          </a:xfrm>
          <a:prstGeom prst="rect">
            <a:avLst/>
          </a:prstGeom>
          <a:noFill/>
          <a:ln/>
        </p:spPr>
        <p:txBody>
          <a:bodyPr wrap="square" lIns="0" tIns="0" rIns="0" bIns="0" rtlCol="0" anchor="ctr"/>
          <a:lstStyle/>
          <a:p>
            <a:pPr indent="0" marL="0">
              <a:buNone/>
            </a:pPr>
            <a:r>
              <a:rPr lang="en-US" sz="1050" i="1" dirty="0">
                <a:solidFill>
                  <a:srgbClr val="8792AB"/>
                </a:solidFill>
                <a:latin typeface="Calibri" pitchFamily="34" charset="0"/>
                <a:ea typeface="Calibri" pitchFamily="34" charset="-122"/>
                <a:cs typeface="Calibri" pitchFamily="34" charset="-120"/>
              </a:rPr>
              <a:t>Illustrative only — the catalogue itself is built in the cycle.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Delivery and pricing economics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3 · delivery model, price and margin are one decision, not three.</a:t>
            </a:r>
            <a:endParaRPr lang="en-US" sz="1450" dirty="0"/>
          </a:p>
        </p:txBody>
      </p:sp>
      <p:sp>
        <p:nvSpPr>
          <p:cNvPr id="4" name="Shape 2"/>
          <p:cNvSpPr/>
          <p:nvPr/>
        </p:nvSpPr>
        <p:spPr>
          <a:xfrm>
            <a:off x="640080" y="1828800"/>
            <a:ext cx="2468880" cy="1600200"/>
          </a:xfrm>
          <a:prstGeom prst="roundRect">
            <a:avLst>
              <a:gd name="adj" fmla="val 6857"/>
            </a:avLst>
          </a:prstGeom>
          <a:solidFill>
            <a:srgbClr val="E4EBF7"/>
          </a:solidFill>
          <a:ln/>
        </p:spPr>
      </p:sp>
      <p:sp>
        <p:nvSpPr>
          <p:cNvPr id="5" name="Shape 3"/>
          <p:cNvSpPr/>
          <p:nvPr/>
        </p:nvSpPr>
        <p:spPr>
          <a:xfrm>
            <a:off x="868680" y="2029968"/>
            <a:ext cx="365760" cy="365760"/>
          </a:xfrm>
          <a:prstGeom prst="ellipse">
            <a:avLst/>
          </a:prstGeom>
          <a:solidFill>
            <a:srgbClr val="1E2761"/>
          </a:solidFill>
          <a:ln/>
        </p:spPr>
      </p:sp>
      <p:sp>
        <p:nvSpPr>
          <p:cNvPr id="6" name="Text 4"/>
          <p:cNvSpPr txBox="1"/>
          <p:nvPr/>
        </p:nvSpPr>
        <p:spPr>
          <a:xfrm>
            <a:off x="86868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6868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Target price</a:t>
            </a:r>
            <a:endParaRPr lang="en-US" sz="1500" dirty="0"/>
          </a:p>
        </p:txBody>
      </p:sp>
      <p:sp>
        <p:nvSpPr>
          <p:cNvPr id="8" name="Text 6"/>
          <p:cNvSpPr txBox="1"/>
          <p:nvPr/>
        </p:nvSpPr>
        <p:spPr>
          <a:xfrm>
            <a:off x="86868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What the market pays for this offering, in bands</a:t>
            </a:r>
            <a:endParaRPr lang="en-US" sz="1150" dirty="0"/>
          </a:p>
        </p:txBody>
      </p:sp>
      <p:sp>
        <p:nvSpPr>
          <p:cNvPr id="9" name="Text 7"/>
          <p:cNvSpPr txBox="1"/>
          <p:nvPr/>
        </p:nvSpPr>
        <p:spPr>
          <a:xfrm>
            <a:off x="3127248" y="2423160"/>
            <a:ext cx="274320" cy="365760"/>
          </a:xfrm>
          <a:prstGeom prst="rect">
            <a:avLst/>
          </a:prstGeom>
          <a:noFill/>
          <a:ln/>
        </p:spPr>
        <p:txBody>
          <a:bodyPr wrap="square" lIns="0" tIns="0" rIns="0" bIns="0" rtlCol="0" anchor="ctr"/>
          <a:lstStyle/>
          <a:p>
            <a:pPr algn="ctr" indent="0" marL="0">
              <a:buNone/>
            </a:pPr>
            <a:r>
              <a:rPr lang="en-US" sz="1800" dirty="0">
                <a:solidFill>
                  <a:srgbClr val="8792AB"/>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429000" y="1828800"/>
            <a:ext cx="2468880" cy="1600200"/>
          </a:xfrm>
          <a:prstGeom prst="roundRect">
            <a:avLst>
              <a:gd name="adj" fmla="val 6857"/>
            </a:avLst>
          </a:prstGeom>
          <a:solidFill>
            <a:srgbClr val="EDF2FA"/>
          </a:solidFill>
          <a:ln/>
        </p:spPr>
      </p:sp>
      <p:sp>
        <p:nvSpPr>
          <p:cNvPr id="11" name="Shape 9"/>
          <p:cNvSpPr/>
          <p:nvPr/>
        </p:nvSpPr>
        <p:spPr>
          <a:xfrm>
            <a:off x="3657600" y="2029968"/>
            <a:ext cx="365760" cy="365760"/>
          </a:xfrm>
          <a:prstGeom prst="ellipse">
            <a:avLst/>
          </a:prstGeom>
          <a:solidFill>
            <a:srgbClr val="1E2761"/>
          </a:solidFill>
          <a:ln/>
        </p:spPr>
      </p:sp>
      <p:sp>
        <p:nvSpPr>
          <p:cNvPr id="12" name="Text 10"/>
          <p:cNvSpPr txBox="1"/>
          <p:nvPr/>
        </p:nvSpPr>
        <p:spPr>
          <a:xfrm>
            <a:off x="365760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65760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Delivery construct</a:t>
            </a:r>
            <a:endParaRPr lang="en-US" sz="1500" dirty="0"/>
          </a:p>
        </p:txBody>
      </p:sp>
      <p:sp>
        <p:nvSpPr>
          <p:cNvPr id="14" name="Text 12"/>
          <p:cNvSpPr txBox="1"/>
          <p:nvPr/>
        </p:nvSpPr>
        <p:spPr>
          <a:xfrm>
            <a:off x="365760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shore mix, and the assets and accelerators behind it</a:t>
            </a:r>
            <a:endParaRPr lang="en-US" sz="1150" dirty="0"/>
          </a:p>
        </p:txBody>
      </p:sp>
      <p:sp>
        <p:nvSpPr>
          <p:cNvPr id="15" name="Text 13"/>
          <p:cNvSpPr txBox="1"/>
          <p:nvPr/>
        </p:nvSpPr>
        <p:spPr>
          <a:xfrm>
            <a:off x="5916168" y="2423160"/>
            <a:ext cx="274320" cy="365760"/>
          </a:xfrm>
          <a:prstGeom prst="rect">
            <a:avLst/>
          </a:prstGeom>
          <a:noFill/>
          <a:ln/>
        </p:spPr>
        <p:txBody>
          <a:bodyPr wrap="square" lIns="0" tIns="0" rIns="0" bIns="0" rtlCol="0" anchor="ctr"/>
          <a:lstStyle/>
          <a:p>
            <a:pPr algn="ctr" indent="0" marL="0">
              <a:buNone/>
            </a:pPr>
            <a:r>
              <a:rPr lang="en-US" sz="1800" dirty="0">
                <a:solidFill>
                  <a:srgbClr val="8792AB"/>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217920" y="1828800"/>
            <a:ext cx="2468880" cy="1600200"/>
          </a:xfrm>
          <a:prstGeom prst="roundRect">
            <a:avLst>
              <a:gd name="adj" fmla="val 6857"/>
            </a:avLst>
          </a:prstGeom>
          <a:solidFill>
            <a:srgbClr val="E4EBF7"/>
          </a:solidFill>
          <a:ln/>
        </p:spPr>
      </p:sp>
      <p:sp>
        <p:nvSpPr>
          <p:cNvPr id="17" name="Shape 15"/>
          <p:cNvSpPr/>
          <p:nvPr/>
        </p:nvSpPr>
        <p:spPr>
          <a:xfrm>
            <a:off x="6446520" y="2029968"/>
            <a:ext cx="365760" cy="365760"/>
          </a:xfrm>
          <a:prstGeom prst="ellipse">
            <a:avLst/>
          </a:prstGeom>
          <a:solidFill>
            <a:srgbClr val="1E2761"/>
          </a:solidFill>
          <a:ln/>
        </p:spPr>
      </p:sp>
      <p:sp>
        <p:nvSpPr>
          <p:cNvPr id="18" name="Text 16"/>
          <p:cNvSpPr txBox="1"/>
          <p:nvPr/>
        </p:nvSpPr>
        <p:spPr>
          <a:xfrm>
            <a:off x="644652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644652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Blended ADR</a:t>
            </a:r>
            <a:endParaRPr lang="en-US" sz="1500" dirty="0"/>
          </a:p>
        </p:txBody>
      </p:sp>
      <p:sp>
        <p:nvSpPr>
          <p:cNvPr id="20" name="Text 18"/>
          <p:cNvSpPr txBox="1"/>
          <p:nvPr/>
        </p:nvSpPr>
        <p:spPr>
          <a:xfrm>
            <a:off x="644652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average daily rate that construct implies</a:t>
            </a:r>
            <a:endParaRPr lang="en-US" sz="1150" dirty="0"/>
          </a:p>
        </p:txBody>
      </p:sp>
      <p:sp>
        <p:nvSpPr>
          <p:cNvPr id="21" name="Text 19"/>
          <p:cNvSpPr txBox="1"/>
          <p:nvPr/>
        </p:nvSpPr>
        <p:spPr>
          <a:xfrm>
            <a:off x="8705088" y="2423160"/>
            <a:ext cx="274320" cy="365760"/>
          </a:xfrm>
          <a:prstGeom prst="rect">
            <a:avLst/>
          </a:prstGeom>
          <a:noFill/>
          <a:ln/>
        </p:spPr>
        <p:txBody>
          <a:bodyPr wrap="square" lIns="0" tIns="0" rIns="0" bIns="0" rtlCol="0" anchor="ctr"/>
          <a:lstStyle/>
          <a:p>
            <a:pPr algn="ctr" indent="0" marL="0">
              <a:buNone/>
            </a:pPr>
            <a:r>
              <a:rPr lang="en-US" sz="1800" dirty="0">
                <a:solidFill>
                  <a:srgbClr val="8792AB"/>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9006840" y="1828800"/>
            <a:ext cx="2468880" cy="1600200"/>
          </a:xfrm>
          <a:prstGeom prst="roundRect">
            <a:avLst>
              <a:gd name="adj" fmla="val 6857"/>
            </a:avLst>
          </a:prstGeom>
          <a:solidFill>
            <a:srgbClr val="EDF2FA"/>
          </a:solidFill>
          <a:ln/>
        </p:spPr>
      </p:sp>
      <p:sp>
        <p:nvSpPr>
          <p:cNvPr id="23" name="Shape 21"/>
          <p:cNvSpPr/>
          <p:nvPr/>
        </p:nvSpPr>
        <p:spPr>
          <a:xfrm>
            <a:off x="9235440" y="2029968"/>
            <a:ext cx="365760" cy="365760"/>
          </a:xfrm>
          <a:prstGeom prst="ellipse">
            <a:avLst/>
          </a:prstGeom>
          <a:solidFill>
            <a:srgbClr val="1E2761"/>
          </a:solidFill>
          <a:ln/>
        </p:spPr>
      </p:sp>
      <p:sp>
        <p:nvSpPr>
          <p:cNvPr id="24" name="Text 22"/>
          <p:cNvSpPr txBox="1"/>
          <p:nvPr/>
        </p:nvSpPr>
        <p:spPr>
          <a:xfrm>
            <a:off x="9235440" y="20299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9235440" y="2487168"/>
            <a:ext cx="201168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Target margin</a:t>
            </a:r>
            <a:endParaRPr lang="en-US" sz="1500" dirty="0"/>
          </a:p>
        </p:txBody>
      </p:sp>
      <p:sp>
        <p:nvSpPr>
          <p:cNvPr id="26" name="Text 24"/>
          <p:cNvSpPr txBox="1"/>
          <p:nvPr/>
        </p:nvSpPr>
        <p:spPr>
          <a:xfrm>
            <a:off x="9235440" y="2834640"/>
            <a:ext cx="2057400" cy="54864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gross margin we commit to for this offering</a:t>
            </a:r>
            <a:endParaRPr lang="en-US" sz="1150" dirty="0"/>
          </a:p>
        </p:txBody>
      </p:sp>
      <p:sp>
        <p:nvSpPr>
          <p:cNvPr id="27" name="Shape 25"/>
          <p:cNvSpPr/>
          <p:nvPr/>
        </p:nvSpPr>
        <p:spPr>
          <a:xfrm>
            <a:off x="640080" y="3611880"/>
            <a:ext cx="10881360" cy="685800"/>
          </a:xfrm>
          <a:prstGeom prst="roundRect">
            <a:avLst>
              <a:gd name="adj" fmla="val 13333"/>
            </a:avLst>
          </a:prstGeom>
          <a:solidFill>
            <a:srgbClr val="1E2761"/>
          </a:solidFill>
          <a:ln/>
        </p:spPr>
      </p:sp>
      <p:sp>
        <p:nvSpPr>
          <p:cNvPr id="28" name="Text 26"/>
          <p:cNvSpPr txBox="1"/>
          <p:nvPr/>
        </p:nvSpPr>
        <p:spPr>
          <a:xfrm>
            <a:off x="914400" y="3611880"/>
            <a:ext cx="10332720" cy="68580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Set per offering and per sector: a core banking programme, a fund platform build and an AI activation carry different constructs, rates and margins.</a:t>
            </a:r>
            <a:endParaRPr lang="en-US" sz="1300" dirty="0"/>
          </a:p>
        </p:txBody>
      </p:sp>
      <p:sp>
        <p:nvSpPr>
          <p:cNvPr id="29" name="Shape 27"/>
          <p:cNvSpPr/>
          <p:nvPr/>
        </p:nvSpPr>
        <p:spPr>
          <a:xfrm>
            <a:off x="640080" y="4572000"/>
            <a:ext cx="329184" cy="329184"/>
          </a:xfrm>
          <a:prstGeom prst="ellipse">
            <a:avLst/>
          </a:prstGeom>
          <a:solidFill>
            <a:srgbClr val="3E5C8A"/>
          </a:solidFill>
          <a:ln/>
        </p:spPr>
      </p:sp>
      <p:sp>
        <p:nvSpPr>
          <p:cNvPr id="30" name="Text 28"/>
          <p:cNvSpPr txBox="1"/>
          <p:nvPr/>
        </p:nvSpPr>
        <p:spPr>
          <a:xfrm>
            <a:off x="640080" y="4572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1" name="Text 29"/>
          <p:cNvSpPr txBox="1"/>
          <p:nvPr/>
        </p:nvSpPr>
        <p:spPr>
          <a:xfrm>
            <a:off x="1115568" y="45354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must stay onshore</a:t>
            </a:r>
            <a:endParaRPr lang="en-US" sz="1300" dirty="0"/>
          </a:p>
        </p:txBody>
      </p:sp>
      <p:sp>
        <p:nvSpPr>
          <p:cNvPr id="32" name="Text 30"/>
          <p:cNvSpPr txBox="1"/>
          <p:nvPr/>
        </p:nvSpPr>
        <p:spPr>
          <a:xfrm>
            <a:off x="3520440" y="453542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Client-facing, regulatory and data-residency constrained roles</a:t>
            </a:r>
            <a:endParaRPr lang="en-US" sz="1150" dirty="0"/>
          </a:p>
        </p:txBody>
      </p:sp>
      <p:sp>
        <p:nvSpPr>
          <p:cNvPr id="33" name="Shape 31"/>
          <p:cNvSpPr/>
          <p:nvPr/>
        </p:nvSpPr>
        <p:spPr>
          <a:xfrm>
            <a:off x="6263640" y="4572000"/>
            <a:ext cx="329184" cy="329184"/>
          </a:xfrm>
          <a:prstGeom prst="ellipse">
            <a:avLst/>
          </a:prstGeom>
          <a:solidFill>
            <a:srgbClr val="3E5C8A"/>
          </a:solidFill>
          <a:ln/>
        </p:spPr>
      </p:sp>
      <p:sp>
        <p:nvSpPr>
          <p:cNvPr id="34" name="Text 32"/>
          <p:cNvSpPr txBox="1"/>
          <p:nvPr/>
        </p:nvSpPr>
        <p:spPr>
          <a:xfrm>
            <a:off x="6263640" y="4572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35" name="Text 33"/>
          <p:cNvSpPr txBox="1"/>
          <p:nvPr/>
        </p:nvSpPr>
        <p:spPr>
          <a:xfrm>
            <a:off x="6739128" y="453542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can move</a:t>
            </a:r>
            <a:endParaRPr lang="en-US" sz="1300" dirty="0"/>
          </a:p>
        </p:txBody>
      </p:sp>
      <p:sp>
        <p:nvSpPr>
          <p:cNvPr id="36" name="Text 34"/>
          <p:cNvSpPr txBox="1"/>
          <p:nvPr/>
        </p:nvSpPr>
        <p:spPr>
          <a:xfrm>
            <a:off x="9144000" y="453542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Which roles run nearshore or offshore, and at what ratio</a:t>
            </a:r>
            <a:endParaRPr lang="en-US" sz="1150" dirty="0"/>
          </a:p>
        </p:txBody>
      </p:sp>
      <p:sp>
        <p:nvSpPr>
          <p:cNvPr id="37" name="Shape 35"/>
          <p:cNvSpPr/>
          <p:nvPr/>
        </p:nvSpPr>
        <p:spPr>
          <a:xfrm>
            <a:off x="640080" y="5394960"/>
            <a:ext cx="329184" cy="329184"/>
          </a:xfrm>
          <a:prstGeom prst="ellipse">
            <a:avLst/>
          </a:prstGeom>
          <a:solidFill>
            <a:srgbClr val="1E2761"/>
          </a:solidFill>
          <a:ln/>
        </p:spPr>
      </p:sp>
      <p:sp>
        <p:nvSpPr>
          <p:cNvPr id="38" name="Text 36"/>
          <p:cNvSpPr txBox="1"/>
          <p:nvPr/>
        </p:nvSpPr>
        <p:spPr>
          <a:xfrm>
            <a:off x="640080" y="5394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39" name="Text 37"/>
          <p:cNvSpPr txBox="1"/>
          <p:nvPr/>
        </p:nvSpPr>
        <p:spPr>
          <a:xfrm>
            <a:off x="1115568" y="535838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margin we hold</a:t>
            </a:r>
            <a:endParaRPr lang="en-US" sz="1300" dirty="0"/>
          </a:p>
        </p:txBody>
      </p:sp>
      <p:sp>
        <p:nvSpPr>
          <p:cNvPr id="40" name="Text 38"/>
          <p:cNvSpPr txBox="1"/>
          <p:nvPr/>
        </p:nvSpPr>
        <p:spPr>
          <a:xfrm>
            <a:off x="3520440" y="535838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The target gross margin per offering, and the floor</a:t>
            </a:r>
            <a:endParaRPr lang="en-US" sz="1150" dirty="0"/>
          </a:p>
        </p:txBody>
      </p:sp>
      <p:sp>
        <p:nvSpPr>
          <p:cNvPr id="41" name="Shape 39"/>
          <p:cNvSpPr/>
          <p:nvPr/>
        </p:nvSpPr>
        <p:spPr>
          <a:xfrm>
            <a:off x="6263640" y="5394960"/>
            <a:ext cx="329184" cy="329184"/>
          </a:xfrm>
          <a:prstGeom prst="ellipse">
            <a:avLst/>
          </a:prstGeom>
          <a:solidFill>
            <a:srgbClr val="1E2761"/>
          </a:solidFill>
          <a:ln/>
        </p:spPr>
      </p:sp>
      <p:sp>
        <p:nvSpPr>
          <p:cNvPr id="42" name="Text 40"/>
          <p:cNvSpPr txBox="1"/>
          <p:nvPr/>
        </p:nvSpPr>
        <p:spPr>
          <a:xfrm>
            <a:off x="6263640" y="5394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43" name="Text 41"/>
          <p:cNvSpPr txBox="1"/>
          <p:nvPr/>
        </p:nvSpPr>
        <p:spPr>
          <a:xfrm>
            <a:off x="6739128" y="5358384"/>
            <a:ext cx="2377440" cy="320040"/>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What happens below it</a:t>
            </a:r>
            <a:endParaRPr lang="en-US" sz="1300" dirty="0"/>
          </a:p>
        </p:txBody>
      </p:sp>
      <p:sp>
        <p:nvSpPr>
          <p:cNvPr id="44" name="Text 42"/>
          <p:cNvSpPr txBox="1"/>
          <p:nvPr/>
        </p:nvSpPr>
        <p:spPr>
          <a:xfrm>
            <a:off x="9144000" y="5358384"/>
            <a:ext cx="2468880" cy="50292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Approval route when a deal prices under the floor</a:t>
            </a:r>
            <a:endParaRPr lang="en-US" sz="1150" dirty="0"/>
          </a:p>
        </p:txBody>
      </p:sp>
      <p:sp>
        <p:nvSpPr>
          <p:cNvPr id="45" name="Text 43"/>
          <p:cNvSpPr txBox="1"/>
          <p:nvPr/>
        </p:nvSpPr>
        <p:spPr>
          <a:xfrm>
            <a:off x="640080" y="6263640"/>
            <a:ext cx="10881360" cy="320040"/>
          </a:xfrm>
          <a:prstGeom prst="rect">
            <a:avLst/>
          </a:prstGeom>
          <a:noFill/>
          <a:ln/>
        </p:spPr>
        <p:txBody>
          <a:bodyPr wrap="square" lIns="0" tIns="0" rIns="0" bIns="0" rtlCol="0" anchor="ctr"/>
          <a:lstStyle/>
          <a:p>
            <a:pPr indent="0" marL="0">
              <a:buNone/>
            </a:pPr>
            <a:r>
              <a:rPr lang="en-US" sz="1150" i="1" dirty="0">
                <a:solidFill>
                  <a:srgbClr val="8792AB"/>
                </a:solidFill>
                <a:latin typeface="Calibri" pitchFamily="34" charset="0"/>
                <a:ea typeface="Calibri" pitchFamily="34" charset="-122"/>
                <a:cs typeface="Calibri" pitchFamily="34" charset="-120"/>
              </a:rPr>
              <a:t>Industrialised delivery is how acceleration gets paid for: reuse raises margin at the same price, and shortens time to value.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Team, skills and enablement</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3 · the capacity behind the construct, and the capability behind the capacity.</a:t>
            </a:r>
            <a:endParaRPr lang="en-US" sz="1450" dirty="0"/>
          </a:p>
        </p:txBody>
      </p:sp>
      <p:sp>
        <p:nvSpPr>
          <p:cNvPr id="4" name="Shape 2"/>
          <p:cNvSpPr/>
          <p:nvPr/>
        </p:nvSpPr>
        <p:spPr>
          <a:xfrm>
            <a:off x="640080" y="1828800"/>
            <a:ext cx="2596896" cy="3520440"/>
          </a:xfrm>
          <a:prstGeom prst="roundRect">
            <a:avLst>
              <a:gd name="adj" fmla="val 4225"/>
            </a:avLst>
          </a:prstGeom>
          <a:solidFill>
            <a:srgbClr val="EDF2FA"/>
          </a:solidFill>
          <a:ln/>
        </p:spPr>
      </p:sp>
      <p:sp>
        <p:nvSpPr>
          <p:cNvPr id="5" name="Shape 3"/>
          <p:cNvSpPr/>
          <p:nvPr/>
        </p:nvSpPr>
        <p:spPr>
          <a:xfrm>
            <a:off x="640080" y="1828800"/>
            <a:ext cx="2596896" cy="713232"/>
          </a:xfrm>
          <a:prstGeom prst="rect">
            <a:avLst/>
          </a:prstGeom>
          <a:solidFill>
            <a:srgbClr val="1E2761"/>
          </a:solidFill>
          <a:ln/>
        </p:spPr>
      </p:sp>
      <p:sp>
        <p:nvSpPr>
          <p:cNvPr id="6" name="Text 4"/>
          <p:cNvSpPr txBox="1"/>
          <p:nvPr/>
        </p:nvSpPr>
        <p:spPr>
          <a:xfrm>
            <a:off x="841248" y="1828800"/>
            <a:ext cx="219456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dedicated team</a:t>
            </a:r>
            <a:endParaRPr lang="en-US" sz="1400" dirty="0"/>
          </a:p>
        </p:txBody>
      </p:sp>
      <p:sp>
        <p:nvSpPr>
          <p:cNvPr id="7" name="Text 5"/>
          <p:cNvSpPr txBox="1"/>
          <p:nvPr/>
        </p:nvSpPr>
        <p:spPr>
          <a:xfrm>
            <a:off x="841248" y="2697480"/>
            <a:ext cx="2212848" cy="25146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Who works on FSI exclusively, across the three offerings?</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Which roles and levels do they hold?</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What is realistically deliverable with them alone?</a:t>
            </a:r>
            <a:endParaRPr lang="en-US" sz="1100" dirty="0"/>
          </a:p>
        </p:txBody>
      </p:sp>
      <p:sp>
        <p:nvSpPr>
          <p:cNvPr id="8" name="Shape 6"/>
          <p:cNvSpPr/>
          <p:nvPr/>
        </p:nvSpPr>
        <p:spPr>
          <a:xfrm>
            <a:off x="3401568" y="1828800"/>
            <a:ext cx="2596896" cy="3520440"/>
          </a:xfrm>
          <a:prstGeom prst="roundRect">
            <a:avLst>
              <a:gd name="adj" fmla="val 4225"/>
            </a:avLst>
          </a:prstGeom>
          <a:solidFill>
            <a:srgbClr val="EDF2FA"/>
          </a:solidFill>
          <a:ln/>
        </p:spPr>
      </p:sp>
      <p:sp>
        <p:nvSpPr>
          <p:cNvPr id="9" name="Shape 7"/>
          <p:cNvSpPr/>
          <p:nvPr/>
        </p:nvSpPr>
        <p:spPr>
          <a:xfrm>
            <a:off x="3401568" y="1828800"/>
            <a:ext cx="2596896" cy="713232"/>
          </a:xfrm>
          <a:prstGeom prst="rect">
            <a:avLst/>
          </a:prstGeom>
          <a:solidFill>
            <a:srgbClr val="3E5C8A"/>
          </a:solidFill>
          <a:ln/>
        </p:spPr>
      </p:sp>
      <p:sp>
        <p:nvSpPr>
          <p:cNvPr id="10" name="Text 8"/>
          <p:cNvSpPr txBox="1"/>
          <p:nvPr/>
        </p:nvSpPr>
        <p:spPr>
          <a:xfrm>
            <a:off x="3602736" y="1828800"/>
            <a:ext cx="219456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Shared capacity</a:t>
            </a:r>
            <a:endParaRPr lang="en-US" sz="1400" dirty="0"/>
          </a:p>
        </p:txBody>
      </p:sp>
      <p:sp>
        <p:nvSpPr>
          <p:cNvPr id="11" name="Text 9"/>
          <p:cNvSpPr txBox="1"/>
          <p:nvPr/>
        </p:nvSpPr>
        <p:spPr>
          <a:xfrm>
            <a:off x="3602736" y="2697480"/>
            <a:ext cx="2212848" cy="25146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Which resources are shared with other portfolios?</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How much of their time can we count on?</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Which skills do we borrow rather than own?</a:t>
            </a:r>
            <a:endParaRPr lang="en-US" sz="1100" dirty="0"/>
          </a:p>
        </p:txBody>
      </p:sp>
      <p:sp>
        <p:nvSpPr>
          <p:cNvPr id="12" name="Shape 10"/>
          <p:cNvSpPr/>
          <p:nvPr/>
        </p:nvSpPr>
        <p:spPr>
          <a:xfrm>
            <a:off x="6163056" y="1828800"/>
            <a:ext cx="2596896" cy="3520440"/>
          </a:xfrm>
          <a:prstGeom prst="roundRect">
            <a:avLst>
              <a:gd name="adj" fmla="val 4225"/>
            </a:avLst>
          </a:prstGeom>
          <a:solidFill>
            <a:srgbClr val="EDF2FA"/>
          </a:solidFill>
          <a:ln/>
        </p:spPr>
      </p:sp>
      <p:sp>
        <p:nvSpPr>
          <p:cNvPr id="13" name="Shape 11"/>
          <p:cNvSpPr/>
          <p:nvPr/>
        </p:nvSpPr>
        <p:spPr>
          <a:xfrm>
            <a:off x="6163056" y="1828800"/>
            <a:ext cx="2596896" cy="713232"/>
          </a:xfrm>
          <a:prstGeom prst="rect">
            <a:avLst/>
          </a:prstGeom>
          <a:solidFill>
            <a:srgbClr val="1E2761"/>
          </a:solidFill>
          <a:ln/>
        </p:spPr>
      </p:sp>
      <p:sp>
        <p:nvSpPr>
          <p:cNvPr id="14" name="Text 12"/>
          <p:cNvSpPr txBox="1"/>
          <p:nvPr/>
        </p:nvSpPr>
        <p:spPr>
          <a:xfrm>
            <a:off x="6364224" y="1828800"/>
            <a:ext cx="219456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Skills and enablement</a:t>
            </a:r>
            <a:endParaRPr lang="en-US" sz="1400" dirty="0"/>
          </a:p>
        </p:txBody>
      </p:sp>
      <p:sp>
        <p:nvSpPr>
          <p:cNvPr id="15" name="Text 13"/>
          <p:cNvSpPr txBox="1"/>
          <p:nvPr/>
        </p:nvSpPr>
        <p:spPr>
          <a:xfrm>
            <a:off x="6364224" y="2697480"/>
            <a:ext cx="2212848" cy="25146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Which capabilities does the catalogue actually require?</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What domain training and FSI certification is needed?</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What alliance and platform certification must we hold?</a:t>
            </a:r>
            <a:endParaRPr lang="en-US" sz="1100" dirty="0"/>
          </a:p>
        </p:txBody>
      </p:sp>
      <p:sp>
        <p:nvSpPr>
          <p:cNvPr id="16" name="Shape 14"/>
          <p:cNvSpPr/>
          <p:nvPr/>
        </p:nvSpPr>
        <p:spPr>
          <a:xfrm>
            <a:off x="8924544" y="1828800"/>
            <a:ext cx="2596896" cy="3520440"/>
          </a:xfrm>
          <a:prstGeom prst="roundRect">
            <a:avLst>
              <a:gd name="adj" fmla="val 4225"/>
            </a:avLst>
          </a:prstGeom>
          <a:solidFill>
            <a:srgbClr val="EDF2FA"/>
          </a:solidFill>
          <a:ln/>
        </p:spPr>
      </p:sp>
      <p:sp>
        <p:nvSpPr>
          <p:cNvPr id="17" name="Shape 15"/>
          <p:cNvSpPr/>
          <p:nvPr/>
        </p:nvSpPr>
        <p:spPr>
          <a:xfrm>
            <a:off x="8924544" y="1828800"/>
            <a:ext cx="2596896" cy="713232"/>
          </a:xfrm>
          <a:prstGeom prst="rect">
            <a:avLst/>
          </a:prstGeom>
          <a:solidFill>
            <a:srgbClr val="3E5C8A"/>
          </a:solidFill>
          <a:ln/>
        </p:spPr>
      </p:sp>
      <p:sp>
        <p:nvSpPr>
          <p:cNvPr id="18" name="Text 16"/>
          <p:cNvSpPr txBox="1"/>
          <p:nvPr/>
        </p:nvSpPr>
        <p:spPr>
          <a:xfrm>
            <a:off x="9125712" y="1828800"/>
            <a:ext cx="219456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gap to close</a:t>
            </a:r>
            <a:endParaRPr lang="en-US" sz="1400" dirty="0"/>
          </a:p>
        </p:txBody>
      </p:sp>
      <p:sp>
        <p:nvSpPr>
          <p:cNvPr id="19" name="Text 17"/>
          <p:cNvSpPr txBox="1"/>
          <p:nvPr/>
        </p:nvSpPr>
        <p:spPr>
          <a:xfrm>
            <a:off x="9125712" y="2697480"/>
            <a:ext cx="2212848" cy="25146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How many partners, directors and delivery staff are missing?</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Build, borrow or buy for each gap?</a:t>
            </a:r>
            <a:endParaRPr lang="en-US" sz="1100" dirty="0"/>
          </a:p>
          <a:p>
            <a:pPr marL="342900" indent="-342900">
              <a:spcAft>
                <a:spcPts val="800"/>
              </a:spcAft>
              <a:buSzPct val="100000"/>
              <a:buChar char="•"/>
            </a:pPr>
            <a:r>
              <a:rPr lang="en-US" sz="1100" dirty="0">
                <a:solidFill>
                  <a:srgbClr val="44506B"/>
                </a:solidFill>
                <a:latin typeface="Calibri" pitchFamily="34" charset="0"/>
                <a:ea typeface="Calibri" pitchFamily="34" charset="-122"/>
                <a:cs typeface="Calibri" pitchFamily="34" charset="-120"/>
              </a:rPr>
              <a:t>By when, to support the targets we set?</a:t>
            </a:r>
            <a:endParaRPr lang="en-US" sz="1100" dirty="0"/>
          </a:p>
        </p:txBody>
      </p:sp>
      <p:sp>
        <p:nvSpPr>
          <p:cNvPr id="20" name="Shape 18"/>
          <p:cNvSpPr/>
          <p:nvPr/>
        </p:nvSpPr>
        <p:spPr>
          <a:xfrm>
            <a:off x="3566160" y="5532120"/>
            <a:ext cx="5029200" cy="301752"/>
          </a:xfrm>
          <a:prstGeom prst="roundRect">
            <a:avLst>
              <a:gd name="adj" fmla="val 48485"/>
            </a:avLst>
          </a:prstGeom>
          <a:solidFill>
            <a:srgbClr val="FFFFFF"/>
          </a:solidFill>
          <a:ln w="12700">
            <a:solidFill>
              <a:srgbClr val="B8862B"/>
            </a:solidFill>
            <a:prstDash val="solid"/>
          </a:ln>
        </p:spPr>
      </p:sp>
      <p:sp>
        <p:nvSpPr>
          <p:cNvPr id="21" name="Text 19"/>
          <p:cNvSpPr txBox="1"/>
          <p:nvPr/>
        </p:nvSpPr>
        <p:spPr>
          <a:xfrm>
            <a:off x="3566160" y="5532120"/>
            <a:ext cx="5029200" cy="301752"/>
          </a:xfrm>
          <a:prstGeom prst="rect">
            <a:avLst/>
          </a:prstGeom>
          <a:noFill/>
          <a:ln/>
        </p:spPr>
        <p:txBody>
          <a:bodyPr wrap="square" lIns="0" tIns="0" rIns="0" bIns="0" rtlCol="0" anchor="ctr"/>
          <a:lstStyle/>
          <a:p>
            <a:pPr algn="ctr" indent="0" marL="0">
              <a:buNone/>
            </a:pPr>
            <a:r>
              <a:rPr lang="en-US" sz="1050" i="1" dirty="0">
                <a:solidFill>
                  <a:srgbClr val="B8862B"/>
                </a:solidFill>
                <a:latin typeface="Calibri" pitchFamily="34" charset="0"/>
                <a:ea typeface="Calibri" pitchFamily="34" charset="-122"/>
                <a:cs typeface="Calibri" pitchFamily="34" charset="-120"/>
              </a:rPr>
              <a:t>names, numbers and dates to be defined in the cycle</a:t>
            </a:r>
            <a:endParaRPr lang="en-US" sz="1050" dirty="0"/>
          </a:p>
        </p:txBody>
      </p:sp>
      <p:sp>
        <p:nvSpPr>
          <p:cNvPr id="22" name="Text 20"/>
          <p:cNvSpPr txBox="1"/>
          <p:nvPr/>
        </p:nvSpPr>
        <p:spPr>
          <a:xfrm>
            <a:off x="640080" y="6035040"/>
            <a:ext cx="10881360" cy="365760"/>
          </a:xfrm>
          <a:prstGeom prst="rect">
            <a:avLst/>
          </a:prstGeom>
          <a:noFill/>
          <a:ln/>
        </p:spPr>
        <p:txBody>
          <a:bodyPr wrap="square" lIns="0" tIns="0" rIns="0" bIns="0" rtlCol="0" anchor="ctr"/>
          <a:lstStyle/>
          <a:p>
            <a:pPr indent="0" marL="0">
              <a:buNone/>
            </a:pPr>
            <a:r>
              <a:rPr lang="en-US" sz="1300" i="1" dirty="0">
                <a:solidFill>
                  <a:srgbClr val="3E5C8A"/>
                </a:solidFill>
                <a:latin typeface="Calibri" pitchFamily="34" charset="0"/>
                <a:ea typeface="Calibri" pitchFamily="34" charset="-122"/>
                <a:cs typeface="Calibri" pitchFamily="34" charset="-120"/>
              </a:rPr>
              <a:t>Targets we cannot staff are not targets — and staff without the domain credential cannot sell the work.</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Alliances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4 · two categories, used for different things.</a:t>
            </a:r>
            <a:endParaRPr lang="en-US" sz="1450" dirty="0"/>
          </a:p>
        </p:txBody>
      </p:sp>
      <p:sp>
        <p:nvSpPr>
          <p:cNvPr id="4" name="Shape 2"/>
          <p:cNvSpPr/>
          <p:nvPr/>
        </p:nvSpPr>
        <p:spPr>
          <a:xfrm>
            <a:off x="640080" y="1783080"/>
            <a:ext cx="10881360" cy="1874520"/>
          </a:xfrm>
          <a:prstGeom prst="roundRect">
            <a:avLst>
              <a:gd name="adj" fmla="val 5854"/>
            </a:avLst>
          </a:prstGeom>
          <a:solidFill>
            <a:srgbClr val="EDF2FA"/>
          </a:solidFill>
          <a:ln/>
        </p:spPr>
      </p:sp>
      <p:sp>
        <p:nvSpPr>
          <p:cNvPr id="5" name="Shape 3"/>
          <p:cNvSpPr/>
          <p:nvPr/>
        </p:nvSpPr>
        <p:spPr>
          <a:xfrm>
            <a:off x="640080" y="1783080"/>
            <a:ext cx="2514600" cy="1874520"/>
          </a:xfrm>
          <a:prstGeom prst="rect">
            <a:avLst/>
          </a:prstGeom>
          <a:solidFill>
            <a:srgbClr val="1E2761"/>
          </a:solidFill>
          <a:ln/>
        </p:spPr>
      </p:sp>
      <p:sp>
        <p:nvSpPr>
          <p:cNvPr id="6" name="Text 4"/>
          <p:cNvSpPr txBox="1"/>
          <p:nvPr/>
        </p:nvSpPr>
        <p:spPr>
          <a:xfrm>
            <a:off x="841248" y="1874520"/>
            <a:ext cx="2194560" cy="777240"/>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libri" pitchFamily="34" charset="0"/>
                <a:ea typeface="Calibri" pitchFamily="34" charset="-122"/>
                <a:cs typeface="Calibri" pitchFamily="34" charset="-120"/>
              </a:rPr>
              <a:t>Broad technology</a:t>
            </a:r>
            <a:endParaRPr lang="en-US" sz="1450" dirty="0"/>
          </a:p>
          <a:p>
            <a:pPr indent="0" marL="0">
              <a:lnSpc>
                <a:spcPts val="1700"/>
              </a:lnSpc>
              <a:buNone/>
            </a:pPr>
            <a:r>
              <a:rPr lang="en-US" sz="1450" b="1" dirty="0">
                <a:solidFill>
                  <a:srgbClr val="FFFFFF"/>
                </a:solidFill>
                <a:latin typeface="Calibri" pitchFamily="34" charset="0"/>
                <a:ea typeface="Calibri" pitchFamily="34" charset="-122"/>
                <a:cs typeface="Calibri" pitchFamily="34" charset="-120"/>
              </a:rPr>
              <a:t>alliances</a:t>
            </a:r>
            <a:endParaRPr lang="en-US" sz="1450" dirty="0"/>
          </a:p>
        </p:txBody>
      </p:sp>
      <p:sp>
        <p:nvSpPr>
          <p:cNvPr id="7" name="Text 5"/>
          <p:cNvSpPr txBox="1"/>
          <p:nvPr/>
        </p:nvSpPr>
        <p:spPr>
          <a:xfrm>
            <a:off x="841248" y="2743200"/>
            <a:ext cx="21945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Relevant to every proposition</a:t>
            </a:r>
            <a:endParaRPr lang="en-US" sz="1100" dirty="0"/>
          </a:p>
        </p:txBody>
      </p:sp>
      <p:sp>
        <p:nvSpPr>
          <p:cNvPr id="8" name="Shape 6"/>
          <p:cNvSpPr/>
          <p:nvPr/>
        </p:nvSpPr>
        <p:spPr>
          <a:xfrm>
            <a:off x="3429000" y="2011680"/>
            <a:ext cx="1783080" cy="685800"/>
          </a:xfrm>
          <a:prstGeom prst="roundRect">
            <a:avLst>
              <a:gd name="adj" fmla="val 13333"/>
            </a:avLst>
          </a:prstGeom>
          <a:solidFill>
            <a:srgbClr val="3E5C8A"/>
          </a:solidFill>
          <a:ln/>
        </p:spPr>
      </p:sp>
      <p:sp>
        <p:nvSpPr>
          <p:cNvPr id="9" name="Text 7"/>
          <p:cNvSpPr txBox="1"/>
          <p:nvPr/>
        </p:nvSpPr>
        <p:spPr>
          <a:xfrm>
            <a:off x="3429000" y="2011680"/>
            <a:ext cx="178308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Google</a:t>
            </a:r>
            <a:endParaRPr lang="en-US" sz="1500" dirty="0"/>
          </a:p>
        </p:txBody>
      </p:sp>
      <p:sp>
        <p:nvSpPr>
          <p:cNvPr id="10" name="Shape 8"/>
          <p:cNvSpPr/>
          <p:nvPr/>
        </p:nvSpPr>
        <p:spPr>
          <a:xfrm>
            <a:off x="5394960" y="2011680"/>
            <a:ext cx="1783080" cy="685800"/>
          </a:xfrm>
          <a:prstGeom prst="roundRect">
            <a:avLst>
              <a:gd name="adj" fmla="val 13333"/>
            </a:avLst>
          </a:prstGeom>
          <a:solidFill>
            <a:srgbClr val="3E5C8A"/>
          </a:solidFill>
          <a:ln/>
        </p:spPr>
      </p:sp>
      <p:sp>
        <p:nvSpPr>
          <p:cNvPr id="11" name="Text 9"/>
          <p:cNvSpPr txBox="1"/>
          <p:nvPr/>
        </p:nvSpPr>
        <p:spPr>
          <a:xfrm>
            <a:off x="5394960" y="2011680"/>
            <a:ext cx="178308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AWS</a:t>
            </a:r>
            <a:endParaRPr lang="en-US" sz="1500" dirty="0"/>
          </a:p>
        </p:txBody>
      </p:sp>
      <p:sp>
        <p:nvSpPr>
          <p:cNvPr id="12" name="Shape 10"/>
          <p:cNvSpPr/>
          <p:nvPr/>
        </p:nvSpPr>
        <p:spPr>
          <a:xfrm>
            <a:off x="7360920" y="2011680"/>
            <a:ext cx="1783080" cy="685800"/>
          </a:xfrm>
          <a:prstGeom prst="roundRect">
            <a:avLst>
              <a:gd name="adj" fmla="val 13333"/>
            </a:avLst>
          </a:prstGeom>
          <a:solidFill>
            <a:srgbClr val="3E5C8A"/>
          </a:solidFill>
          <a:ln/>
        </p:spPr>
      </p:sp>
      <p:sp>
        <p:nvSpPr>
          <p:cNvPr id="13" name="Text 11"/>
          <p:cNvSpPr txBox="1"/>
          <p:nvPr/>
        </p:nvSpPr>
        <p:spPr>
          <a:xfrm>
            <a:off x="7360920" y="2011680"/>
            <a:ext cx="178308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Microsoft</a:t>
            </a:r>
            <a:endParaRPr lang="en-US" sz="1500" dirty="0"/>
          </a:p>
        </p:txBody>
      </p:sp>
      <p:sp>
        <p:nvSpPr>
          <p:cNvPr id="14" name="Shape 12"/>
          <p:cNvSpPr/>
          <p:nvPr/>
        </p:nvSpPr>
        <p:spPr>
          <a:xfrm>
            <a:off x="9326880" y="2011680"/>
            <a:ext cx="1783080" cy="685800"/>
          </a:xfrm>
          <a:prstGeom prst="roundRect">
            <a:avLst>
              <a:gd name="adj" fmla="val 13333"/>
            </a:avLst>
          </a:prstGeom>
          <a:solidFill>
            <a:srgbClr val="3E5C8A"/>
          </a:solidFill>
          <a:ln/>
        </p:spPr>
      </p:sp>
      <p:sp>
        <p:nvSpPr>
          <p:cNvPr id="15" name="Text 13"/>
          <p:cNvSpPr txBox="1"/>
          <p:nvPr/>
        </p:nvSpPr>
        <p:spPr>
          <a:xfrm>
            <a:off x="9326880" y="2011680"/>
            <a:ext cx="178308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Oracle</a:t>
            </a:r>
            <a:endParaRPr lang="en-US" sz="1500" dirty="0"/>
          </a:p>
        </p:txBody>
      </p:sp>
      <p:sp>
        <p:nvSpPr>
          <p:cNvPr id="16" name="Text 14"/>
          <p:cNvSpPr txBox="1"/>
          <p:nvPr/>
        </p:nvSpPr>
        <p:spPr>
          <a:xfrm>
            <a:off x="3429000" y="2834640"/>
            <a:ext cx="7772400" cy="685800"/>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Used for: co-sell into their accounts · funding and credits to activate use cases on their platform · platform credibility and certifications</a:t>
            </a:r>
            <a:endParaRPr lang="en-US" sz="1200" dirty="0"/>
          </a:p>
        </p:txBody>
      </p:sp>
      <p:sp>
        <p:nvSpPr>
          <p:cNvPr id="17" name="Shape 15"/>
          <p:cNvSpPr/>
          <p:nvPr/>
        </p:nvSpPr>
        <p:spPr>
          <a:xfrm>
            <a:off x="640080" y="3794760"/>
            <a:ext cx="10881360" cy="1874520"/>
          </a:xfrm>
          <a:prstGeom prst="roundRect">
            <a:avLst>
              <a:gd name="adj" fmla="val 5854"/>
            </a:avLst>
          </a:prstGeom>
          <a:solidFill>
            <a:srgbClr val="E4EBF7"/>
          </a:solidFill>
          <a:ln/>
        </p:spPr>
      </p:sp>
      <p:sp>
        <p:nvSpPr>
          <p:cNvPr id="18" name="Shape 16"/>
          <p:cNvSpPr/>
          <p:nvPr/>
        </p:nvSpPr>
        <p:spPr>
          <a:xfrm>
            <a:off x="640080" y="3794760"/>
            <a:ext cx="2514600" cy="1874520"/>
          </a:xfrm>
          <a:prstGeom prst="rect">
            <a:avLst/>
          </a:prstGeom>
          <a:solidFill>
            <a:srgbClr val="3E5C8A"/>
          </a:solidFill>
          <a:ln/>
        </p:spPr>
      </p:sp>
      <p:sp>
        <p:nvSpPr>
          <p:cNvPr id="19" name="Text 17"/>
          <p:cNvSpPr txBox="1"/>
          <p:nvPr/>
        </p:nvSpPr>
        <p:spPr>
          <a:xfrm>
            <a:off x="841248" y="3886200"/>
            <a:ext cx="2194560" cy="777240"/>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libri" pitchFamily="34" charset="0"/>
                <a:ea typeface="Calibri" pitchFamily="34" charset="-122"/>
                <a:cs typeface="Calibri" pitchFamily="34" charset="-120"/>
              </a:rPr>
              <a:t>Specialised</a:t>
            </a:r>
            <a:endParaRPr lang="en-US" sz="1450" dirty="0"/>
          </a:p>
          <a:p>
            <a:pPr indent="0" marL="0">
              <a:lnSpc>
                <a:spcPts val="1700"/>
              </a:lnSpc>
              <a:buNone/>
            </a:pPr>
            <a:r>
              <a:rPr lang="en-US" sz="1450" b="1" dirty="0">
                <a:solidFill>
                  <a:srgbClr val="FFFFFF"/>
                </a:solidFill>
                <a:latin typeface="Calibri" pitchFamily="34" charset="0"/>
                <a:ea typeface="Calibri" pitchFamily="34" charset="-122"/>
                <a:cs typeface="Calibri" pitchFamily="34" charset="-120"/>
              </a:rPr>
              <a:t>product vendors</a:t>
            </a:r>
            <a:endParaRPr lang="en-US" sz="1450" dirty="0"/>
          </a:p>
        </p:txBody>
      </p:sp>
      <p:sp>
        <p:nvSpPr>
          <p:cNvPr id="20" name="Text 18"/>
          <p:cNvSpPr txBox="1"/>
          <p:nvPr/>
        </p:nvSpPr>
        <p:spPr>
          <a:xfrm>
            <a:off x="841248" y="4754880"/>
            <a:ext cx="21945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Relevant to specific offerings only</a:t>
            </a:r>
            <a:endParaRPr lang="en-US" sz="1100" dirty="0"/>
          </a:p>
        </p:txBody>
      </p:sp>
      <p:sp>
        <p:nvSpPr>
          <p:cNvPr id="21" name="Shape 19"/>
          <p:cNvSpPr/>
          <p:nvPr/>
        </p:nvSpPr>
        <p:spPr>
          <a:xfrm>
            <a:off x="3429000" y="3977640"/>
            <a:ext cx="3749040" cy="658368"/>
          </a:xfrm>
          <a:prstGeom prst="roundRect">
            <a:avLst>
              <a:gd name="adj" fmla="val 13889"/>
            </a:avLst>
          </a:prstGeom>
          <a:solidFill>
            <a:srgbClr val="FFFFFF"/>
          </a:solidFill>
          <a:ln/>
        </p:spPr>
      </p:sp>
      <p:sp>
        <p:nvSpPr>
          <p:cNvPr id="22" name="Text 20"/>
          <p:cNvSpPr txBox="1"/>
          <p:nvPr/>
        </p:nvSpPr>
        <p:spPr>
          <a:xfrm>
            <a:off x="3611880" y="3977640"/>
            <a:ext cx="1828800" cy="65836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Core banking</a:t>
            </a:r>
            <a:endParaRPr lang="en-US" sz="1200" dirty="0"/>
          </a:p>
        </p:txBody>
      </p:sp>
      <p:sp>
        <p:nvSpPr>
          <p:cNvPr id="23" name="Text 21"/>
          <p:cNvSpPr txBox="1"/>
          <p:nvPr/>
        </p:nvSpPr>
        <p:spPr>
          <a:xfrm>
            <a:off x="5440680" y="3977640"/>
            <a:ext cx="1645920" cy="658368"/>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Temenos · Intellect</a:t>
            </a:r>
            <a:endParaRPr lang="en-US" sz="1150" dirty="0"/>
          </a:p>
        </p:txBody>
      </p:sp>
      <p:sp>
        <p:nvSpPr>
          <p:cNvPr id="24" name="Shape 22"/>
          <p:cNvSpPr/>
          <p:nvPr/>
        </p:nvSpPr>
        <p:spPr>
          <a:xfrm>
            <a:off x="7360920" y="3977640"/>
            <a:ext cx="3749040" cy="658368"/>
          </a:xfrm>
          <a:prstGeom prst="roundRect">
            <a:avLst>
              <a:gd name="adj" fmla="val 13889"/>
            </a:avLst>
          </a:prstGeom>
          <a:solidFill>
            <a:srgbClr val="FFFFFF"/>
          </a:solidFill>
          <a:ln/>
        </p:spPr>
      </p:sp>
      <p:sp>
        <p:nvSpPr>
          <p:cNvPr id="25" name="Text 23"/>
          <p:cNvSpPr txBox="1"/>
          <p:nvPr/>
        </p:nvSpPr>
        <p:spPr>
          <a:xfrm>
            <a:off x="7543800" y="3977640"/>
            <a:ext cx="1828800" cy="65836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Data platforms</a:t>
            </a:r>
            <a:endParaRPr lang="en-US" sz="1200" dirty="0"/>
          </a:p>
        </p:txBody>
      </p:sp>
      <p:sp>
        <p:nvSpPr>
          <p:cNvPr id="26" name="Text 24"/>
          <p:cNvSpPr txBox="1"/>
          <p:nvPr/>
        </p:nvSpPr>
        <p:spPr>
          <a:xfrm>
            <a:off x="9372600" y="3977640"/>
            <a:ext cx="1645920" cy="658368"/>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Informatica · others</a:t>
            </a:r>
            <a:endParaRPr lang="en-US" sz="1150" dirty="0"/>
          </a:p>
        </p:txBody>
      </p:sp>
      <p:sp>
        <p:nvSpPr>
          <p:cNvPr id="27" name="Shape 25"/>
          <p:cNvSpPr/>
          <p:nvPr/>
        </p:nvSpPr>
        <p:spPr>
          <a:xfrm>
            <a:off x="3429000" y="4754880"/>
            <a:ext cx="3749040" cy="658368"/>
          </a:xfrm>
          <a:prstGeom prst="roundRect">
            <a:avLst>
              <a:gd name="adj" fmla="val 13889"/>
            </a:avLst>
          </a:prstGeom>
          <a:solidFill>
            <a:srgbClr val="FFFFFF"/>
          </a:solidFill>
          <a:ln/>
        </p:spPr>
      </p:sp>
      <p:sp>
        <p:nvSpPr>
          <p:cNvPr id="28" name="Text 26"/>
          <p:cNvSpPr txBox="1"/>
          <p:nvPr/>
        </p:nvSpPr>
        <p:spPr>
          <a:xfrm>
            <a:off x="3611880" y="4754880"/>
            <a:ext cx="1828800" cy="65836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Origination</a:t>
            </a:r>
            <a:endParaRPr lang="en-US" sz="1200" dirty="0"/>
          </a:p>
        </p:txBody>
      </p:sp>
      <p:sp>
        <p:nvSpPr>
          <p:cNvPr id="29" name="Text 27"/>
          <p:cNvSpPr txBox="1"/>
          <p:nvPr/>
        </p:nvSpPr>
        <p:spPr>
          <a:xfrm>
            <a:off x="5440680" y="4754880"/>
            <a:ext cx="1645920" cy="658368"/>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to be defined</a:t>
            </a:r>
            <a:endParaRPr lang="en-US" sz="1150" dirty="0"/>
          </a:p>
        </p:txBody>
      </p:sp>
      <p:sp>
        <p:nvSpPr>
          <p:cNvPr id="30" name="Shape 28"/>
          <p:cNvSpPr/>
          <p:nvPr/>
        </p:nvSpPr>
        <p:spPr>
          <a:xfrm>
            <a:off x="7360920" y="4754880"/>
            <a:ext cx="3749040" cy="658368"/>
          </a:xfrm>
          <a:prstGeom prst="roundRect">
            <a:avLst>
              <a:gd name="adj" fmla="val 13889"/>
            </a:avLst>
          </a:prstGeom>
          <a:solidFill>
            <a:srgbClr val="FFFFFF"/>
          </a:solidFill>
          <a:ln/>
        </p:spPr>
      </p:sp>
      <p:sp>
        <p:nvSpPr>
          <p:cNvPr id="31" name="Text 29"/>
          <p:cNvSpPr txBox="1"/>
          <p:nvPr/>
        </p:nvSpPr>
        <p:spPr>
          <a:xfrm>
            <a:off x="7543800" y="4754880"/>
            <a:ext cx="1828800" cy="65836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Insurance and fund core</a:t>
            </a:r>
            <a:endParaRPr lang="en-US" sz="1200" dirty="0"/>
          </a:p>
        </p:txBody>
      </p:sp>
      <p:sp>
        <p:nvSpPr>
          <p:cNvPr id="32" name="Text 30"/>
          <p:cNvSpPr txBox="1"/>
          <p:nvPr/>
        </p:nvSpPr>
        <p:spPr>
          <a:xfrm>
            <a:off x="9372600" y="4754880"/>
            <a:ext cx="1645920" cy="658368"/>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to be defined</a:t>
            </a:r>
            <a:endParaRPr lang="en-US" sz="1150" dirty="0"/>
          </a:p>
        </p:txBody>
      </p:sp>
      <p:sp>
        <p:nvSpPr>
          <p:cNvPr id="33" name="Shape 31"/>
          <p:cNvSpPr/>
          <p:nvPr/>
        </p:nvSpPr>
        <p:spPr>
          <a:xfrm>
            <a:off x="640080" y="5806440"/>
            <a:ext cx="10881360" cy="731520"/>
          </a:xfrm>
          <a:prstGeom prst="roundRect">
            <a:avLst>
              <a:gd name="adj" fmla="val 12500"/>
            </a:avLst>
          </a:prstGeom>
          <a:solidFill>
            <a:srgbClr val="1E2761"/>
          </a:solidFill>
          <a:ln/>
        </p:spPr>
      </p:sp>
      <p:sp>
        <p:nvSpPr>
          <p:cNvPr id="34" name="Text 32"/>
          <p:cNvSpPr txBox="1"/>
          <p:nvPr/>
        </p:nvSpPr>
        <p:spPr>
          <a:xfrm>
            <a:off x="914400" y="5806440"/>
            <a:ext cx="10332720" cy="7315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Per alliance the plan answers: what we leverage it for, the relationship type, which offerings and sectors it sits behind, which accounts it opens, and what it costs us back.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Eminence and positioning</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4 · how the market — outside and inside the firm — comes to know us for this.</a:t>
            </a:r>
            <a:endParaRPr lang="en-US" sz="1450" dirty="0"/>
          </a:p>
        </p:txBody>
      </p:sp>
      <p:sp>
        <p:nvSpPr>
          <p:cNvPr id="4" name="Shape 2"/>
          <p:cNvSpPr/>
          <p:nvPr/>
        </p:nvSpPr>
        <p:spPr>
          <a:xfrm>
            <a:off x="640080" y="1783080"/>
            <a:ext cx="2029968" cy="2148840"/>
          </a:xfrm>
          <a:prstGeom prst="roundRect">
            <a:avLst>
              <a:gd name="adj" fmla="val 5405"/>
            </a:avLst>
          </a:prstGeom>
          <a:solidFill>
            <a:srgbClr val="E4EBF7"/>
          </a:solidFill>
          <a:ln/>
        </p:spPr>
      </p:sp>
      <p:sp>
        <p:nvSpPr>
          <p:cNvPr id="5" name="Text 3"/>
          <p:cNvSpPr txBox="1"/>
          <p:nvPr/>
        </p:nvSpPr>
        <p:spPr>
          <a:xfrm>
            <a:off x="841248" y="1901952"/>
            <a:ext cx="1737360" cy="365760"/>
          </a:xfrm>
          <a:prstGeom prst="rect">
            <a:avLst/>
          </a:prstGeom>
          <a:noFill/>
          <a:ln/>
        </p:spPr>
        <p:txBody>
          <a:bodyPr wrap="square" lIns="0" tIns="0" rIns="0" bIns="0" rtlCol="0" anchor="ctr"/>
          <a:lstStyle/>
          <a:p>
            <a:pPr indent="0" marL="0">
              <a:buNone/>
            </a:pPr>
            <a:r>
              <a:rPr lang="en-US" sz="1400" b="1" dirty="0">
                <a:solidFill>
                  <a:srgbClr val="16203A"/>
                </a:solidFill>
                <a:latin typeface="Calibri" pitchFamily="34" charset="0"/>
                <a:ea typeface="Calibri" pitchFamily="34" charset="-122"/>
                <a:cs typeface="Calibri" pitchFamily="34" charset="-120"/>
              </a:rPr>
              <a:t>Published views</a:t>
            </a:r>
            <a:endParaRPr lang="en-US" sz="1400" dirty="0"/>
          </a:p>
        </p:txBody>
      </p:sp>
      <p:sp>
        <p:nvSpPr>
          <p:cNvPr id="6" name="Text 4"/>
          <p:cNvSpPr txBox="1"/>
          <p:nvPr/>
        </p:nvSpPr>
        <p:spPr>
          <a:xfrm>
            <a:off x="841248" y="2331720"/>
            <a:ext cx="1691640" cy="146304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Points of view</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Articles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Benchmark reports</a:t>
            </a:r>
            <a:endParaRPr lang="en-US" sz="1100" dirty="0"/>
          </a:p>
        </p:txBody>
      </p:sp>
      <p:sp>
        <p:nvSpPr>
          <p:cNvPr id="7" name="Shape 5"/>
          <p:cNvSpPr/>
          <p:nvPr/>
        </p:nvSpPr>
        <p:spPr>
          <a:xfrm>
            <a:off x="2852928" y="1783080"/>
            <a:ext cx="2029968" cy="2148840"/>
          </a:xfrm>
          <a:prstGeom prst="roundRect">
            <a:avLst>
              <a:gd name="adj" fmla="val 5405"/>
            </a:avLst>
          </a:prstGeom>
          <a:solidFill>
            <a:srgbClr val="EDF2FA"/>
          </a:solidFill>
          <a:ln/>
        </p:spPr>
      </p:sp>
      <p:sp>
        <p:nvSpPr>
          <p:cNvPr id="8" name="Text 6"/>
          <p:cNvSpPr txBox="1"/>
          <p:nvPr/>
        </p:nvSpPr>
        <p:spPr>
          <a:xfrm>
            <a:off x="3054096" y="1901952"/>
            <a:ext cx="1737360" cy="365760"/>
          </a:xfrm>
          <a:prstGeom prst="rect">
            <a:avLst/>
          </a:prstGeom>
          <a:noFill/>
          <a:ln/>
        </p:spPr>
        <p:txBody>
          <a:bodyPr wrap="square" lIns="0" tIns="0" rIns="0" bIns="0" rtlCol="0" anchor="ctr"/>
          <a:lstStyle/>
          <a:p>
            <a:pPr indent="0" marL="0">
              <a:buNone/>
            </a:pPr>
            <a:r>
              <a:rPr lang="en-US" sz="1400" b="1" dirty="0">
                <a:solidFill>
                  <a:srgbClr val="16203A"/>
                </a:solidFill>
                <a:latin typeface="Calibri" pitchFamily="34" charset="0"/>
                <a:ea typeface="Calibri" pitchFamily="34" charset="-122"/>
                <a:cs typeface="Calibri" pitchFamily="34" charset="-120"/>
              </a:rPr>
              <a:t>Stages</a:t>
            </a:r>
            <a:endParaRPr lang="en-US" sz="1400" dirty="0"/>
          </a:p>
        </p:txBody>
      </p:sp>
      <p:sp>
        <p:nvSpPr>
          <p:cNvPr id="9" name="Text 7"/>
          <p:cNvSpPr txBox="1"/>
          <p:nvPr/>
        </p:nvSpPr>
        <p:spPr>
          <a:xfrm>
            <a:off x="3054096" y="2331720"/>
            <a:ext cx="1691640" cy="146304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Industry conferences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Flagship FSI events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Panels and keynotes</a:t>
            </a:r>
            <a:endParaRPr lang="en-US" sz="1100" dirty="0"/>
          </a:p>
        </p:txBody>
      </p:sp>
      <p:sp>
        <p:nvSpPr>
          <p:cNvPr id="10" name="Shape 8"/>
          <p:cNvSpPr/>
          <p:nvPr/>
        </p:nvSpPr>
        <p:spPr>
          <a:xfrm>
            <a:off x="5065776" y="1783080"/>
            <a:ext cx="2029968" cy="2148840"/>
          </a:xfrm>
          <a:prstGeom prst="roundRect">
            <a:avLst>
              <a:gd name="adj" fmla="val 5405"/>
            </a:avLst>
          </a:prstGeom>
          <a:solidFill>
            <a:srgbClr val="E4EBF7"/>
          </a:solidFill>
          <a:ln/>
        </p:spPr>
      </p:sp>
      <p:sp>
        <p:nvSpPr>
          <p:cNvPr id="11" name="Text 9"/>
          <p:cNvSpPr txBox="1"/>
          <p:nvPr/>
        </p:nvSpPr>
        <p:spPr>
          <a:xfrm>
            <a:off x="5266944" y="1901952"/>
            <a:ext cx="1737360" cy="365760"/>
          </a:xfrm>
          <a:prstGeom prst="rect">
            <a:avLst/>
          </a:prstGeom>
          <a:noFill/>
          <a:ln/>
        </p:spPr>
        <p:txBody>
          <a:bodyPr wrap="square" lIns="0" tIns="0" rIns="0" bIns="0" rtlCol="0" anchor="ctr"/>
          <a:lstStyle/>
          <a:p>
            <a:pPr indent="0" marL="0">
              <a:buNone/>
            </a:pPr>
            <a:r>
              <a:rPr lang="en-US" sz="1400" b="1" dirty="0">
                <a:solidFill>
                  <a:srgbClr val="16203A"/>
                </a:solidFill>
                <a:latin typeface="Calibri" pitchFamily="34" charset="0"/>
                <a:ea typeface="Calibri" pitchFamily="34" charset="-122"/>
                <a:cs typeface="Calibri" pitchFamily="34" charset="-120"/>
              </a:rPr>
              <a:t>Client formats</a:t>
            </a:r>
            <a:endParaRPr lang="en-US" sz="1400" dirty="0"/>
          </a:p>
        </p:txBody>
      </p:sp>
      <p:sp>
        <p:nvSpPr>
          <p:cNvPr id="12" name="Text 10"/>
          <p:cNvSpPr txBox="1"/>
          <p:nvPr/>
        </p:nvSpPr>
        <p:spPr>
          <a:xfrm>
            <a:off x="5266944" y="2331720"/>
            <a:ext cx="1691640" cy="146304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Executive workshops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Seminars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Roundtables</a:t>
            </a:r>
            <a:endParaRPr lang="en-US" sz="1100" dirty="0"/>
          </a:p>
        </p:txBody>
      </p:sp>
      <p:sp>
        <p:nvSpPr>
          <p:cNvPr id="13" name="Shape 11"/>
          <p:cNvSpPr/>
          <p:nvPr/>
        </p:nvSpPr>
        <p:spPr>
          <a:xfrm>
            <a:off x="7278624" y="1783080"/>
            <a:ext cx="2029968" cy="2148840"/>
          </a:xfrm>
          <a:prstGeom prst="roundRect">
            <a:avLst>
              <a:gd name="adj" fmla="val 5405"/>
            </a:avLst>
          </a:prstGeom>
          <a:solidFill>
            <a:srgbClr val="EDF2FA"/>
          </a:solidFill>
          <a:ln/>
        </p:spPr>
      </p:sp>
      <p:sp>
        <p:nvSpPr>
          <p:cNvPr id="14" name="Text 12"/>
          <p:cNvSpPr txBox="1"/>
          <p:nvPr/>
        </p:nvSpPr>
        <p:spPr>
          <a:xfrm>
            <a:off x="7479792" y="1901952"/>
            <a:ext cx="1737360" cy="365760"/>
          </a:xfrm>
          <a:prstGeom prst="rect">
            <a:avLst/>
          </a:prstGeom>
          <a:noFill/>
          <a:ln/>
        </p:spPr>
        <p:txBody>
          <a:bodyPr wrap="square" lIns="0" tIns="0" rIns="0" bIns="0" rtlCol="0" anchor="ctr"/>
          <a:lstStyle/>
          <a:p>
            <a:pPr indent="0" marL="0">
              <a:buNone/>
            </a:pPr>
            <a:r>
              <a:rPr lang="en-US" sz="1400" b="1" dirty="0">
                <a:solidFill>
                  <a:srgbClr val="16203A"/>
                </a:solidFill>
                <a:latin typeface="Calibri" pitchFamily="34" charset="0"/>
                <a:ea typeface="Calibri" pitchFamily="34" charset="-122"/>
                <a:cs typeface="Calibri" pitchFamily="34" charset="-120"/>
              </a:rPr>
              <a:t>Digital</a:t>
            </a:r>
            <a:endParaRPr lang="en-US" sz="1400" dirty="0"/>
          </a:p>
        </p:txBody>
      </p:sp>
      <p:sp>
        <p:nvSpPr>
          <p:cNvPr id="15" name="Text 13"/>
          <p:cNvSpPr txBox="1"/>
          <p:nvPr/>
        </p:nvSpPr>
        <p:spPr>
          <a:xfrm>
            <a:off x="7479792" y="2331720"/>
            <a:ext cx="1691640" cy="146304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Podcasts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Webinars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Social presence</a:t>
            </a:r>
            <a:endParaRPr lang="en-US" sz="1100" dirty="0"/>
          </a:p>
        </p:txBody>
      </p:sp>
      <p:sp>
        <p:nvSpPr>
          <p:cNvPr id="16" name="Shape 14"/>
          <p:cNvSpPr/>
          <p:nvPr/>
        </p:nvSpPr>
        <p:spPr>
          <a:xfrm>
            <a:off x="9491472" y="1783080"/>
            <a:ext cx="2029968" cy="2148840"/>
          </a:xfrm>
          <a:prstGeom prst="roundRect">
            <a:avLst>
              <a:gd name="adj" fmla="val 5405"/>
            </a:avLst>
          </a:prstGeom>
          <a:solidFill>
            <a:srgbClr val="E4EBF7"/>
          </a:solidFill>
          <a:ln/>
        </p:spPr>
      </p:sp>
      <p:sp>
        <p:nvSpPr>
          <p:cNvPr id="17" name="Text 15"/>
          <p:cNvSpPr txBox="1"/>
          <p:nvPr/>
        </p:nvSpPr>
        <p:spPr>
          <a:xfrm>
            <a:off x="9692640" y="1901952"/>
            <a:ext cx="1737360" cy="365760"/>
          </a:xfrm>
          <a:prstGeom prst="rect">
            <a:avLst/>
          </a:prstGeom>
          <a:noFill/>
          <a:ln/>
        </p:spPr>
        <p:txBody>
          <a:bodyPr wrap="square" lIns="0" tIns="0" rIns="0" bIns="0" rtlCol="0" anchor="ctr"/>
          <a:lstStyle/>
          <a:p>
            <a:pPr indent="0" marL="0">
              <a:buNone/>
            </a:pPr>
            <a:r>
              <a:rPr lang="en-US" sz="1400" b="1" dirty="0">
                <a:solidFill>
                  <a:srgbClr val="16203A"/>
                </a:solidFill>
                <a:latin typeface="Calibri" pitchFamily="34" charset="0"/>
                <a:ea typeface="Calibri" pitchFamily="34" charset="-122"/>
                <a:cs typeface="Calibri" pitchFamily="34" charset="-120"/>
              </a:rPr>
              <a:t>Partner-led</a:t>
            </a:r>
            <a:endParaRPr lang="en-US" sz="1400" dirty="0"/>
          </a:p>
        </p:txBody>
      </p:sp>
      <p:sp>
        <p:nvSpPr>
          <p:cNvPr id="18" name="Text 16"/>
          <p:cNvSpPr txBox="1"/>
          <p:nvPr/>
        </p:nvSpPr>
        <p:spPr>
          <a:xfrm>
            <a:off x="9692640" y="2331720"/>
            <a:ext cx="1691640" cy="146304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Joint content</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Alliance events</a:t>
            </a:r>
            <a:endParaRPr lang="en-US" sz="1100" dirty="0"/>
          </a:p>
          <a:p>
            <a:pPr marL="342900" indent="-342900">
              <a:spcAft>
                <a:spcPts val="500"/>
              </a:spcAft>
              <a:buSzPct val="100000"/>
              <a:buChar char="•"/>
            </a:pPr>
            <a:r>
              <a:rPr lang="en-US" sz="1100" dirty="0">
                <a:solidFill>
                  <a:srgbClr val="44506B"/>
                </a:solidFill>
                <a:latin typeface="Calibri" pitchFamily="34" charset="0"/>
                <a:ea typeface="Calibri" pitchFamily="34" charset="-122"/>
                <a:cs typeface="Calibri" pitchFamily="34" charset="-120"/>
              </a:rPr>
              <a:t>Co-branded assets</a:t>
            </a:r>
            <a:endParaRPr lang="en-US" sz="1100" dirty="0"/>
          </a:p>
        </p:txBody>
      </p:sp>
      <p:sp>
        <p:nvSpPr>
          <p:cNvPr id="19" name="Shape 17"/>
          <p:cNvSpPr/>
          <p:nvPr/>
        </p:nvSpPr>
        <p:spPr>
          <a:xfrm>
            <a:off x="640080" y="4114800"/>
            <a:ext cx="10881360" cy="1188720"/>
          </a:xfrm>
          <a:prstGeom prst="roundRect">
            <a:avLst>
              <a:gd name="adj" fmla="val 9231"/>
            </a:avLst>
          </a:prstGeom>
          <a:solidFill>
            <a:srgbClr val="EDF2FA"/>
          </a:solidFill>
          <a:ln/>
        </p:spPr>
      </p:sp>
      <p:sp>
        <p:nvSpPr>
          <p:cNvPr id="20" name="Shape 18"/>
          <p:cNvSpPr/>
          <p:nvPr/>
        </p:nvSpPr>
        <p:spPr>
          <a:xfrm>
            <a:off x="640080" y="4114800"/>
            <a:ext cx="2331720" cy="1188720"/>
          </a:xfrm>
          <a:prstGeom prst="rect">
            <a:avLst/>
          </a:prstGeom>
          <a:solidFill>
            <a:srgbClr val="3E5C8A"/>
          </a:solidFill>
          <a:ln/>
        </p:spPr>
      </p:sp>
      <p:sp>
        <p:nvSpPr>
          <p:cNvPr id="21" name="Text 19"/>
          <p:cNvSpPr txBox="1"/>
          <p:nvPr/>
        </p:nvSpPr>
        <p:spPr>
          <a:xfrm>
            <a:off x="841248" y="4114800"/>
            <a:ext cx="2011680" cy="1188720"/>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Internal</a:t>
            </a:r>
            <a:endParaRPr lang="en-US" sz="1500" dirty="0"/>
          </a:p>
          <a:p>
            <a:pPr indent="0" marL="0">
              <a:lnSpc>
                <a:spcPts val="1700"/>
              </a:lnSpc>
              <a:buNone/>
            </a:pPr>
            <a:r>
              <a:rPr lang="en-US" sz="1500" b="1" dirty="0">
                <a:solidFill>
                  <a:srgbClr val="FFFFFF"/>
                </a:solidFill>
                <a:latin typeface="Calibri" pitchFamily="34" charset="0"/>
                <a:ea typeface="Calibri" pitchFamily="34" charset="-122"/>
                <a:cs typeface="Calibri" pitchFamily="34" charset="-120"/>
              </a:rPr>
              <a:t>eminence</a:t>
            </a:r>
            <a:endParaRPr lang="en-US" sz="1500" dirty="0"/>
          </a:p>
        </p:txBody>
      </p:sp>
      <p:sp>
        <p:nvSpPr>
          <p:cNvPr id="22" name="Text 20"/>
          <p:cNvSpPr txBox="1"/>
          <p:nvPr/>
        </p:nvSpPr>
        <p:spPr>
          <a:xfrm>
            <a:off x="3200400" y="4114800"/>
            <a:ext cx="8138160" cy="1188720"/>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The FS partners and directors in other portfolios are a market in their own right — they are in front of our clients every week. Catalogue briefings, enablement on the proposition one-pagers, deal clinics and internally circulated wins belong in the plan alongside the external channels.</a:t>
            </a:r>
            <a:endParaRPr lang="en-US" sz="1250" dirty="0"/>
          </a:p>
        </p:txBody>
      </p:sp>
      <p:sp>
        <p:nvSpPr>
          <p:cNvPr id="23" name="Shape 21"/>
          <p:cNvSpPr/>
          <p:nvPr/>
        </p:nvSpPr>
        <p:spPr>
          <a:xfrm>
            <a:off x="640080" y="5486400"/>
            <a:ext cx="10881360" cy="822960"/>
          </a:xfrm>
          <a:prstGeom prst="roundRect">
            <a:avLst>
              <a:gd name="adj" fmla="val 11111"/>
            </a:avLst>
          </a:prstGeom>
          <a:solidFill>
            <a:srgbClr val="1E2761"/>
          </a:solidFill>
          <a:ln/>
        </p:spPr>
      </p:sp>
      <p:sp>
        <p:nvSpPr>
          <p:cNvPr id="24" name="Text 22"/>
          <p:cNvSpPr txBox="1"/>
          <p:nvPr/>
        </p:nvSpPr>
        <p:spPr>
          <a:xfrm>
            <a:off x="914400" y="5486400"/>
            <a:ext cx="1033272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For each activity: internal or external, which channel, how often, who fronts it, which accounts or audiences it targets, and how we measure the return.</a:t>
            </a:r>
            <a:endParaRPr lang="en-US" sz="1300" dirty="0"/>
          </a:p>
        </p:txBody>
      </p:sp>
      <p:sp>
        <p:nvSpPr>
          <p:cNvPr id="25" name="Text 23"/>
          <p:cNvSpPr txBox="1"/>
          <p:nvPr/>
        </p:nvSpPr>
        <p:spPr>
          <a:xfrm>
            <a:off x="640080" y="6400800"/>
            <a:ext cx="10881360" cy="320040"/>
          </a:xfrm>
          <a:prstGeom prst="rect">
            <a:avLst/>
          </a:prstGeom>
          <a:noFill/>
          <a:ln/>
        </p:spPr>
        <p:txBody>
          <a:bodyPr wrap="square" lIns="0" tIns="0" rIns="0" bIns="0" rtlCol="0" anchor="ctr"/>
          <a:lstStyle/>
          <a:p>
            <a:pPr indent="0" marL="0">
              <a:buNone/>
            </a:pPr>
            <a:r>
              <a:rPr lang="en-US" sz="1100" i="1" dirty="0">
                <a:solidFill>
                  <a:srgbClr val="8792AB"/>
                </a:solidFill>
                <a:latin typeface="Calibri" pitchFamily="34" charset="0"/>
                <a:ea typeface="Calibri" pitchFamily="34" charset="-122"/>
                <a:cs typeface="Calibri" pitchFamily="34" charset="-120"/>
              </a:rPr>
              <a:t>Channel mix and cadence to be defined in the cycle.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3108960"/>
            <a:ext cx="5120640" cy="5120640"/>
          </a:xfrm>
          <a:prstGeom prst="ellipse">
            <a:avLst/>
          </a:prstGeom>
          <a:solidFill>
            <a:srgbClr val="3E5C8A">
              <a:alpha val="45000"/>
            </a:srgbClr>
          </a:solidFill>
          <a:ln/>
        </p:spPr>
      </p:sp>
      <p:sp>
        <p:nvSpPr>
          <p:cNvPr id="3" name="Text 1"/>
          <p:cNvSpPr txBox="1"/>
          <p:nvPr/>
        </p:nvSpPr>
        <p:spPr>
          <a:xfrm>
            <a:off x="822960" y="1965960"/>
            <a:ext cx="4572000" cy="365760"/>
          </a:xfrm>
          <a:prstGeom prst="rect">
            <a:avLst/>
          </a:prstGeom>
          <a:noFill/>
          <a:ln/>
        </p:spPr>
        <p:txBody>
          <a:bodyPr wrap="square" lIns="0" tIns="0" rIns="0" bIns="0" rtlCol="0" anchor="ctr"/>
          <a:lstStyle/>
          <a:p>
            <a:pPr indent="0" marL="0">
              <a:buNone/>
            </a:pPr>
            <a:r>
              <a:rPr lang="en-US" sz="1300" b="1" spc="200" kern="0" dirty="0">
                <a:solidFill>
                  <a:srgbClr val="9AA7C4"/>
                </a:solidFill>
                <a:latin typeface="Calibri" pitchFamily="34" charset="0"/>
                <a:ea typeface="Calibri" pitchFamily="34" charset="-122"/>
                <a:cs typeface="Calibri" pitchFamily="34" charset="-120"/>
              </a:rPr>
              <a:t>PART FOUR</a:t>
            </a:r>
            <a:endParaRPr lang="en-US" sz="1300" dirty="0"/>
          </a:p>
        </p:txBody>
      </p:sp>
      <p:sp>
        <p:nvSpPr>
          <p:cNvPr id="4" name="Text 2"/>
          <p:cNvSpPr txBox="1"/>
          <p:nvPr/>
        </p:nvSpPr>
        <p:spPr>
          <a:xfrm>
            <a:off x="804672" y="2377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we build it</a:t>
            </a:r>
            <a:endParaRPr lang="en-US" sz="3800" dirty="0"/>
          </a:p>
        </p:txBody>
      </p:sp>
      <p:sp>
        <p:nvSpPr>
          <p:cNvPr id="5" name="Text 3"/>
          <p:cNvSpPr txBox="1"/>
          <p:nvPr/>
        </p:nvSpPr>
        <p:spPr>
          <a:xfrm>
            <a:off x="850392" y="3337560"/>
            <a:ext cx="758952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approach, the owners and the calendar.</a:t>
            </a:r>
            <a:endParaRPr lang="en-US" sz="1500" dirty="0"/>
          </a:p>
        </p:txBody>
      </p:sp>
      <p:sp>
        <p:nvSpPr>
          <p:cNvPr id="6" name="Text 4"/>
          <p:cNvSpPr txBox="1"/>
          <p:nvPr/>
        </p:nvSpPr>
        <p:spPr>
          <a:xfrm>
            <a:off x="850392" y="4023360"/>
            <a:ext cx="7589520" cy="16459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The five-step approach</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Workstreams and who owns them</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The three-week journey</a:t>
            </a:r>
            <a:endParaRPr lang="en-US" sz="1250" dirty="0"/>
          </a:p>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How we run the cycle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How we will get there</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A five-step approach, run once, end to end.</a:t>
            </a:r>
            <a:endParaRPr lang="en-US" sz="1450" dirty="0"/>
          </a:p>
        </p:txBody>
      </p:sp>
      <p:sp>
        <p:nvSpPr>
          <p:cNvPr id="4" name="Shape 2"/>
          <p:cNvSpPr/>
          <p:nvPr/>
        </p:nvSpPr>
        <p:spPr>
          <a:xfrm>
            <a:off x="640080" y="1874520"/>
            <a:ext cx="2029968" cy="713232"/>
          </a:xfrm>
          <a:prstGeom prst="chevron">
            <a:avLst/>
          </a:prstGeom>
          <a:solidFill>
            <a:srgbClr val="1E2761"/>
          </a:solidFill>
          <a:ln/>
        </p:spPr>
      </p:sp>
      <p:sp>
        <p:nvSpPr>
          <p:cNvPr id="5" name="Text 3"/>
          <p:cNvSpPr txBox="1"/>
          <p:nvPr/>
        </p:nvSpPr>
        <p:spPr>
          <a:xfrm>
            <a:off x="804672"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Mobilise</a:t>
            </a:r>
            <a:endParaRPr lang="en-US" sz="1500" dirty="0"/>
          </a:p>
        </p:txBody>
      </p:sp>
      <p:sp>
        <p:nvSpPr>
          <p:cNvPr id="6" name="Shape 4"/>
          <p:cNvSpPr/>
          <p:nvPr/>
        </p:nvSpPr>
        <p:spPr>
          <a:xfrm>
            <a:off x="1481328" y="2788920"/>
            <a:ext cx="347472" cy="347472"/>
          </a:xfrm>
          <a:prstGeom prst="ellipse">
            <a:avLst/>
          </a:prstGeom>
          <a:solidFill>
            <a:srgbClr val="B8862B"/>
          </a:solidFill>
          <a:ln/>
        </p:spPr>
      </p:sp>
      <p:sp>
        <p:nvSpPr>
          <p:cNvPr id="7" name="Text 5"/>
          <p:cNvSpPr txBox="1"/>
          <p:nvPr/>
        </p:nvSpPr>
        <p:spPr>
          <a:xfrm>
            <a:off x="1481328"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640080"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Choose the vision, then frame the ambition</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Confirm scope, principles and owners</a:t>
            </a:r>
            <a:endParaRPr lang="en-US" sz="1200" dirty="0"/>
          </a:p>
        </p:txBody>
      </p:sp>
      <p:sp>
        <p:nvSpPr>
          <p:cNvPr id="9" name="Text 7"/>
          <p:cNvSpPr txBox="1"/>
          <p:nvPr/>
        </p:nvSpPr>
        <p:spPr>
          <a:xfrm>
            <a:off x="640080"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1</a:t>
            </a:r>
            <a:endParaRPr lang="en-US" sz="1150" dirty="0"/>
          </a:p>
        </p:txBody>
      </p:sp>
      <p:sp>
        <p:nvSpPr>
          <p:cNvPr id="10" name="Shape 8"/>
          <p:cNvSpPr/>
          <p:nvPr/>
        </p:nvSpPr>
        <p:spPr>
          <a:xfrm>
            <a:off x="2852928" y="1874520"/>
            <a:ext cx="2029968" cy="713232"/>
          </a:xfrm>
          <a:prstGeom prst="chevron">
            <a:avLst/>
          </a:prstGeom>
          <a:solidFill>
            <a:srgbClr val="3E5C8A"/>
          </a:solidFill>
          <a:ln/>
        </p:spPr>
      </p:sp>
      <p:sp>
        <p:nvSpPr>
          <p:cNvPr id="11" name="Text 9"/>
          <p:cNvSpPr txBox="1"/>
          <p:nvPr/>
        </p:nvSpPr>
        <p:spPr>
          <a:xfrm>
            <a:off x="3017520"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Baseline</a:t>
            </a:r>
            <a:endParaRPr lang="en-US" sz="1500" dirty="0"/>
          </a:p>
        </p:txBody>
      </p:sp>
      <p:sp>
        <p:nvSpPr>
          <p:cNvPr id="12" name="Shape 10"/>
          <p:cNvSpPr/>
          <p:nvPr/>
        </p:nvSpPr>
        <p:spPr>
          <a:xfrm>
            <a:off x="3694176" y="2788920"/>
            <a:ext cx="347472" cy="347472"/>
          </a:xfrm>
          <a:prstGeom prst="ellipse">
            <a:avLst/>
          </a:prstGeom>
          <a:solidFill>
            <a:srgbClr val="B8862B"/>
          </a:solidFill>
          <a:ln/>
        </p:spPr>
      </p:sp>
      <p:sp>
        <p:nvSpPr>
          <p:cNvPr id="13" name="Text 11"/>
          <p:cNvSpPr txBox="1"/>
          <p:nvPr/>
        </p:nvSpPr>
        <p:spPr>
          <a:xfrm>
            <a:off x="3694176"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2852928"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Credentials, pipeline and current wins</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Who we have today: dedicated and shared</a:t>
            </a:r>
            <a:endParaRPr lang="en-US" sz="1200" dirty="0"/>
          </a:p>
        </p:txBody>
      </p:sp>
      <p:sp>
        <p:nvSpPr>
          <p:cNvPr id="15" name="Text 13"/>
          <p:cNvSpPr txBox="1"/>
          <p:nvPr/>
        </p:nvSpPr>
        <p:spPr>
          <a:xfrm>
            <a:off x="2852928"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1</a:t>
            </a:r>
            <a:endParaRPr lang="en-US" sz="1150" dirty="0"/>
          </a:p>
        </p:txBody>
      </p:sp>
      <p:sp>
        <p:nvSpPr>
          <p:cNvPr id="16" name="Shape 14"/>
          <p:cNvSpPr/>
          <p:nvPr/>
        </p:nvSpPr>
        <p:spPr>
          <a:xfrm>
            <a:off x="5065776" y="1874520"/>
            <a:ext cx="2029968" cy="713232"/>
          </a:xfrm>
          <a:prstGeom prst="chevron">
            <a:avLst/>
          </a:prstGeom>
          <a:solidFill>
            <a:srgbClr val="1E2761"/>
          </a:solidFill>
          <a:ln/>
        </p:spPr>
      </p:sp>
      <p:sp>
        <p:nvSpPr>
          <p:cNvPr id="17" name="Text 15"/>
          <p:cNvSpPr txBox="1"/>
          <p:nvPr/>
        </p:nvSpPr>
        <p:spPr>
          <a:xfrm>
            <a:off x="5230368"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Define</a:t>
            </a:r>
            <a:endParaRPr lang="en-US" sz="1500" dirty="0"/>
          </a:p>
        </p:txBody>
      </p:sp>
      <p:sp>
        <p:nvSpPr>
          <p:cNvPr id="18" name="Shape 16"/>
          <p:cNvSpPr/>
          <p:nvPr/>
        </p:nvSpPr>
        <p:spPr>
          <a:xfrm>
            <a:off x="5907024" y="2788920"/>
            <a:ext cx="347472" cy="347472"/>
          </a:xfrm>
          <a:prstGeom prst="ellipse">
            <a:avLst/>
          </a:prstGeom>
          <a:solidFill>
            <a:srgbClr val="B8862B"/>
          </a:solidFill>
          <a:ln/>
        </p:spPr>
      </p:sp>
      <p:sp>
        <p:nvSpPr>
          <p:cNvPr id="19" name="Text 17"/>
          <p:cNvSpPr txBox="1"/>
          <p:nvPr/>
        </p:nvSpPr>
        <p:spPr>
          <a:xfrm>
            <a:off x="5907024"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065776"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Markets, sectors and candidate accounts</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Integrated proposition catalogue</a:t>
            </a:r>
            <a:endParaRPr lang="en-US" sz="1200" dirty="0"/>
          </a:p>
        </p:txBody>
      </p:sp>
      <p:sp>
        <p:nvSpPr>
          <p:cNvPr id="21" name="Text 19"/>
          <p:cNvSpPr txBox="1"/>
          <p:nvPr/>
        </p:nvSpPr>
        <p:spPr>
          <a:xfrm>
            <a:off x="5065776"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Weeks 1–2</a:t>
            </a:r>
            <a:endParaRPr lang="en-US" sz="1150" dirty="0"/>
          </a:p>
        </p:txBody>
      </p:sp>
      <p:sp>
        <p:nvSpPr>
          <p:cNvPr id="22" name="Shape 20"/>
          <p:cNvSpPr/>
          <p:nvPr/>
        </p:nvSpPr>
        <p:spPr>
          <a:xfrm>
            <a:off x="7278624" y="1874520"/>
            <a:ext cx="2029968" cy="713232"/>
          </a:xfrm>
          <a:prstGeom prst="chevron">
            <a:avLst/>
          </a:prstGeom>
          <a:solidFill>
            <a:srgbClr val="3E5C8A"/>
          </a:solidFill>
          <a:ln/>
        </p:spPr>
      </p:sp>
      <p:sp>
        <p:nvSpPr>
          <p:cNvPr id="23" name="Text 21"/>
          <p:cNvSpPr txBox="1"/>
          <p:nvPr/>
        </p:nvSpPr>
        <p:spPr>
          <a:xfrm>
            <a:off x="7443216"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Quantify</a:t>
            </a:r>
            <a:endParaRPr lang="en-US" sz="1500" dirty="0"/>
          </a:p>
        </p:txBody>
      </p:sp>
      <p:sp>
        <p:nvSpPr>
          <p:cNvPr id="24" name="Shape 22"/>
          <p:cNvSpPr/>
          <p:nvPr/>
        </p:nvSpPr>
        <p:spPr>
          <a:xfrm>
            <a:off x="8119872" y="2788920"/>
            <a:ext cx="347472" cy="347472"/>
          </a:xfrm>
          <a:prstGeom prst="ellipse">
            <a:avLst/>
          </a:prstGeom>
          <a:solidFill>
            <a:srgbClr val="B8862B"/>
          </a:solidFill>
          <a:ln/>
        </p:spPr>
      </p:sp>
      <p:sp>
        <p:nvSpPr>
          <p:cNvPr id="25" name="Text 23"/>
          <p:cNvSpPr txBox="1"/>
          <p:nvPr/>
        </p:nvSpPr>
        <p:spPr>
          <a:xfrm>
            <a:off x="8119872"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278624"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Price bands, ADR and target margin</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Revenue per account, gross and net, against capacity</a:t>
            </a:r>
            <a:endParaRPr lang="en-US" sz="1200" dirty="0"/>
          </a:p>
        </p:txBody>
      </p:sp>
      <p:sp>
        <p:nvSpPr>
          <p:cNvPr id="27" name="Text 25"/>
          <p:cNvSpPr txBox="1"/>
          <p:nvPr/>
        </p:nvSpPr>
        <p:spPr>
          <a:xfrm>
            <a:off x="7278624"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2</a:t>
            </a:r>
            <a:endParaRPr lang="en-US" sz="1150" dirty="0"/>
          </a:p>
        </p:txBody>
      </p:sp>
      <p:sp>
        <p:nvSpPr>
          <p:cNvPr id="28" name="Shape 26"/>
          <p:cNvSpPr/>
          <p:nvPr/>
        </p:nvSpPr>
        <p:spPr>
          <a:xfrm>
            <a:off x="9491472" y="1874520"/>
            <a:ext cx="2029968" cy="713232"/>
          </a:xfrm>
          <a:prstGeom prst="chevron">
            <a:avLst/>
          </a:prstGeom>
          <a:solidFill>
            <a:srgbClr val="1E2761"/>
          </a:solidFill>
          <a:ln/>
        </p:spPr>
      </p:sp>
      <p:sp>
        <p:nvSpPr>
          <p:cNvPr id="29" name="Text 27"/>
          <p:cNvSpPr txBox="1"/>
          <p:nvPr/>
        </p:nvSpPr>
        <p:spPr>
          <a:xfrm>
            <a:off x="9656064" y="1874520"/>
            <a:ext cx="1755648"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Commit</a:t>
            </a:r>
            <a:endParaRPr lang="en-US" sz="1500" dirty="0"/>
          </a:p>
        </p:txBody>
      </p:sp>
      <p:sp>
        <p:nvSpPr>
          <p:cNvPr id="30" name="Shape 28"/>
          <p:cNvSpPr/>
          <p:nvPr/>
        </p:nvSpPr>
        <p:spPr>
          <a:xfrm>
            <a:off x="10332720" y="2788920"/>
            <a:ext cx="347472" cy="347472"/>
          </a:xfrm>
          <a:prstGeom prst="ellipse">
            <a:avLst/>
          </a:prstGeom>
          <a:solidFill>
            <a:srgbClr val="B8862B"/>
          </a:solidFill>
          <a:ln/>
        </p:spPr>
      </p:sp>
      <p:sp>
        <p:nvSpPr>
          <p:cNvPr id="31" name="Text 29"/>
          <p:cNvSpPr txBox="1"/>
          <p:nvPr/>
        </p:nvSpPr>
        <p:spPr>
          <a:xfrm>
            <a:off x="10332720" y="27889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txBox="1"/>
          <p:nvPr/>
        </p:nvSpPr>
        <p:spPr>
          <a:xfrm>
            <a:off x="9491472" y="3337560"/>
            <a:ext cx="2029968" cy="15544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Account ownership and coverage</a:t>
            </a:r>
            <a:endParaRPr lang="en-US" sz="1200" dirty="0"/>
          </a:p>
          <a:p>
            <a:pPr marL="342900" indent="-342900">
              <a:spcAft>
                <a:spcPts val="800"/>
              </a:spcAft>
              <a:buSzPct val="100000"/>
              <a:buChar char="•"/>
            </a:pPr>
            <a:r>
              <a:rPr lang="en-US" sz="1200" dirty="0">
                <a:solidFill>
                  <a:srgbClr val="44506B"/>
                </a:solidFill>
                <a:latin typeface="Calibri" pitchFamily="34" charset="0"/>
                <a:ea typeface="Calibri" pitchFamily="34" charset="-122"/>
                <a:cs typeface="Calibri" pitchFamily="34" charset="-120"/>
              </a:rPr>
              <a:t>Team, eminence and activation plans signed off</a:t>
            </a:r>
            <a:endParaRPr lang="en-US" sz="1200" dirty="0"/>
          </a:p>
        </p:txBody>
      </p:sp>
      <p:sp>
        <p:nvSpPr>
          <p:cNvPr id="33" name="Text 31"/>
          <p:cNvSpPr txBox="1"/>
          <p:nvPr/>
        </p:nvSpPr>
        <p:spPr>
          <a:xfrm>
            <a:off x="9491472" y="4983480"/>
            <a:ext cx="2029968" cy="320040"/>
          </a:xfrm>
          <a:prstGeom prst="rect">
            <a:avLst/>
          </a:prstGeom>
          <a:noFill/>
          <a:ln/>
        </p:spPr>
        <p:txBody>
          <a:bodyPr wrap="square" lIns="0" tIns="0" rIns="0" bIns="0" rtlCol="0" anchor="ctr"/>
          <a:lstStyle/>
          <a:p>
            <a:pPr algn="ctr" indent="0" marL="0">
              <a:buNone/>
            </a:pPr>
            <a:r>
              <a:rPr lang="en-US" sz="1150" b="1" dirty="0">
                <a:solidFill>
                  <a:srgbClr val="8792AB"/>
                </a:solidFill>
                <a:latin typeface="Calibri" pitchFamily="34" charset="0"/>
                <a:ea typeface="Calibri" pitchFamily="34" charset="-122"/>
                <a:cs typeface="Calibri" pitchFamily="34" charset="-120"/>
              </a:rPr>
              <a:t>Week 3</a:t>
            </a:r>
            <a:endParaRPr lang="en-US" sz="1150" dirty="0"/>
          </a:p>
        </p:txBody>
      </p:sp>
      <p:sp>
        <p:nvSpPr>
          <p:cNvPr id="34" name="Text 32"/>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350" i="1" dirty="0">
                <a:solidFill>
                  <a:srgbClr val="3E5C8A"/>
                </a:solidFill>
                <a:latin typeface="Calibri" pitchFamily="34" charset="0"/>
                <a:ea typeface="Calibri" pitchFamily="34" charset="-122"/>
                <a:cs typeface="Calibri" pitchFamily="34" charset="-120"/>
              </a:rPr>
              <a:t>Each step closes before the next opens; the gate is a decision, not a document.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Five workstreams, one per pillar</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Each pillar has one owner and a defined set of artefacts.</a:t>
            </a:r>
            <a:endParaRPr lang="en-US" sz="1450" dirty="0"/>
          </a:p>
        </p:txBody>
      </p:sp>
      <p:sp>
        <p:nvSpPr>
          <p:cNvPr id="4" name="Shape 2"/>
          <p:cNvSpPr/>
          <p:nvPr/>
        </p:nvSpPr>
        <p:spPr>
          <a:xfrm>
            <a:off x="640080" y="1874520"/>
            <a:ext cx="10881360" cy="749808"/>
          </a:xfrm>
          <a:prstGeom prst="roundRect">
            <a:avLst>
              <a:gd name="adj" fmla="val 12195"/>
            </a:avLst>
          </a:prstGeom>
          <a:solidFill>
            <a:srgbClr val="F2F6FC"/>
          </a:solidFill>
          <a:ln/>
        </p:spPr>
      </p:sp>
      <p:sp>
        <p:nvSpPr>
          <p:cNvPr id="5" name="Text 3"/>
          <p:cNvSpPr txBox="1"/>
          <p:nvPr/>
        </p:nvSpPr>
        <p:spPr>
          <a:xfrm>
            <a:off x="914400" y="1911096"/>
            <a:ext cx="36576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1 · Market and clients</a:t>
            </a:r>
            <a:endParaRPr lang="en-US" sz="1350" dirty="0"/>
          </a:p>
        </p:txBody>
      </p:sp>
      <p:sp>
        <p:nvSpPr>
          <p:cNvPr id="6" name="Text 4"/>
          <p:cNvSpPr txBox="1"/>
          <p:nvPr/>
        </p:nvSpPr>
        <p:spPr>
          <a:xfrm>
            <a:off x="914400" y="2240280"/>
            <a:ext cx="3657600" cy="329184"/>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Markets, sectors, tiering, named accounts, offerings and revenue per account, coverage</a:t>
            </a:r>
            <a:endParaRPr lang="en-US" sz="1050" dirty="0"/>
          </a:p>
        </p:txBody>
      </p:sp>
      <p:sp>
        <p:nvSpPr>
          <p:cNvPr id="7" name="Text 5"/>
          <p:cNvSpPr txBox="1"/>
          <p:nvPr/>
        </p:nvSpPr>
        <p:spPr>
          <a:xfrm>
            <a:off x="4846320" y="1874520"/>
            <a:ext cx="6400800" cy="7498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Market prioritisation · target account list · account revenue plan · coverage map</a:t>
            </a:r>
            <a:endParaRPr lang="en-US" sz="1250" dirty="0"/>
          </a:p>
        </p:txBody>
      </p:sp>
      <p:sp>
        <p:nvSpPr>
          <p:cNvPr id="8" name="Shape 6"/>
          <p:cNvSpPr/>
          <p:nvPr/>
        </p:nvSpPr>
        <p:spPr>
          <a:xfrm>
            <a:off x="640080" y="2743200"/>
            <a:ext cx="10881360" cy="749808"/>
          </a:xfrm>
          <a:prstGeom prst="roundRect">
            <a:avLst>
              <a:gd name="adj" fmla="val 12195"/>
            </a:avLst>
          </a:prstGeom>
          <a:solidFill>
            <a:srgbClr val="EDF2FA"/>
          </a:solidFill>
          <a:ln/>
        </p:spPr>
      </p:sp>
      <p:sp>
        <p:nvSpPr>
          <p:cNvPr id="9" name="Text 7"/>
          <p:cNvSpPr txBox="1"/>
          <p:nvPr/>
        </p:nvSpPr>
        <p:spPr>
          <a:xfrm>
            <a:off x="914400" y="2779776"/>
            <a:ext cx="36576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2 · Propositions</a:t>
            </a:r>
            <a:endParaRPr lang="en-US" sz="1350" dirty="0"/>
          </a:p>
        </p:txBody>
      </p:sp>
      <p:sp>
        <p:nvSpPr>
          <p:cNvPr id="10" name="Text 8"/>
          <p:cNvSpPr txBox="1"/>
          <p:nvPr/>
        </p:nvSpPr>
        <p:spPr>
          <a:xfrm>
            <a:off x="914400" y="3108960"/>
            <a:ext cx="3657600" cy="329184"/>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What we sell: integrated propositions, use cases and permitted archetypes</a:t>
            </a:r>
            <a:endParaRPr lang="en-US" sz="1050" dirty="0"/>
          </a:p>
        </p:txBody>
      </p:sp>
      <p:sp>
        <p:nvSpPr>
          <p:cNvPr id="11" name="Text 9"/>
          <p:cNvSpPr txBox="1"/>
          <p:nvPr/>
        </p:nvSpPr>
        <p:spPr>
          <a:xfrm>
            <a:off x="4846320" y="2743200"/>
            <a:ext cx="6400800" cy="7498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Proposition catalogue</a:t>
            </a:r>
            <a:endParaRPr lang="en-US" sz="1250" dirty="0"/>
          </a:p>
        </p:txBody>
      </p:sp>
      <p:sp>
        <p:nvSpPr>
          <p:cNvPr id="12" name="Shape 10"/>
          <p:cNvSpPr/>
          <p:nvPr/>
        </p:nvSpPr>
        <p:spPr>
          <a:xfrm>
            <a:off x="640080" y="3611880"/>
            <a:ext cx="10881360" cy="749808"/>
          </a:xfrm>
          <a:prstGeom prst="roundRect">
            <a:avLst>
              <a:gd name="adj" fmla="val 12195"/>
            </a:avLst>
          </a:prstGeom>
          <a:solidFill>
            <a:srgbClr val="F2F6FC"/>
          </a:solidFill>
          <a:ln/>
        </p:spPr>
      </p:sp>
      <p:sp>
        <p:nvSpPr>
          <p:cNvPr id="13" name="Text 11"/>
          <p:cNvSpPr txBox="1"/>
          <p:nvPr/>
        </p:nvSpPr>
        <p:spPr>
          <a:xfrm>
            <a:off x="914400" y="3648456"/>
            <a:ext cx="36576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3 · Delivery and economics</a:t>
            </a:r>
            <a:endParaRPr lang="en-US" sz="1350" dirty="0"/>
          </a:p>
        </p:txBody>
      </p:sp>
      <p:sp>
        <p:nvSpPr>
          <p:cNvPr id="14" name="Text 12"/>
          <p:cNvSpPr txBox="1"/>
          <p:nvPr/>
        </p:nvSpPr>
        <p:spPr>
          <a:xfrm>
            <a:off x="914400" y="3977640"/>
            <a:ext cx="3657600" cy="329184"/>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Delivery model and assets, construct, pricing, margin, team, skills and targets</a:t>
            </a:r>
            <a:endParaRPr lang="en-US" sz="1050" dirty="0"/>
          </a:p>
        </p:txBody>
      </p:sp>
      <p:sp>
        <p:nvSpPr>
          <p:cNvPr id="15" name="Text 13"/>
          <p:cNvSpPr txBox="1"/>
          <p:nvPr/>
        </p:nvSpPr>
        <p:spPr>
          <a:xfrm>
            <a:off x="4846320" y="3611880"/>
            <a:ext cx="6400800" cy="7498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Pricing bands · offering economics · team model · revenue targets</a:t>
            </a:r>
            <a:endParaRPr lang="en-US" sz="1250" dirty="0"/>
          </a:p>
        </p:txBody>
      </p:sp>
      <p:sp>
        <p:nvSpPr>
          <p:cNvPr id="16" name="Shape 14"/>
          <p:cNvSpPr/>
          <p:nvPr/>
        </p:nvSpPr>
        <p:spPr>
          <a:xfrm>
            <a:off x="640080" y="4480560"/>
            <a:ext cx="10881360" cy="749808"/>
          </a:xfrm>
          <a:prstGeom prst="roundRect">
            <a:avLst>
              <a:gd name="adj" fmla="val 12195"/>
            </a:avLst>
          </a:prstGeom>
          <a:solidFill>
            <a:srgbClr val="EDF2FA"/>
          </a:solidFill>
          <a:ln/>
        </p:spPr>
      </p:sp>
      <p:sp>
        <p:nvSpPr>
          <p:cNvPr id="17" name="Text 15"/>
          <p:cNvSpPr txBox="1"/>
          <p:nvPr/>
        </p:nvSpPr>
        <p:spPr>
          <a:xfrm>
            <a:off x="914400" y="4517136"/>
            <a:ext cx="36576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4 · Route to market</a:t>
            </a:r>
            <a:endParaRPr lang="en-US" sz="1350" dirty="0"/>
          </a:p>
        </p:txBody>
      </p:sp>
      <p:sp>
        <p:nvSpPr>
          <p:cNvPr id="18" name="Text 16"/>
          <p:cNvSpPr txBox="1"/>
          <p:nvPr/>
        </p:nvSpPr>
        <p:spPr>
          <a:xfrm>
            <a:off x="914400" y="4846320"/>
            <a:ext cx="3657600" cy="329184"/>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Alliances, eminence and differentiation</a:t>
            </a:r>
            <a:endParaRPr lang="en-US" sz="1050" dirty="0"/>
          </a:p>
        </p:txBody>
      </p:sp>
      <p:sp>
        <p:nvSpPr>
          <p:cNvPr id="19" name="Text 17"/>
          <p:cNvSpPr txBox="1"/>
          <p:nvPr/>
        </p:nvSpPr>
        <p:spPr>
          <a:xfrm>
            <a:off x="4846320" y="4480560"/>
            <a:ext cx="6400800" cy="7498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Alliance map · eminence calendar</a:t>
            </a:r>
            <a:endParaRPr lang="en-US" sz="1250" dirty="0"/>
          </a:p>
        </p:txBody>
      </p:sp>
      <p:sp>
        <p:nvSpPr>
          <p:cNvPr id="20" name="Shape 18"/>
          <p:cNvSpPr/>
          <p:nvPr/>
        </p:nvSpPr>
        <p:spPr>
          <a:xfrm>
            <a:off x="640080" y="5349240"/>
            <a:ext cx="10881360" cy="749808"/>
          </a:xfrm>
          <a:prstGeom prst="roundRect">
            <a:avLst>
              <a:gd name="adj" fmla="val 12195"/>
            </a:avLst>
          </a:prstGeom>
          <a:solidFill>
            <a:srgbClr val="F2F6FC"/>
          </a:solidFill>
          <a:ln/>
        </p:spPr>
      </p:sp>
      <p:sp>
        <p:nvSpPr>
          <p:cNvPr id="21" name="Text 19"/>
          <p:cNvSpPr txBox="1"/>
          <p:nvPr/>
        </p:nvSpPr>
        <p:spPr>
          <a:xfrm>
            <a:off x="914400" y="5385816"/>
            <a:ext cx="3657600" cy="310896"/>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5 · Operating discipline</a:t>
            </a:r>
            <a:endParaRPr lang="en-US" sz="1350" dirty="0"/>
          </a:p>
        </p:txBody>
      </p:sp>
      <p:sp>
        <p:nvSpPr>
          <p:cNvPr id="22" name="Text 20"/>
          <p:cNvSpPr txBox="1"/>
          <p:nvPr/>
        </p:nvSpPr>
        <p:spPr>
          <a:xfrm>
            <a:off x="914400" y="5715000"/>
            <a:ext cx="3657600" cy="329184"/>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Rhythm, measures and decision rights after sign-off</a:t>
            </a:r>
            <a:endParaRPr lang="en-US" sz="1050" dirty="0"/>
          </a:p>
        </p:txBody>
      </p:sp>
      <p:sp>
        <p:nvSpPr>
          <p:cNvPr id="23" name="Text 21"/>
          <p:cNvSpPr txBox="1"/>
          <p:nvPr/>
        </p:nvSpPr>
        <p:spPr>
          <a:xfrm>
            <a:off x="4846320" y="5349240"/>
            <a:ext cx="6400800" cy="749808"/>
          </a:xfrm>
          <a:prstGeom prst="rect">
            <a:avLst/>
          </a:prstGeom>
          <a:noFill/>
          <a:ln/>
        </p:spPr>
        <p:txBody>
          <a:bodyPr wrap="square" lIns="0" tIns="0" rIns="0" bIns="0" rtlCol="0" anchor="ctr"/>
          <a:lstStyle/>
          <a:p>
            <a:pPr indent="0" marL="0">
              <a:buNone/>
            </a:pPr>
            <a:r>
              <a:rPr lang="en-US" sz="1250" dirty="0">
                <a:solidFill>
                  <a:srgbClr val="44506B"/>
                </a:solidFill>
                <a:latin typeface="Calibri" pitchFamily="34" charset="0"/>
                <a:ea typeface="Calibri" pitchFamily="34" charset="-122"/>
                <a:cs typeface="Calibri" pitchFamily="34" charset="-120"/>
              </a:rPr>
              <a:t>Operating rhythm · KPI scorecard · review calendar</a:t>
            </a:r>
            <a:endParaRPr lang="en-US" sz="1250" dirty="0"/>
          </a:p>
        </p:txBody>
      </p:sp>
      <p:sp>
        <p:nvSpPr>
          <p:cNvPr id="24" name="Text 22"/>
          <p:cNvSpPr txBox="1"/>
          <p:nvPr/>
        </p:nvSpPr>
        <p:spPr>
          <a:xfrm>
            <a:off x="640080" y="6309360"/>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Level 1 is the pillar and its owner. Level 2 is the topic, and every topic ends in one artefact in the appendix.</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Who is doing this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The strategy development team.</a:t>
            </a:r>
            <a:endParaRPr lang="en-US" sz="1450" dirty="0"/>
          </a:p>
        </p:txBody>
      </p:sp>
      <p:sp>
        <p:nvSpPr>
          <p:cNvPr id="4" name="Shape 2"/>
          <p:cNvSpPr/>
          <p:nvPr/>
        </p:nvSpPr>
        <p:spPr>
          <a:xfrm>
            <a:off x="640080" y="1828800"/>
            <a:ext cx="10881360" cy="1051560"/>
          </a:xfrm>
          <a:prstGeom prst="roundRect">
            <a:avLst>
              <a:gd name="adj" fmla="val 8696"/>
            </a:avLst>
          </a:prstGeom>
          <a:solidFill>
            <a:srgbClr val="1E2761"/>
          </a:solidFill>
          <a:ln/>
        </p:spPr>
      </p:sp>
      <p:sp>
        <p:nvSpPr>
          <p:cNvPr id="5" name="Shape 3"/>
          <p:cNvSpPr/>
          <p:nvPr/>
        </p:nvSpPr>
        <p:spPr>
          <a:xfrm>
            <a:off x="960120" y="2084832"/>
            <a:ext cx="548640" cy="548640"/>
          </a:xfrm>
          <a:prstGeom prst="ellipse">
            <a:avLst/>
          </a:prstGeom>
          <a:solidFill>
            <a:srgbClr val="3E5C8A"/>
          </a:solidFill>
          <a:ln/>
        </p:spPr>
      </p:sp>
      <p:sp>
        <p:nvSpPr>
          <p:cNvPr id="6" name="Text 4"/>
          <p:cNvSpPr txBox="1"/>
          <p:nvPr/>
        </p:nvSpPr>
        <p:spPr>
          <a:xfrm>
            <a:off x="960120" y="20848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7" name="Text 5"/>
          <p:cNvSpPr txBox="1"/>
          <p:nvPr/>
        </p:nvSpPr>
        <p:spPr>
          <a:xfrm>
            <a:off x="1691640" y="2029968"/>
            <a:ext cx="29260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Dany</a:t>
            </a:r>
            <a:endParaRPr lang="en-US" sz="2000" dirty="0"/>
          </a:p>
        </p:txBody>
      </p:sp>
      <p:sp>
        <p:nvSpPr>
          <p:cNvPr id="8" name="Text 6"/>
          <p:cNvSpPr txBox="1"/>
          <p:nvPr/>
        </p:nvSpPr>
        <p:spPr>
          <a:xfrm>
            <a:off x="1691640" y="2432304"/>
            <a:ext cx="94183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Overall lead — owns the cycle, chairs the checkpoints, takes the strategy to sign-off</a:t>
            </a:r>
            <a:endParaRPr lang="en-US" sz="1300" dirty="0"/>
          </a:p>
        </p:txBody>
      </p:sp>
      <p:sp>
        <p:nvSpPr>
          <p:cNvPr id="9" name="Shape 7"/>
          <p:cNvSpPr/>
          <p:nvPr/>
        </p:nvSpPr>
        <p:spPr>
          <a:xfrm>
            <a:off x="640080" y="3108960"/>
            <a:ext cx="3520440" cy="1965960"/>
          </a:xfrm>
          <a:prstGeom prst="roundRect">
            <a:avLst>
              <a:gd name="adj" fmla="val 5581"/>
            </a:avLst>
          </a:prstGeom>
          <a:solidFill>
            <a:srgbClr val="EDF2FA"/>
          </a:solidFill>
          <a:ln/>
        </p:spPr>
      </p:sp>
      <p:sp>
        <p:nvSpPr>
          <p:cNvPr id="10" name="Shape 8"/>
          <p:cNvSpPr/>
          <p:nvPr/>
        </p:nvSpPr>
        <p:spPr>
          <a:xfrm>
            <a:off x="914400" y="3383280"/>
            <a:ext cx="475488" cy="475488"/>
          </a:xfrm>
          <a:prstGeom prst="ellipse">
            <a:avLst/>
          </a:prstGeom>
          <a:solidFill>
            <a:srgbClr val="1E2761"/>
          </a:solidFill>
          <a:ln/>
        </p:spPr>
      </p:sp>
      <p:sp>
        <p:nvSpPr>
          <p:cNvPr id="11" name="Text 9"/>
          <p:cNvSpPr txBox="1"/>
          <p:nvPr/>
        </p:nvSpPr>
        <p:spPr>
          <a:xfrm>
            <a:off x="914400" y="33832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t>
            </a:r>
            <a:endParaRPr lang="en-US" sz="1500" dirty="0"/>
          </a:p>
        </p:txBody>
      </p:sp>
      <p:sp>
        <p:nvSpPr>
          <p:cNvPr id="12" name="Text 10"/>
          <p:cNvSpPr txBox="1"/>
          <p:nvPr/>
        </p:nvSpPr>
        <p:spPr>
          <a:xfrm>
            <a:off x="1554480" y="3364992"/>
            <a:ext cx="237744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Tanay</a:t>
            </a:r>
            <a:endParaRPr lang="en-US" sz="1900" dirty="0"/>
          </a:p>
        </p:txBody>
      </p:sp>
      <p:sp>
        <p:nvSpPr>
          <p:cNvPr id="13" name="Text 11"/>
          <p:cNvSpPr txBox="1"/>
          <p:nvPr/>
        </p:nvSpPr>
        <p:spPr>
          <a:xfrm>
            <a:off x="914400" y="3977640"/>
            <a:ext cx="2971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Industry Solutions</a:t>
            </a:r>
            <a:endParaRPr lang="en-US" sz="1400" dirty="0"/>
          </a:p>
        </p:txBody>
      </p:sp>
      <p:sp>
        <p:nvSpPr>
          <p:cNvPr id="14" name="Text 12"/>
          <p:cNvSpPr txBox="1"/>
          <p:nvPr/>
        </p:nvSpPr>
        <p:spPr>
          <a:xfrm>
            <a:off x="914400" y="4315968"/>
            <a:ext cx="2971800" cy="6400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Core-led transformation and core platforms across banking, funds and insurance, full SI</a:t>
            </a:r>
            <a:endParaRPr lang="en-US" sz="1150" dirty="0"/>
          </a:p>
        </p:txBody>
      </p:sp>
      <p:sp>
        <p:nvSpPr>
          <p:cNvPr id="15" name="Shape 13"/>
          <p:cNvSpPr/>
          <p:nvPr/>
        </p:nvSpPr>
        <p:spPr>
          <a:xfrm>
            <a:off x="4325112" y="3108960"/>
            <a:ext cx="3520440" cy="1965960"/>
          </a:xfrm>
          <a:prstGeom prst="roundRect">
            <a:avLst>
              <a:gd name="adj" fmla="val 5581"/>
            </a:avLst>
          </a:prstGeom>
          <a:solidFill>
            <a:srgbClr val="EDF2FA"/>
          </a:solidFill>
          <a:ln/>
        </p:spPr>
      </p:sp>
      <p:sp>
        <p:nvSpPr>
          <p:cNvPr id="16" name="Shape 14"/>
          <p:cNvSpPr/>
          <p:nvPr/>
        </p:nvSpPr>
        <p:spPr>
          <a:xfrm>
            <a:off x="4599432" y="3383280"/>
            <a:ext cx="475488" cy="475488"/>
          </a:xfrm>
          <a:prstGeom prst="ellipse">
            <a:avLst/>
          </a:prstGeom>
          <a:solidFill>
            <a:srgbClr val="3E5C8A"/>
          </a:solidFill>
          <a:ln/>
        </p:spPr>
      </p:sp>
      <p:sp>
        <p:nvSpPr>
          <p:cNvPr id="17" name="Text 15"/>
          <p:cNvSpPr txBox="1"/>
          <p:nvPr/>
        </p:nvSpPr>
        <p:spPr>
          <a:xfrm>
            <a:off x="4599432" y="33832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18" name="Text 16"/>
          <p:cNvSpPr txBox="1"/>
          <p:nvPr/>
        </p:nvSpPr>
        <p:spPr>
          <a:xfrm>
            <a:off x="5239512" y="3364992"/>
            <a:ext cx="237744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Rachel</a:t>
            </a:r>
            <a:endParaRPr lang="en-US" sz="1900" dirty="0"/>
          </a:p>
        </p:txBody>
      </p:sp>
      <p:sp>
        <p:nvSpPr>
          <p:cNvPr id="19" name="Text 17"/>
          <p:cNvSpPr txBox="1"/>
          <p:nvPr/>
        </p:nvSpPr>
        <p:spPr>
          <a:xfrm>
            <a:off x="4599432" y="3977640"/>
            <a:ext cx="2971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AI and Data</a:t>
            </a:r>
            <a:endParaRPr lang="en-US" sz="1400" dirty="0"/>
          </a:p>
        </p:txBody>
      </p:sp>
      <p:sp>
        <p:nvSpPr>
          <p:cNvPr id="20" name="Text 18"/>
          <p:cNvSpPr txBox="1"/>
          <p:nvPr/>
        </p:nvSpPr>
        <p:spPr>
          <a:xfrm>
            <a:off x="4599432" y="4315968"/>
            <a:ext cx="2971800" cy="6400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Enterprise and core AI, use-case activation, data platforms</a:t>
            </a:r>
            <a:endParaRPr lang="en-US" sz="1150" dirty="0"/>
          </a:p>
        </p:txBody>
      </p:sp>
      <p:sp>
        <p:nvSpPr>
          <p:cNvPr id="21" name="Shape 19"/>
          <p:cNvSpPr/>
          <p:nvPr/>
        </p:nvSpPr>
        <p:spPr>
          <a:xfrm>
            <a:off x="8010144" y="3108960"/>
            <a:ext cx="3520440" cy="1965960"/>
          </a:xfrm>
          <a:prstGeom prst="roundRect">
            <a:avLst>
              <a:gd name="adj" fmla="val 5581"/>
            </a:avLst>
          </a:prstGeom>
          <a:solidFill>
            <a:srgbClr val="EDF2FA"/>
          </a:solidFill>
          <a:ln/>
        </p:spPr>
      </p:sp>
      <p:sp>
        <p:nvSpPr>
          <p:cNvPr id="22" name="Shape 20"/>
          <p:cNvSpPr/>
          <p:nvPr/>
        </p:nvSpPr>
        <p:spPr>
          <a:xfrm>
            <a:off x="8284464" y="3383280"/>
            <a:ext cx="475488" cy="475488"/>
          </a:xfrm>
          <a:prstGeom prst="ellipse">
            <a:avLst/>
          </a:prstGeom>
          <a:solidFill>
            <a:srgbClr val="1E2761"/>
          </a:solidFill>
          <a:ln/>
        </p:spPr>
      </p:sp>
      <p:sp>
        <p:nvSpPr>
          <p:cNvPr id="23" name="Text 21"/>
          <p:cNvSpPr txBox="1"/>
          <p:nvPr/>
        </p:nvSpPr>
        <p:spPr>
          <a:xfrm>
            <a:off x="8284464" y="33832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4" name="Text 22"/>
          <p:cNvSpPr txBox="1"/>
          <p:nvPr/>
        </p:nvSpPr>
        <p:spPr>
          <a:xfrm>
            <a:off x="8924544" y="3364992"/>
            <a:ext cx="2377440" cy="365760"/>
          </a:xfrm>
          <a:prstGeom prst="rect">
            <a:avLst/>
          </a:prstGeom>
          <a:noFill/>
          <a:ln/>
        </p:spPr>
        <p:txBody>
          <a:bodyPr wrap="square" lIns="0" tIns="0" rIns="0" bIns="0" rtlCol="0" anchor="ctr"/>
          <a:lstStyle/>
          <a:p>
            <a:pPr indent="0" marL="0">
              <a:buNone/>
            </a:pPr>
            <a:r>
              <a:rPr lang="en-US" sz="1900" b="1" dirty="0">
                <a:solidFill>
                  <a:srgbClr val="16203A"/>
                </a:solidFill>
                <a:latin typeface="Calibri" pitchFamily="34" charset="0"/>
                <a:ea typeface="Calibri" pitchFamily="34" charset="-122"/>
                <a:cs typeface="Calibri" pitchFamily="34" charset="-120"/>
              </a:rPr>
              <a:t>Clifford</a:t>
            </a:r>
            <a:endParaRPr lang="en-US" sz="1900" dirty="0"/>
          </a:p>
        </p:txBody>
      </p:sp>
      <p:sp>
        <p:nvSpPr>
          <p:cNvPr id="25" name="Text 23"/>
          <p:cNvSpPr txBox="1"/>
          <p:nvPr/>
        </p:nvSpPr>
        <p:spPr>
          <a:xfrm>
            <a:off x="8284464" y="3977640"/>
            <a:ext cx="2971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Engineering</a:t>
            </a:r>
            <a:endParaRPr lang="en-US" sz="1400" dirty="0"/>
          </a:p>
        </p:txBody>
      </p:sp>
      <p:sp>
        <p:nvSpPr>
          <p:cNvPr id="26" name="Text 24"/>
          <p:cNvSpPr txBox="1"/>
          <p:nvPr/>
        </p:nvSpPr>
        <p:spPr>
          <a:xfrm>
            <a:off x="8284464" y="4315968"/>
            <a:ext cx="2971800" cy="640080"/>
          </a:xfrm>
          <a:prstGeom prst="rect">
            <a:avLst/>
          </a:prstGeom>
          <a:noFill/>
          <a:ln/>
        </p:spPr>
        <p:txBody>
          <a:bodyPr wrap="square" lIns="0" tIns="0" rIns="0" bIns="0" rtlCol="0" anchor="ctr"/>
          <a:lstStyle/>
          <a:p>
            <a:pPr indent="0" marL="0">
              <a:buNone/>
            </a:pPr>
            <a:r>
              <a:rPr lang="en-US" sz="1150" dirty="0">
                <a:solidFill>
                  <a:srgbClr val="44506B"/>
                </a:solidFill>
                <a:latin typeface="Calibri" pitchFamily="34" charset="0"/>
                <a:ea typeface="Calibri" pitchFamily="34" charset="-122"/>
                <a:cs typeface="Calibri" pitchFamily="34" charset="-120"/>
              </a:rPr>
              <a:t>Cloud, integration, microservices, API and bespoke build</a:t>
            </a:r>
            <a:endParaRPr lang="en-US" sz="1150" dirty="0"/>
          </a:p>
        </p:txBody>
      </p:sp>
      <p:sp>
        <p:nvSpPr>
          <p:cNvPr id="27" name="Text 25"/>
          <p:cNvSpPr txBox="1"/>
          <p:nvPr/>
        </p:nvSpPr>
        <p:spPr>
          <a:xfrm>
            <a:off x="640080" y="5303520"/>
            <a:ext cx="10881360" cy="365760"/>
          </a:xfrm>
          <a:prstGeom prst="rect">
            <a:avLst/>
          </a:prstGeom>
          <a:noFill/>
          <a:ln/>
        </p:spPr>
        <p:txBody>
          <a:bodyPr wrap="square" lIns="0" tIns="0" rIns="0" bIns="0" rtlCol="0" anchor="ctr"/>
          <a:lstStyle/>
          <a:p>
            <a:pPr indent="0" marL="0">
              <a:buNone/>
            </a:pPr>
            <a:r>
              <a:rPr lang="en-US" sz="1300" i="1" dirty="0">
                <a:solidFill>
                  <a:srgbClr val="3E5C8A"/>
                </a:solidFill>
                <a:latin typeface="Calibri" pitchFamily="34" charset="0"/>
                <a:ea typeface="Calibri" pitchFamily="34" charset="-122"/>
                <a:cs typeface="Calibri" pitchFamily="34" charset="-120"/>
              </a:rPr>
              <a:t>Pillar ownership across the five workstreams is assigned from this group at kick-off; every artefact carries one name.</a:t>
            </a:r>
            <a:endParaRPr lang="en-US" sz="1300" dirty="0"/>
          </a:p>
        </p:txBody>
      </p:sp>
      <p:sp>
        <p:nvSpPr>
          <p:cNvPr id="28" name="Text 26"/>
          <p:cNvSpPr txBox="1"/>
          <p:nvPr/>
        </p:nvSpPr>
        <p:spPr>
          <a:xfrm>
            <a:off x="640080" y="5760720"/>
            <a:ext cx="10881360" cy="365760"/>
          </a:xfrm>
          <a:prstGeom prst="rect">
            <a:avLst/>
          </a:prstGeom>
          <a:noFill/>
          <a:ln/>
        </p:spPr>
        <p:txBody>
          <a:bodyPr wrap="square" lIns="0" tIns="0" rIns="0" bIns="0" rtlCol="0" anchor="ctr"/>
          <a:lstStyle/>
          <a:p>
            <a:pPr indent="0" marL="0">
              <a:buNone/>
            </a:pPr>
            <a:r>
              <a:rPr lang="en-US" sz="1200" dirty="0">
                <a:solidFill>
                  <a:srgbClr val="8792AB"/>
                </a:solidFill>
                <a:latin typeface="Calibri" pitchFamily="34" charset="0"/>
                <a:ea typeface="Calibri" pitchFamily="34" charset="-122"/>
                <a:cs typeface="Calibri" pitchFamily="34" charset="-120"/>
              </a:rPr>
              <a:t>Wider contributors — account partners, alliance leads, resourcing and finance — are pulled in per workstream rather than sitting on the core team.</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The three-week journey</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Three weeks, three gates, one decision.</a:t>
            </a:r>
            <a:endParaRPr lang="en-US" sz="1450" dirty="0"/>
          </a:p>
        </p:txBody>
      </p:sp>
      <p:sp>
        <p:nvSpPr>
          <p:cNvPr id="4" name="Shape 2"/>
          <p:cNvSpPr/>
          <p:nvPr/>
        </p:nvSpPr>
        <p:spPr>
          <a:xfrm>
            <a:off x="640080" y="1828800"/>
            <a:ext cx="3429000" cy="3840480"/>
          </a:xfrm>
          <a:prstGeom prst="roundRect">
            <a:avLst>
              <a:gd name="adj" fmla="val 3200"/>
            </a:avLst>
          </a:prstGeom>
          <a:solidFill>
            <a:srgbClr val="EDF2FA"/>
          </a:solidFill>
          <a:ln/>
        </p:spPr>
      </p:sp>
      <p:sp>
        <p:nvSpPr>
          <p:cNvPr id="5" name="Shape 3"/>
          <p:cNvSpPr/>
          <p:nvPr/>
        </p:nvSpPr>
        <p:spPr>
          <a:xfrm>
            <a:off x="640080" y="1828800"/>
            <a:ext cx="3429000" cy="685800"/>
          </a:xfrm>
          <a:prstGeom prst="rect">
            <a:avLst/>
          </a:prstGeom>
          <a:solidFill>
            <a:srgbClr val="1E2761"/>
          </a:solidFill>
          <a:ln/>
        </p:spPr>
      </p:sp>
      <p:sp>
        <p:nvSpPr>
          <p:cNvPr id="6" name="Text 4"/>
          <p:cNvSpPr txBox="1"/>
          <p:nvPr/>
        </p:nvSpPr>
        <p:spPr>
          <a:xfrm>
            <a:off x="914400" y="1828800"/>
            <a:ext cx="2926080"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Week 1  ·  Frame</a:t>
            </a:r>
            <a:endParaRPr lang="en-US" sz="1800" dirty="0"/>
          </a:p>
        </p:txBody>
      </p:sp>
      <p:sp>
        <p:nvSpPr>
          <p:cNvPr id="7" name="Text 5"/>
          <p:cNvSpPr txBox="1"/>
          <p:nvPr/>
        </p:nvSpPr>
        <p:spPr>
          <a:xfrm>
            <a:off x="914400" y="2743200"/>
            <a:ext cx="288036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Agree the vision and the ambition</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Baseline current position and credentials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Prioritise markets and sectors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Build the account longlist</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Draft the proposition catalogue</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Baseline the team we have today</a:t>
            </a:r>
            <a:endParaRPr lang="en-US" sz="1250" dirty="0"/>
          </a:p>
        </p:txBody>
      </p:sp>
      <p:sp>
        <p:nvSpPr>
          <p:cNvPr id="8" name="Text 6"/>
          <p:cNvSpPr txBox="1"/>
          <p:nvPr/>
        </p:nvSpPr>
        <p:spPr>
          <a:xfrm>
            <a:off x="914400" y="4892040"/>
            <a:ext cx="2880360" cy="594360"/>
          </a:xfrm>
          <a:prstGeom prst="rect">
            <a:avLst/>
          </a:prstGeom>
          <a:noFill/>
          <a:ln/>
        </p:spPr>
        <p:txBody>
          <a:bodyPr wrap="square" lIns="0" tIns="0" rIns="0" bIns="0" rtlCol="0" anchor="ctr"/>
          <a:lstStyle/>
          <a:p>
            <a:pPr indent="0" marL="0">
              <a:buNone/>
            </a:pPr>
            <a:r>
              <a:rPr lang="en-US" sz="1200" b="1" dirty="0">
                <a:solidFill>
                  <a:srgbClr val="B8862B"/>
                </a:solidFill>
                <a:latin typeface="Calibri" pitchFamily="34" charset="0"/>
                <a:ea typeface="Calibri" pitchFamily="34" charset="-122"/>
                <a:cs typeface="Calibri" pitchFamily="34" charset="-120"/>
              </a:rPr>
              <a:t>Gate: agreed market and sector priorities</a:t>
            </a:r>
            <a:endParaRPr lang="en-US" sz="1200" dirty="0"/>
          </a:p>
        </p:txBody>
      </p:sp>
      <p:sp>
        <p:nvSpPr>
          <p:cNvPr id="9" name="Text 7"/>
          <p:cNvSpPr txBox="1"/>
          <p:nvPr/>
        </p:nvSpPr>
        <p:spPr>
          <a:xfrm>
            <a:off x="4096512" y="3474720"/>
            <a:ext cx="256032" cy="457200"/>
          </a:xfrm>
          <a:prstGeom prst="rect">
            <a:avLst/>
          </a:prstGeom>
          <a:noFill/>
          <a:ln/>
        </p:spPr>
        <p:txBody>
          <a:bodyPr wrap="square" lIns="0" tIns="0" rIns="0" bIns="0" rtlCol="0" anchor="ctr"/>
          <a:lstStyle/>
          <a:p>
            <a:pPr algn="ctr" indent="0" marL="0">
              <a:buNone/>
            </a:pPr>
            <a:r>
              <a:rPr lang="en-US" sz="2000" dirty="0">
                <a:solidFill>
                  <a:srgbClr val="8792A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361688" y="1828800"/>
            <a:ext cx="3429000" cy="3840480"/>
          </a:xfrm>
          <a:prstGeom prst="roundRect">
            <a:avLst>
              <a:gd name="adj" fmla="val 3200"/>
            </a:avLst>
          </a:prstGeom>
          <a:solidFill>
            <a:srgbClr val="EDF2FA"/>
          </a:solidFill>
          <a:ln/>
        </p:spPr>
      </p:sp>
      <p:sp>
        <p:nvSpPr>
          <p:cNvPr id="11" name="Shape 9"/>
          <p:cNvSpPr/>
          <p:nvPr/>
        </p:nvSpPr>
        <p:spPr>
          <a:xfrm>
            <a:off x="4361688" y="1828800"/>
            <a:ext cx="3429000" cy="685800"/>
          </a:xfrm>
          <a:prstGeom prst="rect">
            <a:avLst/>
          </a:prstGeom>
          <a:solidFill>
            <a:srgbClr val="3E5C8A"/>
          </a:solidFill>
          <a:ln/>
        </p:spPr>
      </p:sp>
      <p:sp>
        <p:nvSpPr>
          <p:cNvPr id="12" name="Text 10"/>
          <p:cNvSpPr txBox="1"/>
          <p:nvPr/>
        </p:nvSpPr>
        <p:spPr>
          <a:xfrm>
            <a:off x="4636008" y="1828800"/>
            <a:ext cx="2926080"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Week 2  ·  Define</a:t>
            </a:r>
            <a:endParaRPr lang="en-US" sz="1800" dirty="0"/>
          </a:p>
        </p:txBody>
      </p:sp>
      <p:sp>
        <p:nvSpPr>
          <p:cNvPr id="13" name="Text 11"/>
          <p:cNvSpPr txBox="1"/>
          <p:nvPr/>
        </p:nvSpPr>
        <p:spPr>
          <a:xfrm>
            <a:off x="4636008" y="2743200"/>
            <a:ext cx="288036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Lock propositions and permitted variants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Benchmark deal sizes and pricing</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Set delivery construct, ADR and margin</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Shortlist target accounts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Map alliances to offerings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Size the capacity each target implies</a:t>
            </a:r>
            <a:endParaRPr lang="en-US" sz="1250" dirty="0"/>
          </a:p>
        </p:txBody>
      </p:sp>
      <p:sp>
        <p:nvSpPr>
          <p:cNvPr id="14" name="Text 12"/>
          <p:cNvSpPr txBox="1"/>
          <p:nvPr/>
        </p:nvSpPr>
        <p:spPr>
          <a:xfrm>
            <a:off x="4636008" y="4892040"/>
            <a:ext cx="2880360" cy="594360"/>
          </a:xfrm>
          <a:prstGeom prst="rect">
            <a:avLst/>
          </a:prstGeom>
          <a:noFill/>
          <a:ln/>
        </p:spPr>
        <p:txBody>
          <a:bodyPr wrap="square" lIns="0" tIns="0" rIns="0" bIns="0" rtlCol="0" anchor="ctr"/>
          <a:lstStyle/>
          <a:p>
            <a:pPr indent="0" marL="0">
              <a:buNone/>
            </a:pPr>
            <a:r>
              <a:rPr lang="en-US" sz="1200" b="1" dirty="0">
                <a:solidFill>
                  <a:srgbClr val="B8862B"/>
                </a:solidFill>
                <a:latin typeface="Calibri" pitchFamily="34" charset="0"/>
                <a:ea typeface="Calibri" pitchFamily="34" charset="-122"/>
                <a:cs typeface="Calibri" pitchFamily="34" charset="-120"/>
              </a:rPr>
              <a:t>Gate: agreed catalogue and shortlist</a:t>
            </a:r>
            <a:endParaRPr lang="en-US" sz="1200" dirty="0"/>
          </a:p>
        </p:txBody>
      </p:sp>
      <p:sp>
        <p:nvSpPr>
          <p:cNvPr id="15" name="Text 13"/>
          <p:cNvSpPr txBox="1"/>
          <p:nvPr/>
        </p:nvSpPr>
        <p:spPr>
          <a:xfrm>
            <a:off x="7818120" y="3474720"/>
            <a:ext cx="256032" cy="457200"/>
          </a:xfrm>
          <a:prstGeom prst="rect">
            <a:avLst/>
          </a:prstGeom>
          <a:noFill/>
          <a:ln/>
        </p:spPr>
        <p:txBody>
          <a:bodyPr wrap="square" lIns="0" tIns="0" rIns="0" bIns="0" rtlCol="0" anchor="ctr"/>
          <a:lstStyle/>
          <a:p>
            <a:pPr algn="ctr" indent="0" marL="0">
              <a:buNone/>
            </a:pPr>
            <a:r>
              <a:rPr lang="en-US" sz="2000" dirty="0">
                <a:solidFill>
                  <a:srgbClr val="8792A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083296" y="1828800"/>
            <a:ext cx="3429000" cy="3840480"/>
          </a:xfrm>
          <a:prstGeom prst="roundRect">
            <a:avLst>
              <a:gd name="adj" fmla="val 3200"/>
            </a:avLst>
          </a:prstGeom>
          <a:solidFill>
            <a:srgbClr val="EDF2FA"/>
          </a:solidFill>
          <a:ln/>
        </p:spPr>
      </p:sp>
      <p:sp>
        <p:nvSpPr>
          <p:cNvPr id="17" name="Shape 15"/>
          <p:cNvSpPr/>
          <p:nvPr/>
        </p:nvSpPr>
        <p:spPr>
          <a:xfrm>
            <a:off x="8083296" y="1828800"/>
            <a:ext cx="3429000" cy="685800"/>
          </a:xfrm>
          <a:prstGeom prst="rect">
            <a:avLst/>
          </a:prstGeom>
          <a:solidFill>
            <a:srgbClr val="1E2761"/>
          </a:solidFill>
          <a:ln/>
        </p:spPr>
      </p:sp>
      <p:sp>
        <p:nvSpPr>
          <p:cNvPr id="18" name="Text 16"/>
          <p:cNvSpPr txBox="1"/>
          <p:nvPr/>
        </p:nvSpPr>
        <p:spPr>
          <a:xfrm>
            <a:off x="8357616" y="1828800"/>
            <a:ext cx="2926080"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Week 3  ·  Commit</a:t>
            </a:r>
            <a:endParaRPr lang="en-US" sz="1800" dirty="0"/>
          </a:p>
        </p:txBody>
      </p:sp>
      <p:sp>
        <p:nvSpPr>
          <p:cNvPr id="19" name="Text 17"/>
          <p:cNvSpPr txBox="1"/>
          <p:nvPr/>
        </p:nvSpPr>
        <p:spPr>
          <a:xfrm>
            <a:off x="8357616" y="2743200"/>
            <a:ext cx="288036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Set revenue targets by account, offering and market</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Assign an owner to every account</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Agree the team model and recruitment plan</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Set the eminence calendar</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Build the activation plan and sign off</a:t>
            </a:r>
            <a:endParaRPr lang="en-US" sz="1250" dirty="0"/>
          </a:p>
        </p:txBody>
      </p:sp>
      <p:sp>
        <p:nvSpPr>
          <p:cNvPr id="20" name="Text 18"/>
          <p:cNvSpPr txBox="1"/>
          <p:nvPr/>
        </p:nvSpPr>
        <p:spPr>
          <a:xfrm>
            <a:off x="8357616" y="4892040"/>
            <a:ext cx="2880360" cy="594360"/>
          </a:xfrm>
          <a:prstGeom prst="rect">
            <a:avLst/>
          </a:prstGeom>
          <a:noFill/>
          <a:ln/>
        </p:spPr>
        <p:txBody>
          <a:bodyPr wrap="square" lIns="0" tIns="0" rIns="0" bIns="0" rtlCol="0" anchor="ctr"/>
          <a:lstStyle/>
          <a:p>
            <a:pPr indent="0" marL="0">
              <a:buNone/>
            </a:pPr>
            <a:r>
              <a:rPr lang="en-US" sz="1200" b="1" dirty="0">
                <a:solidFill>
                  <a:srgbClr val="B8862B"/>
                </a:solidFill>
                <a:latin typeface="Calibri" pitchFamily="34" charset="0"/>
                <a:ea typeface="Calibri" pitchFamily="34" charset="-122"/>
                <a:cs typeface="Calibri" pitchFamily="34" charset="-120"/>
              </a:rPr>
              <a:t>Gate: strategy signed off</a:t>
            </a:r>
            <a:endParaRPr lang="en-US" sz="1200" dirty="0"/>
          </a:p>
        </p:txBody>
      </p:sp>
      <p:sp>
        <p:nvSpPr>
          <p:cNvPr id="21" name="Text 19"/>
          <p:cNvSpPr txBox="1"/>
          <p:nvPr/>
        </p:nvSpPr>
        <p:spPr>
          <a:xfrm>
            <a:off x="640080" y="5852160"/>
            <a:ext cx="5486400" cy="32004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Start date to be defined at kick-off.</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011680" y="4023360"/>
            <a:ext cx="5669280" cy="5669280"/>
          </a:xfrm>
          <a:prstGeom prst="ellipse">
            <a:avLst/>
          </a:prstGeom>
          <a:solidFill>
            <a:srgbClr val="3E5C8A">
              <a:alpha val="45000"/>
            </a:srgbClr>
          </a:solidFill>
          <a:ln/>
        </p:spPr>
      </p:sp>
      <p:sp>
        <p:nvSpPr>
          <p:cNvPr id="3" name="Text 1"/>
          <p:cNvSpPr txBox="1"/>
          <p:nvPr/>
        </p:nvSpPr>
        <p:spPr>
          <a:xfrm>
            <a:off x="731520" y="548640"/>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How we run the cycle</a:t>
            </a:r>
            <a:endParaRPr lang="en-US" sz="3600" dirty="0"/>
          </a:p>
        </p:txBody>
      </p:sp>
      <p:sp>
        <p:nvSpPr>
          <p:cNvPr id="4" name="Text 2"/>
          <p:cNvSpPr txBox="1"/>
          <p:nvPr/>
        </p:nvSpPr>
        <p:spPr>
          <a:xfrm>
            <a:off x="731520" y="1298448"/>
            <a:ext cx="10058400" cy="4114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Cadence, inputs and the decisions we are asking for.</a:t>
            </a:r>
            <a:endParaRPr lang="en-US" sz="1450" dirty="0"/>
          </a:p>
        </p:txBody>
      </p:sp>
      <p:sp>
        <p:nvSpPr>
          <p:cNvPr id="5" name="Shape 3"/>
          <p:cNvSpPr/>
          <p:nvPr/>
        </p:nvSpPr>
        <p:spPr>
          <a:xfrm>
            <a:off x="731520" y="1965960"/>
            <a:ext cx="384048" cy="384048"/>
          </a:xfrm>
          <a:prstGeom prst="ellipse">
            <a:avLst/>
          </a:prstGeom>
          <a:solidFill>
            <a:srgbClr val="3E5C8A"/>
          </a:solidFill>
          <a:ln/>
        </p:spPr>
      </p:sp>
      <p:sp>
        <p:nvSpPr>
          <p:cNvPr id="6" name="Text 4"/>
          <p:cNvSpPr txBox="1"/>
          <p:nvPr/>
        </p:nvSpPr>
        <p:spPr>
          <a:xfrm>
            <a:off x="73152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80160" y="1947672"/>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Cadence</a:t>
            </a:r>
            <a:endParaRPr lang="en-US" sz="1900" dirty="0"/>
          </a:p>
        </p:txBody>
      </p:sp>
      <p:sp>
        <p:nvSpPr>
          <p:cNvPr id="8" name="Text 6"/>
          <p:cNvSpPr txBox="1"/>
          <p:nvPr/>
        </p:nvSpPr>
        <p:spPr>
          <a:xfrm>
            <a:off x="731520" y="2606040"/>
            <a:ext cx="3291840" cy="25603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Kick-off to confirm scope and principles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Weekly working session per workstream</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Checkpoint at the end of each week</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Sign-off session in week three</a:t>
            </a:r>
            <a:endParaRPr lang="en-US" sz="1300" dirty="0"/>
          </a:p>
        </p:txBody>
      </p:sp>
      <p:sp>
        <p:nvSpPr>
          <p:cNvPr id="9" name="Shape 7"/>
          <p:cNvSpPr/>
          <p:nvPr/>
        </p:nvSpPr>
        <p:spPr>
          <a:xfrm>
            <a:off x="4434840" y="1965960"/>
            <a:ext cx="384048" cy="384048"/>
          </a:xfrm>
          <a:prstGeom prst="ellipse">
            <a:avLst/>
          </a:prstGeom>
          <a:solidFill>
            <a:srgbClr val="3E5C8A"/>
          </a:solidFill>
          <a:ln/>
        </p:spPr>
      </p:sp>
      <p:sp>
        <p:nvSpPr>
          <p:cNvPr id="10" name="Text 8"/>
          <p:cNvSpPr txBox="1"/>
          <p:nvPr/>
        </p:nvSpPr>
        <p:spPr>
          <a:xfrm>
            <a:off x="443484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4983480" y="1947672"/>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Inputs we need</a:t>
            </a:r>
            <a:endParaRPr lang="en-US" sz="1900" dirty="0"/>
          </a:p>
        </p:txBody>
      </p:sp>
      <p:sp>
        <p:nvSpPr>
          <p:cNvPr id="12" name="Text 10"/>
          <p:cNvSpPr txBox="1"/>
          <p:nvPr/>
        </p:nvSpPr>
        <p:spPr>
          <a:xfrm>
            <a:off x="4434840" y="2606040"/>
            <a:ext cx="3291840" cy="25603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The EAI&amp;D portfolio strategy and the FSI industry strategy</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Current pipeline and revenue by pillar</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Existing account relationships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Alliance and partnership status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Delivery capacity and skills view</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Historical deal values</a:t>
            </a:r>
            <a:endParaRPr lang="en-US" sz="1300" dirty="0"/>
          </a:p>
        </p:txBody>
      </p:sp>
      <p:sp>
        <p:nvSpPr>
          <p:cNvPr id="13" name="Shape 11"/>
          <p:cNvSpPr/>
          <p:nvPr/>
        </p:nvSpPr>
        <p:spPr>
          <a:xfrm>
            <a:off x="8138160" y="1965960"/>
            <a:ext cx="384048" cy="384048"/>
          </a:xfrm>
          <a:prstGeom prst="ellipse">
            <a:avLst/>
          </a:prstGeom>
          <a:solidFill>
            <a:srgbClr val="3E5C8A"/>
          </a:solidFill>
          <a:ln/>
        </p:spPr>
      </p:sp>
      <p:sp>
        <p:nvSpPr>
          <p:cNvPr id="14" name="Text 12"/>
          <p:cNvSpPr txBox="1"/>
          <p:nvPr/>
        </p:nvSpPr>
        <p:spPr>
          <a:xfrm>
            <a:off x="8138160" y="1965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8686800" y="1947672"/>
            <a:ext cx="292608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Decisions requested</a:t>
            </a:r>
            <a:endParaRPr lang="en-US" sz="1900" dirty="0"/>
          </a:p>
        </p:txBody>
      </p:sp>
      <p:sp>
        <p:nvSpPr>
          <p:cNvPr id="16" name="Text 14"/>
          <p:cNvSpPr txBox="1"/>
          <p:nvPr/>
        </p:nvSpPr>
        <p:spPr>
          <a:xfrm>
            <a:off x="8138160" y="2606040"/>
            <a:ext cx="3291840" cy="25603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Alignment with both parent strategies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The vision, then the ambition in numbers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Target account list</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Revenue and margin targets by account</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Account ownership</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Alliance priorities</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Investment and hiring asks</a:t>
            </a:r>
            <a:endParaRPr lang="en-US" sz="1300" dirty="0"/>
          </a:p>
        </p:txBody>
      </p:sp>
      <p:sp>
        <p:nvSpPr>
          <p:cNvPr id="17" name="Text 15"/>
          <p:cNvSpPr txBox="1"/>
          <p:nvPr/>
        </p:nvSpPr>
        <p:spPr>
          <a:xfrm>
            <a:off x="731520" y="5852160"/>
            <a:ext cx="6400800" cy="365760"/>
          </a:xfrm>
          <a:prstGeom prst="rect">
            <a:avLst/>
          </a:prstGeom>
          <a:noFill/>
          <a:ln/>
        </p:spPr>
        <p:txBody>
          <a:bodyPr wrap="square" lIns="0" tIns="0" rIns="0" bIns="0" rtlCol="0" anchor="ctr"/>
          <a:lstStyle/>
          <a:p>
            <a:pPr indent="0" marL="0">
              <a:buNone/>
            </a:pPr>
            <a:r>
              <a:rPr lang="en-US" sz="1200" i="1" dirty="0">
                <a:solidFill>
                  <a:srgbClr val="9AA7C4"/>
                </a:solidFill>
                <a:latin typeface="Calibri" pitchFamily="34" charset="0"/>
                <a:ea typeface="Calibri" pitchFamily="34" charset="-122"/>
                <a:cs typeface="Calibri" pitchFamily="34" charset="-120"/>
              </a:rPr>
              <a:t>Dates and participants beyond the core team are set at kick-off.</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3108960"/>
            <a:ext cx="5120640" cy="5120640"/>
          </a:xfrm>
          <a:prstGeom prst="ellipse">
            <a:avLst/>
          </a:prstGeom>
          <a:solidFill>
            <a:srgbClr val="3E5C8A">
              <a:alpha val="45000"/>
            </a:srgbClr>
          </a:solidFill>
          <a:ln/>
        </p:spPr>
      </p:sp>
      <p:sp>
        <p:nvSpPr>
          <p:cNvPr id="3" name="Text 1"/>
          <p:cNvSpPr txBox="1"/>
          <p:nvPr/>
        </p:nvSpPr>
        <p:spPr>
          <a:xfrm>
            <a:off x="822960" y="1965960"/>
            <a:ext cx="4572000" cy="365760"/>
          </a:xfrm>
          <a:prstGeom prst="rect">
            <a:avLst/>
          </a:prstGeom>
          <a:noFill/>
          <a:ln/>
        </p:spPr>
        <p:txBody>
          <a:bodyPr wrap="square" lIns="0" tIns="0" rIns="0" bIns="0" rtlCol="0" anchor="ctr"/>
          <a:lstStyle/>
          <a:p>
            <a:pPr indent="0" marL="0">
              <a:buNone/>
            </a:pPr>
            <a:r>
              <a:rPr lang="en-US" sz="1300" b="1" spc="200" kern="0" dirty="0">
                <a:solidFill>
                  <a:srgbClr val="9AA7C4"/>
                </a:solidFill>
                <a:latin typeface="Calibri" pitchFamily="34" charset="0"/>
                <a:ea typeface="Calibri" pitchFamily="34" charset="-122"/>
                <a:cs typeface="Calibri" pitchFamily="34" charset="-120"/>
              </a:rPr>
              <a:t>PART FIVE</a:t>
            </a:r>
            <a:endParaRPr lang="en-US" sz="1300" dirty="0"/>
          </a:p>
        </p:txBody>
      </p:sp>
      <p:sp>
        <p:nvSpPr>
          <p:cNvPr id="4" name="Text 2"/>
          <p:cNvSpPr txBox="1"/>
          <p:nvPr/>
        </p:nvSpPr>
        <p:spPr>
          <a:xfrm>
            <a:off x="804672" y="237744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After sign-off</a:t>
            </a:r>
            <a:endParaRPr lang="en-US" sz="3800" dirty="0"/>
          </a:p>
        </p:txBody>
      </p:sp>
      <p:sp>
        <p:nvSpPr>
          <p:cNvPr id="5" name="Text 3"/>
          <p:cNvSpPr txBox="1"/>
          <p:nvPr/>
        </p:nvSpPr>
        <p:spPr>
          <a:xfrm>
            <a:off x="850392" y="3337560"/>
            <a:ext cx="758952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Keeping the strategy alive once it is agreed.</a:t>
            </a:r>
            <a:endParaRPr lang="en-US" sz="1500" dirty="0"/>
          </a:p>
        </p:txBody>
      </p:sp>
      <p:sp>
        <p:nvSpPr>
          <p:cNvPr id="6" name="Text 4"/>
          <p:cNvSpPr txBox="1"/>
          <p:nvPr/>
        </p:nvSpPr>
        <p:spPr>
          <a:xfrm>
            <a:off x="850392" y="4023360"/>
            <a:ext cx="7589520" cy="16459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9AA7C4"/>
                </a:solidFill>
                <a:latin typeface="Calibri" pitchFamily="34" charset="0"/>
                <a:ea typeface="Calibri" pitchFamily="34" charset="-122"/>
                <a:cs typeface="Calibri" pitchFamily="34" charset="-120"/>
              </a:rPr>
              <a:t>Governing the execution: rhythm, scorecard and decision rights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Governing the execution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The discipline · what happens after sign-off, so the strategy does not drift.</a:t>
            </a:r>
            <a:endParaRPr lang="en-US" sz="1450" dirty="0"/>
          </a:p>
        </p:txBody>
      </p:sp>
      <p:sp>
        <p:nvSpPr>
          <p:cNvPr id="4" name="Shape 2"/>
          <p:cNvSpPr/>
          <p:nvPr/>
        </p:nvSpPr>
        <p:spPr>
          <a:xfrm>
            <a:off x="640080" y="1828800"/>
            <a:ext cx="3429000" cy="2286000"/>
          </a:xfrm>
          <a:prstGeom prst="roundRect">
            <a:avLst>
              <a:gd name="adj" fmla="val 4800"/>
            </a:avLst>
          </a:prstGeom>
          <a:solidFill>
            <a:srgbClr val="EDF2FA"/>
          </a:solidFill>
          <a:ln/>
        </p:spPr>
      </p:sp>
      <p:sp>
        <p:nvSpPr>
          <p:cNvPr id="5" name="Shape 3"/>
          <p:cNvSpPr/>
          <p:nvPr/>
        </p:nvSpPr>
        <p:spPr>
          <a:xfrm>
            <a:off x="640080" y="1828800"/>
            <a:ext cx="3429000" cy="621792"/>
          </a:xfrm>
          <a:prstGeom prst="rect">
            <a:avLst/>
          </a:prstGeom>
          <a:solidFill>
            <a:srgbClr val="1E2761"/>
          </a:solidFill>
          <a:ln/>
        </p:spPr>
      </p:sp>
      <p:sp>
        <p:nvSpPr>
          <p:cNvPr id="6" name="Text 4"/>
          <p:cNvSpPr txBox="1"/>
          <p:nvPr/>
        </p:nvSpPr>
        <p:spPr>
          <a:xfrm>
            <a:off x="914400" y="1828800"/>
            <a:ext cx="2880360" cy="62179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Weekly</a:t>
            </a:r>
            <a:endParaRPr lang="en-US" sz="1700" dirty="0"/>
          </a:p>
        </p:txBody>
      </p:sp>
      <p:sp>
        <p:nvSpPr>
          <p:cNvPr id="7" name="Text 5"/>
          <p:cNvSpPr txBox="1"/>
          <p:nvPr/>
        </p:nvSpPr>
        <p:spPr>
          <a:xfrm>
            <a:off x="914400" y="2651760"/>
            <a:ext cx="2880360" cy="13716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Pursuit review: live deals, blockers, next actions</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Owned by the account owners</a:t>
            </a:r>
            <a:endParaRPr lang="en-US" sz="1250" dirty="0"/>
          </a:p>
        </p:txBody>
      </p:sp>
      <p:sp>
        <p:nvSpPr>
          <p:cNvPr id="8" name="Shape 6"/>
          <p:cNvSpPr/>
          <p:nvPr/>
        </p:nvSpPr>
        <p:spPr>
          <a:xfrm>
            <a:off x="4361688" y="1828800"/>
            <a:ext cx="3429000" cy="2286000"/>
          </a:xfrm>
          <a:prstGeom prst="roundRect">
            <a:avLst>
              <a:gd name="adj" fmla="val 4800"/>
            </a:avLst>
          </a:prstGeom>
          <a:solidFill>
            <a:srgbClr val="EDF2FA"/>
          </a:solidFill>
          <a:ln/>
        </p:spPr>
      </p:sp>
      <p:sp>
        <p:nvSpPr>
          <p:cNvPr id="9" name="Shape 7"/>
          <p:cNvSpPr/>
          <p:nvPr/>
        </p:nvSpPr>
        <p:spPr>
          <a:xfrm>
            <a:off x="4361688" y="1828800"/>
            <a:ext cx="3429000" cy="621792"/>
          </a:xfrm>
          <a:prstGeom prst="rect">
            <a:avLst/>
          </a:prstGeom>
          <a:solidFill>
            <a:srgbClr val="3E5C8A"/>
          </a:solidFill>
          <a:ln/>
        </p:spPr>
      </p:sp>
      <p:sp>
        <p:nvSpPr>
          <p:cNvPr id="10" name="Text 8"/>
          <p:cNvSpPr txBox="1"/>
          <p:nvPr/>
        </p:nvSpPr>
        <p:spPr>
          <a:xfrm>
            <a:off x="4636008" y="1828800"/>
            <a:ext cx="2880360" cy="62179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Monthly</a:t>
            </a:r>
            <a:endParaRPr lang="en-US" sz="1700" dirty="0"/>
          </a:p>
        </p:txBody>
      </p:sp>
      <p:sp>
        <p:nvSpPr>
          <p:cNvPr id="11" name="Text 9"/>
          <p:cNvSpPr txBox="1"/>
          <p:nvPr/>
        </p:nvSpPr>
        <p:spPr>
          <a:xfrm>
            <a:off x="4636008" y="2651760"/>
            <a:ext cx="2880360" cy="13716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Pipeline and coverage against target by market and offering</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Talent and alliance actions tracked to date</a:t>
            </a:r>
            <a:endParaRPr lang="en-US" sz="1250" dirty="0"/>
          </a:p>
        </p:txBody>
      </p:sp>
      <p:sp>
        <p:nvSpPr>
          <p:cNvPr id="12" name="Shape 10"/>
          <p:cNvSpPr/>
          <p:nvPr/>
        </p:nvSpPr>
        <p:spPr>
          <a:xfrm>
            <a:off x="8083296" y="1828800"/>
            <a:ext cx="3429000" cy="2286000"/>
          </a:xfrm>
          <a:prstGeom prst="roundRect">
            <a:avLst>
              <a:gd name="adj" fmla="val 4800"/>
            </a:avLst>
          </a:prstGeom>
          <a:solidFill>
            <a:srgbClr val="EDF2FA"/>
          </a:solidFill>
          <a:ln/>
        </p:spPr>
      </p:sp>
      <p:sp>
        <p:nvSpPr>
          <p:cNvPr id="13" name="Shape 11"/>
          <p:cNvSpPr/>
          <p:nvPr/>
        </p:nvSpPr>
        <p:spPr>
          <a:xfrm>
            <a:off x="8083296" y="1828800"/>
            <a:ext cx="3429000" cy="621792"/>
          </a:xfrm>
          <a:prstGeom prst="rect">
            <a:avLst/>
          </a:prstGeom>
          <a:solidFill>
            <a:srgbClr val="1E2761"/>
          </a:solidFill>
          <a:ln/>
        </p:spPr>
      </p:sp>
      <p:sp>
        <p:nvSpPr>
          <p:cNvPr id="14" name="Text 12"/>
          <p:cNvSpPr txBox="1"/>
          <p:nvPr/>
        </p:nvSpPr>
        <p:spPr>
          <a:xfrm>
            <a:off x="8357616" y="1828800"/>
            <a:ext cx="2880360" cy="62179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Quarterly</a:t>
            </a:r>
            <a:endParaRPr lang="en-US" sz="1700" dirty="0"/>
          </a:p>
        </p:txBody>
      </p:sp>
      <p:sp>
        <p:nvSpPr>
          <p:cNvPr id="15" name="Text 13"/>
          <p:cNvSpPr txBox="1"/>
          <p:nvPr/>
        </p:nvSpPr>
        <p:spPr>
          <a:xfrm>
            <a:off x="8357616" y="2651760"/>
            <a:ext cx="2880360" cy="13716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Strategy review: are the choices still right?</a:t>
            </a:r>
            <a:endParaRPr lang="en-US" sz="1250" dirty="0"/>
          </a:p>
          <a:p>
            <a:pPr marL="342900" indent="-342900">
              <a:spcAft>
                <a:spcPts val="900"/>
              </a:spcAft>
              <a:buSzPct val="100000"/>
              <a:buChar char="•"/>
            </a:pPr>
            <a:r>
              <a:rPr lang="en-US" sz="1250" dirty="0">
                <a:solidFill>
                  <a:srgbClr val="44506B"/>
                </a:solidFill>
                <a:latin typeface="Calibri" pitchFamily="34" charset="0"/>
                <a:ea typeface="Calibri" pitchFamily="34" charset="-122"/>
                <a:cs typeface="Calibri" pitchFamily="34" charset="-120"/>
              </a:rPr>
              <a:t>Reset targets, accounts and eminence calendar</a:t>
            </a:r>
            <a:endParaRPr lang="en-US" sz="1250" dirty="0"/>
          </a:p>
        </p:txBody>
      </p:sp>
      <p:sp>
        <p:nvSpPr>
          <p:cNvPr id="16" name="Text 14"/>
          <p:cNvSpPr txBox="1"/>
          <p:nvPr/>
        </p:nvSpPr>
        <p:spPr>
          <a:xfrm>
            <a:off x="640080" y="4343400"/>
            <a:ext cx="10881360" cy="32004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The scorecard behind the rhythm</a:t>
            </a:r>
            <a:endParaRPr lang="en-US" sz="1500" dirty="0"/>
          </a:p>
        </p:txBody>
      </p:sp>
      <p:sp>
        <p:nvSpPr>
          <p:cNvPr id="17" name="Shape 15"/>
          <p:cNvSpPr/>
          <p:nvPr/>
        </p:nvSpPr>
        <p:spPr>
          <a:xfrm>
            <a:off x="640080" y="4754880"/>
            <a:ext cx="3429000" cy="548640"/>
          </a:xfrm>
          <a:prstGeom prst="roundRect">
            <a:avLst>
              <a:gd name="adj" fmla="val 13333"/>
            </a:avLst>
          </a:prstGeom>
          <a:solidFill>
            <a:srgbClr val="F2F6FC"/>
          </a:solidFill>
          <a:ln/>
        </p:spPr>
      </p:sp>
      <p:sp>
        <p:nvSpPr>
          <p:cNvPr id="18" name="Text 16"/>
          <p:cNvSpPr txBox="1"/>
          <p:nvPr/>
        </p:nvSpPr>
        <p:spPr>
          <a:xfrm>
            <a:off x="804672" y="4754880"/>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Commercial</a:t>
            </a:r>
            <a:endParaRPr lang="en-US" sz="1150" dirty="0"/>
          </a:p>
        </p:txBody>
      </p:sp>
      <p:sp>
        <p:nvSpPr>
          <p:cNvPr id="19" name="Text 17"/>
          <p:cNvSpPr txBox="1"/>
          <p:nvPr/>
        </p:nvSpPr>
        <p:spPr>
          <a:xfrm>
            <a:off x="2057400" y="4754880"/>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Pipeline, wins, revenue against target</a:t>
            </a:r>
            <a:endParaRPr lang="en-US" sz="1050" dirty="0"/>
          </a:p>
        </p:txBody>
      </p:sp>
      <p:sp>
        <p:nvSpPr>
          <p:cNvPr id="20" name="Shape 18"/>
          <p:cNvSpPr/>
          <p:nvPr/>
        </p:nvSpPr>
        <p:spPr>
          <a:xfrm>
            <a:off x="4361688" y="4754880"/>
            <a:ext cx="3429000" cy="548640"/>
          </a:xfrm>
          <a:prstGeom prst="roundRect">
            <a:avLst>
              <a:gd name="adj" fmla="val 13333"/>
            </a:avLst>
          </a:prstGeom>
          <a:solidFill>
            <a:srgbClr val="F2F6FC"/>
          </a:solidFill>
          <a:ln/>
        </p:spPr>
      </p:sp>
      <p:sp>
        <p:nvSpPr>
          <p:cNvPr id="21" name="Text 19"/>
          <p:cNvSpPr txBox="1"/>
          <p:nvPr/>
        </p:nvSpPr>
        <p:spPr>
          <a:xfrm>
            <a:off x="4526280" y="4754880"/>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Mix</a:t>
            </a:r>
            <a:endParaRPr lang="en-US" sz="1150" dirty="0"/>
          </a:p>
        </p:txBody>
      </p:sp>
      <p:sp>
        <p:nvSpPr>
          <p:cNvPr id="22" name="Text 20"/>
          <p:cNvSpPr txBox="1"/>
          <p:nvPr/>
        </p:nvSpPr>
        <p:spPr>
          <a:xfrm>
            <a:off x="5779008" y="4754880"/>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Share of revenue from integrated propositions</a:t>
            </a:r>
            <a:endParaRPr lang="en-US" sz="1050" dirty="0"/>
          </a:p>
        </p:txBody>
      </p:sp>
      <p:sp>
        <p:nvSpPr>
          <p:cNvPr id="23" name="Shape 21"/>
          <p:cNvSpPr/>
          <p:nvPr/>
        </p:nvSpPr>
        <p:spPr>
          <a:xfrm>
            <a:off x="8083296" y="4754880"/>
            <a:ext cx="3429000" cy="548640"/>
          </a:xfrm>
          <a:prstGeom prst="roundRect">
            <a:avLst>
              <a:gd name="adj" fmla="val 13333"/>
            </a:avLst>
          </a:prstGeom>
          <a:solidFill>
            <a:srgbClr val="F2F6FC"/>
          </a:solidFill>
          <a:ln/>
        </p:spPr>
      </p:sp>
      <p:sp>
        <p:nvSpPr>
          <p:cNvPr id="24" name="Text 22"/>
          <p:cNvSpPr txBox="1"/>
          <p:nvPr/>
        </p:nvSpPr>
        <p:spPr>
          <a:xfrm>
            <a:off x="8247888" y="4754880"/>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Coverage</a:t>
            </a:r>
            <a:endParaRPr lang="en-US" sz="1150" dirty="0"/>
          </a:p>
        </p:txBody>
      </p:sp>
      <p:sp>
        <p:nvSpPr>
          <p:cNvPr id="25" name="Text 23"/>
          <p:cNvSpPr txBox="1"/>
          <p:nvPr/>
        </p:nvSpPr>
        <p:spPr>
          <a:xfrm>
            <a:off x="9500616" y="4754880"/>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Target accounts with an active owner and contact</a:t>
            </a:r>
            <a:endParaRPr lang="en-US" sz="1050" dirty="0"/>
          </a:p>
        </p:txBody>
      </p:sp>
      <p:sp>
        <p:nvSpPr>
          <p:cNvPr id="26" name="Shape 24"/>
          <p:cNvSpPr/>
          <p:nvPr/>
        </p:nvSpPr>
        <p:spPr>
          <a:xfrm>
            <a:off x="640080" y="5413248"/>
            <a:ext cx="3429000" cy="548640"/>
          </a:xfrm>
          <a:prstGeom prst="roundRect">
            <a:avLst>
              <a:gd name="adj" fmla="val 13333"/>
            </a:avLst>
          </a:prstGeom>
          <a:solidFill>
            <a:srgbClr val="F2F6FC"/>
          </a:solidFill>
          <a:ln/>
        </p:spPr>
      </p:sp>
      <p:sp>
        <p:nvSpPr>
          <p:cNvPr id="27" name="Text 25"/>
          <p:cNvSpPr txBox="1"/>
          <p:nvPr/>
        </p:nvSpPr>
        <p:spPr>
          <a:xfrm>
            <a:off x="804672" y="5413248"/>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Capacity</a:t>
            </a:r>
            <a:endParaRPr lang="en-US" sz="1150" dirty="0"/>
          </a:p>
        </p:txBody>
      </p:sp>
      <p:sp>
        <p:nvSpPr>
          <p:cNvPr id="28" name="Text 26"/>
          <p:cNvSpPr txBox="1"/>
          <p:nvPr/>
        </p:nvSpPr>
        <p:spPr>
          <a:xfrm>
            <a:off x="2057400" y="5413248"/>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Recruitment against plan, utilisation</a:t>
            </a:r>
            <a:endParaRPr lang="en-US" sz="1050" dirty="0"/>
          </a:p>
        </p:txBody>
      </p:sp>
      <p:sp>
        <p:nvSpPr>
          <p:cNvPr id="29" name="Shape 27"/>
          <p:cNvSpPr/>
          <p:nvPr/>
        </p:nvSpPr>
        <p:spPr>
          <a:xfrm>
            <a:off x="4361688" y="5413248"/>
            <a:ext cx="3429000" cy="548640"/>
          </a:xfrm>
          <a:prstGeom prst="roundRect">
            <a:avLst>
              <a:gd name="adj" fmla="val 13333"/>
            </a:avLst>
          </a:prstGeom>
          <a:solidFill>
            <a:srgbClr val="F2F6FC"/>
          </a:solidFill>
          <a:ln/>
        </p:spPr>
      </p:sp>
      <p:sp>
        <p:nvSpPr>
          <p:cNvPr id="30" name="Text 28"/>
          <p:cNvSpPr txBox="1"/>
          <p:nvPr/>
        </p:nvSpPr>
        <p:spPr>
          <a:xfrm>
            <a:off x="4526280" y="5413248"/>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Alliances</a:t>
            </a:r>
            <a:endParaRPr lang="en-US" sz="1150" dirty="0"/>
          </a:p>
        </p:txBody>
      </p:sp>
      <p:sp>
        <p:nvSpPr>
          <p:cNvPr id="31" name="Text 29"/>
          <p:cNvSpPr txBox="1"/>
          <p:nvPr/>
        </p:nvSpPr>
        <p:spPr>
          <a:xfrm>
            <a:off x="5779008" y="5413248"/>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Partner-sourced pipeline and joint pursuits</a:t>
            </a:r>
            <a:endParaRPr lang="en-US" sz="1050" dirty="0"/>
          </a:p>
        </p:txBody>
      </p:sp>
      <p:sp>
        <p:nvSpPr>
          <p:cNvPr id="32" name="Shape 30"/>
          <p:cNvSpPr/>
          <p:nvPr/>
        </p:nvSpPr>
        <p:spPr>
          <a:xfrm>
            <a:off x="8083296" y="5413248"/>
            <a:ext cx="3429000" cy="548640"/>
          </a:xfrm>
          <a:prstGeom prst="roundRect">
            <a:avLst>
              <a:gd name="adj" fmla="val 13333"/>
            </a:avLst>
          </a:prstGeom>
          <a:solidFill>
            <a:srgbClr val="F2F6FC"/>
          </a:solidFill>
          <a:ln/>
        </p:spPr>
      </p:sp>
      <p:sp>
        <p:nvSpPr>
          <p:cNvPr id="33" name="Text 31"/>
          <p:cNvSpPr txBox="1"/>
          <p:nvPr/>
        </p:nvSpPr>
        <p:spPr>
          <a:xfrm>
            <a:off x="8247888" y="5413248"/>
            <a:ext cx="1234440" cy="5486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Eminence</a:t>
            </a:r>
            <a:endParaRPr lang="en-US" sz="1150" dirty="0"/>
          </a:p>
        </p:txBody>
      </p:sp>
      <p:sp>
        <p:nvSpPr>
          <p:cNvPr id="34" name="Text 32"/>
          <p:cNvSpPr txBox="1"/>
          <p:nvPr/>
        </p:nvSpPr>
        <p:spPr>
          <a:xfrm>
            <a:off x="9500616" y="5413248"/>
            <a:ext cx="1874520" cy="548640"/>
          </a:xfrm>
          <a:prstGeom prst="rect">
            <a:avLst/>
          </a:prstGeom>
          <a:noFill/>
          <a:ln/>
        </p:spPr>
        <p:txBody>
          <a:bodyPr wrap="square" lIns="0" tIns="0" rIns="0" bIns="0" rtlCol="0" anchor="ctr"/>
          <a:lstStyle/>
          <a:p>
            <a:pPr indent="0" marL="0">
              <a:buNone/>
            </a:pPr>
            <a:r>
              <a:rPr lang="en-US" sz="1050" dirty="0">
                <a:solidFill>
                  <a:srgbClr val="44506B"/>
                </a:solidFill>
                <a:latin typeface="Calibri" pitchFamily="34" charset="0"/>
                <a:ea typeface="Calibri" pitchFamily="34" charset="-122"/>
                <a:cs typeface="Calibri" pitchFamily="34" charset="-120"/>
              </a:rPr>
              <a:t>Activities delivered, meetings they created</a:t>
            </a:r>
            <a:endParaRPr lang="en-US" sz="1050" dirty="0"/>
          </a:p>
        </p:txBody>
      </p:sp>
      <p:sp>
        <p:nvSpPr>
          <p:cNvPr id="35" name="Text 33"/>
          <p:cNvSpPr txBox="1"/>
          <p:nvPr/>
        </p:nvSpPr>
        <p:spPr>
          <a:xfrm>
            <a:off x="640080" y="6172200"/>
            <a:ext cx="10881360" cy="320040"/>
          </a:xfrm>
          <a:prstGeom prst="rect">
            <a:avLst/>
          </a:prstGeom>
          <a:noFill/>
          <a:ln/>
        </p:spPr>
        <p:txBody>
          <a:bodyPr wrap="square" lIns="0" tIns="0" rIns="0" bIns="0" rtlCol="0" anchor="ctr"/>
          <a:lstStyle/>
          <a:p>
            <a:pPr indent="0" marL="0">
              <a:buNone/>
            </a:pPr>
            <a:r>
              <a:rPr lang="en-US" sz="1150" i="1" dirty="0">
                <a:solidFill>
                  <a:srgbClr val="8792AB"/>
                </a:solidFill>
                <a:latin typeface="Calibri" pitchFamily="34" charset="0"/>
                <a:ea typeface="Calibri" pitchFamily="34" charset="-122"/>
                <a:cs typeface="Calibri" pitchFamily="34" charset="-120"/>
              </a:rPr>
              <a:t>Decision rights, chair and escalation route to be set at sign-off.</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3291840"/>
            <a:ext cx="4754880" cy="4754880"/>
          </a:xfrm>
          <a:prstGeom prst="ellipse">
            <a:avLst/>
          </a:prstGeom>
          <a:solidFill>
            <a:srgbClr val="3E5C8A">
              <a:alpha val="50000"/>
            </a:srgbClr>
          </a:solidFill>
          <a:ln/>
        </p:spPr>
      </p:sp>
      <p:sp>
        <p:nvSpPr>
          <p:cNvPr id="3" name="Text 1"/>
          <p:cNvSpPr txBox="1"/>
          <p:nvPr/>
        </p:nvSpPr>
        <p:spPr>
          <a:xfrm>
            <a:off x="822960" y="237744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Appendix</a:t>
            </a:r>
            <a:endParaRPr lang="en-US" sz="4400" dirty="0"/>
          </a:p>
        </p:txBody>
      </p:sp>
      <p:sp>
        <p:nvSpPr>
          <p:cNvPr id="4" name="Text 2"/>
          <p:cNvSpPr txBox="1"/>
          <p:nvPr/>
        </p:nvSpPr>
        <p:spPr>
          <a:xfrm>
            <a:off x="868680" y="3291840"/>
            <a:ext cx="777240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Blank templates for every artefact the cycle produces</a:t>
            </a:r>
            <a:endParaRPr lang="en-US" sz="1700" dirty="0"/>
          </a:p>
        </p:txBody>
      </p:sp>
      <p:sp>
        <p:nvSpPr>
          <p:cNvPr id="5" name="Text 3"/>
          <p:cNvSpPr txBox="1"/>
          <p:nvPr/>
        </p:nvSpPr>
        <p:spPr>
          <a:xfrm>
            <a:off x="868680" y="3886200"/>
            <a:ext cx="7772400" cy="548640"/>
          </a:xfrm>
          <a:prstGeom prst="rect">
            <a:avLst/>
          </a:prstGeom>
          <a:noFill/>
          <a:ln/>
        </p:spPr>
        <p:txBody>
          <a:bodyPr wrap="square" lIns="0" tIns="0" rIns="0" bIns="0" rtlCol="0" anchor="ctr"/>
          <a:lstStyle/>
          <a:p>
            <a:pPr indent="0" marL="0">
              <a:buNone/>
            </a:pPr>
            <a:r>
              <a:rPr lang="en-US" sz="1350" i="1" dirty="0">
                <a:solidFill>
                  <a:srgbClr val="9AA7C4"/>
                </a:solidFill>
                <a:latin typeface="Calibri" pitchFamily="34" charset="0"/>
                <a:ea typeface="Calibri" pitchFamily="34" charset="-122"/>
                <a:cs typeface="Calibri" pitchFamily="34" charset="-120"/>
              </a:rPr>
              <a:t>These are the working formats. They are filled during the three weeks and become the strategy record.</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the strategy on a page</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The completed strategy on one sheet. Filled at sign-off, from the artefacts that follow.</a:t>
            </a:r>
            <a:endParaRPr lang="en-US" sz="1450" dirty="0"/>
          </a:p>
        </p:txBody>
      </p:sp>
      <p:sp>
        <p:nvSpPr>
          <p:cNvPr id="4" name="Shape 2"/>
          <p:cNvSpPr/>
          <p:nvPr/>
        </p:nvSpPr>
        <p:spPr>
          <a:xfrm>
            <a:off x="640080" y="1828800"/>
            <a:ext cx="10881360" cy="822960"/>
          </a:xfrm>
          <a:prstGeom prst="roundRect">
            <a:avLst>
              <a:gd name="adj" fmla="val 11111"/>
            </a:avLst>
          </a:prstGeom>
          <a:solidFill>
            <a:srgbClr val="FFFFFF"/>
          </a:solidFill>
          <a:ln w="15875">
            <a:solidFill>
              <a:srgbClr val="1E2761"/>
            </a:solidFill>
            <a:prstDash val="solid"/>
          </a:ln>
        </p:spPr>
      </p:sp>
      <p:sp>
        <p:nvSpPr>
          <p:cNvPr id="5" name="Text 3"/>
          <p:cNvSpPr txBox="1"/>
          <p:nvPr/>
        </p:nvSpPr>
        <p:spPr>
          <a:xfrm>
            <a:off x="914400" y="1828800"/>
            <a:ext cx="1828800" cy="822960"/>
          </a:xfrm>
          <a:prstGeom prst="rect">
            <a:avLst/>
          </a:prstGeom>
          <a:noFill/>
          <a:ln/>
        </p:spPr>
        <p:txBody>
          <a:bodyPr wrap="square" lIns="0" tIns="0" rIns="0" bIns="0" rtlCol="0" anchor="ctr"/>
          <a:lstStyle/>
          <a:p>
            <a:pPr indent="0" marL="0">
              <a:buNone/>
            </a:pPr>
            <a:r>
              <a:rPr lang="en-US" sz="1200" b="1" spc="150" kern="0" dirty="0">
                <a:solidFill>
                  <a:srgbClr val="1E2761"/>
                </a:solidFill>
                <a:latin typeface="Calibri" pitchFamily="34" charset="0"/>
                <a:ea typeface="Calibri" pitchFamily="34" charset="-122"/>
                <a:cs typeface="Calibri" pitchFamily="34" charset="-120"/>
              </a:rPr>
              <a:t>AMBITION</a:t>
            </a:r>
            <a:endParaRPr lang="en-US" sz="1200" dirty="0"/>
          </a:p>
        </p:txBody>
      </p:sp>
      <p:sp>
        <p:nvSpPr>
          <p:cNvPr id="6" name="Shape 4"/>
          <p:cNvSpPr/>
          <p:nvPr/>
        </p:nvSpPr>
        <p:spPr>
          <a:xfrm>
            <a:off x="2926080" y="2395728"/>
            <a:ext cx="8321040" cy="0"/>
          </a:xfrm>
          <a:prstGeom prst="line">
            <a:avLst/>
          </a:prstGeom>
          <a:noFill/>
          <a:ln w="12700">
            <a:solidFill>
              <a:srgbClr val="C9D4E6"/>
            </a:solidFill>
            <a:prstDash val="solid"/>
          </a:ln>
        </p:spPr>
      </p:sp>
      <p:sp>
        <p:nvSpPr>
          <p:cNvPr id="7" name="Shape 5"/>
          <p:cNvSpPr/>
          <p:nvPr/>
        </p:nvSpPr>
        <p:spPr>
          <a:xfrm>
            <a:off x="640080" y="2834640"/>
            <a:ext cx="2596896" cy="2514600"/>
          </a:xfrm>
          <a:prstGeom prst="roundRect">
            <a:avLst>
              <a:gd name="adj" fmla="val 3636"/>
            </a:avLst>
          </a:prstGeom>
          <a:solidFill>
            <a:srgbClr val="FFFFFF"/>
          </a:solidFill>
          <a:ln w="12700">
            <a:solidFill>
              <a:srgbClr val="C9D4E6"/>
            </a:solidFill>
            <a:prstDash val="solid"/>
          </a:ln>
        </p:spPr>
      </p:sp>
      <p:sp>
        <p:nvSpPr>
          <p:cNvPr id="8" name="Shape 6"/>
          <p:cNvSpPr/>
          <p:nvPr/>
        </p:nvSpPr>
        <p:spPr>
          <a:xfrm>
            <a:off x="640080" y="2834640"/>
            <a:ext cx="2596896" cy="502920"/>
          </a:xfrm>
          <a:prstGeom prst="rect">
            <a:avLst/>
          </a:prstGeom>
          <a:solidFill>
            <a:srgbClr val="1E2761"/>
          </a:solidFill>
          <a:ln/>
        </p:spPr>
      </p:sp>
      <p:sp>
        <p:nvSpPr>
          <p:cNvPr id="9" name="Text 7"/>
          <p:cNvSpPr txBox="1"/>
          <p:nvPr/>
        </p:nvSpPr>
        <p:spPr>
          <a:xfrm>
            <a:off x="786384" y="2834640"/>
            <a:ext cx="2304288"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 and clients</a:t>
            </a:r>
            <a:endParaRPr lang="en-US" sz="1150" dirty="0"/>
          </a:p>
        </p:txBody>
      </p:sp>
      <p:sp>
        <p:nvSpPr>
          <p:cNvPr id="10" name="Text 8"/>
          <p:cNvSpPr txBox="1"/>
          <p:nvPr/>
        </p:nvSpPr>
        <p:spPr>
          <a:xfrm>
            <a:off x="841248" y="3547872"/>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Markets and sectors</a:t>
            </a:r>
            <a:endParaRPr lang="en-US" sz="1050" dirty="0"/>
          </a:p>
        </p:txBody>
      </p:sp>
      <p:sp>
        <p:nvSpPr>
          <p:cNvPr id="11" name="Shape 9"/>
          <p:cNvSpPr/>
          <p:nvPr/>
        </p:nvSpPr>
        <p:spPr>
          <a:xfrm>
            <a:off x="841248" y="3867912"/>
            <a:ext cx="2194560" cy="0"/>
          </a:xfrm>
          <a:prstGeom prst="line">
            <a:avLst/>
          </a:prstGeom>
          <a:noFill/>
          <a:ln w="12700">
            <a:solidFill>
              <a:srgbClr val="E1E8F2"/>
            </a:solidFill>
            <a:prstDash val="solid"/>
          </a:ln>
        </p:spPr>
      </p:sp>
      <p:sp>
        <p:nvSpPr>
          <p:cNvPr id="12" name="Text 10"/>
          <p:cNvSpPr txBox="1"/>
          <p:nvPr/>
        </p:nvSpPr>
        <p:spPr>
          <a:xfrm>
            <a:off x="841248" y="4114800"/>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Top accounts and offerings</a:t>
            </a:r>
            <a:endParaRPr lang="en-US" sz="1050" dirty="0"/>
          </a:p>
        </p:txBody>
      </p:sp>
      <p:sp>
        <p:nvSpPr>
          <p:cNvPr id="13" name="Shape 11"/>
          <p:cNvSpPr/>
          <p:nvPr/>
        </p:nvSpPr>
        <p:spPr>
          <a:xfrm>
            <a:off x="841248" y="4434840"/>
            <a:ext cx="2194560" cy="0"/>
          </a:xfrm>
          <a:prstGeom prst="line">
            <a:avLst/>
          </a:prstGeom>
          <a:noFill/>
          <a:ln w="12700">
            <a:solidFill>
              <a:srgbClr val="E1E8F2"/>
            </a:solidFill>
            <a:prstDash val="solid"/>
          </a:ln>
        </p:spPr>
      </p:sp>
      <p:sp>
        <p:nvSpPr>
          <p:cNvPr id="14" name="Text 12"/>
          <p:cNvSpPr txBox="1"/>
          <p:nvPr/>
        </p:nvSpPr>
        <p:spPr>
          <a:xfrm>
            <a:off x="841248" y="4681728"/>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Revenue: gross / net</a:t>
            </a:r>
            <a:endParaRPr lang="en-US" sz="1050" dirty="0"/>
          </a:p>
        </p:txBody>
      </p:sp>
      <p:sp>
        <p:nvSpPr>
          <p:cNvPr id="15" name="Shape 13"/>
          <p:cNvSpPr/>
          <p:nvPr/>
        </p:nvSpPr>
        <p:spPr>
          <a:xfrm>
            <a:off x="841248" y="5001768"/>
            <a:ext cx="2194560" cy="0"/>
          </a:xfrm>
          <a:prstGeom prst="line">
            <a:avLst/>
          </a:prstGeom>
          <a:noFill/>
          <a:ln w="12700">
            <a:solidFill>
              <a:srgbClr val="E1E8F2"/>
            </a:solidFill>
            <a:prstDash val="solid"/>
          </a:ln>
        </p:spPr>
      </p:sp>
      <p:sp>
        <p:nvSpPr>
          <p:cNvPr id="16" name="Shape 14"/>
          <p:cNvSpPr/>
          <p:nvPr/>
        </p:nvSpPr>
        <p:spPr>
          <a:xfrm>
            <a:off x="3401568" y="2834640"/>
            <a:ext cx="2596896" cy="2514600"/>
          </a:xfrm>
          <a:prstGeom prst="roundRect">
            <a:avLst>
              <a:gd name="adj" fmla="val 3636"/>
            </a:avLst>
          </a:prstGeom>
          <a:solidFill>
            <a:srgbClr val="FFFFFF"/>
          </a:solidFill>
          <a:ln w="12700">
            <a:solidFill>
              <a:srgbClr val="C9D4E6"/>
            </a:solidFill>
            <a:prstDash val="solid"/>
          </a:ln>
        </p:spPr>
      </p:sp>
      <p:sp>
        <p:nvSpPr>
          <p:cNvPr id="17" name="Shape 15"/>
          <p:cNvSpPr/>
          <p:nvPr/>
        </p:nvSpPr>
        <p:spPr>
          <a:xfrm>
            <a:off x="3401568" y="2834640"/>
            <a:ext cx="2596896" cy="502920"/>
          </a:xfrm>
          <a:prstGeom prst="rect">
            <a:avLst/>
          </a:prstGeom>
          <a:solidFill>
            <a:srgbClr val="3E5C8A"/>
          </a:solidFill>
          <a:ln/>
        </p:spPr>
      </p:sp>
      <p:sp>
        <p:nvSpPr>
          <p:cNvPr id="18" name="Text 16"/>
          <p:cNvSpPr txBox="1"/>
          <p:nvPr/>
        </p:nvSpPr>
        <p:spPr>
          <a:xfrm>
            <a:off x="3547872" y="2834640"/>
            <a:ext cx="2304288"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Propositions</a:t>
            </a:r>
            <a:endParaRPr lang="en-US" sz="1150" dirty="0"/>
          </a:p>
        </p:txBody>
      </p:sp>
      <p:sp>
        <p:nvSpPr>
          <p:cNvPr id="19" name="Text 17"/>
          <p:cNvSpPr txBox="1"/>
          <p:nvPr/>
        </p:nvSpPr>
        <p:spPr>
          <a:xfrm>
            <a:off x="3602736" y="3547872"/>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Integrated</a:t>
            </a:r>
            <a:endParaRPr lang="en-US" sz="1050" dirty="0"/>
          </a:p>
        </p:txBody>
      </p:sp>
      <p:sp>
        <p:nvSpPr>
          <p:cNvPr id="20" name="Shape 18"/>
          <p:cNvSpPr/>
          <p:nvPr/>
        </p:nvSpPr>
        <p:spPr>
          <a:xfrm>
            <a:off x="3602736" y="3867912"/>
            <a:ext cx="2194560" cy="0"/>
          </a:xfrm>
          <a:prstGeom prst="line">
            <a:avLst/>
          </a:prstGeom>
          <a:noFill/>
          <a:ln w="12700">
            <a:solidFill>
              <a:srgbClr val="E1E8F2"/>
            </a:solidFill>
            <a:prstDash val="solid"/>
          </a:ln>
        </p:spPr>
      </p:sp>
      <p:sp>
        <p:nvSpPr>
          <p:cNvPr id="21" name="Text 19"/>
          <p:cNvSpPr txBox="1"/>
          <p:nvPr/>
        </p:nvSpPr>
        <p:spPr>
          <a:xfrm>
            <a:off x="3602736" y="4114800"/>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Use cases</a:t>
            </a:r>
            <a:endParaRPr lang="en-US" sz="1050" dirty="0"/>
          </a:p>
        </p:txBody>
      </p:sp>
      <p:sp>
        <p:nvSpPr>
          <p:cNvPr id="22" name="Shape 20"/>
          <p:cNvSpPr/>
          <p:nvPr/>
        </p:nvSpPr>
        <p:spPr>
          <a:xfrm>
            <a:off x="3602736" y="4434840"/>
            <a:ext cx="2194560" cy="0"/>
          </a:xfrm>
          <a:prstGeom prst="line">
            <a:avLst/>
          </a:prstGeom>
          <a:noFill/>
          <a:ln w="12700">
            <a:solidFill>
              <a:srgbClr val="E1E8F2"/>
            </a:solidFill>
            <a:prstDash val="solid"/>
          </a:ln>
        </p:spPr>
      </p:sp>
      <p:sp>
        <p:nvSpPr>
          <p:cNvPr id="23" name="Text 21"/>
          <p:cNvSpPr txBox="1"/>
          <p:nvPr/>
        </p:nvSpPr>
        <p:spPr>
          <a:xfrm>
            <a:off x="3602736" y="4681728"/>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Archetypes</a:t>
            </a:r>
            <a:endParaRPr lang="en-US" sz="1050" dirty="0"/>
          </a:p>
        </p:txBody>
      </p:sp>
      <p:sp>
        <p:nvSpPr>
          <p:cNvPr id="24" name="Shape 22"/>
          <p:cNvSpPr/>
          <p:nvPr/>
        </p:nvSpPr>
        <p:spPr>
          <a:xfrm>
            <a:off x="3602736" y="5001768"/>
            <a:ext cx="2194560" cy="0"/>
          </a:xfrm>
          <a:prstGeom prst="line">
            <a:avLst/>
          </a:prstGeom>
          <a:noFill/>
          <a:ln w="12700">
            <a:solidFill>
              <a:srgbClr val="E1E8F2"/>
            </a:solidFill>
            <a:prstDash val="solid"/>
          </a:ln>
        </p:spPr>
      </p:sp>
      <p:sp>
        <p:nvSpPr>
          <p:cNvPr id="25" name="Shape 23"/>
          <p:cNvSpPr/>
          <p:nvPr/>
        </p:nvSpPr>
        <p:spPr>
          <a:xfrm>
            <a:off x="6163056" y="2834640"/>
            <a:ext cx="2596896" cy="2514600"/>
          </a:xfrm>
          <a:prstGeom prst="roundRect">
            <a:avLst>
              <a:gd name="adj" fmla="val 3636"/>
            </a:avLst>
          </a:prstGeom>
          <a:solidFill>
            <a:srgbClr val="FFFFFF"/>
          </a:solidFill>
          <a:ln w="12700">
            <a:solidFill>
              <a:srgbClr val="C9D4E6"/>
            </a:solidFill>
            <a:prstDash val="solid"/>
          </a:ln>
        </p:spPr>
      </p:sp>
      <p:sp>
        <p:nvSpPr>
          <p:cNvPr id="26" name="Shape 24"/>
          <p:cNvSpPr/>
          <p:nvPr/>
        </p:nvSpPr>
        <p:spPr>
          <a:xfrm>
            <a:off x="6163056" y="2834640"/>
            <a:ext cx="2596896" cy="502920"/>
          </a:xfrm>
          <a:prstGeom prst="rect">
            <a:avLst/>
          </a:prstGeom>
          <a:solidFill>
            <a:srgbClr val="1E2761"/>
          </a:solidFill>
          <a:ln/>
        </p:spPr>
      </p:sp>
      <p:sp>
        <p:nvSpPr>
          <p:cNvPr id="27" name="Text 25"/>
          <p:cNvSpPr txBox="1"/>
          <p:nvPr/>
        </p:nvSpPr>
        <p:spPr>
          <a:xfrm>
            <a:off x="6309360" y="2834640"/>
            <a:ext cx="2304288"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Delivery and economics</a:t>
            </a:r>
            <a:endParaRPr lang="en-US" sz="1150" dirty="0"/>
          </a:p>
        </p:txBody>
      </p:sp>
      <p:sp>
        <p:nvSpPr>
          <p:cNvPr id="28" name="Text 26"/>
          <p:cNvSpPr txBox="1"/>
          <p:nvPr/>
        </p:nvSpPr>
        <p:spPr>
          <a:xfrm>
            <a:off x="6364224" y="3547872"/>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Construct and ADR</a:t>
            </a:r>
            <a:endParaRPr lang="en-US" sz="1050" dirty="0"/>
          </a:p>
        </p:txBody>
      </p:sp>
      <p:sp>
        <p:nvSpPr>
          <p:cNvPr id="29" name="Shape 27"/>
          <p:cNvSpPr/>
          <p:nvPr/>
        </p:nvSpPr>
        <p:spPr>
          <a:xfrm>
            <a:off x="6364224" y="3867912"/>
            <a:ext cx="2194560" cy="0"/>
          </a:xfrm>
          <a:prstGeom prst="line">
            <a:avLst/>
          </a:prstGeom>
          <a:noFill/>
          <a:ln w="12700">
            <a:solidFill>
              <a:srgbClr val="E1E8F2"/>
            </a:solidFill>
            <a:prstDash val="solid"/>
          </a:ln>
        </p:spPr>
      </p:sp>
      <p:sp>
        <p:nvSpPr>
          <p:cNvPr id="30" name="Text 28"/>
          <p:cNvSpPr txBox="1"/>
          <p:nvPr/>
        </p:nvSpPr>
        <p:spPr>
          <a:xfrm>
            <a:off x="6364224" y="4114800"/>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Margin</a:t>
            </a:r>
            <a:endParaRPr lang="en-US" sz="1050" dirty="0"/>
          </a:p>
        </p:txBody>
      </p:sp>
      <p:sp>
        <p:nvSpPr>
          <p:cNvPr id="31" name="Shape 29"/>
          <p:cNvSpPr/>
          <p:nvPr/>
        </p:nvSpPr>
        <p:spPr>
          <a:xfrm>
            <a:off x="6364224" y="4434840"/>
            <a:ext cx="2194560" cy="0"/>
          </a:xfrm>
          <a:prstGeom prst="line">
            <a:avLst/>
          </a:prstGeom>
          <a:noFill/>
          <a:ln w="12700">
            <a:solidFill>
              <a:srgbClr val="E1E8F2"/>
            </a:solidFill>
            <a:prstDash val="solid"/>
          </a:ln>
        </p:spPr>
      </p:sp>
      <p:sp>
        <p:nvSpPr>
          <p:cNvPr id="32" name="Text 30"/>
          <p:cNvSpPr txBox="1"/>
          <p:nvPr/>
        </p:nvSpPr>
        <p:spPr>
          <a:xfrm>
            <a:off x="6364224" y="4681728"/>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Team and gap</a:t>
            </a:r>
            <a:endParaRPr lang="en-US" sz="1050" dirty="0"/>
          </a:p>
        </p:txBody>
      </p:sp>
      <p:sp>
        <p:nvSpPr>
          <p:cNvPr id="33" name="Shape 31"/>
          <p:cNvSpPr/>
          <p:nvPr/>
        </p:nvSpPr>
        <p:spPr>
          <a:xfrm>
            <a:off x="6364224" y="5001768"/>
            <a:ext cx="2194560" cy="0"/>
          </a:xfrm>
          <a:prstGeom prst="line">
            <a:avLst/>
          </a:prstGeom>
          <a:noFill/>
          <a:ln w="12700">
            <a:solidFill>
              <a:srgbClr val="E1E8F2"/>
            </a:solidFill>
            <a:prstDash val="solid"/>
          </a:ln>
        </p:spPr>
      </p:sp>
      <p:sp>
        <p:nvSpPr>
          <p:cNvPr id="34" name="Shape 32"/>
          <p:cNvSpPr/>
          <p:nvPr/>
        </p:nvSpPr>
        <p:spPr>
          <a:xfrm>
            <a:off x="8924544" y="2834640"/>
            <a:ext cx="2596896" cy="2514600"/>
          </a:xfrm>
          <a:prstGeom prst="roundRect">
            <a:avLst>
              <a:gd name="adj" fmla="val 3636"/>
            </a:avLst>
          </a:prstGeom>
          <a:solidFill>
            <a:srgbClr val="FFFFFF"/>
          </a:solidFill>
          <a:ln w="12700">
            <a:solidFill>
              <a:srgbClr val="C9D4E6"/>
            </a:solidFill>
            <a:prstDash val="solid"/>
          </a:ln>
        </p:spPr>
      </p:sp>
      <p:sp>
        <p:nvSpPr>
          <p:cNvPr id="35" name="Shape 33"/>
          <p:cNvSpPr/>
          <p:nvPr/>
        </p:nvSpPr>
        <p:spPr>
          <a:xfrm>
            <a:off x="8924544" y="2834640"/>
            <a:ext cx="2596896" cy="502920"/>
          </a:xfrm>
          <a:prstGeom prst="rect">
            <a:avLst/>
          </a:prstGeom>
          <a:solidFill>
            <a:srgbClr val="3E5C8A"/>
          </a:solidFill>
          <a:ln/>
        </p:spPr>
      </p:sp>
      <p:sp>
        <p:nvSpPr>
          <p:cNvPr id="36" name="Text 34"/>
          <p:cNvSpPr txBox="1"/>
          <p:nvPr/>
        </p:nvSpPr>
        <p:spPr>
          <a:xfrm>
            <a:off x="9070848" y="2834640"/>
            <a:ext cx="2304288"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Route to market</a:t>
            </a:r>
            <a:endParaRPr lang="en-US" sz="1150" dirty="0"/>
          </a:p>
        </p:txBody>
      </p:sp>
      <p:sp>
        <p:nvSpPr>
          <p:cNvPr id="37" name="Text 35"/>
          <p:cNvSpPr txBox="1"/>
          <p:nvPr/>
        </p:nvSpPr>
        <p:spPr>
          <a:xfrm>
            <a:off x="9125712" y="3547872"/>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Alliances</a:t>
            </a:r>
            <a:endParaRPr lang="en-US" sz="1050" dirty="0"/>
          </a:p>
        </p:txBody>
      </p:sp>
      <p:sp>
        <p:nvSpPr>
          <p:cNvPr id="38" name="Shape 36"/>
          <p:cNvSpPr/>
          <p:nvPr/>
        </p:nvSpPr>
        <p:spPr>
          <a:xfrm>
            <a:off x="9125712" y="3867912"/>
            <a:ext cx="2194560" cy="0"/>
          </a:xfrm>
          <a:prstGeom prst="line">
            <a:avLst/>
          </a:prstGeom>
          <a:noFill/>
          <a:ln w="12700">
            <a:solidFill>
              <a:srgbClr val="E1E8F2"/>
            </a:solidFill>
            <a:prstDash val="solid"/>
          </a:ln>
        </p:spPr>
      </p:sp>
      <p:sp>
        <p:nvSpPr>
          <p:cNvPr id="39" name="Text 37"/>
          <p:cNvSpPr txBox="1"/>
          <p:nvPr/>
        </p:nvSpPr>
        <p:spPr>
          <a:xfrm>
            <a:off x="9125712" y="4114800"/>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Eminence</a:t>
            </a:r>
            <a:endParaRPr lang="en-US" sz="1050" dirty="0"/>
          </a:p>
        </p:txBody>
      </p:sp>
      <p:sp>
        <p:nvSpPr>
          <p:cNvPr id="40" name="Shape 38"/>
          <p:cNvSpPr/>
          <p:nvPr/>
        </p:nvSpPr>
        <p:spPr>
          <a:xfrm>
            <a:off x="9125712" y="4434840"/>
            <a:ext cx="2194560" cy="0"/>
          </a:xfrm>
          <a:prstGeom prst="line">
            <a:avLst/>
          </a:prstGeom>
          <a:noFill/>
          <a:ln w="12700">
            <a:solidFill>
              <a:srgbClr val="E1E8F2"/>
            </a:solidFill>
            <a:prstDash val="solid"/>
          </a:ln>
        </p:spPr>
      </p:sp>
      <p:sp>
        <p:nvSpPr>
          <p:cNvPr id="41" name="Text 39"/>
          <p:cNvSpPr txBox="1"/>
          <p:nvPr/>
        </p:nvSpPr>
        <p:spPr>
          <a:xfrm>
            <a:off x="9125712" y="4681728"/>
            <a:ext cx="1417320" cy="274320"/>
          </a:xfrm>
          <a:prstGeom prst="rect">
            <a:avLst/>
          </a:prstGeom>
          <a:noFill/>
          <a:ln/>
        </p:spPr>
        <p:txBody>
          <a:bodyPr wrap="square" lIns="0" tIns="0" rIns="0" bIns="0" rtlCol="0" anchor="ctr"/>
          <a:lstStyle/>
          <a:p>
            <a:pPr indent="0" marL="0">
              <a:buNone/>
            </a:pPr>
            <a:r>
              <a:rPr lang="en-US" sz="1050" dirty="0">
                <a:solidFill>
                  <a:srgbClr val="8792AB"/>
                </a:solidFill>
                <a:latin typeface="Calibri" pitchFamily="34" charset="0"/>
                <a:ea typeface="Calibri" pitchFamily="34" charset="-122"/>
                <a:cs typeface="Calibri" pitchFamily="34" charset="-120"/>
              </a:rPr>
              <a:t>Differentiation</a:t>
            </a:r>
            <a:endParaRPr lang="en-US" sz="1050" dirty="0"/>
          </a:p>
        </p:txBody>
      </p:sp>
      <p:sp>
        <p:nvSpPr>
          <p:cNvPr id="42" name="Shape 40"/>
          <p:cNvSpPr/>
          <p:nvPr/>
        </p:nvSpPr>
        <p:spPr>
          <a:xfrm>
            <a:off x="9125712" y="5001768"/>
            <a:ext cx="2194560" cy="0"/>
          </a:xfrm>
          <a:prstGeom prst="line">
            <a:avLst/>
          </a:prstGeom>
          <a:noFill/>
          <a:ln w="12700">
            <a:solidFill>
              <a:srgbClr val="E1E8F2"/>
            </a:solidFill>
            <a:prstDash val="solid"/>
          </a:ln>
        </p:spPr>
      </p:sp>
      <p:sp>
        <p:nvSpPr>
          <p:cNvPr id="43" name="Shape 41"/>
          <p:cNvSpPr/>
          <p:nvPr/>
        </p:nvSpPr>
        <p:spPr>
          <a:xfrm>
            <a:off x="640080" y="5532120"/>
            <a:ext cx="10881360" cy="777240"/>
          </a:xfrm>
          <a:prstGeom prst="roundRect">
            <a:avLst>
              <a:gd name="adj" fmla="val 11765"/>
            </a:avLst>
          </a:prstGeom>
          <a:solidFill>
            <a:srgbClr val="FFFFFF"/>
          </a:solidFill>
          <a:ln w="15875">
            <a:solidFill>
              <a:srgbClr val="1E2761"/>
            </a:solidFill>
            <a:prstDash val="solid"/>
          </a:ln>
        </p:spPr>
      </p:sp>
      <p:sp>
        <p:nvSpPr>
          <p:cNvPr id="44" name="Text 42"/>
          <p:cNvSpPr txBox="1"/>
          <p:nvPr/>
        </p:nvSpPr>
        <p:spPr>
          <a:xfrm>
            <a:off x="914400" y="5532120"/>
            <a:ext cx="1828800" cy="777240"/>
          </a:xfrm>
          <a:prstGeom prst="rect">
            <a:avLst/>
          </a:prstGeom>
          <a:noFill/>
          <a:ln/>
        </p:spPr>
        <p:txBody>
          <a:bodyPr wrap="square" lIns="0" tIns="0" rIns="0" bIns="0" rtlCol="0" anchor="ctr"/>
          <a:lstStyle/>
          <a:p>
            <a:pPr indent="0" marL="0">
              <a:buNone/>
            </a:pPr>
            <a:r>
              <a:rPr lang="en-US" sz="1200" b="1" spc="150" kern="0" dirty="0">
                <a:solidFill>
                  <a:srgbClr val="1E2761"/>
                </a:solidFill>
                <a:latin typeface="Calibri" pitchFamily="34" charset="0"/>
                <a:ea typeface="Calibri" pitchFamily="34" charset="-122"/>
                <a:cs typeface="Calibri" pitchFamily="34" charset="-120"/>
              </a:rPr>
              <a:t>DISCIPLINE</a:t>
            </a:r>
            <a:endParaRPr lang="en-US" sz="1200" dirty="0"/>
          </a:p>
        </p:txBody>
      </p:sp>
      <p:sp>
        <p:nvSpPr>
          <p:cNvPr id="45" name="Shape 43"/>
          <p:cNvSpPr/>
          <p:nvPr/>
        </p:nvSpPr>
        <p:spPr>
          <a:xfrm>
            <a:off x="2926080" y="6062472"/>
            <a:ext cx="8321040" cy="0"/>
          </a:xfrm>
          <a:prstGeom prst="line">
            <a:avLst/>
          </a:prstGeom>
          <a:noFill/>
          <a:ln w="12700">
            <a:solidFill>
              <a:srgbClr val="C9D4E6"/>
            </a:solidFill>
            <a:prstDash val="solid"/>
          </a:ln>
        </p:spPr>
      </p:sp>
      <p:sp>
        <p:nvSpPr>
          <p:cNvPr id="46" name="Text 44"/>
          <p:cNvSpPr txBox="1"/>
          <p:nvPr/>
        </p:nvSpPr>
        <p:spPr>
          <a:xfrm>
            <a:off x="640080" y="6382512"/>
            <a:ext cx="10881360" cy="320040"/>
          </a:xfrm>
          <a:prstGeom prst="rect">
            <a:avLst/>
          </a:prstGeom>
          <a:noFill/>
          <a:ln/>
        </p:spPr>
        <p:txBody>
          <a:bodyPr wrap="square" lIns="0" tIns="0" rIns="0" bIns="0" rtlCol="0" anchor="ctr"/>
          <a:lstStyle/>
          <a:p>
            <a:pPr indent="0" marL="0">
              <a:buNone/>
            </a:pPr>
            <a:r>
              <a:rPr lang="en-US" sz="1100" i="1" dirty="0">
                <a:solidFill>
                  <a:srgbClr val="8792AB"/>
                </a:solidFill>
                <a:latin typeface="Calibri" pitchFamily="34" charset="0"/>
                <a:ea typeface="Calibri" pitchFamily="34" charset="-122"/>
                <a:cs typeface="Calibri" pitchFamily="34" charset="-120"/>
              </a:rPr>
              <a:t>One sheet, one version, dated. Everything behind it lives in the artefacts that follow.</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proposition one-pager</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One sheet per proposition in the catalogue. Every dimension on a single page.</a:t>
            </a:r>
            <a:endParaRPr lang="en-US" sz="1450" dirty="0"/>
          </a:p>
        </p:txBody>
      </p:sp>
      <p:sp>
        <p:nvSpPr>
          <p:cNvPr id="4" name="Shape 2"/>
          <p:cNvSpPr/>
          <p:nvPr/>
        </p:nvSpPr>
        <p:spPr>
          <a:xfrm>
            <a:off x="640080" y="1783080"/>
            <a:ext cx="10881360" cy="658368"/>
          </a:xfrm>
          <a:prstGeom prst="roundRect">
            <a:avLst>
              <a:gd name="adj" fmla="val 13889"/>
            </a:avLst>
          </a:prstGeom>
          <a:solidFill>
            <a:srgbClr val="1E2761"/>
          </a:solidFill>
          <a:ln/>
        </p:spPr>
      </p:sp>
      <p:sp>
        <p:nvSpPr>
          <p:cNvPr id="5" name="Text 3"/>
          <p:cNvSpPr txBox="1"/>
          <p:nvPr/>
        </p:nvSpPr>
        <p:spPr>
          <a:xfrm>
            <a:off x="914400" y="1783080"/>
            <a:ext cx="1920240" cy="658368"/>
          </a:xfrm>
          <a:prstGeom prst="rect">
            <a:avLst/>
          </a:prstGeom>
          <a:noFill/>
          <a:ln/>
        </p:spPr>
        <p:txBody>
          <a:bodyPr wrap="square" lIns="0" tIns="0" rIns="0" bIns="0" rtlCol="0" anchor="ctr"/>
          <a:lstStyle/>
          <a:p>
            <a:pPr indent="0" marL="0">
              <a:buNone/>
            </a:pPr>
            <a:r>
              <a:rPr lang="en-US" sz="1150" b="1" spc="150" kern="0" dirty="0">
                <a:solidFill>
                  <a:srgbClr val="CADCFC"/>
                </a:solidFill>
                <a:latin typeface="Calibri" pitchFamily="34" charset="0"/>
                <a:ea typeface="Calibri" pitchFamily="34" charset="-122"/>
                <a:cs typeface="Calibri" pitchFamily="34" charset="-120"/>
              </a:rPr>
              <a:t>PROPOSITION</a:t>
            </a:r>
            <a:endParaRPr lang="en-US" sz="1150" dirty="0"/>
          </a:p>
        </p:txBody>
      </p:sp>
      <p:sp>
        <p:nvSpPr>
          <p:cNvPr id="6" name="Shape 4"/>
          <p:cNvSpPr/>
          <p:nvPr/>
        </p:nvSpPr>
        <p:spPr>
          <a:xfrm>
            <a:off x="2926080" y="2212848"/>
            <a:ext cx="4937760" cy="0"/>
          </a:xfrm>
          <a:prstGeom prst="line">
            <a:avLst/>
          </a:prstGeom>
          <a:noFill/>
          <a:ln w="12700">
            <a:solidFill>
              <a:srgbClr val="5C6E96"/>
            </a:solidFill>
            <a:prstDash val="solid"/>
          </a:ln>
        </p:spPr>
      </p:sp>
      <p:sp>
        <p:nvSpPr>
          <p:cNvPr id="7" name="Text 5"/>
          <p:cNvSpPr txBox="1"/>
          <p:nvPr/>
        </p:nvSpPr>
        <p:spPr>
          <a:xfrm>
            <a:off x="8138160" y="1783080"/>
            <a:ext cx="2194560" cy="658368"/>
          </a:xfrm>
          <a:prstGeom prst="rect">
            <a:avLst/>
          </a:prstGeom>
          <a:noFill/>
          <a:ln/>
        </p:spPr>
        <p:txBody>
          <a:bodyPr wrap="square" lIns="0" tIns="0" rIns="0" bIns="0" rtlCol="0" anchor="ctr"/>
          <a:lstStyle/>
          <a:p>
            <a:pPr indent="0" marL="0">
              <a:buNone/>
            </a:pPr>
            <a:r>
              <a:rPr lang="en-US" sz="950" b="1" spc="100" kern="0" dirty="0">
                <a:solidFill>
                  <a:srgbClr val="9AA7C4"/>
                </a:solidFill>
                <a:latin typeface="Calibri" pitchFamily="34" charset="0"/>
                <a:ea typeface="Calibri" pitchFamily="34" charset="-122"/>
                <a:cs typeface="Calibri" pitchFamily="34" charset="-120"/>
              </a:rPr>
              <a:t>LEAD OFFERING</a:t>
            </a:r>
            <a:endParaRPr lang="en-US" sz="950" dirty="0"/>
          </a:p>
        </p:txBody>
      </p:sp>
      <p:sp>
        <p:nvSpPr>
          <p:cNvPr id="8" name="Shape 6"/>
          <p:cNvSpPr/>
          <p:nvPr/>
        </p:nvSpPr>
        <p:spPr>
          <a:xfrm>
            <a:off x="10332720" y="2212848"/>
            <a:ext cx="1005840" cy="0"/>
          </a:xfrm>
          <a:prstGeom prst="line">
            <a:avLst/>
          </a:prstGeom>
          <a:noFill/>
          <a:ln w="12700">
            <a:solidFill>
              <a:srgbClr val="5C6E96"/>
            </a:solidFill>
            <a:prstDash val="solid"/>
          </a:ln>
        </p:spPr>
      </p:sp>
      <p:sp>
        <p:nvSpPr>
          <p:cNvPr id="9" name="Shape 7"/>
          <p:cNvSpPr/>
          <p:nvPr/>
        </p:nvSpPr>
        <p:spPr>
          <a:xfrm>
            <a:off x="640080" y="2606040"/>
            <a:ext cx="3520440" cy="1143000"/>
          </a:xfrm>
          <a:prstGeom prst="roundRect">
            <a:avLst>
              <a:gd name="adj" fmla="val 8000"/>
            </a:avLst>
          </a:prstGeom>
          <a:solidFill>
            <a:srgbClr val="FFFFFF"/>
          </a:solidFill>
          <a:ln w="12700">
            <a:solidFill>
              <a:srgbClr val="C9D4E6"/>
            </a:solidFill>
            <a:prstDash val="solid"/>
          </a:ln>
        </p:spPr>
      </p:sp>
      <p:sp>
        <p:nvSpPr>
          <p:cNvPr id="10" name="Text 8"/>
          <p:cNvSpPr txBox="1"/>
          <p:nvPr/>
        </p:nvSpPr>
        <p:spPr>
          <a:xfrm>
            <a:off x="822960" y="267919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What it is, and the use cases we lead with</a:t>
            </a:r>
            <a:endParaRPr lang="en-US" sz="1050" dirty="0"/>
          </a:p>
        </p:txBody>
      </p:sp>
      <p:sp>
        <p:nvSpPr>
          <p:cNvPr id="11" name="Shape 9"/>
          <p:cNvSpPr/>
          <p:nvPr/>
        </p:nvSpPr>
        <p:spPr>
          <a:xfrm>
            <a:off x="822960" y="3264408"/>
            <a:ext cx="3154680" cy="0"/>
          </a:xfrm>
          <a:prstGeom prst="line">
            <a:avLst/>
          </a:prstGeom>
          <a:noFill/>
          <a:ln w="12700">
            <a:solidFill>
              <a:srgbClr val="E1E8F2"/>
            </a:solidFill>
            <a:prstDash val="solid"/>
          </a:ln>
        </p:spPr>
      </p:sp>
      <p:sp>
        <p:nvSpPr>
          <p:cNvPr id="12" name="Shape 10"/>
          <p:cNvSpPr/>
          <p:nvPr/>
        </p:nvSpPr>
        <p:spPr>
          <a:xfrm>
            <a:off x="822960" y="3557016"/>
            <a:ext cx="3154680" cy="0"/>
          </a:xfrm>
          <a:prstGeom prst="line">
            <a:avLst/>
          </a:prstGeom>
          <a:noFill/>
          <a:ln w="12700">
            <a:solidFill>
              <a:srgbClr val="E1E8F2"/>
            </a:solidFill>
            <a:prstDash val="solid"/>
          </a:ln>
        </p:spPr>
      </p:sp>
      <p:sp>
        <p:nvSpPr>
          <p:cNvPr id="13" name="Shape 11"/>
          <p:cNvSpPr/>
          <p:nvPr/>
        </p:nvSpPr>
        <p:spPr>
          <a:xfrm>
            <a:off x="4325112" y="2606040"/>
            <a:ext cx="3520440" cy="1143000"/>
          </a:xfrm>
          <a:prstGeom prst="roundRect">
            <a:avLst>
              <a:gd name="adj" fmla="val 8000"/>
            </a:avLst>
          </a:prstGeom>
          <a:solidFill>
            <a:srgbClr val="FFFFFF"/>
          </a:solidFill>
          <a:ln w="12700">
            <a:solidFill>
              <a:srgbClr val="C9D4E6"/>
            </a:solidFill>
            <a:prstDash val="solid"/>
          </a:ln>
        </p:spPr>
      </p:sp>
      <p:sp>
        <p:nvSpPr>
          <p:cNvPr id="14" name="Text 12"/>
          <p:cNvSpPr txBox="1"/>
          <p:nvPr/>
        </p:nvSpPr>
        <p:spPr>
          <a:xfrm>
            <a:off x="4507992" y="267919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Sectors it serves, and the buyer in each</a:t>
            </a:r>
            <a:endParaRPr lang="en-US" sz="1050" dirty="0"/>
          </a:p>
        </p:txBody>
      </p:sp>
      <p:sp>
        <p:nvSpPr>
          <p:cNvPr id="15" name="Shape 13"/>
          <p:cNvSpPr/>
          <p:nvPr/>
        </p:nvSpPr>
        <p:spPr>
          <a:xfrm>
            <a:off x="4507992" y="3264408"/>
            <a:ext cx="3154680" cy="0"/>
          </a:xfrm>
          <a:prstGeom prst="line">
            <a:avLst/>
          </a:prstGeom>
          <a:noFill/>
          <a:ln w="12700">
            <a:solidFill>
              <a:srgbClr val="E1E8F2"/>
            </a:solidFill>
            <a:prstDash val="solid"/>
          </a:ln>
        </p:spPr>
      </p:sp>
      <p:sp>
        <p:nvSpPr>
          <p:cNvPr id="16" name="Shape 14"/>
          <p:cNvSpPr/>
          <p:nvPr/>
        </p:nvSpPr>
        <p:spPr>
          <a:xfrm>
            <a:off x="4507992" y="3557016"/>
            <a:ext cx="3154680" cy="0"/>
          </a:xfrm>
          <a:prstGeom prst="line">
            <a:avLst/>
          </a:prstGeom>
          <a:noFill/>
          <a:ln w="12700">
            <a:solidFill>
              <a:srgbClr val="E1E8F2"/>
            </a:solidFill>
            <a:prstDash val="solid"/>
          </a:ln>
        </p:spPr>
      </p:sp>
      <p:sp>
        <p:nvSpPr>
          <p:cNvPr id="17" name="Shape 15"/>
          <p:cNvSpPr/>
          <p:nvPr/>
        </p:nvSpPr>
        <p:spPr>
          <a:xfrm>
            <a:off x="8010144" y="2606040"/>
            <a:ext cx="3520440" cy="1143000"/>
          </a:xfrm>
          <a:prstGeom prst="roundRect">
            <a:avLst>
              <a:gd name="adj" fmla="val 8000"/>
            </a:avLst>
          </a:prstGeom>
          <a:solidFill>
            <a:srgbClr val="FFFFFF"/>
          </a:solidFill>
          <a:ln w="12700">
            <a:solidFill>
              <a:srgbClr val="C9D4E6"/>
            </a:solidFill>
            <a:prstDash val="solid"/>
          </a:ln>
        </p:spPr>
      </p:sp>
      <p:sp>
        <p:nvSpPr>
          <p:cNvPr id="18" name="Text 16"/>
          <p:cNvSpPr txBox="1"/>
          <p:nvPr/>
        </p:nvSpPr>
        <p:spPr>
          <a:xfrm>
            <a:off x="8193024" y="267919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Archetypes and permitted variants</a:t>
            </a:r>
            <a:endParaRPr lang="en-US" sz="1050" dirty="0"/>
          </a:p>
        </p:txBody>
      </p:sp>
      <p:sp>
        <p:nvSpPr>
          <p:cNvPr id="19" name="Shape 17"/>
          <p:cNvSpPr/>
          <p:nvPr/>
        </p:nvSpPr>
        <p:spPr>
          <a:xfrm>
            <a:off x="8193024" y="3264408"/>
            <a:ext cx="3154680" cy="0"/>
          </a:xfrm>
          <a:prstGeom prst="line">
            <a:avLst/>
          </a:prstGeom>
          <a:noFill/>
          <a:ln w="12700">
            <a:solidFill>
              <a:srgbClr val="E1E8F2"/>
            </a:solidFill>
            <a:prstDash val="solid"/>
          </a:ln>
        </p:spPr>
      </p:sp>
      <p:sp>
        <p:nvSpPr>
          <p:cNvPr id="20" name="Shape 18"/>
          <p:cNvSpPr/>
          <p:nvPr/>
        </p:nvSpPr>
        <p:spPr>
          <a:xfrm>
            <a:off x="8193024" y="3557016"/>
            <a:ext cx="3154680" cy="0"/>
          </a:xfrm>
          <a:prstGeom prst="line">
            <a:avLst/>
          </a:prstGeom>
          <a:noFill/>
          <a:ln w="12700">
            <a:solidFill>
              <a:srgbClr val="E1E8F2"/>
            </a:solidFill>
            <a:prstDash val="solid"/>
          </a:ln>
        </p:spPr>
      </p:sp>
      <p:sp>
        <p:nvSpPr>
          <p:cNvPr id="21" name="Shape 19"/>
          <p:cNvSpPr/>
          <p:nvPr/>
        </p:nvSpPr>
        <p:spPr>
          <a:xfrm>
            <a:off x="640080" y="3886200"/>
            <a:ext cx="3520440" cy="1143000"/>
          </a:xfrm>
          <a:prstGeom prst="roundRect">
            <a:avLst>
              <a:gd name="adj" fmla="val 8000"/>
            </a:avLst>
          </a:prstGeom>
          <a:solidFill>
            <a:srgbClr val="FFFFFF"/>
          </a:solidFill>
          <a:ln w="12700">
            <a:solidFill>
              <a:srgbClr val="C9D4E6"/>
            </a:solidFill>
            <a:prstDash val="solid"/>
          </a:ln>
        </p:spPr>
      </p:sp>
      <p:sp>
        <p:nvSpPr>
          <p:cNvPr id="22" name="Text 20"/>
          <p:cNvSpPr txBox="1"/>
          <p:nvPr/>
        </p:nvSpPr>
        <p:spPr>
          <a:xfrm>
            <a:off x="822960" y="395935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Target markets and accounts</a:t>
            </a:r>
            <a:endParaRPr lang="en-US" sz="1050" dirty="0"/>
          </a:p>
        </p:txBody>
      </p:sp>
      <p:sp>
        <p:nvSpPr>
          <p:cNvPr id="23" name="Shape 21"/>
          <p:cNvSpPr/>
          <p:nvPr/>
        </p:nvSpPr>
        <p:spPr>
          <a:xfrm>
            <a:off x="822960" y="4544568"/>
            <a:ext cx="3154680" cy="0"/>
          </a:xfrm>
          <a:prstGeom prst="line">
            <a:avLst/>
          </a:prstGeom>
          <a:noFill/>
          <a:ln w="12700">
            <a:solidFill>
              <a:srgbClr val="E1E8F2"/>
            </a:solidFill>
            <a:prstDash val="solid"/>
          </a:ln>
        </p:spPr>
      </p:sp>
      <p:sp>
        <p:nvSpPr>
          <p:cNvPr id="24" name="Shape 22"/>
          <p:cNvSpPr/>
          <p:nvPr/>
        </p:nvSpPr>
        <p:spPr>
          <a:xfrm>
            <a:off x="822960" y="4837176"/>
            <a:ext cx="3154680" cy="0"/>
          </a:xfrm>
          <a:prstGeom prst="line">
            <a:avLst/>
          </a:prstGeom>
          <a:noFill/>
          <a:ln w="12700">
            <a:solidFill>
              <a:srgbClr val="E1E8F2"/>
            </a:solidFill>
            <a:prstDash val="solid"/>
          </a:ln>
        </p:spPr>
      </p:sp>
      <p:sp>
        <p:nvSpPr>
          <p:cNvPr id="25" name="Shape 23"/>
          <p:cNvSpPr/>
          <p:nvPr/>
        </p:nvSpPr>
        <p:spPr>
          <a:xfrm>
            <a:off x="4325112" y="3886200"/>
            <a:ext cx="3520440" cy="1143000"/>
          </a:xfrm>
          <a:prstGeom prst="roundRect">
            <a:avLst>
              <a:gd name="adj" fmla="val 8000"/>
            </a:avLst>
          </a:prstGeom>
          <a:solidFill>
            <a:srgbClr val="FFFFFF"/>
          </a:solidFill>
          <a:ln w="12700">
            <a:solidFill>
              <a:srgbClr val="C9D4E6"/>
            </a:solidFill>
            <a:prstDash val="solid"/>
          </a:ln>
        </p:spPr>
      </p:sp>
      <p:sp>
        <p:nvSpPr>
          <p:cNvPr id="26" name="Text 24"/>
          <p:cNvSpPr txBox="1"/>
          <p:nvPr/>
        </p:nvSpPr>
        <p:spPr>
          <a:xfrm>
            <a:off x="4507992" y="395935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Deal size and price band</a:t>
            </a:r>
            <a:endParaRPr lang="en-US" sz="1050" dirty="0"/>
          </a:p>
        </p:txBody>
      </p:sp>
      <p:sp>
        <p:nvSpPr>
          <p:cNvPr id="27" name="Shape 25"/>
          <p:cNvSpPr/>
          <p:nvPr/>
        </p:nvSpPr>
        <p:spPr>
          <a:xfrm>
            <a:off x="4507992" y="4544568"/>
            <a:ext cx="3154680" cy="0"/>
          </a:xfrm>
          <a:prstGeom prst="line">
            <a:avLst/>
          </a:prstGeom>
          <a:noFill/>
          <a:ln w="12700">
            <a:solidFill>
              <a:srgbClr val="E1E8F2"/>
            </a:solidFill>
            <a:prstDash val="solid"/>
          </a:ln>
        </p:spPr>
      </p:sp>
      <p:sp>
        <p:nvSpPr>
          <p:cNvPr id="28" name="Shape 26"/>
          <p:cNvSpPr/>
          <p:nvPr/>
        </p:nvSpPr>
        <p:spPr>
          <a:xfrm>
            <a:off x="4507992" y="4837176"/>
            <a:ext cx="3154680" cy="0"/>
          </a:xfrm>
          <a:prstGeom prst="line">
            <a:avLst/>
          </a:prstGeom>
          <a:noFill/>
          <a:ln w="12700">
            <a:solidFill>
              <a:srgbClr val="E1E8F2"/>
            </a:solidFill>
            <a:prstDash val="solid"/>
          </a:ln>
        </p:spPr>
      </p:sp>
      <p:sp>
        <p:nvSpPr>
          <p:cNvPr id="29" name="Shape 27"/>
          <p:cNvSpPr/>
          <p:nvPr/>
        </p:nvSpPr>
        <p:spPr>
          <a:xfrm>
            <a:off x="8010144" y="3886200"/>
            <a:ext cx="3520440" cy="1143000"/>
          </a:xfrm>
          <a:prstGeom prst="roundRect">
            <a:avLst>
              <a:gd name="adj" fmla="val 8000"/>
            </a:avLst>
          </a:prstGeom>
          <a:solidFill>
            <a:srgbClr val="FFFFFF"/>
          </a:solidFill>
          <a:ln w="12700">
            <a:solidFill>
              <a:srgbClr val="C9D4E6"/>
            </a:solidFill>
            <a:prstDash val="solid"/>
          </a:ln>
        </p:spPr>
      </p:sp>
      <p:sp>
        <p:nvSpPr>
          <p:cNvPr id="30" name="Text 28"/>
          <p:cNvSpPr txBox="1"/>
          <p:nvPr/>
        </p:nvSpPr>
        <p:spPr>
          <a:xfrm>
            <a:off x="8193024" y="395935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Delivery construct, accelerators, ADR and margin</a:t>
            </a:r>
            <a:endParaRPr lang="en-US" sz="1050" dirty="0"/>
          </a:p>
        </p:txBody>
      </p:sp>
      <p:sp>
        <p:nvSpPr>
          <p:cNvPr id="31" name="Shape 29"/>
          <p:cNvSpPr/>
          <p:nvPr/>
        </p:nvSpPr>
        <p:spPr>
          <a:xfrm>
            <a:off x="8193024" y="4544568"/>
            <a:ext cx="3154680" cy="0"/>
          </a:xfrm>
          <a:prstGeom prst="line">
            <a:avLst/>
          </a:prstGeom>
          <a:noFill/>
          <a:ln w="12700">
            <a:solidFill>
              <a:srgbClr val="E1E8F2"/>
            </a:solidFill>
            <a:prstDash val="solid"/>
          </a:ln>
        </p:spPr>
      </p:sp>
      <p:sp>
        <p:nvSpPr>
          <p:cNvPr id="32" name="Shape 30"/>
          <p:cNvSpPr/>
          <p:nvPr/>
        </p:nvSpPr>
        <p:spPr>
          <a:xfrm>
            <a:off x="8193024" y="4837176"/>
            <a:ext cx="3154680" cy="0"/>
          </a:xfrm>
          <a:prstGeom prst="line">
            <a:avLst/>
          </a:prstGeom>
          <a:noFill/>
          <a:ln w="12700">
            <a:solidFill>
              <a:srgbClr val="E1E8F2"/>
            </a:solidFill>
            <a:prstDash val="solid"/>
          </a:ln>
        </p:spPr>
      </p:sp>
      <p:sp>
        <p:nvSpPr>
          <p:cNvPr id="33" name="Shape 31"/>
          <p:cNvSpPr/>
          <p:nvPr/>
        </p:nvSpPr>
        <p:spPr>
          <a:xfrm>
            <a:off x="640080" y="5166360"/>
            <a:ext cx="3520440" cy="1143000"/>
          </a:xfrm>
          <a:prstGeom prst="roundRect">
            <a:avLst>
              <a:gd name="adj" fmla="val 8000"/>
            </a:avLst>
          </a:prstGeom>
          <a:solidFill>
            <a:srgbClr val="FFFFFF"/>
          </a:solidFill>
          <a:ln w="12700">
            <a:solidFill>
              <a:srgbClr val="C9D4E6"/>
            </a:solidFill>
            <a:prstDash val="solid"/>
          </a:ln>
        </p:spPr>
      </p:sp>
      <p:sp>
        <p:nvSpPr>
          <p:cNvPr id="34" name="Text 32"/>
          <p:cNvSpPr txBox="1"/>
          <p:nvPr/>
        </p:nvSpPr>
        <p:spPr>
          <a:xfrm>
            <a:off x="822960" y="523951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AI and innovation embedded in it</a:t>
            </a:r>
            <a:endParaRPr lang="en-US" sz="1050" dirty="0"/>
          </a:p>
        </p:txBody>
      </p:sp>
      <p:sp>
        <p:nvSpPr>
          <p:cNvPr id="35" name="Shape 33"/>
          <p:cNvSpPr/>
          <p:nvPr/>
        </p:nvSpPr>
        <p:spPr>
          <a:xfrm>
            <a:off x="822960" y="5824728"/>
            <a:ext cx="3154680" cy="0"/>
          </a:xfrm>
          <a:prstGeom prst="line">
            <a:avLst/>
          </a:prstGeom>
          <a:noFill/>
          <a:ln w="12700">
            <a:solidFill>
              <a:srgbClr val="E1E8F2"/>
            </a:solidFill>
            <a:prstDash val="solid"/>
          </a:ln>
        </p:spPr>
      </p:sp>
      <p:sp>
        <p:nvSpPr>
          <p:cNvPr id="36" name="Shape 34"/>
          <p:cNvSpPr/>
          <p:nvPr/>
        </p:nvSpPr>
        <p:spPr>
          <a:xfrm>
            <a:off x="822960" y="6117336"/>
            <a:ext cx="3154680" cy="0"/>
          </a:xfrm>
          <a:prstGeom prst="line">
            <a:avLst/>
          </a:prstGeom>
          <a:noFill/>
          <a:ln w="12700">
            <a:solidFill>
              <a:srgbClr val="E1E8F2"/>
            </a:solidFill>
            <a:prstDash val="solid"/>
          </a:ln>
        </p:spPr>
      </p:sp>
      <p:sp>
        <p:nvSpPr>
          <p:cNvPr id="37" name="Shape 35"/>
          <p:cNvSpPr/>
          <p:nvPr/>
        </p:nvSpPr>
        <p:spPr>
          <a:xfrm>
            <a:off x="4325112" y="5166360"/>
            <a:ext cx="3520440" cy="1143000"/>
          </a:xfrm>
          <a:prstGeom prst="roundRect">
            <a:avLst>
              <a:gd name="adj" fmla="val 8000"/>
            </a:avLst>
          </a:prstGeom>
          <a:solidFill>
            <a:srgbClr val="FFFFFF"/>
          </a:solidFill>
          <a:ln w="12700">
            <a:solidFill>
              <a:srgbClr val="C9D4E6"/>
            </a:solidFill>
            <a:prstDash val="solid"/>
          </a:ln>
        </p:spPr>
      </p:sp>
      <p:sp>
        <p:nvSpPr>
          <p:cNvPr id="38" name="Text 36"/>
          <p:cNvSpPr txBox="1"/>
          <p:nvPr/>
        </p:nvSpPr>
        <p:spPr>
          <a:xfrm>
            <a:off x="4507992" y="523951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Alliance behind it, and what they bring</a:t>
            </a:r>
            <a:endParaRPr lang="en-US" sz="1050" dirty="0"/>
          </a:p>
        </p:txBody>
      </p:sp>
      <p:sp>
        <p:nvSpPr>
          <p:cNvPr id="39" name="Shape 37"/>
          <p:cNvSpPr/>
          <p:nvPr/>
        </p:nvSpPr>
        <p:spPr>
          <a:xfrm>
            <a:off x="4507992" y="5824728"/>
            <a:ext cx="3154680" cy="0"/>
          </a:xfrm>
          <a:prstGeom prst="line">
            <a:avLst/>
          </a:prstGeom>
          <a:noFill/>
          <a:ln w="12700">
            <a:solidFill>
              <a:srgbClr val="E1E8F2"/>
            </a:solidFill>
            <a:prstDash val="solid"/>
          </a:ln>
        </p:spPr>
      </p:sp>
      <p:sp>
        <p:nvSpPr>
          <p:cNvPr id="40" name="Shape 38"/>
          <p:cNvSpPr/>
          <p:nvPr/>
        </p:nvSpPr>
        <p:spPr>
          <a:xfrm>
            <a:off x="4507992" y="6117336"/>
            <a:ext cx="3154680" cy="0"/>
          </a:xfrm>
          <a:prstGeom prst="line">
            <a:avLst/>
          </a:prstGeom>
          <a:noFill/>
          <a:ln w="12700">
            <a:solidFill>
              <a:srgbClr val="E1E8F2"/>
            </a:solidFill>
            <a:prstDash val="solid"/>
          </a:ln>
        </p:spPr>
      </p:sp>
      <p:sp>
        <p:nvSpPr>
          <p:cNvPr id="41" name="Shape 39"/>
          <p:cNvSpPr/>
          <p:nvPr/>
        </p:nvSpPr>
        <p:spPr>
          <a:xfrm>
            <a:off x="8010144" y="5166360"/>
            <a:ext cx="3520440" cy="1143000"/>
          </a:xfrm>
          <a:prstGeom prst="roundRect">
            <a:avLst>
              <a:gd name="adj" fmla="val 8000"/>
            </a:avLst>
          </a:prstGeom>
          <a:solidFill>
            <a:srgbClr val="FFFFFF"/>
          </a:solidFill>
          <a:ln w="12700">
            <a:solidFill>
              <a:srgbClr val="C9D4E6"/>
            </a:solidFill>
            <a:prstDash val="solid"/>
          </a:ln>
        </p:spPr>
      </p:sp>
      <p:sp>
        <p:nvSpPr>
          <p:cNvPr id="42" name="Text 40"/>
          <p:cNvSpPr txBox="1"/>
          <p:nvPr/>
        </p:nvSpPr>
        <p:spPr>
          <a:xfrm>
            <a:off x="8193024" y="5239512"/>
            <a:ext cx="3154680" cy="41148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Credentials, eminence hooks and key roles</a:t>
            </a:r>
            <a:endParaRPr lang="en-US" sz="1050" dirty="0"/>
          </a:p>
        </p:txBody>
      </p:sp>
      <p:sp>
        <p:nvSpPr>
          <p:cNvPr id="43" name="Shape 41"/>
          <p:cNvSpPr/>
          <p:nvPr/>
        </p:nvSpPr>
        <p:spPr>
          <a:xfrm>
            <a:off x="8193024" y="5824728"/>
            <a:ext cx="3154680" cy="0"/>
          </a:xfrm>
          <a:prstGeom prst="line">
            <a:avLst/>
          </a:prstGeom>
          <a:noFill/>
          <a:ln w="12700">
            <a:solidFill>
              <a:srgbClr val="E1E8F2"/>
            </a:solidFill>
            <a:prstDash val="solid"/>
          </a:ln>
        </p:spPr>
      </p:sp>
      <p:sp>
        <p:nvSpPr>
          <p:cNvPr id="44" name="Shape 42"/>
          <p:cNvSpPr/>
          <p:nvPr/>
        </p:nvSpPr>
        <p:spPr>
          <a:xfrm>
            <a:off x="8193024" y="6117336"/>
            <a:ext cx="3154680" cy="0"/>
          </a:xfrm>
          <a:prstGeom prst="line">
            <a:avLst/>
          </a:prstGeom>
          <a:noFill/>
          <a:ln w="12700">
            <a:solidFill>
              <a:srgbClr val="E1E8F2"/>
            </a:solidFill>
            <a:prstDash val="solid"/>
          </a:ln>
        </p:spPr>
      </p:sp>
      <p:sp>
        <p:nvSpPr>
          <p:cNvPr id="45" name="Text 43"/>
          <p:cNvSpPr txBox="1"/>
          <p:nvPr/>
        </p:nvSpPr>
        <p:spPr>
          <a:xfrm>
            <a:off x="640080" y="6400800"/>
            <a:ext cx="10881360" cy="320040"/>
          </a:xfrm>
          <a:prstGeom prst="rect">
            <a:avLst/>
          </a:prstGeom>
          <a:noFill/>
          <a:ln/>
        </p:spPr>
        <p:txBody>
          <a:bodyPr wrap="square" lIns="0" tIns="0" rIns="0" bIns="0" rtlCol="0" anchor="ctr"/>
          <a:lstStyle/>
          <a:p>
            <a:pPr indent="0" marL="0">
              <a:buNone/>
            </a:pPr>
            <a:r>
              <a:rPr lang="en-US" sz="1100" i="1" dirty="0">
                <a:solidFill>
                  <a:srgbClr val="8792AB"/>
                </a:solidFill>
                <a:latin typeface="Calibri" pitchFamily="34" charset="0"/>
                <a:ea typeface="Calibri" pitchFamily="34" charset="-122"/>
                <a:cs typeface="Calibri" pitchFamily="34" charset="-120"/>
              </a:rPr>
              <a:t>One page per proposition. If a box cannot be filled, the proposition is not ready for the catalogue.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market prioritisation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1 · Market and clients · one row per market.</a:t>
            </a:r>
            <a:endParaRPr lang="en-US" sz="14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194560"/>
                <a:gridCol w="3200400"/>
                <a:gridCol w="3291840"/>
                <a:gridCol w="1097280"/>
                <a:gridCol w="10972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Sectors and segments in focus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Why this 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a:t>
            </a:r>
            <a:endParaRPr lang="en-US" sz="1150" dirty="0"/>
          </a:p>
        </p:txBody>
      </p:sp>
      <p:sp>
        <p:nvSpPr>
          <p:cNvPr id="7" name="Text 4"/>
          <p:cNvSpPr txBox="1"/>
          <p:nvPr/>
        </p:nvSpPr>
        <p:spPr>
          <a:xfrm>
            <a:off x="2944368" y="1965960"/>
            <a:ext cx="30175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Sectors and segments in focus</a:t>
            </a:r>
            <a:endParaRPr lang="en-US" sz="1150" dirty="0"/>
          </a:p>
        </p:txBody>
      </p:sp>
      <p:sp>
        <p:nvSpPr>
          <p:cNvPr id="8" name="Text 5"/>
          <p:cNvSpPr txBox="1"/>
          <p:nvPr/>
        </p:nvSpPr>
        <p:spPr>
          <a:xfrm>
            <a:off x="6144768" y="1965960"/>
            <a:ext cx="31089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Why this market</a:t>
            </a:r>
            <a:endParaRPr lang="en-US" sz="1150" dirty="0"/>
          </a:p>
        </p:txBody>
      </p:sp>
      <p:sp>
        <p:nvSpPr>
          <p:cNvPr id="9" name="Text 6"/>
          <p:cNvSpPr txBox="1"/>
          <p:nvPr/>
        </p:nvSpPr>
        <p:spPr>
          <a:xfrm>
            <a:off x="943660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p>
        </p:txBody>
      </p:sp>
      <p:sp>
        <p:nvSpPr>
          <p:cNvPr id="10" name="Text 7"/>
          <p:cNvSpPr txBox="1"/>
          <p:nvPr/>
        </p:nvSpPr>
        <p:spPr>
          <a:xfrm>
            <a:off x="1053388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Tier one or tier two, per sector where they differ. Rationale should stand on evidence, not familiarity.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target accounts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1 · our view inside the single firm account plan — one row per named account.</a:t>
            </a:r>
            <a:endParaRPr lang="en-US" sz="14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920240"/>
                <a:gridCol w="1188720"/>
                <a:gridCol w="1097280"/>
                <a:gridCol w="731520"/>
                <a:gridCol w="2560320"/>
                <a:gridCol w="1188720"/>
                <a:gridCol w="1188720"/>
                <a:gridCol w="100584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Propositions we lead with</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Alliance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p>
        </p:txBody>
      </p:sp>
      <p:sp>
        <p:nvSpPr>
          <p:cNvPr id="7" name="Text 4"/>
          <p:cNvSpPr txBox="1"/>
          <p:nvPr/>
        </p:nvSpPr>
        <p:spPr>
          <a:xfrm>
            <a:off x="2670048" y="1965960"/>
            <a:ext cx="10058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Sector</a:t>
            </a:r>
            <a:endParaRPr lang="en-US" sz="1150" dirty="0"/>
          </a:p>
        </p:txBody>
      </p:sp>
      <p:sp>
        <p:nvSpPr>
          <p:cNvPr id="8" name="Text 5"/>
          <p:cNvSpPr txBox="1"/>
          <p:nvPr/>
        </p:nvSpPr>
        <p:spPr>
          <a:xfrm>
            <a:off x="385876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a:t>
            </a:r>
            <a:endParaRPr lang="en-US" sz="1150" dirty="0"/>
          </a:p>
        </p:txBody>
      </p:sp>
      <p:sp>
        <p:nvSpPr>
          <p:cNvPr id="9" name="Text 6"/>
          <p:cNvSpPr txBox="1"/>
          <p:nvPr/>
        </p:nvSpPr>
        <p:spPr>
          <a:xfrm>
            <a:off x="4956048" y="1965960"/>
            <a:ext cx="5486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p>
        </p:txBody>
      </p:sp>
      <p:sp>
        <p:nvSpPr>
          <p:cNvPr id="10" name="Text 7"/>
          <p:cNvSpPr txBox="1"/>
          <p:nvPr/>
        </p:nvSpPr>
        <p:spPr>
          <a:xfrm>
            <a:off x="5687568" y="1965960"/>
            <a:ext cx="23774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Propositions we lead with</a:t>
            </a:r>
            <a:endParaRPr lang="en-US" sz="1150" dirty="0"/>
          </a:p>
        </p:txBody>
      </p:sp>
      <p:sp>
        <p:nvSpPr>
          <p:cNvPr id="11" name="Text 8"/>
          <p:cNvSpPr txBox="1"/>
          <p:nvPr/>
        </p:nvSpPr>
        <p:spPr>
          <a:xfrm>
            <a:off x="8247888" y="1965960"/>
            <a:ext cx="10058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Alliance</a:t>
            </a:r>
            <a:endParaRPr lang="en-US" sz="1150" dirty="0"/>
          </a:p>
        </p:txBody>
      </p:sp>
      <p:sp>
        <p:nvSpPr>
          <p:cNvPr id="12" name="Text 9"/>
          <p:cNvSpPr txBox="1"/>
          <p:nvPr/>
        </p:nvSpPr>
        <p:spPr>
          <a:xfrm>
            <a:off x="9436608" y="1965960"/>
            <a:ext cx="10058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3" name="Text 10"/>
          <p:cNvSpPr txBox="1"/>
          <p:nvPr/>
        </p:nvSpPr>
        <p:spPr>
          <a:xfrm>
            <a:off x="10625328" y="1965960"/>
            <a:ext cx="8229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p>
        </p:txBody>
      </p:sp>
      <p:sp>
        <p:nvSpPr>
          <p:cNvPr id="14" name="Text 11"/>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One plan per account, owned by the firm. This is the EAI&amp;D layer inside it, not a second plan.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account revenue plan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1 · the EAI&amp;D ambition inside each account plan — one row per account and offering.</a:t>
            </a:r>
            <a:endParaRPr lang="en-US" sz="14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286000"/>
                <a:gridCol w="2743200"/>
                <a:gridCol w="1371600"/>
                <a:gridCol w="1554480"/>
                <a:gridCol w="1554480"/>
                <a:gridCol w="137160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 targeted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Timeframe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Gross revenue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Net revenue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031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p>
        </p:txBody>
      </p:sp>
      <p:sp>
        <p:nvSpPr>
          <p:cNvPr id="7" name="Text 4"/>
          <p:cNvSpPr txBox="1"/>
          <p:nvPr/>
        </p:nvSpPr>
        <p:spPr>
          <a:xfrm>
            <a:off x="3035808" y="1965960"/>
            <a:ext cx="25603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 targeted</a:t>
            </a:r>
            <a:endParaRPr lang="en-US" sz="1150" dirty="0"/>
          </a:p>
        </p:txBody>
      </p:sp>
      <p:sp>
        <p:nvSpPr>
          <p:cNvPr id="8" name="Text 5"/>
          <p:cNvSpPr txBox="1"/>
          <p:nvPr/>
        </p:nvSpPr>
        <p:spPr>
          <a:xfrm>
            <a:off x="577900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Timeframe</a:t>
            </a:r>
            <a:endParaRPr lang="en-US" sz="1150" dirty="0"/>
          </a:p>
        </p:txBody>
      </p:sp>
      <p:sp>
        <p:nvSpPr>
          <p:cNvPr id="9" name="Text 6"/>
          <p:cNvSpPr txBox="1"/>
          <p:nvPr/>
        </p:nvSpPr>
        <p:spPr>
          <a:xfrm>
            <a:off x="715060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Gross revenue</a:t>
            </a:r>
            <a:endParaRPr lang="en-US" sz="1150" dirty="0"/>
          </a:p>
        </p:txBody>
      </p:sp>
      <p:sp>
        <p:nvSpPr>
          <p:cNvPr id="10" name="Text 7"/>
          <p:cNvSpPr txBox="1"/>
          <p:nvPr/>
        </p:nvSpPr>
        <p:spPr>
          <a:xfrm>
            <a:off x="870508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Net revenue</a:t>
            </a:r>
            <a:endParaRPr lang="en-US" sz="1150" dirty="0"/>
          </a:p>
        </p:txBody>
      </p:sp>
      <p:sp>
        <p:nvSpPr>
          <p:cNvPr id="11" name="Text 8"/>
          <p:cNvSpPr txBox="1"/>
          <p:nvPr/>
        </p:nvSpPr>
        <p:spPr>
          <a:xfrm>
            <a:off x="1025956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Confidence</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Gross and net on every line. The account total and the market total must reconcile to the portfolio target.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coverage and ownership</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1 · who carries EAI&amp;D inside each account team — one row per priority account.</a:t>
            </a:r>
            <a:endParaRPr lang="en-US" sz="14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651760"/>
                <a:gridCol w="2194560"/>
                <a:gridCol w="2103120"/>
                <a:gridCol w="2103120"/>
                <a:gridCol w="182880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Partner 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Alliance lead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Delivery lead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Contact cadence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4688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a:t>
            </a:r>
            <a:endParaRPr lang="en-US" sz="1150" dirty="0"/>
          </a:p>
        </p:txBody>
      </p:sp>
      <p:sp>
        <p:nvSpPr>
          <p:cNvPr id="7" name="Text 4"/>
          <p:cNvSpPr txBox="1"/>
          <p:nvPr/>
        </p:nvSpPr>
        <p:spPr>
          <a:xfrm>
            <a:off x="340156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Partner owner</a:t>
            </a:r>
            <a:endParaRPr lang="en-US" sz="1150" dirty="0"/>
          </a:p>
        </p:txBody>
      </p:sp>
      <p:sp>
        <p:nvSpPr>
          <p:cNvPr id="8" name="Text 5"/>
          <p:cNvSpPr txBox="1"/>
          <p:nvPr/>
        </p:nvSpPr>
        <p:spPr>
          <a:xfrm>
            <a:off x="559612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Alliance lead</a:t>
            </a:r>
            <a:endParaRPr lang="en-US" sz="1150" dirty="0"/>
          </a:p>
        </p:txBody>
      </p:sp>
      <p:sp>
        <p:nvSpPr>
          <p:cNvPr id="9" name="Text 6"/>
          <p:cNvSpPr txBox="1"/>
          <p:nvPr/>
        </p:nvSpPr>
        <p:spPr>
          <a:xfrm>
            <a:off x="769924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Delivery lead</a:t>
            </a:r>
            <a:endParaRPr lang="en-US" sz="1150" dirty="0"/>
          </a:p>
        </p:txBody>
      </p:sp>
      <p:sp>
        <p:nvSpPr>
          <p:cNvPr id="10" name="Text 7"/>
          <p:cNvSpPr txBox="1"/>
          <p:nvPr/>
        </p:nvSpPr>
        <p:spPr>
          <a:xfrm>
            <a:off x="980236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Contact cadence</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Our owner sits inside the existing account team; the account relationship stays with its account leader.</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proposition catalogue</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2 · Offerings · one row per integrated proposition.</a:t>
            </a:r>
            <a:endParaRPr lang="en-US" sz="14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377440"/>
                <a:gridCol w="1920240"/>
                <a:gridCol w="2011680"/>
                <a:gridCol w="2194560"/>
                <a:gridCol w="237744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Sectors it serves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Offerings involved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Buyer per sector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Archetypes permitted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a:t>
            </a:r>
            <a:endParaRPr lang="en-US" sz="1150" dirty="0"/>
          </a:p>
        </p:txBody>
      </p:sp>
      <p:sp>
        <p:nvSpPr>
          <p:cNvPr id="7" name="Text 4"/>
          <p:cNvSpPr txBox="1"/>
          <p:nvPr/>
        </p:nvSpPr>
        <p:spPr>
          <a:xfrm>
            <a:off x="312724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Sectors it serves</a:t>
            </a:r>
            <a:endParaRPr lang="en-US" sz="1150" dirty="0"/>
          </a:p>
        </p:txBody>
      </p:sp>
      <p:sp>
        <p:nvSpPr>
          <p:cNvPr id="8" name="Text 5"/>
          <p:cNvSpPr txBox="1"/>
          <p:nvPr/>
        </p:nvSpPr>
        <p:spPr>
          <a:xfrm>
            <a:off x="5047488" y="1965960"/>
            <a:ext cx="18288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Offerings involved</a:t>
            </a:r>
            <a:endParaRPr lang="en-US" sz="1150" dirty="0"/>
          </a:p>
        </p:txBody>
      </p:sp>
      <p:sp>
        <p:nvSpPr>
          <p:cNvPr id="9" name="Text 6"/>
          <p:cNvSpPr txBox="1"/>
          <p:nvPr/>
        </p:nvSpPr>
        <p:spPr>
          <a:xfrm>
            <a:off x="705916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Buyer per sector</a:t>
            </a:r>
            <a:endParaRPr lang="en-US" sz="1150" dirty="0"/>
          </a:p>
        </p:txBody>
      </p:sp>
      <p:sp>
        <p:nvSpPr>
          <p:cNvPr id="10" name="Text 7"/>
          <p:cNvSpPr txBox="1"/>
          <p:nvPr/>
        </p:nvSpPr>
        <p:spPr>
          <a:xfrm>
            <a:off x="925372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Archetypes permitted</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Integrated propositions first. A single-pillar offer is recorded as a variant, not as its own row.</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sizing and pricing</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3 · Delivery and economics · one row per proposition.</a:t>
            </a:r>
            <a:endParaRPr lang="en-US" sz="14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377440"/>
                <a:gridCol w="2926080"/>
                <a:gridCol w="1828800"/>
                <a:gridCol w="1920240"/>
                <a:gridCol w="182880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drives scope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Typical deal size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 price band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a:t>
            </a:r>
            <a:endParaRPr lang="en-US" sz="1150" dirty="0"/>
          </a:p>
        </p:txBody>
      </p:sp>
      <p:sp>
        <p:nvSpPr>
          <p:cNvPr id="7" name="Text 4"/>
          <p:cNvSpPr txBox="1"/>
          <p:nvPr/>
        </p:nvSpPr>
        <p:spPr>
          <a:xfrm>
            <a:off x="3127248" y="1965960"/>
            <a:ext cx="27432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drives scope</a:t>
            </a:r>
            <a:endParaRPr lang="en-US" sz="1150" dirty="0"/>
          </a:p>
        </p:txBody>
      </p:sp>
      <p:sp>
        <p:nvSpPr>
          <p:cNvPr id="8" name="Text 5"/>
          <p:cNvSpPr txBox="1"/>
          <p:nvPr/>
        </p:nvSpPr>
        <p:spPr>
          <a:xfrm>
            <a:off x="605332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Typical deal size</a:t>
            </a:r>
            <a:endParaRPr lang="en-US" sz="1150" dirty="0"/>
          </a:p>
        </p:txBody>
      </p:sp>
      <p:sp>
        <p:nvSpPr>
          <p:cNvPr id="9" name="Text 6"/>
          <p:cNvSpPr txBox="1"/>
          <p:nvPr/>
        </p:nvSpPr>
        <p:spPr>
          <a:xfrm>
            <a:off x="788212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 price band</a:t>
            </a:r>
            <a:endParaRPr lang="en-US" sz="1150" dirty="0"/>
          </a:p>
        </p:txBody>
      </p:sp>
      <p:sp>
        <p:nvSpPr>
          <p:cNvPr id="10" name="Text 7"/>
          <p:cNvSpPr txBox="1"/>
          <p:nvPr/>
        </p:nvSpPr>
        <p:spPr>
          <a:xfrm>
            <a:off x="980236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Notes</a:t>
            </a:r>
            <a:endParaRPr lang="en-US" sz="1150" dirty="0"/>
          </a:p>
        </p:txBody>
      </p:sp>
      <p:sp>
        <p:nvSpPr>
          <p:cNvPr id="11" name="Text 8"/>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Bands, not point prices. Name the drivers that move the number.</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proposition economics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3 · Delivery and economics · one row per proposition.</a:t>
            </a:r>
            <a:endParaRPr lang="en-US" sz="14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920240"/>
                <a:gridCol w="2103120"/>
                <a:gridCol w="1554480"/>
                <a:gridCol w="914400"/>
                <a:gridCol w="1005840"/>
                <a:gridCol w="914400"/>
                <a:gridCol w="1371600"/>
                <a:gridCol w="10972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Assets and accelerators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Price basis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On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Near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Off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Blended ADR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 GM</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a:t>
            </a:r>
            <a:endParaRPr lang="en-US" sz="1150" dirty="0"/>
          </a:p>
        </p:txBody>
      </p:sp>
      <p:sp>
        <p:nvSpPr>
          <p:cNvPr id="7" name="Text 4"/>
          <p:cNvSpPr txBox="1"/>
          <p:nvPr/>
        </p:nvSpPr>
        <p:spPr>
          <a:xfrm>
            <a:off x="267004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Assets and accelerators</a:t>
            </a:r>
            <a:endParaRPr lang="en-US" sz="1150" dirty="0"/>
          </a:p>
        </p:txBody>
      </p:sp>
      <p:sp>
        <p:nvSpPr>
          <p:cNvPr id="8" name="Text 5"/>
          <p:cNvSpPr txBox="1"/>
          <p:nvPr/>
        </p:nvSpPr>
        <p:spPr>
          <a:xfrm>
            <a:off x="477316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Price basis</a:t>
            </a:r>
            <a:endParaRPr lang="en-US" sz="1150" dirty="0"/>
          </a:p>
        </p:txBody>
      </p:sp>
      <p:sp>
        <p:nvSpPr>
          <p:cNvPr id="9" name="Text 6"/>
          <p:cNvSpPr txBox="1"/>
          <p:nvPr/>
        </p:nvSpPr>
        <p:spPr>
          <a:xfrm>
            <a:off x="6327648" y="1965960"/>
            <a:ext cx="7315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On %</a:t>
            </a:r>
            <a:endParaRPr lang="en-US" sz="1150" dirty="0"/>
          </a:p>
        </p:txBody>
      </p:sp>
      <p:sp>
        <p:nvSpPr>
          <p:cNvPr id="10" name="Text 7"/>
          <p:cNvSpPr txBox="1"/>
          <p:nvPr/>
        </p:nvSpPr>
        <p:spPr>
          <a:xfrm>
            <a:off x="7242048" y="1965960"/>
            <a:ext cx="8229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Near %</a:t>
            </a:r>
            <a:endParaRPr lang="en-US" sz="1150" dirty="0"/>
          </a:p>
        </p:txBody>
      </p:sp>
      <p:sp>
        <p:nvSpPr>
          <p:cNvPr id="11" name="Text 8"/>
          <p:cNvSpPr txBox="1"/>
          <p:nvPr/>
        </p:nvSpPr>
        <p:spPr>
          <a:xfrm>
            <a:off x="8247888" y="1965960"/>
            <a:ext cx="7315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Off %</a:t>
            </a:r>
            <a:endParaRPr lang="en-US" sz="1150" dirty="0"/>
          </a:p>
        </p:txBody>
      </p:sp>
      <p:sp>
        <p:nvSpPr>
          <p:cNvPr id="12" name="Text 9"/>
          <p:cNvSpPr txBox="1"/>
          <p:nvPr/>
        </p:nvSpPr>
        <p:spPr>
          <a:xfrm>
            <a:off x="916228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Blended ADR</a:t>
            </a:r>
            <a:endParaRPr lang="en-US" sz="1150" dirty="0"/>
          </a:p>
        </p:txBody>
      </p:sp>
      <p:sp>
        <p:nvSpPr>
          <p:cNvPr id="13" name="Text 10"/>
          <p:cNvSpPr txBox="1"/>
          <p:nvPr/>
        </p:nvSpPr>
        <p:spPr>
          <a:xfrm>
            <a:off x="1053388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 GM</a:t>
            </a:r>
            <a:endParaRPr lang="en-US" sz="1150" dirty="0"/>
          </a:p>
        </p:txBody>
      </p:sp>
      <p:sp>
        <p:nvSpPr>
          <p:cNvPr id="14" name="Text 11"/>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Assets are what make the construct hold: reuse raises margin at the same price and shortens time to value.</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revenue targets</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3 · Delivery and economics · one row per market.</a:t>
            </a:r>
            <a:endParaRPr lang="en-US" sz="14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737360"/>
                <a:gridCol w="1463040"/>
                <a:gridCol w="1828800"/>
                <a:gridCol w="1554480"/>
                <a:gridCol w="1920240"/>
                <a:gridCol w="1280160"/>
                <a:gridCol w="10972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Industry Solutions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AI and Data</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Engineering</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Integrated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15544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a:t>
            </a:r>
            <a:endParaRPr lang="en-US" sz="1150" dirty="0"/>
          </a:p>
        </p:txBody>
      </p:sp>
      <p:sp>
        <p:nvSpPr>
          <p:cNvPr id="7" name="Text 4"/>
          <p:cNvSpPr txBox="1"/>
          <p:nvPr/>
        </p:nvSpPr>
        <p:spPr>
          <a:xfrm>
            <a:off x="248716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Sector</a:t>
            </a:r>
            <a:endParaRPr lang="en-US" sz="1150" dirty="0"/>
          </a:p>
        </p:txBody>
      </p:sp>
      <p:sp>
        <p:nvSpPr>
          <p:cNvPr id="8" name="Text 5"/>
          <p:cNvSpPr txBox="1"/>
          <p:nvPr/>
        </p:nvSpPr>
        <p:spPr>
          <a:xfrm>
            <a:off x="395020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Industry Solutions</a:t>
            </a:r>
            <a:endParaRPr lang="en-US" sz="1150" dirty="0"/>
          </a:p>
        </p:txBody>
      </p:sp>
      <p:sp>
        <p:nvSpPr>
          <p:cNvPr id="9" name="Text 6"/>
          <p:cNvSpPr txBox="1"/>
          <p:nvPr/>
        </p:nvSpPr>
        <p:spPr>
          <a:xfrm>
            <a:off x="577900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AI and Data</a:t>
            </a:r>
            <a:endParaRPr lang="en-US" sz="1150" dirty="0"/>
          </a:p>
        </p:txBody>
      </p:sp>
      <p:sp>
        <p:nvSpPr>
          <p:cNvPr id="10" name="Text 7"/>
          <p:cNvSpPr txBox="1"/>
          <p:nvPr/>
        </p:nvSpPr>
        <p:spPr>
          <a:xfrm>
            <a:off x="733348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Engineering</a:t>
            </a:r>
            <a:endParaRPr lang="en-US" sz="1150" dirty="0"/>
          </a:p>
        </p:txBody>
      </p:sp>
      <p:sp>
        <p:nvSpPr>
          <p:cNvPr id="11" name="Text 8"/>
          <p:cNvSpPr txBox="1"/>
          <p:nvPr/>
        </p:nvSpPr>
        <p:spPr>
          <a:xfrm>
            <a:off x="925372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Integrated</a:t>
            </a:r>
            <a:endParaRPr lang="en-US" sz="1150" dirty="0"/>
          </a:p>
        </p:txBody>
      </p:sp>
      <p:sp>
        <p:nvSpPr>
          <p:cNvPr id="12" name="Text 9"/>
          <p:cNvSpPr txBox="1"/>
          <p:nvPr/>
        </p:nvSpPr>
        <p:spPr>
          <a:xfrm>
            <a:off x="1053388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Total</a:t>
            </a:r>
            <a:endParaRPr lang="en-US" sz="1150" dirty="0"/>
          </a:p>
        </p:txBody>
      </p:sp>
      <p:sp>
        <p:nvSpPr>
          <p:cNvPr id="13" name="Text 10"/>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One row per market and sector. Reconciles to the account revenue plan and to capacity.</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team and talent</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3 · Delivery and economics · one row per role and level.</a:t>
            </a:r>
            <a:endParaRPr lang="en-US" sz="14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377440"/>
                <a:gridCol w="1828800"/>
                <a:gridCol w="1828800"/>
                <a:gridCol w="1280160"/>
                <a:gridCol w="1920240"/>
                <a:gridCol w="164592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Role and level</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Dedicated today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Shared available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Build, borrow or buy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By when</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 and level</a:t>
            </a:r>
            <a:endParaRPr lang="en-US" sz="1150" dirty="0"/>
          </a:p>
        </p:txBody>
      </p:sp>
      <p:sp>
        <p:nvSpPr>
          <p:cNvPr id="7" name="Text 4"/>
          <p:cNvSpPr txBox="1"/>
          <p:nvPr/>
        </p:nvSpPr>
        <p:spPr>
          <a:xfrm>
            <a:off x="312724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Dedicated today</a:t>
            </a:r>
            <a:endParaRPr lang="en-US" sz="1150" dirty="0"/>
          </a:p>
        </p:txBody>
      </p:sp>
      <p:sp>
        <p:nvSpPr>
          <p:cNvPr id="8" name="Text 5"/>
          <p:cNvSpPr txBox="1"/>
          <p:nvPr/>
        </p:nvSpPr>
        <p:spPr>
          <a:xfrm>
            <a:off x="4956048" y="1965960"/>
            <a:ext cx="16459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Shared available</a:t>
            </a:r>
            <a:endParaRPr lang="en-US" sz="1150" dirty="0"/>
          </a:p>
        </p:txBody>
      </p:sp>
      <p:sp>
        <p:nvSpPr>
          <p:cNvPr id="9" name="Text 6"/>
          <p:cNvSpPr txBox="1"/>
          <p:nvPr/>
        </p:nvSpPr>
        <p:spPr>
          <a:xfrm>
            <a:off x="678484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Gap</a:t>
            </a:r>
            <a:endParaRPr lang="en-US" sz="1150" dirty="0"/>
          </a:p>
        </p:txBody>
      </p:sp>
      <p:sp>
        <p:nvSpPr>
          <p:cNvPr id="10" name="Text 7"/>
          <p:cNvSpPr txBox="1"/>
          <p:nvPr/>
        </p:nvSpPr>
        <p:spPr>
          <a:xfrm>
            <a:off x="806500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Build, borrow or buy</a:t>
            </a:r>
            <a:endParaRPr lang="en-US" sz="1150" dirty="0"/>
          </a:p>
        </p:txBody>
      </p:sp>
      <p:sp>
        <p:nvSpPr>
          <p:cNvPr id="11" name="Text 8"/>
          <p:cNvSpPr txBox="1"/>
          <p:nvPr/>
        </p:nvSpPr>
        <p:spPr>
          <a:xfrm>
            <a:off x="9985248" y="1965960"/>
            <a:ext cx="14630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By when</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Dedicated means FSI-exclusive. Shared means time we can genuinely count on, not headcount that exists.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capability and enablement plan</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3 · Delivery and economics · one row per capability.</a:t>
            </a:r>
            <a:endParaRPr lang="en-US" sz="14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286000"/>
                <a:gridCol w="2194560"/>
                <a:gridCol w="1737360"/>
                <a:gridCol w="914400"/>
                <a:gridCol w="914400"/>
                <a:gridCol w="1463040"/>
                <a:gridCol w="137160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Capability or skill</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supports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Who needs it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Now</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Route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By when</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1031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Capability or skill</a:t>
            </a:r>
            <a:endParaRPr lang="en-US" sz="1150" dirty="0"/>
          </a:p>
        </p:txBody>
      </p:sp>
      <p:sp>
        <p:nvSpPr>
          <p:cNvPr id="7" name="Text 4"/>
          <p:cNvSpPr txBox="1"/>
          <p:nvPr/>
        </p:nvSpPr>
        <p:spPr>
          <a:xfrm>
            <a:off x="303580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it supports</a:t>
            </a:r>
            <a:endParaRPr lang="en-US" sz="1150" dirty="0"/>
          </a:p>
        </p:txBody>
      </p:sp>
      <p:sp>
        <p:nvSpPr>
          <p:cNvPr id="8" name="Text 5"/>
          <p:cNvSpPr txBox="1"/>
          <p:nvPr/>
        </p:nvSpPr>
        <p:spPr>
          <a:xfrm>
            <a:off x="5230368" y="1965960"/>
            <a:ext cx="15544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Who needs it</a:t>
            </a:r>
            <a:endParaRPr lang="en-US" sz="1150" dirty="0"/>
          </a:p>
        </p:txBody>
      </p:sp>
      <p:sp>
        <p:nvSpPr>
          <p:cNvPr id="9" name="Text 6"/>
          <p:cNvSpPr txBox="1"/>
          <p:nvPr/>
        </p:nvSpPr>
        <p:spPr>
          <a:xfrm>
            <a:off x="6967728" y="1965960"/>
            <a:ext cx="7315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Now</a:t>
            </a:r>
            <a:endParaRPr lang="en-US" sz="1150" dirty="0"/>
          </a:p>
        </p:txBody>
      </p:sp>
      <p:sp>
        <p:nvSpPr>
          <p:cNvPr id="10" name="Text 7"/>
          <p:cNvSpPr txBox="1"/>
          <p:nvPr/>
        </p:nvSpPr>
        <p:spPr>
          <a:xfrm>
            <a:off x="7882128" y="1965960"/>
            <a:ext cx="7315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p>
        </p:txBody>
      </p:sp>
      <p:sp>
        <p:nvSpPr>
          <p:cNvPr id="11" name="Text 8"/>
          <p:cNvSpPr txBox="1"/>
          <p:nvPr/>
        </p:nvSpPr>
        <p:spPr>
          <a:xfrm>
            <a:off x="879652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Route</a:t>
            </a:r>
            <a:endParaRPr lang="en-US" sz="1150" dirty="0"/>
          </a:p>
        </p:txBody>
      </p:sp>
      <p:sp>
        <p:nvSpPr>
          <p:cNvPr id="12" name="Text 9"/>
          <p:cNvSpPr txBox="1"/>
          <p:nvPr/>
        </p:nvSpPr>
        <p:spPr>
          <a:xfrm>
            <a:off x="1025956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By when</a:t>
            </a:r>
            <a:endParaRPr lang="en-US" sz="1150" dirty="0"/>
          </a:p>
        </p:txBody>
      </p:sp>
      <p:sp>
        <p:nvSpPr>
          <p:cNvPr id="13" name="Text 10"/>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Route: internal training, industry certification, alliance accreditation, or hire. Every row ends in a date.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alliance map</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4 · Route to market · one row per alliance.</a:t>
            </a:r>
            <a:endParaRPr lang="en-US" sz="14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1554480"/>
                <a:gridCol w="1371600"/>
                <a:gridCol w="1463040"/>
                <a:gridCol w="2834640"/>
                <a:gridCol w="1920240"/>
                <a:gridCol w="173736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Alliance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Propositions and sectors it sits behind</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Accounts it opens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we owe them</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Alliance</a:t>
            </a:r>
            <a:endParaRPr lang="en-US" sz="1150" dirty="0"/>
          </a:p>
        </p:txBody>
      </p:sp>
      <p:sp>
        <p:nvSpPr>
          <p:cNvPr id="7" name="Text 4"/>
          <p:cNvSpPr txBox="1"/>
          <p:nvPr/>
        </p:nvSpPr>
        <p:spPr>
          <a:xfrm>
            <a:off x="230428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p>
        </p:txBody>
      </p:sp>
      <p:sp>
        <p:nvSpPr>
          <p:cNvPr id="8" name="Text 5"/>
          <p:cNvSpPr txBox="1"/>
          <p:nvPr/>
        </p:nvSpPr>
        <p:spPr>
          <a:xfrm>
            <a:off x="367588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p>
        </p:txBody>
      </p:sp>
      <p:sp>
        <p:nvSpPr>
          <p:cNvPr id="9" name="Text 6"/>
          <p:cNvSpPr txBox="1"/>
          <p:nvPr/>
        </p:nvSpPr>
        <p:spPr>
          <a:xfrm>
            <a:off x="5138928" y="1965960"/>
            <a:ext cx="26517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Propositions and sectors it sits behind</a:t>
            </a:r>
            <a:endParaRPr lang="en-US" sz="1150" dirty="0"/>
          </a:p>
        </p:txBody>
      </p:sp>
      <p:sp>
        <p:nvSpPr>
          <p:cNvPr id="10" name="Text 7"/>
          <p:cNvSpPr txBox="1"/>
          <p:nvPr/>
        </p:nvSpPr>
        <p:spPr>
          <a:xfrm>
            <a:off x="7973568" y="1965960"/>
            <a:ext cx="17373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Accounts it opens</a:t>
            </a:r>
            <a:endParaRPr lang="en-US" sz="1150" dirty="0"/>
          </a:p>
        </p:txBody>
      </p:sp>
      <p:sp>
        <p:nvSpPr>
          <p:cNvPr id="11" name="Text 8"/>
          <p:cNvSpPr txBox="1"/>
          <p:nvPr/>
        </p:nvSpPr>
        <p:spPr>
          <a:xfrm>
            <a:off x="9893808" y="1965960"/>
            <a:ext cx="15544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we owe them</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Type: broad technology alliance, or specialised product vendor. Role: co-sell, resell, delivery or referral.</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eminence calendar</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Pillar 4 · Route to market · one row per planned activity.</a:t>
            </a:r>
            <a:endParaRPr lang="en-US" sz="14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103120"/>
                <a:gridCol w="1280160"/>
                <a:gridCol w="1554480"/>
                <a:gridCol w="2377440"/>
                <a:gridCol w="1280160"/>
                <a:gridCol w="1097280"/>
                <a:gridCol w="118872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Audience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 accounts or audience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19202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Activity</a:t>
            </a:r>
            <a:endParaRPr lang="en-US" sz="1150" dirty="0"/>
          </a:p>
        </p:txBody>
      </p:sp>
      <p:sp>
        <p:nvSpPr>
          <p:cNvPr id="7" name="Text 4"/>
          <p:cNvSpPr txBox="1"/>
          <p:nvPr/>
        </p:nvSpPr>
        <p:spPr>
          <a:xfrm>
            <a:off x="285292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Audience</a:t>
            </a:r>
            <a:endParaRPr lang="en-US" sz="1150" dirty="0"/>
          </a:p>
        </p:txBody>
      </p:sp>
      <p:sp>
        <p:nvSpPr>
          <p:cNvPr id="8" name="Text 5"/>
          <p:cNvSpPr txBox="1"/>
          <p:nvPr/>
        </p:nvSpPr>
        <p:spPr>
          <a:xfrm>
            <a:off x="4133088" y="1965960"/>
            <a:ext cx="13716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Channel</a:t>
            </a:r>
            <a:endParaRPr lang="en-US" sz="1150" dirty="0"/>
          </a:p>
        </p:txBody>
      </p:sp>
      <p:sp>
        <p:nvSpPr>
          <p:cNvPr id="9" name="Text 6"/>
          <p:cNvSpPr txBox="1"/>
          <p:nvPr/>
        </p:nvSpPr>
        <p:spPr>
          <a:xfrm>
            <a:off x="5687568" y="1965960"/>
            <a:ext cx="21945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 accounts or audience</a:t>
            </a:r>
            <a:endParaRPr lang="en-US" sz="1150" dirty="0"/>
          </a:p>
        </p:txBody>
      </p:sp>
      <p:sp>
        <p:nvSpPr>
          <p:cNvPr id="10" name="Text 7"/>
          <p:cNvSpPr txBox="1"/>
          <p:nvPr/>
        </p:nvSpPr>
        <p:spPr>
          <a:xfrm>
            <a:off x="8065008" y="1965960"/>
            <a:ext cx="10972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1" name="Text 8"/>
          <p:cNvSpPr txBox="1"/>
          <p:nvPr/>
        </p:nvSpPr>
        <p:spPr>
          <a:xfrm>
            <a:off x="9345168" y="1965960"/>
            <a:ext cx="9144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Date</a:t>
            </a:r>
            <a:endParaRPr lang="en-US" sz="1150" dirty="0"/>
          </a:p>
        </p:txBody>
      </p:sp>
      <p:sp>
        <p:nvSpPr>
          <p:cNvPr id="12" name="Text 9"/>
          <p:cNvSpPr txBox="1"/>
          <p:nvPr/>
        </p:nvSpPr>
        <p:spPr>
          <a:xfrm>
            <a:off x="10442448" y="1965960"/>
            <a:ext cx="10058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p>
        </p:txBody>
      </p:sp>
      <p:sp>
        <p:nvSpPr>
          <p:cNvPr id="13" name="Text 10"/>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Audience: external client market, or internal — FS partners and directors in other portfolios.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indent="0" marL="0">
              <a:buNone/>
            </a:pPr>
            <a:r>
              <a:rPr lang="en-US" sz="3600" b="1" dirty="0">
                <a:solidFill>
                  <a:srgbClr val="16203A"/>
                </a:solidFill>
                <a:latin typeface="Cambria" pitchFamily="34" charset="0"/>
                <a:ea typeface="Cambria" pitchFamily="34" charset="-122"/>
                <a:cs typeface="Cambria" pitchFamily="34" charset="-120"/>
              </a:rPr>
              <a:t>Template — execution scorecard</a:t>
            </a:r>
            <a:endParaRPr lang="en-US" sz="3600" dirty="0"/>
          </a:p>
        </p:txBody>
      </p:sp>
      <p:sp>
        <p:nvSpPr>
          <p:cNvPr id="3" name="Text 1"/>
          <p:cNvSpPr txBox="1"/>
          <p:nvPr/>
        </p:nvSpPr>
        <p:spPr>
          <a:xfrm>
            <a:off x="640080" y="1133856"/>
            <a:ext cx="10881360" cy="411480"/>
          </a:xfrm>
          <a:prstGeom prst="rect">
            <a:avLst/>
          </a:prstGeom>
          <a:noFill/>
          <a:ln/>
        </p:spPr>
        <p:txBody>
          <a:bodyPr wrap="square" lIns="0" tIns="0" rIns="0" bIns="0" rtlCol="0" anchor="ctr"/>
          <a:lstStyle/>
          <a:p>
            <a:pPr indent="0" marL="0">
              <a:buNone/>
            </a:pPr>
            <a:r>
              <a:rPr lang="en-US" sz="1450" dirty="0">
                <a:solidFill>
                  <a:srgbClr val="8792AB"/>
                </a:solidFill>
                <a:latin typeface="Calibri" pitchFamily="34" charset="0"/>
                <a:ea typeface="Calibri" pitchFamily="34" charset="-122"/>
                <a:cs typeface="Calibri" pitchFamily="34" charset="-120"/>
              </a:rPr>
              <a:t>The discipline · one row per measure.</a:t>
            </a:r>
            <a:endParaRPr lang="en-US" sz="14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2194560"/>
                <a:gridCol w="2926080"/>
                <a:gridCol w="1463040"/>
                <a:gridCol w="1371600"/>
                <a:gridCol w="1463040"/>
                <a:gridCol w="146304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it tells us</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Frequency</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Forum</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r h="548640">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4506B"/>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88900" marR="88900" marT="88900" marB="88900" anchor="ctr">
                    <a:lnL w="12700" cap="flat" cmpd="sng" algn="ctr">
                      <a:solidFill>
                        <a:srgbClr val="D8E0EE"/>
                      </a:solidFill>
                      <a:prstDash val="solid"/>
                      <a:round/>
                      <a:headEnd type="none" w="med" len="med"/>
                      <a:tailEnd type="none" w="med" len="med"/>
                    </a:lnL>
                    <a:lnR w="12700" cap="flat" cmpd="sng" algn="ctr">
                      <a:solidFill>
                        <a:srgbClr val="D8E0EE"/>
                      </a:solidFill>
                      <a:prstDash val="solid"/>
                      <a:round/>
                      <a:headEnd type="none" w="med" len="med"/>
                      <a:tailEnd type="none" w="med" len="med"/>
                    </a:lnR>
                    <a:lnT w="12700" cap="flat" cmpd="sng" algn="ctr">
                      <a:solidFill>
                        <a:srgbClr val="D8E0EE"/>
                      </a:solidFill>
                      <a:prstDash val="solid"/>
                      <a:round/>
                      <a:headEnd type="none" w="med" len="med"/>
                      <a:tailEnd type="none" w="med" len="med"/>
                    </a:lnT>
                    <a:lnB w="12700" cap="flat" cmpd="sng" algn="ctr">
                      <a:solidFill>
                        <a:srgbClr val="D8E0EE"/>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1965960"/>
            <a:ext cx="10881360" cy="420624"/>
          </a:xfrm>
          <a:prstGeom prst="rect">
            <a:avLst/>
          </a:prstGeom>
          <a:solidFill>
            <a:srgbClr val="1E2761"/>
          </a:solidFill>
          <a:ln/>
        </p:spPr>
      </p:sp>
      <p:sp>
        <p:nvSpPr>
          <p:cNvPr id="6" name="Text 3"/>
          <p:cNvSpPr txBox="1"/>
          <p:nvPr/>
        </p:nvSpPr>
        <p:spPr>
          <a:xfrm>
            <a:off x="749808" y="1965960"/>
            <a:ext cx="2011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p>
        </p:txBody>
      </p:sp>
      <p:sp>
        <p:nvSpPr>
          <p:cNvPr id="7" name="Text 4"/>
          <p:cNvSpPr txBox="1"/>
          <p:nvPr/>
        </p:nvSpPr>
        <p:spPr>
          <a:xfrm>
            <a:off x="2944368" y="1965960"/>
            <a:ext cx="274320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it tells us</a:t>
            </a:r>
            <a:endParaRPr lang="en-US" sz="1150" dirty="0"/>
          </a:p>
        </p:txBody>
      </p:sp>
      <p:sp>
        <p:nvSpPr>
          <p:cNvPr id="8" name="Text 5"/>
          <p:cNvSpPr txBox="1"/>
          <p:nvPr/>
        </p:nvSpPr>
        <p:spPr>
          <a:xfrm>
            <a:off x="587044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p>
        </p:txBody>
      </p:sp>
      <p:sp>
        <p:nvSpPr>
          <p:cNvPr id="9" name="Text 6"/>
          <p:cNvSpPr txBox="1"/>
          <p:nvPr/>
        </p:nvSpPr>
        <p:spPr>
          <a:xfrm>
            <a:off x="7333488" y="1965960"/>
            <a:ext cx="1188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Frequency</a:t>
            </a:r>
            <a:endParaRPr lang="en-US" sz="1150" dirty="0"/>
          </a:p>
        </p:txBody>
      </p:sp>
      <p:sp>
        <p:nvSpPr>
          <p:cNvPr id="10" name="Text 7"/>
          <p:cNvSpPr txBox="1"/>
          <p:nvPr/>
        </p:nvSpPr>
        <p:spPr>
          <a:xfrm>
            <a:off x="870508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p>
        </p:txBody>
      </p:sp>
      <p:sp>
        <p:nvSpPr>
          <p:cNvPr id="11" name="Text 8"/>
          <p:cNvSpPr txBox="1"/>
          <p:nvPr/>
        </p:nvSpPr>
        <p:spPr>
          <a:xfrm>
            <a:off x="10168128" y="1965960"/>
            <a:ext cx="128016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Forum</a:t>
            </a:r>
            <a:endParaRPr lang="en-US" sz="1150" dirty="0"/>
          </a:p>
        </p:txBody>
      </p:sp>
      <p:sp>
        <p:nvSpPr>
          <p:cNvPr id="12" name="Text 9"/>
          <p:cNvSpPr txBox="1"/>
          <p:nvPr/>
        </p:nvSpPr>
        <p:spPr>
          <a:xfrm>
            <a:off x="640080" y="5815584"/>
            <a:ext cx="10881360" cy="365760"/>
          </a:xfrm>
          <a:prstGeom prst="rect">
            <a:avLst/>
          </a:prstGeom>
          <a:noFill/>
          <a:ln/>
        </p:spPr>
        <p:txBody>
          <a:bodyPr wrap="square" lIns="0" tIns="0" rIns="0" bIns="0" rtlCol="0" anchor="ctr"/>
          <a:lstStyle/>
          <a:p>
            <a:pPr indent="0" marL="0">
              <a:buNone/>
            </a:pPr>
            <a:r>
              <a:rPr lang="en-US" sz="1200" i="1" dirty="0">
                <a:solidFill>
                  <a:srgbClr val="8792AB"/>
                </a:solidFill>
                <a:latin typeface="Calibri" pitchFamily="34" charset="0"/>
                <a:ea typeface="Calibri" pitchFamily="34" charset="-122"/>
                <a:cs typeface="Calibri" pitchFamily="34" charset="-120"/>
              </a:rPr>
              <a:t>Every measure has an owner and a forum. A measure nobody presents is a measure nobody acts 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EAI&amp;D — FSI Strategy Development Plan</dc:title>
  <dc:subject>PptxGenJS Presentation</dc:subject>
  <dc:creator>Engineering, AI and Data</dc:creator>
  <cp:lastModifiedBy>Engineering, AI and Data</cp:lastModifiedBy>
  <cp:revision>1</cp:revision>
  <dcterms:created xsi:type="dcterms:W3CDTF">2026-09-28T15:30:23Z</dcterms:created>
  <dcterms:modified xsi:type="dcterms:W3CDTF">2026-09-28T15:30:23Z</dcterms:modified>
</cp:coreProperties>
</file>