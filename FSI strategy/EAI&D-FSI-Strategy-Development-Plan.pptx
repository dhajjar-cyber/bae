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segment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segment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segment is not market — banking, funds and insurance are segments,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Segment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828800"/>
            <a:ext cx="3520440" cy="1280160"/>
          </a:xfrm>
          <a:prstGeom prst="roundRect">
            <a:avLst>
              <a:gd name="adj" fmla="val 7143"/>
            </a:avLst>
          </a:prstGeom>
          <a:solidFill>
            <a:srgbClr val="F2F6FC"/>
          </a:solidFill>
          <a:ln/>
        </p:spPr>
      </p:sp>
      <p:sp>
        <p:nvSpPr>
          <p:cNvPr id="5" name="Text 3"/>
          <p:cNvSpPr txBox="1"/>
          <p:nvPr/>
        </p:nvSpPr>
        <p:spPr>
          <a:xfrm>
            <a:off x="896112"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Portfolio</a:t>
            </a:r>
            <a:endParaRPr lang="en-US" sz="1500" dirty="0"/>
          </a:p>
        </p:txBody>
      </p:sp>
      <p:sp>
        <p:nvSpPr>
          <p:cNvPr id="6" name="Text 4"/>
          <p:cNvSpPr txBox="1"/>
          <p:nvPr/>
        </p:nvSpPr>
        <p:spPr>
          <a:xfrm>
            <a:off x="896112"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50" dirty="0"/>
          </a:p>
        </p:txBody>
      </p:sp>
      <p:sp>
        <p:nvSpPr>
          <p:cNvPr id="7" name="Shape 5"/>
          <p:cNvSpPr/>
          <p:nvPr/>
        </p:nvSpPr>
        <p:spPr>
          <a:xfrm>
            <a:off x="4325112" y="1828800"/>
            <a:ext cx="3520440" cy="1280160"/>
          </a:xfrm>
          <a:prstGeom prst="roundRect">
            <a:avLst>
              <a:gd name="adj" fmla="val 7143"/>
            </a:avLst>
          </a:prstGeom>
          <a:solidFill>
            <a:srgbClr val="EDF2FA"/>
          </a:solidFill>
          <a:ln/>
        </p:spPr>
      </p:sp>
      <p:sp>
        <p:nvSpPr>
          <p:cNvPr id="8" name="Text 6"/>
          <p:cNvSpPr txBox="1"/>
          <p:nvPr/>
        </p:nvSpPr>
        <p:spPr>
          <a:xfrm>
            <a:off x="4581144"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Offering</a:t>
            </a:r>
            <a:endParaRPr lang="en-US" sz="1500" dirty="0"/>
          </a:p>
        </p:txBody>
      </p:sp>
      <p:sp>
        <p:nvSpPr>
          <p:cNvPr id="9" name="Text 7"/>
          <p:cNvSpPr txBox="1"/>
          <p:nvPr/>
        </p:nvSpPr>
        <p:spPr>
          <a:xfrm>
            <a:off x="4581144"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50" dirty="0"/>
          </a:p>
        </p:txBody>
      </p:sp>
      <p:sp>
        <p:nvSpPr>
          <p:cNvPr id="10" name="Shape 8"/>
          <p:cNvSpPr/>
          <p:nvPr/>
        </p:nvSpPr>
        <p:spPr>
          <a:xfrm>
            <a:off x="8010144" y="1828800"/>
            <a:ext cx="3520440" cy="1280160"/>
          </a:xfrm>
          <a:prstGeom prst="roundRect">
            <a:avLst>
              <a:gd name="adj" fmla="val 7143"/>
            </a:avLst>
          </a:prstGeom>
          <a:solidFill>
            <a:srgbClr val="F2F6FC"/>
          </a:solidFill>
          <a:ln/>
        </p:spPr>
      </p:sp>
      <p:sp>
        <p:nvSpPr>
          <p:cNvPr id="11" name="Text 9"/>
          <p:cNvSpPr txBox="1"/>
          <p:nvPr/>
        </p:nvSpPr>
        <p:spPr>
          <a:xfrm>
            <a:off x="8266176"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Proposition</a:t>
            </a:r>
            <a:endParaRPr lang="en-US" sz="1500" dirty="0"/>
          </a:p>
        </p:txBody>
      </p:sp>
      <p:sp>
        <p:nvSpPr>
          <p:cNvPr id="12" name="Text 10"/>
          <p:cNvSpPr txBox="1"/>
          <p:nvPr/>
        </p:nvSpPr>
        <p:spPr>
          <a:xfrm>
            <a:off x="8266176"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50" dirty="0"/>
          </a:p>
        </p:txBody>
      </p:sp>
      <p:sp>
        <p:nvSpPr>
          <p:cNvPr id="13" name="Shape 11"/>
          <p:cNvSpPr/>
          <p:nvPr/>
        </p:nvSpPr>
        <p:spPr>
          <a:xfrm>
            <a:off x="640080" y="3291840"/>
            <a:ext cx="3520440" cy="1280160"/>
          </a:xfrm>
          <a:prstGeom prst="roundRect">
            <a:avLst>
              <a:gd name="adj" fmla="val 7143"/>
            </a:avLst>
          </a:prstGeom>
          <a:solidFill>
            <a:srgbClr val="EDF2FA"/>
          </a:solidFill>
          <a:ln/>
        </p:spPr>
      </p:sp>
      <p:sp>
        <p:nvSpPr>
          <p:cNvPr id="14" name="Text 12"/>
          <p:cNvSpPr txBox="1"/>
          <p:nvPr/>
        </p:nvSpPr>
        <p:spPr>
          <a:xfrm>
            <a:off x="896112"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Archetype</a:t>
            </a:r>
            <a:endParaRPr lang="en-US" sz="1500" dirty="0"/>
          </a:p>
        </p:txBody>
      </p:sp>
      <p:sp>
        <p:nvSpPr>
          <p:cNvPr id="15" name="Text 13"/>
          <p:cNvSpPr txBox="1"/>
          <p:nvPr/>
        </p:nvSpPr>
        <p:spPr>
          <a:xfrm>
            <a:off x="896112"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recognised shape a proposition takes — by scope, segment or delivery model. Each carries its own economics.</a:t>
            </a:r>
            <a:endParaRPr lang="en-US" sz="1050" dirty="0"/>
          </a:p>
        </p:txBody>
      </p:sp>
      <p:sp>
        <p:nvSpPr>
          <p:cNvPr id="16" name="Shape 14"/>
          <p:cNvSpPr/>
          <p:nvPr/>
        </p:nvSpPr>
        <p:spPr>
          <a:xfrm>
            <a:off x="4325112" y="3291840"/>
            <a:ext cx="3520440" cy="1280160"/>
          </a:xfrm>
          <a:prstGeom prst="roundRect">
            <a:avLst>
              <a:gd name="adj" fmla="val 7143"/>
            </a:avLst>
          </a:prstGeom>
          <a:solidFill>
            <a:srgbClr val="F2F6FC"/>
          </a:solidFill>
          <a:ln/>
        </p:spPr>
      </p:sp>
      <p:sp>
        <p:nvSpPr>
          <p:cNvPr id="17" name="Text 15"/>
          <p:cNvSpPr txBox="1"/>
          <p:nvPr/>
        </p:nvSpPr>
        <p:spPr>
          <a:xfrm>
            <a:off x="4581144"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Use case</a:t>
            </a:r>
            <a:endParaRPr lang="en-US" sz="1500" dirty="0"/>
          </a:p>
        </p:txBody>
      </p:sp>
      <p:sp>
        <p:nvSpPr>
          <p:cNvPr id="18" name="Text 16"/>
          <p:cNvSpPr txBox="1"/>
          <p:nvPr/>
        </p:nvSpPr>
        <p:spPr>
          <a:xfrm>
            <a:off x="4581144"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50" dirty="0"/>
          </a:p>
        </p:txBody>
      </p:sp>
      <p:sp>
        <p:nvSpPr>
          <p:cNvPr id="19" name="Shape 17"/>
          <p:cNvSpPr/>
          <p:nvPr/>
        </p:nvSpPr>
        <p:spPr>
          <a:xfrm>
            <a:off x="8010144" y="3291840"/>
            <a:ext cx="3520440" cy="1280160"/>
          </a:xfrm>
          <a:prstGeom prst="roundRect">
            <a:avLst>
              <a:gd name="adj" fmla="val 7143"/>
            </a:avLst>
          </a:prstGeom>
          <a:solidFill>
            <a:srgbClr val="EDF2FA"/>
          </a:solidFill>
          <a:ln/>
        </p:spPr>
      </p:sp>
      <p:sp>
        <p:nvSpPr>
          <p:cNvPr id="20" name="Text 18"/>
          <p:cNvSpPr txBox="1"/>
          <p:nvPr/>
        </p:nvSpPr>
        <p:spPr>
          <a:xfrm>
            <a:off x="8266176"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Segment</a:t>
            </a:r>
            <a:endParaRPr lang="en-US" sz="1500" dirty="0"/>
          </a:p>
        </p:txBody>
      </p:sp>
      <p:sp>
        <p:nvSpPr>
          <p:cNvPr id="21" name="Text 19"/>
          <p:cNvSpPr txBox="1"/>
          <p:nvPr/>
        </p:nvSpPr>
        <p:spPr>
          <a:xfrm>
            <a:off x="8266176"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50" dirty="0"/>
          </a:p>
        </p:txBody>
      </p:sp>
      <p:sp>
        <p:nvSpPr>
          <p:cNvPr id="22" name="Shape 20"/>
          <p:cNvSpPr/>
          <p:nvPr/>
        </p:nvSpPr>
        <p:spPr>
          <a:xfrm>
            <a:off x="640080" y="4754880"/>
            <a:ext cx="3520440" cy="1280160"/>
          </a:xfrm>
          <a:prstGeom prst="roundRect">
            <a:avLst>
              <a:gd name="adj" fmla="val 7143"/>
            </a:avLst>
          </a:prstGeom>
          <a:solidFill>
            <a:srgbClr val="F2F6FC"/>
          </a:solidFill>
          <a:ln/>
        </p:spPr>
      </p:sp>
      <p:sp>
        <p:nvSpPr>
          <p:cNvPr id="23" name="Text 21"/>
          <p:cNvSpPr txBox="1"/>
          <p:nvPr/>
        </p:nvSpPr>
        <p:spPr>
          <a:xfrm>
            <a:off x="896112"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Market</a:t>
            </a:r>
            <a:endParaRPr lang="en-US" sz="1500" dirty="0"/>
          </a:p>
        </p:txBody>
      </p:sp>
      <p:sp>
        <p:nvSpPr>
          <p:cNvPr id="24" name="Text 22"/>
          <p:cNvSpPr txBox="1"/>
          <p:nvPr/>
        </p:nvSpPr>
        <p:spPr>
          <a:xfrm>
            <a:off x="896112"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country we sell into, each tiered one or two.</a:t>
            </a:r>
            <a:endParaRPr lang="en-US" sz="1050" dirty="0"/>
          </a:p>
        </p:txBody>
      </p:sp>
      <p:sp>
        <p:nvSpPr>
          <p:cNvPr id="25" name="Shape 23"/>
          <p:cNvSpPr/>
          <p:nvPr/>
        </p:nvSpPr>
        <p:spPr>
          <a:xfrm>
            <a:off x="4325112" y="4754880"/>
            <a:ext cx="3520440" cy="1280160"/>
          </a:xfrm>
          <a:prstGeom prst="roundRect">
            <a:avLst>
              <a:gd name="adj" fmla="val 7143"/>
            </a:avLst>
          </a:prstGeom>
          <a:solidFill>
            <a:srgbClr val="EDF2FA"/>
          </a:solidFill>
          <a:ln/>
        </p:spPr>
      </p:sp>
      <p:sp>
        <p:nvSpPr>
          <p:cNvPr id="26" name="Text 24"/>
          <p:cNvSpPr txBox="1"/>
          <p:nvPr/>
        </p:nvSpPr>
        <p:spPr>
          <a:xfrm>
            <a:off x="4581144"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Account plan</a:t>
            </a:r>
            <a:endParaRPr lang="en-US" sz="1500" dirty="0"/>
          </a:p>
        </p:txBody>
      </p:sp>
      <p:sp>
        <p:nvSpPr>
          <p:cNvPr id="27" name="Text 25"/>
          <p:cNvSpPr txBox="1"/>
          <p:nvPr/>
        </p:nvSpPr>
        <p:spPr>
          <a:xfrm>
            <a:off x="4581144"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50" dirty="0"/>
          </a:p>
        </p:txBody>
      </p:sp>
      <p:sp>
        <p:nvSpPr>
          <p:cNvPr id="28" name="Shape 26"/>
          <p:cNvSpPr/>
          <p:nvPr/>
        </p:nvSpPr>
        <p:spPr>
          <a:xfrm>
            <a:off x="8010144" y="4754880"/>
            <a:ext cx="3520440" cy="1280160"/>
          </a:xfrm>
          <a:prstGeom prst="roundRect">
            <a:avLst>
              <a:gd name="adj" fmla="val 7143"/>
            </a:avLst>
          </a:prstGeom>
          <a:solidFill>
            <a:srgbClr val="F2F6FC"/>
          </a:solidFill>
          <a:ln/>
        </p:spPr>
      </p:sp>
      <p:sp>
        <p:nvSpPr>
          <p:cNvPr id="29" name="Text 27"/>
          <p:cNvSpPr txBox="1"/>
          <p:nvPr/>
        </p:nvSpPr>
        <p:spPr>
          <a:xfrm>
            <a:off x="8266176"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Pillar</a:t>
            </a:r>
            <a:endParaRPr lang="en-US" sz="1500" dirty="0"/>
          </a:p>
        </p:txBody>
      </p:sp>
      <p:sp>
        <p:nvSpPr>
          <p:cNvPr id="30" name="Text 28"/>
          <p:cNvSpPr txBox="1"/>
          <p:nvPr/>
        </p:nvSpPr>
        <p:spPr>
          <a:xfrm>
            <a:off x="8266176"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section of this strategy: market and clients, propositions, delivery and economics, route to market.</a:t>
            </a:r>
            <a:endParaRPr lang="en-US" sz="1050" dirty="0"/>
          </a:p>
        </p:txBody>
      </p:sp>
      <p:sp>
        <p:nvSpPr>
          <p:cNvPr id="31" name="Shape 29"/>
          <p:cNvSpPr/>
          <p:nvPr/>
        </p:nvSpPr>
        <p:spPr>
          <a:xfrm>
            <a:off x="640080" y="6172200"/>
            <a:ext cx="10881360" cy="548640"/>
          </a:xfrm>
          <a:prstGeom prst="roundRect">
            <a:avLst>
              <a:gd name="adj" fmla="val 16667"/>
            </a:avLst>
          </a:prstGeom>
          <a:solidFill>
            <a:srgbClr val="1E2761"/>
          </a:solidFill>
          <a:ln/>
        </p:spPr>
      </p:sp>
      <p:sp>
        <p:nvSpPr>
          <p:cNvPr id="32" name="Text 30"/>
          <p:cNvSpPr txBox="1"/>
          <p:nvPr/>
        </p:nvSpPr>
        <p:spPr>
          <a:xfrm>
            <a:off x="914400" y="6172200"/>
            <a:ext cx="10332720" cy="5486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 focused by exception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practices.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2026-09-28T15:28:40Z</dcterms:created>
  <dcterms:modified xsi:type="dcterms:W3CDTF">2026-09-28T15:28:40Z</dcterms:modified>
</cp:coreProperties>
</file>