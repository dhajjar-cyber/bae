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EAI&amp;D is a portfolio serving several industries, and it already has its own strategy. This is the financial services cut of it, not a parallel strategy, and the pack says so early so nobody reads it as the portfolio going its own way.
Three relationships to keep straight:
Inherited — the portfolio vision and direction, the standard delivery model and quality bars, the alliance framework and partner tiers, the talent and career model, and the financial targets cascaded to us. We confirm these rather than reinvent them; the cycle should not spend time re-deciding them.
Set here — what is genuinely industry-specific: segments and their priority, markets and tiering, named accounts and coverage, FSI propositions and their flavours, segment-specific alliances such as core platform vendors, eminence in this industry, and the capability, certification and hiring asks that follow.
Fed back — the part usually forgotten. Assets and accelerators built for FSI that other industries can reuse; demand signals that should shape portfolio investment; alliance leverage earned through our volume; and, honestly, where the portfolio strategy constrains what we could otherwise do here.
Practical step for the cycle: put the current portfolio strategy in front of the team at kick-off, and add alignment to the sign-off checklist. Where this strategy diverges — a different segment priority, an alliance the portfolio has not signed, an offering outside the standard catalogue — that is an escalation, not a footnote.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the EAI&amp;D strategy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FSI is one industry strategy inside the EAI&amp;D portfolio strategy — not a parallel one.</a:t>
            </a:r>
            <a:endParaRPr lang="en-US" sz="1450" dirty="0"/>
          </a:p>
        </p:txBody>
      </p:sp>
      <p:sp>
        <p:nvSpPr>
          <p:cNvPr id="4" name="Shape 2"/>
          <p:cNvSpPr/>
          <p:nvPr/>
        </p:nvSpPr>
        <p:spPr>
          <a:xfrm>
            <a:off x="640080" y="1783080"/>
            <a:ext cx="10881360" cy="777240"/>
          </a:xfrm>
          <a:prstGeom prst="roundRect">
            <a:avLst>
              <a:gd name="adj" fmla="val 11765"/>
            </a:avLst>
          </a:prstGeom>
          <a:solidFill>
            <a:srgbClr val="1E2761"/>
          </a:solidFill>
          <a:ln/>
        </p:spPr>
      </p:sp>
      <p:sp>
        <p:nvSpPr>
          <p:cNvPr id="5" name="Text 3"/>
          <p:cNvSpPr txBox="1"/>
          <p:nvPr/>
        </p:nvSpPr>
        <p:spPr>
          <a:xfrm>
            <a:off x="914400" y="1783080"/>
            <a:ext cx="3840480" cy="777240"/>
          </a:xfrm>
          <a:prstGeom prst="rect">
            <a:avLst/>
          </a:prstGeom>
          <a:noFill/>
          <a:ln/>
        </p:spPr>
        <p:txBody>
          <a:bodyPr wrap="square" lIns="0" tIns="0" rIns="0" bIns="0" rtlCol="0" anchor="ctr"/>
          <a:lstStyle/>
          <a:p>
            <a:pPr indent="0" marL="0">
              <a:buNone/>
            </a:pPr>
            <a:r>
              <a:rPr lang="en-US" sz="1250" b="1" spc="120" kern="0" dirty="0">
                <a:solidFill>
                  <a:srgbClr val="CADCFC"/>
                </a:solidFill>
                <a:latin typeface="Calibri" pitchFamily="34" charset="0"/>
                <a:ea typeface="Calibri" pitchFamily="34" charset="-122"/>
                <a:cs typeface="Calibri" pitchFamily="34" charset="-120"/>
              </a:rPr>
              <a:t>EAI&amp;D PORTFOLIO STRATEGY</a:t>
            </a:r>
            <a:endParaRPr lang="en-US" sz="1250" dirty="0"/>
          </a:p>
        </p:txBody>
      </p:sp>
      <p:sp>
        <p:nvSpPr>
          <p:cNvPr id="6" name="Text 4"/>
          <p:cNvSpPr txBox="1"/>
          <p:nvPr/>
        </p:nvSpPr>
        <p:spPr>
          <a:xfrm>
            <a:off x="4846320" y="1783080"/>
            <a:ext cx="6400800" cy="7772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Engineering, AI and Data — across every industry we serve</a:t>
            </a:r>
            <a:endParaRPr lang="en-US" sz="1300" dirty="0"/>
          </a:p>
        </p:txBody>
      </p:sp>
      <p:sp>
        <p:nvSpPr>
          <p:cNvPr id="7" name="Shape 5"/>
          <p:cNvSpPr/>
          <p:nvPr/>
        </p:nvSpPr>
        <p:spPr>
          <a:xfrm>
            <a:off x="640080" y="2697480"/>
            <a:ext cx="5303520" cy="621792"/>
          </a:xfrm>
          <a:prstGeom prst="roundRect">
            <a:avLst>
              <a:gd name="adj" fmla="val 14706"/>
            </a:avLst>
          </a:prstGeom>
          <a:solidFill>
            <a:srgbClr val="3E5C8A"/>
          </a:solidFill>
          <a:ln/>
        </p:spPr>
      </p:sp>
      <p:sp>
        <p:nvSpPr>
          <p:cNvPr id="8" name="Text 6"/>
          <p:cNvSpPr txBox="1"/>
          <p:nvPr/>
        </p:nvSpPr>
        <p:spPr>
          <a:xfrm>
            <a:off x="640080" y="2697480"/>
            <a:ext cx="5303520" cy="621792"/>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Financial services — this strategy</a:t>
            </a:r>
            <a:endParaRPr lang="en-US" sz="1350" dirty="0"/>
          </a:p>
        </p:txBody>
      </p:sp>
      <p:sp>
        <p:nvSpPr>
          <p:cNvPr id="9" name="Shape 7"/>
          <p:cNvSpPr/>
          <p:nvPr/>
        </p:nvSpPr>
        <p:spPr>
          <a:xfrm>
            <a:off x="6217920" y="2697480"/>
            <a:ext cx="5303520" cy="621792"/>
          </a:xfrm>
          <a:prstGeom prst="roundRect">
            <a:avLst>
              <a:gd name="adj" fmla="val 14706"/>
            </a:avLst>
          </a:prstGeom>
          <a:solidFill>
            <a:srgbClr val="E4EBF7"/>
          </a:solidFill>
          <a:ln/>
        </p:spPr>
      </p:sp>
      <p:sp>
        <p:nvSpPr>
          <p:cNvPr id="10" name="Text 8"/>
          <p:cNvSpPr txBox="1"/>
          <p:nvPr/>
        </p:nvSpPr>
        <p:spPr>
          <a:xfrm>
            <a:off x="6217920" y="2697480"/>
            <a:ext cx="5303520" cy="621792"/>
          </a:xfrm>
          <a:prstGeom prst="rect">
            <a:avLst/>
          </a:prstGeom>
          <a:noFill/>
          <a:ln/>
        </p:spPr>
        <p:txBody>
          <a:bodyPr wrap="square" lIns="0" tIns="0" rIns="0" bIns="0" rtlCol="0" anchor="ctr"/>
          <a:lstStyle/>
          <a:p>
            <a:pPr algn="ctr" indent="0" marL="0">
              <a:buNone/>
            </a:pPr>
            <a:r>
              <a:rPr lang="en-US" sz="1350" b="1" dirty="0">
                <a:solidFill>
                  <a:srgbClr val="44506B"/>
                </a:solidFill>
                <a:latin typeface="Calibri" pitchFamily="34" charset="0"/>
                <a:ea typeface="Calibri" pitchFamily="34" charset="-122"/>
                <a:cs typeface="Calibri" pitchFamily="34" charset="-120"/>
              </a:rPr>
              <a:t>Other industry strategies</a:t>
            </a:r>
            <a:endParaRPr lang="en-US" sz="1350" dirty="0"/>
          </a:p>
        </p:txBody>
      </p:sp>
      <p:sp>
        <p:nvSpPr>
          <p:cNvPr id="11" name="Shape 9"/>
          <p:cNvSpPr/>
          <p:nvPr/>
        </p:nvSpPr>
        <p:spPr>
          <a:xfrm>
            <a:off x="640080" y="3520440"/>
            <a:ext cx="3520440" cy="2423160"/>
          </a:xfrm>
          <a:prstGeom prst="roundRect">
            <a:avLst>
              <a:gd name="adj" fmla="val 4528"/>
            </a:avLst>
          </a:prstGeom>
          <a:solidFill>
            <a:srgbClr val="EDF2FA"/>
          </a:solidFill>
          <a:ln/>
        </p:spPr>
      </p:sp>
      <p:sp>
        <p:nvSpPr>
          <p:cNvPr id="12" name="Shape 10"/>
          <p:cNvSpPr/>
          <p:nvPr/>
        </p:nvSpPr>
        <p:spPr>
          <a:xfrm>
            <a:off x="640080" y="3520440"/>
            <a:ext cx="3520440" cy="548640"/>
          </a:xfrm>
          <a:prstGeom prst="rect">
            <a:avLst/>
          </a:prstGeom>
          <a:solidFill>
            <a:srgbClr val="1E2761"/>
          </a:solidFill>
          <a:ln/>
        </p:spPr>
      </p:sp>
      <p:sp>
        <p:nvSpPr>
          <p:cNvPr id="13" name="Text 11"/>
          <p:cNvSpPr txBox="1"/>
          <p:nvPr/>
        </p:nvSpPr>
        <p:spPr>
          <a:xfrm>
            <a:off x="868680" y="352044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inherit</a:t>
            </a:r>
            <a:endParaRPr lang="en-US" sz="1400" dirty="0"/>
          </a:p>
        </p:txBody>
      </p:sp>
      <p:sp>
        <p:nvSpPr>
          <p:cNvPr id="14" name="Text 12"/>
          <p:cNvSpPr txBox="1"/>
          <p:nvPr/>
        </p:nvSpPr>
        <p:spPr>
          <a:xfrm>
            <a:off x="868680" y="4206240"/>
            <a:ext cx="30632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portfolio vision and direction of travel</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standard delivery model and quality bars</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alliance framework and partner tiers</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The talent and career model</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Financial targets cascaded to us</a:t>
            </a:r>
            <a:endParaRPr lang="en-US" sz="1050" dirty="0"/>
          </a:p>
        </p:txBody>
      </p:sp>
      <p:sp>
        <p:nvSpPr>
          <p:cNvPr id="15" name="Shape 13"/>
          <p:cNvSpPr/>
          <p:nvPr/>
        </p:nvSpPr>
        <p:spPr>
          <a:xfrm>
            <a:off x="4325112" y="3520440"/>
            <a:ext cx="3520440" cy="2423160"/>
          </a:xfrm>
          <a:prstGeom prst="roundRect">
            <a:avLst>
              <a:gd name="adj" fmla="val 4528"/>
            </a:avLst>
          </a:prstGeom>
          <a:solidFill>
            <a:srgbClr val="EDF2FA"/>
          </a:solidFill>
          <a:ln/>
        </p:spPr>
      </p:sp>
      <p:sp>
        <p:nvSpPr>
          <p:cNvPr id="16" name="Shape 14"/>
          <p:cNvSpPr/>
          <p:nvPr/>
        </p:nvSpPr>
        <p:spPr>
          <a:xfrm>
            <a:off x="4325112" y="3520440"/>
            <a:ext cx="3520440" cy="548640"/>
          </a:xfrm>
          <a:prstGeom prst="rect">
            <a:avLst/>
          </a:prstGeom>
          <a:solidFill>
            <a:srgbClr val="3E5C8A"/>
          </a:solidFill>
          <a:ln/>
        </p:spPr>
      </p:sp>
      <p:sp>
        <p:nvSpPr>
          <p:cNvPr id="17" name="Text 15"/>
          <p:cNvSpPr txBox="1"/>
          <p:nvPr/>
        </p:nvSpPr>
        <p:spPr>
          <a:xfrm>
            <a:off x="4553712" y="352044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set here</a:t>
            </a:r>
            <a:endParaRPr lang="en-US" sz="1400" dirty="0"/>
          </a:p>
        </p:txBody>
      </p:sp>
      <p:sp>
        <p:nvSpPr>
          <p:cNvPr id="18" name="Text 16"/>
          <p:cNvSpPr txBox="1"/>
          <p:nvPr/>
        </p:nvSpPr>
        <p:spPr>
          <a:xfrm>
            <a:off x="4553712" y="4206240"/>
            <a:ext cx="30632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Segments, markets and tiering</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Named accounts, coverage and revenue per account</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FSI propositions, use cases and flavours</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Segment alliances and industry eminence</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FSI capability, certification and hiring asks</a:t>
            </a:r>
            <a:endParaRPr lang="en-US" sz="1050" dirty="0"/>
          </a:p>
        </p:txBody>
      </p:sp>
      <p:sp>
        <p:nvSpPr>
          <p:cNvPr id="19" name="Shape 17"/>
          <p:cNvSpPr/>
          <p:nvPr/>
        </p:nvSpPr>
        <p:spPr>
          <a:xfrm>
            <a:off x="8010144" y="3520440"/>
            <a:ext cx="3520440" cy="2423160"/>
          </a:xfrm>
          <a:prstGeom prst="roundRect">
            <a:avLst>
              <a:gd name="adj" fmla="val 4528"/>
            </a:avLst>
          </a:prstGeom>
          <a:solidFill>
            <a:srgbClr val="EDF2FA"/>
          </a:solidFill>
          <a:ln/>
        </p:spPr>
      </p:sp>
      <p:sp>
        <p:nvSpPr>
          <p:cNvPr id="20" name="Shape 18"/>
          <p:cNvSpPr/>
          <p:nvPr/>
        </p:nvSpPr>
        <p:spPr>
          <a:xfrm>
            <a:off x="8010144" y="3520440"/>
            <a:ext cx="3520440" cy="548640"/>
          </a:xfrm>
          <a:prstGeom prst="rect">
            <a:avLst/>
          </a:prstGeom>
          <a:solidFill>
            <a:srgbClr val="1E2761"/>
          </a:solidFill>
          <a:ln/>
        </p:spPr>
      </p:sp>
      <p:sp>
        <p:nvSpPr>
          <p:cNvPr id="21" name="Text 19"/>
          <p:cNvSpPr txBox="1"/>
          <p:nvPr/>
        </p:nvSpPr>
        <p:spPr>
          <a:xfrm>
            <a:off x="8238744" y="3520440"/>
            <a:ext cx="3063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feed back</a:t>
            </a:r>
            <a:endParaRPr lang="en-US" sz="1400" dirty="0"/>
          </a:p>
        </p:txBody>
      </p:sp>
      <p:sp>
        <p:nvSpPr>
          <p:cNvPr id="22" name="Text 20"/>
          <p:cNvSpPr txBox="1"/>
          <p:nvPr/>
        </p:nvSpPr>
        <p:spPr>
          <a:xfrm>
            <a:off x="8238744" y="4206240"/>
            <a:ext cx="30632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Assets and accelerators other industries can reuse</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Demand signals into portfolio investment</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Alliance leverage earned through FSI volume</a:t>
            </a:r>
            <a:endParaRPr lang="en-US" sz="1050" dirty="0"/>
          </a:p>
          <a:p>
            <a:pPr marL="342900" indent="-342900">
              <a:spcAft>
                <a:spcPts val="500"/>
              </a:spcAft>
              <a:buSzPct val="100000"/>
              <a:buChar char="•"/>
            </a:pPr>
            <a:r>
              <a:rPr lang="en-US" sz="1050" dirty="0">
                <a:solidFill>
                  <a:srgbClr val="44506B"/>
                </a:solidFill>
                <a:latin typeface="Calibri" pitchFamily="34" charset="0"/>
                <a:ea typeface="Calibri" pitchFamily="34" charset="-122"/>
                <a:cs typeface="Calibri" pitchFamily="34" charset="-120"/>
              </a:rPr>
              <a:t>Where the portfolio strategy constrains us</a:t>
            </a:r>
            <a:endParaRPr lang="en-US" sz="1050" dirty="0"/>
          </a:p>
        </p:txBody>
      </p:sp>
      <p:sp>
        <p:nvSpPr>
          <p:cNvPr id="23" name="Text 21"/>
          <p:cNvSpPr txBox="1"/>
          <p:nvPr/>
        </p:nvSpPr>
        <p:spPr>
          <a:xfrm>
            <a:off x="640080" y="608076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Sign-off test: nothing here contradicts the portfolio strategy, and anything that diverges is named and escalated rather than quietly assumed.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practices?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current EAI&amp;D portfolio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the portfolio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2026-09-28T15:07:37Z</dcterms:created>
  <dcterms:modified xsi:type="dcterms:W3CDTF">2026-09-28T15:07:37Z</dcterms:modified>
</cp:coreProperties>
</file>