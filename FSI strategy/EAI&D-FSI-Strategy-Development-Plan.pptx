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EAI&amp;D: Engineering, AI and Data. It is a consulting portfolio — think technology advisory and delivery. We design, advise on and implement end-to-end technology transformation for the financial services industry. FSI here means three sectors, in priority order: banking first, then funds (sovereign wealth funds, national and development funds, fund and investment management), then insurance.
Three pillars:
1. Industry Solutions — core-led transformation: core modernisation and core platform packages, whatever the sector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sectors.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strategy has two parents, and both matter.
The EAI&amp;D portfolio strategy is the capability axis: it serves several industries and already sets our vision and direction, the delivery model and quality bars, the alliance framework and partner tiers, the talent model, and the financial targets cascaded to us. We confirm those rather than reinvent them.
The FSI industry strategy is the industry axis: the firm already has one, and it comes with its own account list and tiering, account leadership and partner-to-account mappings, governance forums and cadence, an eminence programme, and client relationship plans already running. That is not ours to duplicate.
What is genuinely ours sits at the intersection: how EAI&amp;D propositions land in those accounts, the economics of delivering them, sector platform alliances, FSI capability and certification, and our own revenue targets by account and offering.
The practical rule, and the one most likely to be broken: no parallel machinery. We do not build a second account plan next to the industry one, a second set of forums, or a separate eminence calendar. Our account view attaches to the existing account plan, our reviews sit inside the existing forums where they exist, and our eminence rides the industry programme, adding EAI&amp;D content rather than competing for the same audience.
Two things to confirm at kick-off: who owns the account relationship where the industry strategy has already named an account leader, and which forum our operating rhythm plugs into rather than replaces. Where the two parent strategies disagree — different sector priority, an alliance one supports and the other does not — that is an escalation, not something for this team to resolve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
The inclusion point matters as much as the ownership one. Each lead is the point of contact for the cycle, but they are also the conduit into their own offering: taking our emerging thinking to the FSI partners and directors there, collecting ideas we would otherwise miss, and testing conclusions before they harden. Two reasons. The obvious one is better content — the people in front of clients every week know things this group does not. The less obvious one is adoption: a strategy that arrives finished, from four people, gets complied with at best. One that people recognise their own input in gets used.
Practically: each lead runs at least one working conversation inside their offering during weeks one and two, and brings back what they heard. It is a standing item at the weekly checkpoint, not an optional courtesy.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the drivers before the words stops the discussion turning into a wordsmithing exercise, and stops later revisions quietly trading one theme away for another.
Two of them carry most of the weight and deserve to be explained in the room.
Complexity, handled: our real competition is not another integrated pitch. It is the institution doing it internally, and the lower-cost integrator quoting half the price. Neither can absorb a multi-stream, regulated, interconnected programme. We say that through words like landed, on time, cannot afford to get wrong — never by claiming we carry or underwrite the risk, which starts a procurement and legal conversation the vision should not start.
AI at the core, not on the badge: AI-native is oversubscribed and clients have heard it from everyone. Leading with it makes us sound like the crowd; putting it late and proving it makes it credible. It shows up twice in practice — in what we build for the client, and in how we deliver, through assets, accelerators and AI-assisted engineering.
The remaining four are straightforward but non-negotiable: end-to-end accountability including alliances, acceleration, both halves of the institution, and all three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sectors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sectors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sector,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Archetypes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sectors, in this priority order.
1. Banking — the priority sector,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sector rather than per industry: a core banking reference does not win a policy administration programme.
Practical consequence for the cycle: sector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sector.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principle made concrete, and the examples are the clearest way to settle the argument.
A greenfield digital bank setup pulls from every practice: the core platform and functional design from Industry Solutions, the data foundation and intelligence from AI and Data, the integration layer, cloud and channels from Engineering. Nobody sells that as three engagements.
A cloud migration strategy will never span beyond Engineering, and pretending otherwise to satisfy a principle makes us look like we are padding. It is a legitimate focused offering.
So the rule has two halves. Integrated is the default: the catalogue is built as cross-practice propositions, and that is what we lead with. Focused offerings stay in the catalogue where the work genuinely does not span, and they are sold as an entry point into a larger relationship rather than as the whole of it.
Two practical consequences for the cycle. First, every proposition in the catalogue records which practices it involves, which is why the catalogue template has that column. Second, a focused offering should carry a named follow-on: what it typically opens next. A focused sale with no onward path is just a small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sector.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differentiation argument was living only in speaker notes, which is where arguments go to die. It belongs on the page, because every pursuit runs into one of these four alternatives.
It can be said without ever using the word risk: complex, multi-stream, regulated change lands with us and stalls elsewhere. That is a claim about judgement and accountability, not a contractual promise.
The honest half is the bottom of the slide. An argument without evidence is a boast, and the evidence is where we are thin — particularly sector credentials in funds and insurance, and assets a client can actually see working. Naming that gap here is what turns it into an initiative rather than a slide.
Worth rehearsing as a team: each alternative needs a different counter. Against an internal team it is capacity and governance; against a low-cost integrator it is what happens when the programme moves; against a product vendor it is everything around the platform; against a global SI it is depth and presence. Lost pursuits usually mean the wrong counter was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sector priorities imply, the insurance core and fund platform vendors where we currently hold nothing. These are offering-level and sector-level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sector and by segment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team actually works inside the sprint, and the answer to a fair question: if everything has to be integrated, how do four people cover this much ground in three weeks?
Divide. Each offering lead works their own view first, because that is where the knowledge is: what we sell today, which accounts we serve, what capability we hold, and — the important part — where their offering could extend into something larger. That is a single-offering lens deliberately, and it is faster than trying to think integrated from a blank page.
Converge. We come together to abstract and refactor: three overlapping proposition lists become one catalogue; three account views become an account-level play; near-duplicates get merged rather than all three surviving. This is where integration is actually created, and it needs to be a working session, not a report-back.
The rhythm is weekly, not once: diverge early in the week, converge before it closes, so nothing carries over un-merged. It applies through Baseline, Define and Quantify — Mobilise and Commit are collective by nature.
One warning. Convergence is where the integrated-not-siloed principle is either honoured or quietly abandoned. If the converged output is still recognisably three lists stapled together, the session has not done its job — and that is worth calling out in the room rather than at sign-off.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sectors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archetypes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sectors,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calendar behind the three weeks, at the three levels that matter. Indicative durations rather than fixed: a kick-off of half a day, working sessions of ninety minutes to two hours, gates of an hour, sign-off of two hours.
Core team is the four leads and whoever they pull in per workstream. This is where the work is actually done, and it is the heaviest load in weeks one and two.
Offering level is the conduit role made concrete. In week one it is an ideas session inside each offering, deliberately before conclusions harden. In week two it is a validation session on the emerging catalogue and account list. In week three it is a read-out so nobody is surprised at sign-off. After sign-off it becomes the socialisation session per offering.
Leadership is deliberately light: attendance at kick-off, two gates, sign-off, then the monthly review. Gates need decisions, not presentations, so pre-reads go out the day before and the session opens on the open questions.
Two scheduling realities to plan around: get the offering-level sessions in the calendar during kick-off week, since partner diaries in this region fill weeks ahead; and hold the gates on a fixed day each week so they cannot drift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and honest. A three-week cycle fails in predictable ways, and naming them at kick-off costs nothing.
The two that matter most: inputs arriving late, which is the most common cause of a compressed cycle slipping, and gates being deferred. A gate is a decision taken with the information available, not a decision waited for. If one cannot close, escalate at the checkpoint rather than letting the week drift.
Two items here are not really risks and should move to the initiative register as soon as they are confirmed: the missing platform alliances in funds and insurance, and whatever credential gaps the baseline exposes. Neither can be solved inside three weeks, and pretending otherwise is how a strategy ends up carrying commitments nobody can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cycle produces decisions, but several of them imply work that cannot finish in three weeks. Naming those as initiatives, with an owner and a date, is what stops the strategy becoming a document that describes an intention nobody is building.
The flagship one is proposal and orals quality, and it is worth stating plainly because it is a live complaint about our own work rather than a theoretical gap.
What good looks like on proposals: a reusable foundation rather than a blank page every time — a modular content library of proposition descriptions, credentials, CVs and case studies kept current; storyline patterns that carry a narrative rather than a list of capabilities; differentiation proof points that answer why us and not an internal team or a cheaper integrator; and a way to bring the whole firm into the answer rather than only our portfolio. The outcome is speed and polish at the same time: assembled, not written.
What good looks like on orals: show, do not tell. Demos of the assets and accelerators, showcases of comparable work, a walk through what the first ninety days actually look like — not a deck read aloud. Rehearsed, with the people who will deliver in the room.
The other initiatives fall out of the pillars: assets and accelerators behind the committed propositions; capability and certification gaps closed by level; alliance activation, especially the funds and insurance platform gap; the eminence calendar stood up; and the tier one account list turned into live pursuits inside the existing account plans.
Mechanics: the register is built in week three as part of the activation plan, each initiative carries pillar, owner, outcome, milestone and date, and it is reviewed monthly alongside the numbers. Initiatives without an owner and a date are wishes.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template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Core-led transformation and core platform work across the three sectors, plus the full systems-integration role. Expect the longest-running propositions here, and the ones most likely to already be described differently by different partners.
Fill this before week one rather than debating it during the baseline session. Two things to look for once all three are on the table: the same proposition appearing in slightly different forms across offerings, which is the silo showing; and propositions nobody has sold in the last year, which carry into the catalogue only if someone owns reviving them.
Integrated or focused is the column that starts the useful argument. Most of what sits here today will be marked focused, and the gap between that and the catalogue we design is one of the most useful outputs of the baseline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Enterprise and core AI, use-case activation, and the data platform work underneath it. Watch for propositions that are really capabilities — a platform build is not a proposition until it names the buyer and the outcome.
Fill this before week one rather than debating it during the baseline session. Two things to look for once all three are on the table: the same proposition appearing in slightly different forms across offerings, which is the silo showing; and propositions nobody has sold in the last year, which carry into the catalogue only if someone owns reviving them.
Integrated or focused is the column that starts the useful argument. Most of what sits here today will be marked focused, and the gap between that and the catalogue we design is one of the most useful outputs of the baseline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 integration, microservices, API and bespoke build. The most likely home of genuinely focused propositions, such as a cloud migration strategy that never leaves this offering.
Fill this before week one rather than debating it during the baseline session. Two things to look for once all three are on the table: the same proposition appearing in slightly different forms across offerings, which is the silo showing; and propositions nobody has sold in the last year, which carry into the catalogue only if someone owns reviving them.
Integrated or focused is the column that starts the useful argument. Most of what sits here today will be marked focused, and the gap between that and the catalogue we design is one of the most useful outputs of the baseline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already are, before any prioritisation. Sourced from the firm's account plans and the pipeline rather than from memory.
Status should say what the relationship actually is: delivering, dormant, a single project, a framework agreement, or a relationship held elsewhere in the firm that we have not yet used.
This feeds the tiering exercise without pre-empting it. An account we are already in is not automatically tier one, and an account we have never worked with can be, if the opportunity justifies the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financial starting point, and the one input people most often skip because it is uncomfortable.
Two figures per measure: what FSI as a whole carries this financial year, and how much of that sits with EAI&amp;D. The third column — our share of it — is the one that provokes the useful conversation: if we hold a small slice of a large FSI number, the strategy is about capture; if we hold most of it already, the strategy is about growing the whole.
Split by sector and market wherever the plan already does, since banking, funds and insurance will not carry equal weight and the tiering work later depends on knowing that.
Source it from finance rather than from memory or a partner’s recollection, and date it. Everything downstream — the ambition, the revenue targets by account, the capacity plan — reconciles back to this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template: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archetypes,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One account, one plan. The firm runs a single account plan per client and it is not ours to duplicate: this table is the EAI&amp;D view that attaches to it. What is genuinely ours to decide is which offerings we prioritise in each account, what we target from them, and who from our side carries it — all of which lands inside the existing plan rather than beside it.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the EAI&amp;D partner accountable for our content in the account, and the alliance or vendor partner we go to market with there. Neither displaces the account leader named in the firm's account plan — where one exists, our owner works inside that account team, and the strategy should say so explicitly to avoid a second chain of accountability forming.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sector: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sector and segment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sectors.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
Skills and enablement is the part most easily left implicit, so it is called out here. Four distinct needs, and they are not the same thing:
- Capability mapping: which skills the catalogue actually requires, offering by offering. Start from the propositions, not from the org chart.
- Offering enablement: the portfolio trained on the catalogue itself, using the proposition one-pagers. This is what makes the integrated market team principle real — a partner who cannot describe the catalogue cannot recognise the signal or position the first level.
- Domain training and industry certification: financial services specific, and specific by sector. Banking, funds and insurance each have their own qualifications, regulatory context and language, and this is what backs the domain-specific principle. Where we are thin in funds and insurance, training is one of the routes in, alongside hiring.
- Alliance and platform certification: the hyperscalers and product vendors require accredited people, and certification levels often gate partner status, funding and co-sell eligibility. It is a cost with a commercial return attached, so it belongs in the plan rather than in someone's development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the catalogue and the people. Work from the propositions backwards: each one names the capabilities it needs, and this is where they are counted and closed.
Four kinds of row, and they should not be blurred together:
- Offering enablement — the portfolio trained on the catalogue itself, so any partner or director can recognise the signal and position the first level before pulling in a specialist.
- Domain capability — financial services knowledge by sector. Banking, funds and insurance carry different qualifications, regulators and vocabulary, and this is what makes the domain-specific claim true rather than asserted.
- Technical and platform capability — the skills the delivery construct assumes, including the assets and accelerators.
- Certification — alliance and vendor accreditations. These gate partner tier, funding and co-sell eligibility, so they carry a commercial return, not just a development benefit.
Who needs it should say how many and at what level, not simply the practice name. A capability held by one person is a dependency,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why us and not them, written down rather than improvised in the room.
One row per claim. Who it beats matters, because the counter differs: an internal team, a lower-cost integrator, a product vendor and a global SI each need a different argument, and losing pursuits usually means the wrong one was used.
Proof we have should name things — a programme, a reference, an asset a client can see working — not adjectives. Proof to build is the honest column, and every entry in it should appear in the initiative register with an owner and a date.
Expect the thinnest rows to be sector credentials in funds and insurance. Better to see that here than to discover it in a pursuit.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management system behind the strategy, recorded so it survives the people who set it up.
Three loops to fill in at minimum: the weekly pursuit review owned by account owners, the monthly review of pipeline, coverage, initiatives and talent against target, and the quarterly review that re-tests the choices themselves rather than only the numbers.
The column that does the work is decisions it can take. Without it, forums drift into reporting and every real decision waits for someone who is not in the room. Escalates to closes the loop — where a decision goes when it exceeds that forum.
Where the FSI industry strategy already runs a forum, we join it rather than create a parallel one, and this table should say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work that outlives the three weeks is recorded and tracked.
The register is built in week three as part of the activation plan, not invented later. Each row states what changes when it is done, in terms someone could verify — not "improve proposal quality" but "a current, modular proposal library covering the committed propositions, used in the next three pursuits".
Expect initiatives in every pillar: account activation turning the tier one list into live pursuits; assets and accelerators behind the committed propositions; capability and certification gaps closed by level; alliance activation, particularly the funds and insurance platform gap; the eminence calendar; and proposal and orals quality.
On that last one, the standard to aim at: proposals assembled from reusable foundations rather than written from scratch, carrying a storyline and explicit differentiation, and able to bring the whole firm into the answer. Orals that show rather than tell — demos, showcases, a walk through the first ninety days, rehearsed, with the delivery people present.
Keep the register short. Six to eight live initiatives is a portfolio; twenty is a backlog nobody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EAI&amp;D  ·  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pack runs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parts, in the order the strategy actually gets built.</a:t>
            </a:r>
            <a:endParaRPr lang="en-US" sz="1450" dirty="0"/>
          </a:p>
        </p:txBody>
      </p:sp>
      <p:sp>
        <p:nvSpPr>
          <p:cNvPr id="4" name="Shape 2"/>
          <p:cNvSpPr/>
          <p:nvPr/>
        </p:nvSpPr>
        <p:spPr>
          <a:xfrm>
            <a:off x="640080" y="1737360"/>
            <a:ext cx="10881360" cy="676656"/>
          </a:xfrm>
          <a:prstGeom prst="roundRect">
            <a:avLst>
              <a:gd name="adj" fmla="val 13514"/>
            </a:avLst>
          </a:prstGeom>
          <a:solidFill>
            <a:srgbClr val="F2F6FC"/>
          </a:solidFill>
          <a:ln/>
        </p:spPr>
      </p:sp>
      <p:sp>
        <p:nvSpPr>
          <p:cNvPr id="5" name="Shape 3"/>
          <p:cNvSpPr/>
          <p:nvPr/>
        </p:nvSpPr>
        <p:spPr>
          <a:xfrm>
            <a:off x="640080" y="1737360"/>
            <a:ext cx="1737360" cy="676656"/>
          </a:xfrm>
          <a:prstGeom prst="rect">
            <a:avLst/>
          </a:prstGeom>
          <a:solidFill>
            <a:srgbClr val="1E2761"/>
          </a:solidFill>
          <a:ln/>
        </p:spPr>
      </p:sp>
      <p:sp>
        <p:nvSpPr>
          <p:cNvPr id="6" name="Text 4"/>
          <p:cNvSpPr txBox="1"/>
          <p:nvPr/>
        </p:nvSpPr>
        <p:spPr>
          <a:xfrm>
            <a:off x="640080" y="173736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ONE</a:t>
            </a:r>
            <a:endParaRPr lang="en-US" sz="1150" dirty="0"/>
          </a:p>
        </p:txBody>
      </p:sp>
      <p:sp>
        <p:nvSpPr>
          <p:cNvPr id="7" name="Text 5"/>
          <p:cNvSpPr txBox="1"/>
          <p:nvPr/>
        </p:nvSpPr>
        <p:spPr>
          <a:xfrm>
            <a:off x="2606040" y="179222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frame</a:t>
            </a:r>
            <a:endParaRPr lang="en-US" sz="1450" dirty="0"/>
          </a:p>
        </p:txBody>
      </p:sp>
      <p:sp>
        <p:nvSpPr>
          <p:cNvPr id="8" name="Text 6"/>
          <p:cNvSpPr txBox="1"/>
          <p:nvPr/>
        </p:nvSpPr>
        <p:spPr>
          <a:xfrm>
            <a:off x="2606040" y="210312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this journey is, how it fits, and who is involved</a:t>
            </a:r>
            <a:endParaRPr lang="en-US" sz="1050" dirty="0"/>
          </a:p>
        </p:txBody>
      </p:sp>
      <p:sp>
        <p:nvSpPr>
          <p:cNvPr id="9" name="Text 7"/>
          <p:cNvSpPr txBox="1"/>
          <p:nvPr/>
        </p:nvSpPr>
        <p:spPr>
          <a:xfrm>
            <a:off x="10149840" y="173736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0" name="Shape 8"/>
          <p:cNvSpPr/>
          <p:nvPr/>
        </p:nvSpPr>
        <p:spPr>
          <a:xfrm>
            <a:off x="640080" y="2468880"/>
            <a:ext cx="10881360" cy="676656"/>
          </a:xfrm>
          <a:prstGeom prst="roundRect">
            <a:avLst>
              <a:gd name="adj" fmla="val 13514"/>
            </a:avLst>
          </a:prstGeom>
          <a:solidFill>
            <a:srgbClr val="EDF2FA"/>
          </a:solidFill>
          <a:ln/>
        </p:spPr>
      </p:sp>
      <p:sp>
        <p:nvSpPr>
          <p:cNvPr id="11" name="Shape 9"/>
          <p:cNvSpPr/>
          <p:nvPr/>
        </p:nvSpPr>
        <p:spPr>
          <a:xfrm>
            <a:off x="640080" y="2468880"/>
            <a:ext cx="1737360" cy="676656"/>
          </a:xfrm>
          <a:prstGeom prst="rect">
            <a:avLst/>
          </a:prstGeom>
          <a:solidFill>
            <a:srgbClr val="3E5C8A"/>
          </a:solidFill>
          <a:ln/>
        </p:spPr>
      </p:sp>
      <p:sp>
        <p:nvSpPr>
          <p:cNvPr id="12" name="Text 10"/>
          <p:cNvSpPr txBox="1"/>
          <p:nvPr/>
        </p:nvSpPr>
        <p:spPr>
          <a:xfrm>
            <a:off x="640080" y="246888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TWO</a:t>
            </a:r>
            <a:endParaRPr lang="en-US" sz="1150" dirty="0"/>
          </a:p>
        </p:txBody>
      </p:sp>
      <p:sp>
        <p:nvSpPr>
          <p:cNvPr id="13" name="Text 11"/>
          <p:cNvSpPr txBox="1"/>
          <p:nvPr/>
        </p:nvSpPr>
        <p:spPr>
          <a:xfrm>
            <a:off x="2606040" y="252374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destination</a:t>
            </a:r>
            <a:endParaRPr lang="en-US" sz="1450" dirty="0"/>
          </a:p>
        </p:txBody>
      </p:sp>
      <p:sp>
        <p:nvSpPr>
          <p:cNvPr id="14" name="Text 12"/>
          <p:cNvSpPr txBox="1"/>
          <p:nvPr/>
        </p:nvSpPr>
        <p:spPr>
          <a:xfrm>
            <a:off x="2606040" y="283464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Vision drivers · candidate statements · principles</a:t>
            </a:r>
            <a:endParaRPr lang="en-US" sz="1050" dirty="0"/>
          </a:p>
        </p:txBody>
      </p:sp>
      <p:sp>
        <p:nvSpPr>
          <p:cNvPr id="15" name="Text 13"/>
          <p:cNvSpPr txBox="1"/>
          <p:nvPr/>
        </p:nvSpPr>
        <p:spPr>
          <a:xfrm>
            <a:off x="10149840" y="246888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6" name="Shape 14"/>
          <p:cNvSpPr/>
          <p:nvPr/>
        </p:nvSpPr>
        <p:spPr>
          <a:xfrm>
            <a:off x="640080" y="3200400"/>
            <a:ext cx="10881360" cy="676656"/>
          </a:xfrm>
          <a:prstGeom prst="roundRect">
            <a:avLst>
              <a:gd name="adj" fmla="val 13514"/>
            </a:avLst>
          </a:prstGeom>
          <a:solidFill>
            <a:srgbClr val="F2F6FC"/>
          </a:solidFill>
          <a:ln/>
        </p:spPr>
      </p:sp>
      <p:sp>
        <p:nvSpPr>
          <p:cNvPr id="17" name="Shape 15"/>
          <p:cNvSpPr/>
          <p:nvPr/>
        </p:nvSpPr>
        <p:spPr>
          <a:xfrm>
            <a:off x="640080" y="3200400"/>
            <a:ext cx="1737360" cy="676656"/>
          </a:xfrm>
          <a:prstGeom prst="rect">
            <a:avLst/>
          </a:prstGeom>
          <a:solidFill>
            <a:srgbClr val="1E2761"/>
          </a:solidFill>
          <a:ln/>
        </p:spPr>
      </p:sp>
      <p:sp>
        <p:nvSpPr>
          <p:cNvPr id="18" name="Text 16"/>
          <p:cNvSpPr txBox="1"/>
          <p:nvPr/>
        </p:nvSpPr>
        <p:spPr>
          <a:xfrm>
            <a:off x="640080" y="320040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THREE</a:t>
            </a:r>
            <a:endParaRPr lang="en-US" sz="1150" dirty="0"/>
          </a:p>
        </p:txBody>
      </p:sp>
      <p:sp>
        <p:nvSpPr>
          <p:cNvPr id="19" name="Text 17"/>
          <p:cNvSpPr txBox="1"/>
          <p:nvPr/>
        </p:nvSpPr>
        <p:spPr>
          <a:xfrm>
            <a:off x="2606040" y="325526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the strategy must cover</a:t>
            </a:r>
            <a:endParaRPr lang="en-US" sz="1450" dirty="0"/>
          </a:p>
        </p:txBody>
      </p:sp>
      <p:sp>
        <p:nvSpPr>
          <p:cNvPr id="20" name="Text 18"/>
          <p:cNvSpPr txBox="1"/>
          <p:nvPr/>
        </p:nvSpPr>
        <p:spPr>
          <a:xfrm>
            <a:off x="2606040" y="356616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architecture · sectors, markets and tiers · the catalogue · delivery and economics · why us · alliances and eminence</a:t>
            </a:r>
            <a:endParaRPr lang="en-US" sz="1050" dirty="0"/>
          </a:p>
        </p:txBody>
      </p:sp>
      <p:sp>
        <p:nvSpPr>
          <p:cNvPr id="21" name="Text 19"/>
          <p:cNvSpPr txBox="1"/>
          <p:nvPr/>
        </p:nvSpPr>
        <p:spPr>
          <a:xfrm>
            <a:off x="10149840" y="320040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9 slides</a:t>
            </a:r>
            <a:endParaRPr lang="en-US" sz="1100" dirty="0"/>
          </a:p>
        </p:txBody>
      </p:sp>
      <p:sp>
        <p:nvSpPr>
          <p:cNvPr id="22" name="Shape 20"/>
          <p:cNvSpPr/>
          <p:nvPr/>
        </p:nvSpPr>
        <p:spPr>
          <a:xfrm>
            <a:off x="640080" y="3931920"/>
            <a:ext cx="10881360" cy="676656"/>
          </a:xfrm>
          <a:prstGeom prst="roundRect">
            <a:avLst>
              <a:gd name="adj" fmla="val 13514"/>
            </a:avLst>
          </a:prstGeom>
          <a:solidFill>
            <a:srgbClr val="EDF2FA"/>
          </a:solidFill>
          <a:ln/>
        </p:spPr>
      </p:sp>
      <p:sp>
        <p:nvSpPr>
          <p:cNvPr id="23" name="Shape 21"/>
          <p:cNvSpPr/>
          <p:nvPr/>
        </p:nvSpPr>
        <p:spPr>
          <a:xfrm>
            <a:off x="640080" y="3931920"/>
            <a:ext cx="1737360" cy="676656"/>
          </a:xfrm>
          <a:prstGeom prst="rect">
            <a:avLst/>
          </a:prstGeom>
          <a:solidFill>
            <a:srgbClr val="3E5C8A"/>
          </a:solidFill>
          <a:ln/>
        </p:spPr>
      </p:sp>
      <p:sp>
        <p:nvSpPr>
          <p:cNvPr id="24" name="Text 22"/>
          <p:cNvSpPr txBox="1"/>
          <p:nvPr/>
        </p:nvSpPr>
        <p:spPr>
          <a:xfrm>
            <a:off x="640080" y="393192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FOUR</a:t>
            </a:r>
            <a:endParaRPr lang="en-US" sz="1150" dirty="0"/>
          </a:p>
        </p:txBody>
      </p:sp>
      <p:sp>
        <p:nvSpPr>
          <p:cNvPr id="25" name="Text 23"/>
          <p:cNvSpPr txBox="1"/>
          <p:nvPr/>
        </p:nvSpPr>
        <p:spPr>
          <a:xfrm>
            <a:off x="2606040" y="398678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build it</a:t>
            </a:r>
            <a:endParaRPr lang="en-US" sz="1450" dirty="0"/>
          </a:p>
        </p:txBody>
      </p:sp>
      <p:sp>
        <p:nvSpPr>
          <p:cNvPr id="26" name="Text 24"/>
          <p:cNvSpPr txBox="1"/>
          <p:nvPr/>
        </p:nvSpPr>
        <p:spPr>
          <a:xfrm>
            <a:off x="2606040" y="429768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approach · divide and converge · workstreams · the journey · sessions · risks</a:t>
            </a:r>
            <a:endParaRPr lang="en-US" sz="1050" dirty="0"/>
          </a:p>
        </p:txBody>
      </p:sp>
      <p:sp>
        <p:nvSpPr>
          <p:cNvPr id="27" name="Text 25"/>
          <p:cNvSpPr txBox="1"/>
          <p:nvPr/>
        </p:nvSpPr>
        <p:spPr>
          <a:xfrm>
            <a:off x="10149840" y="393192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7 slides</a:t>
            </a:r>
            <a:endParaRPr lang="en-US" sz="1100" dirty="0"/>
          </a:p>
        </p:txBody>
      </p:sp>
      <p:sp>
        <p:nvSpPr>
          <p:cNvPr id="28" name="Shape 26"/>
          <p:cNvSpPr/>
          <p:nvPr/>
        </p:nvSpPr>
        <p:spPr>
          <a:xfrm>
            <a:off x="640080" y="4663440"/>
            <a:ext cx="10881360" cy="676656"/>
          </a:xfrm>
          <a:prstGeom prst="roundRect">
            <a:avLst>
              <a:gd name="adj" fmla="val 13514"/>
            </a:avLst>
          </a:prstGeom>
          <a:solidFill>
            <a:srgbClr val="F2F6FC"/>
          </a:solidFill>
          <a:ln/>
        </p:spPr>
      </p:sp>
      <p:sp>
        <p:nvSpPr>
          <p:cNvPr id="29" name="Shape 27"/>
          <p:cNvSpPr/>
          <p:nvPr/>
        </p:nvSpPr>
        <p:spPr>
          <a:xfrm>
            <a:off x="640080" y="4663440"/>
            <a:ext cx="1737360" cy="676656"/>
          </a:xfrm>
          <a:prstGeom prst="rect">
            <a:avLst/>
          </a:prstGeom>
          <a:solidFill>
            <a:srgbClr val="1E2761"/>
          </a:solidFill>
          <a:ln/>
        </p:spPr>
      </p:sp>
      <p:sp>
        <p:nvSpPr>
          <p:cNvPr id="30" name="Text 28"/>
          <p:cNvSpPr txBox="1"/>
          <p:nvPr/>
        </p:nvSpPr>
        <p:spPr>
          <a:xfrm>
            <a:off x="640080" y="466344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FIVE</a:t>
            </a:r>
            <a:endParaRPr lang="en-US" sz="1150" dirty="0"/>
          </a:p>
        </p:txBody>
      </p:sp>
      <p:sp>
        <p:nvSpPr>
          <p:cNvPr id="31" name="Text 29"/>
          <p:cNvSpPr txBox="1"/>
          <p:nvPr/>
        </p:nvSpPr>
        <p:spPr>
          <a:xfrm>
            <a:off x="2606040" y="471830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comes next</a:t>
            </a:r>
            <a:endParaRPr lang="en-US" sz="1450" dirty="0"/>
          </a:p>
        </p:txBody>
      </p:sp>
      <p:sp>
        <p:nvSpPr>
          <p:cNvPr id="32" name="Text 30"/>
          <p:cNvSpPr txBox="1"/>
          <p:nvPr/>
        </p:nvSpPr>
        <p:spPr>
          <a:xfrm>
            <a:off x="2606040" y="502920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Initiatives that outlive the cycle · governing the execution</a:t>
            </a:r>
            <a:endParaRPr lang="en-US" sz="1050" dirty="0"/>
          </a:p>
        </p:txBody>
      </p:sp>
      <p:sp>
        <p:nvSpPr>
          <p:cNvPr id="33" name="Text 31"/>
          <p:cNvSpPr txBox="1"/>
          <p:nvPr/>
        </p:nvSpPr>
        <p:spPr>
          <a:xfrm>
            <a:off x="10149840" y="466344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2 slides</a:t>
            </a:r>
            <a:endParaRPr lang="en-US" sz="1100" dirty="0"/>
          </a:p>
        </p:txBody>
      </p:sp>
      <p:sp>
        <p:nvSpPr>
          <p:cNvPr id="34" name="Shape 32"/>
          <p:cNvSpPr/>
          <p:nvPr/>
        </p:nvSpPr>
        <p:spPr>
          <a:xfrm>
            <a:off x="640080" y="5394960"/>
            <a:ext cx="10881360" cy="676656"/>
          </a:xfrm>
          <a:prstGeom prst="roundRect">
            <a:avLst>
              <a:gd name="adj" fmla="val 13514"/>
            </a:avLst>
          </a:prstGeom>
          <a:solidFill>
            <a:srgbClr val="EDF2FA"/>
          </a:solidFill>
          <a:ln/>
        </p:spPr>
      </p:sp>
      <p:sp>
        <p:nvSpPr>
          <p:cNvPr id="35" name="Shape 33"/>
          <p:cNvSpPr/>
          <p:nvPr/>
        </p:nvSpPr>
        <p:spPr>
          <a:xfrm>
            <a:off x="640080" y="5394960"/>
            <a:ext cx="1737360" cy="676656"/>
          </a:xfrm>
          <a:prstGeom prst="rect">
            <a:avLst/>
          </a:prstGeom>
          <a:solidFill>
            <a:srgbClr val="3E5C8A"/>
          </a:solidFill>
          <a:ln/>
        </p:spPr>
      </p:sp>
      <p:sp>
        <p:nvSpPr>
          <p:cNvPr id="36" name="Text 34"/>
          <p:cNvSpPr txBox="1"/>
          <p:nvPr/>
        </p:nvSpPr>
        <p:spPr>
          <a:xfrm>
            <a:off x="640080" y="539496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SIX</a:t>
            </a:r>
            <a:endParaRPr lang="en-US" sz="1150" dirty="0"/>
          </a:p>
        </p:txBody>
      </p:sp>
      <p:sp>
        <p:nvSpPr>
          <p:cNvPr id="37" name="Text 35"/>
          <p:cNvSpPr txBox="1"/>
          <p:nvPr/>
        </p:nvSpPr>
        <p:spPr>
          <a:xfrm>
            <a:off x="2606040" y="544982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Strategy inputs</a:t>
            </a:r>
            <a:endParaRPr lang="en-US" sz="1450" dirty="0"/>
          </a:p>
        </p:txBody>
      </p:sp>
      <p:sp>
        <p:nvSpPr>
          <p:cNvPr id="38" name="Text 36"/>
          <p:cNvSpPr txBox="1"/>
          <p:nvPr/>
        </p:nvSpPr>
        <p:spPr>
          <a:xfrm>
            <a:off x="2606040" y="576072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today, by offering · the priority account list · this year’s targets</a:t>
            </a:r>
            <a:endParaRPr lang="en-US" sz="1050" dirty="0"/>
          </a:p>
        </p:txBody>
      </p:sp>
      <p:sp>
        <p:nvSpPr>
          <p:cNvPr id="39" name="Text 37"/>
          <p:cNvSpPr txBox="1"/>
          <p:nvPr/>
        </p:nvSpPr>
        <p:spPr>
          <a:xfrm>
            <a:off x="10149840" y="539496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5 slides</a:t>
            </a:r>
            <a:endParaRPr lang="en-US" sz="1100" dirty="0"/>
          </a:p>
        </p:txBody>
      </p:sp>
      <p:sp>
        <p:nvSpPr>
          <p:cNvPr id="40" name="Text 38"/>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template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frame</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What this document is, and the industry it is for.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this document is — method, not conclusion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industry we mean: banking, funds and insurance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strategy on one page — the direction</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initiative register — the work that follows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 with owners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proposition catalogue with economics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targets by account and market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fits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We sit where two strategies meet — and we plug into them rather than run beside them.</a:t>
            </a:r>
            <a:endParaRPr lang="en-US" sz="1450" dirty="0"/>
          </a:p>
        </p:txBody>
      </p:sp>
      <p:sp>
        <p:nvSpPr>
          <p:cNvPr id="4" name="Shape 2"/>
          <p:cNvSpPr/>
          <p:nvPr/>
        </p:nvSpPr>
        <p:spPr>
          <a:xfrm>
            <a:off x="640080" y="1737360"/>
            <a:ext cx="5303520" cy="868680"/>
          </a:xfrm>
          <a:prstGeom prst="roundRect">
            <a:avLst>
              <a:gd name="adj" fmla="val 10526"/>
            </a:avLst>
          </a:prstGeom>
          <a:solidFill>
            <a:srgbClr val="1E2761"/>
          </a:solidFill>
          <a:ln/>
        </p:spPr>
      </p:sp>
      <p:sp>
        <p:nvSpPr>
          <p:cNvPr id="5" name="Text 3"/>
          <p:cNvSpPr txBox="1"/>
          <p:nvPr/>
        </p:nvSpPr>
        <p:spPr>
          <a:xfrm>
            <a:off x="91440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EAI&amp;D portfolio strategy</a:t>
            </a:r>
            <a:endParaRPr lang="en-US" sz="1500" dirty="0"/>
          </a:p>
        </p:txBody>
      </p:sp>
      <p:sp>
        <p:nvSpPr>
          <p:cNvPr id="6" name="Text 4"/>
          <p:cNvSpPr txBox="1"/>
          <p:nvPr/>
        </p:nvSpPr>
        <p:spPr>
          <a:xfrm>
            <a:off x="91440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Engineering, AI and Data — across every industry we serve</a:t>
            </a:r>
            <a:endParaRPr lang="en-US" sz="1150" dirty="0"/>
          </a:p>
        </p:txBody>
      </p:sp>
      <p:sp>
        <p:nvSpPr>
          <p:cNvPr id="7" name="Shape 5"/>
          <p:cNvSpPr/>
          <p:nvPr/>
        </p:nvSpPr>
        <p:spPr>
          <a:xfrm>
            <a:off x="6217920" y="1737360"/>
            <a:ext cx="5303520" cy="868680"/>
          </a:xfrm>
          <a:prstGeom prst="roundRect">
            <a:avLst>
              <a:gd name="adj" fmla="val 10526"/>
            </a:avLst>
          </a:prstGeom>
          <a:solidFill>
            <a:srgbClr val="3E5C8A"/>
          </a:solidFill>
          <a:ln/>
        </p:spPr>
      </p:sp>
      <p:sp>
        <p:nvSpPr>
          <p:cNvPr id="8" name="Text 6"/>
          <p:cNvSpPr txBox="1"/>
          <p:nvPr/>
        </p:nvSpPr>
        <p:spPr>
          <a:xfrm>
            <a:off x="649224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FSI industry strategy</a:t>
            </a:r>
            <a:endParaRPr lang="en-US" sz="1500" dirty="0"/>
          </a:p>
        </p:txBody>
      </p:sp>
      <p:sp>
        <p:nvSpPr>
          <p:cNvPr id="9" name="Text 7"/>
          <p:cNvSpPr txBox="1"/>
          <p:nvPr/>
        </p:nvSpPr>
        <p:spPr>
          <a:xfrm>
            <a:off x="649224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Financial services — across the whole firm</a:t>
            </a:r>
            <a:endParaRPr lang="en-US" sz="1150" dirty="0"/>
          </a:p>
        </p:txBody>
      </p:sp>
      <p:sp>
        <p:nvSpPr>
          <p:cNvPr id="10" name="Shape 8"/>
          <p:cNvSpPr/>
          <p:nvPr/>
        </p:nvSpPr>
        <p:spPr>
          <a:xfrm>
            <a:off x="3291840" y="2651760"/>
            <a:ext cx="1463040" cy="320040"/>
          </a:xfrm>
          <a:prstGeom prst="line">
            <a:avLst/>
          </a:prstGeom>
          <a:noFill/>
          <a:ln w="19050">
            <a:solidFill>
              <a:srgbClr val="3E5C8A"/>
            </a:solidFill>
            <a:prstDash val="solid"/>
            <a:tailEnd type="triangle"/>
          </a:ln>
        </p:spPr>
      </p:sp>
      <p:sp>
        <p:nvSpPr>
          <p:cNvPr id="11" name="Shape 9"/>
          <p:cNvSpPr/>
          <p:nvPr/>
        </p:nvSpPr>
        <p:spPr>
          <a:xfrm flipH="1">
            <a:off x="7406640" y="2651760"/>
            <a:ext cx="1463040" cy="320040"/>
          </a:xfrm>
          <a:prstGeom prst="line">
            <a:avLst/>
          </a:prstGeom>
          <a:noFill/>
          <a:ln w="19050">
            <a:solidFill>
              <a:srgbClr val="3E5C8A"/>
            </a:solidFill>
            <a:prstDash val="solid"/>
            <a:tailEnd type="triangle"/>
          </a:ln>
        </p:spPr>
      </p:sp>
      <p:sp>
        <p:nvSpPr>
          <p:cNvPr id="12" name="Shape 10"/>
          <p:cNvSpPr/>
          <p:nvPr/>
        </p:nvSpPr>
        <p:spPr>
          <a:xfrm>
            <a:off x="3657600" y="2971800"/>
            <a:ext cx="4846320" cy="658368"/>
          </a:xfrm>
          <a:prstGeom prst="roundRect">
            <a:avLst>
              <a:gd name="adj" fmla="val 13889"/>
            </a:avLst>
          </a:prstGeom>
          <a:solidFill>
            <a:srgbClr val="E4EBF7"/>
          </a:solidFill>
          <a:ln w="15875">
            <a:solidFill>
              <a:srgbClr val="1E2761"/>
            </a:solidFill>
            <a:prstDash val="solid"/>
          </a:ln>
        </p:spPr>
      </p:sp>
      <p:sp>
        <p:nvSpPr>
          <p:cNvPr id="13" name="Text 11"/>
          <p:cNvSpPr txBox="1"/>
          <p:nvPr/>
        </p:nvSpPr>
        <p:spPr>
          <a:xfrm>
            <a:off x="3657600" y="2971800"/>
            <a:ext cx="4846320" cy="658368"/>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EAI&amp;D in financial services — this strategy</a:t>
            </a:r>
            <a:endParaRPr lang="en-US" sz="1350" dirty="0"/>
          </a:p>
        </p:txBody>
      </p:sp>
      <p:sp>
        <p:nvSpPr>
          <p:cNvPr id="14" name="Shape 12"/>
          <p:cNvSpPr/>
          <p:nvPr/>
        </p:nvSpPr>
        <p:spPr>
          <a:xfrm>
            <a:off x="6080760" y="3630168"/>
            <a:ext cx="0" cy="256032"/>
          </a:xfrm>
          <a:prstGeom prst="line">
            <a:avLst/>
          </a:prstGeom>
          <a:noFill/>
          <a:ln w="19050">
            <a:solidFill>
              <a:srgbClr val="3E5C8A"/>
            </a:solidFill>
            <a:prstDash val="solid"/>
            <a:tailEnd type="triangle"/>
          </a:ln>
        </p:spPr>
      </p:sp>
      <p:sp>
        <p:nvSpPr>
          <p:cNvPr id="15" name="Shape 13"/>
          <p:cNvSpPr/>
          <p:nvPr/>
        </p:nvSpPr>
        <p:spPr>
          <a:xfrm>
            <a:off x="640080" y="3931920"/>
            <a:ext cx="3520440" cy="1920240"/>
          </a:xfrm>
          <a:prstGeom prst="roundRect">
            <a:avLst>
              <a:gd name="adj" fmla="val 5714"/>
            </a:avLst>
          </a:prstGeom>
          <a:solidFill>
            <a:srgbClr val="EDF2FA"/>
          </a:solidFill>
          <a:ln/>
        </p:spPr>
      </p:sp>
      <p:sp>
        <p:nvSpPr>
          <p:cNvPr id="16" name="Shape 14"/>
          <p:cNvSpPr/>
          <p:nvPr/>
        </p:nvSpPr>
        <p:spPr>
          <a:xfrm>
            <a:off x="640080" y="3931920"/>
            <a:ext cx="3520440" cy="475488"/>
          </a:xfrm>
          <a:prstGeom prst="rect">
            <a:avLst/>
          </a:prstGeom>
          <a:solidFill>
            <a:srgbClr val="1E2761"/>
          </a:solidFill>
          <a:ln/>
        </p:spPr>
      </p:sp>
      <p:sp>
        <p:nvSpPr>
          <p:cNvPr id="17" name="Text 15"/>
          <p:cNvSpPr txBox="1"/>
          <p:nvPr/>
        </p:nvSpPr>
        <p:spPr>
          <a:xfrm>
            <a:off x="868680"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portfolio</a:t>
            </a:r>
            <a:endParaRPr lang="en-US" sz="1300" dirty="0"/>
          </a:p>
        </p:txBody>
      </p:sp>
      <p:sp>
        <p:nvSpPr>
          <p:cNvPr id="18" name="Text 16"/>
          <p:cNvSpPr txBox="1"/>
          <p:nvPr/>
        </p:nvSpPr>
        <p:spPr>
          <a:xfrm>
            <a:off x="868680"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Vision and direction of travel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Delivery model and quality bars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Alliance framework and partner tiers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Talent and career model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Cascaded financial targets</a:t>
            </a:r>
            <a:endParaRPr lang="en-US" sz="1000" dirty="0"/>
          </a:p>
        </p:txBody>
      </p:sp>
      <p:sp>
        <p:nvSpPr>
          <p:cNvPr id="19" name="Shape 17"/>
          <p:cNvSpPr/>
          <p:nvPr/>
        </p:nvSpPr>
        <p:spPr>
          <a:xfrm>
            <a:off x="4325112" y="3931920"/>
            <a:ext cx="3520440" cy="1920240"/>
          </a:xfrm>
          <a:prstGeom prst="roundRect">
            <a:avLst>
              <a:gd name="adj" fmla="val 5714"/>
            </a:avLst>
          </a:prstGeom>
          <a:solidFill>
            <a:srgbClr val="EDF2FA"/>
          </a:solidFill>
          <a:ln/>
        </p:spPr>
      </p:sp>
      <p:sp>
        <p:nvSpPr>
          <p:cNvPr id="20" name="Shape 18"/>
          <p:cNvSpPr/>
          <p:nvPr/>
        </p:nvSpPr>
        <p:spPr>
          <a:xfrm>
            <a:off x="4325112" y="3931920"/>
            <a:ext cx="3520440" cy="475488"/>
          </a:xfrm>
          <a:prstGeom prst="rect">
            <a:avLst/>
          </a:prstGeom>
          <a:solidFill>
            <a:srgbClr val="3E5C8A"/>
          </a:solidFill>
          <a:ln/>
        </p:spPr>
      </p:sp>
      <p:sp>
        <p:nvSpPr>
          <p:cNvPr id="21" name="Text 19"/>
          <p:cNvSpPr txBox="1"/>
          <p:nvPr/>
        </p:nvSpPr>
        <p:spPr>
          <a:xfrm>
            <a:off x="4553712"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industry</a:t>
            </a:r>
            <a:endParaRPr lang="en-US" sz="1300" dirty="0"/>
          </a:p>
        </p:txBody>
      </p:sp>
      <p:sp>
        <p:nvSpPr>
          <p:cNvPr id="22" name="Text 20"/>
          <p:cNvSpPr txBox="1"/>
          <p:nvPr/>
        </p:nvSpPr>
        <p:spPr>
          <a:xfrm>
            <a:off x="4553712"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firm’s FSI account list and tiering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Account leadership and partner mappings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Industry governance forums and cadence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industry eminence programme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Client relationship plans already in flight</a:t>
            </a:r>
            <a:endParaRPr lang="en-US" sz="1000" dirty="0"/>
          </a:p>
        </p:txBody>
      </p:sp>
      <p:sp>
        <p:nvSpPr>
          <p:cNvPr id="23" name="Shape 21"/>
          <p:cNvSpPr/>
          <p:nvPr/>
        </p:nvSpPr>
        <p:spPr>
          <a:xfrm>
            <a:off x="8010144" y="3931920"/>
            <a:ext cx="3520440" cy="1920240"/>
          </a:xfrm>
          <a:prstGeom prst="roundRect">
            <a:avLst>
              <a:gd name="adj" fmla="val 5714"/>
            </a:avLst>
          </a:prstGeom>
          <a:solidFill>
            <a:srgbClr val="EDF2FA"/>
          </a:solidFill>
          <a:ln/>
        </p:spPr>
      </p:sp>
      <p:sp>
        <p:nvSpPr>
          <p:cNvPr id="24" name="Shape 22"/>
          <p:cNvSpPr/>
          <p:nvPr/>
        </p:nvSpPr>
        <p:spPr>
          <a:xfrm>
            <a:off x="8010144" y="3931920"/>
            <a:ext cx="3520440" cy="475488"/>
          </a:xfrm>
          <a:prstGeom prst="rect">
            <a:avLst/>
          </a:prstGeom>
          <a:solidFill>
            <a:srgbClr val="1E2761"/>
          </a:solidFill>
          <a:ln/>
        </p:spPr>
      </p:sp>
      <p:sp>
        <p:nvSpPr>
          <p:cNvPr id="25" name="Text 23"/>
          <p:cNvSpPr txBox="1"/>
          <p:nvPr/>
        </p:nvSpPr>
        <p:spPr>
          <a:xfrm>
            <a:off x="8238744"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Ours to set</a:t>
            </a:r>
            <a:endParaRPr lang="en-US" sz="1300" dirty="0"/>
          </a:p>
        </p:txBody>
      </p:sp>
      <p:sp>
        <p:nvSpPr>
          <p:cNvPr id="26" name="Text 24"/>
          <p:cNvSpPr txBox="1"/>
          <p:nvPr/>
        </p:nvSpPr>
        <p:spPr>
          <a:xfrm>
            <a:off x="8238744"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How our propositions land in those accounts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Offering economics: construct, ADR, margin</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Sector platform alliances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FSI capability, certification and hiring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Our revenue targets by account and offering</a:t>
            </a:r>
            <a:endParaRPr lang="en-US" sz="1000" dirty="0"/>
          </a:p>
        </p:txBody>
      </p:sp>
      <p:sp>
        <p:nvSpPr>
          <p:cNvPr id="27" name="Shape 25"/>
          <p:cNvSpPr/>
          <p:nvPr/>
        </p:nvSpPr>
        <p:spPr>
          <a:xfrm>
            <a:off x="640080" y="5989320"/>
            <a:ext cx="10881360" cy="685800"/>
          </a:xfrm>
          <a:prstGeom prst="roundRect">
            <a:avLst>
              <a:gd name="adj" fmla="val 13333"/>
            </a:avLst>
          </a:prstGeom>
          <a:solidFill>
            <a:srgbClr val="1E2761"/>
          </a:solidFill>
          <a:ln/>
        </p:spPr>
      </p:sp>
      <p:sp>
        <p:nvSpPr>
          <p:cNvPr id="28" name="Text 26"/>
          <p:cNvSpPr txBox="1"/>
          <p:nvPr/>
        </p:nvSpPr>
        <p:spPr>
          <a:xfrm>
            <a:off x="914400" y="5989320"/>
            <a:ext cx="10332720" cy="6858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 parallel machinery: we use the existing account plans, forums and eminence programme, and add the EAI&amp;D layer inside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Shape 25"/>
          <p:cNvSpPr/>
          <p:nvPr/>
        </p:nvSpPr>
        <p:spPr>
          <a:xfrm>
            <a:off x="640080" y="5257800"/>
            <a:ext cx="10881360" cy="914400"/>
          </a:xfrm>
          <a:prstGeom prst="roundRect">
            <a:avLst>
              <a:gd name="adj" fmla="val 10000"/>
            </a:avLst>
          </a:prstGeom>
          <a:solidFill>
            <a:srgbClr val="1E2761"/>
          </a:solidFill>
          <a:ln/>
        </p:spPr>
      </p:sp>
      <p:sp>
        <p:nvSpPr>
          <p:cNvPr id="28" name="Text 26"/>
          <p:cNvSpPr txBox="1"/>
          <p:nvPr/>
        </p:nvSpPr>
        <p:spPr>
          <a:xfrm>
            <a:off x="914400" y="5257800"/>
            <a:ext cx="10332720" cy="9144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Each lead is a point of contact and a conduit: they take our thinking back into their own offering, test it with the FSI partners and directors there, and bring that view in. Nobody should meet this strategy for the first time when it is finished.</a:t>
            </a:r>
            <a:endParaRPr lang="en-US" sz="1250" dirty="0"/>
          </a:p>
        </p:txBody>
      </p:sp>
      <p:sp>
        <p:nvSpPr>
          <p:cNvPr id="29" name="Text 27"/>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Pillar ownership is assigned from this group at kick-off; wider contributors are pulled in per workstream.</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TWO</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destination</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are going, and the rules we hold going in.</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the vision has to earn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Three candidate statements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Principles we hold going in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vision has to earn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drivers, agreed before the words. Every candidate is tested against them.</a:t>
            </a:r>
            <a:endParaRPr lang="en-US" sz="1450" dirty="0"/>
          </a:p>
        </p:txBody>
      </p:sp>
      <p:sp>
        <p:nvSpPr>
          <p:cNvPr id="4" name="Shape 2"/>
          <p:cNvSpPr/>
          <p:nvPr/>
        </p:nvSpPr>
        <p:spPr>
          <a:xfrm>
            <a:off x="640080" y="1874520"/>
            <a:ext cx="3520440" cy="1783080"/>
          </a:xfrm>
          <a:prstGeom prst="roundRect">
            <a:avLst>
              <a:gd name="adj" fmla="val 6154"/>
            </a:avLst>
          </a:prstGeom>
          <a:solidFill>
            <a:srgbClr val="E4EBF7"/>
          </a:solidFill>
          <a:ln/>
        </p:spPr>
      </p:sp>
      <p:sp>
        <p:nvSpPr>
          <p:cNvPr id="5" name="Shape 3"/>
          <p:cNvSpPr/>
          <p:nvPr/>
        </p:nvSpPr>
        <p:spPr>
          <a:xfrm>
            <a:off x="896112" y="2112264"/>
            <a:ext cx="384048" cy="384048"/>
          </a:xfrm>
          <a:prstGeom prst="ellipse">
            <a:avLst/>
          </a:prstGeom>
          <a:solidFill>
            <a:srgbClr val="1E2761"/>
          </a:solidFill>
          <a:ln/>
        </p:spPr>
      </p:sp>
      <p:sp>
        <p:nvSpPr>
          <p:cNvPr id="6" name="Text 4"/>
          <p:cNvSpPr txBox="1"/>
          <p:nvPr/>
        </p:nvSpPr>
        <p:spPr>
          <a:xfrm>
            <a:off x="896112"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No seams</a:t>
            </a:r>
            <a:endParaRPr lang="en-US" sz="1500" dirty="0"/>
          </a:p>
        </p:txBody>
      </p:sp>
      <p:sp>
        <p:nvSpPr>
          <p:cNvPr id="8" name="Text 6"/>
          <p:cNvSpPr txBox="1"/>
          <p:nvPr/>
        </p:nvSpPr>
        <p:spPr>
          <a:xfrm>
            <a:off x="914400"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One accountable team across every stream, with our alliances counted as part of what we bring — not a separate arrangement.</a:t>
            </a:r>
            <a:endParaRPr lang="en-US" sz="1150" dirty="0"/>
          </a:p>
        </p:txBody>
      </p:sp>
      <p:sp>
        <p:nvSpPr>
          <p:cNvPr id="9" name="Shape 7"/>
          <p:cNvSpPr/>
          <p:nvPr/>
        </p:nvSpPr>
        <p:spPr>
          <a:xfrm>
            <a:off x="4325112" y="1874520"/>
            <a:ext cx="3520440" cy="1783080"/>
          </a:xfrm>
          <a:prstGeom prst="roundRect">
            <a:avLst>
              <a:gd name="adj" fmla="val 6154"/>
            </a:avLst>
          </a:prstGeom>
          <a:solidFill>
            <a:srgbClr val="EDF2FA"/>
          </a:solidFill>
          <a:ln/>
        </p:spPr>
      </p:sp>
      <p:sp>
        <p:nvSpPr>
          <p:cNvPr id="10" name="Shape 8"/>
          <p:cNvSpPr/>
          <p:nvPr/>
        </p:nvSpPr>
        <p:spPr>
          <a:xfrm>
            <a:off x="4581144" y="2112264"/>
            <a:ext cx="384048" cy="384048"/>
          </a:xfrm>
          <a:prstGeom prst="ellipse">
            <a:avLst/>
          </a:prstGeom>
          <a:solidFill>
            <a:srgbClr val="3E5C8A"/>
          </a:solidFill>
          <a:ln/>
        </p:spPr>
      </p:sp>
      <p:sp>
        <p:nvSpPr>
          <p:cNvPr id="11" name="Text 9"/>
          <p:cNvSpPr txBox="1"/>
          <p:nvPr/>
        </p:nvSpPr>
        <p:spPr>
          <a:xfrm>
            <a:off x="4581144"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102352"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Where others stall</a:t>
            </a:r>
            <a:endParaRPr lang="en-US" sz="1500" dirty="0"/>
          </a:p>
        </p:txBody>
      </p:sp>
      <p:sp>
        <p:nvSpPr>
          <p:cNvPr id="13" name="Text 11"/>
          <p:cNvSpPr txBox="1"/>
          <p:nvPr/>
        </p:nvSpPr>
        <p:spPr>
          <a:xfrm>
            <a:off x="4599432"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programmes that go sideways in other hands. Implied in how we describe the work, never promised as carrying risk.</a:t>
            </a:r>
            <a:endParaRPr lang="en-US" sz="1150" dirty="0"/>
          </a:p>
        </p:txBody>
      </p:sp>
      <p:sp>
        <p:nvSpPr>
          <p:cNvPr id="14" name="Shape 12"/>
          <p:cNvSpPr/>
          <p:nvPr/>
        </p:nvSpPr>
        <p:spPr>
          <a:xfrm>
            <a:off x="8010144" y="1874520"/>
            <a:ext cx="3520440" cy="1783080"/>
          </a:xfrm>
          <a:prstGeom prst="roundRect">
            <a:avLst>
              <a:gd name="adj" fmla="val 6154"/>
            </a:avLst>
          </a:prstGeom>
          <a:solidFill>
            <a:srgbClr val="E4EBF7"/>
          </a:solidFill>
          <a:ln/>
        </p:spPr>
      </p:sp>
      <p:sp>
        <p:nvSpPr>
          <p:cNvPr id="15" name="Shape 13"/>
          <p:cNvSpPr/>
          <p:nvPr/>
        </p:nvSpPr>
        <p:spPr>
          <a:xfrm>
            <a:off x="8266176" y="2112264"/>
            <a:ext cx="384048" cy="384048"/>
          </a:xfrm>
          <a:prstGeom prst="ellipse">
            <a:avLst/>
          </a:prstGeom>
          <a:solidFill>
            <a:srgbClr val="1E2761"/>
          </a:solidFill>
          <a:ln/>
        </p:spPr>
      </p:sp>
      <p:sp>
        <p:nvSpPr>
          <p:cNvPr id="16" name="Text 14"/>
          <p:cNvSpPr txBox="1"/>
          <p:nvPr/>
        </p:nvSpPr>
        <p:spPr>
          <a:xfrm>
            <a:off x="8266176"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87384"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Speed that holds</a:t>
            </a:r>
            <a:endParaRPr lang="en-US" sz="1500" dirty="0"/>
          </a:p>
        </p:txBody>
      </p:sp>
      <p:sp>
        <p:nvSpPr>
          <p:cNvPr id="18" name="Text 16"/>
          <p:cNvSpPr txBox="1"/>
          <p:nvPr/>
        </p:nvSpPr>
        <p:spPr>
          <a:xfrm>
            <a:off x="8284464"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month a platform is not live is cost carried or revenue missed — but fast only counts if it survives production.</a:t>
            </a:r>
            <a:endParaRPr lang="en-US" sz="1150" dirty="0"/>
          </a:p>
        </p:txBody>
      </p:sp>
      <p:sp>
        <p:nvSpPr>
          <p:cNvPr id="19" name="Shape 17"/>
          <p:cNvSpPr/>
          <p:nvPr/>
        </p:nvSpPr>
        <p:spPr>
          <a:xfrm>
            <a:off x="640080" y="3840480"/>
            <a:ext cx="3520440" cy="1783080"/>
          </a:xfrm>
          <a:prstGeom prst="roundRect">
            <a:avLst>
              <a:gd name="adj" fmla="val 6154"/>
            </a:avLst>
          </a:prstGeom>
          <a:solidFill>
            <a:srgbClr val="EDF2FA"/>
          </a:solidFill>
          <a:ln/>
        </p:spPr>
      </p:sp>
      <p:sp>
        <p:nvSpPr>
          <p:cNvPr id="20" name="Shape 18"/>
          <p:cNvSpPr/>
          <p:nvPr/>
        </p:nvSpPr>
        <p:spPr>
          <a:xfrm>
            <a:off x="896112" y="4078224"/>
            <a:ext cx="384048" cy="384048"/>
          </a:xfrm>
          <a:prstGeom prst="ellipse">
            <a:avLst/>
          </a:prstGeom>
          <a:solidFill>
            <a:srgbClr val="3E5C8A"/>
          </a:solidFill>
          <a:ln/>
        </p:spPr>
      </p:sp>
      <p:sp>
        <p:nvSpPr>
          <p:cNvPr id="21" name="Text 19"/>
          <p:cNvSpPr txBox="1"/>
          <p:nvPr/>
        </p:nvSpPr>
        <p:spPr>
          <a:xfrm>
            <a:off x="896112"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17320"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Outside and in</a:t>
            </a:r>
            <a:endParaRPr lang="en-US" sz="1500" dirty="0"/>
          </a:p>
        </p:txBody>
      </p:sp>
      <p:sp>
        <p:nvSpPr>
          <p:cNvPr id="23" name="Text 21"/>
          <p:cNvSpPr txBox="1"/>
          <p:nvPr/>
        </p:nvSpPr>
        <p:spPr>
          <a:xfrm>
            <a:off x="914400"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institution takes to market, and how it runs inside — smarter operations and better tools for its people.</a:t>
            </a:r>
            <a:endParaRPr lang="en-US" sz="1150" dirty="0"/>
          </a:p>
        </p:txBody>
      </p:sp>
      <p:sp>
        <p:nvSpPr>
          <p:cNvPr id="24" name="Shape 22"/>
          <p:cNvSpPr/>
          <p:nvPr/>
        </p:nvSpPr>
        <p:spPr>
          <a:xfrm>
            <a:off x="4325112" y="3840480"/>
            <a:ext cx="3520440" cy="1783080"/>
          </a:xfrm>
          <a:prstGeom prst="roundRect">
            <a:avLst>
              <a:gd name="adj" fmla="val 6154"/>
            </a:avLst>
          </a:prstGeom>
          <a:solidFill>
            <a:srgbClr val="E4EBF7"/>
          </a:solidFill>
          <a:ln/>
        </p:spPr>
      </p:sp>
      <p:sp>
        <p:nvSpPr>
          <p:cNvPr id="25" name="Shape 23"/>
          <p:cNvSpPr/>
          <p:nvPr/>
        </p:nvSpPr>
        <p:spPr>
          <a:xfrm>
            <a:off x="4581144" y="4078224"/>
            <a:ext cx="384048" cy="384048"/>
          </a:xfrm>
          <a:prstGeom prst="ellipse">
            <a:avLst/>
          </a:prstGeom>
          <a:solidFill>
            <a:srgbClr val="1E2761"/>
          </a:solidFill>
          <a:ln/>
        </p:spPr>
      </p:sp>
      <p:sp>
        <p:nvSpPr>
          <p:cNvPr id="26" name="Text 24"/>
          <p:cNvSpPr txBox="1"/>
          <p:nvPr/>
        </p:nvSpPr>
        <p:spPr>
          <a:xfrm>
            <a:off x="4581144"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102352"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AI in the engine, not on the badge</a:t>
            </a:r>
            <a:endParaRPr lang="en-US" sz="1500" dirty="0"/>
          </a:p>
        </p:txBody>
      </p:sp>
      <p:sp>
        <p:nvSpPr>
          <p:cNvPr id="28" name="Text 26"/>
          <p:cNvSpPr txBox="1"/>
          <p:nvPr/>
        </p:nvSpPr>
        <p:spPr>
          <a:xfrm>
            <a:off x="4599432"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 what we build and how we deliver. AI-native is oversubscribed; the credibility is in the proof, not the claim.</a:t>
            </a:r>
            <a:endParaRPr lang="en-US" sz="1150" dirty="0"/>
          </a:p>
        </p:txBody>
      </p:sp>
      <p:sp>
        <p:nvSpPr>
          <p:cNvPr id="29" name="Shape 27"/>
          <p:cNvSpPr/>
          <p:nvPr/>
        </p:nvSpPr>
        <p:spPr>
          <a:xfrm>
            <a:off x="8010144" y="3840480"/>
            <a:ext cx="3520440" cy="1783080"/>
          </a:xfrm>
          <a:prstGeom prst="roundRect">
            <a:avLst>
              <a:gd name="adj" fmla="val 6154"/>
            </a:avLst>
          </a:prstGeom>
          <a:solidFill>
            <a:srgbClr val="EDF2FA"/>
          </a:solidFill>
          <a:ln/>
        </p:spPr>
      </p:sp>
      <p:sp>
        <p:nvSpPr>
          <p:cNvPr id="30" name="Shape 28"/>
          <p:cNvSpPr/>
          <p:nvPr/>
        </p:nvSpPr>
        <p:spPr>
          <a:xfrm>
            <a:off x="8266176" y="4078224"/>
            <a:ext cx="384048" cy="384048"/>
          </a:xfrm>
          <a:prstGeom prst="ellipse">
            <a:avLst/>
          </a:prstGeom>
          <a:solidFill>
            <a:srgbClr val="3E5C8A"/>
          </a:solidFill>
          <a:ln/>
        </p:spPr>
      </p:sp>
      <p:sp>
        <p:nvSpPr>
          <p:cNvPr id="31" name="Text 29"/>
          <p:cNvSpPr txBox="1"/>
          <p:nvPr/>
        </p:nvSpPr>
        <p:spPr>
          <a:xfrm>
            <a:off x="8266176"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87384"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 three, or it does not count</a:t>
            </a:r>
            <a:endParaRPr lang="en-US" sz="1500" dirty="0"/>
          </a:p>
        </p:txBody>
      </p:sp>
      <p:sp>
        <p:nvSpPr>
          <p:cNvPr id="33" name="Text 31"/>
          <p:cNvSpPr txBox="1"/>
          <p:nvPr/>
        </p:nvSpPr>
        <p:spPr>
          <a:xfrm>
            <a:off x="8284464"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funds and insurance. A statement that only works for banks is a banking strategy, not ours.</a:t>
            </a:r>
            <a:endParaRPr lang="en-US" sz="11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 statement that drops one of these is not a shorter vision — it is a different one.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Three candidate statements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six drivers. They differ in register and in what the headline claims.</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sectors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test: does the headline alone already exclude an internal team and a lower-cost integrator — and could a competitor lift it word for word?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3520440" cy="1298448"/>
          </a:xfrm>
          <a:prstGeom prst="roundRect">
            <a:avLst>
              <a:gd name="adj" fmla="val 7042"/>
            </a:avLst>
          </a:prstGeom>
          <a:solidFill>
            <a:srgbClr val="EDF2FA"/>
          </a:solidFill>
          <a:ln/>
        </p:spPr>
      </p:sp>
      <p:sp>
        <p:nvSpPr>
          <p:cNvPr id="5" name="Shape 3"/>
          <p:cNvSpPr/>
          <p:nvPr/>
        </p:nvSpPr>
        <p:spPr>
          <a:xfrm>
            <a:off x="868680" y="1965960"/>
            <a:ext cx="347472" cy="347472"/>
          </a:xfrm>
          <a:prstGeom prst="ellipse">
            <a:avLst/>
          </a:prstGeom>
          <a:solidFill>
            <a:srgbClr val="1E2761"/>
          </a:solidFill>
          <a:ln/>
        </p:spPr>
      </p:sp>
      <p:sp>
        <p:nvSpPr>
          <p:cNvPr id="6" name="Text 4"/>
          <p:cNvSpPr txBox="1"/>
          <p:nvPr/>
        </p:nvSpPr>
        <p:spPr>
          <a:xfrm>
            <a:off x="868680"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Integrated, not siloed</a:t>
            </a:r>
            <a:endParaRPr lang="en-US" sz="1350" dirty="0"/>
          </a:p>
        </p:txBody>
      </p:sp>
      <p:sp>
        <p:nvSpPr>
          <p:cNvPr id="8" name="Text 6"/>
          <p:cNvSpPr txBox="1"/>
          <p:nvPr/>
        </p:nvSpPr>
        <p:spPr>
          <a:xfrm>
            <a:off x="896112"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Cross-offering propositions are the default catalogue; a single-offering sale is an entry point, not the destination.</a:t>
            </a:r>
            <a:endParaRPr lang="en-US" sz="1000" dirty="0"/>
          </a:p>
        </p:txBody>
      </p:sp>
      <p:sp>
        <p:nvSpPr>
          <p:cNvPr id="9" name="Shape 7"/>
          <p:cNvSpPr/>
          <p:nvPr/>
        </p:nvSpPr>
        <p:spPr>
          <a:xfrm>
            <a:off x="4325112" y="1783080"/>
            <a:ext cx="3520440" cy="1298448"/>
          </a:xfrm>
          <a:prstGeom prst="roundRect">
            <a:avLst>
              <a:gd name="adj" fmla="val 7042"/>
            </a:avLst>
          </a:prstGeom>
          <a:solidFill>
            <a:srgbClr val="EDF2FA"/>
          </a:solidFill>
          <a:ln/>
        </p:spPr>
      </p:sp>
      <p:sp>
        <p:nvSpPr>
          <p:cNvPr id="10" name="Shape 8"/>
          <p:cNvSpPr/>
          <p:nvPr/>
        </p:nvSpPr>
        <p:spPr>
          <a:xfrm>
            <a:off x="4553712" y="1965960"/>
            <a:ext cx="347472" cy="347472"/>
          </a:xfrm>
          <a:prstGeom prst="ellipse">
            <a:avLst/>
          </a:prstGeom>
          <a:solidFill>
            <a:srgbClr val="3E5C8A"/>
          </a:solidFill>
          <a:ln/>
        </p:spPr>
      </p:sp>
      <p:sp>
        <p:nvSpPr>
          <p:cNvPr id="11" name="Text 9"/>
          <p:cNvSpPr txBox="1"/>
          <p:nvPr/>
        </p:nvSpPr>
        <p:spPr>
          <a:xfrm>
            <a:off x="4553712"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38344"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Named accounts, not averages</a:t>
            </a:r>
            <a:endParaRPr lang="en-US" sz="1350" dirty="0"/>
          </a:p>
        </p:txBody>
      </p:sp>
      <p:sp>
        <p:nvSpPr>
          <p:cNvPr id="13" name="Text 11"/>
          <p:cNvSpPr txBox="1"/>
          <p:nvPr/>
        </p:nvSpPr>
        <p:spPr>
          <a:xfrm>
            <a:off x="4581144"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000" dirty="0"/>
          </a:p>
        </p:txBody>
      </p:sp>
      <p:sp>
        <p:nvSpPr>
          <p:cNvPr id="14" name="Shape 12"/>
          <p:cNvSpPr/>
          <p:nvPr/>
        </p:nvSpPr>
        <p:spPr>
          <a:xfrm>
            <a:off x="8010144" y="1783080"/>
            <a:ext cx="3520440" cy="1298448"/>
          </a:xfrm>
          <a:prstGeom prst="roundRect">
            <a:avLst>
              <a:gd name="adj" fmla="val 7042"/>
            </a:avLst>
          </a:prstGeom>
          <a:solidFill>
            <a:srgbClr val="EDF2FA"/>
          </a:solidFill>
          <a:ln/>
        </p:spPr>
      </p:sp>
      <p:sp>
        <p:nvSpPr>
          <p:cNvPr id="15" name="Shape 13"/>
          <p:cNvSpPr/>
          <p:nvPr/>
        </p:nvSpPr>
        <p:spPr>
          <a:xfrm>
            <a:off x="8238744" y="1965960"/>
            <a:ext cx="347472" cy="347472"/>
          </a:xfrm>
          <a:prstGeom prst="ellipse">
            <a:avLst/>
          </a:prstGeom>
          <a:solidFill>
            <a:srgbClr val="1E2761"/>
          </a:solidFill>
          <a:ln/>
        </p:spPr>
      </p:sp>
      <p:sp>
        <p:nvSpPr>
          <p:cNvPr id="16" name="Text 14"/>
          <p:cNvSpPr txBox="1"/>
          <p:nvPr/>
        </p:nvSpPr>
        <p:spPr>
          <a:xfrm>
            <a:off x="8238744"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23376"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Sized and priced</a:t>
            </a:r>
            <a:endParaRPr lang="en-US" sz="1350" dirty="0"/>
          </a:p>
        </p:txBody>
      </p:sp>
      <p:sp>
        <p:nvSpPr>
          <p:cNvPr id="18" name="Text 16"/>
          <p:cNvSpPr txBox="1"/>
          <p:nvPr/>
        </p:nvSpPr>
        <p:spPr>
          <a:xfrm>
            <a:off x="8266176"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000" dirty="0"/>
          </a:p>
        </p:txBody>
      </p:sp>
      <p:sp>
        <p:nvSpPr>
          <p:cNvPr id="19" name="Shape 17"/>
          <p:cNvSpPr/>
          <p:nvPr/>
        </p:nvSpPr>
        <p:spPr>
          <a:xfrm>
            <a:off x="640080" y="3246120"/>
            <a:ext cx="3520440" cy="1298448"/>
          </a:xfrm>
          <a:prstGeom prst="roundRect">
            <a:avLst>
              <a:gd name="adj" fmla="val 7042"/>
            </a:avLst>
          </a:prstGeom>
          <a:solidFill>
            <a:srgbClr val="EDF2FA"/>
          </a:solidFill>
          <a:ln/>
        </p:spPr>
      </p:sp>
      <p:sp>
        <p:nvSpPr>
          <p:cNvPr id="20" name="Shape 18"/>
          <p:cNvSpPr/>
          <p:nvPr/>
        </p:nvSpPr>
        <p:spPr>
          <a:xfrm>
            <a:off x="868680" y="3429000"/>
            <a:ext cx="347472" cy="347472"/>
          </a:xfrm>
          <a:prstGeom prst="ellipse">
            <a:avLst/>
          </a:prstGeom>
          <a:solidFill>
            <a:srgbClr val="3E5C8A"/>
          </a:solidFill>
          <a:ln/>
        </p:spPr>
      </p:sp>
      <p:sp>
        <p:nvSpPr>
          <p:cNvPr id="21" name="Text 19"/>
          <p:cNvSpPr txBox="1"/>
          <p:nvPr/>
        </p:nvSpPr>
        <p:spPr>
          <a:xfrm>
            <a:off x="868680"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53312"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Covered by a partner</a:t>
            </a:r>
            <a:endParaRPr lang="en-US" sz="1350" dirty="0"/>
          </a:p>
        </p:txBody>
      </p:sp>
      <p:sp>
        <p:nvSpPr>
          <p:cNvPr id="23" name="Text 21"/>
          <p:cNvSpPr txBox="1"/>
          <p:nvPr/>
        </p:nvSpPr>
        <p:spPr>
          <a:xfrm>
            <a:off x="896112"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000" dirty="0"/>
          </a:p>
        </p:txBody>
      </p:sp>
      <p:sp>
        <p:nvSpPr>
          <p:cNvPr id="24" name="Shape 22"/>
          <p:cNvSpPr/>
          <p:nvPr/>
        </p:nvSpPr>
        <p:spPr>
          <a:xfrm>
            <a:off x="4325112" y="3246120"/>
            <a:ext cx="3520440" cy="1298448"/>
          </a:xfrm>
          <a:prstGeom prst="roundRect">
            <a:avLst>
              <a:gd name="adj" fmla="val 7042"/>
            </a:avLst>
          </a:prstGeom>
          <a:solidFill>
            <a:srgbClr val="EDF2FA"/>
          </a:solidFill>
          <a:ln/>
        </p:spPr>
      </p:sp>
      <p:sp>
        <p:nvSpPr>
          <p:cNvPr id="25" name="Shape 23"/>
          <p:cNvSpPr/>
          <p:nvPr/>
        </p:nvSpPr>
        <p:spPr>
          <a:xfrm>
            <a:off x="4553712" y="3429000"/>
            <a:ext cx="347472" cy="347472"/>
          </a:xfrm>
          <a:prstGeom prst="ellipse">
            <a:avLst/>
          </a:prstGeom>
          <a:solidFill>
            <a:srgbClr val="1E2761"/>
          </a:solidFill>
          <a:ln/>
        </p:spPr>
      </p:sp>
      <p:sp>
        <p:nvSpPr>
          <p:cNvPr id="26" name="Text 24"/>
          <p:cNvSpPr txBox="1"/>
          <p:nvPr/>
        </p:nvSpPr>
        <p:spPr>
          <a:xfrm>
            <a:off x="4553712"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38344"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Deliverable by design</a:t>
            </a:r>
            <a:endParaRPr lang="en-US" sz="1350" dirty="0"/>
          </a:p>
        </p:txBody>
      </p:sp>
      <p:sp>
        <p:nvSpPr>
          <p:cNvPr id="28" name="Text 26"/>
          <p:cNvSpPr txBox="1"/>
          <p:nvPr/>
        </p:nvSpPr>
        <p:spPr>
          <a:xfrm>
            <a:off x="4581144"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000" dirty="0"/>
          </a:p>
        </p:txBody>
      </p:sp>
      <p:sp>
        <p:nvSpPr>
          <p:cNvPr id="29" name="Shape 27"/>
          <p:cNvSpPr/>
          <p:nvPr/>
        </p:nvSpPr>
        <p:spPr>
          <a:xfrm>
            <a:off x="8010144" y="3246120"/>
            <a:ext cx="3520440" cy="1298448"/>
          </a:xfrm>
          <a:prstGeom prst="roundRect">
            <a:avLst>
              <a:gd name="adj" fmla="val 7042"/>
            </a:avLst>
          </a:prstGeom>
          <a:solidFill>
            <a:srgbClr val="EDF2FA"/>
          </a:solidFill>
          <a:ln/>
        </p:spPr>
      </p:sp>
      <p:sp>
        <p:nvSpPr>
          <p:cNvPr id="30" name="Shape 28"/>
          <p:cNvSpPr/>
          <p:nvPr/>
        </p:nvSpPr>
        <p:spPr>
          <a:xfrm>
            <a:off x="8238744" y="3429000"/>
            <a:ext cx="347472" cy="347472"/>
          </a:xfrm>
          <a:prstGeom prst="ellipse">
            <a:avLst/>
          </a:prstGeom>
          <a:solidFill>
            <a:srgbClr val="3E5C8A"/>
          </a:solidFill>
          <a:ln/>
        </p:spPr>
      </p:sp>
      <p:sp>
        <p:nvSpPr>
          <p:cNvPr id="31" name="Text 29"/>
          <p:cNvSpPr txBox="1"/>
          <p:nvPr/>
        </p:nvSpPr>
        <p:spPr>
          <a:xfrm>
            <a:off x="8238744"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23376"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Domain-specific, not agnostic</a:t>
            </a:r>
            <a:endParaRPr lang="en-US" sz="1350" dirty="0"/>
          </a:p>
        </p:txBody>
      </p:sp>
      <p:sp>
        <p:nvSpPr>
          <p:cNvPr id="33" name="Text 31"/>
          <p:cNvSpPr txBox="1"/>
          <p:nvPr/>
        </p:nvSpPr>
        <p:spPr>
          <a:xfrm>
            <a:off x="8266176"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Each FSI sector is specialised and clients expect it: propositions, credentials and CVs speak that sector’s language.</a:t>
            </a:r>
            <a:endParaRPr lang="en-US" sz="1000" dirty="0"/>
          </a:p>
        </p:txBody>
      </p:sp>
      <p:sp>
        <p:nvSpPr>
          <p:cNvPr id="34" name="Shape 32"/>
          <p:cNvSpPr/>
          <p:nvPr/>
        </p:nvSpPr>
        <p:spPr>
          <a:xfrm>
            <a:off x="640080" y="4709160"/>
            <a:ext cx="3520440" cy="1298448"/>
          </a:xfrm>
          <a:prstGeom prst="roundRect">
            <a:avLst>
              <a:gd name="adj" fmla="val 7042"/>
            </a:avLst>
          </a:prstGeom>
          <a:solidFill>
            <a:srgbClr val="EDF2FA"/>
          </a:solidFill>
          <a:ln/>
        </p:spPr>
      </p:sp>
      <p:sp>
        <p:nvSpPr>
          <p:cNvPr id="35" name="Shape 33"/>
          <p:cNvSpPr/>
          <p:nvPr/>
        </p:nvSpPr>
        <p:spPr>
          <a:xfrm>
            <a:off x="868680" y="4892040"/>
            <a:ext cx="347472" cy="347472"/>
          </a:xfrm>
          <a:prstGeom prst="ellipse">
            <a:avLst/>
          </a:prstGeom>
          <a:solidFill>
            <a:srgbClr val="1E2761"/>
          </a:solidFill>
          <a:ln/>
        </p:spPr>
      </p:sp>
      <p:sp>
        <p:nvSpPr>
          <p:cNvPr id="36" name="Text 34"/>
          <p:cNvSpPr txBox="1"/>
          <p:nvPr/>
        </p:nvSpPr>
        <p:spPr>
          <a:xfrm>
            <a:off x="868680"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353312"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AI and innovation embedded</a:t>
            </a:r>
            <a:endParaRPr lang="en-US" sz="1350" dirty="0"/>
          </a:p>
        </p:txBody>
      </p:sp>
      <p:sp>
        <p:nvSpPr>
          <p:cNvPr id="38" name="Text 36"/>
          <p:cNvSpPr txBox="1"/>
          <p:nvPr/>
        </p:nvSpPr>
        <p:spPr>
          <a:xfrm>
            <a:off x="896112"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000" dirty="0"/>
          </a:p>
        </p:txBody>
      </p:sp>
      <p:sp>
        <p:nvSpPr>
          <p:cNvPr id="39" name="Shape 37"/>
          <p:cNvSpPr/>
          <p:nvPr/>
        </p:nvSpPr>
        <p:spPr>
          <a:xfrm>
            <a:off x="4325112" y="4709160"/>
            <a:ext cx="3520440" cy="1298448"/>
          </a:xfrm>
          <a:prstGeom prst="roundRect">
            <a:avLst>
              <a:gd name="adj" fmla="val 7042"/>
            </a:avLst>
          </a:prstGeom>
          <a:solidFill>
            <a:srgbClr val="EDF2FA"/>
          </a:solidFill>
          <a:ln/>
        </p:spPr>
      </p:sp>
      <p:sp>
        <p:nvSpPr>
          <p:cNvPr id="40" name="Shape 38"/>
          <p:cNvSpPr/>
          <p:nvPr/>
        </p:nvSpPr>
        <p:spPr>
          <a:xfrm>
            <a:off x="4553712" y="4892040"/>
            <a:ext cx="347472" cy="347472"/>
          </a:xfrm>
          <a:prstGeom prst="ellipse">
            <a:avLst/>
          </a:prstGeom>
          <a:solidFill>
            <a:srgbClr val="3E5C8A"/>
          </a:solidFill>
          <a:ln/>
        </p:spPr>
      </p:sp>
      <p:sp>
        <p:nvSpPr>
          <p:cNvPr id="41" name="Text 39"/>
          <p:cNvSpPr txBox="1"/>
          <p:nvPr/>
        </p:nvSpPr>
        <p:spPr>
          <a:xfrm>
            <a:off x="4553712"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5038344"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One integrated market team</a:t>
            </a:r>
            <a:endParaRPr lang="en-US" sz="1350" dirty="0"/>
          </a:p>
        </p:txBody>
      </p:sp>
      <p:sp>
        <p:nvSpPr>
          <p:cNvPr id="43" name="Text 41"/>
          <p:cNvSpPr txBox="1"/>
          <p:nvPr/>
        </p:nvSpPr>
        <p:spPr>
          <a:xfrm>
            <a:off x="4581144"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000" dirty="0"/>
          </a:p>
        </p:txBody>
      </p:sp>
      <p:sp>
        <p:nvSpPr>
          <p:cNvPr id="44" name="Shape 42"/>
          <p:cNvSpPr/>
          <p:nvPr/>
        </p:nvSpPr>
        <p:spPr>
          <a:xfrm>
            <a:off x="8010144" y="4709160"/>
            <a:ext cx="3520440" cy="1298448"/>
          </a:xfrm>
          <a:prstGeom prst="roundRect">
            <a:avLst>
              <a:gd name="adj" fmla="val 7042"/>
            </a:avLst>
          </a:prstGeom>
          <a:solidFill>
            <a:srgbClr val="EDF2FA"/>
          </a:solidFill>
          <a:ln/>
        </p:spPr>
      </p:sp>
      <p:sp>
        <p:nvSpPr>
          <p:cNvPr id="45" name="Shape 43"/>
          <p:cNvSpPr/>
          <p:nvPr/>
        </p:nvSpPr>
        <p:spPr>
          <a:xfrm>
            <a:off x="8238744" y="4892040"/>
            <a:ext cx="347472" cy="347472"/>
          </a:xfrm>
          <a:prstGeom prst="ellipse">
            <a:avLst/>
          </a:prstGeom>
          <a:solidFill>
            <a:srgbClr val="1E2761"/>
          </a:solidFill>
          <a:ln/>
        </p:spPr>
      </p:sp>
      <p:sp>
        <p:nvSpPr>
          <p:cNvPr id="46" name="Text 44"/>
          <p:cNvSpPr txBox="1"/>
          <p:nvPr/>
        </p:nvSpPr>
        <p:spPr>
          <a:xfrm>
            <a:off x="8238744"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8723376"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Show, don’t tell</a:t>
            </a:r>
            <a:endParaRPr lang="en-US" sz="1350" dirty="0"/>
          </a:p>
        </p:txBody>
      </p:sp>
      <p:sp>
        <p:nvSpPr>
          <p:cNvPr id="48" name="Text 46"/>
          <p:cNvSpPr txBox="1"/>
          <p:nvPr/>
        </p:nvSpPr>
        <p:spPr>
          <a:xfrm>
            <a:off x="8266176"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Pursuits are won with demos, showcases and a story — and proposals are assembled from reusable foundations, not written from scratch.</a:t>
            </a:r>
            <a:endParaRPr lang="en-US" sz="1000" dirty="0"/>
          </a:p>
        </p:txBody>
      </p:sp>
      <p:sp>
        <p:nvSpPr>
          <p:cNvPr id="49" name="Text 47"/>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THREE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the strategy must cover</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architecture, then a closer look at each pillar.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ambition, four pillars and the discipline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Markets, tiers and accounts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Delivery, economics and people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Alliances and eminence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architecture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sectors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Propositions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Archetypes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skills, certification and capacity</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financial services is three sectors,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sector</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Sector is a dimension throughout: every proposition says which sectors it serves, every account carries its sector, and targets are set by market and sector,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Segments within each sector are indicative; the cycle confirms which we actually pursue.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sectors.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Tiering is our prioritisation inside the firm’s single account plan, not a separate account list.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Integrated by default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most propositions span the offerings; some genuinely do not, and that is allowed.</a:t>
            </a:r>
            <a:endParaRPr lang="en-US" sz="1450" dirty="0"/>
          </a:p>
        </p:txBody>
      </p:sp>
      <p:sp>
        <p:nvSpPr>
          <p:cNvPr id="4" name="Text 2"/>
          <p:cNvSpPr txBox="1"/>
          <p:nvPr/>
        </p:nvSpPr>
        <p:spPr>
          <a:xfrm>
            <a:off x="594360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Industry Solutions</a:t>
            </a:r>
            <a:endParaRPr lang="en-US" sz="1150" dirty="0"/>
          </a:p>
        </p:txBody>
      </p:sp>
      <p:sp>
        <p:nvSpPr>
          <p:cNvPr id="5" name="Text 3"/>
          <p:cNvSpPr txBox="1"/>
          <p:nvPr/>
        </p:nvSpPr>
        <p:spPr>
          <a:xfrm>
            <a:off x="781812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AI and Data</a:t>
            </a:r>
            <a:endParaRPr lang="en-US" sz="1150" dirty="0"/>
          </a:p>
        </p:txBody>
      </p:sp>
      <p:sp>
        <p:nvSpPr>
          <p:cNvPr id="6" name="Text 4"/>
          <p:cNvSpPr txBox="1"/>
          <p:nvPr/>
        </p:nvSpPr>
        <p:spPr>
          <a:xfrm>
            <a:off x="969264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Engineering</a:t>
            </a:r>
            <a:endParaRPr lang="en-US" sz="1150" dirty="0"/>
          </a:p>
        </p:txBody>
      </p:sp>
      <p:sp>
        <p:nvSpPr>
          <p:cNvPr id="7" name="Shape 5"/>
          <p:cNvSpPr/>
          <p:nvPr/>
        </p:nvSpPr>
        <p:spPr>
          <a:xfrm>
            <a:off x="640080" y="2377440"/>
            <a:ext cx="10881360" cy="566928"/>
          </a:xfrm>
          <a:prstGeom prst="roundRect">
            <a:avLst>
              <a:gd name="adj" fmla="val 12903"/>
            </a:avLst>
          </a:prstGeom>
          <a:solidFill>
            <a:srgbClr val="F2F6FC"/>
          </a:solidFill>
          <a:ln/>
        </p:spPr>
      </p:sp>
      <p:sp>
        <p:nvSpPr>
          <p:cNvPr id="8" name="Text 6"/>
          <p:cNvSpPr txBox="1"/>
          <p:nvPr/>
        </p:nvSpPr>
        <p:spPr>
          <a:xfrm>
            <a:off x="914400" y="2377440"/>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Greenfield digital bank setup</a:t>
            </a:r>
            <a:endParaRPr lang="en-US" sz="1250" dirty="0"/>
          </a:p>
        </p:txBody>
      </p:sp>
      <p:sp>
        <p:nvSpPr>
          <p:cNvPr id="9" name="Text 7"/>
          <p:cNvSpPr txBox="1"/>
          <p:nvPr/>
        </p:nvSpPr>
        <p:spPr>
          <a:xfrm>
            <a:off x="4937760" y="2377440"/>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0" name="Shape 8"/>
          <p:cNvSpPr/>
          <p:nvPr/>
        </p:nvSpPr>
        <p:spPr>
          <a:xfrm>
            <a:off x="6693408" y="2523744"/>
            <a:ext cx="274320" cy="274320"/>
          </a:xfrm>
          <a:prstGeom prst="ellipse">
            <a:avLst/>
          </a:prstGeom>
          <a:solidFill>
            <a:srgbClr val="1E2761"/>
          </a:solidFill>
          <a:ln w="15875">
            <a:solidFill>
              <a:srgbClr val="1E2761"/>
            </a:solidFill>
            <a:prstDash val="solid"/>
          </a:ln>
        </p:spPr>
      </p:sp>
      <p:sp>
        <p:nvSpPr>
          <p:cNvPr id="11" name="Shape 9"/>
          <p:cNvSpPr/>
          <p:nvPr/>
        </p:nvSpPr>
        <p:spPr>
          <a:xfrm>
            <a:off x="8567928" y="2523744"/>
            <a:ext cx="274320" cy="274320"/>
          </a:xfrm>
          <a:prstGeom prst="ellipse">
            <a:avLst/>
          </a:prstGeom>
          <a:solidFill>
            <a:srgbClr val="1E2761"/>
          </a:solidFill>
          <a:ln w="15875">
            <a:solidFill>
              <a:srgbClr val="1E2761"/>
            </a:solidFill>
            <a:prstDash val="solid"/>
          </a:ln>
        </p:spPr>
      </p:sp>
      <p:sp>
        <p:nvSpPr>
          <p:cNvPr id="12" name="Shape 10"/>
          <p:cNvSpPr/>
          <p:nvPr/>
        </p:nvSpPr>
        <p:spPr>
          <a:xfrm>
            <a:off x="10442448" y="2523744"/>
            <a:ext cx="274320" cy="274320"/>
          </a:xfrm>
          <a:prstGeom prst="ellipse">
            <a:avLst/>
          </a:prstGeom>
          <a:solidFill>
            <a:srgbClr val="1E2761"/>
          </a:solidFill>
          <a:ln w="15875">
            <a:solidFill>
              <a:srgbClr val="1E2761"/>
            </a:solidFill>
            <a:prstDash val="solid"/>
          </a:ln>
        </p:spPr>
      </p:sp>
      <p:sp>
        <p:nvSpPr>
          <p:cNvPr id="13" name="Shape 11"/>
          <p:cNvSpPr/>
          <p:nvPr/>
        </p:nvSpPr>
        <p:spPr>
          <a:xfrm>
            <a:off x="640080" y="3035808"/>
            <a:ext cx="10881360" cy="566928"/>
          </a:xfrm>
          <a:prstGeom prst="roundRect">
            <a:avLst>
              <a:gd name="adj" fmla="val 12903"/>
            </a:avLst>
          </a:prstGeom>
          <a:solidFill>
            <a:srgbClr val="EDF2FA"/>
          </a:solidFill>
          <a:ln/>
        </p:spPr>
      </p:sp>
      <p:sp>
        <p:nvSpPr>
          <p:cNvPr id="14" name="Text 12"/>
          <p:cNvSpPr txBox="1"/>
          <p:nvPr/>
        </p:nvSpPr>
        <p:spPr>
          <a:xfrm>
            <a:off x="914400" y="3035808"/>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Core modernisation and migration</a:t>
            </a:r>
            <a:endParaRPr lang="en-US" sz="1250" dirty="0"/>
          </a:p>
        </p:txBody>
      </p:sp>
      <p:sp>
        <p:nvSpPr>
          <p:cNvPr id="15" name="Text 13"/>
          <p:cNvSpPr txBox="1"/>
          <p:nvPr/>
        </p:nvSpPr>
        <p:spPr>
          <a:xfrm>
            <a:off x="4937760" y="3035808"/>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6" name="Shape 14"/>
          <p:cNvSpPr/>
          <p:nvPr/>
        </p:nvSpPr>
        <p:spPr>
          <a:xfrm>
            <a:off x="6693408" y="3182112"/>
            <a:ext cx="274320" cy="274320"/>
          </a:xfrm>
          <a:prstGeom prst="ellipse">
            <a:avLst/>
          </a:prstGeom>
          <a:solidFill>
            <a:srgbClr val="1E2761"/>
          </a:solidFill>
          <a:ln w="15875">
            <a:solidFill>
              <a:srgbClr val="1E2761"/>
            </a:solidFill>
            <a:prstDash val="solid"/>
          </a:ln>
        </p:spPr>
      </p:sp>
      <p:sp>
        <p:nvSpPr>
          <p:cNvPr id="17" name="Shape 15"/>
          <p:cNvSpPr/>
          <p:nvPr/>
        </p:nvSpPr>
        <p:spPr>
          <a:xfrm>
            <a:off x="8567928" y="3182112"/>
            <a:ext cx="274320" cy="274320"/>
          </a:xfrm>
          <a:prstGeom prst="ellipse">
            <a:avLst/>
          </a:prstGeom>
          <a:solidFill>
            <a:srgbClr val="1E2761"/>
          </a:solidFill>
          <a:ln w="15875">
            <a:solidFill>
              <a:srgbClr val="1E2761"/>
            </a:solidFill>
            <a:prstDash val="solid"/>
          </a:ln>
        </p:spPr>
      </p:sp>
      <p:sp>
        <p:nvSpPr>
          <p:cNvPr id="18" name="Shape 16"/>
          <p:cNvSpPr/>
          <p:nvPr/>
        </p:nvSpPr>
        <p:spPr>
          <a:xfrm>
            <a:off x="10442448" y="3182112"/>
            <a:ext cx="274320" cy="274320"/>
          </a:xfrm>
          <a:prstGeom prst="ellipse">
            <a:avLst/>
          </a:prstGeom>
          <a:solidFill>
            <a:srgbClr val="1E2761"/>
          </a:solidFill>
          <a:ln w="15875">
            <a:solidFill>
              <a:srgbClr val="1E2761"/>
            </a:solidFill>
            <a:prstDash val="solid"/>
          </a:ln>
        </p:spPr>
      </p:sp>
      <p:sp>
        <p:nvSpPr>
          <p:cNvPr id="19" name="Shape 17"/>
          <p:cNvSpPr/>
          <p:nvPr/>
        </p:nvSpPr>
        <p:spPr>
          <a:xfrm>
            <a:off x="640080" y="3694176"/>
            <a:ext cx="10881360" cy="566928"/>
          </a:xfrm>
          <a:prstGeom prst="roundRect">
            <a:avLst>
              <a:gd name="adj" fmla="val 12903"/>
            </a:avLst>
          </a:prstGeom>
          <a:solidFill>
            <a:srgbClr val="F2F6FC"/>
          </a:solidFill>
          <a:ln/>
        </p:spPr>
      </p:sp>
      <p:sp>
        <p:nvSpPr>
          <p:cNvPr id="20" name="Text 18"/>
          <p:cNvSpPr txBox="1"/>
          <p:nvPr/>
        </p:nvSpPr>
        <p:spPr>
          <a:xfrm>
            <a:off x="914400" y="3694176"/>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Intelligent operations for claims</a:t>
            </a:r>
            <a:endParaRPr lang="en-US" sz="1250" dirty="0"/>
          </a:p>
        </p:txBody>
      </p:sp>
      <p:sp>
        <p:nvSpPr>
          <p:cNvPr id="21" name="Text 19"/>
          <p:cNvSpPr txBox="1"/>
          <p:nvPr/>
        </p:nvSpPr>
        <p:spPr>
          <a:xfrm>
            <a:off x="4937760" y="3694176"/>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2" name="Shape 20"/>
          <p:cNvSpPr/>
          <p:nvPr/>
        </p:nvSpPr>
        <p:spPr>
          <a:xfrm>
            <a:off x="6693408" y="3840480"/>
            <a:ext cx="274320" cy="274320"/>
          </a:xfrm>
          <a:prstGeom prst="ellipse">
            <a:avLst/>
          </a:prstGeom>
          <a:solidFill>
            <a:srgbClr val="1E2761"/>
          </a:solidFill>
          <a:ln w="15875">
            <a:solidFill>
              <a:srgbClr val="1E2761"/>
            </a:solidFill>
            <a:prstDash val="solid"/>
          </a:ln>
        </p:spPr>
      </p:sp>
      <p:sp>
        <p:nvSpPr>
          <p:cNvPr id="23" name="Shape 21"/>
          <p:cNvSpPr/>
          <p:nvPr/>
        </p:nvSpPr>
        <p:spPr>
          <a:xfrm>
            <a:off x="8567928" y="3840480"/>
            <a:ext cx="274320" cy="274320"/>
          </a:xfrm>
          <a:prstGeom prst="ellipse">
            <a:avLst/>
          </a:prstGeom>
          <a:solidFill>
            <a:srgbClr val="1E2761"/>
          </a:solidFill>
          <a:ln w="15875">
            <a:solidFill>
              <a:srgbClr val="1E2761"/>
            </a:solidFill>
            <a:prstDash val="solid"/>
          </a:ln>
        </p:spPr>
      </p:sp>
      <p:sp>
        <p:nvSpPr>
          <p:cNvPr id="24" name="Shape 22"/>
          <p:cNvSpPr/>
          <p:nvPr/>
        </p:nvSpPr>
        <p:spPr>
          <a:xfrm>
            <a:off x="10442448" y="3840480"/>
            <a:ext cx="274320" cy="274320"/>
          </a:xfrm>
          <a:prstGeom prst="ellipse">
            <a:avLst/>
          </a:prstGeom>
          <a:solidFill>
            <a:srgbClr val="FFFFFF"/>
          </a:solidFill>
          <a:ln w="15875">
            <a:solidFill>
              <a:srgbClr val="C9D4E6"/>
            </a:solidFill>
            <a:prstDash val="solid"/>
          </a:ln>
        </p:spPr>
      </p:sp>
      <p:sp>
        <p:nvSpPr>
          <p:cNvPr id="25" name="Shape 23"/>
          <p:cNvSpPr/>
          <p:nvPr/>
        </p:nvSpPr>
        <p:spPr>
          <a:xfrm>
            <a:off x="640080" y="4352544"/>
            <a:ext cx="10881360" cy="566928"/>
          </a:xfrm>
          <a:prstGeom prst="roundRect">
            <a:avLst>
              <a:gd name="adj" fmla="val 12903"/>
            </a:avLst>
          </a:prstGeom>
          <a:solidFill>
            <a:srgbClr val="EDF2FA"/>
          </a:solidFill>
          <a:ln/>
        </p:spPr>
      </p:sp>
      <p:sp>
        <p:nvSpPr>
          <p:cNvPr id="26" name="Text 24"/>
          <p:cNvSpPr txBox="1"/>
          <p:nvPr/>
        </p:nvSpPr>
        <p:spPr>
          <a:xfrm>
            <a:off x="914400" y="4352544"/>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Enterprise AI activation</a:t>
            </a:r>
            <a:endParaRPr lang="en-US" sz="1250" dirty="0"/>
          </a:p>
        </p:txBody>
      </p:sp>
      <p:sp>
        <p:nvSpPr>
          <p:cNvPr id="27" name="Text 25"/>
          <p:cNvSpPr txBox="1"/>
          <p:nvPr/>
        </p:nvSpPr>
        <p:spPr>
          <a:xfrm>
            <a:off x="4937760" y="4352544"/>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8" name="Shape 26"/>
          <p:cNvSpPr/>
          <p:nvPr/>
        </p:nvSpPr>
        <p:spPr>
          <a:xfrm>
            <a:off x="6693408" y="4498848"/>
            <a:ext cx="274320" cy="274320"/>
          </a:xfrm>
          <a:prstGeom prst="ellipse">
            <a:avLst/>
          </a:prstGeom>
          <a:solidFill>
            <a:srgbClr val="FFFFFF"/>
          </a:solidFill>
          <a:ln w="15875">
            <a:solidFill>
              <a:srgbClr val="C9D4E6"/>
            </a:solidFill>
            <a:prstDash val="solid"/>
          </a:ln>
        </p:spPr>
      </p:sp>
      <p:sp>
        <p:nvSpPr>
          <p:cNvPr id="29" name="Shape 27"/>
          <p:cNvSpPr/>
          <p:nvPr/>
        </p:nvSpPr>
        <p:spPr>
          <a:xfrm>
            <a:off x="8567928" y="4498848"/>
            <a:ext cx="274320" cy="274320"/>
          </a:xfrm>
          <a:prstGeom prst="ellipse">
            <a:avLst/>
          </a:prstGeom>
          <a:solidFill>
            <a:srgbClr val="1E2761"/>
          </a:solidFill>
          <a:ln w="15875">
            <a:solidFill>
              <a:srgbClr val="1E2761"/>
            </a:solidFill>
            <a:prstDash val="solid"/>
          </a:ln>
        </p:spPr>
      </p:sp>
      <p:sp>
        <p:nvSpPr>
          <p:cNvPr id="30" name="Shape 28"/>
          <p:cNvSpPr/>
          <p:nvPr/>
        </p:nvSpPr>
        <p:spPr>
          <a:xfrm>
            <a:off x="10442448" y="4498848"/>
            <a:ext cx="274320" cy="274320"/>
          </a:xfrm>
          <a:prstGeom prst="ellipse">
            <a:avLst/>
          </a:prstGeom>
          <a:solidFill>
            <a:srgbClr val="1E2761"/>
          </a:solidFill>
          <a:ln w="15875">
            <a:solidFill>
              <a:srgbClr val="1E2761"/>
            </a:solidFill>
            <a:prstDash val="solid"/>
          </a:ln>
        </p:spPr>
      </p:sp>
      <p:sp>
        <p:nvSpPr>
          <p:cNvPr id="31" name="Shape 29"/>
          <p:cNvSpPr/>
          <p:nvPr/>
        </p:nvSpPr>
        <p:spPr>
          <a:xfrm>
            <a:off x="640080" y="5010912"/>
            <a:ext cx="10881360" cy="566928"/>
          </a:xfrm>
          <a:prstGeom prst="roundRect">
            <a:avLst>
              <a:gd name="adj" fmla="val 12903"/>
            </a:avLst>
          </a:prstGeom>
          <a:solidFill>
            <a:srgbClr val="F2F6FC"/>
          </a:solidFill>
          <a:ln/>
        </p:spPr>
      </p:sp>
      <p:sp>
        <p:nvSpPr>
          <p:cNvPr id="32" name="Text 30"/>
          <p:cNvSpPr txBox="1"/>
          <p:nvPr/>
        </p:nvSpPr>
        <p:spPr>
          <a:xfrm>
            <a:off x="914400" y="5010912"/>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Cloud migration strategy</a:t>
            </a:r>
            <a:endParaRPr lang="en-US" sz="1250" dirty="0"/>
          </a:p>
        </p:txBody>
      </p:sp>
      <p:sp>
        <p:nvSpPr>
          <p:cNvPr id="33" name="Text 31"/>
          <p:cNvSpPr txBox="1"/>
          <p:nvPr/>
        </p:nvSpPr>
        <p:spPr>
          <a:xfrm>
            <a:off x="4937760" y="5010912"/>
            <a:ext cx="1005840" cy="566928"/>
          </a:xfrm>
          <a:prstGeom prst="rect">
            <a:avLst/>
          </a:prstGeom>
          <a:noFill/>
          <a:ln/>
        </p:spPr>
        <p:txBody>
          <a:bodyPr wrap="square" lIns="0" tIns="0" rIns="0" bIns="0" rtlCol="0" anchor="ctr"/>
          <a:lstStyle/>
          <a:p>
            <a:pPr indent="0" marL="0">
              <a:buNone/>
            </a:pPr>
            <a:r>
              <a:rPr lang="en-US" sz="1050" b="1" dirty="0">
                <a:solidFill>
                  <a:srgbClr val="B8862B"/>
                </a:solidFill>
                <a:latin typeface="Calibri" pitchFamily="34" charset="0"/>
                <a:ea typeface="Calibri" pitchFamily="34" charset="-122"/>
                <a:cs typeface="Calibri" pitchFamily="34" charset="-120"/>
              </a:rPr>
              <a:t>Focused</a:t>
            </a:r>
            <a:endParaRPr lang="en-US" sz="1050" dirty="0"/>
          </a:p>
        </p:txBody>
      </p:sp>
      <p:sp>
        <p:nvSpPr>
          <p:cNvPr id="34" name="Shape 32"/>
          <p:cNvSpPr/>
          <p:nvPr/>
        </p:nvSpPr>
        <p:spPr>
          <a:xfrm>
            <a:off x="6693408" y="5157216"/>
            <a:ext cx="274320" cy="274320"/>
          </a:xfrm>
          <a:prstGeom prst="ellipse">
            <a:avLst/>
          </a:prstGeom>
          <a:solidFill>
            <a:srgbClr val="FFFFFF"/>
          </a:solidFill>
          <a:ln w="15875">
            <a:solidFill>
              <a:srgbClr val="C9D4E6"/>
            </a:solidFill>
            <a:prstDash val="solid"/>
          </a:ln>
        </p:spPr>
      </p:sp>
      <p:sp>
        <p:nvSpPr>
          <p:cNvPr id="35" name="Shape 33"/>
          <p:cNvSpPr/>
          <p:nvPr/>
        </p:nvSpPr>
        <p:spPr>
          <a:xfrm>
            <a:off x="8567928" y="5157216"/>
            <a:ext cx="274320" cy="274320"/>
          </a:xfrm>
          <a:prstGeom prst="ellipse">
            <a:avLst/>
          </a:prstGeom>
          <a:solidFill>
            <a:srgbClr val="FFFFFF"/>
          </a:solidFill>
          <a:ln w="15875">
            <a:solidFill>
              <a:srgbClr val="C9D4E6"/>
            </a:solidFill>
            <a:prstDash val="solid"/>
          </a:ln>
        </p:spPr>
      </p:sp>
      <p:sp>
        <p:nvSpPr>
          <p:cNvPr id="36" name="Shape 34"/>
          <p:cNvSpPr/>
          <p:nvPr/>
        </p:nvSpPr>
        <p:spPr>
          <a:xfrm>
            <a:off x="10442448" y="5157216"/>
            <a:ext cx="274320" cy="274320"/>
          </a:xfrm>
          <a:prstGeom prst="ellipse">
            <a:avLst/>
          </a:prstGeom>
          <a:solidFill>
            <a:srgbClr val="1E2761"/>
          </a:solidFill>
          <a:ln w="15875">
            <a:solidFill>
              <a:srgbClr val="1E2761"/>
            </a:solidFill>
            <a:prstDash val="solid"/>
          </a:ln>
        </p:spPr>
      </p:sp>
      <p:sp>
        <p:nvSpPr>
          <p:cNvPr id="37" name="Shape 35"/>
          <p:cNvSpPr/>
          <p:nvPr/>
        </p:nvSpPr>
        <p:spPr>
          <a:xfrm>
            <a:off x="640080" y="5760720"/>
            <a:ext cx="10881360" cy="777240"/>
          </a:xfrm>
          <a:prstGeom prst="roundRect">
            <a:avLst>
              <a:gd name="adj" fmla="val 11765"/>
            </a:avLst>
          </a:prstGeom>
          <a:solidFill>
            <a:srgbClr val="1E2761"/>
          </a:solidFill>
          <a:ln/>
        </p:spPr>
      </p:sp>
      <p:sp>
        <p:nvSpPr>
          <p:cNvPr id="38" name="Text 36"/>
          <p:cNvSpPr txBox="1"/>
          <p:nvPr/>
        </p:nvSpPr>
        <p:spPr>
          <a:xfrm>
            <a:off x="914400" y="576072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rule: integrated is the default and the catalogue is built that way. A focused offering is permitted where the work genuinely does not span — and it is sold as a way in, not as the destination.</a:t>
            </a:r>
            <a:endParaRPr lang="en-US" sz="1250" dirty="0"/>
          </a:p>
        </p:txBody>
      </p:sp>
      <p:sp>
        <p:nvSpPr>
          <p:cNvPr id="39" name="Text 37"/>
          <p:cNvSpPr txBox="1"/>
          <p:nvPr/>
        </p:nvSpPr>
        <p:spPr>
          <a:xfrm>
            <a:off x="640080" y="6583680"/>
            <a:ext cx="5486400" cy="274320"/>
          </a:xfrm>
          <a:prstGeom prst="rect">
            <a:avLst/>
          </a:prstGeom>
          <a:noFill/>
          <a:ln/>
        </p:spPr>
        <p:txBody>
          <a:bodyPr wrap="square" lIns="0" tIns="0" rIns="0" bIns="0" rtlCol="0" anchor="ctr"/>
          <a:lstStyle/>
          <a:p>
            <a:pPr indent="0" marL="0">
              <a:buNone/>
            </a:pPr>
            <a:r>
              <a:rPr lang="en-US" sz="1050" i="1" dirty="0">
                <a:solidFill>
                  <a:srgbClr val="8792AB"/>
                </a:solidFill>
                <a:latin typeface="Calibri" pitchFamily="34" charset="0"/>
                <a:ea typeface="Calibri" pitchFamily="34" charset="-122"/>
                <a:cs typeface="Calibri" pitchFamily="34" charset="-120"/>
              </a:rPr>
              <a:t>Illustrative only — the catalogue itself is built in the cycle.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sector: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skills and enablement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and the capability behind the capacity.</a:t>
            </a:r>
            <a:endParaRPr lang="en-US" sz="1450" dirty="0"/>
          </a:p>
        </p:txBody>
      </p:sp>
      <p:sp>
        <p:nvSpPr>
          <p:cNvPr id="4" name="Shape 2"/>
          <p:cNvSpPr/>
          <p:nvPr/>
        </p:nvSpPr>
        <p:spPr>
          <a:xfrm>
            <a:off x="640080" y="1828800"/>
            <a:ext cx="2596896" cy="3520440"/>
          </a:xfrm>
          <a:prstGeom prst="roundRect">
            <a:avLst>
              <a:gd name="adj" fmla="val 4225"/>
            </a:avLst>
          </a:prstGeom>
          <a:solidFill>
            <a:srgbClr val="EDF2FA"/>
          </a:solidFill>
          <a:ln/>
        </p:spPr>
      </p:sp>
      <p:sp>
        <p:nvSpPr>
          <p:cNvPr id="5" name="Shape 3"/>
          <p:cNvSpPr/>
          <p:nvPr/>
        </p:nvSpPr>
        <p:spPr>
          <a:xfrm>
            <a:off x="640080" y="1828800"/>
            <a:ext cx="2596896" cy="713232"/>
          </a:xfrm>
          <a:prstGeom prst="rect">
            <a:avLst/>
          </a:prstGeom>
          <a:solidFill>
            <a:srgbClr val="1E2761"/>
          </a:solidFill>
          <a:ln/>
        </p:spPr>
      </p:sp>
      <p:sp>
        <p:nvSpPr>
          <p:cNvPr id="6" name="Text 4"/>
          <p:cNvSpPr txBox="1"/>
          <p:nvPr/>
        </p:nvSpPr>
        <p:spPr>
          <a:xfrm>
            <a:off x="841248"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dedicated team</a:t>
            </a:r>
            <a:endParaRPr lang="en-US" sz="1400" dirty="0"/>
          </a:p>
        </p:txBody>
      </p:sp>
      <p:sp>
        <p:nvSpPr>
          <p:cNvPr id="7" name="Text 5"/>
          <p:cNvSpPr txBox="1"/>
          <p:nvPr/>
        </p:nvSpPr>
        <p:spPr>
          <a:xfrm>
            <a:off x="841248"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Who works on FSI exclusively, across the three offerings?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roles and levels do they hold?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is realistically deliverable with them alone?</a:t>
            </a:r>
            <a:endParaRPr lang="en-US" sz="1100" dirty="0"/>
          </a:p>
        </p:txBody>
      </p:sp>
      <p:sp>
        <p:nvSpPr>
          <p:cNvPr id="8" name="Shape 6"/>
          <p:cNvSpPr/>
          <p:nvPr/>
        </p:nvSpPr>
        <p:spPr>
          <a:xfrm>
            <a:off x="3401568" y="1828800"/>
            <a:ext cx="2596896" cy="3520440"/>
          </a:xfrm>
          <a:prstGeom prst="roundRect">
            <a:avLst>
              <a:gd name="adj" fmla="val 4225"/>
            </a:avLst>
          </a:prstGeom>
          <a:solidFill>
            <a:srgbClr val="EDF2FA"/>
          </a:solidFill>
          <a:ln/>
        </p:spPr>
      </p:sp>
      <p:sp>
        <p:nvSpPr>
          <p:cNvPr id="9" name="Shape 7"/>
          <p:cNvSpPr/>
          <p:nvPr/>
        </p:nvSpPr>
        <p:spPr>
          <a:xfrm>
            <a:off x="3401568" y="1828800"/>
            <a:ext cx="2596896" cy="713232"/>
          </a:xfrm>
          <a:prstGeom prst="rect">
            <a:avLst/>
          </a:prstGeom>
          <a:solidFill>
            <a:srgbClr val="3E5C8A"/>
          </a:solidFill>
          <a:ln/>
        </p:spPr>
      </p:sp>
      <p:sp>
        <p:nvSpPr>
          <p:cNvPr id="10" name="Text 8"/>
          <p:cNvSpPr txBox="1"/>
          <p:nvPr/>
        </p:nvSpPr>
        <p:spPr>
          <a:xfrm>
            <a:off x="3602736"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Shared capacity</a:t>
            </a:r>
            <a:endParaRPr lang="en-US" sz="1400" dirty="0"/>
          </a:p>
        </p:txBody>
      </p:sp>
      <p:sp>
        <p:nvSpPr>
          <p:cNvPr id="11" name="Text 9"/>
          <p:cNvSpPr txBox="1"/>
          <p:nvPr/>
        </p:nvSpPr>
        <p:spPr>
          <a:xfrm>
            <a:off x="3602736"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resources are shared with other portfolios?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much of their time can we count on?</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skills do we borrow rather than own?</a:t>
            </a:r>
            <a:endParaRPr lang="en-US" sz="1100" dirty="0"/>
          </a:p>
        </p:txBody>
      </p:sp>
      <p:sp>
        <p:nvSpPr>
          <p:cNvPr id="12" name="Shape 10"/>
          <p:cNvSpPr/>
          <p:nvPr/>
        </p:nvSpPr>
        <p:spPr>
          <a:xfrm>
            <a:off x="6163056" y="1828800"/>
            <a:ext cx="2596896" cy="3520440"/>
          </a:xfrm>
          <a:prstGeom prst="roundRect">
            <a:avLst>
              <a:gd name="adj" fmla="val 4225"/>
            </a:avLst>
          </a:prstGeom>
          <a:solidFill>
            <a:srgbClr val="EDF2FA"/>
          </a:solidFill>
          <a:ln/>
        </p:spPr>
      </p:sp>
      <p:sp>
        <p:nvSpPr>
          <p:cNvPr id="13" name="Shape 11"/>
          <p:cNvSpPr/>
          <p:nvPr/>
        </p:nvSpPr>
        <p:spPr>
          <a:xfrm>
            <a:off x="6163056" y="1828800"/>
            <a:ext cx="2596896" cy="713232"/>
          </a:xfrm>
          <a:prstGeom prst="rect">
            <a:avLst/>
          </a:prstGeom>
          <a:solidFill>
            <a:srgbClr val="1E2761"/>
          </a:solidFill>
          <a:ln/>
        </p:spPr>
      </p:sp>
      <p:sp>
        <p:nvSpPr>
          <p:cNvPr id="14" name="Text 12"/>
          <p:cNvSpPr txBox="1"/>
          <p:nvPr/>
        </p:nvSpPr>
        <p:spPr>
          <a:xfrm>
            <a:off x="6364224"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Skills and enablement</a:t>
            </a:r>
            <a:endParaRPr lang="en-US" sz="1400" dirty="0"/>
          </a:p>
        </p:txBody>
      </p:sp>
      <p:sp>
        <p:nvSpPr>
          <p:cNvPr id="15" name="Text 13"/>
          <p:cNvSpPr txBox="1"/>
          <p:nvPr/>
        </p:nvSpPr>
        <p:spPr>
          <a:xfrm>
            <a:off x="6364224"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capabilities does the catalogue actually require?</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domain training and FSI certification is needed?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alliance and platform certification must we hold?</a:t>
            </a:r>
            <a:endParaRPr lang="en-US" sz="1100" dirty="0"/>
          </a:p>
        </p:txBody>
      </p:sp>
      <p:sp>
        <p:nvSpPr>
          <p:cNvPr id="16" name="Shape 14"/>
          <p:cNvSpPr/>
          <p:nvPr/>
        </p:nvSpPr>
        <p:spPr>
          <a:xfrm>
            <a:off x="8924544" y="1828800"/>
            <a:ext cx="2596896" cy="3520440"/>
          </a:xfrm>
          <a:prstGeom prst="roundRect">
            <a:avLst>
              <a:gd name="adj" fmla="val 4225"/>
            </a:avLst>
          </a:prstGeom>
          <a:solidFill>
            <a:srgbClr val="EDF2FA"/>
          </a:solidFill>
          <a:ln/>
        </p:spPr>
      </p:sp>
      <p:sp>
        <p:nvSpPr>
          <p:cNvPr id="17" name="Shape 15"/>
          <p:cNvSpPr/>
          <p:nvPr/>
        </p:nvSpPr>
        <p:spPr>
          <a:xfrm>
            <a:off x="8924544" y="1828800"/>
            <a:ext cx="2596896" cy="713232"/>
          </a:xfrm>
          <a:prstGeom prst="rect">
            <a:avLst/>
          </a:prstGeom>
          <a:solidFill>
            <a:srgbClr val="3E5C8A"/>
          </a:solidFill>
          <a:ln/>
        </p:spPr>
      </p:sp>
      <p:sp>
        <p:nvSpPr>
          <p:cNvPr id="18" name="Text 16"/>
          <p:cNvSpPr txBox="1"/>
          <p:nvPr/>
        </p:nvSpPr>
        <p:spPr>
          <a:xfrm>
            <a:off x="9125712"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gap to close</a:t>
            </a:r>
            <a:endParaRPr lang="en-US" sz="1400" dirty="0"/>
          </a:p>
        </p:txBody>
      </p:sp>
      <p:sp>
        <p:nvSpPr>
          <p:cNvPr id="19" name="Text 17"/>
          <p:cNvSpPr txBox="1"/>
          <p:nvPr/>
        </p:nvSpPr>
        <p:spPr>
          <a:xfrm>
            <a:off x="9125712"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Build, borrow or buy for each gap?</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By when, to support the targets we set?</a:t>
            </a:r>
            <a:endParaRPr lang="en-US" sz="1100" dirty="0"/>
          </a:p>
        </p:txBody>
      </p:sp>
      <p:sp>
        <p:nvSpPr>
          <p:cNvPr id="20" name="Shape 18"/>
          <p:cNvSpPr/>
          <p:nvPr/>
        </p:nvSpPr>
        <p:spPr>
          <a:xfrm>
            <a:off x="3566160" y="5532120"/>
            <a:ext cx="5029200" cy="301752"/>
          </a:xfrm>
          <a:prstGeom prst="roundRect">
            <a:avLst>
              <a:gd name="adj" fmla="val 48485"/>
            </a:avLst>
          </a:prstGeom>
          <a:solidFill>
            <a:srgbClr val="FFFFFF"/>
          </a:solidFill>
          <a:ln w="12700">
            <a:solidFill>
              <a:srgbClr val="B8862B"/>
            </a:solidFill>
            <a:prstDash val="solid"/>
          </a:ln>
        </p:spPr>
      </p:sp>
      <p:sp>
        <p:nvSpPr>
          <p:cNvPr id="21" name="Text 19"/>
          <p:cNvSpPr txBox="1"/>
          <p:nvPr/>
        </p:nvSpPr>
        <p:spPr>
          <a:xfrm>
            <a:off x="3566160" y="553212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22" name="Text 20"/>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Targets we cannot staff are not targets — and staff without the domain credential cannot sell the work.</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Why us and not them</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the argument we have to be able to make, and the evidence it needs.</a:t>
            </a:r>
            <a:endParaRPr lang="en-US" sz="1450" dirty="0"/>
          </a:p>
        </p:txBody>
      </p:sp>
      <p:sp>
        <p:nvSpPr>
          <p:cNvPr id="4" name="Shape 2"/>
          <p:cNvSpPr/>
          <p:nvPr/>
        </p:nvSpPr>
        <p:spPr>
          <a:xfrm>
            <a:off x="640080" y="1828800"/>
            <a:ext cx="5257800" cy="1188720"/>
          </a:xfrm>
          <a:prstGeom prst="roundRect">
            <a:avLst>
              <a:gd name="adj" fmla="val 7692"/>
            </a:avLst>
          </a:prstGeom>
          <a:solidFill>
            <a:srgbClr val="EDF2FA"/>
          </a:solidFill>
          <a:ln/>
        </p:spPr>
      </p:sp>
      <p:sp>
        <p:nvSpPr>
          <p:cNvPr id="5" name="Text 3"/>
          <p:cNvSpPr txBox="1"/>
          <p:nvPr/>
        </p:nvSpPr>
        <p:spPr>
          <a:xfrm>
            <a:off x="91440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They do it themselves</a:t>
            </a:r>
            <a:endParaRPr lang="en-US" sz="1450" dirty="0"/>
          </a:p>
        </p:txBody>
      </p:sp>
      <p:sp>
        <p:nvSpPr>
          <p:cNvPr id="6" name="Text 4"/>
          <p:cNvSpPr txBox="1"/>
          <p:nvPr/>
        </p:nvSpPr>
        <p:spPr>
          <a:xfrm>
            <a:off x="91440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An internal team can build. It cannot govern a dozen streams, a vendor ecosystem and a regulator at once while running the institution.</a:t>
            </a:r>
            <a:endParaRPr lang="en-US" sz="1100" dirty="0"/>
          </a:p>
        </p:txBody>
      </p:sp>
      <p:sp>
        <p:nvSpPr>
          <p:cNvPr id="7" name="Shape 5"/>
          <p:cNvSpPr/>
          <p:nvPr/>
        </p:nvSpPr>
        <p:spPr>
          <a:xfrm>
            <a:off x="6263640" y="1828800"/>
            <a:ext cx="5257800" cy="1188720"/>
          </a:xfrm>
          <a:prstGeom prst="roundRect">
            <a:avLst>
              <a:gd name="adj" fmla="val 7692"/>
            </a:avLst>
          </a:prstGeom>
          <a:solidFill>
            <a:srgbClr val="EDF2FA"/>
          </a:solidFill>
          <a:ln/>
        </p:spPr>
      </p:sp>
      <p:sp>
        <p:nvSpPr>
          <p:cNvPr id="8" name="Text 6"/>
          <p:cNvSpPr txBox="1"/>
          <p:nvPr/>
        </p:nvSpPr>
        <p:spPr>
          <a:xfrm>
            <a:off x="653796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lower-cost integrator</a:t>
            </a:r>
            <a:endParaRPr lang="en-US" sz="1450" dirty="0"/>
          </a:p>
        </p:txBody>
      </p:sp>
      <p:sp>
        <p:nvSpPr>
          <p:cNvPr id="9" name="Text 7"/>
          <p:cNvSpPr txBox="1"/>
          <p:nvPr/>
        </p:nvSpPr>
        <p:spPr>
          <a:xfrm>
            <a:off x="653796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Cheaper capacity is everywhere. What is scarce is the judgement to sequence complex change, and accountability when it moves.</a:t>
            </a:r>
            <a:endParaRPr lang="en-US" sz="1100" dirty="0"/>
          </a:p>
        </p:txBody>
      </p:sp>
      <p:sp>
        <p:nvSpPr>
          <p:cNvPr id="10" name="Shape 8"/>
          <p:cNvSpPr/>
          <p:nvPr/>
        </p:nvSpPr>
        <p:spPr>
          <a:xfrm>
            <a:off x="640080" y="3200400"/>
            <a:ext cx="5257800" cy="1188720"/>
          </a:xfrm>
          <a:prstGeom prst="roundRect">
            <a:avLst>
              <a:gd name="adj" fmla="val 7692"/>
            </a:avLst>
          </a:prstGeom>
          <a:solidFill>
            <a:srgbClr val="EDF2FA"/>
          </a:solidFill>
          <a:ln/>
        </p:spPr>
      </p:sp>
      <p:sp>
        <p:nvSpPr>
          <p:cNvPr id="11" name="Text 9"/>
          <p:cNvSpPr txBox="1"/>
          <p:nvPr/>
        </p:nvSpPr>
        <p:spPr>
          <a:xfrm>
            <a:off x="91440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product vendor</a:t>
            </a:r>
            <a:endParaRPr lang="en-US" sz="1450" dirty="0"/>
          </a:p>
        </p:txBody>
      </p:sp>
      <p:sp>
        <p:nvSpPr>
          <p:cNvPr id="12" name="Text 10"/>
          <p:cNvSpPr txBox="1"/>
          <p:nvPr/>
        </p:nvSpPr>
        <p:spPr>
          <a:xfrm>
            <a:off x="91440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The vendor knows its platform. It does not own the data estate, the integration layer or the operating model around it.</a:t>
            </a:r>
            <a:endParaRPr lang="en-US" sz="1100" dirty="0"/>
          </a:p>
        </p:txBody>
      </p:sp>
      <p:sp>
        <p:nvSpPr>
          <p:cNvPr id="13" name="Shape 11"/>
          <p:cNvSpPr/>
          <p:nvPr/>
        </p:nvSpPr>
        <p:spPr>
          <a:xfrm>
            <a:off x="6263640" y="3200400"/>
            <a:ext cx="5257800" cy="1188720"/>
          </a:xfrm>
          <a:prstGeom prst="roundRect">
            <a:avLst>
              <a:gd name="adj" fmla="val 7692"/>
            </a:avLst>
          </a:prstGeom>
          <a:solidFill>
            <a:srgbClr val="EDF2FA"/>
          </a:solidFill>
          <a:ln/>
        </p:spPr>
      </p:sp>
      <p:sp>
        <p:nvSpPr>
          <p:cNvPr id="14" name="Text 12"/>
          <p:cNvSpPr txBox="1"/>
          <p:nvPr/>
        </p:nvSpPr>
        <p:spPr>
          <a:xfrm>
            <a:off x="653796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global SI</a:t>
            </a:r>
            <a:endParaRPr lang="en-US" sz="1450" dirty="0"/>
          </a:p>
        </p:txBody>
      </p:sp>
      <p:sp>
        <p:nvSpPr>
          <p:cNvPr id="15" name="Text 13"/>
          <p:cNvSpPr txBox="1"/>
          <p:nvPr/>
        </p:nvSpPr>
        <p:spPr>
          <a:xfrm>
            <a:off x="653796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Scale is not scarce here either. Sector depth, regional presence and a team that stays after go-live are.</a:t>
            </a:r>
            <a:endParaRPr lang="en-US" sz="1100" dirty="0"/>
          </a:p>
        </p:txBody>
      </p:sp>
      <p:sp>
        <p:nvSpPr>
          <p:cNvPr id="16" name="Text 14"/>
          <p:cNvSpPr txBox="1"/>
          <p:nvPr/>
        </p:nvSpPr>
        <p:spPr>
          <a:xfrm>
            <a:off x="640080" y="470916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The evidence this argument needs</a:t>
            </a:r>
            <a:endParaRPr lang="en-US" sz="1400" dirty="0"/>
          </a:p>
        </p:txBody>
      </p:sp>
      <p:sp>
        <p:nvSpPr>
          <p:cNvPr id="17" name="Text 15"/>
          <p:cNvSpPr txBox="1"/>
          <p:nvPr/>
        </p:nvSpPr>
        <p:spPr>
          <a:xfrm>
            <a:off x="640080" y="5074920"/>
            <a:ext cx="10881360" cy="1097280"/>
          </a:xfrm>
          <a:prstGeom prst="rect">
            <a:avLst/>
          </a:prstGeom>
          <a:noFill/>
          <a:ln/>
        </p:spPr>
        <p:txBody>
          <a:bodyPr wrap="square" lIns="0" tIns="0" rIns="0" bIns="0" rtlCol="0" anchor="ctr"/>
          <a:lstStyle/>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Programmes that landed — named, including what went wrong and how it was recovered</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Multi-stream governance depth we can point to, not describe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Sector credentials in each of banking, funds and insurance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Assets and accelerators a client can see working</a:t>
            </a:r>
            <a:endParaRPr lang="en-US" sz="1200" dirty="0"/>
          </a:p>
        </p:txBody>
      </p:sp>
      <p:sp>
        <p:nvSpPr>
          <p:cNvPr id="18" name="Text 16"/>
          <p:cNvSpPr txBox="1"/>
          <p:nvPr/>
        </p:nvSpPr>
        <p:spPr>
          <a:xfrm>
            <a:off x="640080" y="6309360"/>
            <a:ext cx="10881360" cy="32004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 cycle names the evidence we have — and turns what we are missing into an initiative.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sectors it sits behind, which accounts it opens, and what it costs us back.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FOUR</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we build it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approach, the owners and the calendar.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six-step approach</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Divide, then converge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Workstreams and who owns them</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three-week journey</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How we run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Who meets, and when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could derail this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six-step approach: five to decide, one to bring everyone with us.</a:t>
            </a:r>
            <a:endParaRPr lang="en-US" sz="1450" dirty="0"/>
          </a:p>
        </p:txBody>
      </p:sp>
      <p:sp>
        <p:nvSpPr>
          <p:cNvPr id="4" name="Shape 2"/>
          <p:cNvSpPr/>
          <p:nvPr/>
        </p:nvSpPr>
        <p:spPr>
          <a:xfrm>
            <a:off x="640080" y="1874520"/>
            <a:ext cx="1691640" cy="713232"/>
          </a:xfrm>
          <a:prstGeom prst="chevron">
            <a:avLst/>
          </a:prstGeom>
          <a:solidFill>
            <a:srgbClr val="1E2761"/>
          </a:solidFill>
          <a:ln/>
        </p:spPr>
      </p:sp>
      <p:sp>
        <p:nvSpPr>
          <p:cNvPr id="5" name="Text 3"/>
          <p:cNvSpPr txBox="1"/>
          <p:nvPr/>
        </p:nvSpPr>
        <p:spPr>
          <a:xfrm>
            <a:off x="786384"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Mobilise</a:t>
            </a:r>
            <a:endParaRPr lang="en-US" sz="1300" dirty="0"/>
          </a:p>
        </p:txBody>
      </p:sp>
      <p:sp>
        <p:nvSpPr>
          <p:cNvPr id="6" name="Shape 4"/>
          <p:cNvSpPr/>
          <p:nvPr/>
        </p:nvSpPr>
        <p:spPr>
          <a:xfrm>
            <a:off x="1312164" y="2788920"/>
            <a:ext cx="347472" cy="347472"/>
          </a:xfrm>
          <a:prstGeom prst="ellipse">
            <a:avLst/>
          </a:prstGeom>
          <a:solidFill>
            <a:srgbClr val="B8862B"/>
          </a:solidFill>
          <a:ln/>
        </p:spPr>
      </p:sp>
      <p:sp>
        <p:nvSpPr>
          <p:cNvPr id="7" name="Text 5"/>
          <p:cNvSpPr txBox="1"/>
          <p:nvPr/>
        </p:nvSpPr>
        <p:spPr>
          <a:xfrm>
            <a:off x="131216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Choose the vision, then frame the ambition</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Confirm scope, principles and owners</a:t>
            </a:r>
            <a:endParaRPr lang="en-US" sz="1050" dirty="0"/>
          </a:p>
        </p:txBody>
      </p:sp>
      <p:sp>
        <p:nvSpPr>
          <p:cNvPr id="9" name="Text 7"/>
          <p:cNvSpPr txBox="1"/>
          <p:nvPr/>
        </p:nvSpPr>
        <p:spPr>
          <a:xfrm>
            <a:off x="640080"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1</a:t>
            </a:r>
            <a:endParaRPr lang="en-US" sz="1050" dirty="0"/>
          </a:p>
        </p:txBody>
      </p:sp>
      <p:sp>
        <p:nvSpPr>
          <p:cNvPr id="10" name="Shape 8"/>
          <p:cNvSpPr/>
          <p:nvPr/>
        </p:nvSpPr>
        <p:spPr>
          <a:xfrm>
            <a:off x="2478024" y="1874520"/>
            <a:ext cx="1691640" cy="713232"/>
          </a:xfrm>
          <a:prstGeom prst="chevron">
            <a:avLst/>
          </a:prstGeom>
          <a:solidFill>
            <a:srgbClr val="3E5C8A"/>
          </a:solidFill>
          <a:ln/>
        </p:spPr>
      </p:sp>
      <p:sp>
        <p:nvSpPr>
          <p:cNvPr id="11" name="Text 9"/>
          <p:cNvSpPr txBox="1"/>
          <p:nvPr/>
        </p:nvSpPr>
        <p:spPr>
          <a:xfrm>
            <a:off x="2624328"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Baseline</a:t>
            </a:r>
            <a:endParaRPr lang="en-US" sz="1300" dirty="0"/>
          </a:p>
        </p:txBody>
      </p:sp>
      <p:sp>
        <p:nvSpPr>
          <p:cNvPr id="12" name="Shape 10"/>
          <p:cNvSpPr/>
          <p:nvPr/>
        </p:nvSpPr>
        <p:spPr>
          <a:xfrm>
            <a:off x="3150108" y="2788920"/>
            <a:ext cx="347472" cy="347472"/>
          </a:xfrm>
          <a:prstGeom prst="ellipse">
            <a:avLst/>
          </a:prstGeom>
          <a:solidFill>
            <a:srgbClr val="B8862B"/>
          </a:solidFill>
          <a:ln/>
        </p:spPr>
      </p:sp>
      <p:sp>
        <p:nvSpPr>
          <p:cNvPr id="13" name="Text 11"/>
          <p:cNvSpPr txBox="1"/>
          <p:nvPr/>
        </p:nvSpPr>
        <p:spPr>
          <a:xfrm>
            <a:off x="315010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78024"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Credentials, pipeline and current wins</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Who we have today: dedicated and shared</a:t>
            </a:r>
            <a:endParaRPr lang="en-US" sz="1050" dirty="0"/>
          </a:p>
        </p:txBody>
      </p:sp>
      <p:sp>
        <p:nvSpPr>
          <p:cNvPr id="15" name="Text 13"/>
          <p:cNvSpPr txBox="1"/>
          <p:nvPr/>
        </p:nvSpPr>
        <p:spPr>
          <a:xfrm>
            <a:off x="2478024"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1</a:t>
            </a:r>
            <a:endParaRPr lang="en-US" sz="1050" dirty="0"/>
          </a:p>
        </p:txBody>
      </p:sp>
      <p:sp>
        <p:nvSpPr>
          <p:cNvPr id="16" name="Shape 14"/>
          <p:cNvSpPr/>
          <p:nvPr/>
        </p:nvSpPr>
        <p:spPr>
          <a:xfrm>
            <a:off x="4315968" y="1874520"/>
            <a:ext cx="1691640" cy="713232"/>
          </a:xfrm>
          <a:prstGeom prst="chevron">
            <a:avLst/>
          </a:prstGeom>
          <a:solidFill>
            <a:srgbClr val="1E2761"/>
          </a:solidFill>
          <a:ln/>
        </p:spPr>
      </p:sp>
      <p:sp>
        <p:nvSpPr>
          <p:cNvPr id="17" name="Text 15"/>
          <p:cNvSpPr txBox="1"/>
          <p:nvPr/>
        </p:nvSpPr>
        <p:spPr>
          <a:xfrm>
            <a:off x="4462272"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Define</a:t>
            </a:r>
            <a:endParaRPr lang="en-US" sz="1300" dirty="0"/>
          </a:p>
        </p:txBody>
      </p:sp>
      <p:sp>
        <p:nvSpPr>
          <p:cNvPr id="18" name="Shape 16"/>
          <p:cNvSpPr/>
          <p:nvPr/>
        </p:nvSpPr>
        <p:spPr>
          <a:xfrm>
            <a:off x="4988052" y="2788920"/>
            <a:ext cx="347472" cy="347472"/>
          </a:xfrm>
          <a:prstGeom prst="ellipse">
            <a:avLst/>
          </a:prstGeom>
          <a:solidFill>
            <a:srgbClr val="B8862B"/>
          </a:solidFill>
          <a:ln/>
        </p:spPr>
      </p:sp>
      <p:sp>
        <p:nvSpPr>
          <p:cNvPr id="19" name="Text 17"/>
          <p:cNvSpPr txBox="1"/>
          <p:nvPr/>
        </p:nvSpPr>
        <p:spPr>
          <a:xfrm>
            <a:off x="498805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315968"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Offering views, then merged into one catalogue</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Markets, sectors and candidate accounts</a:t>
            </a:r>
            <a:endParaRPr lang="en-US" sz="1050" dirty="0"/>
          </a:p>
        </p:txBody>
      </p:sp>
      <p:sp>
        <p:nvSpPr>
          <p:cNvPr id="21" name="Text 19"/>
          <p:cNvSpPr txBox="1"/>
          <p:nvPr/>
        </p:nvSpPr>
        <p:spPr>
          <a:xfrm>
            <a:off x="4315968"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Weeks 1–2</a:t>
            </a:r>
            <a:endParaRPr lang="en-US" sz="1050" dirty="0"/>
          </a:p>
        </p:txBody>
      </p:sp>
      <p:sp>
        <p:nvSpPr>
          <p:cNvPr id="22" name="Shape 20"/>
          <p:cNvSpPr/>
          <p:nvPr/>
        </p:nvSpPr>
        <p:spPr>
          <a:xfrm>
            <a:off x="6153912" y="1874520"/>
            <a:ext cx="1691640" cy="713232"/>
          </a:xfrm>
          <a:prstGeom prst="chevron">
            <a:avLst/>
          </a:prstGeom>
          <a:solidFill>
            <a:srgbClr val="3E5C8A"/>
          </a:solidFill>
          <a:ln/>
        </p:spPr>
      </p:sp>
      <p:sp>
        <p:nvSpPr>
          <p:cNvPr id="23" name="Text 21"/>
          <p:cNvSpPr txBox="1"/>
          <p:nvPr/>
        </p:nvSpPr>
        <p:spPr>
          <a:xfrm>
            <a:off x="6300216"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Quantify</a:t>
            </a:r>
            <a:endParaRPr lang="en-US" sz="1300" dirty="0"/>
          </a:p>
        </p:txBody>
      </p:sp>
      <p:sp>
        <p:nvSpPr>
          <p:cNvPr id="24" name="Shape 22"/>
          <p:cNvSpPr/>
          <p:nvPr/>
        </p:nvSpPr>
        <p:spPr>
          <a:xfrm>
            <a:off x="6825996" y="2788920"/>
            <a:ext cx="347472" cy="347472"/>
          </a:xfrm>
          <a:prstGeom prst="ellipse">
            <a:avLst/>
          </a:prstGeom>
          <a:solidFill>
            <a:srgbClr val="B8862B"/>
          </a:solidFill>
          <a:ln/>
        </p:spPr>
      </p:sp>
      <p:sp>
        <p:nvSpPr>
          <p:cNvPr id="25" name="Text 23"/>
          <p:cNvSpPr txBox="1"/>
          <p:nvPr/>
        </p:nvSpPr>
        <p:spPr>
          <a:xfrm>
            <a:off x="682599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6153912"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Price bands, ADR and target margin</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Revenue per account, gross and net, against capacity</a:t>
            </a:r>
            <a:endParaRPr lang="en-US" sz="1050" dirty="0"/>
          </a:p>
        </p:txBody>
      </p:sp>
      <p:sp>
        <p:nvSpPr>
          <p:cNvPr id="27" name="Text 25"/>
          <p:cNvSpPr txBox="1"/>
          <p:nvPr/>
        </p:nvSpPr>
        <p:spPr>
          <a:xfrm>
            <a:off x="6153912"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2</a:t>
            </a:r>
            <a:endParaRPr lang="en-US" sz="1050" dirty="0"/>
          </a:p>
        </p:txBody>
      </p:sp>
      <p:sp>
        <p:nvSpPr>
          <p:cNvPr id="28" name="Shape 26"/>
          <p:cNvSpPr/>
          <p:nvPr/>
        </p:nvSpPr>
        <p:spPr>
          <a:xfrm>
            <a:off x="7991856" y="1874520"/>
            <a:ext cx="1691640" cy="713232"/>
          </a:xfrm>
          <a:prstGeom prst="chevron">
            <a:avLst/>
          </a:prstGeom>
          <a:solidFill>
            <a:srgbClr val="1E2761"/>
          </a:solidFill>
          <a:ln/>
        </p:spPr>
      </p:sp>
      <p:sp>
        <p:nvSpPr>
          <p:cNvPr id="29" name="Text 27"/>
          <p:cNvSpPr txBox="1"/>
          <p:nvPr/>
        </p:nvSpPr>
        <p:spPr>
          <a:xfrm>
            <a:off x="8138160"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Commit</a:t>
            </a:r>
            <a:endParaRPr lang="en-US" sz="1300" dirty="0"/>
          </a:p>
        </p:txBody>
      </p:sp>
      <p:sp>
        <p:nvSpPr>
          <p:cNvPr id="30" name="Shape 28"/>
          <p:cNvSpPr/>
          <p:nvPr/>
        </p:nvSpPr>
        <p:spPr>
          <a:xfrm>
            <a:off x="8663940" y="2788920"/>
            <a:ext cx="347472" cy="347472"/>
          </a:xfrm>
          <a:prstGeom prst="ellipse">
            <a:avLst/>
          </a:prstGeom>
          <a:solidFill>
            <a:srgbClr val="B8862B"/>
          </a:solidFill>
          <a:ln/>
        </p:spPr>
      </p:sp>
      <p:sp>
        <p:nvSpPr>
          <p:cNvPr id="31" name="Text 29"/>
          <p:cNvSpPr txBox="1"/>
          <p:nvPr/>
        </p:nvSpPr>
        <p:spPr>
          <a:xfrm>
            <a:off x="866394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7991856"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Account ownership and coverage</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Team, eminence and activation plans signed off</a:t>
            </a:r>
            <a:endParaRPr lang="en-US" sz="1050" dirty="0"/>
          </a:p>
        </p:txBody>
      </p:sp>
      <p:sp>
        <p:nvSpPr>
          <p:cNvPr id="33" name="Text 31"/>
          <p:cNvSpPr txBox="1"/>
          <p:nvPr/>
        </p:nvSpPr>
        <p:spPr>
          <a:xfrm>
            <a:off x="7991856"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3</a:t>
            </a:r>
            <a:endParaRPr lang="en-US" sz="1050" dirty="0"/>
          </a:p>
        </p:txBody>
      </p:sp>
      <p:sp>
        <p:nvSpPr>
          <p:cNvPr id="34" name="Shape 32"/>
          <p:cNvSpPr/>
          <p:nvPr/>
        </p:nvSpPr>
        <p:spPr>
          <a:xfrm>
            <a:off x="9829800" y="1874520"/>
            <a:ext cx="1691640" cy="713232"/>
          </a:xfrm>
          <a:prstGeom prst="chevron">
            <a:avLst/>
          </a:prstGeom>
          <a:solidFill>
            <a:srgbClr val="3E5C8A"/>
          </a:solidFill>
          <a:ln/>
        </p:spPr>
      </p:sp>
      <p:sp>
        <p:nvSpPr>
          <p:cNvPr id="35" name="Text 33"/>
          <p:cNvSpPr txBox="1"/>
          <p:nvPr/>
        </p:nvSpPr>
        <p:spPr>
          <a:xfrm>
            <a:off x="9976104"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Socialise</a:t>
            </a:r>
            <a:endParaRPr lang="en-US" sz="1300" dirty="0"/>
          </a:p>
        </p:txBody>
      </p:sp>
      <p:sp>
        <p:nvSpPr>
          <p:cNvPr id="36" name="Shape 34"/>
          <p:cNvSpPr/>
          <p:nvPr/>
        </p:nvSpPr>
        <p:spPr>
          <a:xfrm>
            <a:off x="10501884" y="2788920"/>
            <a:ext cx="347472" cy="347472"/>
          </a:xfrm>
          <a:prstGeom prst="ellipse">
            <a:avLst/>
          </a:prstGeom>
          <a:solidFill>
            <a:srgbClr val="B8862B"/>
          </a:solidFill>
          <a:ln/>
        </p:spPr>
      </p:sp>
      <p:sp>
        <p:nvSpPr>
          <p:cNvPr id="37" name="Text 35"/>
          <p:cNvSpPr txBox="1"/>
          <p:nvPr/>
        </p:nvSpPr>
        <p:spPr>
          <a:xfrm>
            <a:off x="1050188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8" name="Text 36"/>
          <p:cNvSpPr txBox="1"/>
          <p:nvPr/>
        </p:nvSpPr>
        <p:spPr>
          <a:xfrm>
            <a:off x="9829800"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Present to the wider FSI community</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Hand initiatives to their owners</a:t>
            </a:r>
            <a:endParaRPr lang="en-US" sz="1050" dirty="0"/>
          </a:p>
        </p:txBody>
      </p:sp>
      <p:sp>
        <p:nvSpPr>
          <p:cNvPr id="39" name="Text 37"/>
          <p:cNvSpPr txBox="1"/>
          <p:nvPr/>
        </p:nvSpPr>
        <p:spPr>
          <a:xfrm>
            <a:off x="9829800"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3+</a:t>
            </a:r>
            <a:endParaRPr lang="en-US" sz="1050" dirty="0"/>
          </a:p>
        </p:txBody>
      </p:sp>
      <p:sp>
        <p:nvSpPr>
          <p:cNvPr id="40" name="Text 38"/>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last one is not optional — a strategy nobody has heard is not activated.</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Divide, then converge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offering works its own view first — then we merge it into something integrated.</a:t>
            </a:r>
            <a:endParaRPr lang="en-US" sz="1450" dirty="0"/>
          </a:p>
        </p:txBody>
      </p:sp>
      <p:sp>
        <p:nvSpPr>
          <p:cNvPr id="4" name="Shape 2"/>
          <p:cNvSpPr/>
          <p:nvPr/>
        </p:nvSpPr>
        <p:spPr>
          <a:xfrm>
            <a:off x="640080" y="1920240"/>
            <a:ext cx="4114800" cy="868680"/>
          </a:xfrm>
          <a:prstGeom prst="roundRect">
            <a:avLst>
              <a:gd name="adj" fmla="val 10526"/>
            </a:avLst>
          </a:prstGeom>
          <a:solidFill>
            <a:srgbClr val="EDF2FA"/>
          </a:solidFill>
          <a:ln/>
        </p:spPr>
      </p:sp>
      <p:sp>
        <p:nvSpPr>
          <p:cNvPr id="5" name="Shape 3"/>
          <p:cNvSpPr/>
          <p:nvPr/>
        </p:nvSpPr>
        <p:spPr>
          <a:xfrm>
            <a:off x="640080" y="1920240"/>
            <a:ext cx="146304" cy="868680"/>
          </a:xfrm>
          <a:prstGeom prst="rect">
            <a:avLst/>
          </a:prstGeom>
          <a:solidFill>
            <a:srgbClr val="1E2761"/>
          </a:solidFill>
          <a:ln/>
        </p:spPr>
      </p:sp>
      <p:sp>
        <p:nvSpPr>
          <p:cNvPr id="6" name="Text 4"/>
          <p:cNvSpPr txBox="1"/>
          <p:nvPr/>
        </p:nvSpPr>
        <p:spPr>
          <a:xfrm>
            <a:off x="960120" y="1975104"/>
            <a:ext cx="301752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Industry Solutions</a:t>
            </a:r>
            <a:endParaRPr lang="en-US" sz="1300" dirty="0"/>
          </a:p>
        </p:txBody>
      </p:sp>
      <p:sp>
        <p:nvSpPr>
          <p:cNvPr id="7" name="Text 5"/>
          <p:cNvSpPr txBox="1"/>
          <p:nvPr/>
        </p:nvSpPr>
        <p:spPr>
          <a:xfrm>
            <a:off x="960120" y="2304288"/>
            <a:ext cx="3017520" cy="41148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Propositions, accounts and capability, seen from this offering</a:t>
            </a:r>
            <a:endParaRPr lang="en-US" sz="1050" dirty="0"/>
          </a:p>
        </p:txBody>
      </p:sp>
      <p:sp>
        <p:nvSpPr>
          <p:cNvPr id="8" name="Shape 6"/>
          <p:cNvSpPr/>
          <p:nvPr/>
        </p:nvSpPr>
        <p:spPr>
          <a:xfrm>
            <a:off x="4846320" y="2354580"/>
            <a:ext cx="1005840" cy="1028700"/>
          </a:xfrm>
          <a:prstGeom prst="line">
            <a:avLst/>
          </a:prstGeom>
          <a:noFill/>
          <a:ln w="15875">
            <a:solidFill>
              <a:srgbClr val="3E5C8A"/>
            </a:solidFill>
            <a:prstDash val="solid"/>
            <a:tailEnd type="triangle"/>
          </a:ln>
        </p:spPr>
      </p:sp>
      <p:sp>
        <p:nvSpPr>
          <p:cNvPr id="9" name="Shape 7"/>
          <p:cNvSpPr/>
          <p:nvPr/>
        </p:nvSpPr>
        <p:spPr>
          <a:xfrm>
            <a:off x="640080" y="2971800"/>
            <a:ext cx="4114800" cy="868680"/>
          </a:xfrm>
          <a:prstGeom prst="roundRect">
            <a:avLst>
              <a:gd name="adj" fmla="val 10526"/>
            </a:avLst>
          </a:prstGeom>
          <a:solidFill>
            <a:srgbClr val="EDF2FA"/>
          </a:solidFill>
          <a:ln/>
        </p:spPr>
      </p:sp>
      <p:sp>
        <p:nvSpPr>
          <p:cNvPr id="10" name="Shape 8"/>
          <p:cNvSpPr/>
          <p:nvPr/>
        </p:nvSpPr>
        <p:spPr>
          <a:xfrm>
            <a:off x="640080" y="2971800"/>
            <a:ext cx="146304" cy="868680"/>
          </a:xfrm>
          <a:prstGeom prst="rect">
            <a:avLst/>
          </a:prstGeom>
          <a:solidFill>
            <a:srgbClr val="3E5C8A"/>
          </a:solidFill>
          <a:ln/>
        </p:spPr>
      </p:sp>
      <p:sp>
        <p:nvSpPr>
          <p:cNvPr id="11" name="Text 9"/>
          <p:cNvSpPr txBox="1"/>
          <p:nvPr/>
        </p:nvSpPr>
        <p:spPr>
          <a:xfrm>
            <a:off x="960120" y="3026664"/>
            <a:ext cx="301752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AI and Data</a:t>
            </a:r>
            <a:endParaRPr lang="en-US" sz="1300" dirty="0"/>
          </a:p>
        </p:txBody>
      </p:sp>
      <p:sp>
        <p:nvSpPr>
          <p:cNvPr id="12" name="Text 10"/>
          <p:cNvSpPr txBox="1"/>
          <p:nvPr/>
        </p:nvSpPr>
        <p:spPr>
          <a:xfrm>
            <a:off x="960120" y="3355848"/>
            <a:ext cx="3017520" cy="41148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Propositions, accounts and capability, seen from this offering</a:t>
            </a:r>
            <a:endParaRPr lang="en-US" sz="1050" dirty="0"/>
          </a:p>
        </p:txBody>
      </p:sp>
      <p:sp>
        <p:nvSpPr>
          <p:cNvPr id="13" name="Shape 11"/>
          <p:cNvSpPr/>
          <p:nvPr/>
        </p:nvSpPr>
        <p:spPr>
          <a:xfrm flipV="1">
            <a:off x="4846320" y="3383280"/>
            <a:ext cx="1005840" cy="22860"/>
          </a:xfrm>
          <a:prstGeom prst="line">
            <a:avLst/>
          </a:prstGeom>
          <a:noFill/>
          <a:ln w="15875">
            <a:solidFill>
              <a:srgbClr val="3E5C8A"/>
            </a:solidFill>
            <a:prstDash val="solid"/>
            <a:tailEnd type="triangle"/>
          </a:ln>
        </p:spPr>
      </p:sp>
      <p:sp>
        <p:nvSpPr>
          <p:cNvPr id="14" name="Shape 12"/>
          <p:cNvSpPr/>
          <p:nvPr/>
        </p:nvSpPr>
        <p:spPr>
          <a:xfrm>
            <a:off x="640080" y="4023360"/>
            <a:ext cx="4114800" cy="868680"/>
          </a:xfrm>
          <a:prstGeom prst="roundRect">
            <a:avLst>
              <a:gd name="adj" fmla="val 10526"/>
            </a:avLst>
          </a:prstGeom>
          <a:solidFill>
            <a:srgbClr val="EDF2FA"/>
          </a:solidFill>
          <a:ln/>
        </p:spPr>
      </p:sp>
      <p:sp>
        <p:nvSpPr>
          <p:cNvPr id="15" name="Shape 13"/>
          <p:cNvSpPr/>
          <p:nvPr/>
        </p:nvSpPr>
        <p:spPr>
          <a:xfrm>
            <a:off x="640080" y="4023360"/>
            <a:ext cx="146304" cy="868680"/>
          </a:xfrm>
          <a:prstGeom prst="rect">
            <a:avLst/>
          </a:prstGeom>
          <a:solidFill>
            <a:srgbClr val="1E2761"/>
          </a:solidFill>
          <a:ln/>
        </p:spPr>
      </p:sp>
      <p:sp>
        <p:nvSpPr>
          <p:cNvPr id="16" name="Text 14"/>
          <p:cNvSpPr txBox="1"/>
          <p:nvPr/>
        </p:nvSpPr>
        <p:spPr>
          <a:xfrm>
            <a:off x="960120" y="4078224"/>
            <a:ext cx="301752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Engineering</a:t>
            </a:r>
            <a:endParaRPr lang="en-US" sz="1300" dirty="0"/>
          </a:p>
        </p:txBody>
      </p:sp>
      <p:sp>
        <p:nvSpPr>
          <p:cNvPr id="17" name="Text 15"/>
          <p:cNvSpPr txBox="1"/>
          <p:nvPr/>
        </p:nvSpPr>
        <p:spPr>
          <a:xfrm>
            <a:off x="960120" y="4407408"/>
            <a:ext cx="3017520" cy="41148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Propositions, accounts and capability, seen from this offering</a:t>
            </a:r>
            <a:endParaRPr lang="en-US" sz="1050" dirty="0"/>
          </a:p>
        </p:txBody>
      </p:sp>
      <p:sp>
        <p:nvSpPr>
          <p:cNvPr id="18" name="Shape 16"/>
          <p:cNvSpPr/>
          <p:nvPr/>
        </p:nvSpPr>
        <p:spPr>
          <a:xfrm flipV="1">
            <a:off x="4846320" y="3383280"/>
            <a:ext cx="1005840" cy="1074420"/>
          </a:xfrm>
          <a:prstGeom prst="line">
            <a:avLst/>
          </a:prstGeom>
          <a:noFill/>
          <a:ln w="15875">
            <a:solidFill>
              <a:srgbClr val="3E5C8A"/>
            </a:solidFill>
            <a:prstDash val="solid"/>
            <a:tailEnd type="triangle"/>
          </a:ln>
        </p:spPr>
      </p:sp>
      <p:sp>
        <p:nvSpPr>
          <p:cNvPr id="19" name="Shape 17"/>
          <p:cNvSpPr/>
          <p:nvPr/>
        </p:nvSpPr>
        <p:spPr>
          <a:xfrm>
            <a:off x="5897880" y="2651760"/>
            <a:ext cx="2468880" cy="1463040"/>
          </a:xfrm>
          <a:prstGeom prst="roundRect">
            <a:avLst>
              <a:gd name="adj" fmla="val 7500"/>
            </a:avLst>
          </a:prstGeom>
          <a:solidFill>
            <a:srgbClr val="1E2761"/>
          </a:solidFill>
          <a:ln/>
        </p:spPr>
      </p:sp>
      <p:sp>
        <p:nvSpPr>
          <p:cNvPr id="20" name="Text 18"/>
          <p:cNvSpPr txBox="1"/>
          <p:nvPr/>
        </p:nvSpPr>
        <p:spPr>
          <a:xfrm>
            <a:off x="5897880" y="2651760"/>
            <a:ext cx="2468880" cy="1463040"/>
          </a:xfrm>
          <a:prstGeom prst="rect">
            <a:avLst/>
          </a:prstGeom>
          <a:noFill/>
          <a:ln/>
        </p:spPr>
        <p:txBody>
          <a:bodyPr wrap="square" lIns="0" tIns="0" rIns="0" bIns="0" rtlCol="0" anchor="ctr"/>
          <a:lstStyle/>
          <a:p>
            <a:pPr algn="ctr" indent="0" marL="0">
              <a:lnSpc>
                <a:spcPts val="1800"/>
              </a:lnSpc>
              <a:buNone/>
            </a:pPr>
            <a:r>
              <a:rPr lang="en-US" sz="1500" b="1" dirty="0">
                <a:solidFill>
                  <a:srgbClr val="FFFFFF"/>
                </a:solidFill>
                <a:latin typeface="Calibri" pitchFamily="34" charset="0"/>
                <a:ea typeface="Calibri" pitchFamily="34" charset="-122"/>
                <a:cs typeface="Calibri" pitchFamily="34" charset="-120"/>
              </a:rPr>
              <a:t>Integration</a:t>
            </a:r>
            <a:endParaRPr lang="en-US" sz="1500" dirty="0"/>
          </a:p>
          <a:p>
            <a:pPr algn="ctr" indent="0" marL="0">
              <a:lnSpc>
                <a:spcPts val="1800"/>
              </a:lnSpc>
              <a:buNone/>
            </a:pPr>
            <a:r>
              <a:rPr lang="en-US" sz="1500" b="1" dirty="0">
                <a:solidFill>
                  <a:srgbClr val="FFFFFF"/>
                </a:solidFill>
                <a:latin typeface="Calibri" pitchFamily="34" charset="0"/>
                <a:ea typeface="Calibri" pitchFamily="34" charset="-122"/>
                <a:cs typeface="Calibri" pitchFamily="34" charset="-120"/>
              </a:rPr>
              <a:t>session</a:t>
            </a:r>
            <a:endParaRPr lang="en-US" sz="1500" dirty="0"/>
          </a:p>
        </p:txBody>
      </p:sp>
      <p:sp>
        <p:nvSpPr>
          <p:cNvPr id="21" name="Shape 19"/>
          <p:cNvSpPr/>
          <p:nvPr/>
        </p:nvSpPr>
        <p:spPr>
          <a:xfrm>
            <a:off x="8458200" y="3383280"/>
            <a:ext cx="640080" cy="0"/>
          </a:xfrm>
          <a:prstGeom prst="line">
            <a:avLst/>
          </a:prstGeom>
          <a:noFill/>
          <a:ln w="15875">
            <a:solidFill>
              <a:srgbClr val="3E5C8A"/>
            </a:solidFill>
            <a:prstDash val="solid"/>
            <a:tailEnd type="triangle"/>
          </a:ln>
        </p:spPr>
      </p:sp>
      <p:sp>
        <p:nvSpPr>
          <p:cNvPr id="22" name="Shape 20"/>
          <p:cNvSpPr/>
          <p:nvPr/>
        </p:nvSpPr>
        <p:spPr>
          <a:xfrm>
            <a:off x="9189720" y="2331720"/>
            <a:ext cx="2331720" cy="2103120"/>
          </a:xfrm>
          <a:prstGeom prst="roundRect">
            <a:avLst>
              <a:gd name="adj" fmla="val 5217"/>
            </a:avLst>
          </a:prstGeom>
          <a:solidFill>
            <a:srgbClr val="FFFFFF"/>
          </a:solidFill>
          <a:ln w="15875">
            <a:solidFill>
              <a:srgbClr val="1E2761"/>
            </a:solidFill>
            <a:prstDash val="solid"/>
          </a:ln>
        </p:spPr>
      </p:sp>
      <p:sp>
        <p:nvSpPr>
          <p:cNvPr id="23" name="Text 21"/>
          <p:cNvSpPr txBox="1"/>
          <p:nvPr/>
        </p:nvSpPr>
        <p:spPr>
          <a:xfrm>
            <a:off x="9372600" y="2468880"/>
            <a:ext cx="2011680" cy="27432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What comes out</a:t>
            </a:r>
            <a:endParaRPr lang="en-US" sz="1200" dirty="0"/>
          </a:p>
        </p:txBody>
      </p:sp>
      <p:sp>
        <p:nvSpPr>
          <p:cNvPr id="24" name="Text 22"/>
          <p:cNvSpPr txBox="1"/>
          <p:nvPr/>
        </p:nvSpPr>
        <p:spPr>
          <a:xfrm>
            <a:off x="9372600" y="2834640"/>
            <a:ext cx="2011680" cy="146304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44506B"/>
                </a:solidFill>
                <a:latin typeface="Calibri" pitchFamily="34" charset="0"/>
                <a:ea typeface="Calibri" pitchFamily="34" charset="-122"/>
                <a:cs typeface="Calibri" pitchFamily="34" charset="-120"/>
              </a:rPr>
              <a:t>Integrated propositions</a:t>
            </a:r>
            <a:endParaRPr lang="en-US" sz="1100" dirty="0"/>
          </a:p>
          <a:p>
            <a:pPr marL="342900" indent="-342900">
              <a:spcAft>
                <a:spcPts val="600"/>
              </a:spcAft>
              <a:buSzPct val="100000"/>
              <a:buChar char="•"/>
            </a:pPr>
            <a:r>
              <a:rPr lang="en-US" sz="1100" dirty="0">
                <a:solidFill>
                  <a:srgbClr val="44506B"/>
                </a:solidFill>
                <a:latin typeface="Calibri" pitchFamily="34" charset="0"/>
                <a:ea typeface="Calibri" pitchFamily="34" charset="-122"/>
                <a:cs typeface="Calibri" pitchFamily="34" charset="-120"/>
              </a:rPr>
              <a:t>Account-level plays</a:t>
            </a:r>
            <a:endParaRPr lang="en-US" sz="1100" dirty="0"/>
          </a:p>
          <a:p>
            <a:pPr marL="342900" indent="-342900">
              <a:spcAft>
                <a:spcPts val="600"/>
              </a:spcAft>
              <a:buSzPct val="100000"/>
              <a:buChar char="•"/>
            </a:pPr>
            <a:r>
              <a:rPr lang="en-US" sz="1100" dirty="0">
                <a:solidFill>
                  <a:srgbClr val="44506B"/>
                </a:solidFill>
                <a:latin typeface="Calibri" pitchFamily="34" charset="0"/>
                <a:ea typeface="Calibri" pitchFamily="34" charset="-122"/>
                <a:cs typeface="Calibri" pitchFamily="34" charset="-120"/>
              </a:rPr>
              <a:t>One catalogue, not three</a:t>
            </a:r>
            <a:endParaRPr lang="en-US" sz="1100" dirty="0"/>
          </a:p>
        </p:txBody>
      </p:sp>
      <p:sp>
        <p:nvSpPr>
          <p:cNvPr id="25" name="Shape 23"/>
          <p:cNvSpPr/>
          <p:nvPr/>
        </p:nvSpPr>
        <p:spPr>
          <a:xfrm>
            <a:off x="640080" y="5257800"/>
            <a:ext cx="10881360" cy="868680"/>
          </a:xfrm>
          <a:prstGeom prst="roundRect">
            <a:avLst>
              <a:gd name="adj" fmla="val 10526"/>
            </a:avLst>
          </a:prstGeom>
          <a:solidFill>
            <a:srgbClr val="EDF2FA"/>
          </a:solidFill>
          <a:ln/>
        </p:spPr>
      </p:sp>
      <p:sp>
        <p:nvSpPr>
          <p:cNvPr id="26" name="Text 24"/>
          <p:cNvSpPr txBox="1"/>
          <p:nvPr/>
        </p:nvSpPr>
        <p:spPr>
          <a:xfrm>
            <a:off x="914400" y="5257800"/>
            <a:ext cx="10332720" cy="86868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weekly rhythm: diverge early in the week, converge before it closes. Nothing carries into the next week un-merged, and the integration session is where abstraction and refactoring happen — not in the gate.</a:t>
            </a:r>
            <a:endParaRPr lang="en-US" sz="1250" dirty="0"/>
          </a:p>
        </p:txBody>
      </p:sp>
      <p:sp>
        <p:nvSpPr>
          <p:cNvPr id="27" name="Text 25"/>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Applies through Baseline, Define and Quantify — the three steps where the work is actually generated.</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sectors,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Propositions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archetypes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assets, construct, pricing, margin, team, skills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sectors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sector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Converge the offering views into integrated propositions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Sign off, then socialise to the FSI community</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1088136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 Socialisation follows sign-off, and the initiatives run on from there.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EAI&amp;D portfolio strategy and the FSI industry strategy</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Alignment with both parent strategies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meets, and when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levels of session across the sprint. Everything else is working time.</a:t>
            </a:r>
            <a:endParaRPr lang="en-US" sz="1450" dirty="0"/>
          </a:p>
        </p:txBody>
      </p:sp>
      <p:sp>
        <p:nvSpPr>
          <p:cNvPr id="4" name="Text 2"/>
          <p:cNvSpPr txBox="1"/>
          <p:nvPr/>
        </p:nvSpPr>
        <p:spPr>
          <a:xfrm>
            <a:off x="2743200"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1</a:t>
            </a:r>
            <a:endParaRPr lang="en-US" sz="1250" dirty="0"/>
          </a:p>
        </p:txBody>
      </p:sp>
      <p:sp>
        <p:nvSpPr>
          <p:cNvPr id="5" name="Text 3"/>
          <p:cNvSpPr txBox="1"/>
          <p:nvPr/>
        </p:nvSpPr>
        <p:spPr>
          <a:xfrm>
            <a:off x="4956048"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2</a:t>
            </a:r>
            <a:endParaRPr lang="en-US" sz="1250" dirty="0"/>
          </a:p>
        </p:txBody>
      </p:sp>
      <p:sp>
        <p:nvSpPr>
          <p:cNvPr id="6" name="Text 4"/>
          <p:cNvSpPr txBox="1"/>
          <p:nvPr/>
        </p:nvSpPr>
        <p:spPr>
          <a:xfrm>
            <a:off x="7168896"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3</a:t>
            </a:r>
            <a:endParaRPr lang="en-US" sz="1250" dirty="0"/>
          </a:p>
        </p:txBody>
      </p:sp>
      <p:sp>
        <p:nvSpPr>
          <p:cNvPr id="7" name="Text 5"/>
          <p:cNvSpPr txBox="1"/>
          <p:nvPr/>
        </p:nvSpPr>
        <p:spPr>
          <a:xfrm>
            <a:off x="9381744"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After sign-off</a:t>
            </a:r>
            <a:endParaRPr lang="en-US" sz="1250" dirty="0"/>
          </a:p>
        </p:txBody>
      </p:sp>
      <p:sp>
        <p:nvSpPr>
          <p:cNvPr id="8" name="Shape 6"/>
          <p:cNvSpPr/>
          <p:nvPr/>
        </p:nvSpPr>
        <p:spPr>
          <a:xfrm>
            <a:off x="640080" y="2240280"/>
            <a:ext cx="1965960" cy="1280160"/>
          </a:xfrm>
          <a:prstGeom prst="roundRect">
            <a:avLst>
              <a:gd name="adj" fmla="val 7143"/>
            </a:avLst>
          </a:prstGeom>
          <a:solidFill>
            <a:srgbClr val="1E2761"/>
          </a:solidFill>
          <a:ln/>
        </p:spPr>
      </p:sp>
      <p:sp>
        <p:nvSpPr>
          <p:cNvPr id="9" name="Text 7"/>
          <p:cNvSpPr txBox="1"/>
          <p:nvPr/>
        </p:nvSpPr>
        <p:spPr>
          <a:xfrm>
            <a:off x="731520" y="224028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Core team</a:t>
            </a:r>
            <a:endParaRPr lang="en-US" sz="1400" dirty="0"/>
          </a:p>
        </p:txBody>
      </p:sp>
      <p:sp>
        <p:nvSpPr>
          <p:cNvPr id="10" name="Shape 8"/>
          <p:cNvSpPr/>
          <p:nvPr/>
        </p:nvSpPr>
        <p:spPr>
          <a:xfrm>
            <a:off x="2743200" y="2240280"/>
            <a:ext cx="2103120" cy="1280160"/>
          </a:xfrm>
          <a:prstGeom prst="roundRect">
            <a:avLst>
              <a:gd name="adj" fmla="val 7143"/>
            </a:avLst>
          </a:prstGeom>
          <a:solidFill>
            <a:srgbClr val="F2F6FC"/>
          </a:solidFill>
          <a:ln/>
        </p:spPr>
      </p:sp>
      <p:sp>
        <p:nvSpPr>
          <p:cNvPr id="11" name="Text 9"/>
          <p:cNvSpPr txBox="1"/>
          <p:nvPr/>
        </p:nvSpPr>
        <p:spPr>
          <a:xfrm>
            <a:off x="2907792"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Kick-off, half a day</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Two working sessions</a:t>
            </a:r>
            <a:endParaRPr lang="en-US" sz="950" dirty="0"/>
          </a:p>
        </p:txBody>
      </p:sp>
      <p:sp>
        <p:nvSpPr>
          <p:cNvPr id="12" name="Shape 10"/>
          <p:cNvSpPr/>
          <p:nvPr/>
        </p:nvSpPr>
        <p:spPr>
          <a:xfrm>
            <a:off x="4956048" y="2240280"/>
            <a:ext cx="2103120" cy="1280160"/>
          </a:xfrm>
          <a:prstGeom prst="roundRect">
            <a:avLst>
              <a:gd name="adj" fmla="val 7143"/>
            </a:avLst>
          </a:prstGeom>
          <a:solidFill>
            <a:srgbClr val="EDF2FA"/>
          </a:solidFill>
          <a:ln/>
        </p:spPr>
      </p:sp>
      <p:sp>
        <p:nvSpPr>
          <p:cNvPr id="13" name="Text 11"/>
          <p:cNvSpPr txBox="1"/>
          <p:nvPr/>
        </p:nvSpPr>
        <p:spPr>
          <a:xfrm>
            <a:off x="5120640"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Working session per workstream</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Mid-week checkpoint</a:t>
            </a:r>
            <a:endParaRPr lang="en-US" sz="950" dirty="0"/>
          </a:p>
        </p:txBody>
      </p:sp>
      <p:sp>
        <p:nvSpPr>
          <p:cNvPr id="14" name="Shape 12"/>
          <p:cNvSpPr/>
          <p:nvPr/>
        </p:nvSpPr>
        <p:spPr>
          <a:xfrm>
            <a:off x="7168896" y="2240280"/>
            <a:ext cx="2103120" cy="1280160"/>
          </a:xfrm>
          <a:prstGeom prst="roundRect">
            <a:avLst>
              <a:gd name="adj" fmla="val 7143"/>
            </a:avLst>
          </a:prstGeom>
          <a:solidFill>
            <a:srgbClr val="F2F6FC"/>
          </a:solidFill>
          <a:ln/>
        </p:spPr>
      </p:sp>
      <p:sp>
        <p:nvSpPr>
          <p:cNvPr id="15" name="Text 13"/>
          <p:cNvSpPr txBox="1"/>
          <p:nvPr/>
        </p:nvSpPr>
        <p:spPr>
          <a:xfrm>
            <a:off x="7333488"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Consolidation session</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Dry run of the strategy on a page</a:t>
            </a:r>
            <a:endParaRPr lang="en-US" sz="950" dirty="0"/>
          </a:p>
        </p:txBody>
      </p:sp>
      <p:sp>
        <p:nvSpPr>
          <p:cNvPr id="16" name="Shape 14"/>
          <p:cNvSpPr/>
          <p:nvPr/>
        </p:nvSpPr>
        <p:spPr>
          <a:xfrm>
            <a:off x="9381744" y="2240280"/>
            <a:ext cx="2103120" cy="1280160"/>
          </a:xfrm>
          <a:prstGeom prst="roundRect">
            <a:avLst>
              <a:gd name="adj" fmla="val 7143"/>
            </a:avLst>
          </a:prstGeom>
          <a:solidFill>
            <a:srgbClr val="EDF2FA"/>
          </a:solidFill>
          <a:ln/>
        </p:spPr>
      </p:sp>
      <p:sp>
        <p:nvSpPr>
          <p:cNvPr id="17" name="Text 15"/>
          <p:cNvSpPr txBox="1"/>
          <p:nvPr/>
        </p:nvSpPr>
        <p:spPr>
          <a:xfrm>
            <a:off x="9546336"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Hand over to initiative owners</a:t>
            </a:r>
            <a:endParaRPr lang="en-US" sz="950" dirty="0"/>
          </a:p>
        </p:txBody>
      </p:sp>
      <p:sp>
        <p:nvSpPr>
          <p:cNvPr id="18" name="Shape 16"/>
          <p:cNvSpPr/>
          <p:nvPr/>
        </p:nvSpPr>
        <p:spPr>
          <a:xfrm>
            <a:off x="640080" y="3657600"/>
            <a:ext cx="1965960" cy="1280160"/>
          </a:xfrm>
          <a:prstGeom prst="roundRect">
            <a:avLst>
              <a:gd name="adj" fmla="val 7143"/>
            </a:avLst>
          </a:prstGeom>
          <a:solidFill>
            <a:srgbClr val="3E5C8A"/>
          </a:solidFill>
          <a:ln/>
        </p:spPr>
      </p:sp>
      <p:sp>
        <p:nvSpPr>
          <p:cNvPr id="19" name="Text 17"/>
          <p:cNvSpPr txBox="1"/>
          <p:nvPr/>
        </p:nvSpPr>
        <p:spPr>
          <a:xfrm>
            <a:off x="731520" y="365760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Offering level</a:t>
            </a:r>
            <a:endParaRPr lang="en-US" sz="1400" dirty="0"/>
          </a:p>
        </p:txBody>
      </p:sp>
      <p:sp>
        <p:nvSpPr>
          <p:cNvPr id="20" name="Shape 18"/>
          <p:cNvSpPr/>
          <p:nvPr/>
        </p:nvSpPr>
        <p:spPr>
          <a:xfrm>
            <a:off x="2743200" y="3657600"/>
            <a:ext cx="2103120" cy="1280160"/>
          </a:xfrm>
          <a:prstGeom prst="roundRect">
            <a:avLst>
              <a:gd name="adj" fmla="val 7143"/>
            </a:avLst>
          </a:prstGeom>
          <a:solidFill>
            <a:srgbClr val="EDF2FA"/>
          </a:solidFill>
          <a:ln/>
        </p:spPr>
      </p:sp>
      <p:sp>
        <p:nvSpPr>
          <p:cNvPr id="21" name="Text 19"/>
          <p:cNvSpPr txBox="1"/>
          <p:nvPr/>
        </p:nvSpPr>
        <p:spPr>
          <a:xfrm>
            <a:off x="2907792"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Ideas session inside each offering</a:t>
            </a:r>
            <a:endParaRPr lang="en-US" sz="950" dirty="0"/>
          </a:p>
        </p:txBody>
      </p:sp>
      <p:sp>
        <p:nvSpPr>
          <p:cNvPr id="22" name="Shape 20"/>
          <p:cNvSpPr/>
          <p:nvPr/>
        </p:nvSpPr>
        <p:spPr>
          <a:xfrm>
            <a:off x="4956048" y="3657600"/>
            <a:ext cx="2103120" cy="1280160"/>
          </a:xfrm>
          <a:prstGeom prst="roundRect">
            <a:avLst>
              <a:gd name="adj" fmla="val 7143"/>
            </a:avLst>
          </a:prstGeom>
          <a:solidFill>
            <a:srgbClr val="F2F6FC"/>
          </a:solidFill>
          <a:ln/>
        </p:spPr>
      </p:sp>
      <p:sp>
        <p:nvSpPr>
          <p:cNvPr id="23" name="Text 21"/>
          <p:cNvSpPr txBox="1"/>
          <p:nvPr/>
        </p:nvSpPr>
        <p:spPr>
          <a:xfrm>
            <a:off x="5120640"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Validation session on the emerging catalogue and accounts</a:t>
            </a:r>
            <a:endParaRPr lang="en-US" sz="950" dirty="0"/>
          </a:p>
        </p:txBody>
      </p:sp>
      <p:sp>
        <p:nvSpPr>
          <p:cNvPr id="24" name="Shape 22"/>
          <p:cNvSpPr/>
          <p:nvPr/>
        </p:nvSpPr>
        <p:spPr>
          <a:xfrm>
            <a:off x="7168896" y="3657600"/>
            <a:ext cx="2103120" cy="1280160"/>
          </a:xfrm>
          <a:prstGeom prst="roundRect">
            <a:avLst>
              <a:gd name="adj" fmla="val 7143"/>
            </a:avLst>
          </a:prstGeom>
          <a:solidFill>
            <a:srgbClr val="EDF2FA"/>
          </a:solidFill>
          <a:ln/>
        </p:spPr>
      </p:sp>
      <p:sp>
        <p:nvSpPr>
          <p:cNvPr id="25" name="Text 23"/>
          <p:cNvSpPr txBox="1"/>
          <p:nvPr/>
        </p:nvSpPr>
        <p:spPr>
          <a:xfrm>
            <a:off x="7333488"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Read-out of the draft</a:t>
            </a:r>
            <a:endParaRPr lang="en-US" sz="950" dirty="0"/>
          </a:p>
        </p:txBody>
      </p:sp>
      <p:sp>
        <p:nvSpPr>
          <p:cNvPr id="26" name="Shape 24"/>
          <p:cNvSpPr/>
          <p:nvPr/>
        </p:nvSpPr>
        <p:spPr>
          <a:xfrm>
            <a:off x="9381744" y="3657600"/>
            <a:ext cx="2103120" cy="1280160"/>
          </a:xfrm>
          <a:prstGeom prst="roundRect">
            <a:avLst>
              <a:gd name="adj" fmla="val 7143"/>
            </a:avLst>
          </a:prstGeom>
          <a:solidFill>
            <a:srgbClr val="F2F6FC"/>
          </a:solidFill>
          <a:ln/>
        </p:spPr>
      </p:sp>
      <p:sp>
        <p:nvSpPr>
          <p:cNvPr id="27" name="Text 25"/>
          <p:cNvSpPr txBox="1"/>
          <p:nvPr/>
        </p:nvSpPr>
        <p:spPr>
          <a:xfrm>
            <a:off x="9546336"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Socialisation session in each offering</a:t>
            </a:r>
            <a:endParaRPr lang="en-US" sz="950" dirty="0"/>
          </a:p>
        </p:txBody>
      </p:sp>
      <p:sp>
        <p:nvSpPr>
          <p:cNvPr id="28" name="Shape 26"/>
          <p:cNvSpPr/>
          <p:nvPr/>
        </p:nvSpPr>
        <p:spPr>
          <a:xfrm>
            <a:off x="640080" y="5074920"/>
            <a:ext cx="1965960" cy="1280160"/>
          </a:xfrm>
          <a:prstGeom prst="roundRect">
            <a:avLst>
              <a:gd name="adj" fmla="val 7143"/>
            </a:avLst>
          </a:prstGeom>
          <a:solidFill>
            <a:srgbClr val="1E2761"/>
          </a:solidFill>
          <a:ln/>
        </p:spPr>
      </p:sp>
      <p:sp>
        <p:nvSpPr>
          <p:cNvPr id="29" name="Text 27"/>
          <p:cNvSpPr txBox="1"/>
          <p:nvPr/>
        </p:nvSpPr>
        <p:spPr>
          <a:xfrm>
            <a:off x="731520" y="507492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Leadership</a:t>
            </a:r>
            <a:endParaRPr lang="en-US" sz="1400" dirty="0"/>
          </a:p>
        </p:txBody>
      </p:sp>
      <p:sp>
        <p:nvSpPr>
          <p:cNvPr id="30" name="Shape 28"/>
          <p:cNvSpPr/>
          <p:nvPr/>
        </p:nvSpPr>
        <p:spPr>
          <a:xfrm>
            <a:off x="2743200" y="5074920"/>
            <a:ext cx="2103120" cy="1280160"/>
          </a:xfrm>
          <a:prstGeom prst="roundRect">
            <a:avLst>
              <a:gd name="adj" fmla="val 7143"/>
            </a:avLst>
          </a:prstGeom>
          <a:solidFill>
            <a:srgbClr val="F2F6FC"/>
          </a:solidFill>
          <a:ln/>
        </p:spPr>
      </p:sp>
      <p:sp>
        <p:nvSpPr>
          <p:cNvPr id="31" name="Text 29"/>
          <p:cNvSpPr txBox="1"/>
          <p:nvPr/>
        </p:nvSpPr>
        <p:spPr>
          <a:xfrm>
            <a:off x="2907792"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Kick-off attendance</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Gate 1: markets and sectors</a:t>
            </a:r>
            <a:endParaRPr lang="en-US" sz="950" dirty="0"/>
          </a:p>
        </p:txBody>
      </p:sp>
      <p:sp>
        <p:nvSpPr>
          <p:cNvPr id="32" name="Shape 30"/>
          <p:cNvSpPr/>
          <p:nvPr/>
        </p:nvSpPr>
        <p:spPr>
          <a:xfrm>
            <a:off x="4956048" y="5074920"/>
            <a:ext cx="2103120" cy="1280160"/>
          </a:xfrm>
          <a:prstGeom prst="roundRect">
            <a:avLst>
              <a:gd name="adj" fmla="val 7143"/>
            </a:avLst>
          </a:prstGeom>
          <a:solidFill>
            <a:srgbClr val="EDF2FA"/>
          </a:solidFill>
          <a:ln/>
        </p:spPr>
      </p:sp>
      <p:sp>
        <p:nvSpPr>
          <p:cNvPr id="33" name="Text 31"/>
          <p:cNvSpPr txBox="1"/>
          <p:nvPr/>
        </p:nvSpPr>
        <p:spPr>
          <a:xfrm>
            <a:off x="5120640"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Gate 2: catalogue and shortlist</a:t>
            </a:r>
            <a:endParaRPr lang="en-US" sz="950" dirty="0"/>
          </a:p>
        </p:txBody>
      </p:sp>
      <p:sp>
        <p:nvSpPr>
          <p:cNvPr id="34" name="Shape 32"/>
          <p:cNvSpPr/>
          <p:nvPr/>
        </p:nvSpPr>
        <p:spPr>
          <a:xfrm>
            <a:off x="7168896" y="5074920"/>
            <a:ext cx="2103120" cy="1280160"/>
          </a:xfrm>
          <a:prstGeom prst="roundRect">
            <a:avLst>
              <a:gd name="adj" fmla="val 7143"/>
            </a:avLst>
          </a:prstGeom>
          <a:solidFill>
            <a:srgbClr val="F2F6FC"/>
          </a:solidFill>
          <a:ln/>
        </p:spPr>
      </p:sp>
      <p:sp>
        <p:nvSpPr>
          <p:cNvPr id="35" name="Text 33"/>
          <p:cNvSpPr txBox="1"/>
          <p:nvPr/>
        </p:nvSpPr>
        <p:spPr>
          <a:xfrm>
            <a:off x="7333488"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Sign-off session</a:t>
            </a:r>
            <a:endParaRPr lang="en-US" sz="950" dirty="0"/>
          </a:p>
        </p:txBody>
      </p:sp>
      <p:sp>
        <p:nvSpPr>
          <p:cNvPr id="36" name="Shape 34"/>
          <p:cNvSpPr/>
          <p:nvPr/>
        </p:nvSpPr>
        <p:spPr>
          <a:xfrm>
            <a:off x="9381744" y="5074920"/>
            <a:ext cx="2103120" cy="1280160"/>
          </a:xfrm>
          <a:prstGeom prst="roundRect">
            <a:avLst>
              <a:gd name="adj" fmla="val 7143"/>
            </a:avLst>
          </a:prstGeom>
          <a:solidFill>
            <a:srgbClr val="EDF2FA"/>
          </a:solidFill>
          <a:ln/>
        </p:spPr>
      </p:sp>
      <p:sp>
        <p:nvSpPr>
          <p:cNvPr id="37" name="Text 35"/>
          <p:cNvSpPr txBox="1"/>
          <p:nvPr/>
        </p:nvSpPr>
        <p:spPr>
          <a:xfrm>
            <a:off x="9546336"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Monthly review against the scorecard</a:t>
            </a:r>
            <a:endParaRPr lang="en-US" sz="950" dirty="0"/>
          </a:p>
        </p:txBody>
      </p:sp>
      <p:sp>
        <p:nvSpPr>
          <p:cNvPr id="38" name="Shape 36"/>
          <p:cNvSpPr/>
          <p:nvPr/>
        </p:nvSpPr>
        <p:spPr>
          <a:xfrm>
            <a:off x="640080" y="6400800"/>
            <a:ext cx="10881360" cy="0"/>
          </a:xfrm>
          <a:prstGeom prst="roundRect">
            <a:avLst/>
          </a:prstGeom>
          <a:solidFill>
            <a:srgbClr val="FFFFFF"/>
          </a:solidFill>
          <a:ln/>
        </p:spPr>
      </p:sp>
      <p:sp>
        <p:nvSpPr>
          <p:cNvPr id="39" name="Text 37"/>
          <p:cNvSpPr txBox="1"/>
          <p:nvPr/>
        </p:nvSpPr>
        <p:spPr>
          <a:xfrm>
            <a:off x="640080" y="6446520"/>
            <a:ext cx="10881360" cy="320040"/>
          </a:xfrm>
          <a:prstGeom prst="rect">
            <a:avLst/>
          </a:prstGeom>
          <a:noFill/>
          <a:ln/>
        </p:spPr>
        <p:txBody>
          <a:bodyPr wrap="square" lIns="0" tIns="0" rIns="0" bIns="0" rtlCol="0" anchor="ctr"/>
          <a:lstStyle/>
          <a:p>
            <a:pPr indent="0" marL="0">
              <a:buNone/>
            </a:pPr>
            <a:r>
              <a:rPr lang="en-US" sz="1150" i="1" dirty="0">
                <a:solidFill>
                  <a:srgbClr val="3E5C8A"/>
                </a:solidFill>
                <a:latin typeface="Calibri" pitchFamily="34" charset="0"/>
                <a:ea typeface="Calibri" pitchFamily="34" charset="-122"/>
                <a:cs typeface="Calibri" pitchFamily="34" charset="-120"/>
              </a:rPr>
              <a:t>Offering-level sessions are how the leads bring their partners and directors in — and are where socialisation starts, not ends.</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could derail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Named now, so they are managed rather than discovered.</a:t>
            </a:r>
            <a:endParaRPr lang="en-US" sz="1450" dirty="0"/>
          </a:p>
        </p:txBody>
      </p:sp>
      <p:sp>
        <p:nvSpPr>
          <p:cNvPr id="4" name="Shape 2"/>
          <p:cNvSpPr/>
          <p:nvPr/>
        </p:nvSpPr>
        <p:spPr>
          <a:xfrm>
            <a:off x="640080" y="1828800"/>
            <a:ext cx="3520440" cy="1783080"/>
          </a:xfrm>
          <a:prstGeom prst="roundRect">
            <a:avLst>
              <a:gd name="adj" fmla="val 6154"/>
            </a:avLst>
          </a:prstGeom>
          <a:solidFill>
            <a:srgbClr val="EDF2FA"/>
          </a:solidFill>
          <a:ln/>
        </p:spPr>
      </p:sp>
      <p:sp>
        <p:nvSpPr>
          <p:cNvPr id="5" name="Shape 3"/>
          <p:cNvSpPr/>
          <p:nvPr/>
        </p:nvSpPr>
        <p:spPr>
          <a:xfrm>
            <a:off x="896112" y="2048256"/>
            <a:ext cx="365760" cy="365760"/>
          </a:xfrm>
          <a:prstGeom prst="ellipse">
            <a:avLst/>
          </a:prstGeom>
          <a:solidFill>
            <a:srgbClr val="1E2761"/>
          </a:solidFill>
          <a:ln/>
        </p:spPr>
      </p:sp>
      <p:sp>
        <p:nvSpPr>
          <p:cNvPr id="6" name="Text 4"/>
          <p:cNvSpPr txBox="1"/>
          <p:nvPr/>
        </p:nvSpPr>
        <p:spPr>
          <a:xfrm>
            <a:off x="896112"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71600"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Inputs arrive late</a:t>
            </a:r>
            <a:endParaRPr lang="en-US" sz="1300" dirty="0"/>
          </a:p>
        </p:txBody>
      </p:sp>
      <p:sp>
        <p:nvSpPr>
          <p:cNvPr id="8" name="Text 6"/>
          <p:cNvSpPr txBox="1"/>
          <p:nvPr/>
        </p:nvSpPr>
        <p:spPr>
          <a:xfrm>
            <a:off x="914400"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revenue, capacity and deal history sit with several people. Chase in the first 48 hours or week one slips.</a:t>
            </a:r>
            <a:endParaRPr lang="en-US" sz="1050" dirty="0"/>
          </a:p>
        </p:txBody>
      </p:sp>
      <p:sp>
        <p:nvSpPr>
          <p:cNvPr id="9" name="Shape 7"/>
          <p:cNvSpPr/>
          <p:nvPr/>
        </p:nvSpPr>
        <p:spPr>
          <a:xfrm>
            <a:off x="4325112" y="1828800"/>
            <a:ext cx="3520440" cy="1783080"/>
          </a:xfrm>
          <a:prstGeom prst="roundRect">
            <a:avLst>
              <a:gd name="adj" fmla="val 6154"/>
            </a:avLst>
          </a:prstGeom>
          <a:solidFill>
            <a:srgbClr val="EDF2FA"/>
          </a:solidFill>
          <a:ln/>
        </p:spPr>
      </p:sp>
      <p:sp>
        <p:nvSpPr>
          <p:cNvPr id="10" name="Shape 8"/>
          <p:cNvSpPr/>
          <p:nvPr/>
        </p:nvSpPr>
        <p:spPr>
          <a:xfrm>
            <a:off x="4581144" y="2048256"/>
            <a:ext cx="365760" cy="365760"/>
          </a:xfrm>
          <a:prstGeom prst="ellipse">
            <a:avLst/>
          </a:prstGeom>
          <a:solidFill>
            <a:srgbClr val="3E5C8A"/>
          </a:solidFill>
          <a:ln/>
        </p:spPr>
      </p:sp>
      <p:sp>
        <p:nvSpPr>
          <p:cNvPr id="11" name="Text 9"/>
          <p:cNvSpPr txBox="1"/>
          <p:nvPr/>
        </p:nvSpPr>
        <p:spPr>
          <a:xfrm>
            <a:off x="4581144"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56632"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parent strategies disagree</a:t>
            </a:r>
            <a:endParaRPr lang="en-US" sz="1300" dirty="0"/>
          </a:p>
        </p:txBody>
      </p:sp>
      <p:sp>
        <p:nvSpPr>
          <p:cNvPr id="13" name="Text 11"/>
          <p:cNvSpPr txBox="1"/>
          <p:nvPr/>
        </p:nvSpPr>
        <p:spPr>
          <a:xfrm>
            <a:off x="4599432"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 different sector priority or an unsigned alliance is an escalation, not something this team settles quietly.</a:t>
            </a:r>
            <a:endParaRPr lang="en-US" sz="1050" dirty="0"/>
          </a:p>
        </p:txBody>
      </p:sp>
      <p:sp>
        <p:nvSpPr>
          <p:cNvPr id="14" name="Shape 12"/>
          <p:cNvSpPr/>
          <p:nvPr/>
        </p:nvSpPr>
        <p:spPr>
          <a:xfrm>
            <a:off x="8010144" y="1828800"/>
            <a:ext cx="3520440" cy="1783080"/>
          </a:xfrm>
          <a:prstGeom prst="roundRect">
            <a:avLst>
              <a:gd name="adj" fmla="val 6154"/>
            </a:avLst>
          </a:prstGeom>
          <a:solidFill>
            <a:srgbClr val="EDF2FA"/>
          </a:solidFill>
          <a:ln/>
        </p:spPr>
      </p:sp>
      <p:sp>
        <p:nvSpPr>
          <p:cNvPr id="15" name="Shape 13"/>
          <p:cNvSpPr/>
          <p:nvPr/>
        </p:nvSpPr>
        <p:spPr>
          <a:xfrm>
            <a:off x="8266176" y="2048256"/>
            <a:ext cx="365760" cy="365760"/>
          </a:xfrm>
          <a:prstGeom prst="ellipse">
            <a:avLst/>
          </a:prstGeom>
          <a:solidFill>
            <a:srgbClr val="1E2761"/>
          </a:solidFill>
          <a:ln/>
        </p:spPr>
      </p:sp>
      <p:sp>
        <p:nvSpPr>
          <p:cNvPr id="16" name="Text 14"/>
          <p:cNvSpPr txBox="1"/>
          <p:nvPr/>
        </p:nvSpPr>
        <p:spPr>
          <a:xfrm>
            <a:off x="8266176"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41664"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People are not available</a:t>
            </a:r>
            <a:endParaRPr lang="en-US" sz="1300" dirty="0"/>
          </a:p>
        </p:txBody>
      </p:sp>
      <p:sp>
        <p:nvSpPr>
          <p:cNvPr id="18" name="Text 16"/>
          <p:cNvSpPr txBox="1"/>
          <p:nvPr/>
        </p:nvSpPr>
        <p:spPr>
          <a:xfrm>
            <a:off x="8284464"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The cycle needs the four leads in the room weekly. Partial attendance produces partial decisions.</a:t>
            </a:r>
            <a:endParaRPr lang="en-US" sz="1050" dirty="0"/>
          </a:p>
        </p:txBody>
      </p:sp>
      <p:sp>
        <p:nvSpPr>
          <p:cNvPr id="19" name="Shape 17"/>
          <p:cNvSpPr/>
          <p:nvPr/>
        </p:nvSpPr>
        <p:spPr>
          <a:xfrm>
            <a:off x="640080" y="3794760"/>
            <a:ext cx="3520440" cy="1783080"/>
          </a:xfrm>
          <a:prstGeom prst="roundRect">
            <a:avLst>
              <a:gd name="adj" fmla="val 6154"/>
            </a:avLst>
          </a:prstGeom>
          <a:solidFill>
            <a:srgbClr val="EDF2FA"/>
          </a:solidFill>
          <a:ln/>
        </p:spPr>
      </p:sp>
      <p:sp>
        <p:nvSpPr>
          <p:cNvPr id="20" name="Shape 18"/>
          <p:cNvSpPr/>
          <p:nvPr/>
        </p:nvSpPr>
        <p:spPr>
          <a:xfrm>
            <a:off x="896112" y="4014216"/>
            <a:ext cx="365760" cy="365760"/>
          </a:xfrm>
          <a:prstGeom prst="ellipse">
            <a:avLst/>
          </a:prstGeom>
          <a:solidFill>
            <a:srgbClr val="3E5C8A"/>
          </a:solidFill>
          <a:ln/>
        </p:spPr>
      </p:sp>
      <p:sp>
        <p:nvSpPr>
          <p:cNvPr id="21" name="Text 19"/>
          <p:cNvSpPr txBox="1"/>
          <p:nvPr/>
        </p:nvSpPr>
        <p:spPr>
          <a:xfrm>
            <a:off x="896112"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71600"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No platform alliance in funds or insurance</a:t>
            </a:r>
            <a:endParaRPr lang="en-US" sz="1300" dirty="0"/>
          </a:p>
        </p:txBody>
      </p:sp>
      <p:sp>
        <p:nvSpPr>
          <p:cNvPr id="23" name="Text 21"/>
          <p:cNvSpPr txBox="1"/>
          <p:nvPr/>
        </p:nvSpPr>
        <p:spPr>
          <a:xfrm>
            <a:off x="914400"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Two of three sectors have no specialised vendor relationship. We can name it; we cannot close it in three weeks.</a:t>
            </a:r>
            <a:endParaRPr lang="en-US" sz="1050" dirty="0"/>
          </a:p>
        </p:txBody>
      </p:sp>
      <p:sp>
        <p:nvSpPr>
          <p:cNvPr id="24" name="Shape 22"/>
          <p:cNvSpPr/>
          <p:nvPr/>
        </p:nvSpPr>
        <p:spPr>
          <a:xfrm>
            <a:off x="4325112" y="3794760"/>
            <a:ext cx="3520440" cy="1783080"/>
          </a:xfrm>
          <a:prstGeom prst="roundRect">
            <a:avLst>
              <a:gd name="adj" fmla="val 6154"/>
            </a:avLst>
          </a:prstGeom>
          <a:solidFill>
            <a:srgbClr val="EDF2FA"/>
          </a:solidFill>
          <a:ln/>
        </p:spPr>
      </p:sp>
      <p:sp>
        <p:nvSpPr>
          <p:cNvPr id="25" name="Shape 23"/>
          <p:cNvSpPr/>
          <p:nvPr/>
        </p:nvSpPr>
        <p:spPr>
          <a:xfrm>
            <a:off x="4581144" y="4014216"/>
            <a:ext cx="365760" cy="365760"/>
          </a:xfrm>
          <a:prstGeom prst="ellipse">
            <a:avLst/>
          </a:prstGeom>
          <a:solidFill>
            <a:srgbClr val="1E2761"/>
          </a:solidFill>
          <a:ln/>
        </p:spPr>
      </p:sp>
      <p:sp>
        <p:nvSpPr>
          <p:cNvPr id="26" name="Text 24"/>
          <p:cNvSpPr txBox="1"/>
          <p:nvPr/>
        </p:nvSpPr>
        <p:spPr>
          <a:xfrm>
            <a:off x="4581144"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56632"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Evidence gaps surface late</a:t>
            </a:r>
            <a:endParaRPr lang="en-US" sz="1300" dirty="0"/>
          </a:p>
        </p:txBody>
      </p:sp>
      <p:sp>
        <p:nvSpPr>
          <p:cNvPr id="28" name="Text 26"/>
          <p:cNvSpPr txBox="1"/>
          <p:nvPr/>
        </p:nvSpPr>
        <p:spPr>
          <a:xfrm>
            <a:off x="4599432"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Credentials we assume we hold may not exist per sector. Test in week one, then make it an initiative.</a:t>
            </a:r>
            <a:endParaRPr lang="en-US" sz="1050" dirty="0"/>
          </a:p>
        </p:txBody>
      </p:sp>
      <p:sp>
        <p:nvSpPr>
          <p:cNvPr id="29" name="Shape 27"/>
          <p:cNvSpPr/>
          <p:nvPr/>
        </p:nvSpPr>
        <p:spPr>
          <a:xfrm>
            <a:off x="8010144" y="3794760"/>
            <a:ext cx="3520440" cy="1783080"/>
          </a:xfrm>
          <a:prstGeom prst="roundRect">
            <a:avLst>
              <a:gd name="adj" fmla="val 6154"/>
            </a:avLst>
          </a:prstGeom>
          <a:solidFill>
            <a:srgbClr val="EDF2FA"/>
          </a:solidFill>
          <a:ln/>
        </p:spPr>
      </p:sp>
      <p:sp>
        <p:nvSpPr>
          <p:cNvPr id="30" name="Shape 28"/>
          <p:cNvSpPr/>
          <p:nvPr/>
        </p:nvSpPr>
        <p:spPr>
          <a:xfrm>
            <a:off x="8266176" y="4014216"/>
            <a:ext cx="365760" cy="365760"/>
          </a:xfrm>
          <a:prstGeom prst="ellipse">
            <a:avLst/>
          </a:prstGeom>
          <a:solidFill>
            <a:srgbClr val="3E5C8A"/>
          </a:solidFill>
          <a:ln/>
        </p:spPr>
      </p:sp>
      <p:sp>
        <p:nvSpPr>
          <p:cNvPr id="31" name="Text 29"/>
          <p:cNvSpPr txBox="1"/>
          <p:nvPr/>
        </p:nvSpPr>
        <p:spPr>
          <a:xfrm>
            <a:off x="8266176"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41664"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timebox slips</a:t>
            </a:r>
            <a:endParaRPr lang="en-US" sz="1300" dirty="0"/>
          </a:p>
        </p:txBody>
      </p:sp>
      <p:sp>
        <p:nvSpPr>
          <p:cNvPr id="33" name="Text 31"/>
          <p:cNvSpPr txBox="1"/>
          <p:nvPr/>
        </p:nvSpPr>
        <p:spPr>
          <a:xfrm>
            <a:off x="8284464"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Three weeks holds only if gates are decisions. A gate deferred twice means the cycle has failed, not paused.</a:t>
            </a:r>
            <a:endParaRPr lang="en-US" sz="10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250" i="1" dirty="0">
                <a:solidFill>
                  <a:srgbClr val="3E5C8A"/>
                </a:solidFill>
                <a:latin typeface="Calibri" pitchFamily="34" charset="0"/>
                <a:ea typeface="Calibri" pitchFamily="34" charset="-122"/>
                <a:cs typeface="Calibri" pitchFamily="34" charset="-120"/>
              </a:rPr>
              <a:t>Each has an owner from kick-off. Two of them — the alliance gap and the evidence gap — become initiatives rather than risks.</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FIVE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comes next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Keeping the strategy alive once it is agreed.</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Initiatives that outlive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Governing the execution: rhythm, scorecard and decision rights</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Initiatives that outlive the cycle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sets the direction. Some of the work then runs for months — named, owned and tracked.</a:t>
            </a:r>
            <a:endParaRPr lang="en-US" sz="1450" dirty="0"/>
          </a:p>
        </p:txBody>
      </p:sp>
      <p:sp>
        <p:nvSpPr>
          <p:cNvPr id="4" name="Shape 2"/>
          <p:cNvSpPr/>
          <p:nvPr/>
        </p:nvSpPr>
        <p:spPr>
          <a:xfrm>
            <a:off x="640080" y="1828800"/>
            <a:ext cx="3520440" cy="1600200"/>
          </a:xfrm>
          <a:prstGeom prst="roundRect">
            <a:avLst>
              <a:gd name="adj" fmla="val 6857"/>
            </a:avLst>
          </a:prstGeom>
          <a:solidFill>
            <a:srgbClr val="E4EBF7"/>
          </a:solidFill>
          <a:ln/>
        </p:spPr>
      </p:sp>
      <p:sp>
        <p:nvSpPr>
          <p:cNvPr id="5" name="Text 3"/>
          <p:cNvSpPr txBox="1"/>
          <p:nvPr/>
        </p:nvSpPr>
        <p:spPr>
          <a:xfrm>
            <a:off x="896112"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PROPOSITIONS</a:t>
            </a:r>
            <a:endParaRPr lang="en-US" sz="900" dirty="0"/>
          </a:p>
        </p:txBody>
      </p:sp>
      <p:sp>
        <p:nvSpPr>
          <p:cNvPr id="6" name="Text 4"/>
          <p:cNvSpPr txBox="1"/>
          <p:nvPr/>
        </p:nvSpPr>
        <p:spPr>
          <a:xfrm>
            <a:off x="896112"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Proposal and orals quality</a:t>
            </a:r>
            <a:endParaRPr lang="en-US" sz="1400" dirty="0"/>
          </a:p>
        </p:txBody>
      </p:sp>
      <p:sp>
        <p:nvSpPr>
          <p:cNvPr id="7" name="Text 5"/>
          <p:cNvSpPr txBox="1"/>
          <p:nvPr/>
        </p:nvSpPr>
        <p:spPr>
          <a:xfrm>
            <a:off x="896112"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Reusable proposal foundations and demo-led orals, so pursuits are fast, polished and differentiated</a:t>
            </a:r>
            <a:endParaRPr lang="en-US" sz="1050" dirty="0"/>
          </a:p>
        </p:txBody>
      </p:sp>
      <p:sp>
        <p:nvSpPr>
          <p:cNvPr id="8" name="Shape 6"/>
          <p:cNvSpPr/>
          <p:nvPr/>
        </p:nvSpPr>
        <p:spPr>
          <a:xfrm>
            <a:off x="4325112" y="1828800"/>
            <a:ext cx="3520440" cy="1600200"/>
          </a:xfrm>
          <a:prstGeom prst="roundRect">
            <a:avLst>
              <a:gd name="adj" fmla="val 6857"/>
            </a:avLst>
          </a:prstGeom>
          <a:solidFill>
            <a:srgbClr val="EDF2FA"/>
          </a:solidFill>
          <a:ln/>
        </p:spPr>
      </p:sp>
      <p:sp>
        <p:nvSpPr>
          <p:cNvPr id="9" name="Text 7"/>
          <p:cNvSpPr txBox="1"/>
          <p:nvPr/>
        </p:nvSpPr>
        <p:spPr>
          <a:xfrm>
            <a:off x="4581144"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0" name="Text 8"/>
          <p:cNvSpPr txBox="1"/>
          <p:nvPr/>
        </p:nvSpPr>
        <p:spPr>
          <a:xfrm>
            <a:off x="4581144"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Assets and accelerators</a:t>
            </a:r>
            <a:endParaRPr lang="en-US" sz="1400" dirty="0"/>
          </a:p>
        </p:txBody>
      </p:sp>
      <p:sp>
        <p:nvSpPr>
          <p:cNvPr id="11" name="Text 9"/>
          <p:cNvSpPr txBox="1"/>
          <p:nvPr/>
        </p:nvSpPr>
        <p:spPr>
          <a:xfrm>
            <a:off x="4581144"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Build the reusable delivery IP behind the propositions we commit to</a:t>
            </a:r>
            <a:endParaRPr lang="en-US" sz="1050" dirty="0"/>
          </a:p>
        </p:txBody>
      </p:sp>
      <p:sp>
        <p:nvSpPr>
          <p:cNvPr id="12" name="Shape 10"/>
          <p:cNvSpPr/>
          <p:nvPr/>
        </p:nvSpPr>
        <p:spPr>
          <a:xfrm>
            <a:off x="8010144" y="1828800"/>
            <a:ext cx="3520440" cy="1600200"/>
          </a:xfrm>
          <a:prstGeom prst="roundRect">
            <a:avLst>
              <a:gd name="adj" fmla="val 6857"/>
            </a:avLst>
          </a:prstGeom>
          <a:solidFill>
            <a:srgbClr val="EDF2FA"/>
          </a:solidFill>
          <a:ln/>
        </p:spPr>
      </p:sp>
      <p:sp>
        <p:nvSpPr>
          <p:cNvPr id="13" name="Text 11"/>
          <p:cNvSpPr txBox="1"/>
          <p:nvPr/>
        </p:nvSpPr>
        <p:spPr>
          <a:xfrm>
            <a:off x="8266176"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4" name="Text 12"/>
          <p:cNvSpPr txBox="1"/>
          <p:nvPr/>
        </p:nvSpPr>
        <p:spPr>
          <a:xfrm>
            <a:off x="8266176"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Capability and certification</a:t>
            </a:r>
            <a:endParaRPr lang="en-US" sz="1400" dirty="0"/>
          </a:p>
        </p:txBody>
      </p:sp>
      <p:sp>
        <p:nvSpPr>
          <p:cNvPr id="15" name="Text 13"/>
          <p:cNvSpPr txBox="1"/>
          <p:nvPr/>
        </p:nvSpPr>
        <p:spPr>
          <a:xfrm>
            <a:off x="8266176"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Close the domain, platform and alliance certification gaps by level</a:t>
            </a:r>
            <a:endParaRPr lang="en-US" sz="1050" dirty="0"/>
          </a:p>
        </p:txBody>
      </p:sp>
      <p:sp>
        <p:nvSpPr>
          <p:cNvPr id="16" name="Shape 14"/>
          <p:cNvSpPr/>
          <p:nvPr/>
        </p:nvSpPr>
        <p:spPr>
          <a:xfrm>
            <a:off x="640080" y="3611880"/>
            <a:ext cx="3520440" cy="1600200"/>
          </a:xfrm>
          <a:prstGeom prst="roundRect">
            <a:avLst>
              <a:gd name="adj" fmla="val 6857"/>
            </a:avLst>
          </a:prstGeom>
          <a:solidFill>
            <a:srgbClr val="EDF2FA"/>
          </a:solidFill>
          <a:ln/>
        </p:spPr>
      </p:sp>
      <p:sp>
        <p:nvSpPr>
          <p:cNvPr id="17" name="Text 15"/>
          <p:cNvSpPr txBox="1"/>
          <p:nvPr/>
        </p:nvSpPr>
        <p:spPr>
          <a:xfrm>
            <a:off x="896112"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18" name="Text 16"/>
          <p:cNvSpPr txBox="1"/>
          <p:nvPr/>
        </p:nvSpPr>
        <p:spPr>
          <a:xfrm>
            <a:off x="896112"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Alliance activation</a:t>
            </a:r>
            <a:endParaRPr lang="en-US" sz="1400" dirty="0"/>
          </a:p>
        </p:txBody>
      </p:sp>
      <p:sp>
        <p:nvSpPr>
          <p:cNvPr id="19" name="Text 17"/>
          <p:cNvSpPr txBox="1"/>
          <p:nvPr/>
        </p:nvSpPr>
        <p:spPr>
          <a:xfrm>
            <a:off x="896112"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Answer the funds and insurance platform gap; activate co-sell and funding</a:t>
            </a:r>
            <a:endParaRPr lang="en-US" sz="1050" dirty="0"/>
          </a:p>
        </p:txBody>
      </p:sp>
      <p:sp>
        <p:nvSpPr>
          <p:cNvPr id="20" name="Shape 18"/>
          <p:cNvSpPr/>
          <p:nvPr/>
        </p:nvSpPr>
        <p:spPr>
          <a:xfrm>
            <a:off x="4325112" y="3611880"/>
            <a:ext cx="3520440" cy="1600200"/>
          </a:xfrm>
          <a:prstGeom prst="roundRect">
            <a:avLst>
              <a:gd name="adj" fmla="val 6857"/>
            </a:avLst>
          </a:prstGeom>
          <a:solidFill>
            <a:srgbClr val="EDF2FA"/>
          </a:solidFill>
          <a:ln/>
        </p:spPr>
      </p:sp>
      <p:sp>
        <p:nvSpPr>
          <p:cNvPr id="21" name="Text 19"/>
          <p:cNvSpPr txBox="1"/>
          <p:nvPr/>
        </p:nvSpPr>
        <p:spPr>
          <a:xfrm>
            <a:off x="4581144"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22" name="Text 20"/>
          <p:cNvSpPr txBox="1"/>
          <p:nvPr/>
        </p:nvSpPr>
        <p:spPr>
          <a:xfrm>
            <a:off x="4581144"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Eminence programme</a:t>
            </a:r>
            <a:endParaRPr lang="en-US" sz="1400" dirty="0"/>
          </a:p>
        </p:txBody>
      </p:sp>
      <p:sp>
        <p:nvSpPr>
          <p:cNvPr id="23" name="Text 21"/>
          <p:cNvSpPr txBox="1"/>
          <p:nvPr/>
        </p:nvSpPr>
        <p:spPr>
          <a:xfrm>
            <a:off x="4581144"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Stand up the calendar, internal and external, against the target accounts</a:t>
            </a:r>
            <a:endParaRPr lang="en-US" sz="1050" dirty="0"/>
          </a:p>
        </p:txBody>
      </p:sp>
      <p:sp>
        <p:nvSpPr>
          <p:cNvPr id="24" name="Shape 22"/>
          <p:cNvSpPr/>
          <p:nvPr/>
        </p:nvSpPr>
        <p:spPr>
          <a:xfrm>
            <a:off x="8010144" y="3611880"/>
            <a:ext cx="3520440" cy="1600200"/>
          </a:xfrm>
          <a:prstGeom prst="roundRect">
            <a:avLst>
              <a:gd name="adj" fmla="val 6857"/>
            </a:avLst>
          </a:prstGeom>
          <a:solidFill>
            <a:srgbClr val="EDF2FA"/>
          </a:solidFill>
          <a:ln/>
        </p:spPr>
      </p:sp>
      <p:sp>
        <p:nvSpPr>
          <p:cNvPr id="25" name="Text 23"/>
          <p:cNvSpPr txBox="1"/>
          <p:nvPr/>
        </p:nvSpPr>
        <p:spPr>
          <a:xfrm>
            <a:off x="8266176"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MARKET AND CLIENTS</a:t>
            </a:r>
            <a:endParaRPr lang="en-US" sz="900" dirty="0"/>
          </a:p>
        </p:txBody>
      </p:sp>
      <p:sp>
        <p:nvSpPr>
          <p:cNvPr id="26" name="Text 24"/>
          <p:cNvSpPr txBox="1"/>
          <p:nvPr/>
        </p:nvSpPr>
        <p:spPr>
          <a:xfrm>
            <a:off x="8266176"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Account activation</a:t>
            </a:r>
            <a:endParaRPr lang="en-US" sz="1400" dirty="0"/>
          </a:p>
        </p:txBody>
      </p:sp>
      <p:sp>
        <p:nvSpPr>
          <p:cNvPr id="27" name="Text 25"/>
          <p:cNvSpPr txBox="1"/>
          <p:nvPr/>
        </p:nvSpPr>
        <p:spPr>
          <a:xfrm>
            <a:off x="8266176"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Turn the tier one list into live pursuits inside the existing account plans</a:t>
            </a:r>
            <a:endParaRPr lang="en-US" sz="1050" dirty="0"/>
          </a:p>
        </p:txBody>
      </p:sp>
      <p:sp>
        <p:nvSpPr>
          <p:cNvPr id="28" name="Shape 26"/>
          <p:cNvSpPr/>
          <p:nvPr/>
        </p:nvSpPr>
        <p:spPr>
          <a:xfrm>
            <a:off x="640080" y="5440680"/>
            <a:ext cx="10881360" cy="777240"/>
          </a:xfrm>
          <a:prstGeom prst="roundRect">
            <a:avLst>
              <a:gd name="adj" fmla="val 11765"/>
            </a:avLst>
          </a:prstGeom>
          <a:solidFill>
            <a:srgbClr val="1E2761"/>
          </a:solidFill>
          <a:ln/>
        </p:spPr>
      </p:sp>
      <p:sp>
        <p:nvSpPr>
          <p:cNvPr id="29" name="Text 27"/>
          <p:cNvSpPr txBox="1"/>
          <p:nvPr/>
        </p:nvSpPr>
        <p:spPr>
          <a:xfrm>
            <a:off x="914400" y="544068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Every initiative carries a pillar, an owner, an outcome and a date — and is reviewed in the monthly rhythm alongside the numbers.</a:t>
            </a:r>
            <a:endParaRPr lang="en-US" sz="1250" dirty="0"/>
          </a:p>
        </p:txBody>
      </p:sp>
      <p:sp>
        <p:nvSpPr>
          <p:cNvPr id="30" name="Text 28"/>
          <p:cNvSpPr txBox="1"/>
          <p:nvPr/>
        </p:nvSpPr>
        <p:spPr>
          <a:xfrm>
            <a:off x="640080" y="6309360"/>
            <a:ext cx="731520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Illustrative — the register is built in week three and tracked from there.</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Initiative register and talent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Milestones hit against the register</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SIX</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Strategy inputs</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stand today — the starting position the cycle works from.</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Current propositions, one slide per offering</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FSI industry priority account list</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Current FY financial targets, and our share</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Industry Solutions today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the propositions we sell today, one row each.</a:t>
            </a:r>
            <a:endParaRPr lang="en-US" sz="14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468880"/>
                <a:gridCol w="4480560"/>
                <a:gridCol w="1737360"/>
                <a:gridCol w="21945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 or focused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buys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2860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218688" y="1965960"/>
            <a:ext cx="4297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is</a:t>
            </a:r>
            <a:endParaRPr lang="en-US" sz="1150" dirty="0"/>
          </a:p>
        </p:txBody>
      </p:sp>
      <p:sp>
        <p:nvSpPr>
          <p:cNvPr id="8" name="Text 5"/>
          <p:cNvSpPr txBox="1"/>
          <p:nvPr/>
        </p:nvSpPr>
        <p:spPr>
          <a:xfrm>
            <a:off x="769924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 or focused</a:t>
            </a:r>
            <a:endParaRPr lang="en-US" sz="1150" dirty="0"/>
          </a:p>
        </p:txBody>
      </p:sp>
      <p:sp>
        <p:nvSpPr>
          <p:cNvPr id="9" name="Text 6"/>
          <p:cNvSpPr txBox="1"/>
          <p:nvPr/>
        </p:nvSpPr>
        <p:spPr>
          <a:xfrm>
            <a:off x="94366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buys it</a:t>
            </a:r>
            <a:endParaRPr lang="en-US" sz="1150" dirty="0"/>
          </a:p>
        </p:txBody>
      </p:sp>
      <p:sp>
        <p:nvSpPr>
          <p:cNvPr id="10" name="Text 7"/>
          <p:cNvSpPr txBox="1"/>
          <p:nvPr/>
        </p:nvSpPr>
        <p:spPr>
          <a:xfrm>
            <a:off x="640080" y="636422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 sold today, in the words used with clients — not the catalogue we intend to build.</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AI and Data today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the propositions we sell today, one row each.</a:t>
            </a:r>
            <a:endParaRPr lang="en-US" sz="14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468880"/>
                <a:gridCol w="4480560"/>
                <a:gridCol w="1737360"/>
                <a:gridCol w="21945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 or focused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buys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2860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218688" y="1965960"/>
            <a:ext cx="4297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is</a:t>
            </a:r>
            <a:endParaRPr lang="en-US" sz="1150" dirty="0"/>
          </a:p>
        </p:txBody>
      </p:sp>
      <p:sp>
        <p:nvSpPr>
          <p:cNvPr id="8" name="Text 5"/>
          <p:cNvSpPr txBox="1"/>
          <p:nvPr/>
        </p:nvSpPr>
        <p:spPr>
          <a:xfrm>
            <a:off x="769924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 or focused</a:t>
            </a:r>
            <a:endParaRPr lang="en-US" sz="1150" dirty="0"/>
          </a:p>
        </p:txBody>
      </p:sp>
      <p:sp>
        <p:nvSpPr>
          <p:cNvPr id="9" name="Text 6"/>
          <p:cNvSpPr txBox="1"/>
          <p:nvPr/>
        </p:nvSpPr>
        <p:spPr>
          <a:xfrm>
            <a:off x="94366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buys it</a:t>
            </a:r>
            <a:endParaRPr lang="en-US" sz="1150" dirty="0"/>
          </a:p>
        </p:txBody>
      </p:sp>
      <p:sp>
        <p:nvSpPr>
          <p:cNvPr id="10" name="Text 7"/>
          <p:cNvSpPr txBox="1"/>
          <p:nvPr/>
        </p:nvSpPr>
        <p:spPr>
          <a:xfrm>
            <a:off x="640080" y="636422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 sold today, in the words used with clients — not the catalogue we intend to build.</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Engineering today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the propositions we sell today, one row each.</a:t>
            </a:r>
            <a:endParaRPr lang="en-US" sz="14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468880"/>
                <a:gridCol w="4480560"/>
                <a:gridCol w="1737360"/>
                <a:gridCol w="21945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 or focused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buys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2860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218688" y="1965960"/>
            <a:ext cx="4297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is</a:t>
            </a:r>
            <a:endParaRPr lang="en-US" sz="1150" dirty="0"/>
          </a:p>
        </p:txBody>
      </p:sp>
      <p:sp>
        <p:nvSpPr>
          <p:cNvPr id="8" name="Text 5"/>
          <p:cNvSpPr txBox="1"/>
          <p:nvPr/>
        </p:nvSpPr>
        <p:spPr>
          <a:xfrm>
            <a:off x="769924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 or focused</a:t>
            </a:r>
            <a:endParaRPr lang="en-US" sz="1150" dirty="0"/>
          </a:p>
        </p:txBody>
      </p:sp>
      <p:sp>
        <p:nvSpPr>
          <p:cNvPr id="9" name="Text 6"/>
          <p:cNvSpPr txBox="1"/>
          <p:nvPr/>
        </p:nvSpPr>
        <p:spPr>
          <a:xfrm>
            <a:off x="94366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buys it</a:t>
            </a:r>
            <a:endParaRPr lang="en-US" sz="1150" dirty="0"/>
          </a:p>
        </p:txBody>
      </p:sp>
      <p:sp>
        <p:nvSpPr>
          <p:cNvPr id="10" name="Text 7"/>
          <p:cNvSpPr txBox="1"/>
          <p:nvPr/>
        </p:nvSpPr>
        <p:spPr>
          <a:xfrm>
            <a:off x="640080" y="636422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 sold today, in the words used with clients — not the catalogue we intend to build.</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priority account list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the FSI industry priority account list as it stands today.</a:t>
            </a:r>
            <a:endParaRPr lang="en-US" sz="14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188720"/>
                <a:gridCol w="1828800"/>
                <a:gridCol w="29260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Relationship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do there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41330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53218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Relationship owner</a:t>
            </a:r>
            <a:endParaRPr lang="en-US" sz="1150" dirty="0"/>
          </a:p>
        </p:txBody>
      </p:sp>
      <p:sp>
        <p:nvSpPr>
          <p:cNvPr id="10" name="Text 7"/>
          <p:cNvSpPr txBox="1"/>
          <p:nvPr/>
        </p:nvSpPr>
        <p:spPr>
          <a:xfrm>
            <a:off x="715060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do there today</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p>
        </p:txBody>
      </p:sp>
      <p:sp>
        <p:nvSpPr>
          <p:cNvPr id="12" name="Text 9"/>
          <p:cNvSpPr txBox="1"/>
          <p:nvPr/>
        </p:nvSpPr>
        <p:spPr>
          <a:xfrm>
            <a:off x="640080" y="636422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Today’s position. The target list is an output of the cycle.</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This year’s numbers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current FY financial targets for FSI, and how much of that sits with us.</a:t>
            </a:r>
            <a:endParaRPr lang="en-US" sz="1450" dirty="0"/>
          </a:p>
        </p:txBody>
      </p:sp>
      <p:sp>
        <p:nvSpPr>
          <p:cNvPr id="4" name="Shape 2"/>
          <p:cNvSpPr/>
          <p:nvPr/>
        </p:nvSpPr>
        <p:spPr>
          <a:xfrm>
            <a:off x="640080" y="1828800"/>
            <a:ext cx="10881360" cy="457200"/>
          </a:xfrm>
          <a:prstGeom prst="rect">
            <a:avLst/>
          </a:prstGeom>
          <a:solidFill>
            <a:srgbClr val="1E2761"/>
          </a:solidFill>
          <a:ln/>
        </p:spPr>
      </p:sp>
      <p:sp>
        <p:nvSpPr>
          <p:cNvPr id="5" name="Text 3"/>
          <p:cNvSpPr txBox="1"/>
          <p:nvPr/>
        </p:nvSpPr>
        <p:spPr>
          <a:xfrm>
            <a:off x="822960" y="1828800"/>
            <a:ext cx="283464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p>
        </p:txBody>
      </p:sp>
      <p:sp>
        <p:nvSpPr>
          <p:cNvPr id="6" name="Text 4"/>
          <p:cNvSpPr txBox="1"/>
          <p:nvPr/>
        </p:nvSpPr>
        <p:spPr>
          <a:xfrm>
            <a:off x="4023360" y="1828800"/>
            <a:ext cx="246888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FSI total, current FY</a:t>
            </a:r>
            <a:endParaRPr lang="en-US" sz="1200" dirty="0"/>
          </a:p>
        </p:txBody>
      </p:sp>
      <p:sp>
        <p:nvSpPr>
          <p:cNvPr id="7" name="Text 5"/>
          <p:cNvSpPr txBox="1"/>
          <p:nvPr/>
        </p:nvSpPr>
        <p:spPr>
          <a:xfrm>
            <a:off x="6858000" y="1828800"/>
            <a:ext cx="21031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EAI&amp;D share</a:t>
            </a:r>
            <a:endParaRPr lang="en-US" sz="1200" dirty="0"/>
          </a:p>
        </p:txBody>
      </p:sp>
      <p:sp>
        <p:nvSpPr>
          <p:cNvPr id="8" name="Text 6"/>
          <p:cNvSpPr txBox="1"/>
          <p:nvPr/>
        </p:nvSpPr>
        <p:spPr>
          <a:xfrm>
            <a:off x="9326880" y="1828800"/>
            <a:ext cx="21031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Our share of it</a:t>
            </a:r>
            <a:endParaRPr lang="en-US" sz="1200" dirty="0"/>
          </a:p>
        </p:txBody>
      </p:sp>
      <p:sp>
        <p:nvSpPr>
          <p:cNvPr id="9" name="Shape 7"/>
          <p:cNvSpPr/>
          <p:nvPr/>
        </p:nvSpPr>
        <p:spPr>
          <a:xfrm>
            <a:off x="640080" y="2286000"/>
            <a:ext cx="10881360" cy="658368"/>
          </a:xfrm>
          <a:prstGeom prst="rect">
            <a:avLst/>
          </a:prstGeom>
          <a:solidFill>
            <a:srgbClr val="F7FAFD"/>
          </a:solidFill>
          <a:ln/>
        </p:spPr>
      </p:sp>
      <p:sp>
        <p:nvSpPr>
          <p:cNvPr id="10" name="Text 8"/>
          <p:cNvSpPr txBox="1"/>
          <p:nvPr/>
        </p:nvSpPr>
        <p:spPr>
          <a:xfrm>
            <a:off x="822960" y="2286000"/>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Revenue</a:t>
            </a:r>
            <a:endParaRPr lang="en-US" sz="1250" dirty="0"/>
          </a:p>
        </p:txBody>
      </p:sp>
      <p:sp>
        <p:nvSpPr>
          <p:cNvPr id="11" name="Shape 9"/>
          <p:cNvSpPr/>
          <p:nvPr/>
        </p:nvSpPr>
        <p:spPr>
          <a:xfrm>
            <a:off x="4023360" y="2724912"/>
            <a:ext cx="2286000" cy="0"/>
          </a:xfrm>
          <a:prstGeom prst="line">
            <a:avLst/>
          </a:prstGeom>
          <a:noFill/>
          <a:ln w="12700">
            <a:solidFill>
              <a:srgbClr val="C9D4E6"/>
            </a:solidFill>
            <a:prstDash val="solid"/>
          </a:ln>
        </p:spPr>
      </p:sp>
      <p:sp>
        <p:nvSpPr>
          <p:cNvPr id="12" name="Shape 10"/>
          <p:cNvSpPr/>
          <p:nvPr/>
        </p:nvSpPr>
        <p:spPr>
          <a:xfrm>
            <a:off x="6858000" y="2724912"/>
            <a:ext cx="1920240" cy="0"/>
          </a:xfrm>
          <a:prstGeom prst="line">
            <a:avLst/>
          </a:prstGeom>
          <a:noFill/>
          <a:ln w="12700">
            <a:solidFill>
              <a:srgbClr val="C9D4E6"/>
            </a:solidFill>
            <a:prstDash val="solid"/>
          </a:ln>
        </p:spPr>
      </p:sp>
      <p:sp>
        <p:nvSpPr>
          <p:cNvPr id="13" name="Shape 11"/>
          <p:cNvSpPr/>
          <p:nvPr/>
        </p:nvSpPr>
        <p:spPr>
          <a:xfrm>
            <a:off x="9326880" y="2724912"/>
            <a:ext cx="1920240" cy="0"/>
          </a:xfrm>
          <a:prstGeom prst="line">
            <a:avLst/>
          </a:prstGeom>
          <a:noFill/>
          <a:ln w="12700">
            <a:solidFill>
              <a:srgbClr val="C9D4E6"/>
            </a:solidFill>
            <a:prstDash val="solid"/>
          </a:ln>
        </p:spPr>
      </p:sp>
      <p:sp>
        <p:nvSpPr>
          <p:cNvPr id="14" name="Shape 12"/>
          <p:cNvSpPr/>
          <p:nvPr/>
        </p:nvSpPr>
        <p:spPr>
          <a:xfrm>
            <a:off x="640080" y="2944368"/>
            <a:ext cx="10881360" cy="658368"/>
          </a:xfrm>
          <a:prstGeom prst="rect">
            <a:avLst/>
          </a:prstGeom>
          <a:solidFill>
            <a:srgbClr val="EDF2FA"/>
          </a:solidFill>
          <a:ln/>
        </p:spPr>
      </p:sp>
      <p:sp>
        <p:nvSpPr>
          <p:cNvPr id="15" name="Text 13"/>
          <p:cNvSpPr txBox="1"/>
          <p:nvPr/>
        </p:nvSpPr>
        <p:spPr>
          <a:xfrm>
            <a:off x="822960" y="2944368"/>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Sales and bookings</a:t>
            </a:r>
            <a:endParaRPr lang="en-US" sz="1250" dirty="0"/>
          </a:p>
        </p:txBody>
      </p:sp>
      <p:sp>
        <p:nvSpPr>
          <p:cNvPr id="16" name="Shape 14"/>
          <p:cNvSpPr/>
          <p:nvPr/>
        </p:nvSpPr>
        <p:spPr>
          <a:xfrm>
            <a:off x="4023360" y="3383280"/>
            <a:ext cx="2286000" cy="0"/>
          </a:xfrm>
          <a:prstGeom prst="line">
            <a:avLst/>
          </a:prstGeom>
          <a:noFill/>
          <a:ln w="12700">
            <a:solidFill>
              <a:srgbClr val="C9D4E6"/>
            </a:solidFill>
            <a:prstDash val="solid"/>
          </a:ln>
        </p:spPr>
      </p:sp>
      <p:sp>
        <p:nvSpPr>
          <p:cNvPr id="17" name="Shape 15"/>
          <p:cNvSpPr/>
          <p:nvPr/>
        </p:nvSpPr>
        <p:spPr>
          <a:xfrm>
            <a:off x="6858000" y="3383280"/>
            <a:ext cx="1920240" cy="0"/>
          </a:xfrm>
          <a:prstGeom prst="line">
            <a:avLst/>
          </a:prstGeom>
          <a:noFill/>
          <a:ln w="12700">
            <a:solidFill>
              <a:srgbClr val="C9D4E6"/>
            </a:solidFill>
            <a:prstDash val="solid"/>
          </a:ln>
        </p:spPr>
      </p:sp>
      <p:sp>
        <p:nvSpPr>
          <p:cNvPr id="18" name="Shape 16"/>
          <p:cNvSpPr/>
          <p:nvPr/>
        </p:nvSpPr>
        <p:spPr>
          <a:xfrm>
            <a:off x="9326880" y="3383280"/>
            <a:ext cx="1920240" cy="0"/>
          </a:xfrm>
          <a:prstGeom prst="line">
            <a:avLst/>
          </a:prstGeom>
          <a:noFill/>
          <a:ln w="12700">
            <a:solidFill>
              <a:srgbClr val="C9D4E6"/>
            </a:solidFill>
            <a:prstDash val="solid"/>
          </a:ln>
        </p:spPr>
      </p:sp>
      <p:sp>
        <p:nvSpPr>
          <p:cNvPr id="19" name="Shape 17"/>
          <p:cNvSpPr/>
          <p:nvPr/>
        </p:nvSpPr>
        <p:spPr>
          <a:xfrm>
            <a:off x="640080" y="3602736"/>
            <a:ext cx="10881360" cy="658368"/>
          </a:xfrm>
          <a:prstGeom prst="rect">
            <a:avLst/>
          </a:prstGeom>
          <a:solidFill>
            <a:srgbClr val="F7FAFD"/>
          </a:solidFill>
          <a:ln/>
        </p:spPr>
      </p:sp>
      <p:sp>
        <p:nvSpPr>
          <p:cNvPr id="20" name="Text 18"/>
          <p:cNvSpPr txBox="1"/>
          <p:nvPr/>
        </p:nvSpPr>
        <p:spPr>
          <a:xfrm>
            <a:off x="822960" y="3602736"/>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Pipeline</a:t>
            </a:r>
            <a:endParaRPr lang="en-US" sz="1250" dirty="0"/>
          </a:p>
        </p:txBody>
      </p:sp>
      <p:sp>
        <p:nvSpPr>
          <p:cNvPr id="21" name="Shape 19"/>
          <p:cNvSpPr/>
          <p:nvPr/>
        </p:nvSpPr>
        <p:spPr>
          <a:xfrm>
            <a:off x="4023360" y="4041648"/>
            <a:ext cx="2286000" cy="0"/>
          </a:xfrm>
          <a:prstGeom prst="line">
            <a:avLst/>
          </a:prstGeom>
          <a:noFill/>
          <a:ln w="12700">
            <a:solidFill>
              <a:srgbClr val="C9D4E6"/>
            </a:solidFill>
            <a:prstDash val="solid"/>
          </a:ln>
        </p:spPr>
      </p:sp>
      <p:sp>
        <p:nvSpPr>
          <p:cNvPr id="22" name="Shape 20"/>
          <p:cNvSpPr/>
          <p:nvPr/>
        </p:nvSpPr>
        <p:spPr>
          <a:xfrm>
            <a:off x="6858000" y="4041648"/>
            <a:ext cx="1920240" cy="0"/>
          </a:xfrm>
          <a:prstGeom prst="line">
            <a:avLst/>
          </a:prstGeom>
          <a:noFill/>
          <a:ln w="12700">
            <a:solidFill>
              <a:srgbClr val="C9D4E6"/>
            </a:solidFill>
            <a:prstDash val="solid"/>
          </a:ln>
        </p:spPr>
      </p:sp>
      <p:sp>
        <p:nvSpPr>
          <p:cNvPr id="23" name="Shape 21"/>
          <p:cNvSpPr/>
          <p:nvPr/>
        </p:nvSpPr>
        <p:spPr>
          <a:xfrm>
            <a:off x="9326880" y="4041648"/>
            <a:ext cx="1920240" cy="0"/>
          </a:xfrm>
          <a:prstGeom prst="line">
            <a:avLst/>
          </a:prstGeom>
          <a:noFill/>
          <a:ln w="12700">
            <a:solidFill>
              <a:srgbClr val="C9D4E6"/>
            </a:solidFill>
            <a:prstDash val="solid"/>
          </a:ln>
        </p:spPr>
      </p:sp>
      <p:sp>
        <p:nvSpPr>
          <p:cNvPr id="24" name="Shape 22"/>
          <p:cNvSpPr/>
          <p:nvPr/>
        </p:nvSpPr>
        <p:spPr>
          <a:xfrm>
            <a:off x="640080" y="4261104"/>
            <a:ext cx="10881360" cy="658368"/>
          </a:xfrm>
          <a:prstGeom prst="rect">
            <a:avLst/>
          </a:prstGeom>
          <a:solidFill>
            <a:srgbClr val="EDF2FA"/>
          </a:solidFill>
          <a:ln/>
        </p:spPr>
      </p:sp>
      <p:sp>
        <p:nvSpPr>
          <p:cNvPr id="25" name="Text 23"/>
          <p:cNvSpPr txBox="1"/>
          <p:nvPr/>
        </p:nvSpPr>
        <p:spPr>
          <a:xfrm>
            <a:off x="822960" y="4261104"/>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Headcount deployed</a:t>
            </a:r>
            <a:endParaRPr lang="en-US" sz="1250" dirty="0"/>
          </a:p>
        </p:txBody>
      </p:sp>
      <p:sp>
        <p:nvSpPr>
          <p:cNvPr id="26" name="Shape 24"/>
          <p:cNvSpPr/>
          <p:nvPr/>
        </p:nvSpPr>
        <p:spPr>
          <a:xfrm>
            <a:off x="4023360" y="4700016"/>
            <a:ext cx="2286000" cy="0"/>
          </a:xfrm>
          <a:prstGeom prst="line">
            <a:avLst/>
          </a:prstGeom>
          <a:noFill/>
          <a:ln w="12700">
            <a:solidFill>
              <a:srgbClr val="C9D4E6"/>
            </a:solidFill>
            <a:prstDash val="solid"/>
          </a:ln>
        </p:spPr>
      </p:sp>
      <p:sp>
        <p:nvSpPr>
          <p:cNvPr id="27" name="Shape 25"/>
          <p:cNvSpPr/>
          <p:nvPr/>
        </p:nvSpPr>
        <p:spPr>
          <a:xfrm>
            <a:off x="6858000" y="4700016"/>
            <a:ext cx="1920240" cy="0"/>
          </a:xfrm>
          <a:prstGeom prst="line">
            <a:avLst/>
          </a:prstGeom>
          <a:noFill/>
          <a:ln w="12700">
            <a:solidFill>
              <a:srgbClr val="C9D4E6"/>
            </a:solidFill>
            <a:prstDash val="solid"/>
          </a:ln>
        </p:spPr>
      </p:sp>
      <p:sp>
        <p:nvSpPr>
          <p:cNvPr id="28" name="Shape 26"/>
          <p:cNvSpPr/>
          <p:nvPr/>
        </p:nvSpPr>
        <p:spPr>
          <a:xfrm>
            <a:off x="9326880" y="4700016"/>
            <a:ext cx="1920240" cy="0"/>
          </a:xfrm>
          <a:prstGeom prst="line">
            <a:avLst/>
          </a:prstGeom>
          <a:noFill/>
          <a:ln w="12700">
            <a:solidFill>
              <a:srgbClr val="C9D4E6"/>
            </a:solidFill>
            <a:prstDash val="solid"/>
          </a:ln>
        </p:spPr>
      </p:sp>
      <p:sp>
        <p:nvSpPr>
          <p:cNvPr id="29" name="Shape 27"/>
          <p:cNvSpPr/>
          <p:nvPr/>
        </p:nvSpPr>
        <p:spPr>
          <a:xfrm>
            <a:off x="640080" y="5120640"/>
            <a:ext cx="10881360" cy="822960"/>
          </a:xfrm>
          <a:prstGeom prst="roundRect">
            <a:avLst>
              <a:gd name="adj" fmla="val 11111"/>
            </a:avLst>
          </a:prstGeom>
          <a:solidFill>
            <a:srgbClr val="1E2761"/>
          </a:solidFill>
          <a:ln/>
        </p:spPr>
      </p:sp>
      <p:sp>
        <p:nvSpPr>
          <p:cNvPr id="30" name="Text 28"/>
          <p:cNvSpPr txBox="1"/>
          <p:nvPr/>
        </p:nvSpPr>
        <p:spPr>
          <a:xfrm>
            <a:off x="914400" y="51206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ambition we set has to reconcile to these: a number that ignores this year’s plan is an aspiration, and a number that only repeats it is not a strategy.</a:t>
            </a:r>
            <a:endParaRPr lang="en-US" sz="1250" dirty="0"/>
          </a:p>
        </p:txBody>
      </p:sp>
      <p:sp>
        <p:nvSpPr>
          <p:cNvPr id="31" name="Text 29"/>
          <p:cNvSpPr txBox="1"/>
          <p:nvPr/>
        </p:nvSpPr>
        <p:spPr>
          <a:xfrm>
            <a:off x="640080" y="60350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Split by sector and market where the plan already does. Source from finance, not from memory.</a:t>
            </a:r>
            <a:endParaRPr lang="en-US" sz="11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The strategy template — a placeholder for every answer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783080"/>
            <a:ext cx="5303520" cy="777240"/>
          </a:xfrm>
          <a:prstGeom prst="roundRect">
            <a:avLst>
              <a:gd name="adj" fmla="val 11765"/>
            </a:avLst>
          </a:prstGeom>
          <a:solidFill>
            <a:srgbClr val="FFFFFF"/>
          </a:solidFill>
          <a:ln w="15875">
            <a:solidFill>
              <a:srgbClr val="1E2761"/>
            </a:solidFill>
            <a:prstDash val="solid"/>
          </a:ln>
        </p:spPr>
      </p:sp>
      <p:sp>
        <p:nvSpPr>
          <p:cNvPr id="5" name="Text 3"/>
          <p:cNvSpPr txBox="1"/>
          <p:nvPr/>
        </p:nvSpPr>
        <p:spPr>
          <a:xfrm>
            <a:off x="896112" y="1783080"/>
            <a:ext cx="1463040" cy="777240"/>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VISION</a:t>
            </a:r>
            <a:endParaRPr lang="en-US" sz="1150" dirty="0"/>
          </a:p>
        </p:txBody>
      </p:sp>
      <p:sp>
        <p:nvSpPr>
          <p:cNvPr id="6" name="Shape 4"/>
          <p:cNvSpPr/>
          <p:nvPr/>
        </p:nvSpPr>
        <p:spPr>
          <a:xfrm>
            <a:off x="2468880" y="2304288"/>
            <a:ext cx="3200400" cy="0"/>
          </a:xfrm>
          <a:prstGeom prst="line">
            <a:avLst/>
          </a:prstGeom>
          <a:noFill/>
          <a:ln w="12700">
            <a:solidFill>
              <a:srgbClr val="C9D4E6"/>
            </a:solidFill>
            <a:prstDash val="solid"/>
          </a:ln>
        </p:spPr>
      </p:sp>
      <p:sp>
        <p:nvSpPr>
          <p:cNvPr id="7" name="Shape 5"/>
          <p:cNvSpPr/>
          <p:nvPr/>
        </p:nvSpPr>
        <p:spPr>
          <a:xfrm>
            <a:off x="6217920" y="1783080"/>
            <a:ext cx="5303520" cy="777240"/>
          </a:xfrm>
          <a:prstGeom prst="roundRect">
            <a:avLst>
              <a:gd name="adj" fmla="val 11765"/>
            </a:avLst>
          </a:prstGeom>
          <a:solidFill>
            <a:srgbClr val="FFFFFF"/>
          </a:solidFill>
          <a:ln w="15875">
            <a:solidFill>
              <a:srgbClr val="1E2761"/>
            </a:solidFill>
            <a:prstDash val="solid"/>
          </a:ln>
        </p:spPr>
      </p:sp>
      <p:sp>
        <p:nvSpPr>
          <p:cNvPr id="8" name="Text 6"/>
          <p:cNvSpPr txBox="1"/>
          <p:nvPr/>
        </p:nvSpPr>
        <p:spPr>
          <a:xfrm>
            <a:off x="6473952" y="1783080"/>
            <a:ext cx="1463040" cy="777240"/>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AMBITION</a:t>
            </a:r>
            <a:endParaRPr lang="en-US" sz="1150" dirty="0"/>
          </a:p>
        </p:txBody>
      </p:sp>
      <p:sp>
        <p:nvSpPr>
          <p:cNvPr id="9" name="Shape 7"/>
          <p:cNvSpPr/>
          <p:nvPr/>
        </p:nvSpPr>
        <p:spPr>
          <a:xfrm>
            <a:off x="8046720" y="2304288"/>
            <a:ext cx="3200400" cy="0"/>
          </a:xfrm>
          <a:prstGeom prst="line">
            <a:avLst/>
          </a:prstGeom>
          <a:noFill/>
          <a:ln w="12700">
            <a:solidFill>
              <a:srgbClr val="C9D4E6"/>
            </a:solidFill>
            <a:prstDash val="solid"/>
          </a:ln>
        </p:spPr>
      </p:sp>
      <p:sp>
        <p:nvSpPr>
          <p:cNvPr id="10" name="Shape 8"/>
          <p:cNvSpPr/>
          <p:nvPr/>
        </p:nvSpPr>
        <p:spPr>
          <a:xfrm>
            <a:off x="640080" y="2743200"/>
            <a:ext cx="2596896" cy="2423160"/>
          </a:xfrm>
          <a:prstGeom prst="roundRect">
            <a:avLst>
              <a:gd name="adj" fmla="val 3774"/>
            </a:avLst>
          </a:prstGeom>
          <a:solidFill>
            <a:srgbClr val="FFFFFF"/>
          </a:solidFill>
          <a:ln w="12700">
            <a:solidFill>
              <a:srgbClr val="C9D4E6"/>
            </a:solidFill>
            <a:prstDash val="solid"/>
          </a:ln>
        </p:spPr>
      </p:sp>
      <p:sp>
        <p:nvSpPr>
          <p:cNvPr id="11" name="Shape 9"/>
          <p:cNvSpPr/>
          <p:nvPr/>
        </p:nvSpPr>
        <p:spPr>
          <a:xfrm>
            <a:off x="640080" y="2743200"/>
            <a:ext cx="2596896" cy="502920"/>
          </a:xfrm>
          <a:prstGeom prst="rect">
            <a:avLst/>
          </a:prstGeom>
          <a:solidFill>
            <a:srgbClr val="1E2761"/>
          </a:solidFill>
          <a:ln/>
        </p:spPr>
      </p:sp>
      <p:sp>
        <p:nvSpPr>
          <p:cNvPr id="12" name="Text 10"/>
          <p:cNvSpPr txBox="1"/>
          <p:nvPr/>
        </p:nvSpPr>
        <p:spPr>
          <a:xfrm>
            <a:off x="786384"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3" name="Text 11"/>
          <p:cNvSpPr txBox="1"/>
          <p:nvPr/>
        </p:nvSpPr>
        <p:spPr>
          <a:xfrm>
            <a:off x="841248"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sectors</a:t>
            </a:r>
            <a:endParaRPr lang="en-US" sz="1050" dirty="0"/>
          </a:p>
        </p:txBody>
      </p:sp>
      <p:sp>
        <p:nvSpPr>
          <p:cNvPr id="14" name="Shape 12"/>
          <p:cNvSpPr/>
          <p:nvPr/>
        </p:nvSpPr>
        <p:spPr>
          <a:xfrm>
            <a:off x="841248" y="3794760"/>
            <a:ext cx="2194560" cy="0"/>
          </a:xfrm>
          <a:prstGeom prst="line">
            <a:avLst/>
          </a:prstGeom>
          <a:noFill/>
          <a:ln w="12700">
            <a:solidFill>
              <a:srgbClr val="E1E8F2"/>
            </a:solidFill>
            <a:prstDash val="solid"/>
          </a:ln>
        </p:spPr>
      </p:sp>
      <p:sp>
        <p:nvSpPr>
          <p:cNvPr id="15" name="Text 13"/>
          <p:cNvSpPr txBox="1"/>
          <p:nvPr/>
        </p:nvSpPr>
        <p:spPr>
          <a:xfrm>
            <a:off x="841248"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6" name="Shape 14"/>
          <p:cNvSpPr/>
          <p:nvPr/>
        </p:nvSpPr>
        <p:spPr>
          <a:xfrm>
            <a:off x="841248" y="4361688"/>
            <a:ext cx="2194560" cy="0"/>
          </a:xfrm>
          <a:prstGeom prst="line">
            <a:avLst/>
          </a:prstGeom>
          <a:noFill/>
          <a:ln w="12700">
            <a:solidFill>
              <a:srgbClr val="E1E8F2"/>
            </a:solidFill>
            <a:prstDash val="solid"/>
          </a:ln>
        </p:spPr>
      </p:sp>
      <p:sp>
        <p:nvSpPr>
          <p:cNvPr id="17" name="Text 15"/>
          <p:cNvSpPr txBox="1"/>
          <p:nvPr/>
        </p:nvSpPr>
        <p:spPr>
          <a:xfrm>
            <a:off x="841248"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8" name="Shape 16"/>
          <p:cNvSpPr/>
          <p:nvPr/>
        </p:nvSpPr>
        <p:spPr>
          <a:xfrm>
            <a:off x="841248" y="4928616"/>
            <a:ext cx="2194560" cy="0"/>
          </a:xfrm>
          <a:prstGeom prst="line">
            <a:avLst/>
          </a:prstGeom>
          <a:noFill/>
          <a:ln w="12700">
            <a:solidFill>
              <a:srgbClr val="E1E8F2"/>
            </a:solidFill>
            <a:prstDash val="solid"/>
          </a:ln>
        </p:spPr>
      </p:sp>
      <p:sp>
        <p:nvSpPr>
          <p:cNvPr id="19" name="Shape 17"/>
          <p:cNvSpPr/>
          <p:nvPr/>
        </p:nvSpPr>
        <p:spPr>
          <a:xfrm>
            <a:off x="3401568" y="2743200"/>
            <a:ext cx="2596896" cy="2423160"/>
          </a:xfrm>
          <a:prstGeom prst="roundRect">
            <a:avLst>
              <a:gd name="adj" fmla="val 3774"/>
            </a:avLst>
          </a:prstGeom>
          <a:solidFill>
            <a:srgbClr val="FFFFFF"/>
          </a:solidFill>
          <a:ln w="12700">
            <a:solidFill>
              <a:srgbClr val="C9D4E6"/>
            </a:solidFill>
            <a:prstDash val="solid"/>
          </a:ln>
        </p:spPr>
      </p:sp>
      <p:sp>
        <p:nvSpPr>
          <p:cNvPr id="20" name="Shape 18"/>
          <p:cNvSpPr/>
          <p:nvPr/>
        </p:nvSpPr>
        <p:spPr>
          <a:xfrm>
            <a:off x="3401568" y="2743200"/>
            <a:ext cx="2596896" cy="502920"/>
          </a:xfrm>
          <a:prstGeom prst="rect">
            <a:avLst/>
          </a:prstGeom>
          <a:solidFill>
            <a:srgbClr val="3E5C8A"/>
          </a:solidFill>
          <a:ln/>
        </p:spPr>
      </p:sp>
      <p:sp>
        <p:nvSpPr>
          <p:cNvPr id="21" name="Text 19"/>
          <p:cNvSpPr txBox="1"/>
          <p:nvPr/>
        </p:nvSpPr>
        <p:spPr>
          <a:xfrm>
            <a:off x="3547872"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a:t>
            </a:r>
            <a:endParaRPr lang="en-US" sz="1150" dirty="0"/>
          </a:p>
        </p:txBody>
      </p:sp>
      <p:sp>
        <p:nvSpPr>
          <p:cNvPr id="22" name="Text 20"/>
          <p:cNvSpPr txBox="1"/>
          <p:nvPr/>
        </p:nvSpPr>
        <p:spPr>
          <a:xfrm>
            <a:off x="3602736"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Integrated</a:t>
            </a:r>
            <a:endParaRPr lang="en-US" sz="1050" dirty="0"/>
          </a:p>
        </p:txBody>
      </p:sp>
      <p:sp>
        <p:nvSpPr>
          <p:cNvPr id="23" name="Shape 21"/>
          <p:cNvSpPr/>
          <p:nvPr/>
        </p:nvSpPr>
        <p:spPr>
          <a:xfrm>
            <a:off x="3602736" y="3794760"/>
            <a:ext cx="2194560" cy="0"/>
          </a:xfrm>
          <a:prstGeom prst="line">
            <a:avLst/>
          </a:prstGeom>
          <a:noFill/>
          <a:ln w="12700">
            <a:solidFill>
              <a:srgbClr val="E1E8F2"/>
            </a:solidFill>
            <a:prstDash val="solid"/>
          </a:ln>
        </p:spPr>
      </p:sp>
      <p:sp>
        <p:nvSpPr>
          <p:cNvPr id="24" name="Text 22"/>
          <p:cNvSpPr txBox="1"/>
          <p:nvPr/>
        </p:nvSpPr>
        <p:spPr>
          <a:xfrm>
            <a:off x="3602736"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5" name="Shape 23"/>
          <p:cNvSpPr/>
          <p:nvPr/>
        </p:nvSpPr>
        <p:spPr>
          <a:xfrm>
            <a:off x="3602736" y="4361688"/>
            <a:ext cx="2194560" cy="0"/>
          </a:xfrm>
          <a:prstGeom prst="line">
            <a:avLst/>
          </a:prstGeom>
          <a:noFill/>
          <a:ln w="12700">
            <a:solidFill>
              <a:srgbClr val="E1E8F2"/>
            </a:solidFill>
            <a:prstDash val="solid"/>
          </a:ln>
        </p:spPr>
      </p:sp>
      <p:sp>
        <p:nvSpPr>
          <p:cNvPr id="26" name="Text 24"/>
          <p:cNvSpPr txBox="1"/>
          <p:nvPr/>
        </p:nvSpPr>
        <p:spPr>
          <a:xfrm>
            <a:off x="3602736"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Archetypes</a:t>
            </a:r>
            <a:endParaRPr lang="en-US" sz="1050" dirty="0"/>
          </a:p>
        </p:txBody>
      </p:sp>
      <p:sp>
        <p:nvSpPr>
          <p:cNvPr id="27" name="Shape 25"/>
          <p:cNvSpPr/>
          <p:nvPr/>
        </p:nvSpPr>
        <p:spPr>
          <a:xfrm>
            <a:off x="3602736" y="4928616"/>
            <a:ext cx="2194560" cy="0"/>
          </a:xfrm>
          <a:prstGeom prst="line">
            <a:avLst/>
          </a:prstGeom>
          <a:noFill/>
          <a:ln w="12700">
            <a:solidFill>
              <a:srgbClr val="E1E8F2"/>
            </a:solidFill>
            <a:prstDash val="solid"/>
          </a:ln>
        </p:spPr>
      </p:sp>
      <p:sp>
        <p:nvSpPr>
          <p:cNvPr id="28" name="Shape 26"/>
          <p:cNvSpPr/>
          <p:nvPr/>
        </p:nvSpPr>
        <p:spPr>
          <a:xfrm>
            <a:off x="6163056" y="2743200"/>
            <a:ext cx="2596896" cy="2423160"/>
          </a:xfrm>
          <a:prstGeom prst="roundRect">
            <a:avLst>
              <a:gd name="adj" fmla="val 3774"/>
            </a:avLst>
          </a:prstGeom>
          <a:solidFill>
            <a:srgbClr val="FFFFFF"/>
          </a:solidFill>
          <a:ln w="12700">
            <a:solidFill>
              <a:srgbClr val="C9D4E6"/>
            </a:solidFill>
            <a:prstDash val="solid"/>
          </a:ln>
        </p:spPr>
      </p:sp>
      <p:sp>
        <p:nvSpPr>
          <p:cNvPr id="29" name="Shape 27"/>
          <p:cNvSpPr/>
          <p:nvPr/>
        </p:nvSpPr>
        <p:spPr>
          <a:xfrm>
            <a:off x="6163056" y="2743200"/>
            <a:ext cx="2596896" cy="502920"/>
          </a:xfrm>
          <a:prstGeom prst="rect">
            <a:avLst/>
          </a:prstGeom>
          <a:solidFill>
            <a:srgbClr val="1E2761"/>
          </a:solidFill>
          <a:ln/>
        </p:spPr>
      </p:sp>
      <p:sp>
        <p:nvSpPr>
          <p:cNvPr id="30" name="Text 28"/>
          <p:cNvSpPr txBox="1"/>
          <p:nvPr/>
        </p:nvSpPr>
        <p:spPr>
          <a:xfrm>
            <a:off x="6309360"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31" name="Text 29"/>
          <p:cNvSpPr txBox="1"/>
          <p:nvPr/>
        </p:nvSpPr>
        <p:spPr>
          <a:xfrm>
            <a:off x="6364224"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32" name="Shape 30"/>
          <p:cNvSpPr/>
          <p:nvPr/>
        </p:nvSpPr>
        <p:spPr>
          <a:xfrm>
            <a:off x="6364224" y="3794760"/>
            <a:ext cx="2194560" cy="0"/>
          </a:xfrm>
          <a:prstGeom prst="line">
            <a:avLst/>
          </a:prstGeom>
          <a:noFill/>
          <a:ln w="12700">
            <a:solidFill>
              <a:srgbClr val="E1E8F2"/>
            </a:solidFill>
            <a:prstDash val="solid"/>
          </a:ln>
        </p:spPr>
      </p:sp>
      <p:sp>
        <p:nvSpPr>
          <p:cNvPr id="33" name="Text 31"/>
          <p:cNvSpPr txBox="1"/>
          <p:nvPr/>
        </p:nvSpPr>
        <p:spPr>
          <a:xfrm>
            <a:off x="6364224"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4" name="Shape 32"/>
          <p:cNvSpPr/>
          <p:nvPr/>
        </p:nvSpPr>
        <p:spPr>
          <a:xfrm>
            <a:off x="6364224" y="4361688"/>
            <a:ext cx="2194560" cy="0"/>
          </a:xfrm>
          <a:prstGeom prst="line">
            <a:avLst/>
          </a:prstGeom>
          <a:noFill/>
          <a:ln w="12700">
            <a:solidFill>
              <a:srgbClr val="E1E8F2"/>
            </a:solidFill>
            <a:prstDash val="solid"/>
          </a:ln>
        </p:spPr>
      </p:sp>
      <p:sp>
        <p:nvSpPr>
          <p:cNvPr id="35" name="Text 33"/>
          <p:cNvSpPr txBox="1"/>
          <p:nvPr/>
        </p:nvSpPr>
        <p:spPr>
          <a:xfrm>
            <a:off x="6364224"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6" name="Shape 34"/>
          <p:cNvSpPr/>
          <p:nvPr/>
        </p:nvSpPr>
        <p:spPr>
          <a:xfrm>
            <a:off x="6364224" y="4928616"/>
            <a:ext cx="2194560" cy="0"/>
          </a:xfrm>
          <a:prstGeom prst="line">
            <a:avLst/>
          </a:prstGeom>
          <a:noFill/>
          <a:ln w="12700">
            <a:solidFill>
              <a:srgbClr val="E1E8F2"/>
            </a:solidFill>
            <a:prstDash val="solid"/>
          </a:ln>
        </p:spPr>
      </p:sp>
      <p:sp>
        <p:nvSpPr>
          <p:cNvPr id="37" name="Shape 35"/>
          <p:cNvSpPr/>
          <p:nvPr/>
        </p:nvSpPr>
        <p:spPr>
          <a:xfrm>
            <a:off x="8924544" y="2743200"/>
            <a:ext cx="2596896" cy="2423160"/>
          </a:xfrm>
          <a:prstGeom prst="roundRect">
            <a:avLst>
              <a:gd name="adj" fmla="val 3774"/>
            </a:avLst>
          </a:prstGeom>
          <a:solidFill>
            <a:srgbClr val="FFFFFF"/>
          </a:solidFill>
          <a:ln w="12700">
            <a:solidFill>
              <a:srgbClr val="C9D4E6"/>
            </a:solidFill>
            <a:prstDash val="solid"/>
          </a:ln>
        </p:spPr>
      </p:sp>
      <p:sp>
        <p:nvSpPr>
          <p:cNvPr id="38" name="Shape 36"/>
          <p:cNvSpPr/>
          <p:nvPr/>
        </p:nvSpPr>
        <p:spPr>
          <a:xfrm>
            <a:off x="8924544" y="2743200"/>
            <a:ext cx="2596896" cy="502920"/>
          </a:xfrm>
          <a:prstGeom prst="rect">
            <a:avLst/>
          </a:prstGeom>
          <a:solidFill>
            <a:srgbClr val="3E5C8A"/>
          </a:solidFill>
          <a:ln/>
        </p:spPr>
      </p:sp>
      <p:sp>
        <p:nvSpPr>
          <p:cNvPr id="39" name="Text 37"/>
          <p:cNvSpPr txBox="1"/>
          <p:nvPr/>
        </p:nvSpPr>
        <p:spPr>
          <a:xfrm>
            <a:off x="9070848"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40" name="Text 38"/>
          <p:cNvSpPr txBox="1"/>
          <p:nvPr/>
        </p:nvSpPr>
        <p:spPr>
          <a:xfrm>
            <a:off x="9125712"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41" name="Shape 39"/>
          <p:cNvSpPr/>
          <p:nvPr/>
        </p:nvSpPr>
        <p:spPr>
          <a:xfrm>
            <a:off x="9125712" y="3794760"/>
            <a:ext cx="2194560" cy="0"/>
          </a:xfrm>
          <a:prstGeom prst="line">
            <a:avLst/>
          </a:prstGeom>
          <a:noFill/>
          <a:ln w="12700">
            <a:solidFill>
              <a:srgbClr val="E1E8F2"/>
            </a:solidFill>
            <a:prstDash val="solid"/>
          </a:ln>
        </p:spPr>
      </p:sp>
      <p:sp>
        <p:nvSpPr>
          <p:cNvPr id="42" name="Text 40"/>
          <p:cNvSpPr txBox="1"/>
          <p:nvPr/>
        </p:nvSpPr>
        <p:spPr>
          <a:xfrm>
            <a:off x="9125712"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3" name="Shape 41"/>
          <p:cNvSpPr/>
          <p:nvPr/>
        </p:nvSpPr>
        <p:spPr>
          <a:xfrm>
            <a:off x="9125712" y="4361688"/>
            <a:ext cx="2194560" cy="0"/>
          </a:xfrm>
          <a:prstGeom prst="line">
            <a:avLst/>
          </a:prstGeom>
          <a:noFill/>
          <a:ln w="12700">
            <a:solidFill>
              <a:srgbClr val="E1E8F2"/>
            </a:solidFill>
            <a:prstDash val="solid"/>
          </a:ln>
        </p:spPr>
      </p:sp>
      <p:sp>
        <p:nvSpPr>
          <p:cNvPr id="44" name="Text 42"/>
          <p:cNvSpPr txBox="1"/>
          <p:nvPr/>
        </p:nvSpPr>
        <p:spPr>
          <a:xfrm>
            <a:off x="9125712"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5" name="Shape 43"/>
          <p:cNvSpPr/>
          <p:nvPr/>
        </p:nvSpPr>
        <p:spPr>
          <a:xfrm>
            <a:off x="9125712" y="4928616"/>
            <a:ext cx="2194560" cy="0"/>
          </a:xfrm>
          <a:prstGeom prst="line">
            <a:avLst/>
          </a:prstGeom>
          <a:noFill/>
          <a:ln w="12700">
            <a:solidFill>
              <a:srgbClr val="E1E8F2"/>
            </a:solidFill>
            <a:prstDash val="solid"/>
          </a:ln>
        </p:spPr>
      </p:sp>
      <p:sp>
        <p:nvSpPr>
          <p:cNvPr id="46" name="Shape 44"/>
          <p:cNvSpPr/>
          <p:nvPr/>
        </p:nvSpPr>
        <p:spPr>
          <a:xfrm>
            <a:off x="640080" y="5376672"/>
            <a:ext cx="10881360" cy="530352"/>
          </a:xfrm>
          <a:prstGeom prst="roundRect">
            <a:avLst>
              <a:gd name="adj" fmla="val 17241"/>
            </a:avLst>
          </a:prstGeom>
          <a:solidFill>
            <a:srgbClr val="FFFFFF"/>
          </a:solidFill>
          <a:ln w="15875">
            <a:solidFill>
              <a:srgbClr val="1E2761"/>
            </a:solidFill>
            <a:prstDash val="solid"/>
          </a:ln>
        </p:spPr>
      </p:sp>
      <p:sp>
        <p:nvSpPr>
          <p:cNvPr id="47" name="Text 45"/>
          <p:cNvSpPr txBox="1"/>
          <p:nvPr/>
        </p:nvSpPr>
        <p:spPr>
          <a:xfrm>
            <a:off x="914400" y="5376672"/>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48" name="Shape 46"/>
          <p:cNvSpPr/>
          <p:nvPr/>
        </p:nvSpPr>
        <p:spPr>
          <a:xfrm>
            <a:off x="2926080" y="5742432"/>
            <a:ext cx="8321040" cy="0"/>
          </a:xfrm>
          <a:prstGeom prst="line">
            <a:avLst/>
          </a:prstGeom>
          <a:noFill/>
          <a:ln w="12700">
            <a:solidFill>
              <a:srgbClr val="C9D4E6"/>
            </a:solidFill>
            <a:prstDash val="solid"/>
          </a:ln>
        </p:spPr>
      </p:sp>
      <p:sp>
        <p:nvSpPr>
          <p:cNvPr id="49" name="Shape 47"/>
          <p:cNvSpPr/>
          <p:nvPr/>
        </p:nvSpPr>
        <p:spPr>
          <a:xfrm>
            <a:off x="640080" y="5998464"/>
            <a:ext cx="10881360" cy="530352"/>
          </a:xfrm>
          <a:prstGeom prst="roundRect">
            <a:avLst>
              <a:gd name="adj" fmla="val 17241"/>
            </a:avLst>
          </a:prstGeom>
          <a:solidFill>
            <a:srgbClr val="FFFFFF"/>
          </a:solidFill>
          <a:ln w="15875">
            <a:solidFill>
              <a:srgbClr val="1E2761"/>
            </a:solidFill>
            <a:prstDash val="solid"/>
          </a:ln>
        </p:spPr>
      </p:sp>
      <p:sp>
        <p:nvSpPr>
          <p:cNvPr id="50" name="Text 48"/>
          <p:cNvSpPr txBox="1"/>
          <p:nvPr/>
        </p:nvSpPr>
        <p:spPr>
          <a:xfrm>
            <a:off x="914400" y="5998464"/>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DISCIPLINE</a:t>
            </a:r>
            <a:endParaRPr lang="en-US" sz="1150" dirty="0"/>
          </a:p>
        </p:txBody>
      </p:sp>
      <p:sp>
        <p:nvSpPr>
          <p:cNvPr id="51" name="Shape 49"/>
          <p:cNvSpPr/>
          <p:nvPr/>
        </p:nvSpPr>
        <p:spPr>
          <a:xfrm>
            <a:off x="2926080" y="6364224"/>
            <a:ext cx="8321040" cy="0"/>
          </a:xfrm>
          <a:prstGeom prst="line">
            <a:avLst/>
          </a:prstGeom>
          <a:noFill/>
          <a:ln w="12700">
            <a:solidFill>
              <a:srgbClr val="C9D4E6"/>
            </a:solidFill>
            <a:prstDash val="solid"/>
          </a:ln>
        </p:spPr>
      </p:sp>
      <p:sp>
        <p:nvSpPr>
          <p:cNvPr id="52" name="Text 50"/>
          <p:cNvSpPr txBox="1"/>
          <p:nvPr/>
        </p:nvSpPr>
        <p:spPr>
          <a:xfrm>
            <a:off x="640080" y="6601968"/>
            <a:ext cx="10881360" cy="256032"/>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 aligned to the portfolio and industry strategies. Everything behind it is in the templates that follow.</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OFFERING</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Sectors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Archetypes and permitted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and 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and 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sector where they differ. Rationale should stand on evidence, not familiarity.</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our view inside the single firm account plan — one row per named account.</a:t>
            </a:r>
            <a:endParaRPr lang="en-US" sz="14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we lead with</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we lead with</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plan per account, owned by the firm. This is the EAI&amp;D layer inside it, not a second plan.</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the EAI&amp;D ambition inside each account plan — one row per account and offering.</a:t>
            </a:r>
            <a:endParaRPr lang="en-US" sz="14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who carries EAI&amp;D inside each account team — one row per priority account.</a:t>
            </a:r>
            <a:endParaRPr lang="en-US" sz="14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Our owner sits inside the existing account team; the account relationship stays with its account leader.</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Propositions · one row per proposition.</a:t>
            </a:r>
            <a:endParaRPr lang="en-US" sz="14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Archetypes permitted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sector</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Archetypes permitted</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single-offering proposition is recorded as an archetype rather than its own row.</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AI and Data</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AI and Data</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sector. Reconciles to the account revenue plan and to capacity.</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capability and enablement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capability.</a:t>
            </a:r>
            <a:endParaRPr lang="en-US" sz="14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194560"/>
                <a:gridCol w="1737360"/>
                <a:gridCol w="914400"/>
                <a:gridCol w="914400"/>
                <a:gridCol w="146304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Capability or skill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needs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Capability or skill</a:t>
            </a:r>
            <a:endParaRPr lang="en-US" sz="1150" dirty="0"/>
          </a:p>
        </p:txBody>
      </p:sp>
      <p:sp>
        <p:nvSpPr>
          <p:cNvPr id="7" name="Text 4"/>
          <p:cNvSpPr txBox="1"/>
          <p:nvPr/>
        </p:nvSpPr>
        <p:spPr>
          <a:xfrm>
            <a:off x="3035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supports</a:t>
            </a:r>
            <a:endParaRPr lang="en-US" sz="1150" dirty="0"/>
          </a:p>
        </p:txBody>
      </p:sp>
      <p:sp>
        <p:nvSpPr>
          <p:cNvPr id="8" name="Text 5"/>
          <p:cNvSpPr txBox="1"/>
          <p:nvPr/>
        </p:nvSpPr>
        <p:spPr>
          <a:xfrm>
            <a:off x="523036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needs it</a:t>
            </a:r>
            <a:endParaRPr lang="en-US" sz="1150" dirty="0"/>
          </a:p>
        </p:txBody>
      </p:sp>
      <p:sp>
        <p:nvSpPr>
          <p:cNvPr id="9" name="Text 6"/>
          <p:cNvSpPr txBox="1"/>
          <p:nvPr/>
        </p:nvSpPr>
        <p:spPr>
          <a:xfrm>
            <a:off x="69677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10" name="Text 7"/>
          <p:cNvSpPr txBox="1"/>
          <p:nvPr/>
        </p:nvSpPr>
        <p:spPr>
          <a:xfrm>
            <a:off x="78821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11" name="Text 8"/>
          <p:cNvSpPr txBox="1"/>
          <p:nvPr/>
        </p:nvSpPr>
        <p:spPr>
          <a:xfrm>
            <a:off x="87965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p>
        </p:txBody>
      </p:sp>
      <p:sp>
        <p:nvSpPr>
          <p:cNvPr id="12" name="Text 9"/>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Route: internal training, industry certification, alliance accreditation, or hire. Every row ends in a date.</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and sectors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and sectors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differentiation and proof</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claim we make.</a:t>
            </a:r>
            <a:endParaRPr lang="en-US" sz="145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1371600"/>
                <a:gridCol w="2194560"/>
                <a:gridCol w="2011680"/>
                <a:gridCol w="192024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The claim we make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it beats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it holds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Proof we have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Proof to build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The claim we make</a:t>
            </a:r>
            <a:endParaRPr lang="en-US" sz="1150" dirty="0"/>
          </a:p>
        </p:txBody>
      </p:sp>
      <p:sp>
        <p:nvSpPr>
          <p:cNvPr id="7" name="Text 4"/>
          <p:cNvSpPr txBox="1"/>
          <p:nvPr/>
        </p:nvSpPr>
        <p:spPr>
          <a:xfrm>
            <a:off x="29443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it beats</a:t>
            </a:r>
            <a:endParaRPr lang="en-US" sz="1150" dirty="0"/>
          </a:p>
        </p:txBody>
      </p:sp>
      <p:sp>
        <p:nvSpPr>
          <p:cNvPr id="8" name="Text 5"/>
          <p:cNvSpPr txBox="1"/>
          <p:nvPr/>
        </p:nvSpPr>
        <p:spPr>
          <a:xfrm>
            <a:off x="43159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it holds</a:t>
            </a:r>
            <a:endParaRPr lang="en-US" sz="1150" dirty="0"/>
          </a:p>
        </p:txBody>
      </p:sp>
      <p:sp>
        <p:nvSpPr>
          <p:cNvPr id="9" name="Text 6"/>
          <p:cNvSpPr txBox="1"/>
          <p:nvPr/>
        </p:nvSpPr>
        <p:spPr>
          <a:xfrm>
            <a:off x="651052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Proof we have</a:t>
            </a:r>
            <a:endParaRPr lang="en-US" sz="1150" dirty="0"/>
          </a:p>
        </p:txBody>
      </p:sp>
      <p:sp>
        <p:nvSpPr>
          <p:cNvPr id="10" name="Text 7"/>
          <p:cNvSpPr txBox="1"/>
          <p:nvPr/>
        </p:nvSpPr>
        <p:spPr>
          <a:xfrm>
            <a:off x="85222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Proof to build</a:t>
            </a:r>
            <a:endParaRPr lang="en-US" sz="1150" dirty="0"/>
          </a:p>
        </p:txBody>
      </p:sp>
      <p:sp>
        <p:nvSpPr>
          <p:cNvPr id="11" name="Text 8"/>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Anything in the last column becomes an initiative, with an owner and a date.</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operating rhythm</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forum.</a:t>
            </a:r>
            <a:endParaRPr lang="en-US" sz="14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377440"/>
                <a:gridCol w="1280160"/>
                <a:gridCol w="1280160"/>
                <a:gridCol w="24688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Purpose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Chair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Decisions it can take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Escalates to</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7" name="Text 4"/>
          <p:cNvSpPr txBox="1"/>
          <p:nvPr/>
        </p:nvSpPr>
        <p:spPr>
          <a:xfrm>
            <a:off x="267004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Purpose</a:t>
            </a:r>
            <a:endParaRPr lang="en-US" sz="1150" dirty="0"/>
          </a:p>
        </p:txBody>
      </p:sp>
      <p:sp>
        <p:nvSpPr>
          <p:cNvPr id="8" name="Text 5"/>
          <p:cNvSpPr txBox="1"/>
          <p:nvPr/>
        </p:nvSpPr>
        <p:spPr>
          <a:xfrm>
            <a:off x="504748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9" name="Text 6"/>
          <p:cNvSpPr txBox="1"/>
          <p:nvPr/>
        </p:nvSpPr>
        <p:spPr>
          <a:xfrm>
            <a:off x="63276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Chair</a:t>
            </a:r>
            <a:endParaRPr lang="en-US" sz="1150" dirty="0"/>
          </a:p>
        </p:txBody>
      </p:sp>
      <p:sp>
        <p:nvSpPr>
          <p:cNvPr id="10" name="Text 7"/>
          <p:cNvSpPr txBox="1"/>
          <p:nvPr/>
        </p:nvSpPr>
        <p:spPr>
          <a:xfrm>
            <a:off x="7607808" y="1965960"/>
            <a:ext cx="22860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Decisions it can take</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Escalates to</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Name what each forum can settle without escalation, and where anything larger goes.</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initiative register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Across the pillars · one row per initiative that runs past the cycle.</a:t>
            </a:r>
            <a:endParaRPr lang="en-US" sz="145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1554480"/>
                <a:gridCol w="2743200"/>
                <a:gridCol w="1371600"/>
                <a:gridCol w="1645920"/>
                <a:gridCol w="12801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Outcome it delivers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Next milestone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Initiative</a:t>
            </a:r>
            <a:endParaRPr lang="en-US" sz="1150" dirty="0"/>
          </a:p>
        </p:txBody>
      </p:sp>
      <p:sp>
        <p:nvSpPr>
          <p:cNvPr id="7" name="Text 4"/>
          <p:cNvSpPr txBox="1"/>
          <p:nvPr/>
        </p:nvSpPr>
        <p:spPr>
          <a:xfrm>
            <a:off x="3035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p>
        </p:txBody>
      </p:sp>
      <p:sp>
        <p:nvSpPr>
          <p:cNvPr id="8" name="Text 5"/>
          <p:cNvSpPr txBox="1"/>
          <p:nvPr/>
        </p:nvSpPr>
        <p:spPr>
          <a:xfrm>
            <a:off x="459028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Outcome it delivers</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70508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Next milestone</a:t>
            </a:r>
            <a:endParaRPr lang="en-US" sz="1150" dirty="0"/>
          </a:p>
        </p:txBody>
      </p:sp>
      <p:sp>
        <p:nvSpPr>
          <p:cNvPr id="11" name="Text 8"/>
          <p:cNvSpPr txBox="1"/>
          <p:nvPr/>
        </p:nvSpPr>
        <p:spPr>
          <a:xfrm>
            <a:off x="10351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Reviewed monthly alongside the numbers. Every row carries an owner, a milestone and a date.</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carries an owner and the forum it is presented in.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EAI&amp;D — FSI Strategy Development Plan</dc:title>
  <dc:subject>PptxGenJS Presentation</dc:subject>
  <dc:creator>Engineering, AI and Data</dc:creator>
  <cp:lastModifiedBy>Engineering, AI and Data</cp:lastModifiedBy>
  <cp:revision>1</cp:revision>
  <dcterms:created xsi:type="dcterms:W3CDTF">2026-09-30T11:04:30Z</dcterms:created>
  <dcterms:modified xsi:type="dcterms:W3CDTF">2026-09-30T11:04:30Z</dcterms:modified>
</cp:coreProperties>
</file>