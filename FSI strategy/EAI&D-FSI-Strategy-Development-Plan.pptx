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behind the three weeks, at the three levels that matter. Indicative durations rather than fixed: a kick-off of half a day, working sessions of ninety minutes to two hours, gates of an hour, sign-off of two hours.
Core team is the four leads and whoever they pull in per workstream. This is where the work is actually done, and it is the heaviest load in weeks one and two.
Offering level is the conduit role made concrete. In week one it is an ideas session inside each offering, deliberately before conclusions harden. In week two it is a validation session on the emerging catalogue and account list. In week three it is a read-out so nobody is surprised at sign-off. After sign-off it becomes the socialisation session per offering.
Leadership is deliberately light: attendance at kick-off, two gates, sign-off, then the monthly review. Gates need decisions, not presentations, so pre-reads go out the day before and the session opens on the open questions.
Two scheduling realities to plan around: get the offering-level sessions in the calendar during kick-off week, since partner diaries in this region fill weeks ahead; and hold the gates on a fixed day each week so they cannot drift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template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starting position, gathered before week one rather than debated during it.
List what each offering actually sells today in FSI, in the words used with clients — not the aspirational catalogue. Mark each as integrated or focused, because the gap between this picture and the catalogue we design is one of the most useful outputs of the baseline step.
Two things to look for once it is filled in: propositions that exist in three slightly different versions across the offerings, which is a sign we are not integrated; and propositions nobody has sold in the last year, which belong in the catalogue only if someone will own reviving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already are, before any prioritisation. Sourced from the firm's account plans and the pipeline rather than from memory.
Status should say what the relationship actually is: delivering, dormant, a single project, a framework agreement, or a relationship held elsewhere in the firm that we have not yet used.
This feeds the tiering exercise without pre-empting it. An account we are already in is not automatically tier one, and an account we have never worked with can be, if the opportunity justifies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template: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us and not them, written down rather than improvised in the room.
One row per claim. Who it beats matters, because the counter differs: an internal team, a lower-cost integrator, a product vendor and a global SI each need a different argument, and losing pursuits usually means the wrong one was used.
Proof we have should name things — a programme, a reference, an asset a client can see working — not adjectives. Proof to build is the honest column, and every entry in it should appear in the initiative register with an owner and a date.
Expect the thinnest rows to be sector credentials in funds and insurance. Better to see that here than to discover it in a pursuit.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system behind the strategy, recorded so it survives the people who set it up.
Three loops to fill in at minimum: the weekly pursuit review owned by account owners, the monthly review of pipeline, coverage, initiatives and talent against target, and the quarterly review that re-tests the choices themselves rather than only the numbers.
The column that does the work is decisions it can take. Without it, forums drift into reporting and every real decision waits for someone who is not in the room. Escalates to closes the loop — where a decision goes when it exceeds that forum.
Where the FSI industry strategy already runs a forum, we join it rather than create a parallel one, and this table should say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parts, in the order the strategy actually gets built.</a:t>
            </a:r>
            <a:endParaRPr lang="en-US" sz="1450" dirty="0"/>
          </a:p>
        </p:txBody>
      </p:sp>
      <p:sp>
        <p:nvSpPr>
          <p:cNvPr id="4" name="Shape 2"/>
          <p:cNvSpPr/>
          <p:nvPr/>
        </p:nvSpPr>
        <p:spPr>
          <a:xfrm>
            <a:off x="640080" y="1737360"/>
            <a:ext cx="10881360" cy="676656"/>
          </a:xfrm>
          <a:prstGeom prst="roundRect">
            <a:avLst>
              <a:gd name="adj" fmla="val 13514"/>
            </a:avLst>
          </a:prstGeom>
          <a:solidFill>
            <a:srgbClr val="F2F6FC"/>
          </a:solidFill>
          <a:ln/>
        </p:spPr>
      </p:sp>
      <p:sp>
        <p:nvSpPr>
          <p:cNvPr id="5" name="Shape 3"/>
          <p:cNvSpPr/>
          <p:nvPr/>
        </p:nvSpPr>
        <p:spPr>
          <a:xfrm>
            <a:off x="640080" y="1737360"/>
            <a:ext cx="1737360" cy="676656"/>
          </a:xfrm>
          <a:prstGeom prst="rect">
            <a:avLst/>
          </a:prstGeom>
          <a:solidFill>
            <a:srgbClr val="1E2761"/>
          </a:solidFill>
          <a:ln/>
        </p:spPr>
      </p:sp>
      <p:sp>
        <p:nvSpPr>
          <p:cNvPr id="6" name="Text 4"/>
          <p:cNvSpPr txBox="1"/>
          <p:nvPr/>
        </p:nvSpPr>
        <p:spPr>
          <a:xfrm>
            <a:off x="640080" y="17373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7922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frame</a:t>
            </a:r>
            <a:endParaRPr lang="en-US" sz="1450" dirty="0"/>
          </a:p>
        </p:txBody>
      </p:sp>
      <p:sp>
        <p:nvSpPr>
          <p:cNvPr id="8" name="Text 6"/>
          <p:cNvSpPr txBox="1"/>
          <p:nvPr/>
        </p:nvSpPr>
        <p:spPr>
          <a:xfrm>
            <a:off x="2606040" y="21031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this journey is, how it fits, and who is involved</a:t>
            </a:r>
            <a:endParaRPr lang="en-US" sz="1050" dirty="0"/>
          </a:p>
        </p:txBody>
      </p:sp>
      <p:sp>
        <p:nvSpPr>
          <p:cNvPr id="9" name="Text 7"/>
          <p:cNvSpPr txBox="1"/>
          <p:nvPr/>
        </p:nvSpPr>
        <p:spPr>
          <a:xfrm>
            <a:off x="10149840" y="17373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468880"/>
            <a:ext cx="10881360" cy="676656"/>
          </a:xfrm>
          <a:prstGeom prst="roundRect">
            <a:avLst>
              <a:gd name="adj" fmla="val 13514"/>
            </a:avLst>
          </a:prstGeom>
          <a:solidFill>
            <a:srgbClr val="EDF2FA"/>
          </a:solidFill>
          <a:ln/>
        </p:spPr>
      </p:sp>
      <p:sp>
        <p:nvSpPr>
          <p:cNvPr id="11" name="Shape 9"/>
          <p:cNvSpPr/>
          <p:nvPr/>
        </p:nvSpPr>
        <p:spPr>
          <a:xfrm>
            <a:off x="640080" y="2468880"/>
            <a:ext cx="1737360" cy="676656"/>
          </a:xfrm>
          <a:prstGeom prst="rect">
            <a:avLst/>
          </a:prstGeom>
          <a:solidFill>
            <a:srgbClr val="3E5C8A"/>
          </a:solidFill>
          <a:ln/>
        </p:spPr>
      </p:sp>
      <p:sp>
        <p:nvSpPr>
          <p:cNvPr id="12" name="Text 10"/>
          <p:cNvSpPr txBox="1"/>
          <p:nvPr/>
        </p:nvSpPr>
        <p:spPr>
          <a:xfrm>
            <a:off x="640080" y="246888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52374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destination</a:t>
            </a:r>
            <a:endParaRPr lang="en-US" sz="1450" dirty="0"/>
          </a:p>
        </p:txBody>
      </p:sp>
      <p:sp>
        <p:nvSpPr>
          <p:cNvPr id="14" name="Text 12"/>
          <p:cNvSpPr txBox="1"/>
          <p:nvPr/>
        </p:nvSpPr>
        <p:spPr>
          <a:xfrm>
            <a:off x="2606040" y="283464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Vision drivers · candidate statements · principles</a:t>
            </a:r>
            <a:endParaRPr lang="en-US" sz="1050" dirty="0"/>
          </a:p>
        </p:txBody>
      </p:sp>
      <p:sp>
        <p:nvSpPr>
          <p:cNvPr id="15" name="Text 13"/>
          <p:cNvSpPr txBox="1"/>
          <p:nvPr/>
        </p:nvSpPr>
        <p:spPr>
          <a:xfrm>
            <a:off x="10149840" y="246888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200400"/>
            <a:ext cx="10881360" cy="676656"/>
          </a:xfrm>
          <a:prstGeom prst="roundRect">
            <a:avLst>
              <a:gd name="adj" fmla="val 13514"/>
            </a:avLst>
          </a:prstGeom>
          <a:solidFill>
            <a:srgbClr val="F2F6FC"/>
          </a:solidFill>
          <a:ln/>
        </p:spPr>
      </p:sp>
      <p:sp>
        <p:nvSpPr>
          <p:cNvPr id="17" name="Shape 15"/>
          <p:cNvSpPr/>
          <p:nvPr/>
        </p:nvSpPr>
        <p:spPr>
          <a:xfrm>
            <a:off x="640080" y="3200400"/>
            <a:ext cx="1737360" cy="676656"/>
          </a:xfrm>
          <a:prstGeom prst="rect">
            <a:avLst/>
          </a:prstGeom>
          <a:solidFill>
            <a:srgbClr val="1E2761"/>
          </a:solidFill>
          <a:ln/>
        </p:spPr>
      </p:sp>
      <p:sp>
        <p:nvSpPr>
          <p:cNvPr id="18" name="Text 16"/>
          <p:cNvSpPr txBox="1"/>
          <p:nvPr/>
        </p:nvSpPr>
        <p:spPr>
          <a:xfrm>
            <a:off x="640080" y="320040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25526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20" name="Text 18"/>
          <p:cNvSpPr txBox="1"/>
          <p:nvPr/>
        </p:nvSpPr>
        <p:spPr>
          <a:xfrm>
            <a:off x="2606040" y="356616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architecture · sectors, markets and tiers · the catalogue · delivery and economics · why us · alliances and eminence</a:t>
            </a:r>
            <a:endParaRPr lang="en-US" sz="1050" dirty="0"/>
          </a:p>
        </p:txBody>
      </p:sp>
      <p:sp>
        <p:nvSpPr>
          <p:cNvPr id="21" name="Text 19"/>
          <p:cNvSpPr txBox="1"/>
          <p:nvPr/>
        </p:nvSpPr>
        <p:spPr>
          <a:xfrm>
            <a:off x="10149840" y="320040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9 slides</a:t>
            </a:r>
            <a:endParaRPr lang="en-US" sz="1100" dirty="0"/>
          </a:p>
        </p:txBody>
      </p:sp>
      <p:sp>
        <p:nvSpPr>
          <p:cNvPr id="22" name="Shape 20"/>
          <p:cNvSpPr/>
          <p:nvPr/>
        </p:nvSpPr>
        <p:spPr>
          <a:xfrm>
            <a:off x="640080" y="3931920"/>
            <a:ext cx="10881360" cy="676656"/>
          </a:xfrm>
          <a:prstGeom prst="roundRect">
            <a:avLst>
              <a:gd name="adj" fmla="val 13514"/>
            </a:avLst>
          </a:prstGeom>
          <a:solidFill>
            <a:srgbClr val="EDF2FA"/>
          </a:solidFill>
          <a:ln/>
        </p:spPr>
      </p:sp>
      <p:sp>
        <p:nvSpPr>
          <p:cNvPr id="23" name="Shape 21"/>
          <p:cNvSpPr/>
          <p:nvPr/>
        </p:nvSpPr>
        <p:spPr>
          <a:xfrm>
            <a:off x="640080" y="3931920"/>
            <a:ext cx="1737360" cy="676656"/>
          </a:xfrm>
          <a:prstGeom prst="rect">
            <a:avLst/>
          </a:prstGeom>
          <a:solidFill>
            <a:srgbClr val="3E5C8A"/>
          </a:solidFill>
          <a:ln/>
        </p:spPr>
      </p:sp>
      <p:sp>
        <p:nvSpPr>
          <p:cNvPr id="24" name="Text 22"/>
          <p:cNvSpPr txBox="1"/>
          <p:nvPr/>
        </p:nvSpPr>
        <p:spPr>
          <a:xfrm>
            <a:off x="640080" y="393192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398678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build it</a:t>
            </a:r>
            <a:endParaRPr lang="en-US" sz="1450" dirty="0"/>
          </a:p>
        </p:txBody>
      </p:sp>
      <p:sp>
        <p:nvSpPr>
          <p:cNvPr id="26" name="Text 24"/>
          <p:cNvSpPr txBox="1"/>
          <p:nvPr/>
        </p:nvSpPr>
        <p:spPr>
          <a:xfrm>
            <a:off x="2606040" y="429768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approach · workstreams · the journey · how we run it · the session plan · what could derail it</a:t>
            </a:r>
            <a:endParaRPr lang="en-US" sz="1050" dirty="0"/>
          </a:p>
        </p:txBody>
      </p:sp>
      <p:sp>
        <p:nvSpPr>
          <p:cNvPr id="27" name="Text 25"/>
          <p:cNvSpPr txBox="1"/>
          <p:nvPr/>
        </p:nvSpPr>
        <p:spPr>
          <a:xfrm>
            <a:off x="10149840" y="393192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8" name="Shape 26"/>
          <p:cNvSpPr/>
          <p:nvPr/>
        </p:nvSpPr>
        <p:spPr>
          <a:xfrm>
            <a:off x="640080" y="4663440"/>
            <a:ext cx="10881360" cy="676656"/>
          </a:xfrm>
          <a:prstGeom prst="roundRect">
            <a:avLst>
              <a:gd name="adj" fmla="val 13514"/>
            </a:avLst>
          </a:prstGeom>
          <a:solidFill>
            <a:srgbClr val="F2F6FC"/>
          </a:solidFill>
          <a:ln/>
        </p:spPr>
      </p:sp>
      <p:sp>
        <p:nvSpPr>
          <p:cNvPr id="29" name="Shape 27"/>
          <p:cNvSpPr/>
          <p:nvPr/>
        </p:nvSpPr>
        <p:spPr>
          <a:xfrm>
            <a:off x="640080" y="4663440"/>
            <a:ext cx="1737360" cy="676656"/>
          </a:xfrm>
          <a:prstGeom prst="rect">
            <a:avLst/>
          </a:prstGeom>
          <a:solidFill>
            <a:srgbClr val="1E2761"/>
          </a:solidFill>
          <a:ln/>
        </p:spPr>
      </p:sp>
      <p:sp>
        <p:nvSpPr>
          <p:cNvPr id="30" name="Text 28"/>
          <p:cNvSpPr txBox="1"/>
          <p:nvPr/>
        </p:nvSpPr>
        <p:spPr>
          <a:xfrm>
            <a:off x="640080" y="466344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471830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comes next</a:t>
            </a:r>
            <a:endParaRPr lang="en-US" sz="1450" dirty="0"/>
          </a:p>
        </p:txBody>
      </p:sp>
      <p:sp>
        <p:nvSpPr>
          <p:cNvPr id="32" name="Text 30"/>
          <p:cNvSpPr txBox="1"/>
          <p:nvPr/>
        </p:nvSpPr>
        <p:spPr>
          <a:xfrm>
            <a:off x="2606040" y="502920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050" dirty="0"/>
          </a:p>
        </p:txBody>
      </p:sp>
      <p:sp>
        <p:nvSpPr>
          <p:cNvPr id="33" name="Text 31"/>
          <p:cNvSpPr txBox="1"/>
          <p:nvPr/>
        </p:nvSpPr>
        <p:spPr>
          <a:xfrm>
            <a:off x="10149840" y="466344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34" name="Shape 32"/>
          <p:cNvSpPr/>
          <p:nvPr/>
        </p:nvSpPr>
        <p:spPr>
          <a:xfrm>
            <a:off x="640080" y="5394960"/>
            <a:ext cx="10881360" cy="676656"/>
          </a:xfrm>
          <a:prstGeom prst="roundRect">
            <a:avLst>
              <a:gd name="adj" fmla="val 13514"/>
            </a:avLst>
          </a:prstGeom>
          <a:solidFill>
            <a:srgbClr val="EDF2FA"/>
          </a:solidFill>
          <a:ln/>
        </p:spPr>
      </p:sp>
      <p:sp>
        <p:nvSpPr>
          <p:cNvPr id="35" name="Shape 33"/>
          <p:cNvSpPr/>
          <p:nvPr/>
        </p:nvSpPr>
        <p:spPr>
          <a:xfrm>
            <a:off x="640080" y="5394960"/>
            <a:ext cx="1737360" cy="676656"/>
          </a:xfrm>
          <a:prstGeom prst="rect">
            <a:avLst/>
          </a:prstGeom>
          <a:solidFill>
            <a:srgbClr val="3E5C8A"/>
          </a:solidFill>
          <a:ln/>
        </p:spPr>
      </p:sp>
      <p:sp>
        <p:nvSpPr>
          <p:cNvPr id="36" name="Text 34"/>
          <p:cNvSpPr txBox="1"/>
          <p:nvPr/>
        </p:nvSpPr>
        <p:spPr>
          <a:xfrm>
            <a:off x="640080" y="53949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SIX</a:t>
            </a:r>
            <a:endParaRPr lang="en-US" sz="1150" dirty="0"/>
          </a:p>
        </p:txBody>
      </p:sp>
      <p:sp>
        <p:nvSpPr>
          <p:cNvPr id="37" name="Text 35"/>
          <p:cNvSpPr txBox="1"/>
          <p:nvPr/>
        </p:nvSpPr>
        <p:spPr>
          <a:xfrm>
            <a:off x="2606040" y="54498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Inputs</a:t>
            </a:r>
            <a:endParaRPr lang="en-US" sz="1450" dirty="0"/>
          </a:p>
        </p:txBody>
      </p:sp>
      <p:sp>
        <p:nvSpPr>
          <p:cNvPr id="38" name="Text 36"/>
          <p:cNvSpPr txBox="1"/>
          <p:nvPr/>
        </p:nvSpPr>
        <p:spPr>
          <a:xfrm>
            <a:off x="2606040" y="57607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today · the accounts we are already in</a:t>
            </a:r>
            <a:endParaRPr lang="en-US" sz="1050" dirty="0"/>
          </a:p>
        </p:txBody>
      </p:sp>
      <p:sp>
        <p:nvSpPr>
          <p:cNvPr id="39" name="Text 37"/>
          <p:cNvSpPr txBox="1"/>
          <p:nvPr/>
        </p:nvSpPr>
        <p:spPr>
          <a:xfrm>
            <a:off x="10149840" y="53949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40" name="Text 38"/>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template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six-step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Who meets, and when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Integrated proposition catalogue</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per account, gross and net, against capacity</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meets, and when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levels of session across the sprint. Everything else is working time.</a:t>
            </a:r>
            <a:endParaRPr lang="en-US" sz="1450" dirty="0"/>
          </a:p>
        </p:txBody>
      </p:sp>
      <p:sp>
        <p:nvSpPr>
          <p:cNvPr id="4" name="Text 2"/>
          <p:cNvSpPr txBox="1"/>
          <p:nvPr/>
        </p:nvSpPr>
        <p:spPr>
          <a:xfrm>
            <a:off x="2743200"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1</a:t>
            </a:r>
            <a:endParaRPr lang="en-US" sz="1250" dirty="0"/>
          </a:p>
        </p:txBody>
      </p:sp>
      <p:sp>
        <p:nvSpPr>
          <p:cNvPr id="5" name="Text 3"/>
          <p:cNvSpPr txBox="1"/>
          <p:nvPr/>
        </p:nvSpPr>
        <p:spPr>
          <a:xfrm>
            <a:off x="4956048"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2</a:t>
            </a:r>
            <a:endParaRPr lang="en-US" sz="1250" dirty="0"/>
          </a:p>
        </p:txBody>
      </p:sp>
      <p:sp>
        <p:nvSpPr>
          <p:cNvPr id="6" name="Text 4"/>
          <p:cNvSpPr txBox="1"/>
          <p:nvPr/>
        </p:nvSpPr>
        <p:spPr>
          <a:xfrm>
            <a:off x="7168896"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3</a:t>
            </a:r>
            <a:endParaRPr lang="en-US" sz="1250" dirty="0"/>
          </a:p>
        </p:txBody>
      </p:sp>
      <p:sp>
        <p:nvSpPr>
          <p:cNvPr id="7" name="Text 5"/>
          <p:cNvSpPr txBox="1"/>
          <p:nvPr/>
        </p:nvSpPr>
        <p:spPr>
          <a:xfrm>
            <a:off x="9381744"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After sign-off</a:t>
            </a:r>
            <a:endParaRPr lang="en-US" sz="1250" dirty="0"/>
          </a:p>
        </p:txBody>
      </p:sp>
      <p:sp>
        <p:nvSpPr>
          <p:cNvPr id="8" name="Shape 6"/>
          <p:cNvSpPr/>
          <p:nvPr/>
        </p:nvSpPr>
        <p:spPr>
          <a:xfrm>
            <a:off x="640080" y="2240280"/>
            <a:ext cx="1965960" cy="1280160"/>
          </a:xfrm>
          <a:prstGeom prst="roundRect">
            <a:avLst>
              <a:gd name="adj" fmla="val 7143"/>
            </a:avLst>
          </a:prstGeom>
          <a:solidFill>
            <a:srgbClr val="1E2761"/>
          </a:solidFill>
          <a:ln/>
        </p:spPr>
      </p:sp>
      <p:sp>
        <p:nvSpPr>
          <p:cNvPr id="9" name="Text 7"/>
          <p:cNvSpPr txBox="1"/>
          <p:nvPr/>
        </p:nvSpPr>
        <p:spPr>
          <a:xfrm>
            <a:off x="731520" y="224028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Core team</a:t>
            </a:r>
            <a:endParaRPr lang="en-US" sz="1400" dirty="0"/>
          </a:p>
        </p:txBody>
      </p:sp>
      <p:sp>
        <p:nvSpPr>
          <p:cNvPr id="10" name="Shape 8"/>
          <p:cNvSpPr/>
          <p:nvPr/>
        </p:nvSpPr>
        <p:spPr>
          <a:xfrm>
            <a:off x="2743200" y="2240280"/>
            <a:ext cx="2103120" cy="1280160"/>
          </a:xfrm>
          <a:prstGeom prst="roundRect">
            <a:avLst>
              <a:gd name="adj" fmla="val 7143"/>
            </a:avLst>
          </a:prstGeom>
          <a:solidFill>
            <a:srgbClr val="F2F6FC"/>
          </a:solidFill>
          <a:ln/>
        </p:spPr>
      </p:sp>
      <p:sp>
        <p:nvSpPr>
          <p:cNvPr id="11" name="Text 9"/>
          <p:cNvSpPr txBox="1"/>
          <p:nvPr/>
        </p:nvSpPr>
        <p:spPr>
          <a:xfrm>
            <a:off x="2907792"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half a day</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Two working sessions</a:t>
            </a:r>
            <a:endParaRPr lang="en-US" sz="950" dirty="0"/>
          </a:p>
        </p:txBody>
      </p:sp>
      <p:sp>
        <p:nvSpPr>
          <p:cNvPr id="12" name="Shape 10"/>
          <p:cNvSpPr/>
          <p:nvPr/>
        </p:nvSpPr>
        <p:spPr>
          <a:xfrm>
            <a:off x="4956048" y="2240280"/>
            <a:ext cx="2103120" cy="1280160"/>
          </a:xfrm>
          <a:prstGeom prst="roundRect">
            <a:avLst>
              <a:gd name="adj" fmla="val 7143"/>
            </a:avLst>
          </a:prstGeom>
          <a:solidFill>
            <a:srgbClr val="EDF2FA"/>
          </a:solidFill>
          <a:ln/>
        </p:spPr>
      </p:sp>
      <p:sp>
        <p:nvSpPr>
          <p:cNvPr id="13" name="Text 11"/>
          <p:cNvSpPr txBox="1"/>
          <p:nvPr/>
        </p:nvSpPr>
        <p:spPr>
          <a:xfrm>
            <a:off x="5120640"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Working session per workstream</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Mid-week checkpoint</a:t>
            </a:r>
            <a:endParaRPr lang="en-US" sz="950" dirty="0"/>
          </a:p>
        </p:txBody>
      </p:sp>
      <p:sp>
        <p:nvSpPr>
          <p:cNvPr id="14" name="Shape 12"/>
          <p:cNvSpPr/>
          <p:nvPr/>
        </p:nvSpPr>
        <p:spPr>
          <a:xfrm>
            <a:off x="7168896" y="2240280"/>
            <a:ext cx="2103120" cy="1280160"/>
          </a:xfrm>
          <a:prstGeom prst="roundRect">
            <a:avLst>
              <a:gd name="adj" fmla="val 7143"/>
            </a:avLst>
          </a:prstGeom>
          <a:solidFill>
            <a:srgbClr val="F2F6FC"/>
          </a:solidFill>
          <a:ln/>
        </p:spPr>
      </p:sp>
      <p:sp>
        <p:nvSpPr>
          <p:cNvPr id="15" name="Text 13"/>
          <p:cNvSpPr txBox="1"/>
          <p:nvPr/>
        </p:nvSpPr>
        <p:spPr>
          <a:xfrm>
            <a:off x="7333488"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Consolidation session</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Dry run of the strategy on a page</a:t>
            </a:r>
            <a:endParaRPr lang="en-US" sz="950" dirty="0"/>
          </a:p>
        </p:txBody>
      </p:sp>
      <p:sp>
        <p:nvSpPr>
          <p:cNvPr id="16" name="Shape 14"/>
          <p:cNvSpPr/>
          <p:nvPr/>
        </p:nvSpPr>
        <p:spPr>
          <a:xfrm>
            <a:off x="9381744" y="2240280"/>
            <a:ext cx="2103120" cy="1280160"/>
          </a:xfrm>
          <a:prstGeom prst="roundRect">
            <a:avLst>
              <a:gd name="adj" fmla="val 7143"/>
            </a:avLst>
          </a:prstGeom>
          <a:solidFill>
            <a:srgbClr val="EDF2FA"/>
          </a:solidFill>
          <a:ln/>
        </p:spPr>
      </p:sp>
      <p:sp>
        <p:nvSpPr>
          <p:cNvPr id="17" name="Text 15"/>
          <p:cNvSpPr txBox="1"/>
          <p:nvPr/>
        </p:nvSpPr>
        <p:spPr>
          <a:xfrm>
            <a:off x="9546336"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Hand over to initiative owners</a:t>
            </a:r>
            <a:endParaRPr lang="en-US" sz="950" dirty="0"/>
          </a:p>
        </p:txBody>
      </p:sp>
      <p:sp>
        <p:nvSpPr>
          <p:cNvPr id="18" name="Shape 16"/>
          <p:cNvSpPr/>
          <p:nvPr/>
        </p:nvSpPr>
        <p:spPr>
          <a:xfrm>
            <a:off x="640080" y="3657600"/>
            <a:ext cx="1965960" cy="1280160"/>
          </a:xfrm>
          <a:prstGeom prst="roundRect">
            <a:avLst>
              <a:gd name="adj" fmla="val 7143"/>
            </a:avLst>
          </a:prstGeom>
          <a:solidFill>
            <a:srgbClr val="3E5C8A"/>
          </a:solidFill>
          <a:ln/>
        </p:spPr>
      </p:sp>
      <p:sp>
        <p:nvSpPr>
          <p:cNvPr id="19" name="Text 17"/>
          <p:cNvSpPr txBox="1"/>
          <p:nvPr/>
        </p:nvSpPr>
        <p:spPr>
          <a:xfrm>
            <a:off x="731520" y="365760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Offering level</a:t>
            </a:r>
            <a:endParaRPr lang="en-US" sz="1400" dirty="0"/>
          </a:p>
        </p:txBody>
      </p:sp>
      <p:sp>
        <p:nvSpPr>
          <p:cNvPr id="20" name="Shape 18"/>
          <p:cNvSpPr/>
          <p:nvPr/>
        </p:nvSpPr>
        <p:spPr>
          <a:xfrm>
            <a:off x="2743200" y="3657600"/>
            <a:ext cx="2103120" cy="1280160"/>
          </a:xfrm>
          <a:prstGeom prst="roundRect">
            <a:avLst>
              <a:gd name="adj" fmla="val 7143"/>
            </a:avLst>
          </a:prstGeom>
          <a:solidFill>
            <a:srgbClr val="EDF2FA"/>
          </a:solidFill>
          <a:ln/>
        </p:spPr>
      </p:sp>
      <p:sp>
        <p:nvSpPr>
          <p:cNvPr id="21" name="Text 19"/>
          <p:cNvSpPr txBox="1"/>
          <p:nvPr/>
        </p:nvSpPr>
        <p:spPr>
          <a:xfrm>
            <a:off x="2907792"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Ideas session inside each offering</a:t>
            </a:r>
            <a:endParaRPr lang="en-US" sz="950" dirty="0"/>
          </a:p>
        </p:txBody>
      </p:sp>
      <p:sp>
        <p:nvSpPr>
          <p:cNvPr id="22" name="Shape 20"/>
          <p:cNvSpPr/>
          <p:nvPr/>
        </p:nvSpPr>
        <p:spPr>
          <a:xfrm>
            <a:off x="4956048" y="3657600"/>
            <a:ext cx="2103120" cy="1280160"/>
          </a:xfrm>
          <a:prstGeom prst="roundRect">
            <a:avLst>
              <a:gd name="adj" fmla="val 7143"/>
            </a:avLst>
          </a:prstGeom>
          <a:solidFill>
            <a:srgbClr val="F2F6FC"/>
          </a:solidFill>
          <a:ln/>
        </p:spPr>
      </p:sp>
      <p:sp>
        <p:nvSpPr>
          <p:cNvPr id="23" name="Text 21"/>
          <p:cNvSpPr txBox="1"/>
          <p:nvPr/>
        </p:nvSpPr>
        <p:spPr>
          <a:xfrm>
            <a:off x="5120640"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Validation session on the emerging catalogue and accounts</a:t>
            </a:r>
            <a:endParaRPr lang="en-US" sz="950" dirty="0"/>
          </a:p>
        </p:txBody>
      </p:sp>
      <p:sp>
        <p:nvSpPr>
          <p:cNvPr id="24" name="Shape 22"/>
          <p:cNvSpPr/>
          <p:nvPr/>
        </p:nvSpPr>
        <p:spPr>
          <a:xfrm>
            <a:off x="7168896" y="3657600"/>
            <a:ext cx="2103120" cy="1280160"/>
          </a:xfrm>
          <a:prstGeom prst="roundRect">
            <a:avLst>
              <a:gd name="adj" fmla="val 7143"/>
            </a:avLst>
          </a:prstGeom>
          <a:solidFill>
            <a:srgbClr val="EDF2FA"/>
          </a:solidFill>
          <a:ln/>
        </p:spPr>
      </p:sp>
      <p:sp>
        <p:nvSpPr>
          <p:cNvPr id="25" name="Text 23"/>
          <p:cNvSpPr txBox="1"/>
          <p:nvPr/>
        </p:nvSpPr>
        <p:spPr>
          <a:xfrm>
            <a:off x="7333488"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Read-out of the draft</a:t>
            </a:r>
            <a:endParaRPr lang="en-US" sz="950" dirty="0"/>
          </a:p>
        </p:txBody>
      </p:sp>
      <p:sp>
        <p:nvSpPr>
          <p:cNvPr id="26" name="Shape 24"/>
          <p:cNvSpPr/>
          <p:nvPr/>
        </p:nvSpPr>
        <p:spPr>
          <a:xfrm>
            <a:off x="9381744" y="3657600"/>
            <a:ext cx="2103120" cy="1280160"/>
          </a:xfrm>
          <a:prstGeom prst="roundRect">
            <a:avLst>
              <a:gd name="adj" fmla="val 7143"/>
            </a:avLst>
          </a:prstGeom>
          <a:solidFill>
            <a:srgbClr val="F2F6FC"/>
          </a:solidFill>
          <a:ln/>
        </p:spPr>
      </p:sp>
      <p:sp>
        <p:nvSpPr>
          <p:cNvPr id="27" name="Text 25"/>
          <p:cNvSpPr txBox="1"/>
          <p:nvPr/>
        </p:nvSpPr>
        <p:spPr>
          <a:xfrm>
            <a:off x="9546336"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Socialisation session in each offering</a:t>
            </a:r>
            <a:endParaRPr lang="en-US" sz="950" dirty="0"/>
          </a:p>
        </p:txBody>
      </p:sp>
      <p:sp>
        <p:nvSpPr>
          <p:cNvPr id="28" name="Shape 26"/>
          <p:cNvSpPr/>
          <p:nvPr/>
        </p:nvSpPr>
        <p:spPr>
          <a:xfrm>
            <a:off x="640080" y="5074920"/>
            <a:ext cx="1965960" cy="1280160"/>
          </a:xfrm>
          <a:prstGeom prst="roundRect">
            <a:avLst>
              <a:gd name="adj" fmla="val 7143"/>
            </a:avLst>
          </a:prstGeom>
          <a:solidFill>
            <a:srgbClr val="1E2761"/>
          </a:solidFill>
          <a:ln/>
        </p:spPr>
      </p:sp>
      <p:sp>
        <p:nvSpPr>
          <p:cNvPr id="29" name="Text 27"/>
          <p:cNvSpPr txBox="1"/>
          <p:nvPr/>
        </p:nvSpPr>
        <p:spPr>
          <a:xfrm>
            <a:off x="731520" y="507492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Leadership</a:t>
            </a:r>
            <a:endParaRPr lang="en-US" sz="1400" dirty="0"/>
          </a:p>
        </p:txBody>
      </p:sp>
      <p:sp>
        <p:nvSpPr>
          <p:cNvPr id="30" name="Shape 28"/>
          <p:cNvSpPr/>
          <p:nvPr/>
        </p:nvSpPr>
        <p:spPr>
          <a:xfrm>
            <a:off x="2743200" y="5074920"/>
            <a:ext cx="2103120" cy="1280160"/>
          </a:xfrm>
          <a:prstGeom prst="roundRect">
            <a:avLst>
              <a:gd name="adj" fmla="val 7143"/>
            </a:avLst>
          </a:prstGeom>
          <a:solidFill>
            <a:srgbClr val="F2F6FC"/>
          </a:solidFill>
          <a:ln/>
        </p:spPr>
      </p:sp>
      <p:sp>
        <p:nvSpPr>
          <p:cNvPr id="31" name="Text 29"/>
          <p:cNvSpPr txBox="1"/>
          <p:nvPr/>
        </p:nvSpPr>
        <p:spPr>
          <a:xfrm>
            <a:off x="2907792"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attendance</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1: markets and sectors</a:t>
            </a:r>
            <a:endParaRPr lang="en-US" sz="950" dirty="0"/>
          </a:p>
        </p:txBody>
      </p:sp>
      <p:sp>
        <p:nvSpPr>
          <p:cNvPr id="32" name="Shape 30"/>
          <p:cNvSpPr/>
          <p:nvPr/>
        </p:nvSpPr>
        <p:spPr>
          <a:xfrm>
            <a:off x="4956048" y="5074920"/>
            <a:ext cx="2103120" cy="1280160"/>
          </a:xfrm>
          <a:prstGeom prst="roundRect">
            <a:avLst>
              <a:gd name="adj" fmla="val 7143"/>
            </a:avLst>
          </a:prstGeom>
          <a:solidFill>
            <a:srgbClr val="EDF2FA"/>
          </a:solidFill>
          <a:ln/>
        </p:spPr>
      </p:sp>
      <p:sp>
        <p:nvSpPr>
          <p:cNvPr id="33" name="Text 31"/>
          <p:cNvSpPr txBox="1"/>
          <p:nvPr/>
        </p:nvSpPr>
        <p:spPr>
          <a:xfrm>
            <a:off x="5120640"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2: catalogue and shortlist</a:t>
            </a:r>
            <a:endParaRPr lang="en-US" sz="950" dirty="0"/>
          </a:p>
        </p:txBody>
      </p:sp>
      <p:sp>
        <p:nvSpPr>
          <p:cNvPr id="34" name="Shape 32"/>
          <p:cNvSpPr/>
          <p:nvPr/>
        </p:nvSpPr>
        <p:spPr>
          <a:xfrm>
            <a:off x="7168896" y="5074920"/>
            <a:ext cx="2103120" cy="1280160"/>
          </a:xfrm>
          <a:prstGeom prst="roundRect">
            <a:avLst>
              <a:gd name="adj" fmla="val 7143"/>
            </a:avLst>
          </a:prstGeom>
          <a:solidFill>
            <a:srgbClr val="F2F6FC"/>
          </a:solidFill>
          <a:ln/>
        </p:spPr>
      </p:sp>
      <p:sp>
        <p:nvSpPr>
          <p:cNvPr id="35" name="Text 33"/>
          <p:cNvSpPr txBox="1"/>
          <p:nvPr/>
        </p:nvSpPr>
        <p:spPr>
          <a:xfrm>
            <a:off x="7333488"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Sign-off session</a:t>
            </a:r>
            <a:endParaRPr lang="en-US" sz="950" dirty="0"/>
          </a:p>
        </p:txBody>
      </p:sp>
      <p:sp>
        <p:nvSpPr>
          <p:cNvPr id="36" name="Shape 34"/>
          <p:cNvSpPr/>
          <p:nvPr/>
        </p:nvSpPr>
        <p:spPr>
          <a:xfrm>
            <a:off x="9381744" y="5074920"/>
            <a:ext cx="2103120" cy="1280160"/>
          </a:xfrm>
          <a:prstGeom prst="roundRect">
            <a:avLst>
              <a:gd name="adj" fmla="val 7143"/>
            </a:avLst>
          </a:prstGeom>
          <a:solidFill>
            <a:srgbClr val="EDF2FA"/>
          </a:solidFill>
          <a:ln/>
        </p:spPr>
      </p:sp>
      <p:sp>
        <p:nvSpPr>
          <p:cNvPr id="37" name="Text 35"/>
          <p:cNvSpPr txBox="1"/>
          <p:nvPr/>
        </p:nvSpPr>
        <p:spPr>
          <a:xfrm>
            <a:off x="9546336"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Monthly review against the scorecard</a:t>
            </a:r>
            <a:endParaRPr lang="en-US" sz="950" dirty="0"/>
          </a:p>
        </p:txBody>
      </p:sp>
      <p:sp>
        <p:nvSpPr>
          <p:cNvPr id="38" name="Shape 36"/>
          <p:cNvSpPr/>
          <p:nvPr/>
        </p:nvSpPr>
        <p:spPr>
          <a:xfrm>
            <a:off x="640080" y="6400800"/>
            <a:ext cx="10881360" cy="0"/>
          </a:xfrm>
          <a:prstGeom prst="roundRect">
            <a:avLst/>
          </a:prstGeom>
          <a:solidFill>
            <a:srgbClr val="FFFFFF"/>
          </a:solidFill>
          <a:ln/>
        </p:spPr>
      </p:sp>
      <p:sp>
        <p:nvSpPr>
          <p:cNvPr id="39" name="Text 37"/>
          <p:cNvSpPr txBox="1"/>
          <p:nvPr/>
        </p:nvSpPr>
        <p:spPr>
          <a:xfrm>
            <a:off x="640080" y="6446520"/>
            <a:ext cx="10881360" cy="320040"/>
          </a:xfrm>
          <a:prstGeom prst="rect">
            <a:avLst/>
          </a:prstGeom>
          <a:noFill/>
          <a:ln/>
        </p:spPr>
        <p:txBody>
          <a:bodyPr wrap="square" lIns="0" tIns="0" rIns="0" bIns="0" rtlCol="0" anchor="ctr"/>
          <a:lstStyle/>
          <a:p>
            <a:pPr indent="0" marL="0">
              <a:buNone/>
            </a:pPr>
            <a:r>
              <a:rPr lang="en-US" sz="1150" i="1" dirty="0">
                <a:solidFill>
                  <a:srgbClr val="3E5C8A"/>
                </a:solidFill>
                <a:latin typeface="Calibri" pitchFamily="34" charset="0"/>
                <a:ea typeface="Calibri" pitchFamily="34" charset="-122"/>
                <a:cs typeface="Calibri" pitchFamily="34" charset="-120"/>
              </a:rPr>
              <a:t>Offering-level sessions are how the leads bring their partners and directors in — and are where socialisation starts, not ends.</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SIX</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Inputs</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stand today — the starting position the cycle works from.</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market propositions, by offering</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priority FSI accounts</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we sell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Inputs · current market propositions by offering, as they stand before the cycle.</a:t>
            </a:r>
            <a:endParaRPr lang="en-US" sz="1450" dirty="0"/>
          </a:p>
        </p:txBody>
      </p:sp>
      <p:sp>
        <p:nvSpPr>
          <p:cNvPr id="4" name="Shape 2"/>
          <p:cNvSpPr/>
          <p:nvPr/>
        </p:nvSpPr>
        <p:spPr>
          <a:xfrm>
            <a:off x="640080" y="1828800"/>
            <a:ext cx="3520440" cy="4069080"/>
          </a:xfrm>
          <a:prstGeom prst="roundRect">
            <a:avLst>
              <a:gd name="adj" fmla="val 3117"/>
            </a:avLst>
          </a:prstGeom>
          <a:solidFill>
            <a:srgbClr val="FFFFFF"/>
          </a:solidFill>
          <a:ln w="12700">
            <a:solidFill>
              <a:srgbClr val="C9D4E6"/>
            </a:solidFill>
            <a:prstDash val="solid"/>
          </a:ln>
        </p:spPr>
      </p:sp>
      <p:sp>
        <p:nvSpPr>
          <p:cNvPr id="5" name="Shape 3"/>
          <p:cNvSpPr/>
          <p:nvPr/>
        </p:nvSpPr>
        <p:spPr>
          <a:xfrm>
            <a:off x="640080" y="1828800"/>
            <a:ext cx="3520440" cy="548640"/>
          </a:xfrm>
          <a:prstGeom prst="rect">
            <a:avLst/>
          </a:prstGeom>
          <a:solidFill>
            <a:srgbClr val="1E2761"/>
          </a:solidFill>
          <a:ln/>
        </p:spPr>
      </p:sp>
      <p:sp>
        <p:nvSpPr>
          <p:cNvPr id="6" name="Text 4"/>
          <p:cNvSpPr txBox="1"/>
          <p:nvPr/>
        </p:nvSpPr>
        <p:spPr>
          <a:xfrm>
            <a:off x="868680"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Industry Solutions</a:t>
            </a:r>
            <a:endParaRPr lang="en-US" sz="1400" dirty="0"/>
          </a:p>
        </p:txBody>
      </p:sp>
      <p:sp>
        <p:nvSpPr>
          <p:cNvPr id="7" name="Shape 5"/>
          <p:cNvSpPr/>
          <p:nvPr/>
        </p:nvSpPr>
        <p:spPr>
          <a:xfrm>
            <a:off x="914400" y="2788920"/>
            <a:ext cx="2971800" cy="0"/>
          </a:xfrm>
          <a:prstGeom prst="line">
            <a:avLst/>
          </a:prstGeom>
          <a:noFill/>
          <a:ln w="12700">
            <a:solidFill>
              <a:srgbClr val="E1E8F2"/>
            </a:solidFill>
            <a:prstDash val="solid"/>
          </a:ln>
        </p:spPr>
      </p:sp>
      <p:sp>
        <p:nvSpPr>
          <p:cNvPr id="8" name="Shape 6"/>
          <p:cNvSpPr/>
          <p:nvPr/>
        </p:nvSpPr>
        <p:spPr>
          <a:xfrm>
            <a:off x="914400" y="3291840"/>
            <a:ext cx="2971800" cy="0"/>
          </a:xfrm>
          <a:prstGeom prst="line">
            <a:avLst/>
          </a:prstGeom>
          <a:noFill/>
          <a:ln w="12700">
            <a:solidFill>
              <a:srgbClr val="E1E8F2"/>
            </a:solidFill>
            <a:prstDash val="solid"/>
          </a:ln>
        </p:spPr>
      </p:sp>
      <p:sp>
        <p:nvSpPr>
          <p:cNvPr id="9" name="Shape 7"/>
          <p:cNvSpPr/>
          <p:nvPr/>
        </p:nvSpPr>
        <p:spPr>
          <a:xfrm>
            <a:off x="914400" y="3794760"/>
            <a:ext cx="2971800" cy="0"/>
          </a:xfrm>
          <a:prstGeom prst="line">
            <a:avLst/>
          </a:prstGeom>
          <a:noFill/>
          <a:ln w="12700">
            <a:solidFill>
              <a:srgbClr val="E1E8F2"/>
            </a:solidFill>
            <a:prstDash val="solid"/>
          </a:ln>
        </p:spPr>
      </p:sp>
      <p:sp>
        <p:nvSpPr>
          <p:cNvPr id="10" name="Shape 8"/>
          <p:cNvSpPr/>
          <p:nvPr/>
        </p:nvSpPr>
        <p:spPr>
          <a:xfrm>
            <a:off x="914400" y="4297680"/>
            <a:ext cx="2971800" cy="0"/>
          </a:xfrm>
          <a:prstGeom prst="line">
            <a:avLst/>
          </a:prstGeom>
          <a:noFill/>
          <a:ln w="12700">
            <a:solidFill>
              <a:srgbClr val="E1E8F2"/>
            </a:solidFill>
            <a:prstDash val="solid"/>
          </a:ln>
        </p:spPr>
      </p:sp>
      <p:sp>
        <p:nvSpPr>
          <p:cNvPr id="11" name="Shape 9"/>
          <p:cNvSpPr/>
          <p:nvPr/>
        </p:nvSpPr>
        <p:spPr>
          <a:xfrm>
            <a:off x="914400" y="4800600"/>
            <a:ext cx="2971800" cy="0"/>
          </a:xfrm>
          <a:prstGeom prst="line">
            <a:avLst/>
          </a:prstGeom>
          <a:noFill/>
          <a:ln w="12700">
            <a:solidFill>
              <a:srgbClr val="E1E8F2"/>
            </a:solidFill>
            <a:prstDash val="solid"/>
          </a:ln>
        </p:spPr>
      </p:sp>
      <p:sp>
        <p:nvSpPr>
          <p:cNvPr id="12" name="Shape 10"/>
          <p:cNvSpPr/>
          <p:nvPr/>
        </p:nvSpPr>
        <p:spPr>
          <a:xfrm>
            <a:off x="914400" y="5303520"/>
            <a:ext cx="2971800" cy="0"/>
          </a:xfrm>
          <a:prstGeom prst="line">
            <a:avLst/>
          </a:prstGeom>
          <a:noFill/>
          <a:ln w="12700">
            <a:solidFill>
              <a:srgbClr val="E1E8F2"/>
            </a:solidFill>
            <a:prstDash val="solid"/>
          </a:ln>
        </p:spPr>
      </p:sp>
      <p:sp>
        <p:nvSpPr>
          <p:cNvPr id="13" name="Shape 11"/>
          <p:cNvSpPr/>
          <p:nvPr/>
        </p:nvSpPr>
        <p:spPr>
          <a:xfrm>
            <a:off x="4325112" y="1828800"/>
            <a:ext cx="3520440" cy="4069080"/>
          </a:xfrm>
          <a:prstGeom prst="roundRect">
            <a:avLst>
              <a:gd name="adj" fmla="val 3117"/>
            </a:avLst>
          </a:prstGeom>
          <a:solidFill>
            <a:srgbClr val="FFFFFF"/>
          </a:solidFill>
          <a:ln w="12700">
            <a:solidFill>
              <a:srgbClr val="C9D4E6"/>
            </a:solidFill>
            <a:prstDash val="solid"/>
          </a:ln>
        </p:spPr>
      </p:sp>
      <p:sp>
        <p:nvSpPr>
          <p:cNvPr id="14" name="Shape 12"/>
          <p:cNvSpPr/>
          <p:nvPr/>
        </p:nvSpPr>
        <p:spPr>
          <a:xfrm>
            <a:off x="4325112" y="1828800"/>
            <a:ext cx="3520440" cy="548640"/>
          </a:xfrm>
          <a:prstGeom prst="rect">
            <a:avLst/>
          </a:prstGeom>
          <a:solidFill>
            <a:srgbClr val="3E5C8A"/>
          </a:solidFill>
          <a:ln/>
        </p:spPr>
      </p:sp>
      <p:sp>
        <p:nvSpPr>
          <p:cNvPr id="15" name="Text 13"/>
          <p:cNvSpPr txBox="1"/>
          <p:nvPr/>
        </p:nvSpPr>
        <p:spPr>
          <a:xfrm>
            <a:off x="4553712"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and Data</a:t>
            </a:r>
            <a:endParaRPr lang="en-US" sz="1400" dirty="0"/>
          </a:p>
        </p:txBody>
      </p:sp>
      <p:sp>
        <p:nvSpPr>
          <p:cNvPr id="16" name="Shape 14"/>
          <p:cNvSpPr/>
          <p:nvPr/>
        </p:nvSpPr>
        <p:spPr>
          <a:xfrm>
            <a:off x="4599432" y="2788920"/>
            <a:ext cx="2971800" cy="0"/>
          </a:xfrm>
          <a:prstGeom prst="line">
            <a:avLst/>
          </a:prstGeom>
          <a:noFill/>
          <a:ln w="12700">
            <a:solidFill>
              <a:srgbClr val="E1E8F2"/>
            </a:solidFill>
            <a:prstDash val="solid"/>
          </a:ln>
        </p:spPr>
      </p:sp>
      <p:sp>
        <p:nvSpPr>
          <p:cNvPr id="17" name="Shape 15"/>
          <p:cNvSpPr/>
          <p:nvPr/>
        </p:nvSpPr>
        <p:spPr>
          <a:xfrm>
            <a:off x="4599432" y="3291840"/>
            <a:ext cx="2971800" cy="0"/>
          </a:xfrm>
          <a:prstGeom prst="line">
            <a:avLst/>
          </a:prstGeom>
          <a:noFill/>
          <a:ln w="12700">
            <a:solidFill>
              <a:srgbClr val="E1E8F2"/>
            </a:solidFill>
            <a:prstDash val="solid"/>
          </a:ln>
        </p:spPr>
      </p:sp>
      <p:sp>
        <p:nvSpPr>
          <p:cNvPr id="18" name="Shape 16"/>
          <p:cNvSpPr/>
          <p:nvPr/>
        </p:nvSpPr>
        <p:spPr>
          <a:xfrm>
            <a:off x="4599432" y="3794760"/>
            <a:ext cx="2971800" cy="0"/>
          </a:xfrm>
          <a:prstGeom prst="line">
            <a:avLst/>
          </a:prstGeom>
          <a:noFill/>
          <a:ln w="12700">
            <a:solidFill>
              <a:srgbClr val="E1E8F2"/>
            </a:solidFill>
            <a:prstDash val="solid"/>
          </a:ln>
        </p:spPr>
      </p:sp>
      <p:sp>
        <p:nvSpPr>
          <p:cNvPr id="19" name="Shape 17"/>
          <p:cNvSpPr/>
          <p:nvPr/>
        </p:nvSpPr>
        <p:spPr>
          <a:xfrm>
            <a:off x="4599432" y="4297680"/>
            <a:ext cx="2971800" cy="0"/>
          </a:xfrm>
          <a:prstGeom prst="line">
            <a:avLst/>
          </a:prstGeom>
          <a:noFill/>
          <a:ln w="12700">
            <a:solidFill>
              <a:srgbClr val="E1E8F2"/>
            </a:solidFill>
            <a:prstDash val="solid"/>
          </a:ln>
        </p:spPr>
      </p:sp>
      <p:sp>
        <p:nvSpPr>
          <p:cNvPr id="20" name="Shape 18"/>
          <p:cNvSpPr/>
          <p:nvPr/>
        </p:nvSpPr>
        <p:spPr>
          <a:xfrm>
            <a:off x="4599432" y="4800600"/>
            <a:ext cx="2971800" cy="0"/>
          </a:xfrm>
          <a:prstGeom prst="line">
            <a:avLst/>
          </a:prstGeom>
          <a:noFill/>
          <a:ln w="12700">
            <a:solidFill>
              <a:srgbClr val="E1E8F2"/>
            </a:solidFill>
            <a:prstDash val="solid"/>
          </a:ln>
        </p:spPr>
      </p:sp>
      <p:sp>
        <p:nvSpPr>
          <p:cNvPr id="21" name="Shape 19"/>
          <p:cNvSpPr/>
          <p:nvPr/>
        </p:nvSpPr>
        <p:spPr>
          <a:xfrm>
            <a:off x="4599432" y="5303520"/>
            <a:ext cx="2971800" cy="0"/>
          </a:xfrm>
          <a:prstGeom prst="line">
            <a:avLst/>
          </a:prstGeom>
          <a:noFill/>
          <a:ln w="12700">
            <a:solidFill>
              <a:srgbClr val="E1E8F2"/>
            </a:solidFill>
            <a:prstDash val="solid"/>
          </a:ln>
        </p:spPr>
      </p:sp>
      <p:sp>
        <p:nvSpPr>
          <p:cNvPr id="22" name="Shape 20"/>
          <p:cNvSpPr/>
          <p:nvPr/>
        </p:nvSpPr>
        <p:spPr>
          <a:xfrm>
            <a:off x="8010144" y="1828800"/>
            <a:ext cx="3520440" cy="4069080"/>
          </a:xfrm>
          <a:prstGeom prst="roundRect">
            <a:avLst>
              <a:gd name="adj" fmla="val 3117"/>
            </a:avLst>
          </a:prstGeom>
          <a:solidFill>
            <a:srgbClr val="FFFFFF"/>
          </a:solidFill>
          <a:ln w="12700">
            <a:solidFill>
              <a:srgbClr val="C9D4E6"/>
            </a:solidFill>
            <a:prstDash val="solid"/>
          </a:ln>
        </p:spPr>
      </p:sp>
      <p:sp>
        <p:nvSpPr>
          <p:cNvPr id="23" name="Shape 21"/>
          <p:cNvSpPr/>
          <p:nvPr/>
        </p:nvSpPr>
        <p:spPr>
          <a:xfrm>
            <a:off x="8010144" y="1828800"/>
            <a:ext cx="3520440" cy="548640"/>
          </a:xfrm>
          <a:prstGeom prst="rect">
            <a:avLst/>
          </a:prstGeom>
          <a:solidFill>
            <a:srgbClr val="1E2761"/>
          </a:solidFill>
          <a:ln/>
        </p:spPr>
      </p:sp>
      <p:sp>
        <p:nvSpPr>
          <p:cNvPr id="24" name="Text 22"/>
          <p:cNvSpPr txBox="1"/>
          <p:nvPr/>
        </p:nvSpPr>
        <p:spPr>
          <a:xfrm>
            <a:off x="8238744" y="182880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Engineering</a:t>
            </a:r>
            <a:endParaRPr lang="en-US" sz="1400" dirty="0"/>
          </a:p>
        </p:txBody>
      </p:sp>
      <p:sp>
        <p:nvSpPr>
          <p:cNvPr id="25" name="Shape 23"/>
          <p:cNvSpPr/>
          <p:nvPr/>
        </p:nvSpPr>
        <p:spPr>
          <a:xfrm>
            <a:off x="8284464" y="2788920"/>
            <a:ext cx="2971800" cy="0"/>
          </a:xfrm>
          <a:prstGeom prst="line">
            <a:avLst/>
          </a:prstGeom>
          <a:noFill/>
          <a:ln w="12700">
            <a:solidFill>
              <a:srgbClr val="E1E8F2"/>
            </a:solidFill>
            <a:prstDash val="solid"/>
          </a:ln>
        </p:spPr>
      </p:sp>
      <p:sp>
        <p:nvSpPr>
          <p:cNvPr id="26" name="Shape 24"/>
          <p:cNvSpPr/>
          <p:nvPr/>
        </p:nvSpPr>
        <p:spPr>
          <a:xfrm>
            <a:off x="8284464" y="3291840"/>
            <a:ext cx="2971800" cy="0"/>
          </a:xfrm>
          <a:prstGeom prst="line">
            <a:avLst/>
          </a:prstGeom>
          <a:noFill/>
          <a:ln w="12700">
            <a:solidFill>
              <a:srgbClr val="E1E8F2"/>
            </a:solidFill>
            <a:prstDash val="solid"/>
          </a:ln>
        </p:spPr>
      </p:sp>
      <p:sp>
        <p:nvSpPr>
          <p:cNvPr id="27" name="Shape 25"/>
          <p:cNvSpPr/>
          <p:nvPr/>
        </p:nvSpPr>
        <p:spPr>
          <a:xfrm>
            <a:off x="8284464" y="3794760"/>
            <a:ext cx="2971800" cy="0"/>
          </a:xfrm>
          <a:prstGeom prst="line">
            <a:avLst/>
          </a:prstGeom>
          <a:noFill/>
          <a:ln w="12700">
            <a:solidFill>
              <a:srgbClr val="E1E8F2"/>
            </a:solidFill>
            <a:prstDash val="solid"/>
          </a:ln>
        </p:spPr>
      </p:sp>
      <p:sp>
        <p:nvSpPr>
          <p:cNvPr id="28" name="Shape 26"/>
          <p:cNvSpPr/>
          <p:nvPr/>
        </p:nvSpPr>
        <p:spPr>
          <a:xfrm>
            <a:off x="8284464" y="4297680"/>
            <a:ext cx="2971800" cy="0"/>
          </a:xfrm>
          <a:prstGeom prst="line">
            <a:avLst/>
          </a:prstGeom>
          <a:noFill/>
          <a:ln w="12700">
            <a:solidFill>
              <a:srgbClr val="E1E8F2"/>
            </a:solidFill>
            <a:prstDash val="solid"/>
          </a:ln>
        </p:spPr>
      </p:sp>
      <p:sp>
        <p:nvSpPr>
          <p:cNvPr id="29" name="Shape 27"/>
          <p:cNvSpPr/>
          <p:nvPr/>
        </p:nvSpPr>
        <p:spPr>
          <a:xfrm>
            <a:off x="8284464" y="4800600"/>
            <a:ext cx="2971800" cy="0"/>
          </a:xfrm>
          <a:prstGeom prst="line">
            <a:avLst/>
          </a:prstGeom>
          <a:noFill/>
          <a:ln w="12700">
            <a:solidFill>
              <a:srgbClr val="E1E8F2"/>
            </a:solidFill>
            <a:prstDash val="solid"/>
          </a:ln>
        </p:spPr>
      </p:sp>
      <p:sp>
        <p:nvSpPr>
          <p:cNvPr id="30" name="Shape 28"/>
          <p:cNvSpPr/>
          <p:nvPr/>
        </p:nvSpPr>
        <p:spPr>
          <a:xfrm>
            <a:off x="8284464" y="5303520"/>
            <a:ext cx="2971800" cy="0"/>
          </a:xfrm>
          <a:prstGeom prst="line">
            <a:avLst/>
          </a:prstGeom>
          <a:noFill/>
          <a:ln w="12700">
            <a:solidFill>
              <a:srgbClr val="E1E8F2"/>
            </a:solidFill>
            <a:prstDash val="solid"/>
          </a:ln>
        </p:spPr>
      </p:sp>
      <p:sp>
        <p:nvSpPr>
          <p:cNvPr id="31" name="Text 2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One line per proposition we take to market today. Mark which are integrated and which sit inside a single offering.</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Current priority FSI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Inputs · where we already have a relationship today.</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188720"/>
                <a:gridCol w="1828800"/>
                <a:gridCol w="29260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Relationship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do there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41330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53218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Relationship owner</a:t>
            </a:r>
            <a:endParaRPr lang="en-US" sz="1150" dirty="0"/>
          </a:p>
        </p:txBody>
      </p:sp>
      <p:sp>
        <p:nvSpPr>
          <p:cNvPr id="10" name="Text 7"/>
          <p:cNvSpPr txBox="1"/>
          <p:nvPr/>
        </p:nvSpPr>
        <p:spPr>
          <a:xfrm>
            <a:off x="71506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do there today</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p>
        </p:txBody>
      </p:sp>
      <p:sp>
        <p:nvSpPr>
          <p:cNvPr id="12" name="Text 9"/>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Today’s position, not the target list — the target list is an output of the cycle, and this is an input to it.</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strategy template — a placeholder for every answer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783080"/>
            <a:ext cx="5303520" cy="777240"/>
          </a:xfrm>
          <a:prstGeom prst="roundRect">
            <a:avLst>
              <a:gd name="adj" fmla="val 11765"/>
            </a:avLst>
          </a:prstGeom>
          <a:solidFill>
            <a:srgbClr val="FFFFFF"/>
          </a:solidFill>
          <a:ln w="15875">
            <a:solidFill>
              <a:srgbClr val="1E2761"/>
            </a:solidFill>
            <a:prstDash val="solid"/>
          </a:ln>
        </p:spPr>
      </p:sp>
      <p:sp>
        <p:nvSpPr>
          <p:cNvPr id="5" name="Text 3"/>
          <p:cNvSpPr txBox="1"/>
          <p:nvPr/>
        </p:nvSpPr>
        <p:spPr>
          <a:xfrm>
            <a:off x="89611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VISION</a:t>
            </a:r>
            <a:endParaRPr lang="en-US" sz="1150" dirty="0"/>
          </a:p>
        </p:txBody>
      </p:sp>
      <p:sp>
        <p:nvSpPr>
          <p:cNvPr id="6" name="Shape 4"/>
          <p:cNvSpPr/>
          <p:nvPr/>
        </p:nvSpPr>
        <p:spPr>
          <a:xfrm>
            <a:off x="2468880" y="2304288"/>
            <a:ext cx="3200400" cy="0"/>
          </a:xfrm>
          <a:prstGeom prst="line">
            <a:avLst/>
          </a:prstGeom>
          <a:noFill/>
          <a:ln w="12700">
            <a:solidFill>
              <a:srgbClr val="C9D4E6"/>
            </a:solidFill>
            <a:prstDash val="solid"/>
          </a:ln>
        </p:spPr>
      </p:sp>
      <p:sp>
        <p:nvSpPr>
          <p:cNvPr id="7" name="Shape 5"/>
          <p:cNvSpPr/>
          <p:nvPr/>
        </p:nvSpPr>
        <p:spPr>
          <a:xfrm>
            <a:off x="6217920" y="1783080"/>
            <a:ext cx="5303520" cy="777240"/>
          </a:xfrm>
          <a:prstGeom prst="roundRect">
            <a:avLst>
              <a:gd name="adj" fmla="val 11765"/>
            </a:avLst>
          </a:prstGeom>
          <a:solidFill>
            <a:srgbClr val="FFFFFF"/>
          </a:solidFill>
          <a:ln w="15875">
            <a:solidFill>
              <a:srgbClr val="1E2761"/>
            </a:solidFill>
            <a:prstDash val="solid"/>
          </a:ln>
        </p:spPr>
      </p:sp>
      <p:sp>
        <p:nvSpPr>
          <p:cNvPr id="8" name="Text 6"/>
          <p:cNvSpPr txBox="1"/>
          <p:nvPr/>
        </p:nvSpPr>
        <p:spPr>
          <a:xfrm>
            <a:off x="647395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AMBITION</a:t>
            </a:r>
            <a:endParaRPr lang="en-US" sz="1150" dirty="0"/>
          </a:p>
        </p:txBody>
      </p:sp>
      <p:sp>
        <p:nvSpPr>
          <p:cNvPr id="9" name="Shape 7"/>
          <p:cNvSpPr/>
          <p:nvPr/>
        </p:nvSpPr>
        <p:spPr>
          <a:xfrm>
            <a:off x="8046720" y="2304288"/>
            <a:ext cx="3200400" cy="0"/>
          </a:xfrm>
          <a:prstGeom prst="line">
            <a:avLst/>
          </a:prstGeom>
          <a:noFill/>
          <a:ln w="12700">
            <a:solidFill>
              <a:srgbClr val="C9D4E6"/>
            </a:solidFill>
            <a:prstDash val="solid"/>
          </a:ln>
        </p:spPr>
      </p:sp>
      <p:sp>
        <p:nvSpPr>
          <p:cNvPr id="10" name="Shape 8"/>
          <p:cNvSpPr/>
          <p:nvPr/>
        </p:nvSpPr>
        <p:spPr>
          <a:xfrm>
            <a:off x="640080" y="2743200"/>
            <a:ext cx="2596896" cy="2423160"/>
          </a:xfrm>
          <a:prstGeom prst="roundRect">
            <a:avLst>
              <a:gd name="adj" fmla="val 3774"/>
            </a:avLst>
          </a:prstGeom>
          <a:solidFill>
            <a:srgbClr val="FFFFFF"/>
          </a:solidFill>
          <a:ln w="12700">
            <a:solidFill>
              <a:srgbClr val="C9D4E6"/>
            </a:solidFill>
            <a:prstDash val="solid"/>
          </a:ln>
        </p:spPr>
      </p:sp>
      <p:sp>
        <p:nvSpPr>
          <p:cNvPr id="11" name="Shape 9"/>
          <p:cNvSpPr/>
          <p:nvPr/>
        </p:nvSpPr>
        <p:spPr>
          <a:xfrm>
            <a:off x="640080" y="2743200"/>
            <a:ext cx="2596896" cy="502920"/>
          </a:xfrm>
          <a:prstGeom prst="rect">
            <a:avLst/>
          </a:prstGeom>
          <a:solidFill>
            <a:srgbClr val="1E2761"/>
          </a:solidFill>
          <a:ln/>
        </p:spPr>
      </p:sp>
      <p:sp>
        <p:nvSpPr>
          <p:cNvPr id="12" name="Text 10"/>
          <p:cNvSpPr txBox="1"/>
          <p:nvPr/>
        </p:nvSpPr>
        <p:spPr>
          <a:xfrm>
            <a:off x="786384"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3" name="Text 11"/>
          <p:cNvSpPr txBox="1"/>
          <p:nvPr/>
        </p:nvSpPr>
        <p:spPr>
          <a:xfrm>
            <a:off x="841248"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4" name="Shape 12"/>
          <p:cNvSpPr/>
          <p:nvPr/>
        </p:nvSpPr>
        <p:spPr>
          <a:xfrm>
            <a:off x="841248" y="3794760"/>
            <a:ext cx="2194560" cy="0"/>
          </a:xfrm>
          <a:prstGeom prst="line">
            <a:avLst/>
          </a:prstGeom>
          <a:noFill/>
          <a:ln w="12700">
            <a:solidFill>
              <a:srgbClr val="E1E8F2"/>
            </a:solidFill>
            <a:prstDash val="solid"/>
          </a:ln>
        </p:spPr>
      </p:sp>
      <p:sp>
        <p:nvSpPr>
          <p:cNvPr id="15" name="Text 13"/>
          <p:cNvSpPr txBox="1"/>
          <p:nvPr/>
        </p:nvSpPr>
        <p:spPr>
          <a:xfrm>
            <a:off x="841248"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6" name="Shape 14"/>
          <p:cNvSpPr/>
          <p:nvPr/>
        </p:nvSpPr>
        <p:spPr>
          <a:xfrm>
            <a:off x="841248" y="4361688"/>
            <a:ext cx="2194560" cy="0"/>
          </a:xfrm>
          <a:prstGeom prst="line">
            <a:avLst/>
          </a:prstGeom>
          <a:noFill/>
          <a:ln w="12700">
            <a:solidFill>
              <a:srgbClr val="E1E8F2"/>
            </a:solidFill>
            <a:prstDash val="solid"/>
          </a:ln>
        </p:spPr>
      </p:sp>
      <p:sp>
        <p:nvSpPr>
          <p:cNvPr id="17" name="Text 15"/>
          <p:cNvSpPr txBox="1"/>
          <p:nvPr/>
        </p:nvSpPr>
        <p:spPr>
          <a:xfrm>
            <a:off x="841248"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8" name="Shape 16"/>
          <p:cNvSpPr/>
          <p:nvPr/>
        </p:nvSpPr>
        <p:spPr>
          <a:xfrm>
            <a:off x="841248" y="4928616"/>
            <a:ext cx="2194560" cy="0"/>
          </a:xfrm>
          <a:prstGeom prst="line">
            <a:avLst/>
          </a:prstGeom>
          <a:noFill/>
          <a:ln w="12700">
            <a:solidFill>
              <a:srgbClr val="E1E8F2"/>
            </a:solidFill>
            <a:prstDash val="solid"/>
          </a:ln>
        </p:spPr>
      </p:sp>
      <p:sp>
        <p:nvSpPr>
          <p:cNvPr id="19" name="Shape 17"/>
          <p:cNvSpPr/>
          <p:nvPr/>
        </p:nvSpPr>
        <p:spPr>
          <a:xfrm>
            <a:off x="3401568" y="2743200"/>
            <a:ext cx="2596896" cy="2423160"/>
          </a:xfrm>
          <a:prstGeom prst="roundRect">
            <a:avLst>
              <a:gd name="adj" fmla="val 3774"/>
            </a:avLst>
          </a:prstGeom>
          <a:solidFill>
            <a:srgbClr val="FFFFFF"/>
          </a:solidFill>
          <a:ln w="12700">
            <a:solidFill>
              <a:srgbClr val="C9D4E6"/>
            </a:solidFill>
            <a:prstDash val="solid"/>
          </a:ln>
        </p:spPr>
      </p:sp>
      <p:sp>
        <p:nvSpPr>
          <p:cNvPr id="20" name="Shape 18"/>
          <p:cNvSpPr/>
          <p:nvPr/>
        </p:nvSpPr>
        <p:spPr>
          <a:xfrm>
            <a:off x="3401568" y="2743200"/>
            <a:ext cx="2596896" cy="502920"/>
          </a:xfrm>
          <a:prstGeom prst="rect">
            <a:avLst/>
          </a:prstGeom>
          <a:solidFill>
            <a:srgbClr val="3E5C8A"/>
          </a:solidFill>
          <a:ln/>
        </p:spPr>
      </p:sp>
      <p:sp>
        <p:nvSpPr>
          <p:cNvPr id="21" name="Text 19"/>
          <p:cNvSpPr txBox="1"/>
          <p:nvPr/>
        </p:nvSpPr>
        <p:spPr>
          <a:xfrm>
            <a:off x="3547872"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22" name="Text 20"/>
          <p:cNvSpPr txBox="1"/>
          <p:nvPr/>
        </p:nvSpPr>
        <p:spPr>
          <a:xfrm>
            <a:off x="3602736"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3" name="Shape 21"/>
          <p:cNvSpPr/>
          <p:nvPr/>
        </p:nvSpPr>
        <p:spPr>
          <a:xfrm>
            <a:off x="3602736" y="3794760"/>
            <a:ext cx="2194560" cy="0"/>
          </a:xfrm>
          <a:prstGeom prst="line">
            <a:avLst/>
          </a:prstGeom>
          <a:noFill/>
          <a:ln w="12700">
            <a:solidFill>
              <a:srgbClr val="E1E8F2"/>
            </a:solidFill>
            <a:prstDash val="solid"/>
          </a:ln>
        </p:spPr>
      </p:sp>
      <p:sp>
        <p:nvSpPr>
          <p:cNvPr id="24" name="Text 22"/>
          <p:cNvSpPr txBox="1"/>
          <p:nvPr/>
        </p:nvSpPr>
        <p:spPr>
          <a:xfrm>
            <a:off x="3602736"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5" name="Shape 23"/>
          <p:cNvSpPr/>
          <p:nvPr/>
        </p:nvSpPr>
        <p:spPr>
          <a:xfrm>
            <a:off x="3602736" y="4361688"/>
            <a:ext cx="2194560" cy="0"/>
          </a:xfrm>
          <a:prstGeom prst="line">
            <a:avLst/>
          </a:prstGeom>
          <a:noFill/>
          <a:ln w="12700">
            <a:solidFill>
              <a:srgbClr val="E1E8F2"/>
            </a:solidFill>
            <a:prstDash val="solid"/>
          </a:ln>
        </p:spPr>
      </p:sp>
      <p:sp>
        <p:nvSpPr>
          <p:cNvPr id="26" name="Text 24"/>
          <p:cNvSpPr txBox="1"/>
          <p:nvPr/>
        </p:nvSpPr>
        <p:spPr>
          <a:xfrm>
            <a:off x="3602736"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7" name="Shape 25"/>
          <p:cNvSpPr/>
          <p:nvPr/>
        </p:nvSpPr>
        <p:spPr>
          <a:xfrm>
            <a:off x="3602736" y="4928616"/>
            <a:ext cx="2194560" cy="0"/>
          </a:xfrm>
          <a:prstGeom prst="line">
            <a:avLst/>
          </a:prstGeom>
          <a:noFill/>
          <a:ln w="12700">
            <a:solidFill>
              <a:srgbClr val="E1E8F2"/>
            </a:solidFill>
            <a:prstDash val="solid"/>
          </a:ln>
        </p:spPr>
      </p:sp>
      <p:sp>
        <p:nvSpPr>
          <p:cNvPr id="28" name="Shape 26"/>
          <p:cNvSpPr/>
          <p:nvPr/>
        </p:nvSpPr>
        <p:spPr>
          <a:xfrm>
            <a:off x="6163056" y="2743200"/>
            <a:ext cx="2596896" cy="2423160"/>
          </a:xfrm>
          <a:prstGeom prst="roundRect">
            <a:avLst>
              <a:gd name="adj" fmla="val 3774"/>
            </a:avLst>
          </a:prstGeom>
          <a:solidFill>
            <a:srgbClr val="FFFFFF"/>
          </a:solidFill>
          <a:ln w="12700">
            <a:solidFill>
              <a:srgbClr val="C9D4E6"/>
            </a:solidFill>
            <a:prstDash val="solid"/>
          </a:ln>
        </p:spPr>
      </p:sp>
      <p:sp>
        <p:nvSpPr>
          <p:cNvPr id="29" name="Shape 27"/>
          <p:cNvSpPr/>
          <p:nvPr/>
        </p:nvSpPr>
        <p:spPr>
          <a:xfrm>
            <a:off x="6163056" y="2743200"/>
            <a:ext cx="2596896" cy="502920"/>
          </a:xfrm>
          <a:prstGeom prst="rect">
            <a:avLst/>
          </a:prstGeom>
          <a:solidFill>
            <a:srgbClr val="1E2761"/>
          </a:solidFill>
          <a:ln/>
        </p:spPr>
      </p:sp>
      <p:sp>
        <p:nvSpPr>
          <p:cNvPr id="30" name="Text 28"/>
          <p:cNvSpPr txBox="1"/>
          <p:nvPr/>
        </p:nvSpPr>
        <p:spPr>
          <a:xfrm>
            <a:off x="6309360"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31" name="Text 29"/>
          <p:cNvSpPr txBox="1"/>
          <p:nvPr/>
        </p:nvSpPr>
        <p:spPr>
          <a:xfrm>
            <a:off x="6364224"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32" name="Shape 30"/>
          <p:cNvSpPr/>
          <p:nvPr/>
        </p:nvSpPr>
        <p:spPr>
          <a:xfrm>
            <a:off x="6364224" y="3794760"/>
            <a:ext cx="2194560" cy="0"/>
          </a:xfrm>
          <a:prstGeom prst="line">
            <a:avLst/>
          </a:prstGeom>
          <a:noFill/>
          <a:ln w="12700">
            <a:solidFill>
              <a:srgbClr val="E1E8F2"/>
            </a:solidFill>
            <a:prstDash val="solid"/>
          </a:ln>
        </p:spPr>
      </p:sp>
      <p:sp>
        <p:nvSpPr>
          <p:cNvPr id="33" name="Text 31"/>
          <p:cNvSpPr txBox="1"/>
          <p:nvPr/>
        </p:nvSpPr>
        <p:spPr>
          <a:xfrm>
            <a:off x="6364224"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4" name="Shape 32"/>
          <p:cNvSpPr/>
          <p:nvPr/>
        </p:nvSpPr>
        <p:spPr>
          <a:xfrm>
            <a:off x="6364224" y="4361688"/>
            <a:ext cx="2194560" cy="0"/>
          </a:xfrm>
          <a:prstGeom prst="line">
            <a:avLst/>
          </a:prstGeom>
          <a:noFill/>
          <a:ln w="12700">
            <a:solidFill>
              <a:srgbClr val="E1E8F2"/>
            </a:solidFill>
            <a:prstDash val="solid"/>
          </a:ln>
        </p:spPr>
      </p:sp>
      <p:sp>
        <p:nvSpPr>
          <p:cNvPr id="35" name="Text 33"/>
          <p:cNvSpPr txBox="1"/>
          <p:nvPr/>
        </p:nvSpPr>
        <p:spPr>
          <a:xfrm>
            <a:off x="6364224"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6" name="Shape 34"/>
          <p:cNvSpPr/>
          <p:nvPr/>
        </p:nvSpPr>
        <p:spPr>
          <a:xfrm>
            <a:off x="6364224" y="4928616"/>
            <a:ext cx="2194560" cy="0"/>
          </a:xfrm>
          <a:prstGeom prst="line">
            <a:avLst/>
          </a:prstGeom>
          <a:noFill/>
          <a:ln w="12700">
            <a:solidFill>
              <a:srgbClr val="E1E8F2"/>
            </a:solidFill>
            <a:prstDash val="solid"/>
          </a:ln>
        </p:spPr>
      </p:sp>
      <p:sp>
        <p:nvSpPr>
          <p:cNvPr id="37" name="Shape 35"/>
          <p:cNvSpPr/>
          <p:nvPr/>
        </p:nvSpPr>
        <p:spPr>
          <a:xfrm>
            <a:off x="8924544" y="2743200"/>
            <a:ext cx="2596896" cy="2423160"/>
          </a:xfrm>
          <a:prstGeom prst="roundRect">
            <a:avLst>
              <a:gd name="adj" fmla="val 3774"/>
            </a:avLst>
          </a:prstGeom>
          <a:solidFill>
            <a:srgbClr val="FFFFFF"/>
          </a:solidFill>
          <a:ln w="12700">
            <a:solidFill>
              <a:srgbClr val="C9D4E6"/>
            </a:solidFill>
            <a:prstDash val="solid"/>
          </a:ln>
        </p:spPr>
      </p:sp>
      <p:sp>
        <p:nvSpPr>
          <p:cNvPr id="38" name="Shape 36"/>
          <p:cNvSpPr/>
          <p:nvPr/>
        </p:nvSpPr>
        <p:spPr>
          <a:xfrm>
            <a:off x="8924544" y="2743200"/>
            <a:ext cx="2596896" cy="502920"/>
          </a:xfrm>
          <a:prstGeom prst="rect">
            <a:avLst/>
          </a:prstGeom>
          <a:solidFill>
            <a:srgbClr val="3E5C8A"/>
          </a:solidFill>
          <a:ln/>
        </p:spPr>
      </p:sp>
      <p:sp>
        <p:nvSpPr>
          <p:cNvPr id="39" name="Text 37"/>
          <p:cNvSpPr txBox="1"/>
          <p:nvPr/>
        </p:nvSpPr>
        <p:spPr>
          <a:xfrm>
            <a:off x="9070848"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40" name="Text 38"/>
          <p:cNvSpPr txBox="1"/>
          <p:nvPr/>
        </p:nvSpPr>
        <p:spPr>
          <a:xfrm>
            <a:off x="9125712"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41" name="Shape 39"/>
          <p:cNvSpPr/>
          <p:nvPr/>
        </p:nvSpPr>
        <p:spPr>
          <a:xfrm>
            <a:off x="9125712" y="3794760"/>
            <a:ext cx="2194560" cy="0"/>
          </a:xfrm>
          <a:prstGeom prst="line">
            <a:avLst/>
          </a:prstGeom>
          <a:noFill/>
          <a:ln w="12700">
            <a:solidFill>
              <a:srgbClr val="E1E8F2"/>
            </a:solidFill>
            <a:prstDash val="solid"/>
          </a:ln>
        </p:spPr>
      </p:sp>
      <p:sp>
        <p:nvSpPr>
          <p:cNvPr id="42" name="Text 40"/>
          <p:cNvSpPr txBox="1"/>
          <p:nvPr/>
        </p:nvSpPr>
        <p:spPr>
          <a:xfrm>
            <a:off x="9125712"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3" name="Shape 41"/>
          <p:cNvSpPr/>
          <p:nvPr/>
        </p:nvSpPr>
        <p:spPr>
          <a:xfrm>
            <a:off x="9125712" y="4361688"/>
            <a:ext cx="2194560" cy="0"/>
          </a:xfrm>
          <a:prstGeom prst="line">
            <a:avLst/>
          </a:prstGeom>
          <a:noFill/>
          <a:ln w="12700">
            <a:solidFill>
              <a:srgbClr val="E1E8F2"/>
            </a:solidFill>
            <a:prstDash val="solid"/>
          </a:ln>
        </p:spPr>
      </p:sp>
      <p:sp>
        <p:nvSpPr>
          <p:cNvPr id="44" name="Text 42"/>
          <p:cNvSpPr txBox="1"/>
          <p:nvPr/>
        </p:nvSpPr>
        <p:spPr>
          <a:xfrm>
            <a:off x="9125712"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5" name="Shape 43"/>
          <p:cNvSpPr/>
          <p:nvPr/>
        </p:nvSpPr>
        <p:spPr>
          <a:xfrm>
            <a:off x="9125712" y="4928616"/>
            <a:ext cx="2194560" cy="0"/>
          </a:xfrm>
          <a:prstGeom prst="line">
            <a:avLst/>
          </a:prstGeom>
          <a:noFill/>
          <a:ln w="12700">
            <a:solidFill>
              <a:srgbClr val="E1E8F2"/>
            </a:solidFill>
            <a:prstDash val="solid"/>
          </a:ln>
        </p:spPr>
      </p:sp>
      <p:sp>
        <p:nvSpPr>
          <p:cNvPr id="46" name="Shape 44"/>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8" name="Shape 46"/>
          <p:cNvSpPr/>
          <p:nvPr/>
        </p:nvSpPr>
        <p:spPr>
          <a:xfrm>
            <a:off x="2926080" y="5742432"/>
            <a:ext cx="8321040" cy="0"/>
          </a:xfrm>
          <a:prstGeom prst="line">
            <a:avLst/>
          </a:prstGeom>
          <a:noFill/>
          <a:ln w="12700">
            <a:solidFill>
              <a:srgbClr val="C9D4E6"/>
            </a:solidFill>
            <a:prstDash val="solid"/>
          </a:ln>
        </p:spPr>
      </p:sp>
      <p:sp>
        <p:nvSpPr>
          <p:cNvPr id="49" name="Shape 47"/>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50" name="Text 48"/>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51" name="Shape 49"/>
          <p:cNvSpPr/>
          <p:nvPr/>
        </p:nvSpPr>
        <p:spPr>
          <a:xfrm>
            <a:off x="2926080" y="6364224"/>
            <a:ext cx="8321040" cy="0"/>
          </a:xfrm>
          <a:prstGeom prst="line">
            <a:avLst/>
          </a:prstGeom>
          <a:noFill/>
          <a:ln w="12700">
            <a:solidFill>
              <a:srgbClr val="C9D4E6"/>
            </a:solidFill>
            <a:prstDash val="solid"/>
          </a:ln>
        </p:spPr>
      </p:sp>
      <p:sp>
        <p:nvSpPr>
          <p:cNvPr id="52" name="Text 50"/>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 aligned to the portfolio and industry strategies. Everything behind it is in the templates that follow.</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differentiation and proof</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claim we make.</a:t>
            </a:r>
            <a:endParaRPr lang="en-US" sz="14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371600"/>
                <a:gridCol w="2194560"/>
                <a:gridCol w="2011680"/>
                <a:gridCol w="192024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The claim we make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it beats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it holds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we have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to build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 claim we make</a:t>
            </a:r>
            <a:endParaRPr lang="en-US" sz="1150" dirty="0"/>
          </a:p>
        </p:txBody>
      </p:sp>
      <p:sp>
        <p:nvSpPr>
          <p:cNvPr id="7" name="Text 4"/>
          <p:cNvSpPr txBox="1"/>
          <p:nvPr/>
        </p:nvSpPr>
        <p:spPr>
          <a:xfrm>
            <a:off x="2944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it beats</a:t>
            </a:r>
            <a:endParaRPr lang="en-US" sz="1150" dirty="0"/>
          </a:p>
        </p:txBody>
      </p:sp>
      <p:sp>
        <p:nvSpPr>
          <p:cNvPr id="8" name="Text 5"/>
          <p:cNvSpPr txBox="1"/>
          <p:nvPr/>
        </p:nvSpPr>
        <p:spPr>
          <a:xfrm>
            <a:off x="43159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it holds</a:t>
            </a:r>
            <a:endParaRPr lang="en-US" sz="1150" dirty="0"/>
          </a:p>
        </p:txBody>
      </p:sp>
      <p:sp>
        <p:nvSpPr>
          <p:cNvPr id="9" name="Text 6"/>
          <p:cNvSpPr txBox="1"/>
          <p:nvPr/>
        </p:nvSpPr>
        <p:spPr>
          <a:xfrm>
            <a:off x="65105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we have</a:t>
            </a:r>
            <a:endParaRPr lang="en-US" sz="1150" dirty="0"/>
          </a:p>
        </p:txBody>
      </p:sp>
      <p:sp>
        <p:nvSpPr>
          <p:cNvPr id="10" name="Text 7"/>
          <p:cNvSpPr txBox="1"/>
          <p:nvPr/>
        </p:nvSpPr>
        <p:spPr>
          <a:xfrm>
            <a:off x="85222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to build</a:t>
            </a:r>
            <a:endParaRPr lang="en-US" sz="1150" dirty="0"/>
          </a:p>
        </p:txBody>
      </p:sp>
      <p:sp>
        <p:nvSpPr>
          <p:cNvPr id="11" name="Text 8"/>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 claim with no proof is a boast. Anything in the last column becomes an initiative.</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operating rhythm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forum.</a:t>
            </a:r>
            <a:endParaRPr lang="en-US" sz="14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377440"/>
                <a:gridCol w="1280160"/>
                <a:gridCol w="1280160"/>
                <a:gridCol w="24688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Chair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Decisions it can take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Escalates to</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7" name="Text 4"/>
          <p:cNvSpPr txBox="1"/>
          <p:nvPr/>
        </p:nvSpPr>
        <p:spPr>
          <a:xfrm>
            <a:off x="267004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p>
        </p:txBody>
      </p:sp>
      <p:sp>
        <p:nvSpPr>
          <p:cNvPr id="8" name="Text 5"/>
          <p:cNvSpPr txBox="1"/>
          <p:nvPr/>
        </p:nvSpPr>
        <p:spPr>
          <a:xfrm>
            <a:off x="50474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9" name="Text 6"/>
          <p:cNvSpPr txBox="1"/>
          <p:nvPr/>
        </p:nvSpPr>
        <p:spPr>
          <a:xfrm>
            <a:off x="6327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Chair</a:t>
            </a:r>
            <a:endParaRPr lang="en-US" sz="1150" dirty="0"/>
          </a:p>
        </p:txBody>
      </p:sp>
      <p:sp>
        <p:nvSpPr>
          <p:cNvPr id="10" name="Text 7"/>
          <p:cNvSpPr txBox="1"/>
          <p:nvPr/>
        </p:nvSpPr>
        <p:spPr>
          <a:xfrm>
            <a:off x="7607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Decisions it can take</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Escalates to</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 forum that cannot decide anything is a status meeting. Name what each one can settle without escalation.</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An initiative without an owner and a date is a wish.</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2026-09-30T10:18:24Z</dcterms:created>
  <dcterms:modified xsi:type="dcterms:W3CDTF">2026-09-30T10:18:24Z</dcterms:modified>
</cp:coreProperties>
</file>