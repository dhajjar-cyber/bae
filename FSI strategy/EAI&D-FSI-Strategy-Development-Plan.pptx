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FOR THE TEAM — do not put on the slide.
The portfolio is EAI&amp;D: Engineering, AI and Data. It is a consulting portfolio — think technology advisory and delivery. We design, advise on and implement end-to-end technology transformation for the financial services industry. FSI here means three sectors, in priority order: banking first, then funds (sovereign wealth funds, national and development funds, fund and investment management), then insurance.
Three pillars:
1. Industry Solutions — core-led transformation: core modernisation and core platform packages, whatever the sector calls its core (core banking, policy administration and claims in insurance, portfolio, fund accounting and investment platforms in funds). Also full systems-integration capability: we can take the SI role and own the end-to-end setup, including design governance, functional governance, delivery management and individual stream management, to stand up a greenfield institution or modernise an incumbent.
2. Data and AI — enterprise AI, core AI, AI use-case activation, and standard data work: data platforms, warehouses, ETL, reporting, across all three sectors.
3. Engineering and Cloud — cloud advisory and implementation, plus custom engineered solutions: integration management, microservices, API gateways, and bespoke core engineering. Less common around the core; likeliest in investments, wealth and fund operations.
This deck is the plan for developing the FSI strategy, not the strategy. Target: strategy finalised within three weeks.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pack in two halves. Sections 1 to 5 are the method: what this document is, the questions, the principles, the approach and the workstreams. Sections 6 to 8 are the dimensions that were called out as needing their own treatment — talent, eminence and alliances. Sections 9 and 10 are the plan and the governance.
If time is short, the three slides that carry the decision are: the eight questions, the five-step approach, and how we run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given: this pack carries no answers. We know things already — focus markets, likely accounts — but none of it belongs here. Everything is a blank to be filled through the cycle, so reviewers engage with the method first and do not anchor on half-formed conclusions.
Still open before we finalise this pack:
- Audience: leadership approval pack, or team working document?
- What "partner" means where we say account ownership: our own consulting partners (the people who carry accounts) versus alliance and vendor partners. Both matter; they are different lists.
- Start date for the three-week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strategy has two parents, and both matter.
The EAI&amp;D portfolio strategy is the capability axis: it serves several industries and already sets our vision and direction, the delivery model and quality bars, the alliance framework and partner tiers, the talent model, and the financial targets cascaded to us. We confirm those rather than reinvent them.
The FSI industry strategy is the industry axis: the firm already has one, and it comes with its own account list and tiering, account leadership and partner-to-account mappings, governance forums and cadence, an eminence programme, and client relationship plans already running. That is not ours to duplicate.
What is genuinely ours sits at the intersection: how EAI&amp;D propositions land in those accounts, the economics of delivering them, sector platform alliances, FSI capability and certification, and our own revenue targets by account and offering.
The practical rule, and the one most likely to be broken: no parallel machinery. We do not build a second account plan next to the industry one, a second set of forums, or a separate eminence calendar. Our account view attaches to the existing account plan, our reviews sit inside the existing forums where they exist, and our eminence rides the industry programme, adding EAI&amp;D content rather than competing for the same audience.
Two things to confirm at kick-off: who owns the account relationship where the industry strategy has already named an account leader, and which forum our operating rhythm plugs into rather than replaces. Where the two parent strategies disagree — different sector priority, an alliance one supports and the other does not — that is an escalation, not something for this team to resolve quietly.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team as agreed: Dany leads overall; Tanay leads Industry Solutions; Rachel leads AI and Data; Clifford leads Engineering.
Note the shape difference: the three leads represent the three practices, while the workstreams are cut by pillar, which is deliberate — the strategy is one portfolio strategy, not three practice strategies stapled together. Each pillar therefore needs a named owner drawn from this group, with the other two contributing their practice view into it.
A workable split to propose at kick-off: Dany takes the ambition and the operating discipline; the offerings catalogue is owned jointly but chaired by one lead, since integrated propositions cut across all three practices; market and clients sits with whoever carries the strongest regional relationships; delivery and economics sits with the lead whose practice has the largest delivery footprint. Confirm rather than assume.
Everything else — account partners, alliance leads, resourcing, finance — is pulled in per workstream and not standing members.
The inclusion point matters as much as the ownership one. Each lead is the point of contact for the cycle, but they are also the conduit into their own offering: taking our emerging thinking to the FSI partners and directors there, collecting ideas we would otherwise miss, and testing conclusions before they harden. Two reasons. The obvious one is better content — the people in front of clients every week know things this group does not. The less obvious one is adoption: a strategy that arrives finished, from four people, gets complied with at best. One that people recognise their own input in gets used.
Practically: each lead runs at least one working conversation inside their offering during weeks one and two, and brings back what they heard. It is a standing item at the weekly checkpoint, not an optional courtesy.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Agreeing the drivers before the words stops the discussion turning into a wordsmithing exercise, and stops later revisions quietly trading one theme away for another.
Two of them carry most of the weight and deserve to be explained in the room.
Complexity, handled: our real competition is not another integrated pitch. It is the institution doing it internally, and the lower-cost integrator quoting half the price. Neither can absorb a multi-stream, regulated, interconnected programme. We say that through words like landed, on time, cannot afford to get wrong — never by claiming we carry or underwrite the risk, which starts a procurement and legal conversation the vision should not start.
AI at the core, not on the badge: AI-native is oversubscribed and clients have heard it from everyone. Leading with it makes us sound like the crowd; putting it late and proving it makes it credible. It shows up twice in practice — in what we build for the client, and in how we deliver, through assets, accelerators and AI-assisted engineering.
The remaining four are straightforward but non-negotiable: end-to-end accountability including alliances, acceleration, both halves of the institution, and all three sectors.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candidate: "Complexity, compressed." Two alternates kept for the discussion.
Six themes every candidate has to carry, held deliberately so revisions do not trade one away for another:
1. Integrated and end to end — one accountable team, alliances counted as part of what we bring.
2. Complexity handled reliably — implied through words like landed, on time, cannot afford to get wrong. Never stated as carrying or underwriting risk: that is a procurement and legal conversation we do not want the vision to start.
3. Acceleration — time to market and time to value, because a platform that is not live is cost carried or revenue missed.
4. Both halves of the institution — what it takes to market, and how it runs inside. The second half is where enterprise AI, workplace tooling and intelligent operations sit.
5. AI present but never the headline. AI-native is oversubscribed; the credibility comes from AI at the core of what we build and how we deliver, stated once and late.
6. All three sectors — banks, funds and insurers.
Why "compressed" rather than "sooner" or "faster": it reads as engineering rather than marketing, and it carries the complexity claim and the speed claim in the same word.
What the vision obliges elsewhere in the strategy: the catalogue must show the internal-facing propositions, not only client-facing platforms, or the second half of the claim is unsupported; the delivery model must show the assets, accelerators and AI-assisted delivery that make compression real; and the differentiation argument — why an internal team or a lower-cost integrator cannot do this — belongs in how we win, with evidence, rather than in the vision itself.
Whichever is chosen, the ambition then puts numbers and a date against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rules carry the most weight here.
AI and innovation embedded: AI is not a separate line item we sell when asked. Every proposition in the catalogue carries an AI or innovation component by design — a core modernisation that lands with intelligent operations and automated testing, an integration programme that ships with AI-assisted engineering, a data platform that arrives with use cases already running. Two reasons: it is where client expectation is heading in this region, and it is what stops the catalogue reading like commodity systems integration. Practically it becomes a test applied to the catalogue in the offerings workstream: if a proposition has no AI or innovation content, say why, or change it.
Domain-specific, not agnostic: financial services is specialised enough that generic technology credentials do not travel, and the three sectors do not transfer to each other either. A banking client expects us to know core banking, payments and regulatory reporting; a fund expects portfolio, fund accounting, valuations and investor reporting; an insurer expects policy administration, claims, underwriting and actuarial. Credibility is per sector, not per industry. Practically this means propositions are written in banking language and mapped to banking outcomes; credentials and case studies are FSI ones; CVs put domain experience forward; and where we borrow capability from a horizontal pool, it is fronted by people who know the domain. It also bounds what we take on: a generic engagement we could win anywhere is not automatically ours to chase.
One integrated market team: every partner and director in the portfolio is expected to know the full catalogue, not only their own practice. In a client conversation they should recognise the signal — a core replacement being considered, a data estate that cannot answer regulatory questions, an integration layer at end of life, an AI ambition with no platform underneath it — position the first level of our answer credibly, and then pull in the specialist lead. Nobody is expected to be expert in everything; everybody is expected to open the door rather than let it pass because it sits outside their pillar.
This is what makes the integrated-propositions principle real in practice rather than on paper. It also creates an enablement obligation: the proposition one-pagers in the appendix are the tool for it, and the cycle should say how the portfolio is trained on them and how often it is refreshed.
The hard rule from the portfolio: no siloed solutions. Our primary go-to-market catalogue is integrated propositions across the three pillars. Even where we sell a focused solution — enterprise AI, for example — it is sold as an entry point into an integrated play, and the catalogue is built that way. Archetypes and partial offerings are permitted as variants of an integrated proposition, not as the default.
Delivery model: we expect to inherit the standard firm delivery model rather than invent one. The work here is to confirm it and note where FSI-specific governance (design authority, functional governance, stream management on large SI programmes) needs to be explicit.
Confirm all five principles at kick-off; they bound every later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is loosely a strategy cascade (where to play, how to play), extended for a consulting portfolio with commercial, coverage, talent and eminence dimensions.
Context we already hold, to be validated rather than assumed during the cycle:
- Primary markets: Saudi Arabia, UAE, Qatar.
- Secondary markets: Kuwait, Oman, Jordan — where we focus our key relationships.
- The output must go further than markets: a specific, named target account list, with account mapping — who covers whom.
- Offerings must be expressed as products and services with a buyer attached: who buys this, and what do they typically pay.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Correcting the frame: this is a financial services strategy, not a banking strategy. Three sectors, in this priority order.
1. Banking — the priority sector, and where most of the existing capability and credentials sit.
2. Funds — sovereign wealth funds, national and development funds, and fund or investment management. Often a small number of very large institutions rather than a market of many, which changes how coverage and pursuit work: fewer accounts, longer cycles, far higher stakes per relationship.
3. Insurance — life, general, takaful, health, brokers and reinsurance. Different core platforms, different regulators, different buyers.
They are not interchangeable. The core platform, the regulator, the buyer and the language all change between them, which is exactly why the domain-specific principle is stated per sector rather than per industry: a core banking reference does not win a policy administration programme.
Practical consequence for the cycle: sector is a column in the market prioritisation, the account list, the proposition catalogue and the revenue targets. Where we are thin — and funds and insurance are where we are thin — the strategy has to say whether we build, borrow, hire or partner into them, and the alliance map has to answer the platform question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Tiering applies twice — to geographies and to accounts — and independently of sector. A tier one account can sit in a tier two market, and occasionally the reverse.
Tier one is where the energy goes: deliberate coverage with people physically present working the relationships, named individual targets each with an owner, individual gross and net revenue targets, and the eminence and investment concentrated there. The scorecard is read against tier one.
Tier two is deliberately lighter. Accounts and markets are handled as clusters or groups rather than one by one, pursuit is reactive rather than campaigned, and coverage is a named watcher rather than an accountable owner. It exists for two reasons: to keep us present in what is emerging, and to stop us over-concentrating everything in a handful of names.
Two things the cycle must define rather than leave to instinct: what promotes a tier two account or market to tier one — a real signal, not enthusiasm — and what minimum tier two coverage actually means, so it is not simply a list nobody reads.
Watch the balance. If almost everything lands in tier one, nothing is prioritised. If tier one is too narrow, the plan is fragile to one or two decisions going against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principle made concrete, and the examples are the clearest way to settle the argument.
A greenfield digital bank setup pulls from every practice: the core platform and functional design from Industry Solutions, the data foundation and intelligence from AI and Data, the integration layer, cloud and channels from Engineering. Nobody sells that as three engagements.
A cloud migration strategy will never span beyond Engineering, and pretending otherwise to satisfy a principle makes us look like we are padding. It is a legitimate focused offering.
So the rule has two halves. Integrated is the default: the catalogue is built as cross-practice propositions, and that is what we lead with. Focused offerings stay in the catalogue where the work genuinely does not span, and they are sold as an entry point into a larger relationship rather than as the whole of it.
Two practical consequences for the cycle. First, every proposition in the catalogue records which practices it involves, which is why the catalogue template has that column. Second, a focused offering should carry a named follow-on: what it typically opens next. A focused sale with no onward path is just a small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Costing and delivery model are treated as one topic because they determine each other: the price the market will pay only becomes a business if the delivery construct behind it produces the blended ADR and the gross margin we want.
The chain to work through, per offering: target price band, then the delivery construct it assumes (the split across onshore, nearshore and offshore or global delivery centres), then the blended average daily rate that construct implies, then the gross margin that falls out. If the margin is short, one of the first three has to change — usually the construct.
Nuance to carry: this varies sharply by offering and by sector. A core banking modernisation with heavy onshore functional and governance presence looks nothing like a fund platform implementation, an insurance policy-administration migration, or an AI use-case activation that can run largely offshore. Regulatory and data-residency rules in Saudi and the UAE constrain what can leave the country, and some clients contractually require onshore staffing — both drive the construct before commercial preference does.
The delivery model itself is largely inherited from the firm; what we are setting here is the construct and the economics per offering, plus the margin floor and the approval route when a deal prices below it.
Acceleration sits inside the delivery model, not beside it. If we position on time to market — and the client problem is real, since every month a platform is not live is cost carried or revenue missed — then the delivery model has to show how we go faster than a standard build: reusable assets and accelerators, reference architectures and pre-configured builds, templated stream setup and governance, alliance-provided integrations and platform accelerators, and AI applied to our own delivery (code, test, migration, documentation) rather than only to what we build for the client.
It also changes the economics, which is why it belongs here. Reuse raises margin at the same price, and it makes fixed-price and outcome-based pricing viable where time and materials was the only safe basis. The offering economics template records the assets behind each offering for exactly that reason: an offering with no asset behind it is a bespoke build, and bespoke is both slower and thinner.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was called out as an important dimension in its own right.
Three things to establish:
1. The dedicated team — who in the portfolio works on FSI exclusively, across Industry Solutions, Data and AI, and Engineering and Cloud. Roles, levels, and what we can credibly deliver with them alone.
2. Generic and shared capacity — who we can draw on from the wider portfolio and firm, how much of their time we can actually count on, and which skills we borrow rather than own.
3. The recruitment gap — what remains once dedicated and shared capacity is counted, expressed by level: partners, directors, and other delivery staff. Then build, borrow or buy, and by when.
The link to the rest of the strategy is direct: a revenue target we cannot staff is not a target. Capacity is sized against the targets set in the commercial workstream.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differentiation argument was living only in speaker notes, which is where arguments go to die. It belongs on the page, because every pursuit runs into one of these four alternatives.
It can be said without ever using the word risk: complex, multi-stream, regulated change lands with us and stalls elsewhere. That is a claim about judgement and accountability, not a contractual promise.
The honest half is the bottom of the slide. An argument without evidence is a boast, and the evidence is where we are thin — particularly sector credentials in funds and insurance, and assets a client can actually see working. Naming that gap here is what turns it into an initiative rather than a slide.
Worth rehearsing as a team: each alternative needs a different counter. Against an internal team it is capacity and governance; against a low-cost integrator it is what happens when the programme moves; against a product vendor it is everything around the platform; against a global SI it is depth and presence. Lost pursuits usually mean the wrong counter was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Alliances split into two categories that behave differently, and the plan should treat them differently.
Broad technology alliances — the hyperscalers and platform players: Google, AWS, Microsoft and Oracle. They are relevant to every proposition in the catalogue, so they are a portfolio-level relationship rather than an offering-level one. Three things we take from them: co-sell into their own account relationships, funding and credits to activate use cases on their platforms (a real commercial lever, not a nicety — it can fund the first proof of value), and the certifications and platform credibility clients increasingly ask for.
Specialised product vendors — relevant only where the offering matches. Core banking and origination platforms (Temenos and Intellect today), specialised data vendors such as Informatica, and, as the sector priorities imply, the insurance core and fund platform vendors where we currently hold nothing. These are offering-level and sector-level relationships, so the map must show which propositions each sits behind rather than treating them as general alliances.
The gap to close in the cycle: our specialised alliances are banking-weighted. Funds and insurance are priority two and three with no platform partner named, which is a decision the strategy has to make rather than defer.
Two links to the rest of the strategy: the alliance map must reconcile with the account coverage map (an alliance that opens an account should appear against that account), and with the capacity plan, because certifications and accredited people are a real training and hiring cost. Funding available from the broad alliances should also appear in the commercial view — it changes what a first engagement can be priced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Raised as a distinct part of the plan: how we enhance our positioning in the market, specifically in FSI, around what we do.
Channels mentioned: workshops, seminars, podcasts, articles, and participation in key industry events — Money20/20 was named as an example of the class of event we should consider. The plan should decide which of these are relevant to us rather than assume all of them.
For each channel the plan answers: do we commit, how often, who fronts it, which accounts or markets it targets, and how we measure return — inbound enquiries, meetings created, inclusion on shortlists and RFP invitations.
Worth linking eminence to the account list: eminence activity should point at the accounts and markets the strategy has prioritised, not at general brand awareness.
Internal eminence matters as much as external here. The FS partners and directors sitting in other portfolios are in front of our target clients constantly, and they can only pull us in if they know what we sell. That means scheduled briefings on the catalogue, enablement on the proposition one-pagers, deal clinics where they bring a live situation and we shape the play, and our wins circulated internally rather than only externally. It is the mechanism behind the integrated-market-team principle — the principle sets the expectation, the internal eminence plan is how it is actually resourced and scheduled.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steps are the process view; the workstream and calendar views that follow are the same journey cut by owner and by week.
Note on Quantify: pricing will not reduce to a single number per offering. Core modernisation and migration varies by sector and by segment — retail, corporate or SME in banking; life versus general in insurance; fund accounting versus front-office in funds — and by single-country versus multi-country, and by whether full data migration is in scope. So the artefact is price bands and deal-size ranges with the drivers named, not a price list. Same logic for AI and data platform work, and for cloud and integration engagements.
Baseline also covers people: who we have today, dedicated and shared.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the team actually works inside the sprint, and the answer to a fair question: if everything has to be integrated, how do four people cover this much ground in three weeks?
Divide. Each offering lead works their own view first, because that is where the knowledge is: what we sell today, which accounts we serve, what capability we hold, and — the important part — where their offering could extend into something larger. That is a single-offering lens deliberately, and it is faster than trying to think integrated from a blank page.
Converge. We come together to abstract and refactor: three overlapping proposition lists become one catalogue; three account views become an account-level play; near-duplicates get merged rather than all three surviving. This is where integration is actually created, and it needs to be a working session, not a report-back.
The rhythm is weekly, not once: diverge early in the week, converge before it closes, so nothing carries over un-merged. It applies through Baseline, Define and Quantify — Mobilise and Commit are collective by nature.
One warning. Convergence is where the integrated-not-siloed principle is either honoured or quietly abandoned. If the converged output is still recognisably three lists stapled together, the session has not done its job — and that is worth calling out in the room rather than at sign-off.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structure is two levels on purpose. Level 1 is the pillar — one owner, one accountable partner. Level 2 is the topic inside it, and each topic ends in exactly one artefact in the appendix.
What each pillar carries:
- Market and clients: markets and sectors (primary expected to be Saudi, UAE and Qatar; secondary Kuwait, Oman and Jordan, all to be validated), the named account list, and the coverage map. Two mappings live here — our own partners who own the relationship, and the alliance partner behind the account.
- Offerings: the catalogue itself, and nothing else — integrated propositions, the use cases we lead with, and the permitted archetypes or partial offerings. It stands alone because it is the What: everything else in the strategy either sells it, delivers it or prices it.
- Delivery and economics: the delivery model and the construct behind each offering price bands with the drivers that move them, blended ADR and target margin, and the revenue targets that fall out. Delivery model and pricing sit in one pillar because they determine each other: the construct sets the cost, the cost sets the achievable price and margin.
  Capability sits in the same pillar: the dedicated FSI team, the shared capacity we can genuinely draw on, and the recruitment gap by level. It belongs here because the construct and the margin only hold if the people behind them exist — a target we cannot staff is not a target.
- Route to market: alliances (Oracle, Google, Amazon as primary; Temenos and Intellect as specialised) and the eminence plan.
- Operating discipline: the rhythm, scorecard and decision rights that keep the rest alive after sign-off.
Dependencies to watch: revenue targets cannot be set without the capacity view, and the alliance map must reconcile with the coverage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weeks is the timebox given: the strategy should be finalised in no more than about three weeks. The constraint is deliberate — it forces decisions rather than analysis.
Each week ends at a gate, and a gate is a decision taken, not a document circulated. If a gate cannot be closed, we escalate at the checkpoint rather than let the week slip.
Start date to be set at kick-off.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two asks: confirm the principles, and nominate the workstream owners.
Inputs are the long pole — pipeline, revenue by pillar and market, existing relationships, alliance status, delivery capacity and historical deal values all sit with different people. Chase them in the first 48 hours or week 1 slips.
Decisions requested at sign-off: priority markets and sectors, the target account list, revenue and margin targets, account ownership, and the investment and hiring asks coming out of the talent and eminence workstreams.
Open items to resolve at kick-off: audience for this pack, the definition of partner for account ownership, and the start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calendar behind the three weeks, at the three levels that matter. Indicative durations rather than fixed: a kick-off of half a day, working sessions of ninety minutes to two hours, gates of an hour, sign-off of two hours.
Core team is the four leads and whoever they pull in per workstream. This is where the work is actually done, and it is the heaviest load in weeks one and two.
Offering level is the conduit role made concrete. In week one it is an ideas session inside each offering, deliberately before conclusions harden. In week two it is a validation session on the emerging catalogue and account list. In week three it is a read-out so nobody is surprised at sign-off. After sign-off it becomes the socialisation session per offering.
Leadership is deliberately light: attendance at kick-off, two gates, sign-off, then the monthly review. Gates need decisions, not presentations, so pre-reads go out the day before and the session opens on the open questions.
Two scheduling realities to plan around: get the offering-level sessions in the calendar during kick-off week, since partner diaries in this region fill weeks ahead; and hold the gates on a fixed day each week so they cannot drift quietly.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Short and honest. A three-week cycle fails in predictable ways, and naming them at kick-off costs nothing.
The two that matter most: inputs arriving late, which is the most common cause of a compressed cycle slipping, and gates being deferred. A gate is a decision taken with the information available, not a decision waited for. If one cannot close, escalate at the checkpoint rather than letting the week drift.
Two items here are not really risks and should move to the initiative register as soon as they are confirmed: the missing platform alliances in funds and insurance, and whatever credential gaps the baseline exposes. Neither can be solved inside three weeks, and pretending otherwise is how a strategy ends up carrying commitments nobody can meet.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cycle produces decisions, but several of them imply work that cannot finish in three weeks. Naming those as initiatives, with an owner and a date, is what stops the strategy becoming a document that describes an intention nobody is building.
The flagship one is proposal and orals quality, and it is worth stating plainly because it is a live complaint about our own work rather than a theoretical gap.
What good looks like on proposals: a reusable foundation rather than a blank page every time — a modular content library of proposition descriptions, credentials, CVs and case studies kept current; storyline patterns that carry a narrative rather than a list of capabilities; differentiation proof points that answer why us and not an internal team or a cheaper integrator; and a way to bring the whole firm into the answer rather than only our portfolio. The outcome is speed and polish at the same time: assembled, not written.
What good looks like on orals: show, do not tell. Demos of the assets and accelerators, showcases of comparable work, a walk through what the first ninety days actually look like — not a deck read aloud. Rehearsed, with the people who will deliver in the room.
The other initiatives fall out of the pillars: assets and accelerators behind the committed propositions; capability and certification gaps closed by level; alliance activation, especially the funds and insurance platform gap; the eminence calendar stood up; and the tier one account list turned into live pursuits inside the existing account plans.
Mechanics: the register is built in week three as part of the activation plan, each initiative carries pillar, owner, outcome, milestone and date, and it is reviewed monthly alongside the numbers. Initiatives without an owner and a date are wishes.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because a strategy that is signed off and then unmanaged reverts to whatever the pipeline happens to offer. This is the management-system layer: the rhythm, the measures and the decision rights that keep the choices alive.
Three loops, deliberately different in purpose: weekly is deal-level and run by the account owners; monthly is coverage and progress against target, including talent and alliance commitments; quarterly re-tests the choices themselves — markets, accounts, propositions — rather than just the numbers.
The scorecard is designed so that the strategy's own principles are measurable. The mix KPI is the important one: if the share of revenue from integrated propositions does not move, we are back to selling in silos whatever the catalogue says.
Still to set at sign-off: who chairs each forum, what decisions each can take without escalation, and where the strategy template lives so it stays current rather than being rebuilt each quarter.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 starting position, gathered before week one rather than debated during it.
List what each offering actually sells today in FSI, in the words used with clients — not the aspirational catalogue. Mark each as integrated or focused, because the gap between this picture and the catalogue we design is one of the most useful outputs of the baseline step.
Two things to look for once it is filled in: propositions that exist in three slightly different versions across the offerings, which is a sign we are not integrated; and propositions nobody has sold in the last year, which belong in the catalogue only if someone will own reviving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we already are, before any prioritisation. Sourced from the firm's account plans and the pipeline rather than from memory.
Status should say what the relationship actually is: delivering, dormant, a single project, a framework agreement, or a relationship held elsewhere in the firm that we have not yet used.
This feeds the tiering exercise without pre-empting it. An account we are already in is not automatically tier one, and an account we have never worked with can be, if the opportunity justifies the investment.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financial starting point, and the one input people most often skip because it is uncomfortable.
Two figures per measure: what FSI as a whole carries this financial year, and how much of that sits with EAI&amp;D. The third column — our share of it — is the one that provokes the useful conversation: if we hold a small slice of a large FSI number, the strategy is about capture; if we hold most of it already, the strategy is about growing the whole.
Split by sector and market wherever the plan already does, since banking, funds and insurance will not carry equal weight and the tiering work later depends on knowing that.
Source it from finance rather than from memory or a partner’s recollection, and date it. Everything downstream — the ambition, the revenue targets by account, the capacity plan — reconciles back to this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appendix is the strategy template: the templates we fill in as the cycle runs. Each one maps to a workstream artefact, so at sign-off the completed appendix is the strategy itself, not a separate write-up.
Keep them as living tables — one file, versioned, updated at each weekly checkpoint rather than rebuilt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actual strategy, in the form it will be presented and carried: one sheet.
It mirrors the architecture slide earlier in the pack, but where that one names the questions, this one holds the answers: the ambition in numbers, the three pillars filled in, and the operating discipline underneath.
Rule of thumb: if something cannot be said on this sheet, it belongs in one of the artefacts behind it, not in the strategy. The sheet is what leadership signs and what the quarterly review is held against; the artefacts are the working record.
Keep it dated and versioned. When the quarterly review changes a choice, this sheet is reissued rather than annotated.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summary sheet for each proposition, pulling every dimension we have discussed onto one page: what it is and the use cases, the buyer, the permitted archetypes, where and to whom we sell it, the price band, the delivery construct with ADR and margin, the AI and innovation content, the alliance behind it, and the credentials and roles needed to sell and deliver it.
It doubles as the readiness test. The principles bite here: if the AI and innovation box is empty, the proposition breaches the embedded-AI principle. If the delivery construct and margin box is empty, it is priced without knowing whether it makes money. If the credentials box is empty, we cannot yet sell it in this domain. An unfillable box is a gap, not a formatting problem.
Keep one sheet per proposition rather than a long catalogue document — it is what a partner takes into an account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Fill one row per market under consideration, including the ones we decide against — the rejected rows are as useful as the accepted ones when this is revisited.
Context: Saudi Arabia, UAE and Qatar are the expected primary markets; Kuwait, Oman and Jordan the secondary set where our key relationships sit. Both to be confirmed against evidence in week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core artefact of the whole exercise — the named account list with account mapping.
One account, one plan. The firm runs a single account plan per client and it is not ours to duplicate: this table is the EAI&amp;D view that attaches to it. What is genuinely ours to decide is which offerings we prioritise in each account, what we target from them, and who from our side carries it — all of which lands inside the existing plan rather than beside it.
Rules: one owner per account, never two. The propositions column names what we lead with, not everything we could sell. The alliance column links to the alliance map, so we can see which accounts a partner opens.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turns a target account list into a plan: for each account, which offerings we are going there with, and how much revenue each is expected to carry.
Both numbers are recorded. Gross is the full contract value we bill, including pass-through, third-party software and partner or subcontract content. Net is the revenue delivered by our own people — what the capacity plan and the margin calculation actually run on. Fix the exact definition at kick-off; different parts of the firm use these words differently, and mixing them makes the roll-up meaningless.
Timeframe matters because a core platform programme books over years while an AI activation books in a quarter; without it, an account total is unreadable.
Confidence keeps the plan honest: relationship-only ambition and a qualified pursuit should not be added together as if they were the same thing.
Three reconciliations to hold: account lines roll up to the market total, market totals roll up to the portfolio ambition, and net revenue reconciles to the capacity we have or plan to hire.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different mappings live side by side here: the EAI&amp;D partner accountable for our content in the account, and the alliance or vendor partner we go to market with there. Neither displaces the account leader named in the firm's account plan — where one exists, our owner works inside that account team, and the strategy should say so explicitly to avoid a second chain of accountability forming.
Cadence keeps this honest — an owner with no contact rhythm is a name on a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principle bites hardest here: the catalogue is integrated propositions across Industry Solutions, Data and AI, and Engineering and Cloud. Focused offers such as enterprise AI are recorded as permitted variants of an integrated proposition and sold as entry points.
Buyer means the actual role that signs, and it differs by sector: COO, CIO or head of retail banking in a bank; COO or head of investment operations in a fund; chief underwriting or claims officer in an insurer.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Pricing will not reduce to one number per offering. For core modernisation and migration the drivers include sector and segment (retail, corporate or SME in banking; life or general in insurance; fund accounting or front-office in funds), single-country versus multi-country, and whether full data migration is in scope. Record the drivers alongside the band so the number can be reconstructed.
Same discipline for data platform work, AI activation, and cloud and integration engagements.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bridge between what the market pays and what we keep. One row per offering, because the construct differs sharply between a core platform programme, a data platform build and an AI activation — and again between sectors.
Price basis: fixed price, time and materials, outcome-based or a managed service — it changes how margin is earned and where the risk sits.
Keep the onshore split honest. Regulatory and data-residency requirements in Saudi and the UAE, and client contractual terms, often set the floor for onshore presence before commercial preference does.
Record both the target gross margin and the floor, and note the approval route for anything below it. A margin floor that nobody enforces is not a floor.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integrated column is deliberate: if most revenue sits in single-pillar columns, the strategy has not been followed.
Reconcile every target against the talent template before sign-off. A number we cannot staff is not a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numbers per row: who is ours exclusively, what we can draw on from the wider portfolio, and what is missing once both are counted.
The gap is expressed by level — partners, directors, managers, specialists — because that is how recruitment is approved. Each gap then gets a route (build from within, borrow from another portfolio, or hire) and a date tied to the targets it supports.
Skills and enablement is the part most easily left implicit, so it is called out here. Four distinct needs, and they are not the same thing:
- Capability mapping: which skills the catalogue actually requires, offering by offering. Start from the propositions, not from the org chart.
- Offering enablement: the portfolio trained on the catalogue itself, using the proposition one-pagers. This is what makes the integrated market team principle real — a partner who cannot describe the catalogue cannot recognise the signal or position the first level.
- Domain training and industry certification: financial services specific, and specific by sector. Banking, funds and insurance each have their own qualifications, regulatory context and language, and this is what backs the domain-specific principle. Where we are thin in funds and insurance, training is one of the routes in, alongside hiring.
- Alliance and platform certification: the hyperscalers and product vendors require accredited people, and certification levels often gate partner status, funding and co-sell eligibility. It is a cost with a commercial return attached, so it belongs in the plan rather than in someone's development objectives.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bridge between the catalogue and the people. Work from the propositions backwards: each one names the capabilities it needs, and this is where they are counted and closed.
Four kinds of row, and they should not be blurred together:
- Offering enablement — the portfolio trained on the catalogue itself, so any partner or director can recognise the signal and position the first level before pulling in a specialist.
- Domain capability — financial services knowledge by sector. Banking, funds and insurance carry different qualifications, regulators and vocabulary, and this is what makes the domain-specific claim true rather than asserted.
- Technical and platform capability — the skills the delivery construct assumes, including the assets and accelerators.
- Certification — alliance and vendor accreditations. These gate partner tier, funding and co-sell eligibility, so they carry a commercial return, not just a development benefit.
Who needs it should say how many and at what level, not simply the practice name. A capability held by one person is a dependency, not a capability.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from the alliances we already hold: Oracle, Google and Amazon as primary; Temenos and Intellect as specialised platform alliances, both weighted to banking. The cycle should decide what we do about funds and insurance platforms, where we currently hold no specialised alliance.
The last column matters as much as the rest — certifications, accredited staff and pipeline commitments are a cost that lands in the talent plan and the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Channels in scope: published views and articles, conference stages and flagship FSI events, executive workshops, seminars and roundtables, podcasts and webinars, and joint activity with alliance partners.
Measurement should be concrete: inbound enquiries, meetings created, shortlist and RFP invitations — not impressions.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to why us and not them, written down rather than improvised in the room.
One row per claim. Who it beats matters, because the counter differs: an internal team, a lower-cost integrator, a product vendor and a global SI each need a different argument, and losing pursuits usually means the wrong one was used.
Proof we have should name things — a programme, a reference, an asset a client can see working — not adjectives. Proof to build is the honest column, and every entry in it should appear in the initiative register with an owner and a date.
Expect the thinnest rows to be sector credentials in funds and insurance. Better to see that here than to discover it in a pursuit.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management system behind the strategy, recorded so it survives the people who set it up.
Three loops to fill in at minimum: the weekly pursuit review owned by account owners, the monthly review of pipeline, coverage, initiatives and talent against target, and the quarterly review that re-tests the choices themselves rather than only the numbers.
The column that does the work is decisions it can take. Without it, forums drift into reporting and every real decision waits for someone who is not in the room. Escalates to closes the loop — where a decision goes when it exceeds that forum.
Where the FSI industry strategy already runs a forum, we join it rather than create a parallel one, and this table should say which.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the work that outlives the three weeks is recorded and tracked.
The register is built in week three as part of the activation plan, not invented later. Each row states what changes when it is done, in terms someone could verify — not "improve proposal quality" but "a current, modular proposal library covering the committed propositions, used in the next three pursuits".
Expect initiatives in every pillar: account activation turning the tier one list into live pursuits; assets and accelerators behind the committed propositions; capability and certification gaps closed by level; alliance activation, particularly the funds and insurance platform gap; the eminence calendar; and proposal and orals quality.
On that last one, the standard to aim at: proposals assembled from reusable foundations rather than written from scratch, carrying a storyline and explicit differentiation, and able to bring the whole firm into the answer. Orals that show rather than tell — demos, showcases, a walk through the first ninety days, rehearsed, with the delivery people present.
Keep the register short. Six to eight live initiatives is a portfolio; twenty is a backlog nobody reads.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scorecard behind the operating rhythm. Keep it short — six to eight measures — so the review stays a decision meeting rather than a reporting one.
The measure to fight for is the mix: share of revenue coming from integrated propositions. It is the only number that tells us whether the integrated-not-siloed principle survived contact with the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503920" y="-1645920"/>
            <a:ext cx="6035040" cy="6035040"/>
          </a:xfrm>
          <a:prstGeom prst="ellipse">
            <a:avLst/>
          </a:prstGeom>
          <a:solidFill>
            <a:srgbClr val="3E5C8A">
              <a:alpha val="55000"/>
            </a:srgbClr>
          </a:solidFill>
          <a:ln/>
        </p:spPr>
      </p:sp>
      <p:sp>
        <p:nvSpPr>
          <p:cNvPr id="3" name="Shape 1"/>
          <p:cNvSpPr/>
          <p:nvPr/>
        </p:nvSpPr>
        <p:spPr>
          <a:xfrm>
            <a:off x="10058400" y="3566160"/>
            <a:ext cx="3291840" cy="3291840"/>
          </a:xfrm>
          <a:prstGeom prst="ellipse">
            <a:avLst/>
          </a:prstGeom>
          <a:solidFill>
            <a:srgbClr val="CADCFC">
              <a:alpha val="20000"/>
            </a:srgbClr>
          </a:solidFill>
          <a:ln/>
        </p:spPr>
      </p:sp>
      <p:sp>
        <p:nvSpPr>
          <p:cNvPr id="4" name="Text 2"/>
          <p:cNvSpPr txBox="1"/>
          <p:nvPr/>
        </p:nvSpPr>
        <p:spPr>
          <a:xfrm>
            <a:off x="822960" y="1737360"/>
            <a:ext cx="8229600" cy="411480"/>
          </a:xfrm>
          <a:prstGeom prst="rect">
            <a:avLst/>
          </a:prstGeom>
          <a:noFill/>
          <a:ln/>
        </p:spPr>
        <p:txBody>
          <a:bodyPr wrap="square" lIns="0" tIns="0" rIns="0" bIns="0" rtlCol="0" anchor="ctr"/>
          <a:lstStyle/>
          <a:p>
            <a:pPr indent="0" marL="0">
              <a:buNone/>
            </a:pPr>
            <a:r>
              <a:rPr lang="en-US" sz="1600" spc="200" kern="0" dirty="0">
                <a:solidFill>
                  <a:srgbClr val="CADCFC"/>
                </a:solidFill>
                <a:latin typeface="Calibri" pitchFamily="34" charset="0"/>
                <a:ea typeface="Calibri" pitchFamily="34" charset="-122"/>
                <a:cs typeface="Calibri" pitchFamily="34" charset="-120"/>
              </a:rPr>
              <a:t>EAI&amp;D  ·  Engineering, AI and Data</a:t>
            </a:r>
            <a:endParaRPr lang="en-US" sz="1600" dirty="0"/>
          </a:p>
        </p:txBody>
      </p:sp>
      <p:sp>
        <p:nvSpPr>
          <p:cNvPr id="5" name="Text 3"/>
          <p:cNvSpPr txBox="1"/>
          <p:nvPr/>
        </p:nvSpPr>
        <p:spPr>
          <a:xfrm>
            <a:off x="804672" y="2240280"/>
            <a:ext cx="8229600" cy="1828800"/>
          </a:xfrm>
          <a:prstGeom prst="rect">
            <a:avLst/>
          </a:prstGeom>
          <a:noFill/>
          <a:ln/>
        </p:spPr>
        <p:txBody>
          <a:bodyPr wrap="square" lIns="0" tIns="0" rIns="0" bIns="0" rtlCol="0" anchor="ctr"/>
          <a:lstStyle/>
          <a:p>
            <a:pPr indent="0" marL="0">
              <a:lnSpc>
                <a:spcPts val="5200"/>
              </a:lnSpc>
              <a:buNone/>
            </a:pPr>
            <a:r>
              <a:rPr lang="en-US" sz="4800" b="1" dirty="0">
                <a:solidFill>
                  <a:srgbClr val="FFFFFF"/>
                </a:solidFill>
                <a:latin typeface="Cambria" pitchFamily="34" charset="0"/>
                <a:ea typeface="Cambria" pitchFamily="34" charset="-122"/>
                <a:cs typeface="Cambria" pitchFamily="34" charset="-120"/>
              </a:rPr>
              <a:t>FSI Strategy</a:t>
            </a:r>
            <a:endParaRPr lang="en-US" sz="4800" dirty="0"/>
          </a:p>
          <a:p>
            <a:pPr indent="0" marL="0">
              <a:lnSpc>
                <a:spcPts val="5200"/>
              </a:lnSpc>
              <a:buNone/>
            </a:pPr>
            <a:r>
              <a:rPr lang="en-US" sz="4800" b="1" dirty="0">
                <a:solidFill>
                  <a:srgbClr val="FFFFFF"/>
                </a:solidFill>
                <a:latin typeface="Cambria" pitchFamily="34" charset="0"/>
                <a:ea typeface="Cambria" pitchFamily="34" charset="-122"/>
                <a:cs typeface="Cambria" pitchFamily="34" charset="-120"/>
              </a:rPr>
              <a:t>Development Plan</a:t>
            </a:r>
            <a:endParaRPr lang="en-US" sz="4800" dirty="0"/>
          </a:p>
        </p:txBody>
      </p:sp>
      <p:sp>
        <p:nvSpPr>
          <p:cNvPr id="6" name="Text 4"/>
          <p:cNvSpPr txBox="1"/>
          <p:nvPr/>
        </p:nvSpPr>
        <p:spPr>
          <a:xfrm>
            <a:off x="850392" y="4160520"/>
            <a:ext cx="7863840" cy="548640"/>
          </a:xfrm>
          <a:prstGeom prst="rect">
            <a:avLst/>
          </a:prstGeom>
          <a:noFill/>
          <a:ln/>
        </p:spPr>
        <p:txBody>
          <a:bodyPr wrap="square" lIns="0" tIns="0" rIns="0" bIns="0" rtlCol="0" anchor="ctr"/>
          <a:lstStyle/>
          <a:p>
            <a:pPr indent="0" marL="0">
              <a:buNone/>
            </a:pPr>
            <a:r>
              <a:rPr lang="en-US" sz="1500" i="1" dirty="0">
                <a:solidFill>
                  <a:srgbClr val="CADCFC"/>
                </a:solidFill>
                <a:latin typeface="Calibri" pitchFamily="34" charset="0"/>
                <a:ea typeface="Calibri" pitchFamily="34" charset="-122"/>
                <a:cs typeface="Calibri" pitchFamily="34" charset="-120"/>
              </a:rPr>
              <a:t>The journey to a defined go-to-market and activation strategy for financial services</a:t>
            </a:r>
            <a:endParaRPr lang="en-US" sz="1500" dirty="0"/>
          </a:p>
        </p:txBody>
      </p:sp>
      <p:sp>
        <p:nvSpPr>
          <p:cNvPr id="7" name="Text 5"/>
          <p:cNvSpPr txBox="1"/>
          <p:nvPr/>
        </p:nvSpPr>
        <p:spPr>
          <a:xfrm>
            <a:off x="850392" y="5806440"/>
            <a:ext cx="7315200" cy="365760"/>
          </a:xfrm>
          <a:prstGeom prst="rect">
            <a:avLst/>
          </a:prstGeom>
          <a:noFill/>
          <a:ln/>
        </p:spPr>
        <p:txBody>
          <a:bodyPr wrap="square" lIns="0" tIns="0" rIns="0" bIns="0" rtlCol="0" anchor="ctr"/>
          <a:lstStyle/>
          <a:p>
            <a:pPr indent="0" marL="0">
              <a:buNone/>
            </a:pPr>
            <a:r>
              <a:rPr lang="en-US" sz="1200" dirty="0">
                <a:solidFill>
                  <a:srgbClr val="9AA7C4"/>
                </a:solidFill>
                <a:latin typeface="Calibri" pitchFamily="34" charset="0"/>
                <a:ea typeface="Calibri" pitchFamily="34" charset="-122"/>
                <a:cs typeface="Calibri" pitchFamily="34" charset="-120"/>
              </a:rPr>
              <a:t>Framework only — content to be developed over a three-week cycle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How this pack runs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Six parts, in the order the strategy actually gets built.</a:t>
            </a:r>
            <a:endParaRPr lang="en-US" sz="1450" dirty="0"/>
          </a:p>
        </p:txBody>
      </p:sp>
      <p:sp>
        <p:nvSpPr>
          <p:cNvPr id="4" name="Shape 2"/>
          <p:cNvSpPr/>
          <p:nvPr/>
        </p:nvSpPr>
        <p:spPr>
          <a:xfrm>
            <a:off x="640080" y="1737360"/>
            <a:ext cx="10881360" cy="676656"/>
          </a:xfrm>
          <a:prstGeom prst="roundRect">
            <a:avLst>
              <a:gd name="adj" fmla="val 13514"/>
            </a:avLst>
          </a:prstGeom>
          <a:solidFill>
            <a:srgbClr val="F2F6FC"/>
          </a:solidFill>
          <a:ln/>
        </p:spPr>
      </p:sp>
      <p:sp>
        <p:nvSpPr>
          <p:cNvPr id="5" name="Shape 3"/>
          <p:cNvSpPr/>
          <p:nvPr/>
        </p:nvSpPr>
        <p:spPr>
          <a:xfrm>
            <a:off x="640080" y="1737360"/>
            <a:ext cx="1737360" cy="676656"/>
          </a:xfrm>
          <a:prstGeom prst="rect">
            <a:avLst/>
          </a:prstGeom>
          <a:solidFill>
            <a:srgbClr val="1E2761"/>
          </a:solidFill>
          <a:ln/>
        </p:spPr>
      </p:sp>
      <p:sp>
        <p:nvSpPr>
          <p:cNvPr id="6" name="Text 4"/>
          <p:cNvSpPr txBox="1"/>
          <p:nvPr/>
        </p:nvSpPr>
        <p:spPr>
          <a:xfrm>
            <a:off x="640080" y="1737360"/>
            <a:ext cx="1737360" cy="676656"/>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PART ONE</a:t>
            </a:r>
            <a:endParaRPr lang="en-US" sz="1150" dirty="0"/>
          </a:p>
        </p:txBody>
      </p:sp>
      <p:sp>
        <p:nvSpPr>
          <p:cNvPr id="7" name="Text 5"/>
          <p:cNvSpPr txBox="1"/>
          <p:nvPr/>
        </p:nvSpPr>
        <p:spPr>
          <a:xfrm>
            <a:off x="2606040" y="1792224"/>
            <a:ext cx="38404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The frame</a:t>
            </a:r>
            <a:endParaRPr lang="en-US" sz="1450" dirty="0"/>
          </a:p>
        </p:txBody>
      </p:sp>
      <p:sp>
        <p:nvSpPr>
          <p:cNvPr id="8" name="Text 6"/>
          <p:cNvSpPr txBox="1"/>
          <p:nvPr/>
        </p:nvSpPr>
        <p:spPr>
          <a:xfrm>
            <a:off x="2606040" y="2103120"/>
            <a:ext cx="768096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What this journey is, how it fits, and who is involved</a:t>
            </a:r>
            <a:endParaRPr lang="en-US" sz="1050" dirty="0"/>
          </a:p>
        </p:txBody>
      </p:sp>
      <p:sp>
        <p:nvSpPr>
          <p:cNvPr id="9" name="Text 7"/>
          <p:cNvSpPr txBox="1"/>
          <p:nvPr/>
        </p:nvSpPr>
        <p:spPr>
          <a:xfrm>
            <a:off x="10149840" y="1737360"/>
            <a:ext cx="1188720" cy="676656"/>
          </a:xfrm>
          <a:prstGeom prst="rect">
            <a:avLst/>
          </a:prstGeom>
          <a:noFill/>
          <a:ln/>
        </p:spPr>
        <p:txBody>
          <a:bodyPr wrap="square" lIns="0" tIns="0" rIns="0" bIns="0" rtlCol="0" anchor="ctr"/>
          <a:lstStyle/>
          <a:p>
            <a:pPr algn="r" indent="0" marL="0">
              <a:buNone/>
            </a:pPr>
            <a:r>
              <a:rPr lang="en-US" sz="1100" dirty="0">
                <a:solidFill>
                  <a:srgbClr val="8792AB"/>
                </a:solidFill>
                <a:latin typeface="Calibri" pitchFamily="34" charset="0"/>
                <a:ea typeface="Calibri" pitchFamily="34" charset="-122"/>
                <a:cs typeface="Calibri" pitchFamily="34" charset="-120"/>
              </a:rPr>
              <a:t>3 slides</a:t>
            </a:r>
            <a:endParaRPr lang="en-US" sz="1100" dirty="0"/>
          </a:p>
        </p:txBody>
      </p:sp>
      <p:sp>
        <p:nvSpPr>
          <p:cNvPr id="10" name="Shape 8"/>
          <p:cNvSpPr/>
          <p:nvPr/>
        </p:nvSpPr>
        <p:spPr>
          <a:xfrm>
            <a:off x="640080" y="2468880"/>
            <a:ext cx="10881360" cy="676656"/>
          </a:xfrm>
          <a:prstGeom prst="roundRect">
            <a:avLst>
              <a:gd name="adj" fmla="val 13514"/>
            </a:avLst>
          </a:prstGeom>
          <a:solidFill>
            <a:srgbClr val="EDF2FA"/>
          </a:solidFill>
          <a:ln/>
        </p:spPr>
      </p:sp>
      <p:sp>
        <p:nvSpPr>
          <p:cNvPr id="11" name="Shape 9"/>
          <p:cNvSpPr/>
          <p:nvPr/>
        </p:nvSpPr>
        <p:spPr>
          <a:xfrm>
            <a:off x="640080" y="2468880"/>
            <a:ext cx="1737360" cy="676656"/>
          </a:xfrm>
          <a:prstGeom prst="rect">
            <a:avLst/>
          </a:prstGeom>
          <a:solidFill>
            <a:srgbClr val="3E5C8A"/>
          </a:solidFill>
          <a:ln/>
        </p:spPr>
      </p:sp>
      <p:sp>
        <p:nvSpPr>
          <p:cNvPr id="12" name="Text 10"/>
          <p:cNvSpPr txBox="1"/>
          <p:nvPr/>
        </p:nvSpPr>
        <p:spPr>
          <a:xfrm>
            <a:off x="640080" y="2468880"/>
            <a:ext cx="1737360" cy="676656"/>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PART TWO</a:t>
            </a:r>
            <a:endParaRPr lang="en-US" sz="1150" dirty="0"/>
          </a:p>
        </p:txBody>
      </p:sp>
      <p:sp>
        <p:nvSpPr>
          <p:cNvPr id="13" name="Text 11"/>
          <p:cNvSpPr txBox="1"/>
          <p:nvPr/>
        </p:nvSpPr>
        <p:spPr>
          <a:xfrm>
            <a:off x="2606040" y="2523744"/>
            <a:ext cx="38404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The destination</a:t>
            </a:r>
            <a:endParaRPr lang="en-US" sz="1450" dirty="0"/>
          </a:p>
        </p:txBody>
      </p:sp>
      <p:sp>
        <p:nvSpPr>
          <p:cNvPr id="14" name="Text 12"/>
          <p:cNvSpPr txBox="1"/>
          <p:nvPr/>
        </p:nvSpPr>
        <p:spPr>
          <a:xfrm>
            <a:off x="2606040" y="2834640"/>
            <a:ext cx="768096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Vision drivers · candidate statements · principles</a:t>
            </a:r>
            <a:endParaRPr lang="en-US" sz="1050" dirty="0"/>
          </a:p>
        </p:txBody>
      </p:sp>
      <p:sp>
        <p:nvSpPr>
          <p:cNvPr id="15" name="Text 13"/>
          <p:cNvSpPr txBox="1"/>
          <p:nvPr/>
        </p:nvSpPr>
        <p:spPr>
          <a:xfrm>
            <a:off x="10149840" y="2468880"/>
            <a:ext cx="1188720" cy="676656"/>
          </a:xfrm>
          <a:prstGeom prst="rect">
            <a:avLst/>
          </a:prstGeom>
          <a:noFill/>
          <a:ln/>
        </p:spPr>
        <p:txBody>
          <a:bodyPr wrap="square" lIns="0" tIns="0" rIns="0" bIns="0" rtlCol="0" anchor="ctr"/>
          <a:lstStyle/>
          <a:p>
            <a:pPr algn="r" indent="0" marL="0">
              <a:buNone/>
            </a:pPr>
            <a:r>
              <a:rPr lang="en-US" sz="1100" dirty="0">
                <a:solidFill>
                  <a:srgbClr val="8792AB"/>
                </a:solidFill>
                <a:latin typeface="Calibri" pitchFamily="34" charset="0"/>
                <a:ea typeface="Calibri" pitchFamily="34" charset="-122"/>
                <a:cs typeface="Calibri" pitchFamily="34" charset="-120"/>
              </a:rPr>
              <a:t>3 slides</a:t>
            </a:r>
            <a:endParaRPr lang="en-US" sz="1100" dirty="0"/>
          </a:p>
        </p:txBody>
      </p:sp>
      <p:sp>
        <p:nvSpPr>
          <p:cNvPr id="16" name="Shape 14"/>
          <p:cNvSpPr/>
          <p:nvPr/>
        </p:nvSpPr>
        <p:spPr>
          <a:xfrm>
            <a:off x="640080" y="3200400"/>
            <a:ext cx="10881360" cy="676656"/>
          </a:xfrm>
          <a:prstGeom prst="roundRect">
            <a:avLst>
              <a:gd name="adj" fmla="val 13514"/>
            </a:avLst>
          </a:prstGeom>
          <a:solidFill>
            <a:srgbClr val="F2F6FC"/>
          </a:solidFill>
          <a:ln/>
        </p:spPr>
      </p:sp>
      <p:sp>
        <p:nvSpPr>
          <p:cNvPr id="17" name="Shape 15"/>
          <p:cNvSpPr/>
          <p:nvPr/>
        </p:nvSpPr>
        <p:spPr>
          <a:xfrm>
            <a:off x="640080" y="3200400"/>
            <a:ext cx="1737360" cy="676656"/>
          </a:xfrm>
          <a:prstGeom prst="rect">
            <a:avLst/>
          </a:prstGeom>
          <a:solidFill>
            <a:srgbClr val="1E2761"/>
          </a:solidFill>
          <a:ln/>
        </p:spPr>
      </p:sp>
      <p:sp>
        <p:nvSpPr>
          <p:cNvPr id="18" name="Text 16"/>
          <p:cNvSpPr txBox="1"/>
          <p:nvPr/>
        </p:nvSpPr>
        <p:spPr>
          <a:xfrm>
            <a:off x="640080" y="3200400"/>
            <a:ext cx="1737360" cy="676656"/>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PART THREE</a:t>
            </a:r>
            <a:endParaRPr lang="en-US" sz="1150" dirty="0"/>
          </a:p>
        </p:txBody>
      </p:sp>
      <p:sp>
        <p:nvSpPr>
          <p:cNvPr id="19" name="Text 17"/>
          <p:cNvSpPr txBox="1"/>
          <p:nvPr/>
        </p:nvSpPr>
        <p:spPr>
          <a:xfrm>
            <a:off x="2606040" y="3255264"/>
            <a:ext cx="38404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What the strategy must cover</a:t>
            </a:r>
            <a:endParaRPr lang="en-US" sz="1450" dirty="0"/>
          </a:p>
        </p:txBody>
      </p:sp>
      <p:sp>
        <p:nvSpPr>
          <p:cNvPr id="20" name="Text 18"/>
          <p:cNvSpPr txBox="1"/>
          <p:nvPr/>
        </p:nvSpPr>
        <p:spPr>
          <a:xfrm>
            <a:off x="2606040" y="3566160"/>
            <a:ext cx="768096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The architecture · sectors, markets and tiers · the catalogue · delivery and economics · why us · alliances and eminence</a:t>
            </a:r>
            <a:endParaRPr lang="en-US" sz="1050" dirty="0"/>
          </a:p>
        </p:txBody>
      </p:sp>
      <p:sp>
        <p:nvSpPr>
          <p:cNvPr id="21" name="Text 19"/>
          <p:cNvSpPr txBox="1"/>
          <p:nvPr/>
        </p:nvSpPr>
        <p:spPr>
          <a:xfrm>
            <a:off x="10149840" y="3200400"/>
            <a:ext cx="1188720" cy="676656"/>
          </a:xfrm>
          <a:prstGeom prst="rect">
            <a:avLst/>
          </a:prstGeom>
          <a:noFill/>
          <a:ln/>
        </p:spPr>
        <p:txBody>
          <a:bodyPr wrap="square" lIns="0" tIns="0" rIns="0" bIns="0" rtlCol="0" anchor="ctr"/>
          <a:lstStyle/>
          <a:p>
            <a:pPr algn="r" indent="0" marL="0">
              <a:buNone/>
            </a:pPr>
            <a:r>
              <a:rPr lang="en-US" sz="1100" dirty="0">
                <a:solidFill>
                  <a:srgbClr val="8792AB"/>
                </a:solidFill>
                <a:latin typeface="Calibri" pitchFamily="34" charset="0"/>
                <a:ea typeface="Calibri" pitchFamily="34" charset="-122"/>
                <a:cs typeface="Calibri" pitchFamily="34" charset="-120"/>
              </a:rPr>
              <a:t>9 slides</a:t>
            </a:r>
            <a:endParaRPr lang="en-US" sz="1100" dirty="0"/>
          </a:p>
        </p:txBody>
      </p:sp>
      <p:sp>
        <p:nvSpPr>
          <p:cNvPr id="22" name="Shape 20"/>
          <p:cNvSpPr/>
          <p:nvPr/>
        </p:nvSpPr>
        <p:spPr>
          <a:xfrm>
            <a:off x="640080" y="3931920"/>
            <a:ext cx="10881360" cy="676656"/>
          </a:xfrm>
          <a:prstGeom prst="roundRect">
            <a:avLst>
              <a:gd name="adj" fmla="val 13514"/>
            </a:avLst>
          </a:prstGeom>
          <a:solidFill>
            <a:srgbClr val="EDF2FA"/>
          </a:solidFill>
          <a:ln/>
        </p:spPr>
      </p:sp>
      <p:sp>
        <p:nvSpPr>
          <p:cNvPr id="23" name="Shape 21"/>
          <p:cNvSpPr/>
          <p:nvPr/>
        </p:nvSpPr>
        <p:spPr>
          <a:xfrm>
            <a:off x="640080" y="3931920"/>
            <a:ext cx="1737360" cy="676656"/>
          </a:xfrm>
          <a:prstGeom prst="rect">
            <a:avLst/>
          </a:prstGeom>
          <a:solidFill>
            <a:srgbClr val="3E5C8A"/>
          </a:solidFill>
          <a:ln/>
        </p:spPr>
      </p:sp>
      <p:sp>
        <p:nvSpPr>
          <p:cNvPr id="24" name="Text 22"/>
          <p:cNvSpPr txBox="1"/>
          <p:nvPr/>
        </p:nvSpPr>
        <p:spPr>
          <a:xfrm>
            <a:off x="640080" y="3931920"/>
            <a:ext cx="1737360" cy="676656"/>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PART FOUR</a:t>
            </a:r>
            <a:endParaRPr lang="en-US" sz="1150" dirty="0"/>
          </a:p>
        </p:txBody>
      </p:sp>
      <p:sp>
        <p:nvSpPr>
          <p:cNvPr id="25" name="Text 23"/>
          <p:cNvSpPr txBox="1"/>
          <p:nvPr/>
        </p:nvSpPr>
        <p:spPr>
          <a:xfrm>
            <a:off x="2606040" y="3986784"/>
            <a:ext cx="38404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How we build it</a:t>
            </a:r>
            <a:endParaRPr lang="en-US" sz="1450" dirty="0"/>
          </a:p>
        </p:txBody>
      </p:sp>
      <p:sp>
        <p:nvSpPr>
          <p:cNvPr id="26" name="Text 24"/>
          <p:cNvSpPr txBox="1"/>
          <p:nvPr/>
        </p:nvSpPr>
        <p:spPr>
          <a:xfrm>
            <a:off x="2606040" y="4297680"/>
            <a:ext cx="768096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The approach · divide and converge · workstreams · the journey · sessions · risks</a:t>
            </a:r>
            <a:endParaRPr lang="en-US" sz="1050" dirty="0"/>
          </a:p>
        </p:txBody>
      </p:sp>
      <p:sp>
        <p:nvSpPr>
          <p:cNvPr id="27" name="Text 25"/>
          <p:cNvSpPr txBox="1"/>
          <p:nvPr/>
        </p:nvSpPr>
        <p:spPr>
          <a:xfrm>
            <a:off x="10149840" y="3931920"/>
            <a:ext cx="1188720" cy="676656"/>
          </a:xfrm>
          <a:prstGeom prst="rect">
            <a:avLst/>
          </a:prstGeom>
          <a:noFill/>
          <a:ln/>
        </p:spPr>
        <p:txBody>
          <a:bodyPr wrap="square" lIns="0" tIns="0" rIns="0" bIns="0" rtlCol="0" anchor="ctr"/>
          <a:lstStyle/>
          <a:p>
            <a:pPr algn="r" indent="0" marL="0">
              <a:buNone/>
            </a:pPr>
            <a:r>
              <a:rPr lang="en-US" sz="1100" dirty="0">
                <a:solidFill>
                  <a:srgbClr val="8792AB"/>
                </a:solidFill>
                <a:latin typeface="Calibri" pitchFamily="34" charset="0"/>
                <a:ea typeface="Calibri" pitchFamily="34" charset="-122"/>
                <a:cs typeface="Calibri" pitchFamily="34" charset="-120"/>
              </a:rPr>
              <a:t>7 slides</a:t>
            </a:r>
            <a:endParaRPr lang="en-US" sz="1100" dirty="0"/>
          </a:p>
        </p:txBody>
      </p:sp>
      <p:sp>
        <p:nvSpPr>
          <p:cNvPr id="28" name="Shape 26"/>
          <p:cNvSpPr/>
          <p:nvPr/>
        </p:nvSpPr>
        <p:spPr>
          <a:xfrm>
            <a:off x="640080" y="4663440"/>
            <a:ext cx="10881360" cy="676656"/>
          </a:xfrm>
          <a:prstGeom prst="roundRect">
            <a:avLst>
              <a:gd name="adj" fmla="val 13514"/>
            </a:avLst>
          </a:prstGeom>
          <a:solidFill>
            <a:srgbClr val="F2F6FC"/>
          </a:solidFill>
          <a:ln/>
        </p:spPr>
      </p:sp>
      <p:sp>
        <p:nvSpPr>
          <p:cNvPr id="29" name="Shape 27"/>
          <p:cNvSpPr/>
          <p:nvPr/>
        </p:nvSpPr>
        <p:spPr>
          <a:xfrm>
            <a:off x="640080" y="4663440"/>
            <a:ext cx="1737360" cy="676656"/>
          </a:xfrm>
          <a:prstGeom prst="rect">
            <a:avLst/>
          </a:prstGeom>
          <a:solidFill>
            <a:srgbClr val="1E2761"/>
          </a:solidFill>
          <a:ln/>
        </p:spPr>
      </p:sp>
      <p:sp>
        <p:nvSpPr>
          <p:cNvPr id="30" name="Text 28"/>
          <p:cNvSpPr txBox="1"/>
          <p:nvPr/>
        </p:nvSpPr>
        <p:spPr>
          <a:xfrm>
            <a:off x="640080" y="4663440"/>
            <a:ext cx="1737360" cy="676656"/>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PART FIVE</a:t>
            </a:r>
            <a:endParaRPr lang="en-US" sz="1150" dirty="0"/>
          </a:p>
        </p:txBody>
      </p:sp>
      <p:sp>
        <p:nvSpPr>
          <p:cNvPr id="31" name="Text 29"/>
          <p:cNvSpPr txBox="1"/>
          <p:nvPr/>
        </p:nvSpPr>
        <p:spPr>
          <a:xfrm>
            <a:off x="2606040" y="4718304"/>
            <a:ext cx="38404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What comes next</a:t>
            </a:r>
            <a:endParaRPr lang="en-US" sz="1450" dirty="0"/>
          </a:p>
        </p:txBody>
      </p:sp>
      <p:sp>
        <p:nvSpPr>
          <p:cNvPr id="32" name="Text 30"/>
          <p:cNvSpPr txBox="1"/>
          <p:nvPr/>
        </p:nvSpPr>
        <p:spPr>
          <a:xfrm>
            <a:off x="2606040" y="5029200"/>
            <a:ext cx="768096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Initiatives that outlive the cycle · governing the execution</a:t>
            </a:r>
            <a:endParaRPr lang="en-US" sz="1050" dirty="0"/>
          </a:p>
        </p:txBody>
      </p:sp>
      <p:sp>
        <p:nvSpPr>
          <p:cNvPr id="33" name="Text 31"/>
          <p:cNvSpPr txBox="1"/>
          <p:nvPr/>
        </p:nvSpPr>
        <p:spPr>
          <a:xfrm>
            <a:off x="10149840" y="4663440"/>
            <a:ext cx="1188720" cy="676656"/>
          </a:xfrm>
          <a:prstGeom prst="rect">
            <a:avLst/>
          </a:prstGeom>
          <a:noFill/>
          <a:ln/>
        </p:spPr>
        <p:txBody>
          <a:bodyPr wrap="square" lIns="0" tIns="0" rIns="0" bIns="0" rtlCol="0" anchor="ctr"/>
          <a:lstStyle/>
          <a:p>
            <a:pPr algn="r" indent="0" marL="0">
              <a:buNone/>
            </a:pPr>
            <a:r>
              <a:rPr lang="en-US" sz="1100" dirty="0">
                <a:solidFill>
                  <a:srgbClr val="8792AB"/>
                </a:solidFill>
                <a:latin typeface="Calibri" pitchFamily="34" charset="0"/>
                <a:ea typeface="Calibri" pitchFamily="34" charset="-122"/>
                <a:cs typeface="Calibri" pitchFamily="34" charset="-120"/>
              </a:rPr>
              <a:t>2 slides</a:t>
            </a:r>
            <a:endParaRPr lang="en-US" sz="1100" dirty="0"/>
          </a:p>
        </p:txBody>
      </p:sp>
      <p:sp>
        <p:nvSpPr>
          <p:cNvPr id="34" name="Shape 32"/>
          <p:cNvSpPr/>
          <p:nvPr/>
        </p:nvSpPr>
        <p:spPr>
          <a:xfrm>
            <a:off x="640080" y="5394960"/>
            <a:ext cx="10881360" cy="676656"/>
          </a:xfrm>
          <a:prstGeom prst="roundRect">
            <a:avLst>
              <a:gd name="adj" fmla="val 13514"/>
            </a:avLst>
          </a:prstGeom>
          <a:solidFill>
            <a:srgbClr val="EDF2FA"/>
          </a:solidFill>
          <a:ln/>
        </p:spPr>
      </p:sp>
      <p:sp>
        <p:nvSpPr>
          <p:cNvPr id="35" name="Shape 33"/>
          <p:cNvSpPr/>
          <p:nvPr/>
        </p:nvSpPr>
        <p:spPr>
          <a:xfrm>
            <a:off x="640080" y="5394960"/>
            <a:ext cx="1737360" cy="676656"/>
          </a:xfrm>
          <a:prstGeom prst="rect">
            <a:avLst/>
          </a:prstGeom>
          <a:solidFill>
            <a:srgbClr val="3E5C8A"/>
          </a:solidFill>
          <a:ln/>
        </p:spPr>
      </p:sp>
      <p:sp>
        <p:nvSpPr>
          <p:cNvPr id="36" name="Text 34"/>
          <p:cNvSpPr txBox="1"/>
          <p:nvPr/>
        </p:nvSpPr>
        <p:spPr>
          <a:xfrm>
            <a:off x="640080" y="5394960"/>
            <a:ext cx="1737360" cy="676656"/>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PART SIX</a:t>
            </a:r>
            <a:endParaRPr lang="en-US" sz="1150" dirty="0"/>
          </a:p>
        </p:txBody>
      </p:sp>
      <p:sp>
        <p:nvSpPr>
          <p:cNvPr id="37" name="Text 35"/>
          <p:cNvSpPr txBox="1"/>
          <p:nvPr/>
        </p:nvSpPr>
        <p:spPr>
          <a:xfrm>
            <a:off x="2606040" y="5449824"/>
            <a:ext cx="38404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Strategy inputs</a:t>
            </a:r>
            <a:endParaRPr lang="en-US" sz="1450" dirty="0"/>
          </a:p>
        </p:txBody>
      </p:sp>
      <p:sp>
        <p:nvSpPr>
          <p:cNvPr id="38" name="Text 36"/>
          <p:cNvSpPr txBox="1"/>
          <p:nvPr/>
        </p:nvSpPr>
        <p:spPr>
          <a:xfrm>
            <a:off x="2606040" y="5760720"/>
            <a:ext cx="768096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What we sell today · the priority account list · this year’s targets</a:t>
            </a:r>
            <a:endParaRPr lang="en-US" sz="1050" dirty="0"/>
          </a:p>
        </p:txBody>
      </p:sp>
      <p:sp>
        <p:nvSpPr>
          <p:cNvPr id="39" name="Text 37"/>
          <p:cNvSpPr txBox="1"/>
          <p:nvPr/>
        </p:nvSpPr>
        <p:spPr>
          <a:xfrm>
            <a:off x="10149840" y="5394960"/>
            <a:ext cx="1188720" cy="676656"/>
          </a:xfrm>
          <a:prstGeom prst="rect">
            <a:avLst/>
          </a:prstGeom>
          <a:noFill/>
          <a:ln/>
        </p:spPr>
        <p:txBody>
          <a:bodyPr wrap="square" lIns="0" tIns="0" rIns="0" bIns="0" rtlCol="0" anchor="ctr"/>
          <a:lstStyle/>
          <a:p>
            <a:pPr algn="r" indent="0" marL="0">
              <a:buNone/>
            </a:pPr>
            <a:r>
              <a:rPr lang="en-US" sz="1100" dirty="0">
                <a:solidFill>
                  <a:srgbClr val="8792AB"/>
                </a:solidFill>
                <a:latin typeface="Calibri" pitchFamily="34" charset="0"/>
                <a:ea typeface="Calibri" pitchFamily="34" charset="-122"/>
                <a:cs typeface="Calibri" pitchFamily="34" charset="-120"/>
              </a:rPr>
              <a:t>3 slides</a:t>
            </a:r>
            <a:endParaRPr lang="en-US" sz="1100" dirty="0"/>
          </a:p>
        </p:txBody>
      </p:sp>
      <p:sp>
        <p:nvSpPr>
          <p:cNvPr id="40" name="Text 38"/>
          <p:cNvSpPr txBox="1"/>
          <p:nvPr/>
        </p:nvSpPr>
        <p:spPr>
          <a:xfrm>
            <a:off x="640080" y="6172200"/>
            <a:ext cx="10881360" cy="365760"/>
          </a:xfrm>
          <a:prstGeom prst="rect">
            <a:avLst/>
          </a:prstGeom>
          <a:noFill/>
          <a:ln/>
        </p:spPr>
        <p:txBody>
          <a:bodyPr wrap="square" lIns="0" tIns="0" rIns="0" bIns="0" rtlCol="0" anchor="ctr"/>
          <a:lstStyle/>
          <a:p>
            <a:pPr indent="0" marL="0">
              <a:buNone/>
            </a:pPr>
            <a:r>
              <a:rPr lang="en-US" sz="1200" i="1" dirty="0">
                <a:solidFill>
                  <a:srgbClr val="3E5C8A"/>
                </a:solidFill>
                <a:latin typeface="Calibri" pitchFamily="34" charset="0"/>
                <a:ea typeface="Calibri" pitchFamily="34" charset="-122"/>
                <a:cs typeface="Calibri" pitchFamily="34" charset="-120"/>
              </a:rPr>
              <a:t>Appendix: a blank template for every artefact the cycle produces — the strategy template itself.</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961120" y="3108960"/>
            <a:ext cx="5120640" cy="5120640"/>
          </a:xfrm>
          <a:prstGeom prst="ellipse">
            <a:avLst/>
          </a:prstGeom>
          <a:solidFill>
            <a:srgbClr val="3E5C8A">
              <a:alpha val="45000"/>
            </a:srgbClr>
          </a:solidFill>
          <a:ln/>
        </p:spPr>
      </p:sp>
      <p:sp>
        <p:nvSpPr>
          <p:cNvPr id="3" name="Text 1"/>
          <p:cNvSpPr txBox="1"/>
          <p:nvPr/>
        </p:nvSpPr>
        <p:spPr>
          <a:xfrm>
            <a:off x="822960" y="1965960"/>
            <a:ext cx="4572000" cy="365760"/>
          </a:xfrm>
          <a:prstGeom prst="rect">
            <a:avLst/>
          </a:prstGeom>
          <a:noFill/>
          <a:ln/>
        </p:spPr>
        <p:txBody>
          <a:bodyPr wrap="square" lIns="0" tIns="0" rIns="0" bIns="0" rtlCol="0" anchor="ctr"/>
          <a:lstStyle/>
          <a:p>
            <a:pPr indent="0" marL="0">
              <a:buNone/>
            </a:pPr>
            <a:r>
              <a:rPr lang="en-US" sz="1300" b="1" spc="200" kern="0" dirty="0">
                <a:solidFill>
                  <a:srgbClr val="9AA7C4"/>
                </a:solidFill>
                <a:latin typeface="Calibri" pitchFamily="34" charset="0"/>
                <a:ea typeface="Calibri" pitchFamily="34" charset="-122"/>
                <a:cs typeface="Calibri" pitchFamily="34" charset="-120"/>
              </a:rPr>
              <a:t>PART ONE</a:t>
            </a:r>
            <a:endParaRPr lang="en-US" sz="1300" dirty="0"/>
          </a:p>
        </p:txBody>
      </p:sp>
      <p:sp>
        <p:nvSpPr>
          <p:cNvPr id="4" name="Text 2"/>
          <p:cNvSpPr txBox="1"/>
          <p:nvPr/>
        </p:nvSpPr>
        <p:spPr>
          <a:xfrm>
            <a:off x="804672" y="2377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The frame</a:t>
            </a:r>
            <a:endParaRPr lang="en-US" sz="3800" dirty="0"/>
          </a:p>
        </p:txBody>
      </p:sp>
      <p:sp>
        <p:nvSpPr>
          <p:cNvPr id="5" name="Text 3"/>
          <p:cNvSpPr txBox="1"/>
          <p:nvPr/>
        </p:nvSpPr>
        <p:spPr>
          <a:xfrm>
            <a:off x="850392" y="3337560"/>
            <a:ext cx="758952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What this document is, and the industry it is for.</a:t>
            </a:r>
            <a:endParaRPr lang="en-US" sz="1500" dirty="0"/>
          </a:p>
        </p:txBody>
      </p:sp>
      <p:sp>
        <p:nvSpPr>
          <p:cNvPr id="6" name="Text 4"/>
          <p:cNvSpPr txBox="1"/>
          <p:nvPr/>
        </p:nvSpPr>
        <p:spPr>
          <a:xfrm>
            <a:off x="850392" y="4023360"/>
            <a:ext cx="7589520" cy="164592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What this document is — method, not conclusion</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The industry we mean: banking, funds and insurance</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this document is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 method, not a conclusion.</a:t>
            </a:r>
            <a:endParaRPr lang="en-US" sz="1450" dirty="0"/>
          </a:p>
        </p:txBody>
      </p:sp>
      <p:sp>
        <p:nvSpPr>
          <p:cNvPr id="4" name="Shape 2"/>
          <p:cNvSpPr/>
          <p:nvPr/>
        </p:nvSpPr>
        <p:spPr>
          <a:xfrm>
            <a:off x="640080" y="1828800"/>
            <a:ext cx="457200" cy="457200"/>
          </a:xfrm>
          <a:prstGeom prst="ellipse">
            <a:avLst/>
          </a:prstGeom>
          <a:solidFill>
            <a:srgbClr val="1E2761"/>
          </a:solidFill>
          <a:ln/>
        </p:spPr>
      </p:sp>
      <p:sp>
        <p:nvSpPr>
          <p:cNvPr id="5" name="Text 3"/>
          <p:cNvSpPr txBox="1"/>
          <p:nvPr/>
        </p:nvSpPr>
        <p:spPr>
          <a:xfrm>
            <a:off x="640080" y="18288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25880" y="180136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A plan to build the strategy</a:t>
            </a:r>
            <a:endParaRPr lang="en-US" sz="1900" dirty="0"/>
          </a:p>
        </p:txBody>
      </p:sp>
      <p:sp>
        <p:nvSpPr>
          <p:cNvPr id="7" name="Text 5"/>
          <p:cNvSpPr txBox="1"/>
          <p:nvPr/>
        </p:nvSpPr>
        <p:spPr>
          <a:xfrm>
            <a:off x="1325880" y="221284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It describes the journey, the questions and the sequence — it does not pre-empt the answers.</a:t>
            </a:r>
            <a:endParaRPr lang="en-US" sz="1400" dirty="0"/>
          </a:p>
        </p:txBody>
      </p:sp>
      <p:sp>
        <p:nvSpPr>
          <p:cNvPr id="8" name="Shape 6"/>
          <p:cNvSpPr/>
          <p:nvPr/>
        </p:nvSpPr>
        <p:spPr>
          <a:xfrm>
            <a:off x="640080" y="3063240"/>
            <a:ext cx="457200" cy="457200"/>
          </a:xfrm>
          <a:prstGeom prst="ellipse">
            <a:avLst/>
          </a:prstGeom>
          <a:solidFill>
            <a:srgbClr val="3E5C8A"/>
          </a:solidFill>
          <a:ln/>
        </p:spPr>
      </p:sp>
      <p:sp>
        <p:nvSpPr>
          <p:cNvPr id="9" name="Text 7"/>
          <p:cNvSpPr txBox="1"/>
          <p:nvPr/>
        </p:nvSpPr>
        <p:spPr>
          <a:xfrm>
            <a:off x="640080" y="306324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0" name="Text 8"/>
          <p:cNvSpPr txBox="1"/>
          <p:nvPr/>
        </p:nvSpPr>
        <p:spPr>
          <a:xfrm>
            <a:off x="1325880" y="303580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Every element is deliberately open</a:t>
            </a:r>
            <a:endParaRPr lang="en-US" sz="1900" dirty="0"/>
          </a:p>
        </p:txBody>
      </p:sp>
      <p:sp>
        <p:nvSpPr>
          <p:cNvPr id="11" name="Text 9"/>
          <p:cNvSpPr txBox="1"/>
          <p:nvPr/>
        </p:nvSpPr>
        <p:spPr>
          <a:xfrm>
            <a:off x="1325880" y="344728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Markets, accounts, offerings, targets and owners are left blank by design and filled through the workstreams.</a:t>
            </a:r>
            <a:endParaRPr lang="en-US" sz="1400" dirty="0"/>
          </a:p>
        </p:txBody>
      </p:sp>
      <p:sp>
        <p:nvSpPr>
          <p:cNvPr id="12" name="Shape 10"/>
          <p:cNvSpPr/>
          <p:nvPr/>
        </p:nvSpPr>
        <p:spPr>
          <a:xfrm>
            <a:off x="640080" y="4297680"/>
            <a:ext cx="457200" cy="457200"/>
          </a:xfrm>
          <a:prstGeom prst="ellipse">
            <a:avLst/>
          </a:prstGeom>
          <a:solidFill>
            <a:srgbClr val="1E2761"/>
          </a:solidFill>
          <a:ln/>
        </p:spPr>
      </p:sp>
      <p:sp>
        <p:nvSpPr>
          <p:cNvPr id="13" name="Text 11"/>
          <p:cNvSpPr txBox="1"/>
          <p:nvPr/>
        </p:nvSpPr>
        <p:spPr>
          <a:xfrm>
            <a:off x="640080" y="42976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4" name="Text 12"/>
          <p:cNvSpPr txBox="1"/>
          <p:nvPr/>
        </p:nvSpPr>
        <p:spPr>
          <a:xfrm>
            <a:off x="1325880" y="427024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One cycle, one sign-off</a:t>
            </a:r>
            <a:endParaRPr lang="en-US" sz="1900" dirty="0"/>
          </a:p>
        </p:txBody>
      </p:sp>
      <p:sp>
        <p:nvSpPr>
          <p:cNvPr id="15" name="Text 13"/>
          <p:cNvSpPr txBox="1"/>
          <p:nvPr/>
        </p:nvSpPr>
        <p:spPr>
          <a:xfrm>
            <a:off x="1325880" y="468172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The strategy is treated as a single three-week cycle ending in a decision, not a rolling exercise.</a:t>
            </a:r>
            <a:endParaRPr lang="en-US" sz="1400" dirty="0"/>
          </a:p>
        </p:txBody>
      </p:sp>
      <p:sp>
        <p:nvSpPr>
          <p:cNvPr id="16" name="Shape 14"/>
          <p:cNvSpPr/>
          <p:nvPr/>
        </p:nvSpPr>
        <p:spPr>
          <a:xfrm>
            <a:off x="7863840" y="1783080"/>
            <a:ext cx="3657600" cy="3840480"/>
          </a:xfrm>
          <a:prstGeom prst="roundRect">
            <a:avLst>
              <a:gd name="adj" fmla="val 3000"/>
            </a:avLst>
          </a:prstGeom>
          <a:solidFill>
            <a:srgbClr val="EDF2FA"/>
          </a:solidFill>
          <a:ln/>
        </p:spPr>
      </p:sp>
      <p:sp>
        <p:nvSpPr>
          <p:cNvPr id="17" name="Text 15"/>
          <p:cNvSpPr txBox="1"/>
          <p:nvPr/>
        </p:nvSpPr>
        <p:spPr>
          <a:xfrm>
            <a:off x="8183880" y="2057400"/>
            <a:ext cx="3108960" cy="365760"/>
          </a:xfrm>
          <a:prstGeom prst="rect">
            <a:avLst/>
          </a:prstGeom>
          <a:noFill/>
          <a:ln/>
        </p:spPr>
        <p:txBody>
          <a:bodyPr wrap="square" lIns="0" tIns="0" rIns="0" bIns="0" rtlCol="0" anchor="ctr"/>
          <a:lstStyle/>
          <a:p>
            <a:pPr indent="0" marL="0">
              <a:buNone/>
            </a:pPr>
            <a:r>
              <a:rPr lang="en-US" sz="1700" b="1" dirty="0">
                <a:solidFill>
                  <a:srgbClr val="1E2761"/>
                </a:solidFill>
                <a:latin typeface="Calibri" pitchFamily="34" charset="0"/>
                <a:ea typeface="Calibri" pitchFamily="34" charset="-122"/>
                <a:cs typeface="Calibri" pitchFamily="34" charset="-120"/>
              </a:rPr>
              <a:t>What "done" looks like</a:t>
            </a:r>
            <a:endParaRPr lang="en-US" sz="1700" dirty="0"/>
          </a:p>
        </p:txBody>
      </p:sp>
      <p:sp>
        <p:nvSpPr>
          <p:cNvPr id="18" name="Text 16"/>
          <p:cNvSpPr txBox="1"/>
          <p:nvPr/>
        </p:nvSpPr>
        <p:spPr>
          <a:xfrm>
            <a:off x="8183880" y="2560320"/>
            <a:ext cx="3108960" cy="2743200"/>
          </a:xfrm>
          <a:prstGeom prst="rect">
            <a:avLst/>
          </a:prstGeom>
          <a:noFill/>
          <a:ln/>
        </p:spPr>
        <p:txBody>
          <a:bodyPr wrap="square" lIns="0" tIns="0" rIns="0" bIns="0" rtlCol="0" anchor="ctr"/>
          <a:lstStyle/>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 strategy on one page — the direction</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An initiative register — the work that follows</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 named target account list with owners</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 proposition catalogue with economics</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Revenue targets by account and market</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How this fits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We sit where two strategies meet — and we plug into them rather than run beside them.</a:t>
            </a:r>
            <a:endParaRPr lang="en-US" sz="1450" dirty="0"/>
          </a:p>
        </p:txBody>
      </p:sp>
      <p:sp>
        <p:nvSpPr>
          <p:cNvPr id="4" name="Shape 2"/>
          <p:cNvSpPr/>
          <p:nvPr/>
        </p:nvSpPr>
        <p:spPr>
          <a:xfrm>
            <a:off x="640080" y="1737360"/>
            <a:ext cx="5303520" cy="868680"/>
          </a:xfrm>
          <a:prstGeom prst="roundRect">
            <a:avLst>
              <a:gd name="adj" fmla="val 10526"/>
            </a:avLst>
          </a:prstGeom>
          <a:solidFill>
            <a:srgbClr val="1E2761"/>
          </a:solidFill>
          <a:ln/>
        </p:spPr>
      </p:sp>
      <p:sp>
        <p:nvSpPr>
          <p:cNvPr id="5" name="Text 3"/>
          <p:cNvSpPr txBox="1"/>
          <p:nvPr/>
        </p:nvSpPr>
        <p:spPr>
          <a:xfrm>
            <a:off x="914400" y="1810512"/>
            <a:ext cx="475488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EAI&amp;D portfolio strategy</a:t>
            </a:r>
            <a:endParaRPr lang="en-US" sz="1500" dirty="0"/>
          </a:p>
        </p:txBody>
      </p:sp>
      <p:sp>
        <p:nvSpPr>
          <p:cNvPr id="6" name="Text 4"/>
          <p:cNvSpPr txBox="1"/>
          <p:nvPr/>
        </p:nvSpPr>
        <p:spPr>
          <a:xfrm>
            <a:off x="914400" y="2176272"/>
            <a:ext cx="4754880" cy="36576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Engineering, AI and Data — across every industry we serve</a:t>
            </a:r>
            <a:endParaRPr lang="en-US" sz="1150" dirty="0"/>
          </a:p>
        </p:txBody>
      </p:sp>
      <p:sp>
        <p:nvSpPr>
          <p:cNvPr id="7" name="Shape 5"/>
          <p:cNvSpPr/>
          <p:nvPr/>
        </p:nvSpPr>
        <p:spPr>
          <a:xfrm>
            <a:off x="6217920" y="1737360"/>
            <a:ext cx="5303520" cy="868680"/>
          </a:xfrm>
          <a:prstGeom prst="roundRect">
            <a:avLst>
              <a:gd name="adj" fmla="val 10526"/>
            </a:avLst>
          </a:prstGeom>
          <a:solidFill>
            <a:srgbClr val="3E5C8A"/>
          </a:solidFill>
          <a:ln/>
        </p:spPr>
      </p:sp>
      <p:sp>
        <p:nvSpPr>
          <p:cNvPr id="8" name="Text 6"/>
          <p:cNvSpPr txBox="1"/>
          <p:nvPr/>
        </p:nvSpPr>
        <p:spPr>
          <a:xfrm>
            <a:off x="6492240" y="1810512"/>
            <a:ext cx="475488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FSI industry strategy</a:t>
            </a:r>
            <a:endParaRPr lang="en-US" sz="1500" dirty="0"/>
          </a:p>
        </p:txBody>
      </p:sp>
      <p:sp>
        <p:nvSpPr>
          <p:cNvPr id="9" name="Text 7"/>
          <p:cNvSpPr txBox="1"/>
          <p:nvPr/>
        </p:nvSpPr>
        <p:spPr>
          <a:xfrm>
            <a:off x="6492240" y="2176272"/>
            <a:ext cx="4754880" cy="36576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Financial services — across the whole firm</a:t>
            </a:r>
            <a:endParaRPr lang="en-US" sz="1150" dirty="0"/>
          </a:p>
        </p:txBody>
      </p:sp>
      <p:sp>
        <p:nvSpPr>
          <p:cNvPr id="10" name="Shape 8"/>
          <p:cNvSpPr/>
          <p:nvPr/>
        </p:nvSpPr>
        <p:spPr>
          <a:xfrm>
            <a:off x="3291840" y="2651760"/>
            <a:ext cx="1463040" cy="320040"/>
          </a:xfrm>
          <a:prstGeom prst="line">
            <a:avLst/>
          </a:prstGeom>
          <a:noFill/>
          <a:ln w="19050">
            <a:solidFill>
              <a:srgbClr val="3E5C8A"/>
            </a:solidFill>
            <a:prstDash val="solid"/>
            <a:tailEnd type="triangle"/>
          </a:ln>
        </p:spPr>
      </p:sp>
      <p:sp>
        <p:nvSpPr>
          <p:cNvPr id="11" name="Shape 9"/>
          <p:cNvSpPr/>
          <p:nvPr/>
        </p:nvSpPr>
        <p:spPr>
          <a:xfrm flipH="1">
            <a:off x="7406640" y="2651760"/>
            <a:ext cx="1463040" cy="320040"/>
          </a:xfrm>
          <a:prstGeom prst="line">
            <a:avLst/>
          </a:prstGeom>
          <a:noFill/>
          <a:ln w="19050">
            <a:solidFill>
              <a:srgbClr val="3E5C8A"/>
            </a:solidFill>
            <a:prstDash val="solid"/>
            <a:tailEnd type="triangle"/>
          </a:ln>
        </p:spPr>
      </p:sp>
      <p:sp>
        <p:nvSpPr>
          <p:cNvPr id="12" name="Shape 10"/>
          <p:cNvSpPr/>
          <p:nvPr/>
        </p:nvSpPr>
        <p:spPr>
          <a:xfrm>
            <a:off x="3657600" y="2971800"/>
            <a:ext cx="4846320" cy="658368"/>
          </a:xfrm>
          <a:prstGeom prst="roundRect">
            <a:avLst>
              <a:gd name="adj" fmla="val 13889"/>
            </a:avLst>
          </a:prstGeom>
          <a:solidFill>
            <a:srgbClr val="E4EBF7"/>
          </a:solidFill>
          <a:ln w="15875">
            <a:solidFill>
              <a:srgbClr val="1E2761"/>
            </a:solidFill>
            <a:prstDash val="solid"/>
          </a:ln>
        </p:spPr>
      </p:sp>
      <p:sp>
        <p:nvSpPr>
          <p:cNvPr id="13" name="Text 11"/>
          <p:cNvSpPr txBox="1"/>
          <p:nvPr/>
        </p:nvSpPr>
        <p:spPr>
          <a:xfrm>
            <a:off x="3657600" y="2971800"/>
            <a:ext cx="4846320" cy="658368"/>
          </a:xfrm>
          <a:prstGeom prst="rect">
            <a:avLst/>
          </a:prstGeom>
          <a:noFill/>
          <a:ln/>
        </p:spPr>
        <p:txBody>
          <a:bodyPr wrap="square" lIns="0" tIns="0" rIns="0" bIns="0" rtlCol="0" anchor="ctr"/>
          <a:lstStyle/>
          <a:p>
            <a:pPr algn="ctr" indent="0" marL="0">
              <a:buNone/>
            </a:pPr>
            <a:r>
              <a:rPr lang="en-US" sz="1350" b="1" dirty="0">
                <a:solidFill>
                  <a:srgbClr val="1E2761"/>
                </a:solidFill>
                <a:latin typeface="Calibri" pitchFamily="34" charset="0"/>
                <a:ea typeface="Calibri" pitchFamily="34" charset="-122"/>
                <a:cs typeface="Calibri" pitchFamily="34" charset="-120"/>
              </a:rPr>
              <a:t>EAI&amp;D in financial services — this strategy</a:t>
            </a:r>
            <a:endParaRPr lang="en-US" sz="1350" dirty="0"/>
          </a:p>
        </p:txBody>
      </p:sp>
      <p:sp>
        <p:nvSpPr>
          <p:cNvPr id="14" name="Shape 12"/>
          <p:cNvSpPr/>
          <p:nvPr/>
        </p:nvSpPr>
        <p:spPr>
          <a:xfrm>
            <a:off x="6080760" y="3630168"/>
            <a:ext cx="0" cy="256032"/>
          </a:xfrm>
          <a:prstGeom prst="line">
            <a:avLst/>
          </a:prstGeom>
          <a:noFill/>
          <a:ln w="19050">
            <a:solidFill>
              <a:srgbClr val="3E5C8A"/>
            </a:solidFill>
            <a:prstDash val="solid"/>
            <a:tailEnd type="triangle"/>
          </a:ln>
        </p:spPr>
      </p:sp>
      <p:sp>
        <p:nvSpPr>
          <p:cNvPr id="15" name="Shape 13"/>
          <p:cNvSpPr/>
          <p:nvPr/>
        </p:nvSpPr>
        <p:spPr>
          <a:xfrm>
            <a:off x="640080" y="3931920"/>
            <a:ext cx="3520440" cy="1920240"/>
          </a:xfrm>
          <a:prstGeom prst="roundRect">
            <a:avLst>
              <a:gd name="adj" fmla="val 5714"/>
            </a:avLst>
          </a:prstGeom>
          <a:solidFill>
            <a:srgbClr val="EDF2FA"/>
          </a:solidFill>
          <a:ln/>
        </p:spPr>
      </p:sp>
      <p:sp>
        <p:nvSpPr>
          <p:cNvPr id="16" name="Shape 14"/>
          <p:cNvSpPr/>
          <p:nvPr/>
        </p:nvSpPr>
        <p:spPr>
          <a:xfrm>
            <a:off x="640080" y="3931920"/>
            <a:ext cx="3520440" cy="475488"/>
          </a:xfrm>
          <a:prstGeom prst="rect">
            <a:avLst/>
          </a:prstGeom>
          <a:solidFill>
            <a:srgbClr val="1E2761"/>
          </a:solidFill>
          <a:ln/>
        </p:spPr>
      </p:sp>
      <p:sp>
        <p:nvSpPr>
          <p:cNvPr id="17" name="Text 15"/>
          <p:cNvSpPr txBox="1"/>
          <p:nvPr/>
        </p:nvSpPr>
        <p:spPr>
          <a:xfrm>
            <a:off x="868680" y="3931920"/>
            <a:ext cx="3063240" cy="47548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From the portfolio</a:t>
            </a:r>
            <a:endParaRPr lang="en-US" sz="1300" dirty="0"/>
          </a:p>
        </p:txBody>
      </p:sp>
      <p:sp>
        <p:nvSpPr>
          <p:cNvPr id="18" name="Text 16"/>
          <p:cNvSpPr txBox="1"/>
          <p:nvPr/>
        </p:nvSpPr>
        <p:spPr>
          <a:xfrm>
            <a:off x="868680" y="4526280"/>
            <a:ext cx="3063240" cy="1280160"/>
          </a:xfrm>
          <a:prstGeom prst="rect">
            <a:avLst/>
          </a:prstGeom>
          <a:noFill/>
          <a:ln/>
        </p:spPr>
        <p:txBody>
          <a:bodyPr wrap="square" lIns="0" tIns="0" rIns="0" bIns="0" rtlCol="0" anchor="ctr"/>
          <a:lstStyle/>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Vision and direction of travel</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Delivery model and quality bars</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Alliance framework and partner tiers</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Talent and career model</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Cascaded financial targets</a:t>
            </a:r>
            <a:endParaRPr lang="en-US" sz="1000" dirty="0"/>
          </a:p>
        </p:txBody>
      </p:sp>
      <p:sp>
        <p:nvSpPr>
          <p:cNvPr id="19" name="Shape 17"/>
          <p:cNvSpPr/>
          <p:nvPr/>
        </p:nvSpPr>
        <p:spPr>
          <a:xfrm>
            <a:off x="4325112" y="3931920"/>
            <a:ext cx="3520440" cy="1920240"/>
          </a:xfrm>
          <a:prstGeom prst="roundRect">
            <a:avLst>
              <a:gd name="adj" fmla="val 5714"/>
            </a:avLst>
          </a:prstGeom>
          <a:solidFill>
            <a:srgbClr val="EDF2FA"/>
          </a:solidFill>
          <a:ln/>
        </p:spPr>
      </p:sp>
      <p:sp>
        <p:nvSpPr>
          <p:cNvPr id="20" name="Shape 18"/>
          <p:cNvSpPr/>
          <p:nvPr/>
        </p:nvSpPr>
        <p:spPr>
          <a:xfrm>
            <a:off x="4325112" y="3931920"/>
            <a:ext cx="3520440" cy="475488"/>
          </a:xfrm>
          <a:prstGeom prst="rect">
            <a:avLst/>
          </a:prstGeom>
          <a:solidFill>
            <a:srgbClr val="3E5C8A"/>
          </a:solidFill>
          <a:ln/>
        </p:spPr>
      </p:sp>
      <p:sp>
        <p:nvSpPr>
          <p:cNvPr id="21" name="Text 19"/>
          <p:cNvSpPr txBox="1"/>
          <p:nvPr/>
        </p:nvSpPr>
        <p:spPr>
          <a:xfrm>
            <a:off x="4553712" y="3931920"/>
            <a:ext cx="3063240" cy="47548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From the industry</a:t>
            </a:r>
            <a:endParaRPr lang="en-US" sz="1300" dirty="0"/>
          </a:p>
        </p:txBody>
      </p:sp>
      <p:sp>
        <p:nvSpPr>
          <p:cNvPr id="22" name="Text 20"/>
          <p:cNvSpPr txBox="1"/>
          <p:nvPr/>
        </p:nvSpPr>
        <p:spPr>
          <a:xfrm>
            <a:off x="4553712" y="4526280"/>
            <a:ext cx="3063240" cy="1280160"/>
          </a:xfrm>
          <a:prstGeom prst="rect">
            <a:avLst/>
          </a:prstGeom>
          <a:noFill/>
          <a:ln/>
        </p:spPr>
        <p:txBody>
          <a:bodyPr wrap="square" lIns="0" tIns="0" rIns="0" bIns="0" rtlCol="0" anchor="ctr"/>
          <a:lstStyle/>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The firm’s FSI account list and tiering</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Account leadership and partner mappings</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Industry governance forums and cadence</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The industry eminence programme</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Client relationship plans already in flight</a:t>
            </a:r>
            <a:endParaRPr lang="en-US" sz="1000" dirty="0"/>
          </a:p>
        </p:txBody>
      </p:sp>
      <p:sp>
        <p:nvSpPr>
          <p:cNvPr id="23" name="Shape 21"/>
          <p:cNvSpPr/>
          <p:nvPr/>
        </p:nvSpPr>
        <p:spPr>
          <a:xfrm>
            <a:off x="8010144" y="3931920"/>
            <a:ext cx="3520440" cy="1920240"/>
          </a:xfrm>
          <a:prstGeom prst="roundRect">
            <a:avLst>
              <a:gd name="adj" fmla="val 5714"/>
            </a:avLst>
          </a:prstGeom>
          <a:solidFill>
            <a:srgbClr val="EDF2FA"/>
          </a:solidFill>
          <a:ln/>
        </p:spPr>
      </p:sp>
      <p:sp>
        <p:nvSpPr>
          <p:cNvPr id="24" name="Shape 22"/>
          <p:cNvSpPr/>
          <p:nvPr/>
        </p:nvSpPr>
        <p:spPr>
          <a:xfrm>
            <a:off x="8010144" y="3931920"/>
            <a:ext cx="3520440" cy="475488"/>
          </a:xfrm>
          <a:prstGeom prst="rect">
            <a:avLst/>
          </a:prstGeom>
          <a:solidFill>
            <a:srgbClr val="1E2761"/>
          </a:solidFill>
          <a:ln/>
        </p:spPr>
      </p:sp>
      <p:sp>
        <p:nvSpPr>
          <p:cNvPr id="25" name="Text 23"/>
          <p:cNvSpPr txBox="1"/>
          <p:nvPr/>
        </p:nvSpPr>
        <p:spPr>
          <a:xfrm>
            <a:off x="8238744" y="3931920"/>
            <a:ext cx="3063240" cy="47548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Ours to set</a:t>
            </a:r>
            <a:endParaRPr lang="en-US" sz="1300" dirty="0"/>
          </a:p>
        </p:txBody>
      </p:sp>
      <p:sp>
        <p:nvSpPr>
          <p:cNvPr id="26" name="Text 24"/>
          <p:cNvSpPr txBox="1"/>
          <p:nvPr/>
        </p:nvSpPr>
        <p:spPr>
          <a:xfrm>
            <a:off x="8238744" y="4526280"/>
            <a:ext cx="3063240" cy="1280160"/>
          </a:xfrm>
          <a:prstGeom prst="rect">
            <a:avLst/>
          </a:prstGeom>
          <a:noFill/>
          <a:ln/>
        </p:spPr>
        <p:txBody>
          <a:bodyPr wrap="square" lIns="0" tIns="0" rIns="0" bIns="0" rtlCol="0" anchor="ctr"/>
          <a:lstStyle/>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How our propositions land in those accounts</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Offering economics: construct, ADR, margin</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Sector platform alliances</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FSI capability, certification and hiring</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Our revenue targets by account and offering</a:t>
            </a:r>
            <a:endParaRPr lang="en-US" sz="1000" dirty="0"/>
          </a:p>
        </p:txBody>
      </p:sp>
      <p:sp>
        <p:nvSpPr>
          <p:cNvPr id="27" name="Shape 25"/>
          <p:cNvSpPr/>
          <p:nvPr/>
        </p:nvSpPr>
        <p:spPr>
          <a:xfrm>
            <a:off x="640080" y="5989320"/>
            <a:ext cx="10881360" cy="685800"/>
          </a:xfrm>
          <a:prstGeom prst="roundRect">
            <a:avLst>
              <a:gd name="adj" fmla="val 13333"/>
            </a:avLst>
          </a:prstGeom>
          <a:solidFill>
            <a:srgbClr val="1E2761"/>
          </a:solidFill>
          <a:ln/>
        </p:spPr>
      </p:sp>
      <p:sp>
        <p:nvSpPr>
          <p:cNvPr id="28" name="Text 26"/>
          <p:cNvSpPr txBox="1"/>
          <p:nvPr/>
        </p:nvSpPr>
        <p:spPr>
          <a:xfrm>
            <a:off x="914400" y="5989320"/>
            <a:ext cx="10332720" cy="68580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No parallel machinery: we use the existing account plans, forums and eminence programme, and add the EAI&amp;D layer inside them.</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Who is doing this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strategy development team.</a:t>
            </a:r>
            <a:endParaRPr lang="en-US" sz="1450" dirty="0"/>
          </a:p>
        </p:txBody>
      </p:sp>
      <p:sp>
        <p:nvSpPr>
          <p:cNvPr id="4" name="Shape 2"/>
          <p:cNvSpPr/>
          <p:nvPr/>
        </p:nvSpPr>
        <p:spPr>
          <a:xfrm>
            <a:off x="640080" y="1828800"/>
            <a:ext cx="10881360" cy="1051560"/>
          </a:xfrm>
          <a:prstGeom prst="roundRect">
            <a:avLst>
              <a:gd name="adj" fmla="val 8696"/>
            </a:avLst>
          </a:prstGeom>
          <a:solidFill>
            <a:srgbClr val="1E2761"/>
          </a:solidFill>
          <a:ln/>
        </p:spPr>
      </p:sp>
      <p:sp>
        <p:nvSpPr>
          <p:cNvPr id="5" name="Shape 3"/>
          <p:cNvSpPr/>
          <p:nvPr/>
        </p:nvSpPr>
        <p:spPr>
          <a:xfrm>
            <a:off x="960120" y="2084832"/>
            <a:ext cx="548640" cy="548640"/>
          </a:xfrm>
          <a:prstGeom prst="ellipse">
            <a:avLst/>
          </a:prstGeom>
          <a:solidFill>
            <a:srgbClr val="3E5C8A"/>
          </a:solidFill>
          <a:ln/>
        </p:spPr>
      </p:sp>
      <p:sp>
        <p:nvSpPr>
          <p:cNvPr id="6" name="Text 4"/>
          <p:cNvSpPr txBox="1"/>
          <p:nvPr/>
        </p:nvSpPr>
        <p:spPr>
          <a:xfrm>
            <a:off x="960120" y="2084832"/>
            <a:ext cx="548640" cy="54864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7" name="Text 5"/>
          <p:cNvSpPr txBox="1"/>
          <p:nvPr/>
        </p:nvSpPr>
        <p:spPr>
          <a:xfrm>
            <a:off x="1691640" y="2029968"/>
            <a:ext cx="2926080" cy="36576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Dany</a:t>
            </a:r>
            <a:endParaRPr lang="en-US" sz="2000" dirty="0"/>
          </a:p>
        </p:txBody>
      </p:sp>
      <p:sp>
        <p:nvSpPr>
          <p:cNvPr id="8" name="Text 6"/>
          <p:cNvSpPr txBox="1"/>
          <p:nvPr/>
        </p:nvSpPr>
        <p:spPr>
          <a:xfrm>
            <a:off x="1691640" y="2432304"/>
            <a:ext cx="9418320" cy="36576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Overall lead — owns the cycle, chairs the checkpoints, takes the strategy to sign-off</a:t>
            </a:r>
            <a:endParaRPr lang="en-US" sz="1300" dirty="0"/>
          </a:p>
        </p:txBody>
      </p:sp>
      <p:sp>
        <p:nvSpPr>
          <p:cNvPr id="9" name="Shape 7"/>
          <p:cNvSpPr/>
          <p:nvPr/>
        </p:nvSpPr>
        <p:spPr>
          <a:xfrm>
            <a:off x="640080" y="3108960"/>
            <a:ext cx="3520440" cy="1965960"/>
          </a:xfrm>
          <a:prstGeom prst="roundRect">
            <a:avLst>
              <a:gd name="adj" fmla="val 5581"/>
            </a:avLst>
          </a:prstGeom>
          <a:solidFill>
            <a:srgbClr val="EDF2FA"/>
          </a:solidFill>
          <a:ln/>
        </p:spPr>
      </p:sp>
      <p:sp>
        <p:nvSpPr>
          <p:cNvPr id="10" name="Shape 8"/>
          <p:cNvSpPr/>
          <p:nvPr/>
        </p:nvSpPr>
        <p:spPr>
          <a:xfrm>
            <a:off x="914400" y="3383280"/>
            <a:ext cx="475488" cy="475488"/>
          </a:xfrm>
          <a:prstGeom prst="ellipse">
            <a:avLst/>
          </a:prstGeom>
          <a:solidFill>
            <a:srgbClr val="1E2761"/>
          </a:solidFill>
          <a:ln/>
        </p:spPr>
      </p:sp>
      <p:sp>
        <p:nvSpPr>
          <p:cNvPr id="11" name="Text 9"/>
          <p:cNvSpPr txBox="1"/>
          <p:nvPr/>
        </p:nvSpPr>
        <p:spPr>
          <a:xfrm>
            <a:off x="914400" y="338328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a:t>
            </a:r>
            <a:endParaRPr lang="en-US" sz="1500" dirty="0"/>
          </a:p>
        </p:txBody>
      </p:sp>
      <p:sp>
        <p:nvSpPr>
          <p:cNvPr id="12" name="Text 10"/>
          <p:cNvSpPr txBox="1"/>
          <p:nvPr/>
        </p:nvSpPr>
        <p:spPr>
          <a:xfrm>
            <a:off x="1554480" y="3364992"/>
            <a:ext cx="237744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Tanay</a:t>
            </a:r>
            <a:endParaRPr lang="en-US" sz="1900" dirty="0"/>
          </a:p>
        </p:txBody>
      </p:sp>
      <p:sp>
        <p:nvSpPr>
          <p:cNvPr id="13" name="Text 11"/>
          <p:cNvSpPr txBox="1"/>
          <p:nvPr/>
        </p:nvSpPr>
        <p:spPr>
          <a:xfrm>
            <a:off x="914400" y="3977640"/>
            <a:ext cx="297180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Industry Solutions</a:t>
            </a:r>
            <a:endParaRPr lang="en-US" sz="1400" dirty="0"/>
          </a:p>
        </p:txBody>
      </p:sp>
      <p:sp>
        <p:nvSpPr>
          <p:cNvPr id="14" name="Text 12"/>
          <p:cNvSpPr txBox="1"/>
          <p:nvPr/>
        </p:nvSpPr>
        <p:spPr>
          <a:xfrm>
            <a:off x="914400" y="4315968"/>
            <a:ext cx="2971800" cy="6400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Core-led transformation and core platforms across banking, funds and insurance, full SI</a:t>
            </a:r>
            <a:endParaRPr lang="en-US" sz="1150" dirty="0"/>
          </a:p>
        </p:txBody>
      </p:sp>
      <p:sp>
        <p:nvSpPr>
          <p:cNvPr id="15" name="Shape 13"/>
          <p:cNvSpPr/>
          <p:nvPr/>
        </p:nvSpPr>
        <p:spPr>
          <a:xfrm>
            <a:off x="4325112" y="3108960"/>
            <a:ext cx="3520440" cy="1965960"/>
          </a:xfrm>
          <a:prstGeom prst="roundRect">
            <a:avLst>
              <a:gd name="adj" fmla="val 5581"/>
            </a:avLst>
          </a:prstGeom>
          <a:solidFill>
            <a:srgbClr val="EDF2FA"/>
          </a:solidFill>
          <a:ln/>
        </p:spPr>
      </p:sp>
      <p:sp>
        <p:nvSpPr>
          <p:cNvPr id="16" name="Shape 14"/>
          <p:cNvSpPr/>
          <p:nvPr/>
        </p:nvSpPr>
        <p:spPr>
          <a:xfrm>
            <a:off x="4599432" y="3383280"/>
            <a:ext cx="475488" cy="475488"/>
          </a:xfrm>
          <a:prstGeom prst="ellipse">
            <a:avLst/>
          </a:prstGeom>
          <a:solidFill>
            <a:srgbClr val="3E5C8A"/>
          </a:solidFill>
          <a:ln/>
        </p:spPr>
      </p:sp>
      <p:sp>
        <p:nvSpPr>
          <p:cNvPr id="17" name="Text 15"/>
          <p:cNvSpPr txBox="1"/>
          <p:nvPr/>
        </p:nvSpPr>
        <p:spPr>
          <a:xfrm>
            <a:off x="4599432" y="338328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a:t>
            </a:r>
            <a:endParaRPr lang="en-US" sz="1500" dirty="0"/>
          </a:p>
        </p:txBody>
      </p:sp>
      <p:sp>
        <p:nvSpPr>
          <p:cNvPr id="18" name="Text 16"/>
          <p:cNvSpPr txBox="1"/>
          <p:nvPr/>
        </p:nvSpPr>
        <p:spPr>
          <a:xfrm>
            <a:off x="5239512" y="3364992"/>
            <a:ext cx="237744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Rachel</a:t>
            </a:r>
            <a:endParaRPr lang="en-US" sz="1900" dirty="0"/>
          </a:p>
        </p:txBody>
      </p:sp>
      <p:sp>
        <p:nvSpPr>
          <p:cNvPr id="19" name="Text 17"/>
          <p:cNvSpPr txBox="1"/>
          <p:nvPr/>
        </p:nvSpPr>
        <p:spPr>
          <a:xfrm>
            <a:off x="4599432" y="3977640"/>
            <a:ext cx="297180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AI and Data</a:t>
            </a:r>
            <a:endParaRPr lang="en-US" sz="1400" dirty="0"/>
          </a:p>
        </p:txBody>
      </p:sp>
      <p:sp>
        <p:nvSpPr>
          <p:cNvPr id="20" name="Text 18"/>
          <p:cNvSpPr txBox="1"/>
          <p:nvPr/>
        </p:nvSpPr>
        <p:spPr>
          <a:xfrm>
            <a:off x="4599432" y="4315968"/>
            <a:ext cx="2971800" cy="6400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Enterprise and core AI, use-case activation, data platforms</a:t>
            </a:r>
            <a:endParaRPr lang="en-US" sz="1150" dirty="0"/>
          </a:p>
        </p:txBody>
      </p:sp>
      <p:sp>
        <p:nvSpPr>
          <p:cNvPr id="21" name="Shape 19"/>
          <p:cNvSpPr/>
          <p:nvPr/>
        </p:nvSpPr>
        <p:spPr>
          <a:xfrm>
            <a:off x="8010144" y="3108960"/>
            <a:ext cx="3520440" cy="1965960"/>
          </a:xfrm>
          <a:prstGeom prst="roundRect">
            <a:avLst>
              <a:gd name="adj" fmla="val 5581"/>
            </a:avLst>
          </a:prstGeom>
          <a:solidFill>
            <a:srgbClr val="EDF2FA"/>
          </a:solidFill>
          <a:ln/>
        </p:spPr>
      </p:sp>
      <p:sp>
        <p:nvSpPr>
          <p:cNvPr id="22" name="Shape 20"/>
          <p:cNvSpPr/>
          <p:nvPr/>
        </p:nvSpPr>
        <p:spPr>
          <a:xfrm>
            <a:off x="8284464" y="3383280"/>
            <a:ext cx="475488" cy="475488"/>
          </a:xfrm>
          <a:prstGeom prst="ellipse">
            <a:avLst/>
          </a:prstGeom>
          <a:solidFill>
            <a:srgbClr val="1E2761"/>
          </a:solidFill>
          <a:ln/>
        </p:spPr>
      </p:sp>
      <p:sp>
        <p:nvSpPr>
          <p:cNvPr id="23" name="Text 21"/>
          <p:cNvSpPr txBox="1"/>
          <p:nvPr/>
        </p:nvSpPr>
        <p:spPr>
          <a:xfrm>
            <a:off x="8284464" y="338328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4" name="Text 22"/>
          <p:cNvSpPr txBox="1"/>
          <p:nvPr/>
        </p:nvSpPr>
        <p:spPr>
          <a:xfrm>
            <a:off x="8924544" y="3364992"/>
            <a:ext cx="237744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Clifford</a:t>
            </a:r>
            <a:endParaRPr lang="en-US" sz="1900" dirty="0"/>
          </a:p>
        </p:txBody>
      </p:sp>
      <p:sp>
        <p:nvSpPr>
          <p:cNvPr id="25" name="Text 23"/>
          <p:cNvSpPr txBox="1"/>
          <p:nvPr/>
        </p:nvSpPr>
        <p:spPr>
          <a:xfrm>
            <a:off x="8284464" y="3977640"/>
            <a:ext cx="297180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Engineering</a:t>
            </a:r>
            <a:endParaRPr lang="en-US" sz="1400" dirty="0"/>
          </a:p>
        </p:txBody>
      </p:sp>
      <p:sp>
        <p:nvSpPr>
          <p:cNvPr id="26" name="Text 24"/>
          <p:cNvSpPr txBox="1"/>
          <p:nvPr/>
        </p:nvSpPr>
        <p:spPr>
          <a:xfrm>
            <a:off x="8284464" y="4315968"/>
            <a:ext cx="2971800" cy="6400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Cloud, integration, microservices, API and bespoke build</a:t>
            </a:r>
            <a:endParaRPr lang="en-US" sz="1150" dirty="0"/>
          </a:p>
        </p:txBody>
      </p:sp>
      <p:sp>
        <p:nvSpPr>
          <p:cNvPr id="27" name="Shape 25"/>
          <p:cNvSpPr/>
          <p:nvPr/>
        </p:nvSpPr>
        <p:spPr>
          <a:xfrm>
            <a:off x="640080" y="5257800"/>
            <a:ext cx="10881360" cy="914400"/>
          </a:xfrm>
          <a:prstGeom prst="roundRect">
            <a:avLst>
              <a:gd name="adj" fmla="val 10000"/>
            </a:avLst>
          </a:prstGeom>
          <a:solidFill>
            <a:srgbClr val="1E2761"/>
          </a:solidFill>
          <a:ln/>
        </p:spPr>
      </p:sp>
      <p:sp>
        <p:nvSpPr>
          <p:cNvPr id="28" name="Text 26"/>
          <p:cNvSpPr txBox="1"/>
          <p:nvPr/>
        </p:nvSpPr>
        <p:spPr>
          <a:xfrm>
            <a:off x="914400" y="5257800"/>
            <a:ext cx="10332720" cy="91440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Each lead is a point of contact and a conduit: they take our thinking back into their own offering, test it with the FSI partners and directors there, and bring that view in. Nobody should meet this strategy for the first time when it is finished.</a:t>
            </a:r>
            <a:endParaRPr lang="en-US" sz="1250" dirty="0"/>
          </a:p>
        </p:txBody>
      </p:sp>
      <p:sp>
        <p:nvSpPr>
          <p:cNvPr id="29" name="Text 27"/>
          <p:cNvSpPr txBox="1"/>
          <p:nvPr/>
        </p:nvSpPr>
        <p:spPr>
          <a:xfrm>
            <a:off x="640080" y="6263640"/>
            <a:ext cx="10881360" cy="320040"/>
          </a:xfrm>
          <a:prstGeom prst="rect">
            <a:avLst/>
          </a:prstGeom>
          <a:noFill/>
          <a:ln/>
        </p:spPr>
        <p:txBody>
          <a:bodyPr wrap="square" lIns="0" tIns="0" rIns="0" bIns="0" rtlCol="0" anchor="ctr"/>
          <a:lstStyle/>
          <a:p>
            <a:pPr indent="0" marL="0">
              <a:buNone/>
            </a:pPr>
            <a:r>
              <a:rPr lang="en-US" sz="1150" i="1" dirty="0">
                <a:solidFill>
                  <a:srgbClr val="8792AB"/>
                </a:solidFill>
                <a:latin typeface="Calibri" pitchFamily="34" charset="0"/>
                <a:ea typeface="Calibri" pitchFamily="34" charset="-122"/>
                <a:cs typeface="Calibri" pitchFamily="34" charset="-120"/>
              </a:rPr>
              <a:t>Pillar ownership is assigned from this group at kick-off; wider contributors are pulled in per workstream.</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961120" y="3108960"/>
            <a:ext cx="5120640" cy="5120640"/>
          </a:xfrm>
          <a:prstGeom prst="ellipse">
            <a:avLst/>
          </a:prstGeom>
          <a:solidFill>
            <a:srgbClr val="3E5C8A">
              <a:alpha val="45000"/>
            </a:srgbClr>
          </a:solidFill>
          <a:ln/>
        </p:spPr>
      </p:sp>
      <p:sp>
        <p:nvSpPr>
          <p:cNvPr id="3" name="Text 1"/>
          <p:cNvSpPr txBox="1"/>
          <p:nvPr/>
        </p:nvSpPr>
        <p:spPr>
          <a:xfrm>
            <a:off x="822960" y="1965960"/>
            <a:ext cx="4572000" cy="365760"/>
          </a:xfrm>
          <a:prstGeom prst="rect">
            <a:avLst/>
          </a:prstGeom>
          <a:noFill/>
          <a:ln/>
        </p:spPr>
        <p:txBody>
          <a:bodyPr wrap="square" lIns="0" tIns="0" rIns="0" bIns="0" rtlCol="0" anchor="ctr"/>
          <a:lstStyle/>
          <a:p>
            <a:pPr indent="0" marL="0">
              <a:buNone/>
            </a:pPr>
            <a:r>
              <a:rPr lang="en-US" sz="1300" b="1" spc="200" kern="0" dirty="0">
                <a:solidFill>
                  <a:srgbClr val="9AA7C4"/>
                </a:solidFill>
                <a:latin typeface="Calibri" pitchFamily="34" charset="0"/>
                <a:ea typeface="Calibri" pitchFamily="34" charset="-122"/>
                <a:cs typeface="Calibri" pitchFamily="34" charset="-120"/>
              </a:rPr>
              <a:t>PART TWO</a:t>
            </a:r>
            <a:endParaRPr lang="en-US" sz="1300" dirty="0"/>
          </a:p>
        </p:txBody>
      </p:sp>
      <p:sp>
        <p:nvSpPr>
          <p:cNvPr id="4" name="Text 2"/>
          <p:cNvSpPr txBox="1"/>
          <p:nvPr/>
        </p:nvSpPr>
        <p:spPr>
          <a:xfrm>
            <a:off x="804672" y="2377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The destination</a:t>
            </a:r>
            <a:endParaRPr lang="en-US" sz="3800" dirty="0"/>
          </a:p>
        </p:txBody>
      </p:sp>
      <p:sp>
        <p:nvSpPr>
          <p:cNvPr id="5" name="Text 3"/>
          <p:cNvSpPr txBox="1"/>
          <p:nvPr/>
        </p:nvSpPr>
        <p:spPr>
          <a:xfrm>
            <a:off x="850392" y="3337560"/>
            <a:ext cx="758952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Where we are going, and the rules we hold going in.</a:t>
            </a:r>
            <a:endParaRPr lang="en-US" sz="1500" dirty="0"/>
          </a:p>
        </p:txBody>
      </p:sp>
      <p:sp>
        <p:nvSpPr>
          <p:cNvPr id="6" name="Text 4"/>
          <p:cNvSpPr txBox="1"/>
          <p:nvPr/>
        </p:nvSpPr>
        <p:spPr>
          <a:xfrm>
            <a:off x="850392" y="4023360"/>
            <a:ext cx="7589520" cy="164592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What the vision has to earn</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Three candidate statements</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Principles we hold going in</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the vision has to earn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Six drivers, agreed before the words. Every candidate is tested against them.</a:t>
            </a:r>
            <a:endParaRPr lang="en-US" sz="1450" dirty="0"/>
          </a:p>
        </p:txBody>
      </p:sp>
      <p:sp>
        <p:nvSpPr>
          <p:cNvPr id="4" name="Shape 2"/>
          <p:cNvSpPr/>
          <p:nvPr/>
        </p:nvSpPr>
        <p:spPr>
          <a:xfrm>
            <a:off x="640080" y="1874520"/>
            <a:ext cx="3520440" cy="1783080"/>
          </a:xfrm>
          <a:prstGeom prst="roundRect">
            <a:avLst>
              <a:gd name="adj" fmla="val 6154"/>
            </a:avLst>
          </a:prstGeom>
          <a:solidFill>
            <a:srgbClr val="E4EBF7"/>
          </a:solidFill>
          <a:ln/>
        </p:spPr>
      </p:sp>
      <p:sp>
        <p:nvSpPr>
          <p:cNvPr id="5" name="Shape 3"/>
          <p:cNvSpPr/>
          <p:nvPr/>
        </p:nvSpPr>
        <p:spPr>
          <a:xfrm>
            <a:off x="896112" y="2112264"/>
            <a:ext cx="384048" cy="384048"/>
          </a:xfrm>
          <a:prstGeom prst="ellipse">
            <a:avLst/>
          </a:prstGeom>
          <a:solidFill>
            <a:srgbClr val="1E2761"/>
          </a:solidFill>
          <a:ln/>
        </p:spPr>
      </p:sp>
      <p:sp>
        <p:nvSpPr>
          <p:cNvPr id="6" name="Text 4"/>
          <p:cNvSpPr txBox="1"/>
          <p:nvPr/>
        </p:nvSpPr>
        <p:spPr>
          <a:xfrm>
            <a:off x="896112" y="211226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417320" y="207568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No seams</a:t>
            </a:r>
            <a:endParaRPr lang="en-US" sz="1500" dirty="0"/>
          </a:p>
        </p:txBody>
      </p:sp>
      <p:sp>
        <p:nvSpPr>
          <p:cNvPr id="8" name="Text 6"/>
          <p:cNvSpPr txBox="1"/>
          <p:nvPr/>
        </p:nvSpPr>
        <p:spPr>
          <a:xfrm>
            <a:off x="914400" y="265176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One accountable team across every stream, with our alliances counted as part of what we bring — not a separate arrangement.</a:t>
            </a:r>
            <a:endParaRPr lang="en-US" sz="1150" dirty="0"/>
          </a:p>
        </p:txBody>
      </p:sp>
      <p:sp>
        <p:nvSpPr>
          <p:cNvPr id="9" name="Shape 7"/>
          <p:cNvSpPr/>
          <p:nvPr/>
        </p:nvSpPr>
        <p:spPr>
          <a:xfrm>
            <a:off x="4325112" y="1874520"/>
            <a:ext cx="3520440" cy="1783080"/>
          </a:xfrm>
          <a:prstGeom prst="roundRect">
            <a:avLst>
              <a:gd name="adj" fmla="val 6154"/>
            </a:avLst>
          </a:prstGeom>
          <a:solidFill>
            <a:srgbClr val="EDF2FA"/>
          </a:solidFill>
          <a:ln/>
        </p:spPr>
      </p:sp>
      <p:sp>
        <p:nvSpPr>
          <p:cNvPr id="10" name="Shape 8"/>
          <p:cNvSpPr/>
          <p:nvPr/>
        </p:nvSpPr>
        <p:spPr>
          <a:xfrm>
            <a:off x="4581144" y="2112264"/>
            <a:ext cx="384048" cy="384048"/>
          </a:xfrm>
          <a:prstGeom prst="ellipse">
            <a:avLst/>
          </a:prstGeom>
          <a:solidFill>
            <a:srgbClr val="3E5C8A"/>
          </a:solidFill>
          <a:ln/>
        </p:spPr>
      </p:sp>
      <p:sp>
        <p:nvSpPr>
          <p:cNvPr id="11" name="Text 9"/>
          <p:cNvSpPr txBox="1"/>
          <p:nvPr/>
        </p:nvSpPr>
        <p:spPr>
          <a:xfrm>
            <a:off x="4581144" y="211226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5102352" y="207568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Where others stall</a:t>
            </a:r>
            <a:endParaRPr lang="en-US" sz="1500" dirty="0"/>
          </a:p>
        </p:txBody>
      </p:sp>
      <p:sp>
        <p:nvSpPr>
          <p:cNvPr id="13" name="Text 11"/>
          <p:cNvSpPr txBox="1"/>
          <p:nvPr/>
        </p:nvSpPr>
        <p:spPr>
          <a:xfrm>
            <a:off x="4599432" y="265176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programmes that go sideways in other hands. Said through language, never as carrying or underwriting risk.</a:t>
            </a:r>
            <a:endParaRPr lang="en-US" sz="1150" dirty="0"/>
          </a:p>
        </p:txBody>
      </p:sp>
      <p:sp>
        <p:nvSpPr>
          <p:cNvPr id="14" name="Shape 12"/>
          <p:cNvSpPr/>
          <p:nvPr/>
        </p:nvSpPr>
        <p:spPr>
          <a:xfrm>
            <a:off x="8010144" y="1874520"/>
            <a:ext cx="3520440" cy="1783080"/>
          </a:xfrm>
          <a:prstGeom prst="roundRect">
            <a:avLst>
              <a:gd name="adj" fmla="val 6154"/>
            </a:avLst>
          </a:prstGeom>
          <a:solidFill>
            <a:srgbClr val="E4EBF7"/>
          </a:solidFill>
          <a:ln/>
        </p:spPr>
      </p:sp>
      <p:sp>
        <p:nvSpPr>
          <p:cNvPr id="15" name="Shape 13"/>
          <p:cNvSpPr/>
          <p:nvPr/>
        </p:nvSpPr>
        <p:spPr>
          <a:xfrm>
            <a:off x="8266176" y="2112264"/>
            <a:ext cx="384048" cy="384048"/>
          </a:xfrm>
          <a:prstGeom prst="ellipse">
            <a:avLst/>
          </a:prstGeom>
          <a:solidFill>
            <a:srgbClr val="1E2761"/>
          </a:solidFill>
          <a:ln/>
        </p:spPr>
      </p:sp>
      <p:sp>
        <p:nvSpPr>
          <p:cNvPr id="16" name="Text 14"/>
          <p:cNvSpPr txBox="1"/>
          <p:nvPr/>
        </p:nvSpPr>
        <p:spPr>
          <a:xfrm>
            <a:off x="8266176" y="211226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8787384" y="207568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Speed that holds</a:t>
            </a:r>
            <a:endParaRPr lang="en-US" sz="1500" dirty="0"/>
          </a:p>
        </p:txBody>
      </p:sp>
      <p:sp>
        <p:nvSpPr>
          <p:cNvPr id="18" name="Text 16"/>
          <p:cNvSpPr txBox="1"/>
          <p:nvPr/>
        </p:nvSpPr>
        <p:spPr>
          <a:xfrm>
            <a:off x="8284464" y="265176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Every month a platform is not live is cost carried or revenue missed — but fast only counts if it survives production.</a:t>
            </a:r>
            <a:endParaRPr lang="en-US" sz="1150" dirty="0"/>
          </a:p>
        </p:txBody>
      </p:sp>
      <p:sp>
        <p:nvSpPr>
          <p:cNvPr id="19" name="Shape 17"/>
          <p:cNvSpPr/>
          <p:nvPr/>
        </p:nvSpPr>
        <p:spPr>
          <a:xfrm>
            <a:off x="640080" y="3840480"/>
            <a:ext cx="3520440" cy="1783080"/>
          </a:xfrm>
          <a:prstGeom prst="roundRect">
            <a:avLst>
              <a:gd name="adj" fmla="val 6154"/>
            </a:avLst>
          </a:prstGeom>
          <a:solidFill>
            <a:srgbClr val="EDF2FA"/>
          </a:solidFill>
          <a:ln/>
        </p:spPr>
      </p:sp>
      <p:sp>
        <p:nvSpPr>
          <p:cNvPr id="20" name="Shape 18"/>
          <p:cNvSpPr/>
          <p:nvPr/>
        </p:nvSpPr>
        <p:spPr>
          <a:xfrm>
            <a:off x="896112" y="4078224"/>
            <a:ext cx="384048" cy="384048"/>
          </a:xfrm>
          <a:prstGeom prst="ellipse">
            <a:avLst/>
          </a:prstGeom>
          <a:solidFill>
            <a:srgbClr val="3E5C8A"/>
          </a:solidFill>
          <a:ln/>
        </p:spPr>
      </p:sp>
      <p:sp>
        <p:nvSpPr>
          <p:cNvPr id="21" name="Text 19"/>
          <p:cNvSpPr txBox="1"/>
          <p:nvPr/>
        </p:nvSpPr>
        <p:spPr>
          <a:xfrm>
            <a:off x="896112" y="407822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1417320" y="404164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Outside and in</a:t>
            </a:r>
            <a:endParaRPr lang="en-US" sz="1500" dirty="0"/>
          </a:p>
        </p:txBody>
      </p:sp>
      <p:sp>
        <p:nvSpPr>
          <p:cNvPr id="23" name="Text 21"/>
          <p:cNvSpPr txBox="1"/>
          <p:nvPr/>
        </p:nvSpPr>
        <p:spPr>
          <a:xfrm>
            <a:off x="914400" y="461772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What the institution takes to market, and how it runs inside — smarter operations and better tools for its people.</a:t>
            </a:r>
            <a:endParaRPr lang="en-US" sz="1150" dirty="0"/>
          </a:p>
        </p:txBody>
      </p:sp>
      <p:sp>
        <p:nvSpPr>
          <p:cNvPr id="24" name="Shape 22"/>
          <p:cNvSpPr/>
          <p:nvPr/>
        </p:nvSpPr>
        <p:spPr>
          <a:xfrm>
            <a:off x="4325112" y="3840480"/>
            <a:ext cx="3520440" cy="1783080"/>
          </a:xfrm>
          <a:prstGeom prst="roundRect">
            <a:avLst>
              <a:gd name="adj" fmla="val 6154"/>
            </a:avLst>
          </a:prstGeom>
          <a:solidFill>
            <a:srgbClr val="E4EBF7"/>
          </a:solidFill>
          <a:ln/>
        </p:spPr>
      </p:sp>
      <p:sp>
        <p:nvSpPr>
          <p:cNvPr id="25" name="Shape 23"/>
          <p:cNvSpPr/>
          <p:nvPr/>
        </p:nvSpPr>
        <p:spPr>
          <a:xfrm>
            <a:off x="4581144" y="4078224"/>
            <a:ext cx="384048" cy="384048"/>
          </a:xfrm>
          <a:prstGeom prst="ellipse">
            <a:avLst/>
          </a:prstGeom>
          <a:solidFill>
            <a:srgbClr val="1E2761"/>
          </a:solidFill>
          <a:ln/>
        </p:spPr>
      </p:sp>
      <p:sp>
        <p:nvSpPr>
          <p:cNvPr id="26" name="Text 24"/>
          <p:cNvSpPr txBox="1"/>
          <p:nvPr/>
        </p:nvSpPr>
        <p:spPr>
          <a:xfrm>
            <a:off x="4581144" y="407822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5102352" y="404164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AI in the engine, not on the badge</a:t>
            </a:r>
            <a:endParaRPr lang="en-US" sz="1500" dirty="0"/>
          </a:p>
        </p:txBody>
      </p:sp>
      <p:sp>
        <p:nvSpPr>
          <p:cNvPr id="28" name="Text 26"/>
          <p:cNvSpPr txBox="1"/>
          <p:nvPr/>
        </p:nvSpPr>
        <p:spPr>
          <a:xfrm>
            <a:off x="4599432" y="461772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In what we build and how we deliver. AI-native is oversubscribed; the credibility is in the proof, not the claim.</a:t>
            </a:r>
            <a:endParaRPr lang="en-US" sz="1150" dirty="0"/>
          </a:p>
        </p:txBody>
      </p:sp>
      <p:sp>
        <p:nvSpPr>
          <p:cNvPr id="29" name="Shape 27"/>
          <p:cNvSpPr/>
          <p:nvPr/>
        </p:nvSpPr>
        <p:spPr>
          <a:xfrm>
            <a:off x="8010144" y="3840480"/>
            <a:ext cx="3520440" cy="1783080"/>
          </a:xfrm>
          <a:prstGeom prst="roundRect">
            <a:avLst>
              <a:gd name="adj" fmla="val 6154"/>
            </a:avLst>
          </a:prstGeom>
          <a:solidFill>
            <a:srgbClr val="EDF2FA"/>
          </a:solidFill>
          <a:ln/>
        </p:spPr>
      </p:sp>
      <p:sp>
        <p:nvSpPr>
          <p:cNvPr id="30" name="Shape 28"/>
          <p:cNvSpPr/>
          <p:nvPr/>
        </p:nvSpPr>
        <p:spPr>
          <a:xfrm>
            <a:off x="8266176" y="4078224"/>
            <a:ext cx="384048" cy="384048"/>
          </a:xfrm>
          <a:prstGeom prst="ellipse">
            <a:avLst/>
          </a:prstGeom>
          <a:solidFill>
            <a:srgbClr val="3E5C8A"/>
          </a:solidFill>
          <a:ln/>
        </p:spPr>
      </p:sp>
      <p:sp>
        <p:nvSpPr>
          <p:cNvPr id="31" name="Text 29"/>
          <p:cNvSpPr txBox="1"/>
          <p:nvPr/>
        </p:nvSpPr>
        <p:spPr>
          <a:xfrm>
            <a:off x="8266176" y="407822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2" name="Text 30"/>
          <p:cNvSpPr txBox="1"/>
          <p:nvPr/>
        </p:nvSpPr>
        <p:spPr>
          <a:xfrm>
            <a:off x="8787384" y="404164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All three, or it does not count</a:t>
            </a:r>
            <a:endParaRPr lang="en-US" sz="1500" dirty="0"/>
          </a:p>
        </p:txBody>
      </p:sp>
      <p:sp>
        <p:nvSpPr>
          <p:cNvPr id="33" name="Text 31"/>
          <p:cNvSpPr txBox="1"/>
          <p:nvPr/>
        </p:nvSpPr>
        <p:spPr>
          <a:xfrm>
            <a:off x="8284464" y="461772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Banking, funds and insurance. A statement that only works for banks is a banking strategy, not ours.</a:t>
            </a:r>
            <a:endParaRPr lang="en-US" sz="1150" dirty="0"/>
          </a:p>
        </p:txBody>
      </p:sp>
      <p:sp>
        <p:nvSpPr>
          <p:cNvPr id="34" name="Text 32"/>
          <p:cNvSpPr txBox="1"/>
          <p:nvPr/>
        </p:nvSpPr>
        <p:spPr>
          <a:xfrm>
            <a:off x="640080" y="5897880"/>
            <a:ext cx="10881360" cy="365760"/>
          </a:xfrm>
          <a:prstGeom prst="rect">
            <a:avLst/>
          </a:prstGeom>
          <a:noFill/>
          <a:ln/>
        </p:spPr>
        <p:txBody>
          <a:bodyPr wrap="square" lIns="0" tIns="0" rIns="0" bIns="0" rtlCol="0" anchor="ctr"/>
          <a:lstStyle/>
          <a:p>
            <a:pPr indent="0" marL="0">
              <a:buNone/>
            </a:pPr>
            <a:r>
              <a:rPr lang="en-US" sz="1300" i="1" dirty="0">
                <a:solidFill>
                  <a:srgbClr val="3E5C8A"/>
                </a:solidFill>
                <a:latin typeface="Calibri" pitchFamily="34" charset="0"/>
                <a:ea typeface="Calibri" pitchFamily="34" charset="-122"/>
                <a:cs typeface="Calibri" pitchFamily="34" charset="-120"/>
              </a:rPr>
              <a:t>A statement that drops one of these is not a shorter vision — it is a different one.</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Three candidate statements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All three carry the six drivers. They differ in register and in what the headline claims.</a:t>
            </a:r>
            <a:endParaRPr lang="en-US" sz="1450" dirty="0"/>
          </a:p>
        </p:txBody>
      </p:sp>
      <p:sp>
        <p:nvSpPr>
          <p:cNvPr id="4" name="Shape 2"/>
          <p:cNvSpPr/>
          <p:nvPr/>
        </p:nvSpPr>
        <p:spPr>
          <a:xfrm>
            <a:off x="640080" y="1828800"/>
            <a:ext cx="3520440" cy="3611880"/>
          </a:xfrm>
          <a:prstGeom prst="roundRect">
            <a:avLst>
              <a:gd name="adj" fmla="val 3117"/>
            </a:avLst>
          </a:prstGeom>
          <a:solidFill>
            <a:srgbClr val="E4EBF7"/>
          </a:solidFill>
          <a:ln/>
        </p:spPr>
      </p:sp>
      <p:sp>
        <p:nvSpPr>
          <p:cNvPr id="5" name="Shape 3"/>
          <p:cNvSpPr/>
          <p:nvPr/>
        </p:nvSpPr>
        <p:spPr>
          <a:xfrm>
            <a:off x="914400" y="2057400"/>
            <a:ext cx="420624" cy="420624"/>
          </a:xfrm>
          <a:prstGeom prst="ellipse">
            <a:avLst/>
          </a:prstGeom>
          <a:solidFill>
            <a:srgbClr val="1E2761"/>
          </a:solidFill>
          <a:ln/>
        </p:spPr>
      </p:sp>
      <p:sp>
        <p:nvSpPr>
          <p:cNvPr id="6" name="Text 4"/>
          <p:cNvSpPr txBox="1"/>
          <p:nvPr/>
        </p:nvSpPr>
        <p:spPr>
          <a:xfrm>
            <a:off x="914400" y="20574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7" name="Text 5"/>
          <p:cNvSpPr txBox="1"/>
          <p:nvPr/>
        </p:nvSpPr>
        <p:spPr>
          <a:xfrm>
            <a:off x="1508760" y="2029968"/>
            <a:ext cx="2468880" cy="50292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Complexity, compressed</a:t>
            </a:r>
            <a:endParaRPr lang="en-US" sz="1550" dirty="0"/>
          </a:p>
        </p:txBody>
      </p:sp>
      <p:sp>
        <p:nvSpPr>
          <p:cNvPr id="8" name="Text 6"/>
          <p:cNvSpPr txBox="1"/>
          <p:nvPr/>
        </p:nvSpPr>
        <p:spPr>
          <a:xfrm>
            <a:off x="914400" y="2697480"/>
            <a:ext cx="2971800" cy="1828800"/>
          </a:xfrm>
          <a:prstGeom prst="rect">
            <a:avLst/>
          </a:prstGeom>
          <a:noFill/>
          <a:ln/>
        </p:spPr>
        <p:txBody>
          <a:bodyPr wrap="square" lIns="0" tIns="0" rIns="0" bIns="0" rtlCol="0" anchor="ctr"/>
          <a:lstStyle/>
          <a:p>
            <a:pPr indent="0" marL="0">
              <a:buNone/>
            </a:pPr>
            <a:r>
              <a:rPr lang="en-US" sz="1150" i="1" dirty="0">
                <a:solidFill>
                  <a:srgbClr val="1E2761"/>
                </a:solidFill>
                <a:latin typeface="Calibri" pitchFamily="34" charset="0"/>
                <a:ea typeface="Calibri" pitchFamily="34" charset="-122"/>
                <a:cs typeface="Calibri" pitchFamily="34" charset="-120"/>
              </a:rPr>
              <a:t>“We take on the change financial institutions cannot afford to get wrong — modern platforms for their customers, intelligence and better tools for their people — brought end to end by one accountable team, with the assets and partnerships that compress the path.”</a:t>
            </a:r>
            <a:endParaRPr lang="en-US" sz="1150" dirty="0"/>
          </a:p>
        </p:txBody>
      </p:sp>
      <p:sp>
        <p:nvSpPr>
          <p:cNvPr id="9" name="Text 7"/>
          <p:cNvSpPr txBox="1"/>
          <p:nvPr/>
        </p:nvSpPr>
        <p:spPr>
          <a:xfrm>
            <a:off x="914400" y="4572000"/>
            <a:ext cx="2971800" cy="457200"/>
          </a:xfrm>
          <a:prstGeom prst="rect">
            <a:avLst/>
          </a:prstGeom>
          <a:noFill/>
          <a:ln/>
        </p:spPr>
        <p:txBody>
          <a:bodyPr wrap="square" lIns="0" tIns="0" rIns="0" bIns="0" rtlCol="0" anchor="ctr"/>
          <a:lstStyle/>
          <a:p>
            <a:pPr indent="0" marL="0">
              <a:buNone/>
            </a:pPr>
            <a:r>
              <a:rPr lang="en-US" sz="1150" b="1" dirty="0">
                <a:solidFill>
                  <a:srgbClr val="44506B"/>
                </a:solidFill>
                <a:latin typeface="Calibri" pitchFamily="34" charset="0"/>
                <a:ea typeface="Calibri" pitchFamily="34" charset="-122"/>
                <a:cs typeface="Calibri" pitchFamily="34" charset="-120"/>
              </a:rPr>
              <a:t>Lead candidate.</a:t>
            </a:r>
            <a:endParaRPr lang="en-US" sz="1150" dirty="0"/>
          </a:p>
        </p:txBody>
      </p:sp>
      <p:sp>
        <p:nvSpPr>
          <p:cNvPr id="10" name="Text 8"/>
          <p:cNvSpPr txBox="1"/>
          <p:nvPr/>
        </p:nvSpPr>
        <p:spPr>
          <a:xfrm>
            <a:off x="914400" y="4983480"/>
            <a:ext cx="2971800" cy="41148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Hard programmes and acceleration, in two words.</a:t>
            </a:r>
            <a:endParaRPr lang="en-US" sz="1050" dirty="0"/>
          </a:p>
        </p:txBody>
      </p:sp>
      <p:sp>
        <p:nvSpPr>
          <p:cNvPr id="11" name="Shape 9"/>
          <p:cNvSpPr/>
          <p:nvPr/>
        </p:nvSpPr>
        <p:spPr>
          <a:xfrm>
            <a:off x="4325112" y="1828800"/>
            <a:ext cx="3520440" cy="3611880"/>
          </a:xfrm>
          <a:prstGeom prst="roundRect">
            <a:avLst>
              <a:gd name="adj" fmla="val 3117"/>
            </a:avLst>
          </a:prstGeom>
          <a:solidFill>
            <a:srgbClr val="EDF2FA"/>
          </a:solidFill>
          <a:ln/>
        </p:spPr>
      </p:sp>
      <p:sp>
        <p:nvSpPr>
          <p:cNvPr id="12" name="Shape 10"/>
          <p:cNvSpPr/>
          <p:nvPr/>
        </p:nvSpPr>
        <p:spPr>
          <a:xfrm>
            <a:off x="4599432" y="2057400"/>
            <a:ext cx="420624" cy="420624"/>
          </a:xfrm>
          <a:prstGeom prst="ellipse">
            <a:avLst/>
          </a:prstGeom>
          <a:solidFill>
            <a:srgbClr val="3E5C8A"/>
          </a:solidFill>
          <a:ln/>
        </p:spPr>
      </p:sp>
      <p:sp>
        <p:nvSpPr>
          <p:cNvPr id="13" name="Text 11"/>
          <p:cNvSpPr txBox="1"/>
          <p:nvPr/>
        </p:nvSpPr>
        <p:spPr>
          <a:xfrm>
            <a:off x="4599432" y="20574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14" name="Text 12"/>
          <p:cNvSpPr txBox="1"/>
          <p:nvPr/>
        </p:nvSpPr>
        <p:spPr>
          <a:xfrm>
            <a:off x="5193792" y="2029968"/>
            <a:ext cx="2468880" cy="50292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Complex change, delivered at pace</a:t>
            </a:r>
            <a:endParaRPr lang="en-US" sz="1550" dirty="0"/>
          </a:p>
        </p:txBody>
      </p:sp>
      <p:sp>
        <p:nvSpPr>
          <p:cNvPr id="15" name="Text 13"/>
          <p:cNvSpPr txBox="1"/>
          <p:nvPr/>
        </p:nvSpPr>
        <p:spPr>
          <a:xfrm>
            <a:off x="4599432" y="2697480"/>
            <a:ext cx="2971800" cy="1828800"/>
          </a:xfrm>
          <a:prstGeom prst="rect">
            <a:avLst/>
          </a:prstGeom>
          <a:noFill/>
          <a:ln/>
        </p:spPr>
        <p:txBody>
          <a:bodyPr wrap="square" lIns="0" tIns="0" rIns="0" bIns="0" rtlCol="0" anchor="ctr"/>
          <a:lstStyle/>
          <a:p>
            <a:pPr indent="0" marL="0">
              <a:buNone/>
            </a:pPr>
            <a:r>
              <a:rPr lang="en-US" sz="1150" i="1" dirty="0">
                <a:solidFill>
                  <a:srgbClr val="1E2761"/>
                </a:solidFill>
                <a:latin typeface="Calibri" pitchFamily="34" charset="0"/>
                <a:ea typeface="Calibri" pitchFamily="34" charset="-122"/>
                <a:cs typeface="Calibri" pitchFamily="34" charset="-120"/>
              </a:rPr>
              <a:t>“For the region’s banks, funds and insurers we turn the hardest change into working outcomes — platforms live for their customers, intelligence at work inside — one team across every stream, with the assets and alliances that shorten the path.”</a:t>
            </a:r>
            <a:endParaRPr lang="en-US" sz="1150" dirty="0"/>
          </a:p>
        </p:txBody>
      </p:sp>
      <p:sp>
        <p:nvSpPr>
          <p:cNvPr id="16" name="Text 14"/>
          <p:cNvSpPr txBox="1"/>
          <p:nvPr/>
        </p:nvSpPr>
        <p:spPr>
          <a:xfrm>
            <a:off x="4599432" y="4572000"/>
            <a:ext cx="2971800" cy="457200"/>
          </a:xfrm>
          <a:prstGeom prst="rect">
            <a:avLst/>
          </a:prstGeom>
          <a:noFill/>
          <a:ln/>
        </p:spPr>
        <p:txBody>
          <a:bodyPr wrap="square" lIns="0" tIns="0" rIns="0" bIns="0" rtlCol="0" anchor="ctr"/>
          <a:lstStyle/>
          <a:p>
            <a:pPr indent="0" marL="0">
              <a:buNone/>
            </a:pPr>
            <a:r>
              <a:rPr lang="en-US" sz="1150" b="1" dirty="0">
                <a:solidFill>
                  <a:srgbClr val="44506B"/>
                </a:solidFill>
                <a:latin typeface="Calibri" pitchFamily="34" charset="0"/>
                <a:ea typeface="Calibri" pitchFamily="34" charset="-122"/>
                <a:cs typeface="Calibri" pitchFamily="34" charset="-120"/>
              </a:rPr>
              <a:t>Alternate.</a:t>
            </a:r>
            <a:endParaRPr lang="en-US" sz="1150" dirty="0"/>
          </a:p>
        </p:txBody>
      </p:sp>
      <p:sp>
        <p:nvSpPr>
          <p:cNvPr id="17" name="Text 15"/>
          <p:cNvSpPr txBox="1"/>
          <p:nvPr/>
        </p:nvSpPr>
        <p:spPr>
          <a:xfrm>
            <a:off x="4599432" y="4983480"/>
            <a:ext cx="2971800" cy="41148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Most literal; names the sectors explicitly.</a:t>
            </a:r>
            <a:endParaRPr lang="en-US" sz="1050" dirty="0"/>
          </a:p>
        </p:txBody>
      </p:sp>
      <p:sp>
        <p:nvSpPr>
          <p:cNvPr id="18" name="Shape 16"/>
          <p:cNvSpPr/>
          <p:nvPr/>
        </p:nvSpPr>
        <p:spPr>
          <a:xfrm>
            <a:off x="8010144" y="1828800"/>
            <a:ext cx="3520440" cy="3611880"/>
          </a:xfrm>
          <a:prstGeom prst="roundRect">
            <a:avLst>
              <a:gd name="adj" fmla="val 3117"/>
            </a:avLst>
          </a:prstGeom>
          <a:solidFill>
            <a:srgbClr val="E4EBF7"/>
          </a:solidFill>
          <a:ln/>
        </p:spPr>
      </p:sp>
      <p:sp>
        <p:nvSpPr>
          <p:cNvPr id="19" name="Shape 17"/>
          <p:cNvSpPr/>
          <p:nvPr/>
        </p:nvSpPr>
        <p:spPr>
          <a:xfrm>
            <a:off x="8284464" y="2057400"/>
            <a:ext cx="420624" cy="420624"/>
          </a:xfrm>
          <a:prstGeom prst="ellipse">
            <a:avLst/>
          </a:prstGeom>
          <a:solidFill>
            <a:srgbClr val="1E2761"/>
          </a:solidFill>
          <a:ln/>
        </p:spPr>
      </p:sp>
      <p:sp>
        <p:nvSpPr>
          <p:cNvPr id="20" name="Text 18"/>
          <p:cNvSpPr txBox="1"/>
          <p:nvPr/>
        </p:nvSpPr>
        <p:spPr>
          <a:xfrm>
            <a:off x="8284464" y="20574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1" name="Text 19"/>
          <p:cNvSpPr txBox="1"/>
          <p:nvPr/>
        </p:nvSpPr>
        <p:spPr>
          <a:xfrm>
            <a:off x="8878824" y="2029968"/>
            <a:ext cx="2468880" cy="50292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The hard things, on time</a:t>
            </a:r>
            <a:endParaRPr lang="en-US" sz="1550" dirty="0"/>
          </a:p>
        </p:txBody>
      </p:sp>
      <p:sp>
        <p:nvSpPr>
          <p:cNvPr id="22" name="Text 20"/>
          <p:cNvSpPr txBox="1"/>
          <p:nvPr/>
        </p:nvSpPr>
        <p:spPr>
          <a:xfrm>
            <a:off x="8284464" y="2697480"/>
            <a:ext cx="2971800" cy="1828800"/>
          </a:xfrm>
          <a:prstGeom prst="rect">
            <a:avLst/>
          </a:prstGeom>
          <a:noFill/>
          <a:ln/>
        </p:spPr>
        <p:txBody>
          <a:bodyPr wrap="square" lIns="0" tIns="0" rIns="0" bIns="0" rtlCol="0" anchor="ctr"/>
          <a:lstStyle/>
          <a:p>
            <a:pPr indent="0" marL="0">
              <a:buNone/>
            </a:pPr>
            <a:r>
              <a:rPr lang="en-US" sz="1150" i="1" dirty="0">
                <a:solidFill>
                  <a:srgbClr val="1E2761"/>
                </a:solidFill>
                <a:latin typeface="Calibri" pitchFamily="34" charset="0"/>
                <a:ea typeface="Calibri" pitchFamily="34" charset="-122"/>
                <a:cs typeface="Calibri" pitchFamily="34" charset="-120"/>
              </a:rPr>
              <a:t>“We are the partner for the change that cannot slip — what they take to market and how they run inside — every stream under one accountable team, with proven assets behind it.”</a:t>
            </a:r>
            <a:endParaRPr lang="en-US" sz="1150" dirty="0"/>
          </a:p>
        </p:txBody>
      </p:sp>
      <p:sp>
        <p:nvSpPr>
          <p:cNvPr id="23" name="Text 21"/>
          <p:cNvSpPr txBox="1"/>
          <p:nvPr/>
        </p:nvSpPr>
        <p:spPr>
          <a:xfrm>
            <a:off x="8284464" y="4572000"/>
            <a:ext cx="2971800" cy="457200"/>
          </a:xfrm>
          <a:prstGeom prst="rect">
            <a:avLst/>
          </a:prstGeom>
          <a:noFill/>
          <a:ln/>
        </p:spPr>
        <p:txBody>
          <a:bodyPr wrap="square" lIns="0" tIns="0" rIns="0" bIns="0" rtlCol="0" anchor="ctr"/>
          <a:lstStyle/>
          <a:p>
            <a:pPr indent="0" marL="0">
              <a:buNone/>
            </a:pPr>
            <a:r>
              <a:rPr lang="en-US" sz="1150" b="1" dirty="0">
                <a:solidFill>
                  <a:srgbClr val="44506B"/>
                </a:solidFill>
                <a:latin typeface="Calibri" pitchFamily="34" charset="0"/>
                <a:ea typeface="Calibri" pitchFamily="34" charset="-122"/>
                <a:cs typeface="Calibri" pitchFamily="34" charset="-120"/>
              </a:rPr>
              <a:t>Alternate.</a:t>
            </a:r>
            <a:endParaRPr lang="en-US" sz="1150" dirty="0"/>
          </a:p>
        </p:txBody>
      </p:sp>
      <p:sp>
        <p:nvSpPr>
          <p:cNvPr id="24" name="Text 22"/>
          <p:cNvSpPr txBox="1"/>
          <p:nvPr/>
        </p:nvSpPr>
        <p:spPr>
          <a:xfrm>
            <a:off x="8284464" y="4983480"/>
            <a:ext cx="2971800" cy="41148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Understated; argues against the alternatives, not for us.</a:t>
            </a:r>
            <a:endParaRPr lang="en-US" sz="1050" dirty="0"/>
          </a:p>
        </p:txBody>
      </p:sp>
      <p:sp>
        <p:nvSpPr>
          <p:cNvPr id="25" name="Shape 23"/>
          <p:cNvSpPr/>
          <p:nvPr/>
        </p:nvSpPr>
        <p:spPr>
          <a:xfrm>
            <a:off x="640080" y="5577840"/>
            <a:ext cx="10881360" cy="822960"/>
          </a:xfrm>
          <a:prstGeom prst="roundRect">
            <a:avLst>
              <a:gd name="adj" fmla="val 11111"/>
            </a:avLst>
          </a:prstGeom>
          <a:solidFill>
            <a:srgbClr val="1E2761"/>
          </a:solidFill>
          <a:ln/>
        </p:spPr>
      </p:sp>
      <p:sp>
        <p:nvSpPr>
          <p:cNvPr id="26" name="Text 24"/>
          <p:cNvSpPr txBox="1"/>
          <p:nvPr/>
        </p:nvSpPr>
        <p:spPr>
          <a:xfrm>
            <a:off x="914400" y="5577840"/>
            <a:ext cx="10332720" cy="82296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The test: does the headline alone already exclude an internal team and a lower-cost integrator — and could a competitor lift it word for word?</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Principles we hold going in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Constraints on the answers, agreed before the work starts.</a:t>
            </a:r>
            <a:endParaRPr lang="en-US" sz="1450" dirty="0"/>
          </a:p>
        </p:txBody>
      </p:sp>
      <p:sp>
        <p:nvSpPr>
          <p:cNvPr id="4" name="Shape 2"/>
          <p:cNvSpPr/>
          <p:nvPr/>
        </p:nvSpPr>
        <p:spPr>
          <a:xfrm>
            <a:off x="640080" y="1783080"/>
            <a:ext cx="3520440" cy="1298448"/>
          </a:xfrm>
          <a:prstGeom prst="roundRect">
            <a:avLst>
              <a:gd name="adj" fmla="val 7042"/>
            </a:avLst>
          </a:prstGeom>
          <a:solidFill>
            <a:srgbClr val="EDF2FA"/>
          </a:solidFill>
          <a:ln/>
        </p:spPr>
      </p:sp>
      <p:sp>
        <p:nvSpPr>
          <p:cNvPr id="5" name="Shape 3"/>
          <p:cNvSpPr/>
          <p:nvPr/>
        </p:nvSpPr>
        <p:spPr>
          <a:xfrm>
            <a:off x="868680" y="1965960"/>
            <a:ext cx="347472" cy="347472"/>
          </a:xfrm>
          <a:prstGeom prst="ellipse">
            <a:avLst/>
          </a:prstGeom>
          <a:solidFill>
            <a:srgbClr val="1E2761"/>
          </a:solidFill>
          <a:ln/>
        </p:spPr>
      </p:sp>
      <p:sp>
        <p:nvSpPr>
          <p:cNvPr id="6" name="Text 4"/>
          <p:cNvSpPr txBox="1"/>
          <p:nvPr/>
        </p:nvSpPr>
        <p:spPr>
          <a:xfrm>
            <a:off x="868680" y="196596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353312" y="192938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Integrated, not siloed</a:t>
            </a:r>
            <a:endParaRPr lang="en-US" sz="1350" dirty="0"/>
          </a:p>
        </p:txBody>
      </p:sp>
      <p:sp>
        <p:nvSpPr>
          <p:cNvPr id="8" name="Text 6"/>
          <p:cNvSpPr txBox="1"/>
          <p:nvPr/>
        </p:nvSpPr>
        <p:spPr>
          <a:xfrm>
            <a:off x="896112" y="231343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Cross-pillar propositions are the default catalogue; single-pillar sales are an entry point, not the destination.</a:t>
            </a:r>
            <a:endParaRPr lang="en-US" sz="1000" dirty="0"/>
          </a:p>
        </p:txBody>
      </p:sp>
      <p:sp>
        <p:nvSpPr>
          <p:cNvPr id="9" name="Shape 7"/>
          <p:cNvSpPr/>
          <p:nvPr/>
        </p:nvSpPr>
        <p:spPr>
          <a:xfrm>
            <a:off x="4325112" y="1783080"/>
            <a:ext cx="3520440" cy="1298448"/>
          </a:xfrm>
          <a:prstGeom prst="roundRect">
            <a:avLst>
              <a:gd name="adj" fmla="val 7042"/>
            </a:avLst>
          </a:prstGeom>
          <a:solidFill>
            <a:srgbClr val="EDF2FA"/>
          </a:solidFill>
          <a:ln/>
        </p:spPr>
      </p:sp>
      <p:sp>
        <p:nvSpPr>
          <p:cNvPr id="10" name="Shape 8"/>
          <p:cNvSpPr/>
          <p:nvPr/>
        </p:nvSpPr>
        <p:spPr>
          <a:xfrm>
            <a:off x="4553712" y="1965960"/>
            <a:ext cx="347472" cy="347472"/>
          </a:xfrm>
          <a:prstGeom prst="ellipse">
            <a:avLst/>
          </a:prstGeom>
          <a:solidFill>
            <a:srgbClr val="3E5C8A"/>
          </a:solidFill>
          <a:ln/>
        </p:spPr>
      </p:sp>
      <p:sp>
        <p:nvSpPr>
          <p:cNvPr id="11" name="Text 9"/>
          <p:cNvSpPr txBox="1"/>
          <p:nvPr/>
        </p:nvSpPr>
        <p:spPr>
          <a:xfrm>
            <a:off x="4553712" y="196596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5038344" y="192938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Named accounts, not averages</a:t>
            </a:r>
            <a:endParaRPr lang="en-US" sz="1350" dirty="0"/>
          </a:p>
        </p:txBody>
      </p:sp>
      <p:sp>
        <p:nvSpPr>
          <p:cNvPr id="13" name="Text 11"/>
          <p:cNvSpPr txBox="1"/>
          <p:nvPr/>
        </p:nvSpPr>
        <p:spPr>
          <a:xfrm>
            <a:off x="4581144" y="231343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The output is a specific target list with owners, not a market-size view.</a:t>
            </a:r>
            <a:endParaRPr lang="en-US" sz="1000" dirty="0"/>
          </a:p>
        </p:txBody>
      </p:sp>
      <p:sp>
        <p:nvSpPr>
          <p:cNvPr id="14" name="Shape 12"/>
          <p:cNvSpPr/>
          <p:nvPr/>
        </p:nvSpPr>
        <p:spPr>
          <a:xfrm>
            <a:off x="8010144" y="1783080"/>
            <a:ext cx="3520440" cy="1298448"/>
          </a:xfrm>
          <a:prstGeom prst="roundRect">
            <a:avLst>
              <a:gd name="adj" fmla="val 7042"/>
            </a:avLst>
          </a:prstGeom>
          <a:solidFill>
            <a:srgbClr val="EDF2FA"/>
          </a:solidFill>
          <a:ln/>
        </p:spPr>
      </p:sp>
      <p:sp>
        <p:nvSpPr>
          <p:cNvPr id="15" name="Shape 13"/>
          <p:cNvSpPr/>
          <p:nvPr/>
        </p:nvSpPr>
        <p:spPr>
          <a:xfrm>
            <a:off x="8238744" y="1965960"/>
            <a:ext cx="347472" cy="347472"/>
          </a:xfrm>
          <a:prstGeom prst="ellipse">
            <a:avLst/>
          </a:prstGeom>
          <a:solidFill>
            <a:srgbClr val="1E2761"/>
          </a:solidFill>
          <a:ln/>
        </p:spPr>
      </p:sp>
      <p:sp>
        <p:nvSpPr>
          <p:cNvPr id="16" name="Text 14"/>
          <p:cNvSpPr txBox="1"/>
          <p:nvPr/>
        </p:nvSpPr>
        <p:spPr>
          <a:xfrm>
            <a:off x="8238744" y="196596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8723376" y="192938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Sized and priced</a:t>
            </a:r>
            <a:endParaRPr lang="en-US" sz="1350" dirty="0"/>
          </a:p>
        </p:txBody>
      </p:sp>
      <p:sp>
        <p:nvSpPr>
          <p:cNvPr id="18" name="Text 16"/>
          <p:cNvSpPr txBox="1"/>
          <p:nvPr/>
        </p:nvSpPr>
        <p:spPr>
          <a:xfrm>
            <a:off x="8266176" y="231343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Every proposition carries a buyer, an indicative deal size and a price band.</a:t>
            </a:r>
            <a:endParaRPr lang="en-US" sz="1000" dirty="0"/>
          </a:p>
        </p:txBody>
      </p:sp>
      <p:sp>
        <p:nvSpPr>
          <p:cNvPr id="19" name="Shape 17"/>
          <p:cNvSpPr/>
          <p:nvPr/>
        </p:nvSpPr>
        <p:spPr>
          <a:xfrm>
            <a:off x="640080" y="3246120"/>
            <a:ext cx="3520440" cy="1298448"/>
          </a:xfrm>
          <a:prstGeom prst="roundRect">
            <a:avLst>
              <a:gd name="adj" fmla="val 7042"/>
            </a:avLst>
          </a:prstGeom>
          <a:solidFill>
            <a:srgbClr val="EDF2FA"/>
          </a:solidFill>
          <a:ln/>
        </p:spPr>
      </p:sp>
      <p:sp>
        <p:nvSpPr>
          <p:cNvPr id="20" name="Shape 18"/>
          <p:cNvSpPr/>
          <p:nvPr/>
        </p:nvSpPr>
        <p:spPr>
          <a:xfrm>
            <a:off x="868680" y="3429000"/>
            <a:ext cx="347472" cy="347472"/>
          </a:xfrm>
          <a:prstGeom prst="ellipse">
            <a:avLst/>
          </a:prstGeom>
          <a:solidFill>
            <a:srgbClr val="3E5C8A"/>
          </a:solidFill>
          <a:ln/>
        </p:spPr>
      </p:sp>
      <p:sp>
        <p:nvSpPr>
          <p:cNvPr id="21" name="Text 19"/>
          <p:cNvSpPr txBox="1"/>
          <p:nvPr/>
        </p:nvSpPr>
        <p:spPr>
          <a:xfrm>
            <a:off x="868680" y="342900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1353312" y="339242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Covered by a partner</a:t>
            </a:r>
            <a:endParaRPr lang="en-US" sz="1350" dirty="0"/>
          </a:p>
        </p:txBody>
      </p:sp>
      <p:sp>
        <p:nvSpPr>
          <p:cNvPr id="23" name="Text 21"/>
          <p:cNvSpPr txBox="1"/>
          <p:nvPr/>
        </p:nvSpPr>
        <p:spPr>
          <a:xfrm>
            <a:off x="896112" y="377647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Every priority account has one accountable owner and a defined partner play.</a:t>
            </a:r>
            <a:endParaRPr lang="en-US" sz="1000" dirty="0"/>
          </a:p>
        </p:txBody>
      </p:sp>
      <p:sp>
        <p:nvSpPr>
          <p:cNvPr id="24" name="Shape 22"/>
          <p:cNvSpPr/>
          <p:nvPr/>
        </p:nvSpPr>
        <p:spPr>
          <a:xfrm>
            <a:off x="4325112" y="3246120"/>
            <a:ext cx="3520440" cy="1298448"/>
          </a:xfrm>
          <a:prstGeom prst="roundRect">
            <a:avLst>
              <a:gd name="adj" fmla="val 7042"/>
            </a:avLst>
          </a:prstGeom>
          <a:solidFill>
            <a:srgbClr val="EDF2FA"/>
          </a:solidFill>
          <a:ln/>
        </p:spPr>
      </p:sp>
      <p:sp>
        <p:nvSpPr>
          <p:cNvPr id="25" name="Shape 23"/>
          <p:cNvSpPr/>
          <p:nvPr/>
        </p:nvSpPr>
        <p:spPr>
          <a:xfrm>
            <a:off x="4553712" y="3429000"/>
            <a:ext cx="347472" cy="347472"/>
          </a:xfrm>
          <a:prstGeom prst="ellipse">
            <a:avLst/>
          </a:prstGeom>
          <a:solidFill>
            <a:srgbClr val="1E2761"/>
          </a:solidFill>
          <a:ln/>
        </p:spPr>
      </p:sp>
      <p:sp>
        <p:nvSpPr>
          <p:cNvPr id="26" name="Text 24"/>
          <p:cNvSpPr txBox="1"/>
          <p:nvPr/>
        </p:nvSpPr>
        <p:spPr>
          <a:xfrm>
            <a:off x="4553712" y="342900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5038344" y="339242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Deliverable by design</a:t>
            </a:r>
            <a:endParaRPr lang="en-US" sz="1350" dirty="0"/>
          </a:p>
        </p:txBody>
      </p:sp>
      <p:sp>
        <p:nvSpPr>
          <p:cNvPr id="28" name="Text 26"/>
          <p:cNvSpPr txBox="1"/>
          <p:nvPr/>
        </p:nvSpPr>
        <p:spPr>
          <a:xfrm>
            <a:off x="4581144" y="377647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Nothing enters the catalogue that we cannot staff and deliver to standard.</a:t>
            </a:r>
            <a:endParaRPr lang="en-US" sz="1000" dirty="0"/>
          </a:p>
        </p:txBody>
      </p:sp>
      <p:sp>
        <p:nvSpPr>
          <p:cNvPr id="29" name="Shape 27"/>
          <p:cNvSpPr/>
          <p:nvPr/>
        </p:nvSpPr>
        <p:spPr>
          <a:xfrm>
            <a:off x="8010144" y="3246120"/>
            <a:ext cx="3520440" cy="1298448"/>
          </a:xfrm>
          <a:prstGeom prst="roundRect">
            <a:avLst>
              <a:gd name="adj" fmla="val 7042"/>
            </a:avLst>
          </a:prstGeom>
          <a:solidFill>
            <a:srgbClr val="EDF2FA"/>
          </a:solidFill>
          <a:ln/>
        </p:spPr>
      </p:sp>
      <p:sp>
        <p:nvSpPr>
          <p:cNvPr id="30" name="Shape 28"/>
          <p:cNvSpPr/>
          <p:nvPr/>
        </p:nvSpPr>
        <p:spPr>
          <a:xfrm>
            <a:off x="8238744" y="3429000"/>
            <a:ext cx="347472" cy="347472"/>
          </a:xfrm>
          <a:prstGeom prst="ellipse">
            <a:avLst/>
          </a:prstGeom>
          <a:solidFill>
            <a:srgbClr val="3E5C8A"/>
          </a:solidFill>
          <a:ln/>
        </p:spPr>
      </p:sp>
      <p:sp>
        <p:nvSpPr>
          <p:cNvPr id="31" name="Text 29"/>
          <p:cNvSpPr txBox="1"/>
          <p:nvPr/>
        </p:nvSpPr>
        <p:spPr>
          <a:xfrm>
            <a:off x="8238744" y="342900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2" name="Text 30"/>
          <p:cNvSpPr txBox="1"/>
          <p:nvPr/>
        </p:nvSpPr>
        <p:spPr>
          <a:xfrm>
            <a:off x="8723376" y="339242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Domain-specific, not agnostic</a:t>
            </a:r>
            <a:endParaRPr lang="en-US" sz="1350" dirty="0"/>
          </a:p>
        </p:txBody>
      </p:sp>
      <p:sp>
        <p:nvSpPr>
          <p:cNvPr id="33" name="Text 31"/>
          <p:cNvSpPr txBox="1"/>
          <p:nvPr/>
        </p:nvSpPr>
        <p:spPr>
          <a:xfrm>
            <a:off x="8266176" y="377647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Each FSI sector is specialised and clients expect it: propositions, credentials and CVs speak that sector’s language.</a:t>
            </a:r>
            <a:endParaRPr lang="en-US" sz="1000" dirty="0"/>
          </a:p>
        </p:txBody>
      </p:sp>
      <p:sp>
        <p:nvSpPr>
          <p:cNvPr id="34" name="Shape 32"/>
          <p:cNvSpPr/>
          <p:nvPr/>
        </p:nvSpPr>
        <p:spPr>
          <a:xfrm>
            <a:off x="640080" y="4709160"/>
            <a:ext cx="3520440" cy="1298448"/>
          </a:xfrm>
          <a:prstGeom prst="roundRect">
            <a:avLst>
              <a:gd name="adj" fmla="val 7042"/>
            </a:avLst>
          </a:prstGeom>
          <a:solidFill>
            <a:srgbClr val="EDF2FA"/>
          </a:solidFill>
          <a:ln/>
        </p:spPr>
      </p:sp>
      <p:sp>
        <p:nvSpPr>
          <p:cNvPr id="35" name="Shape 33"/>
          <p:cNvSpPr/>
          <p:nvPr/>
        </p:nvSpPr>
        <p:spPr>
          <a:xfrm>
            <a:off x="868680" y="4892040"/>
            <a:ext cx="347472" cy="347472"/>
          </a:xfrm>
          <a:prstGeom prst="ellipse">
            <a:avLst/>
          </a:prstGeom>
          <a:solidFill>
            <a:srgbClr val="1E2761"/>
          </a:solidFill>
          <a:ln/>
        </p:spPr>
      </p:sp>
      <p:sp>
        <p:nvSpPr>
          <p:cNvPr id="36" name="Text 34"/>
          <p:cNvSpPr txBox="1"/>
          <p:nvPr/>
        </p:nvSpPr>
        <p:spPr>
          <a:xfrm>
            <a:off x="868680" y="489204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7</a:t>
            </a:r>
            <a:endParaRPr lang="en-US" sz="1200" dirty="0"/>
          </a:p>
        </p:txBody>
      </p:sp>
      <p:sp>
        <p:nvSpPr>
          <p:cNvPr id="37" name="Text 35"/>
          <p:cNvSpPr txBox="1"/>
          <p:nvPr/>
        </p:nvSpPr>
        <p:spPr>
          <a:xfrm>
            <a:off x="1353312" y="485546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AI and innovation embedded</a:t>
            </a:r>
            <a:endParaRPr lang="en-US" sz="1350" dirty="0"/>
          </a:p>
        </p:txBody>
      </p:sp>
      <p:sp>
        <p:nvSpPr>
          <p:cNvPr id="38" name="Text 36"/>
          <p:cNvSpPr txBox="1"/>
          <p:nvPr/>
        </p:nvSpPr>
        <p:spPr>
          <a:xfrm>
            <a:off x="896112" y="523951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Not a separate offering: every proposition carries an AI and innovation component by design.</a:t>
            </a:r>
            <a:endParaRPr lang="en-US" sz="1000" dirty="0"/>
          </a:p>
        </p:txBody>
      </p:sp>
      <p:sp>
        <p:nvSpPr>
          <p:cNvPr id="39" name="Shape 37"/>
          <p:cNvSpPr/>
          <p:nvPr/>
        </p:nvSpPr>
        <p:spPr>
          <a:xfrm>
            <a:off x="4325112" y="4709160"/>
            <a:ext cx="3520440" cy="1298448"/>
          </a:xfrm>
          <a:prstGeom prst="roundRect">
            <a:avLst>
              <a:gd name="adj" fmla="val 7042"/>
            </a:avLst>
          </a:prstGeom>
          <a:solidFill>
            <a:srgbClr val="EDF2FA"/>
          </a:solidFill>
          <a:ln/>
        </p:spPr>
      </p:sp>
      <p:sp>
        <p:nvSpPr>
          <p:cNvPr id="40" name="Shape 38"/>
          <p:cNvSpPr/>
          <p:nvPr/>
        </p:nvSpPr>
        <p:spPr>
          <a:xfrm>
            <a:off x="4553712" y="4892040"/>
            <a:ext cx="347472" cy="347472"/>
          </a:xfrm>
          <a:prstGeom prst="ellipse">
            <a:avLst/>
          </a:prstGeom>
          <a:solidFill>
            <a:srgbClr val="3E5C8A"/>
          </a:solidFill>
          <a:ln/>
        </p:spPr>
      </p:sp>
      <p:sp>
        <p:nvSpPr>
          <p:cNvPr id="41" name="Text 39"/>
          <p:cNvSpPr txBox="1"/>
          <p:nvPr/>
        </p:nvSpPr>
        <p:spPr>
          <a:xfrm>
            <a:off x="4553712" y="489204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8</a:t>
            </a:r>
            <a:endParaRPr lang="en-US" sz="1200" dirty="0"/>
          </a:p>
        </p:txBody>
      </p:sp>
      <p:sp>
        <p:nvSpPr>
          <p:cNvPr id="42" name="Text 40"/>
          <p:cNvSpPr txBox="1"/>
          <p:nvPr/>
        </p:nvSpPr>
        <p:spPr>
          <a:xfrm>
            <a:off x="5038344" y="485546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One integrated market team</a:t>
            </a:r>
            <a:endParaRPr lang="en-US" sz="1350" dirty="0"/>
          </a:p>
        </p:txBody>
      </p:sp>
      <p:sp>
        <p:nvSpPr>
          <p:cNvPr id="43" name="Text 41"/>
          <p:cNvSpPr txBox="1"/>
          <p:nvPr/>
        </p:nvSpPr>
        <p:spPr>
          <a:xfrm>
            <a:off x="4581144" y="523951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Every partner and director knows the whole catalogue, reads the signals, positions level one, then pulls in the specialist.</a:t>
            </a:r>
            <a:endParaRPr lang="en-US" sz="1000" dirty="0"/>
          </a:p>
        </p:txBody>
      </p:sp>
      <p:sp>
        <p:nvSpPr>
          <p:cNvPr id="44" name="Shape 42"/>
          <p:cNvSpPr/>
          <p:nvPr/>
        </p:nvSpPr>
        <p:spPr>
          <a:xfrm>
            <a:off x="8010144" y="4709160"/>
            <a:ext cx="3520440" cy="1298448"/>
          </a:xfrm>
          <a:prstGeom prst="roundRect">
            <a:avLst>
              <a:gd name="adj" fmla="val 7042"/>
            </a:avLst>
          </a:prstGeom>
          <a:solidFill>
            <a:srgbClr val="EDF2FA"/>
          </a:solidFill>
          <a:ln/>
        </p:spPr>
      </p:sp>
      <p:sp>
        <p:nvSpPr>
          <p:cNvPr id="45" name="Shape 43"/>
          <p:cNvSpPr/>
          <p:nvPr/>
        </p:nvSpPr>
        <p:spPr>
          <a:xfrm>
            <a:off x="8238744" y="4892040"/>
            <a:ext cx="347472" cy="347472"/>
          </a:xfrm>
          <a:prstGeom prst="ellipse">
            <a:avLst/>
          </a:prstGeom>
          <a:solidFill>
            <a:srgbClr val="1E2761"/>
          </a:solidFill>
          <a:ln/>
        </p:spPr>
      </p:sp>
      <p:sp>
        <p:nvSpPr>
          <p:cNvPr id="46" name="Text 44"/>
          <p:cNvSpPr txBox="1"/>
          <p:nvPr/>
        </p:nvSpPr>
        <p:spPr>
          <a:xfrm>
            <a:off x="8238744" y="489204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9</a:t>
            </a:r>
            <a:endParaRPr lang="en-US" sz="1200" dirty="0"/>
          </a:p>
        </p:txBody>
      </p:sp>
      <p:sp>
        <p:nvSpPr>
          <p:cNvPr id="47" name="Text 45"/>
          <p:cNvSpPr txBox="1"/>
          <p:nvPr/>
        </p:nvSpPr>
        <p:spPr>
          <a:xfrm>
            <a:off x="8723376" y="485546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Show, don’t tell</a:t>
            </a:r>
            <a:endParaRPr lang="en-US" sz="1350" dirty="0"/>
          </a:p>
        </p:txBody>
      </p:sp>
      <p:sp>
        <p:nvSpPr>
          <p:cNvPr id="48" name="Text 46"/>
          <p:cNvSpPr txBox="1"/>
          <p:nvPr/>
        </p:nvSpPr>
        <p:spPr>
          <a:xfrm>
            <a:off x="8266176" y="523951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Pursuits are won with demos, showcases and a story — and proposals are assembled from reusable foundations, not written from scratch.</a:t>
            </a:r>
            <a:endParaRPr lang="en-US" sz="1000" dirty="0"/>
          </a:p>
        </p:txBody>
      </p:sp>
      <p:sp>
        <p:nvSpPr>
          <p:cNvPr id="49" name="Text 47"/>
          <p:cNvSpPr txBox="1"/>
          <p:nvPr/>
        </p:nvSpPr>
        <p:spPr>
          <a:xfrm>
            <a:off x="640080" y="6309360"/>
            <a:ext cx="10881360" cy="365760"/>
          </a:xfrm>
          <a:prstGeom prst="rect">
            <a:avLst/>
          </a:prstGeom>
          <a:noFill/>
          <a:ln/>
        </p:spPr>
        <p:txBody>
          <a:bodyPr wrap="square" lIns="0" tIns="0" rIns="0" bIns="0" rtlCol="0" anchor="ctr"/>
          <a:lstStyle/>
          <a:p>
            <a:pPr indent="0" marL="0">
              <a:buNone/>
            </a:pPr>
            <a:r>
              <a:rPr lang="en-US" sz="1200" i="1" dirty="0">
                <a:solidFill>
                  <a:srgbClr val="3E5C8A"/>
                </a:solidFill>
                <a:latin typeface="Calibri" pitchFamily="34" charset="0"/>
                <a:ea typeface="Calibri" pitchFamily="34" charset="-122"/>
                <a:cs typeface="Calibri" pitchFamily="34" charset="-120"/>
              </a:rPr>
              <a:t>These are the rules the strategy must obey. Anything else remains open.</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961120" y="3108960"/>
            <a:ext cx="5120640" cy="5120640"/>
          </a:xfrm>
          <a:prstGeom prst="ellipse">
            <a:avLst/>
          </a:prstGeom>
          <a:solidFill>
            <a:srgbClr val="3E5C8A">
              <a:alpha val="45000"/>
            </a:srgbClr>
          </a:solidFill>
          <a:ln/>
        </p:spPr>
      </p:sp>
      <p:sp>
        <p:nvSpPr>
          <p:cNvPr id="3" name="Text 1"/>
          <p:cNvSpPr txBox="1"/>
          <p:nvPr/>
        </p:nvSpPr>
        <p:spPr>
          <a:xfrm>
            <a:off x="822960" y="1965960"/>
            <a:ext cx="4572000" cy="365760"/>
          </a:xfrm>
          <a:prstGeom prst="rect">
            <a:avLst/>
          </a:prstGeom>
          <a:noFill/>
          <a:ln/>
        </p:spPr>
        <p:txBody>
          <a:bodyPr wrap="square" lIns="0" tIns="0" rIns="0" bIns="0" rtlCol="0" anchor="ctr"/>
          <a:lstStyle/>
          <a:p>
            <a:pPr indent="0" marL="0">
              <a:buNone/>
            </a:pPr>
            <a:r>
              <a:rPr lang="en-US" sz="1300" b="1" spc="200" kern="0" dirty="0">
                <a:solidFill>
                  <a:srgbClr val="9AA7C4"/>
                </a:solidFill>
                <a:latin typeface="Calibri" pitchFamily="34" charset="0"/>
                <a:ea typeface="Calibri" pitchFamily="34" charset="-122"/>
                <a:cs typeface="Calibri" pitchFamily="34" charset="-120"/>
              </a:rPr>
              <a:t>PART THREE</a:t>
            </a:r>
            <a:endParaRPr lang="en-US" sz="1300" dirty="0"/>
          </a:p>
        </p:txBody>
      </p:sp>
      <p:sp>
        <p:nvSpPr>
          <p:cNvPr id="4" name="Text 2"/>
          <p:cNvSpPr txBox="1"/>
          <p:nvPr/>
        </p:nvSpPr>
        <p:spPr>
          <a:xfrm>
            <a:off x="804672" y="2377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What the strategy must cover</a:t>
            </a:r>
            <a:endParaRPr lang="en-US" sz="3800" dirty="0"/>
          </a:p>
        </p:txBody>
      </p:sp>
      <p:sp>
        <p:nvSpPr>
          <p:cNvPr id="5" name="Text 3"/>
          <p:cNvSpPr txBox="1"/>
          <p:nvPr/>
        </p:nvSpPr>
        <p:spPr>
          <a:xfrm>
            <a:off x="850392" y="3337560"/>
            <a:ext cx="758952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The architecture, then a closer look at each pillar.</a:t>
            </a:r>
            <a:endParaRPr lang="en-US" sz="1500" dirty="0"/>
          </a:p>
        </p:txBody>
      </p:sp>
      <p:sp>
        <p:nvSpPr>
          <p:cNvPr id="6" name="Text 4"/>
          <p:cNvSpPr txBox="1"/>
          <p:nvPr/>
        </p:nvSpPr>
        <p:spPr>
          <a:xfrm>
            <a:off x="850392" y="4023360"/>
            <a:ext cx="7589520" cy="164592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The ambition, four pillars and the discipline</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Markets, tiers and accounts</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Delivery, economics and people</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Alliances and eminence</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The architecture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shape of the strategy we are going to build — not the strategy itself.</a:t>
            </a:r>
            <a:endParaRPr lang="en-US" sz="1450" dirty="0"/>
          </a:p>
        </p:txBody>
      </p:sp>
      <p:sp>
        <p:nvSpPr>
          <p:cNvPr id="4" name="Shape 2"/>
          <p:cNvSpPr/>
          <p:nvPr/>
        </p:nvSpPr>
        <p:spPr>
          <a:xfrm>
            <a:off x="640080" y="1737360"/>
            <a:ext cx="10881360" cy="713232"/>
          </a:xfrm>
          <a:prstGeom prst="roundRect">
            <a:avLst>
              <a:gd name="adj" fmla="val 12821"/>
            </a:avLst>
          </a:prstGeom>
          <a:solidFill>
            <a:srgbClr val="1E2761"/>
          </a:solidFill>
          <a:ln/>
        </p:spPr>
      </p:sp>
      <p:sp>
        <p:nvSpPr>
          <p:cNvPr id="5" name="Text 3"/>
          <p:cNvSpPr txBox="1"/>
          <p:nvPr/>
        </p:nvSpPr>
        <p:spPr>
          <a:xfrm>
            <a:off x="914400" y="1737360"/>
            <a:ext cx="2377440" cy="713232"/>
          </a:xfrm>
          <a:prstGeom prst="rect">
            <a:avLst/>
          </a:prstGeom>
          <a:noFill/>
          <a:ln/>
        </p:spPr>
        <p:txBody>
          <a:bodyPr wrap="square" lIns="0" tIns="0" rIns="0" bIns="0" rtlCol="0" anchor="ctr"/>
          <a:lstStyle/>
          <a:p>
            <a:pPr indent="0" marL="0">
              <a:buNone/>
            </a:pPr>
            <a:r>
              <a:rPr lang="en-US" sz="1300" b="1" spc="150" kern="0" dirty="0">
                <a:solidFill>
                  <a:srgbClr val="CADCFC"/>
                </a:solidFill>
                <a:latin typeface="Calibri" pitchFamily="34" charset="0"/>
                <a:ea typeface="Calibri" pitchFamily="34" charset="-122"/>
                <a:cs typeface="Calibri" pitchFamily="34" charset="-120"/>
              </a:rPr>
              <a:t>THE AMBITION</a:t>
            </a:r>
            <a:endParaRPr lang="en-US" sz="1300" dirty="0"/>
          </a:p>
        </p:txBody>
      </p:sp>
      <p:sp>
        <p:nvSpPr>
          <p:cNvPr id="6" name="Text 4"/>
          <p:cNvSpPr txBox="1"/>
          <p:nvPr/>
        </p:nvSpPr>
        <p:spPr>
          <a:xfrm>
            <a:off x="3383280" y="1737360"/>
            <a:ext cx="7863840" cy="713232"/>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What winning looks like, in numbers, by when</a:t>
            </a:r>
            <a:endParaRPr lang="en-US" sz="1500" dirty="0"/>
          </a:p>
        </p:txBody>
      </p:sp>
      <p:sp>
        <p:nvSpPr>
          <p:cNvPr id="7" name="Shape 5"/>
          <p:cNvSpPr/>
          <p:nvPr/>
        </p:nvSpPr>
        <p:spPr>
          <a:xfrm>
            <a:off x="640080" y="2606040"/>
            <a:ext cx="2596896" cy="2971800"/>
          </a:xfrm>
          <a:prstGeom prst="roundRect">
            <a:avLst>
              <a:gd name="adj" fmla="val 4225"/>
            </a:avLst>
          </a:prstGeom>
          <a:solidFill>
            <a:srgbClr val="E4EBF7"/>
          </a:solidFill>
          <a:ln/>
        </p:spPr>
      </p:sp>
      <p:sp>
        <p:nvSpPr>
          <p:cNvPr id="8" name="Shape 6"/>
          <p:cNvSpPr/>
          <p:nvPr/>
        </p:nvSpPr>
        <p:spPr>
          <a:xfrm>
            <a:off x="640080" y="2606040"/>
            <a:ext cx="2596896" cy="841248"/>
          </a:xfrm>
          <a:prstGeom prst="rect">
            <a:avLst/>
          </a:prstGeom>
          <a:solidFill>
            <a:srgbClr val="1E2761"/>
          </a:solidFill>
          <a:ln/>
        </p:spPr>
      </p:sp>
      <p:sp>
        <p:nvSpPr>
          <p:cNvPr id="9" name="Text 7"/>
          <p:cNvSpPr txBox="1"/>
          <p:nvPr/>
        </p:nvSpPr>
        <p:spPr>
          <a:xfrm>
            <a:off x="841248"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Market</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and clients</a:t>
            </a:r>
            <a:endParaRPr lang="en-US" sz="1500" dirty="0"/>
          </a:p>
        </p:txBody>
      </p:sp>
      <p:sp>
        <p:nvSpPr>
          <p:cNvPr id="10" name="Text 8"/>
          <p:cNvSpPr txBox="1"/>
          <p:nvPr/>
        </p:nvSpPr>
        <p:spPr>
          <a:xfrm>
            <a:off x="841248"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Markets and FSI sectors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Tier one and tier two</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Named target accounts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Offerings and revenue per account</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Coverage and ownership</a:t>
            </a:r>
            <a:endParaRPr lang="en-US" sz="1150" dirty="0"/>
          </a:p>
        </p:txBody>
      </p:sp>
      <p:sp>
        <p:nvSpPr>
          <p:cNvPr id="11" name="Shape 9"/>
          <p:cNvSpPr/>
          <p:nvPr/>
        </p:nvSpPr>
        <p:spPr>
          <a:xfrm>
            <a:off x="3401568" y="2606040"/>
            <a:ext cx="2596896" cy="2971800"/>
          </a:xfrm>
          <a:prstGeom prst="roundRect">
            <a:avLst>
              <a:gd name="adj" fmla="val 4225"/>
            </a:avLst>
          </a:prstGeom>
          <a:solidFill>
            <a:srgbClr val="EDF2FA"/>
          </a:solidFill>
          <a:ln/>
        </p:spPr>
      </p:sp>
      <p:sp>
        <p:nvSpPr>
          <p:cNvPr id="12" name="Shape 10"/>
          <p:cNvSpPr/>
          <p:nvPr/>
        </p:nvSpPr>
        <p:spPr>
          <a:xfrm>
            <a:off x="3401568" y="2606040"/>
            <a:ext cx="2596896" cy="841248"/>
          </a:xfrm>
          <a:prstGeom prst="rect">
            <a:avLst/>
          </a:prstGeom>
          <a:solidFill>
            <a:srgbClr val="3E5C8A"/>
          </a:solidFill>
          <a:ln/>
        </p:spPr>
      </p:sp>
      <p:sp>
        <p:nvSpPr>
          <p:cNvPr id="13" name="Text 11"/>
          <p:cNvSpPr txBox="1"/>
          <p:nvPr/>
        </p:nvSpPr>
        <p:spPr>
          <a:xfrm>
            <a:off x="3602736"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Propositions</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(what we sell)</a:t>
            </a:r>
            <a:endParaRPr lang="en-US" sz="1500" dirty="0"/>
          </a:p>
        </p:txBody>
      </p:sp>
      <p:sp>
        <p:nvSpPr>
          <p:cNvPr id="14" name="Text 12"/>
          <p:cNvSpPr txBox="1"/>
          <p:nvPr/>
        </p:nvSpPr>
        <p:spPr>
          <a:xfrm>
            <a:off x="3602736"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Integrated propositions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Use cases we lead with</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Archetypes and permitted variants</a:t>
            </a:r>
            <a:endParaRPr lang="en-US" sz="1150" dirty="0"/>
          </a:p>
        </p:txBody>
      </p:sp>
      <p:sp>
        <p:nvSpPr>
          <p:cNvPr id="15" name="Shape 13"/>
          <p:cNvSpPr/>
          <p:nvPr/>
        </p:nvSpPr>
        <p:spPr>
          <a:xfrm>
            <a:off x="6163056" y="2606040"/>
            <a:ext cx="2596896" cy="2971800"/>
          </a:xfrm>
          <a:prstGeom prst="roundRect">
            <a:avLst>
              <a:gd name="adj" fmla="val 4225"/>
            </a:avLst>
          </a:prstGeom>
          <a:solidFill>
            <a:srgbClr val="E4EBF7"/>
          </a:solidFill>
          <a:ln/>
        </p:spPr>
      </p:sp>
      <p:sp>
        <p:nvSpPr>
          <p:cNvPr id="16" name="Shape 14"/>
          <p:cNvSpPr/>
          <p:nvPr/>
        </p:nvSpPr>
        <p:spPr>
          <a:xfrm>
            <a:off x="6163056" y="2606040"/>
            <a:ext cx="2596896" cy="841248"/>
          </a:xfrm>
          <a:prstGeom prst="rect">
            <a:avLst/>
          </a:prstGeom>
          <a:solidFill>
            <a:srgbClr val="1E2761"/>
          </a:solidFill>
          <a:ln/>
        </p:spPr>
      </p:sp>
      <p:sp>
        <p:nvSpPr>
          <p:cNvPr id="17" name="Text 15"/>
          <p:cNvSpPr txBox="1"/>
          <p:nvPr/>
        </p:nvSpPr>
        <p:spPr>
          <a:xfrm>
            <a:off x="6364224"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Delivery</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and economics</a:t>
            </a:r>
            <a:endParaRPr lang="en-US" sz="1500" dirty="0"/>
          </a:p>
        </p:txBody>
      </p:sp>
      <p:sp>
        <p:nvSpPr>
          <p:cNvPr id="18" name="Text 16"/>
          <p:cNvSpPr txBox="1"/>
          <p:nvPr/>
        </p:nvSpPr>
        <p:spPr>
          <a:xfrm>
            <a:off x="6364224"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Delivery model, assets and accelerators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Construct, pricing, ADR and margin</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Team, skills, certification and capacity</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Revenue targets</a:t>
            </a:r>
            <a:endParaRPr lang="en-US" sz="1150" dirty="0"/>
          </a:p>
        </p:txBody>
      </p:sp>
      <p:sp>
        <p:nvSpPr>
          <p:cNvPr id="19" name="Shape 17"/>
          <p:cNvSpPr/>
          <p:nvPr/>
        </p:nvSpPr>
        <p:spPr>
          <a:xfrm>
            <a:off x="8924544" y="2606040"/>
            <a:ext cx="2596896" cy="2971800"/>
          </a:xfrm>
          <a:prstGeom prst="roundRect">
            <a:avLst>
              <a:gd name="adj" fmla="val 4225"/>
            </a:avLst>
          </a:prstGeom>
          <a:solidFill>
            <a:srgbClr val="EDF2FA"/>
          </a:solidFill>
          <a:ln/>
        </p:spPr>
      </p:sp>
      <p:sp>
        <p:nvSpPr>
          <p:cNvPr id="20" name="Shape 18"/>
          <p:cNvSpPr/>
          <p:nvPr/>
        </p:nvSpPr>
        <p:spPr>
          <a:xfrm>
            <a:off x="8924544" y="2606040"/>
            <a:ext cx="2596896" cy="841248"/>
          </a:xfrm>
          <a:prstGeom prst="rect">
            <a:avLst/>
          </a:prstGeom>
          <a:solidFill>
            <a:srgbClr val="3E5C8A"/>
          </a:solidFill>
          <a:ln/>
        </p:spPr>
      </p:sp>
      <p:sp>
        <p:nvSpPr>
          <p:cNvPr id="21" name="Text 19"/>
          <p:cNvSpPr txBox="1"/>
          <p:nvPr/>
        </p:nvSpPr>
        <p:spPr>
          <a:xfrm>
            <a:off x="9125712"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Route</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to market</a:t>
            </a:r>
            <a:endParaRPr lang="en-US" sz="1500" dirty="0"/>
          </a:p>
        </p:txBody>
      </p:sp>
      <p:sp>
        <p:nvSpPr>
          <p:cNvPr id="22" name="Text 20"/>
          <p:cNvSpPr txBox="1"/>
          <p:nvPr/>
        </p:nvSpPr>
        <p:spPr>
          <a:xfrm>
            <a:off x="9125712"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Alliances and what they unlock</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Eminence and positioning</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How we differentiate</a:t>
            </a:r>
            <a:endParaRPr lang="en-US" sz="1150" dirty="0"/>
          </a:p>
        </p:txBody>
      </p:sp>
      <p:sp>
        <p:nvSpPr>
          <p:cNvPr id="23" name="Shape 21"/>
          <p:cNvSpPr/>
          <p:nvPr/>
        </p:nvSpPr>
        <p:spPr>
          <a:xfrm>
            <a:off x="640080" y="5715000"/>
            <a:ext cx="10881360" cy="658368"/>
          </a:xfrm>
          <a:prstGeom prst="roundRect">
            <a:avLst>
              <a:gd name="adj" fmla="val 13889"/>
            </a:avLst>
          </a:prstGeom>
          <a:solidFill>
            <a:srgbClr val="1E2761"/>
          </a:solidFill>
          <a:ln/>
        </p:spPr>
      </p:sp>
      <p:sp>
        <p:nvSpPr>
          <p:cNvPr id="24" name="Text 22"/>
          <p:cNvSpPr txBox="1"/>
          <p:nvPr/>
        </p:nvSpPr>
        <p:spPr>
          <a:xfrm>
            <a:off x="914400" y="5715000"/>
            <a:ext cx="2377440" cy="658368"/>
          </a:xfrm>
          <a:prstGeom prst="rect">
            <a:avLst/>
          </a:prstGeom>
          <a:noFill/>
          <a:ln/>
        </p:spPr>
        <p:txBody>
          <a:bodyPr wrap="square" lIns="0" tIns="0" rIns="0" bIns="0" rtlCol="0" anchor="ctr"/>
          <a:lstStyle/>
          <a:p>
            <a:pPr indent="0" marL="0">
              <a:buNone/>
            </a:pPr>
            <a:r>
              <a:rPr lang="en-US" sz="1300" b="1" spc="150" kern="0" dirty="0">
                <a:solidFill>
                  <a:srgbClr val="CADCFC"/>
                </a:solidFill>
                <a:latin typeface="Calibri" pitchFamily="34" charset="0"/>
                <a:ea typeface="Calibri" pitchFamily="34" charset="-122"/>
                <a:cs typeface="Calibri" pitchFamily="34" charset="-120"/>
              </a:rPr>
              <a:t>THE DISCIPLINE</a:t>
            </a:r>
            <a:endParaRPr lang="en-US" sz="1300" dirty="0"/>
          </a:p>
        </p:txBody>
      </p:sp>
      <p:sp>
        <p:nvSpPr>
          <p:cNvPr id="25" name="Text 23"/>
          <p:cNvSpPr txBox="1"/>
          <p:nvPr/>
        </p:nvSpPr>
        <p:spPr>
          <a:xfrm>
            <a:off x="3383280" y="5715000"/>
            <a:ext cx="7863840" cy="658368"/>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Operating rhythm, scorecard and decision rights that keep the four pillars honest</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The industry we mean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financial services is three sectors, and they are not interchangeable.</a:t>
            </a:r>
            <a:endParaRPr lang="en-US" sz="1450" dirty="0"/>
          </a:p>
        </p:txBody>
      </p:sp>
      <p:sp>
        <p:nvSpPr>
          <p:cNvPr id="4" name="Shape 2"/>
          <p:cNvSpPr/>
          <p:nvPr/>
        </p:nvSpPr>
        <p:spPr>
          <a:xfrm>
            <a:off x="640080" y="1828800"/>
            <a:ext cx="3520440" cy="3200400"/>
          </a:xfrm>
          <a:prstGeom prst="roundRect">
            <a:avLst>
              <a:gd name="adj" fmla="val 3429"/>
            </a:avLst>
          </a:prstGeom>
          <a:solidFill>
            <a:srgbClr val="EDF2FA"/>
          </a:solidFill>
          <a:ln/>
        </p:spPr>
      </p:sp>
      <p:sp>
        <p:nvSpPr>
          <p:cNvPr id="5" name="Shape 3"/>
          <p:cNvSpPr/>
          <p:nvPr/>
        </p:nvSpPr>
        <p:spPr>
          <a:xfrm>
            <a:off x="640080" y="1828800"/>
            <a:ext cx="3520440" cy="868680"/>
          </a:xfrm>
          <a:prstGeom prst="rect">
            <a:avLst/>
          </a:prstGeom>
          <a:solidFill>
            <a:srgbClr val="1E2761"/>
          </a:solidFill>
          <a:ln/>
        </p:spPr>
      </p:sp>
      <p:sp>
        <p:nvSpPr>
          <p:cNvPr id="6" name="Text 4"/>
          <p:cNvSpPr txBox="1"/>
          <p:nvPr/>
        </p:nvSpPr>
        <p:spPr>
          <a:xfrm>
            <a:off x="914400" y="1901952"/>
            <a:ext cx="2468880" cy="38404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Banking</a:t>
            </a:r>
            <a:endParaRPr lang="en-US" sz="1900" dirty="0"/>
          </a:p>
        </p:txBody>
      </p:sp>
      <p:sp>
        <p:nvSpPr>
          <p:cNvPr id="7" name="Text 5"/>
          <p:cNvSpPr txBox="1"/>
          <p:nvPr/>
        </p:nvSpPr>
        <p:spPr>
          <a:xfrm>
            <a:off x="914400" y="2286000"/>
            <a:ext cx="2468880" cy="32004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Priority sector</a:t>
            </a:r>
            <a:endParaRPr lang="en-US" sz="1150" dirty="0"/>
          </a:p>
        </p:txBody>
      </p:sp>
      <p:sp>
        <p:nvSpPr>
          <p:cNvPr id="8" name="Text 6"/>
          <p:cNvSpPr txBox="1"/>
          <p:nvPr/>
        </p:nvSpPr>
        <p:spPr>
          <a:xfrm>
            <a:off x="3383280" y="1920240"/>
            <a:ext cx="548640" cy="640080"/>
          </a:xfrm>
          <a:prstGeom prst="rect">
            <a:avLst/>
          </a:prstGeom>
          <a:noFill/>
          <a:ln/>
        </p:spPr>
        <p:txBody>
          <a:bodyPr wrap="square" lIns="0" tIns="0" rIns="0" bIns="0" rtlCol="0" anchor="ctr"/>
          <a:lstStyle/>
          <a:p>
            <a:pPr algn="r" indent="0" marL="0">
              <a:buNone/>
            </a:pPr>
            <a:r>
              <a:rPr lang="en-US" sz="3000" b="1" dirty="0">
                <a:solidFill>
                  <a:srgbClr val="FFFFFF"/>
                </a:solidFill>
                <a:latin typeface="Cambria" pitchFamily="34" charset="0"/>
                <a:ea typeface="Cambria" pitchFamily="34" charset="-122"/>
                <a:cs typeface="Cambria" pitchFamily="34" charset="-120"/>
              </a:rPr>
              <a:t>1</a:t>
            </a:r>
            <a:endParaRPr lang="en-US" sz="3000" dirty="0"/>
          </a:p>
        </p:txBody>
      </p:sp>
      <p:sp>
        <p:nvSpPr>
          <p:cNvPr id="9" name="Text 7"/>
          <p:cNvSpPr txBox="1"/>
          <p:nvPr/>
        </p:nvSpPr>
        <p:spPr>
          <a:xfrm>
            <a:off x="914400" y="2880360"/>
            <a:ext cx="2971800" cy="192024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Retail, corporate and SME banking</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Islamic banking</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Payments and cards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Greenfield and challenger banks</a:t>
            </a:r>
            <a:endParaRPr lang="en-US" sz="1200" dirty="0"/>
          </a:p>
        </p:txBody>
      </p:sp>
      <p:sp>
        <p:nvSpPr>
          <p:cNvPr id="10" name="Shape 8"/>
          <p:cNvSpPr/>
          <p:nvPr/>
        </p:nvSpPr>
        <p:spPr>
          <a:xfrm>
            <a:off x="4325112" y="1828800"/>
            <a:ext cx="3520440" cy="3200400"/>
          </a:xfrm>
          <a:prstGeom prst="roundRect">
            <a:avLst>
              <a:gd name="adj" fmla="val 3429"/>
            </a:avLst>
          </a:prstGeom>
          <a:solidFill>
            <a:srgbClr val="EDF2FA"/>
          </a:solidFill>
          <a:ln/>
        </p:spPr>
      </p:sp>
      <p:sp>
        <p:nvSpPr>
          <p:cNvPr id="11" name="Shape 9"/>
          <p:cNvSpPr/>
          <p:nvPr/>
        </p:nvSpPr>
        <p:spPr>
          <a:xfrm>
            <a:off x="4325112" y="1828800"/>
            <a:ext cx="3520440" cy="868680"/>
          </a:xfrm>
          <a:prstGeom prst="rect">
            <a:avLst/>
          </a:prstGeom>
          <a:solidFill>
            <a:srgbClr val="3E5C8A"/>
          </a:solidFill>
          <a:ln/>
        </p:spPr>
      </p:sp>
      <p:sp>
        <p:nvSpPr>
          <p:cNvPr id="12" name="Text 10"/>
          <p:cNvSpPr txBox="1"/>
          <p:nvPr/>
        </p:nvSpPr>
        <p:spPr>
          <a:xfrm>
            <a:off x="4599432" y="1901952"/>
            <a:ext cx="2468880" cy="38404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Funds</a:t>
            </a:r>
            <a:endParaRPr lang="en-US" sz="1900" dirty="0"/>
          </a:p>
        </p:txBody>
      </p:sp>
      <p:sp>
        <p:nvSpPr>
          <p:cNvPr id="13" name="Text 11"/>
          <p:cNvSpPr txBox="1"/>
          <p:nvPr/>
        </p:nvSpPr>
        <p:spPr>
          <a:xfrm>
            <a:off x="4599432" y="2286000"/>
            <a:ext cx="2468880" cy="32004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Second priority</a:t>
            </a:r>
            <a:endParaRPr lang="en-US" sz="1150" dirty="0"/>
          </a:p>
        </p:txBody>
      </p:sp>
      <p:sp>
        <p:nvSpPr>
          <p:cNvPr id="14" name="Text 12"/>
          <p:cNvSpPr txBox="1"/>
          <p:nvPr/>
        </p:nvSpPr>
        <p:spPr>
          <a:xfrm>
            <a:off x="7068312" y="1920240"/>
            <a:ext cx="548640" cy="640080"/>
          </a:xfrm>
          <a:prstGeom prst="rect">
            <a:avLst/>
          </a:prstGeom>
          <a:noFill/>
          <a:ln/>
        </p:spPr>
        <p:txBody>
          <a:bodyPr wrap="square" lIns="0" tIns="0" rIns="0" bIns="0" rtlCol="0" anchor="ctr"/>
          <a:lstStyle/>
          <a:p>
            <a:pPr algn="r" indent="0" marL="0">
              <a:buNone/>
            </a:pPr>
            <a:r>
              <a:rPr lang="en-US" sz="3000" b="1" dirty="0">
                <a:solidFill>
                  <a:srgbClr val="FFFFFF"/>
                </a:solidFill>
                <a:latin typeface="Cambria" pitchFamily="34" charset="0"/>
                <a:ea typeface="Cambria" pitchFamily="34" charset="-122"/>
                <a:cs typeface="Cambria" pitchFamily="34" charset="-120"/>
              </a:rPr>
              <a:t>2</a:t>
            </a:r>
            <a:endParaRPr lang="en-US" sz="3000" dirty="0"/>
          </a:p>
        </p:txBody>
      </p:sp>
      <p:sp>
        <p:nvSpPr>
          <p:cNvPr id="15" name="Text 13"/>
          <p:cNvSpPr txBox="1"/>
          <p:nvPr/>
        </p:nvSpPr>
        <p:spPr>
          <a:xfrm>
            <a:off x="4599432" y="2880360"/>
            <a:ext cx="2971800" cy="192024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Sovereign wealth funds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National and development funds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Fund and investment management</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Investment operations and custody</a:t>
            </a:r>
            <a:endParaRPr lang="en-US" sz="1200" dirty="0"/>
          </a:p>
        </p:txBody>
      </p:sp>
      <p:sp>
        <p:nvSpPr>
          <p:cNvPr id="16" name="Shape 14"/>
          <p:cNvSpPr/>
          <p:nvPr/>
        </p:nvSpPr>
        <p:spPr>
          <a:xfrm>
            <a:off x="8010144" y="1828800"/>
            <a:ext cx="3520440" cy="3200400"/>
          </a:xfrm>
          <a:prstGeom prst="roundRect">
            <a:avLst>
              <a:gd name="adj" fmla="val 3429"/>
            </a:avLst>
          </a:prstGeom>
          <a:solidFill>
            <a:srgbClr val="EDF2FA"/>
          </a:solidFill>
          <a:ln/>
        </p:spPr>
      </p:sp>
      <p:sp>
        <p:nvSpPr>
          <p:cNvPr id="17" name="Shape 15"/>
          <p:cNvSpPr/>
          <p:nvPr/>
        </p:nvSpPr>
        <p:spPr>
          <a:xfrm>
            <a:off x="8010144" y="1828800"/>
            <a:ext cx="3520440" cy="868680"/>
          </a:xfrm>
          <a:prstGeom prst="rect">
            <a:avLst/>
          </a:prstGeom>
          <a:solidFill>
            <a:srgbClr val="1E2761"/>
          </a:solidFill>
          <a:ln/>
        </p:spPr>
      </p:sp>
      <p:sp>
        <p:nvSpPr>
          <p:cNvPr id="18" name="Text 16"/>
          <p:cNvSpPr txBox="1"/>
          <p:nvPr/>
        </p:nvSpPr>
        <p:spPr>
          <a:xfrm>
            <a:off x="8284464" y="1901952"/>
            <a:ext cx="2468880" cy="38404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Insurance</a:t>
            </a:r>
            <a:endParaRPr lang="en-US" sz="1900" dirty="0"/>
          </a:p>
        </p:txBody>
      </p:sp>
      <p:sp>
        <p:nvSpPr>
          <p:cNvPr id="19" name="Text 17"/>
          <p:cNvSpPr txBox="1"/>
          <p:nvPr/>
        </p:nvSpPr>
        <p:spPr>
          <a:xfrm>
            <a:off x="8284464" y="2286000"/>
            <a:ext cx="2468880" cy="32004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Third priority</a:t>
            </a:r>
            <a:endParaRPr lang="en-US" sz="1150" dirty="0"/>
          </a:p>
        </p:txBody>
      </p:sp>
      <p:sp>
        <p:nvSpPr>
          <p:cNvPr id="20" name="Text 18"/>
          <p:cNvSpPr txBox="1"/>
          <p:nvPr/>
        </p:nvSpPr>
        <p:spPr>
          <a:xfrm>
            <a:off x="10753344" y="1920240"/>
            <a:ext cx="548640" cy="640080"/>
          </a:xfrm>
          <a:prstGeom prst="rect">
            <a:avLst/>
          </a:prstGeom>
          <a:noFill/>
          <a:ln/>
        </p:spPr>
        <p:txBody>
          <a:bodyPr wrap="square" lIns="0" tIns="0" rIns="0" bIns="0" rtlCol="0" anchor="ctr"/>
          <a:lstStyle/>
          <a:p>
            <a:pPr algn="r" indent="0" marL="0">
              <a:buNone/>
            </a:pPr>
            <a:r>
              <a:rPr lang="en-US" sz="3000" b="1" dirty="0">
                <a:solidFill>
                  <a:srgbClr val="FFFFFF"/>
                </a:solidFill>
                <a:latin typeface="Cambria" pitchFamily="34" charset="0"/>
                <a:ea typeface="Cambria" pitchFamily="34" charset="-122"/>
                <a:cs typeface="Cambria" pitchFamily="34" charset="-120"/>
              </a:rPr>
              <a:t>3</a:t>
            </a:r>
            <a:endParaRPr lang="en-US" sz="3000" dirty="0"/>
          </a:p>
        </p:txBody>
      </p:sp>
      <p:sp>
        <p:nvSpPr>
          <p:cNvPr id="21" name="Text 19"/>
          <p:cNvSpPr txBox="1"/>
          <p:nvPr/>
        </p:nvSpPr>
        <p:spPr>
          <a:xfrm>
            <a:off x="8284464" y="2880360"/>
            <a:ext cx="2971800" cy="192024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Life and general insurance</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Takaful</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Health insurance</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Brokers and reinsurance</a:t>
            </a:r>
            <a:endParaRPr lang="en-US" sz="1200" dirty="0"/>
          </a:p>
        </p:txBody>
      </p:sp>
      <p:sp>
        <p:nvSpPr>
          <p:cNvPr id="22" name="Shape 20"/>
          <p:cNvSpPr/>
          <p:nvPr/>
        </p:nvSpPr>
        <p:spPr>
          <a:xfrm>
            <a:off x="640080" y="5212080"/>
            <a:ext cx="10881360" cy="914400"/>
          </a:xfrm>
          <a:prstGeom prst="roundRect">
            <a:avLst>
              <a:gd name="adj" fmla="val 10000"/>
            </a:avLst>
          </a:prstGeom>
          <a:solidFill>
            <a:srgbClr val="1E2761"/>
          </a:solidFill>
          <a:ln/>
        </p:spPr>
      </p:sp>
      <p:sp>
        <p:nvSpPr>
          <p:cNvPr id="23" name="Text 21"/>
          <p:cNvSpPr txBox="1"/>
          <p:nvPr/>
        </p:nvSpPr>
        <p:spPr>
          <a:xfrm>
            <a:off x="914400" y="5212080"/>
            <a:ext cx="10332720" cy="91440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Sector is a dimension throughout: every proposition says which sectors it serves, every account carries its sector, and targets are set by market and sector, not for FSI as a whole.</a:t>
            </a:r>
            <a:endParaRPr lang="en-US" sz="1300" dirty="0"/>
          </a:p>
        </p:txBody>
      </p:sp>
      <p:sp>
        <p:nvSpPr>
          <p:cNvPr id="24" name="Text 22"/>
          <p:cNvSpPr txBox="1"/>
          <p:nvPr/>
        </p:nvSpPr>
        <p:spPr>
          <a:xfrm>
            <a:off x="640080" y="6217920"/>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Segments within each sector are indicative; the cycle confirms which we actually pursue.</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Tier one and tier two</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where the energy goes, and where we stay present without over-investing.</a:t>
            </a:r>
            <a:endParaRPr lang="en-US" sz="1450" dirty="0"/>
          </a:p>
        </p:txBody>
      </p:sp>
      <p:sp>
        <p:nvSpPr>
          <p:cNvPr id="4" name="Shape 2"/>
          <p:cNvSpPr/>
          <p:nvPr/>
        </p:nvSpPr>
        <p:spPr>
          <a:xfrm>
            <a:off x="640080" y="1828800"/>
            <a:ext cx="5303520" cy="3291840"/>
          </a:xfrm>
          <a:prstGeom prst="roundRect">
            <a:avLst>
              <a:gd name="adj" fmla="val 3333"/>
            </a:avLst>
          </a:prstGeom>
          <a:solidFill>
            <a:srgbClr val="EDF2FA"/>
          </a:solidFill>
          <a:ln/>
        </p:spPr>
      </p:sp>
      <p:sp>
        <p:nvSpPr>
          <p:cNvPr id="5" name="Shape 3"/>
          <p:cNvSpPr/>
          <p:nvPr/>
        </p:nvSpPr>
        <p:spPr>
          <a:xfrm>
            <a:off x="640080" y="1828800"/>
            <a:ext cx="5303520" cy="868680"/>
          </a:xfrm>
          <a:prstGeom prst="rect">
            <a:avLst/>
          </a:prstGeom>
          <a:solidFill>
            <a:srgbClr val="1E2761"/>
          </a:solidFill>
          <a:ln/>
        </p:spPr>
      </p:sp>
      <p:sp>
        <p:nvSpPr>
          <p:cNvPr id="6" name="Text 4"/>
          <p:cNvSpPr txBox="1"/>
          <p:nvPr/>
        </p:nvSpPr>
        <p:spPr>
          <a:xfrm>
            <a:off x="914400" y="1901952"/>
            <a:ext cx="475488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Tier one</a:t>
            </a:r>
            <a:endParaRPr lang="en-US" sz="2000" dirty="0"/>
          </a:p>
        </p:txBody>
      </p:sp>
      <p:sp>
        <p:nvSpPr>
          <p:cNvPr id="7" name="Text 5"/>
          <p:cNvSpPr txBox="1"/>
          <p:nvPr/>
        </p:nvSpPr>
        <p:spPr>
          <a:xfrm>
            <a:off x="914400" y="2286000"/>
            <a:ext cx="4754880" cy="32004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Priority geographies and named accounts</a:t>
            </a:r>
            <a:endParaRPr lang="en-US" sz="1200" dirty="0"/>
          </a:p>
        </p:txBody>
      </p:sp>
      <p:sp>
        <p:nvSpPr>
          <p:cNvPr id="8" name="Text 6"/>
          <p:cNvSpPr txBox="1"/>
          <p:nvPr/>
        </p:nvSpPr>
        <p:spPr>
          <a:xfrm>
            <a:off x="914400" y="2880360"/>
            <a:ext cx="4754880" cy="210312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Active, deliberate coverage — people walking the corridors</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Named individual account targets, each with an owner</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Individual revenue targets, gross and net</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Where the metrics, the eminence and the investment concentrate</a:t>
            </a:r>
            <a:endParaRPr lang="en-US" sz="1250" dirty="0"/>
          </a:p>
        </p:txBody>
      </p:sp>
      <p:sp>
        <p:nvSpPr>
          <p:cNvPr id="9" name="Shape 7"/>
          <p:cNvSpPr/>
          <p:nvPr/>
        </p:nvSpPr>
        <p:spPr>
          <a:xfrm>
            <a:off x="6217920" y="1828800"/>
            <a:ext cx="5303520" cy="3291840"/>
          </a:xfrm>
          <a:prstGeom prst="roundRect">
            <a:avLst>
              <a:gd name="adj" fmla="val 3333"/>
            </a:avLst>
          </a:prstGeom>
          <a:solidFill>
            <a:srgbClr val="EDF2FA"/>
          </a:solidFill>
          <a:ln/>
        </p:spPr>
      </p:sp>
      <p:sp>
        <p:nvSpPr>
          <p:cNvPr id="10" name="Shape 8"/>
          <p:cNvSpPr/>
          <p:nvPr/>
        </p:nvSpPr>
        <p:spPr>
          <a:xfrm>
            <a:off x="6217920" y="1828800"/>
            <a:ext cx="5303520" cy="868680"/>
          </a:xfrm>
          <a:prstGeom prst="rect">
            <a:avLst/>
          </a:prstGeom>
          <a:solidFill>
            <a:srgbClr val="3E5C8A"/>
          </a:solidFill>
          <a:ln/>
        </p:spPr>
      </p:sp>
      <p:sp>
        <p:nvSpPr>
          <p:cNvPr id="11" name="Text 9"/>
          <p:cNvSpPr txBox="1"/>
          <p:nvPr/>
        </p:nvSpPr>
        <p:spPr>
          <a:xfrm>
            <a:off x="6492240" y="1901952"/>
            <a:ext cx="475488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Tier two</a:t>
            </a:r>
            <a:endParaRPr lang="en-US" sz="2000" dirty="0"/>
          </a:p>
        </p:txBody>
      </p:sp>
      <p:sp>
        <p:nvSpPr>
          <p:cNvPr id="12" name="Text 10"/>
          <p:cNvSpPr txBox="1"/>
          <p:nvPr/>
        </p:nvSpPr>
        <p:spPr>
          <a:xfrm>
            <a:off x="6492240" y="2286000"/>
            <a:ext cx="4754880" cy="32004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Emerging and reactive</a:t>
            </a:r>
            <a:endParaRPr lang="en-US" sz="1200" dirty="0"/>
          </a:p>
        </p:txBody>
      </p:sp>
      <p:sp>
        <p:nvSpPr>
          <p:cNvPr id="13" name="Text 11"/>
          <p:cNvSpPr txBox="1"/>
          <p:nvPr/>
        </p:nvSpPr>
        <p:spPr>
          <a:xfrm>
            <a:off x="6492240" y="2880360"/>
            <a:ext cx="4754880" cy="210312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Managed as clusters and groups, not one by one</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Reactive pursuit: we respond, we do not camp there</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Light coverage — a named watcher rather than an owner</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Promoted to tier one when the signal justifies it</a:t>
            </a:r>
            <a:endParaRPr lang="en-US" sz="1250" dirty="0"/>
          </a:p>
        </p:txBody>
      </p:sp>
      <p:sp>
        <p:nvSpPr>
          <p:cNvPr id="14" name="Shape 12"/>
          <p:cNvSpPr/>
          <p:nvPr/>
        </p:nvSpPr>
        <p:spPr>
          <a:xfrm>
            <a:off x="640080" y="5303520"/>
            <a:ext cx="10881360" cy="868680"/>
          </a:xfrm>
          <a:prstGeom prst="roundRect">
            <a:avLst>
              <a:gd name="adj" fmla="val 10526"/>
            </a:avLst>
          </a:prstGeom>
          <a:solidFill>
            <a:srgbClr val="1E2761"/>
          </a:solidFill>
          <a:ln/>
        </p:spPr>
      </p:sp>
      <p:sp>
        <p:nvSpPr>
          <p:cNvPr id="15" name="Text 13"/>
          <p:cNvSpPr txBox="1"/>
          <p:nvPr/>
        </p:nvSpPr>
        <p:spPr>
          <a:xfrm>
            <a:off x="914400" y="5303520"/>
            <a:ext cx="10332720" cy="86868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Tiering applies to geographies and to accounts, across all three sectors. Tier two keeps us present in what is emerging without diluting tier one.</a:t>
            </a:r>
            <a:endParaRPr lang="en-US" sz="1300" dirty="0"/>
          </a:p>
        </p:txBody>
      </p:sp>
      <p:sp>
        <p:nvSpPr>
          <p:cNvPr id="16" name="Text 14"/>
          <p:cNvSpPr txBox="1"/>
          <p:nvPr/>
        </p:nvSpPr>
        <p:spPr>
          <a:xfrm>
            <a:off x="640080" y="6263640"/>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Tiering is our prioritisation inside the firm’s single account plan, not a separate account list.</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Integrated by default</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2 · most propositions span the offerings; some genuinely do not, and that is allowed.</a:t>
            </a:r>
            <a:endParaRPr lang="en-US" sz="1450" dirty="0"/>
          </a:p>
        </p:txBody>
      </p:sp>
      <p:sp>
        <p:nvSpPr>
          <p:cNvPr id="4" name="Text 2"/>
          <p:cNvSpPr txBox="1"/>
          <p:nvPr/>
        </p:nvSpPr>
        <p:spPr>
          <a:xfrm>
            <a:off x="5943600" y="1828800"/>
            <a:ext cx="1783080" cy="457200"/>
          </a:xfrm>
          <a:prstGeom prst="rect">
            <a:avLst/>
          </a:prstGeom>
          <a:noFill/>
          <a:ln/>
        </p:spPr>
        <p:txBody>
          <a:bodyPr wrap="square" lIns="0" tIns="0" rIns="0" bIns="0" rtlCol="0" anchor="ctr"/>
          <a:lstStyle/>
          <a:p>
            <a:pPr algn="ctr" indent="0" marL="0">
              <a:buNone/>
            </a:pPr>
            <a:r>
              <a:rPr lang="en-US" sz="1150" b="1" dirty="0">
                <a:solidFill>
                  <a:srgbClr val="1E2761"/>
                </a:solidFill>
                <a:latin typeface="Calibri" pitchFamily="34" charset="0"/>
                <a:ea typeface="Calibri" pitchFamily="34" charset="-122"/>
                <a:cs typeface="Calibri" pitchFamily="34" charset="-120"/>
              </a:rPr>
              <a:t>Industry Solutions</a:t>
            </a:r>
            <a:endParaRPr lang="en-US" sz="1150" dirty="0"/>
          </a:p>
        </p:txBody>
      </p:sp>
      <p:sp>
        <p:nvSpPr>
          <p:cNvPr id="5" name="Text 3"/>
          <p:cNvSpPr txBox="1"/>
          <p:nvPr/>
        </p:nvSpPr>
        <p:spPr>
          <a:xfrm>
            <a:off x="7818120" y="1828800"/>
            <a:ext cx="1783080" cy="457200"/>
          </a:xfrm>
          <a:prstGeom prst="rect">
            <a:avLst/>
          </a:prstGeom>
          <a:noFill/>
          <a:ln/>
        </p:spPr>
        <p:txBody>
          <a:bodyPr wrap="square" lIns="0" tIns="0" rIns="0" bIns="0" rtlCol="0" anchor="ctr"/>
          <a:lstStyle/>
          <a:p>
            <a:pPr algn="ctr" indent="0" marL="0">
              <a:buNone/>
            </a:pPr>
            <a:r>
              <a:rPr lang="en-US" sz="1150" b="1" dirty="0">
                <a:solidFill>
                  <a:srgbClr val="1E2761"/>
                </a:solidFill>
                <a:latin typeface="Calibri" pitchFamily="34" charset="0"/>
                <a:ea typeface="Calibri" pitchFamily="34" charset="-122"/>
                <a:cs typeface="Calibri" pitchFamily="34" charset="-120"/>
              </a:rPr>
              <a:t>AI and Data</a:t>
            </a:r>
            <a:endParaRPr lang="en-US" sz="1150" dirty="0"/>
          </a:p>
        </p:txBody>
      </p:sp>
      <p:sp>
        <p:nvSpPr>
          <p:cNvPr id="6" name="Text 4"/>
          <p:cNvSpPr txBox="1"/>
          <p:nvPr/>
        </p:nvSpPr>
        <p:spPr>
          <a:xfrm>
            <a:off x="9692640" y="1828800"/>
            <a:ext cx="1783080" cy="457200"/>
          </a:xfrm>
          <a:prstGeom prst="rect">
            <a:avLst/>
          </a:prstGeom>
          <a:noFill/>
          <a:ln/>
        </p:spPr>
        <p:txBody>
          <a:bodyPr wrap="square" lIns="0" tIns="0" rIns="0" bIns="0" rtlCol="0" anchor="ctr"/>
          <a:lstStyle/>
          <a:p>
            <a:pPr algn="ctr" indent="0" marL="0">
              <a:buNone/>
            </a:pPr>
            <a:r>
              <a:rPr lang="en-US" sz="1150" b="1" dirty="0">
                <a:solidFill>
                  <a:srgbClr val="1E2761"/>
                </a:solidFill>
                <a:latin typeface="Calibri" pitchFamily="34" charset="0"/>
                <a:ea typeface="Calibri" pitchFamily="34" charset="-122"/>
                <a:cs typeface="Calibri" pitchFamily="34" charset="-120"/>
              </a:rPr>
              <a:t>Engineering</a:t>
            </a:r>
            <a:endParaRPr lang="en-US" sz="1150" dirty="0"/>
          </a:p>
        </p:txBody>
      </p:sp>
      <p:sp>
        <p:nvSpPr>
          <p:cNvPr id="7" name="Shape 5"/>
          <p:cNvSpPr/>
          <p:nvPr/>
        </p:nvSpPr>
        <p:spPr>
          <a:xfrm>
            <a:off x="640080" y="2377440"/>
            <a:ext cx="10881360" cy="566928"/>
          </a:xfrm>
          <a:prstGeom prst="roundRect">
            <a:avLst>
              <a:gd name="adj" fmla="val 12903"/>
            </a:avLst>
          </a:prstGeom>
          <a:solidFill>
            <a:srgbClr val="F2F6FC"/>
          </a:solidFill>
          <a:ln/>
        </p:spPr>
      </p:sp>
      <p:sp>
        <p:nvSpPr>
          <p:cNvPr id="8" name="Text 6"/>
          <p:cNvSpPr txBox="1"/>
          <p:nvPr/>
        </p:nvSpPr>
        <p:spPr>
          <a:xfrm>
            <a:off x="914400" y="2377440"/>
            <a:ext cx="4023360" cy="566928"/>
          </a:xfrm>
          <a:prstGeom prst="rect">
            <a:avLst/>
          </a:prstGeom>
          <a:noFill/>
          <a:ln/>
        </p:spPr>
        <p:txBody>
          <a:bodyPr wrap="square" lIns="0" tIns="0" rIns="0" bIns="0" rtlCol="0" anchor="ctr"/>
          <a:lstStyle/>
          <a:p>
            <a:pPr indent="0" marL="0">
              <a:buNone/>
            </a:pPr>
            <a:r>
              <a:rPr lang="en-US" sz="1250" dirty="0">
                <a:solidFill>
                  <a:srgbClr val="16203A"/>
                </a:solidFill>
                <a:latin typeface="Calibri" pitchFamily="34" charset="0"/>
                <a:ea typeface="Calibri" pitchFamily="34" charset="-122"/>
                <a:cs typeface="Calibri" pitchFamily="34" charset="-120"/>
              </a:rPr>
              <a:t>Greenfield digital bank setup</a:t>
            </a:r>
            <a:endParaRPr lang="en-US" sz="1250" dirty="0"/>
          </a:p>
        </p:txBody>
      </p:sp>
      <p:sp>
        <p:nvSpPr>
          <p:cNvPr id="9" name="Text 7"/>
          <p:cNvSpPr txBox="1"/>
          <p:nvPr/>
        </p:nvSpPr>
        <p:spPr>
          <a:xfrm>
            <a:off x="4937760" y="2377440"/>
            <a:ext cx="1005840" cy="566928"/>
          </a:xfrm>
          <a:prstGeom prst="rect">
            <a:avLst/>
          </a:prstGeom>
          <a:noFill/>
          <a:ln/>
        </p:spPr>
        <p:txBody>
          <a:bodyPr wrap="square" lIns="0" tIns="0" rIns="0" bIns="0" rtlCol="0" anchor="ctr"/>
          <a:lstStyle/>
          <a:p>
            <a:pPr indent="0" marL="0">
              <a:buNone/>
            </a:pPr>
            <a:r>
              <a:rPr lang="en-US" sz="1050" b="1" dirty="0">
                <a:solidFill>
                  <a:srgbClr val="3E5C8A"/>
                </a:solidFill>
                <a:latin typeface="Calibri" pitchFamily="34" charset="0"/>
                <a:ea typeface="Calibri" pitchFamily="34" charset="-122"/>
                <a:cs typeface="Calibri" pitchFamily="34" charset="-120"/>
              </a:rPr>
              <a:t>Integrated</a:t>
            </a:r>
            <a:endParaRPr lang="en-US" sz="1050" dirty="0"/>
          </a:p>
        </p:txBody>
      </p:sp>
      <p:sp>
        <p:nvSpPr>
          <p:cNvPr id="10" name="Shape 8"/>
          <p:cNvSpPr/>
          <p:nvPr/>
        </p:nvSpPr>
        <p:spPr>
          <a:xfrm>
            <a:off x="6693408" y="2523744"/>
            <a:ext cx="274320" cy="274320"/>
          </a:xfrm>
          <a:prstGeom prst="ellipse">
            <a:avLst/>
          </a:prstGeom>
          <a:solidFill>
            <a:srgbClr val="1E2761"/>
          </a:solidFill>
          <a:ln w="15875">
            <a:solidFill>
              <a:srgbClr val="1E2761"/>
            </a:solidFill>
            <a:prstDash val="solid"/>
          </a:ln>
        </p:spPr>
      </p:sp>
      <p:sp>
        <p:nvSpPr>
          <p:cNvPr id="11" name="Shape 9"/>
          <p:cNvSpPr/>
          <p:nvPr/>
        </p:nvSpPr>
        <p:spPr>
          <a:xfrm>
            <a:off x="8567928" y="2523744"/>
            <a:ext cx="274320" cy="274320"/>
          </a:xfrm>
          <a:prstGeom prst="ellipse">
            <a:avLst/>
          </a:prstGeom>
          <a:solidFill>
            <a:srgbClr val="1E2761"/>
          </a:solidFill>
          <a:ln w="15875">
            <a:solidFill>
              <a:srgbClr val="1E2761"/>
            </a:solidFill>
            <a:prstDash val="solid"/>
          </a:ln>
        </p:spPr>
      </p:sp>
      <p:sp>
        <p:nvSpPr>
          <p:cNvPr id="12" name="Shape 10"/>
          <p:cNvSpPr/>
          <p:nvPr/>
        </p:nvSpPr>
        <p:spPr>
          <a:xfrm>
            <a:off x="10442448" y="2523744"/>
            <a:ext cx="274320" cy="274320"/>
          </a:xfrm>
          <a:prstGeom prst="ellipse">
            <a:avLst/>
          </a:prstGeom>
          <a:solidFill>
            <a:srgbClr val="1E2761"/>
          </a:solidFill>
          <a:ln w="15875">
            <a:solidFill>
              <a:srgbClr val="1E2761"/>
            </a:solidFill>
            <a:prstDash val="solid"/>
          </a:ln>
        </p:spPr>
      </p:sp>
      <p:sp>
        <p:nvSpPr>
          <p:cNvPr id="13" name="Shape 11"/>
          <p:cNvSpPr/>
          <p:nvPr/>
        </p:nvSpPr>
        <p:spPr>
          <a:xfrm>
            <a:off x="640080" y="3035808"/>
            <a:ext cx="10881360" cy="566928"/>
          </a:xfrm>
          <a:prstGeom prst="roundRect">
            <a:avLst>
              <a:gd name="adj" fmla="val 12903"/>
            </a:avLst>
          </a:prstGeom>
          <a:solidFill>
            <a:srgbClr val="EDF2FA"/>
          </a:solidFill>
          <a:ln/>
        </p:spPr>
      </p:sp>
      <p:sp>
        <p:nvSpPr>
          <p:cNvPr id="14" name="Text 12"/>
          <p:cNvSpPr txBox="1"/>
          <p:nvPr/>
        </p:nvSpPr>
        <p:spPr>
          <a:xfrm>
            <a:off x="914400" y="3035808"/>
            <a:ext cx="4023360" cy="566928"/>
          </a:xfrm>
          <a:prstGeom prst="rect">
            <a:avLst/>
          </a:prstGeom>
          <a:noFill/>
          <a:ln/>
        </p:spPr>
        <p:txBody>
          <a:bodyPr wrap="square" lIns="0" tIns="0" rIns="0" bIns="0" rtlCol="0" anchor="ctr"/>
          <a:lstStyle/>
          <a:p>
            <a:pPr indent="0" marL="0">
              <a:buNone/>
            </a:pPr>
            <a:r>
              <a:rPr lang="en-US" sz="1250" dirty="0">
                <a:solidFill>
                  <a:srgbClr val="16203A"/>
                </a:solidFill>
                <a:latin typeface="Calibri" pitchFamily="34" charset="0"/>
                <a:ea typeface="Calibri" pitchFamily="34" charset="-122"/>
                <a:cs typeface="Calibri" pitchFamily="34" charset="-120"/>
              </a:rPr>
              <a:t>Core modernisation and migration</a:t>
            </a:r>
            <a:endParaRPr lang="en-US" sz="1250" dirty="0"/>
          </a:p>
        </p:txBody>
      </p:sp>
      <p:sp>
        <p:nvSpPr>
          <p:cNvPr id="15" name="Text 13"/>
          <p:cNvSpPr txBox="1"/>
          <p:nvPr/>
        </p:nvSpPr>
        <p:spPr>
          <a:xfrm>
            <a:off x="4937760" y="3035808"/>
            <a:ext cx="1005840" cy="566928"/>
          </a:xfrm>
          <a:prstGeom prst="rect">
            <a:avLst/>
          </a:prstGeom>
          <a:noFill/>
          <a:ln/>
        </p:spPr>
        <p:txBody>
          <a:bodyPr wrap="square" lIns="0" tIns="0" rIns="0" bIns="0" rtlCol="0" anchor="ctr"/>
          <a:lstStyle/>
          <a:p>
            <a:pPr indent="0" marL="0">
              <a:buNone/>
            </a:pPr>
            <a:r>
              <a:rPr lang="en-US" sz="1050" b="1" dirty="0">
                <a:solidFill>
                  <a:srgbClr val="3E5C8A"/>
                </a:solidFill>
                <a:latin typeface="Calibri" pitchFamily="34" charset="0"/>
                <a:ea typeface="Calibri" pitchFamily="34" charset="-122"/>
                <a:cs typeface="Calibri" pitchFamily="34" charset="-120"/>
              </a:rPr>
              <a:t>Integrated</a:t>
            </a:r>
            <a:endParaRPr lang="en-US" sz="1050" dirty="0"/>
          </a:p>
        </p:txBody>
      </p:sp>
      <p:sp>
        <p:nvSpPr>
          <p:cNvPr id="16" name="Shape 14"/>
          <p:cNvSpPr/>
          <p:nvPr/>
        </p:nvSpPr>
        <p:spPr>
          <a:xfrm>
            <a:off x="6693408" y="3182112"/>
            <a:ext cx="274320" cy="274320"/>
          </a:xfrm>
          <a:prstGeom prst="ellipse">
            <a:avLst/>
          </a:prstGeom>
          <a:solidFill>
            <a:srgbClr val="1E2761"/>
          </a:solidFill>
          <a:ln w="15875">
            <a:solidFill>
              <a:srgbClr val="1E2761"/>
            </a:solidFill>
            <a:prstDash val="solid"/>
          </a:ln>
        </p:spPr>
      </p:sp>
      <p:sp>
        <p:nvSpPr>
          <p:cNvPr id="17" name="Shape 15"/>
          <p:cNvSpPr/>
          <p:nvPr/>
        </p:nvSpPr>
        <p:spPr>
          <a:xfrm>
            <a:off x="8567928" y="3182112"/>
            <a:ext cx="274320" cy="274320"/>
          </a:xfrm>
          <a:prstGeom prst="ellipse">
            <a:avLst/>
          </a:prstGeom>
          <a:solidFill>
            <a:srgbClr val="1E2761"/>
          </a:solidFill>
          <a:ln w="15875">
            <a:solidFill>
              <a:srgbClr val="1E2761"/>
            </a:solidFill>
            <a:prstDash val="solid"/>
          </a:ln>
        </p:spPr>
      </p:sp>
      <p:sp>
        <p:nvSpPr>
          <p:cNvPr id="18" name="Shape 16"/>
          <p:cNvSpPr/>
          <p:nvPr/>
        </p:nvSpPr>
        <p:spPr>
          <a:xfrm>
            <a:off x="10442448" y="3182112"/>
            <a:ext cx="274320" cy="274320"/>
          </a:xfrm>
          <a:prstGeom prst="ellipse">
            <a:avLst/>
          </a:prstGeom>
          <a:solidFill>
            <a:srgbClr val="1E2761"/>
          </a:solidFill>
          <a:ln w="15875">
            <a:solidFill>
              <a:srgbClr val="1E2761"/>
            </a:solidFill>
            <a:prstDash val="solid"/>
          </a:ln>
        </p:spPr>
      </p:sp>
      <p:sp>
        <p:nvSpPr>
          <p:cNvPr id="19" name="Shape 17"/>
          <p:cNvSpPr/>
          <p:nvPr/>
        </p:nvSpPr>
        <p:spPr>
          <a:xfrm>
            <a:off x="640080" y="3694176"/>
            <a:ext cx="10881360" cy="566928"/>
          </a:xfrm>
          <a:prstGeom prst="roundRect">
            <a:avLst>
              <a:gd name="adj" fmla="val 12903"/>
            </a:avLst>
          </a:prstGeom>
          <a:solidFill>
            <a:srgbClr val="F2F6FC"/>
          </a:solidFill>
          <a:ln/>
        </p:spPr>
      </p:sp>
      <p:sp>
        <p:nvSpPr>
          <p:cNvPr id="20" name="Text 18"/>
          <p:cNvSpPr txBox="1"/>
          <p:nvPr/>
        </p:nvSpPr>
        <p:spPr>
          <a:xfrm>
            <a:off x="914400" y="3694176"/>
            <a:ext cx="4023360" cy="566928"/>
          </a:xfrm>
          <a:prstGeom prst="rect">
            <a:avLst/>
          </a:prstGeom>
          <a:noFill/>
          <a:ln/>
        </p:spPr>
        <p:txBody>
          <a:bodyPr wrap="square" lIns="0" tIns="0" rIns="0" bIns="0" rtlCol="0" anchor="ctr"/>
          <a:lstStyle/>
          <a:p>
            <a:pPr indent="0" marL="0">
              <a:buNone/>
            </a:pPr>
            <a:r>
              <a:rPr lang="en-US" sz="1250" dirty="0">
                <a:solidFill>
                  <a:srgbClr val="16203A"/>
                </a:solidFill>
                <a:latin typeface="Calibri" pitchFamily="34" charset="0"/>
                <a:ea typeface="Calibri" pitchFamily="34" charset="-122"/>
                <a:cs typeface="Calibri" pitchFamily="34" charset="-120"/>
              </a:rPr>
              <a:t>Intelligent operations for claims</a:t>
            </a:r>
            <a:endParaRPr lang="en-US" sz="1250" dirty="0"/>
          </a:p>
        </p:txBody>
      </p:sp>
      <p:sp>
        <p:nvSpPr>
          <p:cNvPr id="21" name="Text 19"/>
          <p:cNvSpPr txBox="1"/>
          <p:nvPr/>
        </p:nvSpPr>
        <p:spPr>
          <a:xfrm>
            <a:off x="4937760" y="3694176"/>
            <a:ext cx="1005840" cy="566928"/>
          </a:xfrm>
          <a:prstGeom prst="rect">
            <a:avLst/>
          </a:prstGeom>
          <a:noFill/>
          <a:ln/>
        </p:spPr>
        <p:txBody>
          <a:bodyPr wrap="square" lIns="0" tIns="0" rIns="0" bIns="0" rtlCol="0" anchor="ctr"/>
          <a:lstStyle/>
          <a:p>
            <a:pPr indent="0" marL="0">
              <a:buNone/>
            </a:pPr>
            <a:r>
              <a:rPr lang="en-US" sz="1050" b="1" dirty="0">
                <a:solidFill>
                  <a:srgbClr val="3E5C8A"/>
                </a:solidFill>
                <a:latin typeface="Calibri" pitchFamily="34" charset="0"/>
                <a:ea typeface="Calibri" pitchFamily="34" charset="-122"/>
                <a:cs typeface="Calibri" pitchFamily="34" charset="-120"/>
              </a:rPr>
              <a:t>Integrated</a:t>
            </a:r>
            <a:endParaRPr lang="en-US" sz="1050" dirty="0"/>
          </a:p>
        </p:txBody>
      </p:sp>
      <p:sp>
        <p:nvSpPr>
          <p:cNvPr id="22" name="Shape 20"/>
          <p:cNvSpPr/>
          <p:nvPr/>
        </p:nvSpPr>
        <p:spPr>
          <a:xfrm>
            <a:off x="6693408" y="3840480"/>
            <a:ext cx="274320" cy="274320"/>
          </a:xfrm>
          <a:prstGeom prst="ellipse">
            <a:avLst/>
          </a:prstGeom>
          <a:solidFill>
            <a:srgbClr val="1E2761"/>
          </a:solidFill>
          <a:ln w="15875">
            <a:solidFill>
              <a:srgbClr val="1E2761"/>
            </a:solidFill>
            <a:prstDash val="solid"/>
          </a:ln>
        </p:spPr>
      </p:sp>
      <p:sp>
        <p:nvSpPr>
          <p:cNvPr id="23" name="Shape 21"/>
          <p:cNvSpPr/>
          <p:nvPr/>
        </p:nvSpPr>
        <p:spPr>
          <a:xfrm>
            <a:off x="8567928" y="3840480"/>
            <a:ext cx="274320" cy="274320"/>
          </a:xfrm>
          <a:prstGeom prst="ellipse">
            <a:avLst/>
          </a:prstGeom>
          <a:solidFill>
            <a:srgbClr val="1E2761"/>
          </a:solidFill>
          <a:ln w="15875">
            <a:solidFill>
              <a:srgbClr val="1E2761"/>
            </a:solidFill>
            <a:prstDash val="solid"/>
          </a:ln>
        </p:spPr>
      </p:sp>
      <p:sp>
        <p:nvSpPr>
          <p:cNvPr id="24" name="Shape 22"/>
          <p:cNvSpPr/>
          <p:nvPr/>
        </p:nvSpPr>
        <p:spPr>
          <a:xfrm>
            <a:off x="10442448" y="3840480"/>
            <a:ext cx="274320" cy="274320"/>
          </a:xfrm>
          <a:prstGeom prst="ellipse">
            <a:avLst/>
          </a:prstGeom>
          <a:solidFill>
            <a:srgbClr val="FFFFFF"/>
          </a:solidFill>
          <a:ln w="15875">
            <a:solidFill>
              <a:srgbClr val="C9D4E6"/>
            </a:solidFill>
            <a:prstDash val="solid"/>
          </a:ln>
        </p:spPr>
      </p:sp>
      <p:sp>
        <p:nvSpPr>
          <p:cNvPr id="25" name="Shape 23"/>
          <p:cNvSpPr/>
          <p:nvPr/>
        </p:nvSpPr>
        <p:spPr>
          <a:xfrm>
            <a:off x="640080" y="4352544"/>
            <a:ext cx="10881360" cy="566928"/>
          </a:xfrm>
          <a:prstGeom prst="roundRect">
            <a:avLst>
              <a:gd name="adj" fmla="val 12903"/>
            </a:avLst>
          </a:prstGeom>
          <a:solidFill>
            <a:srgbClr val="EDF2FA"/>
          </a:solidFill>
          <a:ln/>
        </p:spPr>
      </p:sp>
      <p:sp>
        <p:nvSpPr>
          <p:cNvPr id="26" name="Text 24"/>
          <p:cNvSpPr txBox="1"/>
          <p:nvPr/>
        </p:nvSpPr>
        <p:spPr>
          <a:xfrm>
            <a:off x="914400" y="4352544"/>
            <a:ext cx="4023360" cy="566928"/>
          </a:xfrm>
          <a:prstGeom prst="rect">
            <a:avLst/>
          </a:prstGeom>
          <a:noFill/>
          <a:ln/>
        </p:spPr>
        <p:txBody>
          <a:bodyPr wrap="square" lIns="0" tIns="0" rIns="0" bIns="0" rtlCol="0" anchor="ctr"/>
          <a:lstStyle/>
          <a:p>
            <a:pPr indent="0" marL="0">
              <a:buNone/>
            </a:pPr>
            <a:r>
              <a:rPr lang="en-US" sz="1250" dirty="0">
                <a:solidFill>
                  <a:srgbClr val="16203A"/>
                </a:solidFill>
                <a:latin typeface="Calibri" pitchFamily="34" charset="0"/>
                <a:ea typeface="Calibri" pitchFamily="34" charset="-122"/>
                <a:cs typeface="Calibri" pitchFamily="34" charset="-120"/>
              </a:rPr>
              <a:t>Enterprise AI activation</a:t>
            </a:r>
            <a:endParaRPr lang="en-US" sz="1250" dirty="0"/>
          </a:p>
        </p:txBody>
      </p:sp>
      <p:sp>
        <p:nvSpPr>
          <p:cNvPr id="27" name="Text 25"/>
          <p:cNvSpPr txBox="1"/>
          <p:nvPr/>
        </p:nvSpPr>
        <p:spPr>
          <a:xfrm>
            <a:off x="4937760" y="4352544"/>
            <a:ext cx="1005840" cy="566928"/>
          </a:xfrm>
          <a:prstGeom prst="rect">
            <a:avLst/>
          </a:prstGeom>
          <a:noFill/>
          <a:ln/>
        </p:spPr>
        <p:txBody>
          <a:bodyPr wrap="square" lIns="0" tIns="0" rIns="0" bIns="0" rtlCol="0" anchor="ctr"/>
          <a:lstStyle/>
          <a:p>
            <a:pPr indent="0" marL="0">
              <a:buNone/>
            </a:pPr>
            <a:r>
              <a:rPr lang="en-US" sz="1050" b="1" dirty="0">
                <a:solidFill>
                  <a:srgbClr val="3E5C8A"/>
                </a:solidFill>
                <a:latin typeface="Calibri" pitchFamily="34" charset="0"/>
                <a:ea typeface="Calibri" pitchFamily="34" charset="-122"/>
                <a:cs typeface="Calibri" pitchFamily="34" charset="-120"/>
              </a:rPr>
              <a:t>Integrated</a:t>
            </a:r>
            <a:endParaRPr lang="en-US" sz="1050" dirty="0"/>
          </a:p>
        </p:txBody>
      </p:sp>
      <p:sp>
        <p:nvSpPr>
          <p:cNvPr id="28" name="Shape 26"/>
          <p:cNvSpPr/>
          <p:nvPr/>
        </p:nvSpPr>
        <p:spPr>
          <a:xfrm>
            <a:off x="6693408" y="4498848"/>
            <a:ext cx="274320" cy="274320"/>
          </a:xfrm>
          <a:prstGeom prst="ellipse">
            <a:avLst/>
          </a:prstGeom>
          <a:solidFill>
            <a:srgbClr val="FFFFFF"/>
          </a:solidFill>
          <a:ln w="15875">
            <a:solidFill>
              <a:srgbClr val="C9D4E6"/>
            </a:solidFill>
            <a:prstDash val="solid"/>
          </a:ln>
        </p:spPr>
      </p:sp>
      <p:sp>
        <p:nvSpPr>
          <p:cNvPr id="29" name="Shape 27"/>
          <p:cNvSpPr/>
          <p:nvPr/>
        </p:nvSpPr>
        <p:spPr>
          <a:xfrm>
            <a:off x="8567928" y="4498848"/>
            <a:ext cx="274320" cy="274320"/>
          </a:xfrm>
          <a:prstGeom prst="ellipse">
            <a:avLst/>
          </a:prstGeom>
          <a:solidFill>
            <a:srgbClr val="1E2761"/>
          </a:solidFill>
          <a:ln w="15875">
            <a:solidFill>
              <a:srgbClr val="1E2761"/>
            </a:solidFill>
            <a:prstDash val="solid"/>
          </a:ln>
        </p:spPr>
      </p:sp>
      <p:sp>
        <p:nvSpPr>
          <p:cNvPr id="30" name="Shape 28"/>
          <p:cNvSpPr/>
          <p:nvPr/>
        </p:nvSpPr>
        <p:spPr>
          <a:xfrm>
            <a:off x="10442448" y="4498848"/>
            <a:ext cx="274320" cy="274320"/>
          </a:xfrm>
          <a:prstGeom prst="ellipse">
            <a:avLst/>
          </a:prstGeom>
          <a:solidFill>
            <a:srgbClr val="1E2761"/>
          </a:solidFill>
          <a:ln w="15875">
            <a:solidFill>
              <a:srgbClr val="1E2761"/>
            </a:solidFill>
            <a:prstDash val="solid"/>
          </a:ln>
        </p:spPr>
      </p:sp>
      <p:sp>
        <p:nvSpPr>
          <p:cNvPr id="31" name="Shape 29"/>
          <p:cNvSpPr/>
          <p:nvPr/>
        </p:nvSpPr>
        <p:spPr>
          <a:xfrm>
            <a:off x="640080" y="5010912"/>
            <a:ext cx="10881360" cy="566928"/>
          </a:xfrm>
          <a:prstGeom prst="roundRect">
            <a:avLst>
              <a:gd name="adj" fmla="val 12903"/>
            </a:avLst>
          </a:prstGeom>
          <a:solidFill>
            <a:srgbClr val="F2F6FC"/>
          </a:solidFill>
          <a:ln/>
        </p:spPr>
      </p:sp>
      <p:sp>
        <p:nvSpPr>
          <p:cNvPr id="32" name="Text 30"/>
          <p:cNvSpPr txBox="1"/>
          <p:nvPr/>
        </p:nvSpPr>
        <p:spPr>
          <a:xfrm>
            <a:off x="914400" y="5010912"/>
            <a:ext cx="4023360" cy="566928"/>
          </a:xfrm>
          <a:prstGeom prst="rect">
            <a:avLst/>
          </a:prstGeom>
          <a:noFill/>
          <a:ln/>
        </p:spPr>
        <p:txBody>
          <a:bodyPr wrap="square" lIns="0" tIns="0" rIns="0" bIns="0" rtlCol="0" anchor="ctr"/>
          <a:lstStyle/>
          <a:p>
            <a:pPr indent="0" marL="0">
              <a:buNone/>
            </a:pPr>
            <a:r>
              <a:rPr lang="en-US" sz="1250" dirty="0">
                <a:solidFill>
                  <a:srgbClr val="16203A"/>
                </a:solidFill>
                <a:latin typeface="Calibri" pitchFamily="34" charset="0"/>
                <a:ea typeface="Calibri" pitchFamily="34" charset="-122"/>
                <a:cs typeface="Calibri" pitchFamily="34" charset="-120"/>
              </a:rPr>
              <a:t>Cloud migration strategy</a:t>
            </a:r>
            <a:endParaRPr lang="en-US" sz="1250" dirty="0"/>
          </a:p>
        </p:txBody>
      </p:sp>
      <p:sp>
        <p:nvSpPr>
          <p:cNvPr id="33" name="Text 31"/>
          <p:cNvSpPr txBox="1"/>
          <p:nvPr/>
        </p:nvSpPr>
        <p:spPr>
          <a:xfrm>
            <a:off x="4937760" y="5010912"/>
            <a:ext cx="1005840" cy="566928"/>
          </a:xfrm>
          <a:prstGeom prst="rect">
            <a:avLst/>
          </a:prstGeom>
          <a:noFill/>
          <a:ln/>
        </p:spPr>
        <p:txBody>
          <a:bodyPr wrap="square" lIns="0" tIns="0" rIns="0" bIns="0" rtlCol="0" anchor="ctr"/>
          <a:lstStyle/>
          <a:p>
            <a:pPr indent="0" marL="0">
              <a:buNone/>
            </a:pPr>
            <a:r>
              <a:rPr lang="en-US" sz="1050" b="1" dirty="0">
                <a:solidFill>
                  <a:srgbClr val="B8862B"/>
                </a:solidFill>
                <a:latin typeface="Calibri" pitchFamily="34" charset="0"/>
                <a:ea typeface="Calibri" pitchFamily="34" charset="-122"/>
                <a:cs typeface="Calibri" pitchFamily="34" charset="-120"/>
              </a:rPr>
              <a:t>Focused</a:t>
            </a:r>
            <a:endParaRPr lang="en-US" sz="1050" dirty="0"/>
          </a:p>
        </p:txBody>
      </p:sp>
      <p:sp>
        <p:nvSpPr>
          <p:cNvPr id="34" name="Shape 32"/>
          <p:cNvSpPr/>
          <p:nvPr/>
        </p:nvSpPr>
        <p:spPr>
          <a:xfrm>
            <a:off x="6693408" y="5157216"/>
            <a:ext cx="274320" cy="274320"/>
          </a:xfrm>
          <a:prstGeom prst="ellipse">
            <a:avLst/>
          </a:prstGeom>
          <a:solidFill>
            <a:srgbClr val="FFFFFF"/>
          </a:solidFill>
          <a:ln w="15875">
            <a:solidFill>
              <a:srgbClr val="C9D4E6"/>
            </a:solidFill>
            <a:prstDash val="solid"/>
          </a:ln>
        </p:spPr>
      </p:sp>
      <p:sp>
        <p:nvSpPr>
          <p:cNvPr id="35" name="Shape 33"/>
          <p:cNvSpPr/>
          <p:nvPr/>
        </p:nvSpPr>
        <p:spPr>
          <a:xfrm>
            <a:off x="8567928" y="5157216"/>
            <a:ext cx="274320" cy="274320"/>
          </a:xfrm>
          <a:prstGeom prst="ellipse">
            <a:avLst/>
          </a:prstGeom>
          <a:solidFill>
            <a:srgbClr val="FFFFFF"/>
          </a:solidFill>
          <a:ln w="15875">
            <a:solidFill>
              <a:srgbClr val="C9D4E6"/>
            </a:solidFill>
            <a:prstDash val="solid"/>
          </a:ln>
        </p:spPr>
      </p:sp>
      <p:sp>
        <p:nvSpPr>
          <p:cNvPr id="36" name="Shape 34"/>
          <p:cNvSpPr/>
          <p:nvPr/>
        </p:nvSpPr>
        <p:spPr>
          <a:xfrm>
            <a:off x="10442448" y="5157216"/>
            <a:ext cx="274320" cy="274320"/>
          </a:xfrm>
          <a:prstGeom prst="ellipse">
            <a:avLst/>
          </a:prstGeom>
          <a:solidFill>
            <a:srgbClr val="1E2761"/>
          </a:solidFill>
          <a:ln w="15875">
            <a:solidFill>
              <a:srgbClr val="1E2761"/>
            </a:solidFill>
            <a:prstDash val="solid"/>
          </a:ln>
        </p:spPr>
      </p:sp>
      <p:sp>
        <p:nvSpPr>
          <p:cNvPr id="37" name="Shape 35"/>
          <p:cNvSpPr/>
          <p:nvPr/>
        </p:nvSpPr>
        <p:spPr>
          <a:xfrm>
            <a:off x="640080" y="5760720"/>
            <a:ext cx="10881360" cy="777240"/>
          </a:xfrm>
          <a:prstGeom prst="roundRect">
            <a:avLst>
              <a:gd name="adj" fmla="val 11765"/>
            </a:avLst>
          </a:prstGeom>
          <a:solidFill>
            <a:srgbClr val="1E2761"/>
          </a:solidFill>
          <a:ln/>
        </p:spPr>
      </p:sp>
      <p:sp>
        <p:nvSpPr>
          <p:cNvPr id="38" name="Text 36"/>
          <p:cNvSpPr txBox="1"/>
          <p:nvPr/>
        </p:nvSpPr>
        <p:spPr>
          <a:xfrm>
            <a:off x="914400" y="5760720"/>
            <a:ext cx="10332720" cy="77724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The rule: integrated is the default and the catalogue is built that way. A focused offering is permitted where the work genuinely does not span — and it is sold as a way in, not as the destination.</a:t>
            </a:r>
            <a:endParaRPr lang="en-US" sz="1250" dirty="0"/>
          </a:p>
        </p:txBody>
      </p:sp>
      <p:sp>
        <p:nvSpPr>
          <p:cNvPr id="39" name="Text 37"/>
          <p:cNvSpPr txBox="1"/>
          <p:nvPr/>
        </p:nvSpPr>
        <p:spPr>
          <a:xfrm>
            <a:off x="640080" y="6583680"/>
            <a:ext cx="5486400" cy="274320"/>
          </a:xfrm>
          <a:prstGeom prst="rect">
            <a:avLst/>
          </a:prstGeom>
          <a:noFill/>
          <a:ln/>
        </p:spPr>
        <p:txBody>
          <a:bodyPr wrap="square" lIns="0" tIns="0" rIns="0" bIns="0" rtlCol="0" anchor="ctr"/>
          <a:lstStyle/>
          <a:p>
            <a:pPr indent="0" marL="0">
              <a:buNone/>
            </a:pPr>
            <a:r>
              <a:rPr lang="en-US" sz="1050" i="1" dirty="0">
                <a:solidFill>
                  <a:srgbClr val="8792AB"/>
                </a:solidFill>
                <a:latin typeface="Calibri" pitchFamily="34" charset="0"/>
                <a:ea typeface="Calibri" pitchFamily="34" charset="-122"/>
                <a:cs typeface="Calibri" pitchFamily="34" charset="-120"/>
              </a:rPr>
              <a:t>Illustrative only — the catalogue itself is built in the cycle.</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Delivery and pricing economics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model, price and margin are one decision, not three.</a:t>
            </a:r>
            <a:endParaRPr lang="en-US" sz="1450" dirty="0"/>
          </a:p>
        </p:txBody>
      </p:sp>
      <p:sp>
        <p:nvSpPr>
          <p:cNvPr id="4" name="Shape 2"/>
          <p:cNvSpPr/>
          <p:nvPr/>
        </p:nvSpPr>
        <p:spPr>
          <a:xfrm>
            <a:off x="640080" y="1828800"/>
            <a:ext cx="2468880" cy="1600200"/>
          </a:xfrm>
          <a:prstGeom prst="roundRect">
            <a:avLst>
              <a:gd name="adj" fmla="val 6857"/>
            </a:avLst>
          </a:prstGeom>
          <a:solidFill>
            <a:srgbClr val="E4EBF7"/>
          </a:solidFill>
          <a:ln/>
        </p:spPr>
      </p:sp>
      <p:sp>
        <p:nvSpPr>
          <p:cNvPr id="5" name="Shape 3"/>
          <p:cNvSpPr/>
          <p:nvPr/>
        </p:nvSpPr>
        <p:spPr>
          <a:xfrm>
            <a:off x="868680" y="2029968"/>
            <a:ext cx="365760" cy="365760"/>
          </a:xfrm>
          <a:prstGeom prst="ellipse">
            <a:avLst/>
          </a:prstGeom>
          <a:solidFill>
            <a:srgbClr val="1E2761"/>
          </a:solidFill>
          <a:ln/>
        </p:spPr>
      </p:sp>
      <p:sp>
        <p:nvSpPr>
          <p:cNvPr id="6" name="Text 4"/>
          <p:cNvSpPr txBox="1"/>
          <p:nvPr/>
        </p:nvSpPr>
        <p:spPr>
          <a:xfrm>
            <a:off x="86868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86868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Target price</a:t>
            </a:r>
            <a:endParaRPr lang="en-US" sz="1500" dirty="0"/>
          </a:p>
        </p:txBody>
      </p:sp>
      <p:sp>
        <p:nvSpPr>
          <p:cNvPr id="8" name="Text 6"/>
          <p:cNvSpPr txBox="1"/>
          <p:nvPr/>
        </p:nvSpPr>
        <p:spPr>
          <a:xfrm>
            <a:off x="86868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What the market pays for this offering, in bands</a:t>
            </a:r>
            <a:endParaRPr lang="en-US" sz="1150" dirty="0"/>
          </a:p>
        </p:txBody>
      </p:sp>
      <p:sp>
        <p:nvSpPr>
          <p:cNvPr id="9" name="Text 7"/>
          <p:cNvSpPr txBox="1"/>
          <p:nvPr/>
        </p:nvSpPr>
        <p:spPr>
          <a:xfrm>
            <a:off x="3127248" y="2423160"/>
            <a:ext cx="274320" cy="365760"/>
          </a:xfrm>
          <a:prstGeom prst="rect">
            <a:avLst/>
          </a:prstGeom>
          <a:noFill/>
          <a:ln/>
        </p:spPr>
        <p:txBody>
          <a:bodyPr wrap="square" lIns="0" tIns="0" rIns="0" bIns="0" rtlCol="0" anchor="ctr"/>
          <a:lstStyle/>
          <a:p>
            <a:pPr algn="ctr" indent="0" marL="0">
              <a:buNone/>
            </a:pPr>
            <a:r>
              <a:rPr lang="en-US" sz="1800" dirty="0">
                <a:solidFill>
                  <a:srgbClr val="8792AB"/>
                </a:solidFill>
                <a:latin typeface="Calibri" pitchFamily="34" charset="0"/>
                <a:ea typeface="Calibri" pitchFamily="34" charset="-122"/>
                <a:cs typeface="Calibri" pitchFamily="34" charset="-120"/>
              </a:rPr>
              <a:t>→</a:t>
            </a:r>
            <a:endParaRPr lang="en-US" sz="1800" dirty="0"/>
          </a:p>
        </p:txBody>
      </p:sp>
      <p:sp>
        <p:nvSpPr>
          <p:cNvPr id="10" name="Shape 8"/>
          <p:cNvSpPr/>
          <p:nvPr/>
        </p:nvSpPr>
        <p:spPr>
          <a:xfrm>
            <a:off x="3429000" y="1828800"/>
            <a:ext cx="2468880" cy="1600200"/>
          </a:xfrm>
          <a:prstGeom prst="roundRect">
            <a:avLst>
              <a:gd name="adj" fmla="val 6857"/>
            </a:avLst>
          </a:prstGeom>
          <a:solidFill>
            <a:srgbClr val="EDF2FA"/>
          </a:solidFill>
          <a:ln/>
        </p:spPr>
      </p:sp>
      <p:sp>
        <p:nvSpPr>
          <p:cNvPr id="11" name="Shape 9"/>
          <p:cNvSpPr/>
          <p:nvPr/>
        </p:nvSpPr>
        <p:spPr>
          <a:xfrm>
            <a:off x="3657600" y="2029968"/>
            <a:ext cx="365760" cy="365760"/>
          </a:xfrm>
          <a:prstGeom prst="ellipse">
            <a:avLst/>
          </a:prstGeom>
          <a:solidFill>
            <a:srgbClr val="1E2761"/>
          </a:solidFill>
          <a:ln/>
        </p:spPr>
      </p:sp>
      <p:sp>
        <p:nvSpPr>
          <p:cNvPr id="12" name="Text 10"/>
          <p:cNvSpPr txBox="1"/>
          <p:nvPr/>
        </p:nvSpPr>
        <p:spPr>
          <a:xfrm>
            <a:off x="365760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3" name="Text 11"/>
          <p:cNvSpPr txBox="1"/>
          <p:nvPr/>
        </p:nvSpPr>
        <p:spPr>
          <a:xfrm>
            <a:off x="365760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Delivery construct</a:t>
            </a:r>
            <a:endParaRPr lang="en-US" sz="1500" dirty="0"/>
          </a:p>
        </p:txBody>
      </p:sp>
      <p:sp>
        <p:nvSpPr>
          <p:cNvPr id="14" name="Text 12"/>
          <p:cNvSpPr txBox="1"/>
          <p:nvPr/>
        </p:nvSpPr>
        <p:spPr>
          <a:xfrm>
            <a:off x="365760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shore mix, and the assets and accelerators behind it</a:t>
            </a:r>
            <a:endParaRPr lang="en-US" sz="1150" dirty="0"/>
          </a:p>
        </p:txBody>
      </p:sp>
      <p:sp>
        <p:nvSpPr>
          <p:cNvPr id="15" name="Text 13"/>
          <p:cNvSpPr txBox="1"/>
          <p:nvPr/>
        </p:nvSpPr>
        <p:spPr>
          <a:xfrm>
            <a:off x="5916168" y="2423160"/>
            <a:ext cx="274320" cy="365760"/>
          </a:xfrm>
          <a:prstGeom prst="rect">
            <a:avLst/>
          </a:prstGeom>
          <a:noFill/>
          <a:ln/>
        </p:spPr>
        <p:txBody>
          <a:bodyPr wrap="square" lIns="0" tIns="0" rIns="0" bIns="0" rtlCol="0" anchor="ctr"/>
          <a:lstStyle/>
          <a:p>
            <a:pPr algn="ctr" indent="0" marL="0">
              <a:buNone/>
            </a:pPr>
            <a:r>
              <a:rPr lang="en-US" sz="1800" dirty="0">
                <a:solidFill>
                  <a:srgbClr val="8792AB"/>
                </a:solidFill>
                <a:latin typeface="Calibri" pitchFamily="34" charset="0"/>
                <a:ea typeface="Calibri" pitchFamily="34" charset="-122"/>
                <a:cs typeface="Calibri" pitchFamily="34" charset="-120"/>
              </a:rPr>
              <a:t>→</a:t>
            </a:r>
            <a:endParaRPr lang="en-US" sz="1800" dirty="0"/>
          </a:p>
        </p:txBody>
      </p:sp>
      <p:sp>
        <p:nvSpPr>
          <p:cNvPr id="16" name="Shape 14"/>
          <p:cNvSpPr/>
          <p:nvPr/>
        </p:nvSpPr>
        <p:spPr>
          <a:xfrm>
            <a:off x="6217920" y="1828800"/>
            <a:ext cx="2468880" cy="1600200"/>
          </a:xfrm>
          <a:prstGeom prst="roundRect">
            <a:avLst>
              <a:gd name="adj" fmla="val 6857"/>
            </a:avLst>
          </a:prstGeom>
          <a:solidFill>
            <a:srgbClr val="E4EBF7"/>
          </a:solidFill>
          <a:ln/>
        </p:spPr>
      </p:sp>
      <p:sp>
        <p:nvSpPr>
          <p:cNvPr id="17" name="Shape 15"/>
          <p:cNvSpPr/>
          <p:nvPr/>
        </p:nvSpPr>
        <p:spPr>
          <a:xfrm>
            <a:off x="6446520" y="2029968"/>
            <a:ext cx="365760" cy="365760"/>
          </a:xfrm>
          <a:prstGeom prst="ellipse">
            <a:avLst/>
          </a:prstGeom>
          <a:solidFill>
            <a:srgbClr val="1E2761"/>
          </a:solidFill>
          <a:ln/>
        </p:spPr>
      </p:sp>
      <p:sp>
        <p:nvSpPr>
          <p:cNvPr id="18" name="Text 16"/>
          <p:cNvSpPr txBox="1"/>
          <p:nvPr/>
        </p:nvSpPr>
        <p:spPr>
          <a:xfrm>
            <a:off x="644652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644652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Blended ADR</a:t>
            </a:r>
            <a:endParaRPr lang="en-US" sz="1500" dirty="0"/>
          </a:p>
        </p:txBody>
      </p:sp>
      <p:sp>
        <p:nvSpPr>
          <p:cNvPr id="20" name="Text 18"/>
          <p:cNvSpPr txBox="1"/>
          <p:nvPr/>
        </p:nvSpPr>
        <p:spPr>
          <a:xfrm>
            <a:off x="644652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average daily rate that construct implies</a:t>
            </a:r>
            <a:endParaRPr lang="en-US" sz="1150" dirty="0"/>
          </a:p>
        </p:txBody>
      </p:sp>
      <p:sp>
        <p:nvSpPr>
          <p:cNvPr id="21" name="Text 19"/>
          <p:cNvSpPr txBox="1"/>
          <p:nvPr/>
        </p:nvSpPr>
        <p:spPr>
          <a:xfrm>
            <a:off x="8705088" y="2423160"/>
            <a:ext cx="274320" cy="365760"/>
          </a:xfrm>
          <a:prstGeom prst="rect">
            <a:avLst/>
          </a:prstGeom>
          <a:noFill/>
          <a:ln/>
        </p:spPr>
        <p:txBody>
          <a:bodyPr wrap="square" lIns="0" tIns="0" rIns="0" bIns="0" rtlCol="0" anchor="ctr"/>
          <a:lstStyle/>
          <a:p>
            <a:pPr algn="ctr" indent="0" marL="0">
              <a:buNone/>
            </a:pPr>
            <a:r>
              <a:rPr lang="en-US" sz="1800" dirty="0">
                <a:solidFill>
                  <a:srgbClr val="8792AB"/>
                </a:solidFill>
                <a:latin typeface="Calibri" pitchFamily="34" charset="0"/>
                <a:ea typeface="Calibri" pitchFamily="34" charset="-122"/>
                <a:cs typeface="Calibri" pitchFamily="34" charset="-120"/>
              </a:rPr>
              <a:t>→</a:t>
            </a:r>
            <a:endParaRPr lang="en-US" sz="1800" dirty="0"/>
          </a:p>
        </p:txBody>
      </p:sp>
      <p:sp>
        <p:nvSpPr>
          <p:cNvPr id="22" name="Shape 20"/>
          <p:cNvSpPr/>
          <p:nvPr/>
        </p:nvSpPr>
        <p:spPr>
          <a:xfrm>
            <a:off x="9006840" y="1828800"/>
            <a:ext cx="2468880" cy="1600200"/>
          </a:xfrm>
          <a:prstGeom prst="roundRect">
            <a:avLst>
              <a:gd name="adj" fmla="val 6857"/>
            </a:avLst>
          </a:prstGeom>
          <a:solidFill>
            <a:srgbClr val="EDF2FA"/>
          </a:solidFill>
          <a:ln/>
        </p:spPr>
      </p:sp>
      <p:sp>
        <p:nvSpPr>
          <p:cNvPr id="23" name="Shape 21"/>
          <p:cNvSpPr/>
          <p:nvPr/>
        </p:nvSpPr>
        <p:spPr>
          <a:xfrm>
            <a:off x="9235440" y="2029968"/>
            <a:ext cx="365760" cy="365760"/>
          </a:xfrm>
          <a:prstGeom prst="ellipse">
            <a:avLst/>
          </a:prstGeom>
          <a:solidFill>
            <a:srgbClr val="1E2761"/>
          </a:solidFill>
          <a:ln/>
        </p:spPr>
      </p:sp>
      <p:sp>
        <p:nvSpPr>
          <p:cNvPr id="24" name="Text 22"/>
          <p:cNvSpPr txBox="1"/>
          <p:nvPr/>
        </p:nvSpPr>
        <p:spPr>
          <a:xfrm>
            <a:off x="923544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5" name="Text 23"/>
          <p:cNvSpPr txBox="1"/>
          <p:nvPr/>
        </p:nvSpPr>
        <p:spPr>
          <a:xfrm>
            <a:off x="923544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Target margin</a:t>
            </a:r>
            <a:endParaRPr lang="en-US" sz="1500" dirty="0"/>
          </a:p>
        </p:txBody>
      </p:sp>
      <p:sp>
        <p:nvSpPr>
          <p:cNvPr id="26" name="Text 24"/>
          <p:cNvSpPr txBox="1"/>
          <p:nvPr/>
        </p:nvSpPr>
        <p:spPr>
          <a:xfrm>
            <a:off x="923544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gross margin we commit to for this offering</a:t>
            </a:r>
            <a:endParaRPr lang="en-US" sz="1150" dirty="0"/>
          </a:p>
        </p:txBody>
      </p:sp>
      <p:sp>
        <p:nvSpPr>
          <p:cNvPr id="27" name="Shape 25"/>
          <p:cNvSpPr/>
          <p:nvPr/>
        </p:nvSpPr>
        <p:spPr>
          <a:xfrm>
            <a:off x="640080" y="3611880"/>
            <a:ext cx="10881360" cy="685800"/>
          </a:xfrm>
          <a:prstGeom prst="roundRect">
            <a:avLst>
              <a:gd name="adj" fmla="val 13333"/>
            </a:avLst>
          </a:prstGeom>
          <a:solidFill>
            <a:srgbClr val="1E2761"/>
          </a:solidFill>
          <a:ln/>
        </p:spPr>
      </p:sp>
      <p:sp>
        <p:nvSpPr>
          <p:cNvPr id="28" name="Text 26"/>
          <p:cNvSpPr txBox="1"/>
          <p:nvPr/>
        </p:nvSpPr>
        <p:spPr>
          <a:xfrm>
            <a:off x="914400" y="3611880"/>
            <a:ext cx="10332720" cy="68580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Set per offering and per sector: a core banking programme, a fund platform build and an AI activation carry different constructs, rates and margins.</a:t>
            </a:r>
            <a:endParaRPr lang="en-US" sz="1300" dirty="0"/>
          </a:p>
        </p:txBody>
      </p:sp>
      <p:sp>
        <p:nvSpPr>
          <p:cNvPr id="29" name="Shape 27"/>
          <p:cNvSpPr/>
          <p:nvPr/>
        </p:nvSpPr>
        <p:spPr>
          <a:xfrm>
            <a:off x="640080" y="4572000"/>
            <a:ext cx="329184" cy="329184"/>
          </a:xfrm>
          <a:prstGeom prst="ellipse">
            <a:avLst/>
          </a:prstGeom>
          <a:solidFill>
            <a:srgbClr val="3E5C8A"/>
          </a:solidFill>
          <a:ln/>
        </p:spPr>
      </p:sp>
      <p:sp>
        <p:nvSpPr>
          <p:cNvPr id="30" name="Text 28"/>
          <p:cNvSpPr txBox="1"/>
          <p:nvPr/>
        </p:nvSpPr>
        <p:spPr>
          <a:xfrm>
            <a:off x="640080" y="45720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31" name="Text 29"/>
          <p:cNvSpPr txBox="1"/>
          <p:nvPr/>
        </p:nvSpPr>
        <p:spPr>
          <a:xfrm>
            <a:off x="1115568" y="45354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must stay onshore</a:t>
            </a:r>
            <a:endParaRPr lang="en-US" sz="1300" dirty="0"/>
          </a:p>
        </p:txBody>
      </p:sp>
      <p:sp>
        <p:nvSpPr>
          <p:cNvPr id="32" name="Text 30"/>
          <p:cNvSpPr txBox="1"/>
          <p:nvPr/>
        </p:nvSpPr>
        <p:spPr>
          <a:xfrm>
            <a:off x="3520440" y="453542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Client-facing, regulatory and data-residency constrained roles</a:t>
            </a:r>
            <a:endParaRPr lang="en-US" sz="1150" dirty="0"/>
          </a:p>
        </p:txBody>
      </p:sp>
      <p:sp>
        <p:nvSpPr>
          <p:cNvPr id="33" name="Shape 31"/>
          <p:cNvSpPr/>
          <p:nvPr/>
        </p:nvSpPr>
        <p:spPr>
          <a:xfrm>
            <a:off x="6263640" y="4572000"/>
            <a:ext cx="329184" cy="329184"/>
          </a:xfrm>
          <a:prstGeom prst="ellipse">
            <a:avLst/>
          </a:prstGeom>
          <a:solidFill>
            <a:srgbClr val="3E5C8A"/>
          </a:solidFill>
          <a:ln/>
        </p:spPr>
      </p:sp>
      <p:sp>
        <p:nvSpPr>
          <p:cNvPr id="34" name="Text 32"/>
          <p:cNvSpPr txBox="1"/>
          <p:nvPr/>
        </p:nvSpPr>
        <p:spPr>
          <a:xfrm>
            <a:off x="6263640" y="45720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35" name="Text 33"/>
          <p:cNvSpPr txBox="1"/>
          <p:nvPr/>
        </p:nvSpPr>
        <p:spPr>
          <a:xfrm>
            <a:off x="6739128" y="45354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can move</a:t>
            </a:r>
            <a:endParaRPr lang="en-US" sz="1300" dirty="0"/>
          </a:p>
        </p:txBody>
      </p:sp>
      <p:sp>
        <p:nvSpPr>
          <p:cNvPr id="36" name="Text 34"/>
          <p:cNvSpPr txBox="1"/>
          <p:nvPr/>
        </p:nvSpPr>
        <p:spPr>
          <a:xfrm>
            <a:off x="9144000" y="453542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Which roles run nearshore or offshore, and at what ratio</a:t>
            </a:r>
            <a:endParaRPr lang="en-US" sz="1150" dirty="0"/>
          </a:p>
        </p:txBody>
      </p:sp>
      <p:sp>
        <p:nvSpPr>
          <p:cNvPr id="37" name="Shape 35"/>
          <p:cNvSpPr/>
          <p:nvPr/>
        </p:nvSpPr>
        <p:spPr>
          <a:xfrm>
            <a:off x="640080" y="5394960"/>
            <a:ext cx="329184" cy="329184"/>
          </a:xfrm>
          <a:prstGeom prst="ellipse">
            <a:avLst/>
          </a:prstGeom>
          <a:solidFill>
            <a:srgbClr val="1E2761"/>
          </a:solidFill>
          <a:ln/>
        </p:spPr>
      </p:sp>
      <p:sp>
        <p:nvSpPr>
          <p:cNvPr id="38" name="Text 36"/>
          <p:cNvSpPr txBox="1"/>
          <p:nvPr/>
        </p:nvSpPr>
        <p:spPr>
          <a:xfrm>
            <a:off x="640080" y="53949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39" name="Text 37"/>
          <p:cNvSpPr txBox="1"/>
          <p:nvPr/>
        </p:nvSpPr>
        <p:spPr>
          <a:xfrm>
            <a:off x="1115568" y="535838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margin we hold</a:t>
            </a:r>
            <a:endParaRPr lang="en-US" sz="1300" dirty="0"/>
          </a:p>
        </p:txBody>
      </p:sp>
      <p:sp>
        <p:nvSpPr>
          <p:cNvPr id="40" name="Text 38"/>
          <p:cNvSpPr txBox="1"/>
          <p:nvPr/>
        </p:nvSpPr>
        <p:spPr>
          <a:xfrm>
            <a:off x="3520440" y="535838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target gross margin per offering, and the floor</a:t>
            </a:r>
            <a:endParaRPr lang="en-US" sz="1150" dirty="0"/>
          </a:p>
        </p:txBody>
      </p:sp>
      <p:sp>
        <p:nvSpPr>
          <p:cNvPr id="41" name="Shape 39"/>
          <p:cNvSpPr/>
          <p:nvPr/>
        </p:nvSpPr>
        <p:spPr>
          <a:xfrm>
            <a:off x="6263640" y="5394960"/>
            <a:ext cx="329184" cy="329184"/>
          </a:xfrm>
          <a:prstGeom prst="ellipse">
            <a:avLst/>
          </a:prstGeom>
          <a:solidFill>
            <a:srgbClr val="1E2761"/>
          </a:solidFill>
          <a:ln/>
        </p:spPr>
      </p:sp>
      <p:sp>
        <p:nvSpPr>
          <p:cNvPr id="42" name="Text 40"/>
          <p:cNvSpPr txBox="1"/>
          <p:nvPr/>
        </p:nvSpPr>
        <p:spPr>
          <a:xfrm>
            <a:off x="6263640" y="53949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43" name="Text 41"/>
          <p:cNvSpPr txBox="1"/>
          <p:nvPr/>
        </p:nvSpPr>
        <p:spPr>
          <a:xfrm>
            <a:off x="6739128" y="535838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happens below it</a:t>
            </a:r>
            <a:endParaRPr lang="en-US" sz="1300" dirty="0"/>
          </a:p>
        </p:txBody>
      </p:sp>
      <p:sp>
        <p:nvSpPr>
          <p:cNvPr id="44" name="Text 42"/>
          <p:cNvSpPr txBox="1"/>
          <p:nvPr/>
        </p:nvSpPr>
        <p:spPr>
          <a:xfrm>
            <a:off x="9144000" y="535838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Approval route when a deal prices under the floor</a:t>
            </a:r>
            <a:endParaRPr lang="en-US" sz="1150" dirty="0"/>
          </a:p>
        </p:txBody>
      </p:sp>
      <p:sp>
        <p:nvSpPr>
          <p:cNvPr id="45" name="Text 43"/>
          <p:cNvSpPr txBox="1"/>
          <p:nvPr/>
        </p:nvSpPr>
        <p:spPr>
          <a:xfrm>
            <a:off x="640080" y="6263640"/>
            <a:ext cx="10881360" cy="320040"/>
          </a:xfrm>
          <a:prstGeom prst="rect">
            <a:avLst/>
          </a:prstGeom>
          <a:noFill/>
          <a:ln/>
        </p:spPr>
        <p:txBody>
          <a:bodyPr wrap="square" lIns="0" tIns="0" rIns="0" bIns="0" rtlCol="0" anchor="ctr"/>
          <a:lstStyle/>
          <a:p>
            <a:pPr indent="0" marL="0">
              <a:buNone/>
            </a:pPr>
            <a:r>
              <a:rPr lang="en-US" sz="1150" i="1" dirty="0">
                <a:solidFill>
                  <a:srgbClr val="8792AB"/>
                </a:solidFill>
                <a:latin typeface="Calibri" pitchFamily="34" charset="0"/>
                <a:ea typeface="Calibri" pitchFamily="34" charset="-122"/>
                <a:cs typeface="Calibri" pitchFamily="34" charset="-120"/>
              </a:rPr>
              <a:t>Industrialised delivery is how acceleration gets paid for: reuse raises margin at the same price, and shortens time to value.</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Team, skills and enablement</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the capacity behind the construct, and the capability behind the capacity.</a:t>
            </a:r>
            <a:endParaRPr lang="en-US" sz="1450" dirty="0"/>
          </a:p>
        </p:txBody>
      </p:sp>
      <p:sp>
        <p:nvSpPr>
          <p:cNvPr id="4" name="Shape 2"/>
          <p:cNvSpPr/>
          <p:nvPr/>
        </p:nvSpPr>
        <p:spPr>
          <a:xfrm>
            <a:off x="640080" y="1828800"/>
            <a:ext cx="2596896" cy="3520440"/>
          </a:xfrm>
          <a:prstGeom prst="roundRect">
            <a:avLst>
              <a:gd name="adj" fmla="val 4225"/>
            </a:avLst>
          </a:prstGeom>
          <a:solidFill>
            <a:srgbClr val="EDF2FA"/>
          </a:solidFill>
          <a:ln/>
        </p:spPr>
      </p:sp>
      <p:sp>
        <p:nvSpPr>
          <p:cNvPr id="5" name="Shape 3"/>
          <p:cNvSpPr/>
          <p:nvPr/>
        </p:nvSpPr>
        <p:spPr>
          <a:xfrm>
            <a:off x="640080" y="1828800"/>
            <a:ext cx="2596896" cy="713232"/>
          </a:xfrm>
          <a:prstGeom prst="rect">
            <a:avLst/>
          </a:prstGeom>
          <a:solidFill>
            <a:srgbClr val="1E2761"/>
          </a:solidFill>
          <a:ln/>
        </p:spPr>
      </p:sp>
      <p:sp>
        <p:nvSpPr>
          <p:cNvPr id="6" name="Text 4"/>
          <p:cNvSpPr txBox="1"/>
          <p:nvPr/>
        </p:nvSpPr>
        <p:spPr>
          <a:xfrm>
            <a:off x="841248" y="1828800"/>
            <a:ext cx="2194560" cy="7132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The dedicated team</a:t>
            </a:r>
            <a:endParaRPr lang="en-US" sz="1400" dirty="0"/>
          </a:p>
        </p:txBody>
      </p:sp>
      <p:sp>
        <p:nvSpPr>
          <p:cNvPr id="7" name="Text 5"/>
          <p:cNvSpPr txBox="1"/>
          <p:nvPr/>
        </p:nvSpPr>
        <p:spPr>
          <a:xfrm>
            <a:off x="841248" y="2697480"/>
            <a:ext cx="2212848" cy="2514600"/>
          </a:xfrm>
          <a:prstGeom prst="rect">
            <a:avLst/>
          </a:prstGeom>
          <a:noFill/>
          <a:ln/>
        </p:spPr>
        <p:txBody>
          <a:bodyPr wrap="square" lIns="0" tIns="0" rIns="0" bIns="0" rtlCol="0" anchor="ctr"/>
          <a:lstStyle/>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Who works on FSI exclusively, across the three offerings?</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Which roles and levels do they hold?</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What is realistically deliverable with them alone?</a:t>
            </a:r>
            <a:endParaRPr lang="en-US" sz="1100" dirty="0"/>
          </a:p>
        </p:txBody>
      </p:sp>
      <p:sp>
        <p:nvSpPr>
          <p:cNvPr id="8" name="Shape 6"/>
          <p:cNvSpPr/>
          <p:nvPr/>
        </p:nvSpPr>
        <p:spPr>
          <a:xfrm>
            <a:off x="3401568" y="1828800"/>
            <a:ext cx="2596896" cy="3520440"/>
          </a:xfrm>
          <a:prstGeom prst="roundRect">
            <a:avLst>
              <a:gd name="adj" fmla="val 4225"/>
            </a:avLst>
          </a:prstGeom>
          <a:solidFill>
            <a:srgbClr val="EDF2FA"/>
          </a:solidFill>
          <a:ln/>
        </p:spPr>
      </p:sp>
      <p:sp>
        <p:nvSpPr>
          <p:cNvPr id="9" name="Shape 7"/>
          <p:cNvSpPr/>
          <p:nvPr/>
        </p:nvSpPr>
        <p:spPr>
          <a:xfrm>
            <a:off x="3401568" y="1828800"/>
            <a:ext cx="2596896" cy="713232"/>
          </a:xfrm>
          <a:prstGeom prst="rect">
            <a:avLst/>
          </a:prstGeom>
          <a:solidFill>
            <a:srgbClr val="3E5C8A"/>
          </a:solidFill>
          <a:ln/>
        </p:spPr>
      </p:sp>
      <p:sp>
        <p:nvSpPr>
          <p:cNvPr id="10" name="Text 8"/>
          <p:cNvSpPr txBox="1"/>
          <p:nvPr/>
        </p:nvSpPr>
        <p:spPr>
          <a:xfrm>
            <a:off x="3602736" y="1828800"/>
            <a:ext cx="2194560" cy="7132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Shared capacity</a:t>
            </a:r>
            <a:endParaRPr lang="en-US" sz="1400" dirty="0"/>
          </a:p>
        </p:txBody>
      </p:sp>
      <p:sp>
        <p:nvSpPr>
          <p:cNvPr id="11" name="Text 9"/>
          <p:cNvSpPr txBox="1"/>
          <p:nvPr/>
        </p:nvSpPr>
        <p:spPr>
          <a:xfrm>
            <a:off x="3602736" y="2697480"/>
            <a:ext cx="2212848" cy="2514600"/>
          </a:xfrm>
          <a:prstGeom prst="rect">
            <a:avLst/>
          </a:prstGeom>
          <a:noFill/>
          <a:ln/>
        </p:spPr>
        <p:txBody>
          <a:bodyPr wrap="square" lIns="0" tIns="0" rIns="0" bIns="0" rtlCol="0" anchor="ctr"/>
          <a:lstStyle/>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Which resources are shared with other portfolios?</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How much of their time can we count on?</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Which skills do we borrow rather than own?</a:t>
            </a:r>
            <a:endParaRPr lang="en-US" sz="1100" dirty="0"/>
          </a:p>
        </p:txBody>
      </p:sp>
      <p:sp>
        <p:nvSpPr>
          <p:cNvPr id="12" name="Shape 10"/>
          <p:cNvSpPr/>
          <p:nvPr/>
        </p:nvSpPr>
        <p:spPr>
          <a:xfrm>
            <a:off x="6163056" y="1828800"/>
            <a:ext cx="2596896" cy="3520440"/>
          </a:xfrm>
          <a:prstGeom prst="roundRect">
            <a:avLst>
              <a:gd name="adj" fmla="val 4225"/>
            </a:avLst>
          </a:prstGeom>
          <a:solidFill>
            <a:srgbClr val="EDF2FA"/>
          </a:solidFill>
          <a:ln/>
        </p:spPr>
      </p:sp>
      <p:sp>
        <p:nvSpPr>
          <p:cNvPr id="13" name="Shape 11"/>
          <p:cNvSpPr/>
          <p:nvPr/>
        </p:nvSpPr>
        <p:spPr>
          <a:xfrm>
            <a:off x="6163056" y="1828800"/>
            <a:ext cx="2596896" cy="713232"/>
          </a:xfrm>
          <a:prstGeom prst="rect">
            <a:avLst/>
          </a:prstGeom>
          <a:solidFill>
            <a:srgbClr val="1E2761"/>
          </a:solidFill>
          <a:ln/>
        </p:spPr>
      </p:sp>
      <p:sp>
        <p:nvSpPr>
          <p:cNvPr id="14" name="Text 12"/>
          <p:cNvSpPr txBox="1"/>
          <p:nvPr/>
        </p:nvSpPr>
        <p:spPr>
          <a:xfrm>
            <a:off x="6364224" y="1828800"/>
            <a:ext cx="2194560" cy="7132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Skills and enablement</a:t>
            </a:r>
            <a:endParaRPr lang="en-US" sz="1400" dirty="0"/>
          </a:p>
        </p:txBody>
      </p:sp>
      <p:sp>
        <p:nvSpPr>
          <p:cNvPr id="15" name="Text 13"/>
          <p:cNvSpPr txBox="1"/>
          <p:nvPr/>
        </p:nvSpPr>
        <p:spPr>
          <a:xfrm>
            <a:off x="6364224" y="2697480"/>
            <a:ext cx="2212848" cy="2514600"/>
          </a:xfrm>
          <a:prstGeom prst="rect">
            <a:avLst/>
          </a:prstGeom>
          <a:noFill/>
          <a:ln/>
        </p:spPr>
        <p:txBody>
          <a:bodyPr wrap="square" lIns="0" tIns="0" rIns="0" bIns="0" rtlCol="0" anchor="ctr"/>
          <a:lstStyle/>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Which capabilities does the catalogue actually require?</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What domain training and FSI certification is needed?</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What alliance and platform certification must we hold?</a:t>
            </a:r>
            <a:endParaRPr lang="en-US" sz="1100" dirty="0"/>
          </a:p>
        </p:txBody>
      </p:sp>
      <p:sp>
        <p:nvSpPr>
          <p:cNvPr id="16" name="Shape 14"/>
          <p:cNvSpPr/>
          <p:nvPr/>
        </p:nvSpPr>
        <p:spPr>
          <a:xfrm>
            <a:off x="8924544" y="1828800"/>
            <a:ext cx="2596896" cy="3520440"/>
          </a:xfrm>
          <a:prstGeom prst="roundRect">
            <a:avLst>
              <a:gd name="adj" fmla="val 4225"/>
            </a:avLst>
          </a:prstGeom>
          <a:solidFill>
            <a:srgbClr val="EDF2FA"/>
          </a:solidFill>
          <a:ln/>
        </p:spPr>
      </p:sp>
      <p:sp>
        <p:nvSpPr>
          <p:cNvPr id="17" name="Shape 15"/>
          <p:cNvSpPr/>
          <p:nvPr/>
        </p:nvSpPr>
        <p:spPr>
          <a:xfrm>
            <a:off x="8924544" y="1828800"/>
            <a:ext cx="2596896" cy="713232"/>
          </a:xfrm>
          <a:prstGeom prst="rect">
            <a:avLst/>
          </a:prstGeom>
          <a:solidFill>
            <a:srgbClr val="3E5C8A"/>
          </a:solidFill>
          <a:ln/>
        </p:spPr>
      </p:sp>
      <p:sp>
        <p:nvSpPr>
          <p:cNvPr id="18" name="Text 16"/>
          <p:cNvSpPr txBox="1"/>
          <p:nvPr/>
        </p:nvSpPr>
        <p:spPr>
          <a:xfrm>
            <a:off x="9125712" y="1828800"/>
            <a:ext cx="2194560" cy="7132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The gap to close</a:t>
            </a:r>
            <a:endParaRPr lang="en-US" sz="1400" dirty="0"/>
          </a:p>
        </p:txBody>
      </p:sp>
      <p:sp>
        <p:nvSpPr>
          <p:cNvPr id="19" name="Text 17"/>
          <p:cNvSpPr txBox="1"/>
          <p:nvPr/>
        </p:nvSpPr>
        <p:spPr>
          <a:xfrm>
            <a:off x="9125712" y="2697480"/>
            <a:ext cx="2212848" cy="2514600"/>
          </a:xfrm>
          <a:prstGeom prst="rect">
            <a:avLst/>
          </a:prstGeom>
          <a:noFill/>
          <a:ln/>
        </p:spPr>
        <p:txBody>
          <a:bodyPr wrap="square" lIns="0" tIns="0" rIns="0" bIns="0" rtlCol="0" anchor="ctr"/>
          <a:lstStyle/>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How many partners, directors and delivery staff are missing?</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Build, borrow or buy for each gap?</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By when, to support the targets we set?</a:t>
            </a:r>
            <a:endParaRPr lang="en-US" sz="1100" dirty="0"/>
          </a:p>
        </p:txBody>
      </p:sp>
      <p:sp>
        <p:nvSpPr>
          <p:cNvPr id="20" name="Shape 18"/>
          <p:cNvSpPr/>
          <p:nvPr/>
        </p:nvSpPr>
        <p:spPr>
          <a:xfrm>
            <a:off x="3566160" y="5532120"/>
            <a:ext cx="5029200" cy="301752"/>
          </a:xfrm>
          <a:prstGeom prst="roundRect">
            <a:avLst>
              <a:gd name="adj" fmla="val 48485"/>
            </a:avLst>
          </a:prstGeom>
          <a:solidFill>
            <a:srgbClr val="FFFFFF"/>
          </a:solidFill>
          <a:ln w="12700">
            <a:solidFill>
              <a:srgbClr val="B8862B"/>
            </a:solidFill>
            <a:prstDash val="solid"/>
          </a:ln>
        </p:spPr>
      </p:sp>
      <p:sp>
        <p:nvSpPr>
          <p:cNvPr id="21" name="Text 19"/>
          <p:cNvSpPr txBox="1"/>
          <p:nvPr/>
        </p:nvSpPr>
        <p:spPr>
          <a:xfrm>
            <a:off x="3566160" y="5532120"/>
            <a:ext cx="5029200" cy="301752"/>
          </a:xfrm>
          <a:prstGeom prst="rect">
            <a:avLst/>
          </a:prstGeom>
          <a:noFill/>
          <a:ln/>
        </p:spPr>
        <p:txBody>
          <a:bodyPr wrap="square" lIns="0" tIns="0" rIns="0" bIns="0" rtlCol="0" anchor="ctr"/>
          <a:lstStyle/>
          <a:p>
            <a:pPr algn="ctr" indent="0" marL="0">
              <a:buNone/>
            </a:pPr>
            <a:r>
              <a:rPr lang="en-US" sz="1050" i="1" dirty="0">
                <a:solidFill>
                  <a:srgbClr val="B8862B"/>
                </a:solidFill>
                <a:latin typeface="Calibri" pitchFamily="34" charset="0"/>
                <a:ea typeface="Calibri" pitchFamily="34" charset="-122"/>
                <a:cs typeface="Calibri" pitchFamily="34" charset="-120"/>
              </a:rPr>
              <a:t>names, numbers and dates to be defined in the cycle</a:t>
            </a:r>
            <a:endParaRPr lang="en-US" sz="1050" dirty="0"/>
          </a:p>
        </p:txBody>
      </p:sp>
      <p:sp>
        <p:nvSpPr>
          <p:cNvPr id="22" name="Text 20"/>
          <p:cNvSpPr txBox="1"/>
          <p:nvPr/>
        </p:nvSpPr>
        <p:spPr>
          <a:xfrm>
            <a:off x="640080" y="6035040"/>
            <a:ext cx="10881360" cy="365760"/>
          </a:xfrm>
          <a:prstGeom prst="rect">
            <a:avLst/>
          </a:prstGeom>
          <a:noFill/>
          <a:ln/>
        </p:spPr>
        <p:txBody>
          <a:bodyPr wrap="square" lIns="0" tIns="0" rIns="0" bIns="0" rtlCol="0" anchor="ctr"/>
          <a:lstStyle/>
          <a:p>
            <a:pPr indent="0" marL="0">
              <a:buNone/>
            </a:pPr>
            <a:r>
              <a:rPr lang="en-US" sz="1300" i="1" dirty="0">
                <a:solidFill>
                  <a:srgbClr val="3E5C8A"/>
                </a:solidFill>
                <a:latin typeface="Calibri" pitchFamily="34" charset="0"/>
                <a:ea typeface="Calibri" pitchFamily="34" charset="-122"/>
                <a:cs typeface="Calibri" pitchFamily="34" charset="-120"/>
              </a:rPr>
              <a:t>Targets we cannot staff are not targets — and staff without the domain credential cannot sell the work.</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Why us and not them</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the argument we have to be able to make, and the evidence it needs.</a:t>
            </a:r>
            <a:endParaRPr lang="en-US" sz="1450" dirty="0"/>
          </a:p>
        </p:txBody>
      </p:sp>
      <p:sp>
        <p:nvSpPr>
          <p:cNvPr id="4" name="Shape 2"/>
          <p:cNvSpPr/>
          <p:nvPr/>
        </p:nvSpPr>
        <p:spPr>
          <a:xfrm>
            <a:off x="640080" y="1828800"/>
            <a:ext cx="5257800" cy="1188720"/>
          </a:xfrm>
          <a:prstGeom prst="roundRect">
            <a:avLst>
              <a:gd name="adj" fmla="val 7692"/>
            </a:avLst>
          </a:prstGeom>
          <a:solidFill>
            <a:srgbClr val="EDF2FA"/>
          </a:solidFill>
          <a:ln/>
        </p:spPr>
      </p:sp>
      <p:sp>
        <p:nvSpPr>
          <p:cNvPr id="5" name="Text 3"/>
          <p:cNvSpPr txBox="1"/>
          <p:nvPr/>
        </p:nvSpPr>
        <p:spPr>
          <a:xfrm>
            <a:off x="914400" y="1956816"/>
            <a:ext cx="4663440" cy="310896"/>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They do it themselves</a:t>
            </a:r>
            <a:endParaRPr lang="en-US" sz="1450" dirty="0"/>
          </a:p>
        </p:txBody>
      </p:sp>
      <p:sp>
        <p:nvSpPr>
          <p:cNvPr id="6" name="Text 4"/>
          <p:cNvSpPr txBox="1"/>
          <p:nvPr/>
        </p:nvSpPr>
        <p:spPr>
          <a:xfrm>
            <a:off x="914400" y="2304288"/>
            <a:ext cx="4709160" cy="640080"/>
          </a:xfrm>
          <a:prstGeom prst="rect">
            <a:avLst/>
          </a:prstGeom>
          <a:noFill/>
          <a:ln/>
        </p:spPr>
        <p:txBody>
          <a:bodyPr wrap="square" lIns="0" tIns="0" rIns="0" bIns="0" rtlCol="0" anchor="ctr"/>
          <a:lstStyle/>
          <a:p>
            <a:pPr indent="0" marL="0">
              <a:buNone/>
            </a:pPr>
            <a:r>
              <a:rPr lang="en-US" sz="1100" dirty="0">
                <a:solidFill>
                  <a:srgbClr val="44506B"/>
                </a:solidFill>
                <a:latin typeface="Calibri" pitchFamily="34" charset="0"/>
                <a:ea typeface="Calibri" pitchFamily="34" charset="-122"/>
                <a:cs typeface="Calibri" pitchFamily="34" charset="-120"/>
              </a:rPr>
              <a:t>An internal team can build. It cannot govern a dozen streams, a vendor ecosystem and a regulator at once while running the institution.</a:t>
            </a:r>
            <a:endParaRPr lang="en-US" sz="1100" dirty="0"/>
          </a:p>
        </p:txBody>
      </p:sp>
      <p:sp>
        <p:nvSpPr>
          <p:cNvPr id="7" name="Shape 5"/>
          <p:cNvSpPr/>
          <p:nvPr/>
        </p:nvSpPr>
        <p:spPr>
          <a:xfrm>
            <a:off x="6263640" y="1828800"/>
            <a:ext cx="5257800" cy="1188720"/>
          </a:xfrm>
          <a:prstGeom prst="roundRect">
            <a:avLst>
              <a:gd name="adj" fmla="val 7692"/>
            </a:avLst>
          </a:prstGeom>
          <a:solidFill>
            <a:srgbClr val="EDF2FA"/>
          </a:solidFill>
          <a:ln/>
        </p:spPr>
      </p:sp>
      <p:sp>
        <p:nvSpPr>
          <p:cNvPr id="8" name="Text 6"/>
          <p:cNvSpPr txBox="1"/>
          <p:nvPr/>
        </p:nvSpPr>
        <p:spPr>
          <a:xfrm>
            <a:off x="6537960" y="1956816"/>
            <a:ext cx="4663440" cy="310896"/>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A lower-cost integrator</a:t>
            </a:r>
            <a:endParaRPr lang="en-US" sz="1450" dirty="0"/>
          </a:p>
        </p:txBody>
      </p:sp>
      <p:sp>
        <p:nvSpPr>
          <p:cNvPr id="9" name="Text 7"/>
          <p:cNvSpPr txBox="1"/>
          <p:nvPr/>
        </p:nvSpPr>
        <p:spPr>
          <a:xfrm>
            <a:off x="6537960" y="2304288"/>
            <a:ext cx="4709160" cy="640080"/>
          </a:xfrm>
          <a:prstGeom prst="rect">
            <a:avLst/>
          </a:prstGeom>
          <a:noFill/>
          <a:ln/>
        </p:spPr>
        <p:txBody>
          <a:bodyPr wrap="square" lIns="0" tIns="0" rIns="0" bIns="0" rtlCol="0" anchor="ctr"/>
          <a:lstStyle/>
          <a:p>
            <a:pPr indent="0" marL="0">
              <a:buNone/>
            </a:pPr>
            <a:r>
              <a:rPr lang="en-US" sz="1100" dirty="0">
                <a:solidFill>
                  <a:srgbClr val="44506B"/>
                </a:solidFill>
                <a:latin typeface="Calibri" pitchFamily="34" charset="0"/>
                <a:ea typeface="Calibri" pitchFamily="34" charset="-122"/>
                <a:cs typeface="Calibri" pitchFamily="34" charset="-120"/>
              </a:rPr>
              <a:t>Cheaper capacity is everywhere. What is scarce is the judgement to sequence complex change, and accountability when it moves.</a:t>
            </a:r>
            <a:endParaRPr lang="en-US" sz="1100" dirty="0"/>
          </a:p>
        </p:txBody>
      </p:sp>
      <p:sp>
        <p:nvSpPr>
          <p:cNvPr id="10" name="Shape 8"/>
          <p:cNvSpPr/>
          <p:nvPr/>
        </p:nvSpPr>
        <p:spPr>
          <a:xfrm>
            <a:off x="640080" y="3200400"/>
            <a:ext cx="5257800" cy="1188720"/>
          </a:xfrm>
          <a:prstGeom prst="roundRect">
            <a:avLst>
              <a:gd name="adj" fmla="val 7692"/>
            </a:avLst>
          </a:prstGeom>
          <a:solidFill>
            <a:srgbClr val="EDF2FA"/>
          </a:solidFill>
          <a:ln/>
        </p:spPr>
      </p:sp>
      <p:sp>
        <p:nvSpPr>
          <p:cNvPr id="11" name="Text 9"/>
          <p:cNvSpPr txBox="1"/>
          <p:nvPr/>
        </p:nvSpPr>
        <p:spPr>
          <a:xfrm>
            <a:off x="914400" y="3328416"/>
            <a:ext cx="4663440" cy="310896"/>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A product vendor</a:t>
            </a:r>
            <a:endParaRPr lang="en-US" sz="1450" dirty="0"/>
          </a:p>
        </p:txBody>
      </p:sp>
      <p:sp>
        <p:nvSpPr>
          <p:cNvPr id="12" name="Text 10"/>
          <p:cNvSpPr txBox="1"/>
          <p:nvPr/>
        </p:nvSpPr>
        <p:spPr>
          <a:xfrm>
            <a:off x="914400" y="3675888"/>
            <a:ext cx="4709160" cy="640080"/>
          </a:xfrm>
          <a:prstGeom prst="rect">
            <a:avLst/>
          </a:prstGeom>
          <a:noFill/>
          <a:ln/>
        </p:spPr>
        <p:txBody>
          <a:bodyPr wrap="square" lIns="0" tIns="0" rIns="0" bIns="0" rtlCol="0" anchor="ctr"/>
          <a:lstStyle/>
          <a:p>
            <a:pPr indent="0" marL="0">
              <a:buNone/>
            </a:pPr>
            <a:r>
              <a:rPr lang="en-US" sz="1100" dirty="0">
                <a:solidFill>
                  <a:srgbClr val="44506B"/>
                </a:solidFill>
                <a:latin typeface="Calibri" pitchFamily="34" charset="0"/>
                <a:ea typeface="Calibri" pitchFamily="34" charset="-122"/>
                <a:cs typeface="Calibri" pitchFamily="34" charset="-120"/>
              </a:rPr>
              <a:t>The vendor knows its platform. It does not own the data estate, the integration layer or the operating model around it.</a:t>
            </a:r>
            <a:endParaRPr lang="en-US" sz="1100" dirty="0"/>
          </a:p>
        </p:txBody>
      </p:sp>
      <p:sp>
        <p:nvSpPr>
          <p:cNvPr id="13" name="Shape 11"/>
          <p:cNvSpPr/>
          <p:nvPr/>
        </p:nvSpPr>
        <p:spPr>
          <a:xfrm>
            <a:off x="6263640" y="3200400"/>
            <a:ext cx="5257800" cy="1188720"/>
          </a:xfrm>
          <a:prstGeom prst="roundRect">
            <a:avLst>
              <a:gd name="adj" fmla="val 7692"/>
            </a:avLst>
          </a:prstGeom>
          <a:solidFill>
            <a:srgbClr val="EDF2FA"/>
          </a:solidFill>
          <a:ln/>
        </p:spPr>
      </p:sp>
      <p:sp>
        <p:nvSpPr>
          <p:cNvPr id="14" name="Text 12"/>
          <p:cNvSpPr txBox="1"/>
          <p:nvPr/>
        </p:nvSpPr>
        <p:spPr>
          <a:xfrm>
            <a:off x="6537960" y="3328416"/>
            <a:ext cx="4663440" cy="310896"/>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A global SI</a:t>
            </a:r>
            <a:endParaRPr lang="en-US" sz="1450" dirty="0"/>
          </a:p>
        </p:txBody>
      </p:sp>
      <p:sp>
        <p:nvSpPr>
          <p:cNvPr id="15" name="Text 13"/>
          <p:cNvSpPr txBox="1"/>
          <p:nvPr/>
        </p:nvSpPr>
        <p:spPr>
          <a:xfrm>
            <a:off x="6537960" y="3675888"/>
            <a:ext cx="4709160" cy="640080"/>
          </a:xfrm>
          <a:prstGeom prst="rect">
            <a:avLst/>
          </a:prstGeom>
          <a:noFill/>
          <a:ln/>
        </p:spPr>
        <p:txBody>
          <a:bodyPr wrap="square" lIns="0" tIns="0" rIns="0" bIns="0" rtlCol="0" anchor="ctr"/>
          <a:lstStyle/>
          <a:p>
            <a:pPr indent="0" marL="0">
              <a:buNone/>
            </a:pPr>
            <a:r>
              <a:rPr lang="en-US" sz="1100" dirty="0">
                <a:solidFill>
                  <a:srgbClr val="44506B"/>
                </a:solidFill>
                <a:latin typeface="Calibri" pitchFamily="34" charset="0"/>
                <a:ea typeface="Calibri" pitchFamily="34" charset="-122"/>
                <a:cs typeface="Calibri" pitchFamily="34" charset="-120"/>
              </a:rPr>
              <a:t>Scale is not scarce here either. Sector depth, regional presence and a team that stays after go-live are.</a:t>
            </a:r>
            <a:endParaRPr lang="en-US" sz="1100" dirty="0"/>
          </a:p>
        </p:txBody>
      </p:sp>
      <p:sp>
        <p:nvSpPr>
          <p:cNvPr id="16" name="Text 14"/>
          <p:cNvSpPr txBox="1"/>
          <p:nvPr/>
        </p:nvSpPr>
        <p:spPr>
          <a:xfrm>
            <a:off x="640080" y="4709160"/>
            <a:ext cx="10881360" cy="32004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The evidence this argument needs</a:t>
            </a:r>
            <a:endParaRPr lang="en-US" sz="1400" dirty="0"/>
          </a:p>
        </p:txBody>
      </p:sp>
      <p:sp>
        <p:nvSpPr>
          <p:cNvPr id="17" name="Text 15"/>
          <p:cNvSpPr txBox="1"/>
          <p:nvPr/>
        </p:nvSpPr>
        <p:spPr>
          <a:xfrm>
            <a:off x="640080" y="5074920"/>
            <a:ext cx="10881360" cy="1097280"/>
          </a:xfrm>
          <a:prstGeom prst="rect">
            <a:avLst/>
          </a:prstGeom>
          <a:noFill/>
          <a:ln/>
        </p:spPr>
        <p:txBody>
          <a:bodyPr wrap="square" lIns="0" tIns="0" rIns="0" bIns="0" rtlCol="0" anchor="ctr"/>
          <a:lstStyle/>
          <a:p>
            <a:pPr marL="342900" indent="-342900">
              <a:spcAft>
                <a:spcPts val="500"/>
              </a:spcAft>
              <a:buSzPct val="100000"/>
              <a:buChar char="•"/>
            </a:pPr>
            <a:r>
              <a:rPr lang="en-US" sz="1200" dirty="0">
                <a:solidFill>
                  <a:srgbClr val="44506B"/>
                </a:solidFill>
                <a:latin typeface="Calibri" pitchFamily="34" charset="0"/>
                <a:ea typeface="Calibri" pitchFamily="34" charset="-122"/>
                <a:cs typeface="Calibri" pitchFamily="34" charset="-120"/>
              </a:rPr>
              <a:t>Programmes that landed — named, including what went wrong and how it was recovered</a:t>
            </a:r>
            <a:endParaRPr lang="en-US" sz="1200" dirty="0"/>
          </a:p>
          <a:p>
            <a:pPr marL="342900" indent="-342900">
              <a:spcAft>
                <a:spcPts val="500"/>
              </a:spcAft>
              <a:buSzPct val="100000"/>
              <a:buChar char="•"/>
            </a:pPr>
            <a:r>
              <a:rPr lang="en-US" sz="1200" dirty="0">
                <a:solidFill>
                  <a:srgbClr val="44506B"/>
                </a:solidFill>
                <a:latin typeface="Calibri" pitchFamily="34" charset="0"/>
                <a:ea typeface="Calibri" pitchFamily="34" charset="-122"/>
                <a:cs typeface="Calibri" pitchFamily="34" charset="-120"/>
              </a:rPr>
              <a:t>Multi-stream governance depth we can point to, not describe</a:t>
            </a:r>
            <a:endParaRPr lang="en-US" sz="1200" dirty="0"/>
          </a:p>
          <a:p>
            <a:pPr marL="342900" indent="-342900">
              <a:spcAft>
                <a:spcPts val="500"/>
              </a:spcAft>
              <a:buSzPct val="100000"/>
              <a:buChar char="•"/>
            </a:pPr>
            <a:r>
              <a:rPr lang="en-US" sz="1200" dirty="0">
                <a:solidFill>
                  <a:srgbClr val="44506B"/>
                </a:solidFill>
                <a:latin typeface="Calibri" pitchFamily="34" charset="0"/>
                <a:ea typeface="Calibri" pitchFamily="34" charset="-122"/>
                <a:cs typeface="Calibri" pitchFamily="34" charset="-120"/>
              </a:rPr>
              <a:t>Sector credentials in each of banking, funds and insurance</a:t>
            </a:r>
            <a:endParaRPr lang="en-US" sz="1200" dirty="0"/>
          </a:p>
          <a:p>
            <a:pPr marL="342900" indent="-342900">
              <a:spcAft>
                <a:spcPts val="500"/>
              </a:spcAft>
              <a:buSzPct val="100000"/>
              <a:buChar char="•"/>
            </a:pPr>
            <a:r>
              <a:rPr lang="en-US" sz="1200" dirty="0">
                <a:solidFill>
                  <a:srgbClr val="44506B"/>
                </a:solidFill>
                <a:latin typeface="Calibri" pitchFamily="34" charset="0"/>
                <a:ea typeface="Calibri" pitchFamily="34" charset="-122"/>
                <a:cs typeface="Calibri" pitchFamily="34" charset="-120"/>
              </a:rPr>
              <a:t>Assets and accelerators a client can see working</a:t>
            </a:r>
            <a:endParaRPr lang="en-US" sz="1200" dirty="0"/>
          </a:p>
        </p:txBody>
      </p:sp>
      <p:sp>
        <p:nvSpPr>
          <p:cNvPr id="18" name="Text 16"/>
          <p:cNvSpPr txBox="1"/>
          <p:nvPr/>
        </p:nvSpPr>
        <p:spPr>
          <a:xfrm>
            <a:off x="640080" y="6309360"/>
            <a:ext cx="10881360" cy="320040"/>
          </a:xfrm>
          <a:prstGeom prst="rect">
            <a:avLst/>
          </a:prstGeom>
          <a:noFill/>
          <a:ln/>
        </p:spPr>
        <p:txBody>
          <a:bodyPr wrap="square" lIns="0" tIns="0" rIns="0" bIns="0" rtlCol="0" anchor="ctr"/>
          <a:lstStyle/>
          <a:p>
            <a:pPr indent="0" marL="0">
              <a:buNone/>
            </a:pPr>
            <a:r>
              <a:rPr lang="en-US" sz="1200" i="1" dirty="0">
                <a:solidFill>
                  <a:srgbClr val="3E5C8A"/>
                </a:solidFill>
                <a:latin typeface="Calibri" pitchFamily="34" charset="0"/>
                <a:ea typeface="Calibri" pitchFamily="34" charset="-122"/>
                <a:cs typeface="Calibri" pitchFamily="34" charset="-120"/>
              </a:rPr>
              <a:t>The cycle names the evidence we have — and turns what we are missing into an initiative.</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Alliances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two categories, used for different things.</a:t>
            </a:r>
            <a:endParaRPr lang="en-US" sz="1450" dirty="0"/>
          </a:p>
        </p:txBody>
      </p:sp>
      <p:sp>
        <p:nvSpPr>
          <p:cNvPr id="4" name="Shape 2"/>
          <p:cNvSpPr/>
          <p:nvPr/>
        </p:nvSpPr>
        <p:spPr>
          <a:xfrm>
            <a:off x="640080" y="1783080"/>
            <a:ext cx="10881360" cy="1874520"/>
          </a:xfrm>
          <a:prstGeom prst="roundRect">
            <a:avLst>
              <a:gd name="adj" fmla="val 5854"/>
            </a:avLst>
          </a:prstGeom>
          <a:solidFill>
            <a:srgbClr val="EDF2FA"/>
          </a:solidFill>
          <a:ln/>
        </p:spPr>
      </p:sp>
      <p:sp>
        <p:nvSpPr>
          <p:cNvPr id="5" name="Shape 3"/>
          <p:cNvSpPr/>
          <p:nvPr/>
        </p:nvSpPr>
        <p:spPr>
          <a:xfrm>
            <a:off x="640080" y="1783080"/>
            <a:ext cx="2514600" cy="1874520"/>
          </a:xfrm>
          <a:prstGeom prst="rect">
            <a:avLst/>
          </a:prstGeom>
          <a:solidFill>
            <a:srgbClr val="1E2761"/>
          </a:solidFill>
          <a:ln/>
        </p:spPr>
      </p:sp>
      <p:sp>
        <p:nvSpPr>
          <p:cNvPr id="6" name="Text 4"/>
          <p:cNvSpPr txBox="1"/>
          <p:nvPr/>
        </p:nvSpPr>
        <p:spPr>
          <a:xfrm>
            <a:off x="841248" y="1874520"/>
            <a:ext cx="2194560" cy="777240"/>
          </a:xfrm>
          <a:prstGeom prst="rect">
            <a:avLst/>
          </a:prstGeom>
          <a:noFill/>
          <a:ln/>
        </p:spPr>
        <p:txBody>
          <a:bodyPr wrap="square" lIns="0" tIns="0" rIns="0" bIns="0" rtlCol="0" anchor="ctr"/>
          <a:lstStyle/>
          <a:p>
            <a:pPr indent="0" marL="0">
              <a:lnSpc>
                <a:spcPts val="1700"/>
              </a:lnSpc>
              <a:buNone/>
            </a:pPr>
            <a:r>
              <a:rPr lang="en-US" sz="1450" b="1" dirty="0">
                <a:solidFill>
                  <a:srgbClr val="FFFFFF"/>
                </a:solidFill>
                <a:latin typeface="Calibri" pitchFamily="34" charset="0"/>
                <a:ea typeface="Calibri" pitchFamily="34" charset="-122"/>
                <a:cs typeface="Calibri" pitchFamily="34" charset="-120"/>
              </a:rPr>
              <a:t>Broad technology</a:t>
            </a:r>
            <a:endParaRPr lang="en-US" sz="1450" dirty="0"/>
          </a:p>
          <a:p>
            <a:pPr indent="0" marL="0">
              <a:lnSpc>
                <a:spcPts val="1700"/>
              </a:lnSpc>
              <a:buNone/>
            </a:pPr>
            <a:r>
              <a:rPr lang="en-US" sz="1450" b="1" dirty="0">
                <a:solidFill>
                  <a:srgbClr val="FFFFFF"/>
                </a:solidFill>
                <a:latin typeface="Calibri" pitchFamily="34" charset="0"/>
                <a:ea typeface="Calibri" pitchFamily="34" charset="-122"/>
                <a:cs typeface="Calibri" pitchFamily="34" charset="-120"/>
              </a:rPr>
              <a:t>alliances</a:t>
            </a:r>
            <a:endParaRPr lang="en-US" sz="1450" dirty="0"/>
          </a:p>
        </p:txBody>
      </p:sp>
      <p:sp>
        <p:nvSpPr>
          <p:cNvPr id="7" name="Text 5"/>
          <p:cNvSpPr txBox="1"/>
          <p:nvPr/>
        </p:nvSpPr>
        <p:spPr>
          <a:xfrm>
            <a:off x="841248" y="2743200"/>
            <a:ext cx="2194560" cy="54864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Relevant to every proposition</a:t>
            </a:r>
            <a:endParaRPr lang="en-US" sz="1100" dirty="0"/>
          </a:p>
        </p:txBody>
      </p:sp>
      <p:sp>
        <p:nvSpPr>
          <p:cNvPr id="8" name="Shape 6"/>
          <p:cNvSpPr/>
          <p:nvPr/>
        </p:nvSpPr>
        <p:spPr>
          <a:xfrm>
            <a:off x="3429000" y="2011680"/>
            <a:ext cx="1783080" cy="685800"/>
          </a:xfrm>
          <a:prstGeom prst="roundRect">
            <a:avLst>
              <a:gd name="adj" fmla="val 13333"/>
            </a:avLst>
          </a:prstGeom>
          <a:solidFill>
            <a:srgbClr val="3E5C8A"/>
          </a:solidFill>
          <a:ln/>
        </p:spPr>
      </p:sp>
      <p:sp>
        <p:nvSpPr>
          <p:cNvPr id="9" name="Text 7"/>
          <p:cNvSpPr txBox="1"/>
          <p:nvPr/>
        </p:nvSpPr>
        <p:spPr>
          <a:xfrm>
            <a:off x="3429000" y="2011680"/>
            <a:ext cx="1783080" cy="6858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Google</a:t>
            </a:r>
            <a:endParaRPr lang="en-US" sz="1500" dirty="0"/>
          </a:p>
        </p:txBody>
      </p:sp>
      <p:sp>
        <p:nvSpPr>
          <p:cNvPr id="10" name="Shape 8"/>
          <p:cNvSpPr/>
          <p:nvPr/>
        </p:nvSpPr>
        <p:spPr>
          <a:xfrm>
            <a:off x="5394960" y="2011680"/>
            <a:ext cx="1783080" cy="685800"/>
          </a:xfrm>
          <a:prstGeom prst="roundRect">
            <a:avLst>
              <a:gd name="adj" fmla="val 13333"/>
            </a:avLst>
          </a:prstGeom>
          <a:solidFill>
            <a:srgbClr val="3E5C8A"/>
          </a:solidFill>
          <a:ln/>
        </p:spPr>
      </p:sp>
      <p:sp>
        <p:nvSpPr>
          <p:cNvPr id="11" name="Text 9"/>
          <p:cNvSpPr txBox="1"/>
          <p:nvPr/>
        </p:nvSpPr>
        <p:spPr>
          <a:xfrm>
            <a:off x="5394960" y="2011680"/>
            <a:ext cx="1783080" cy="6858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AWS</a:t>
            </a:r>
            <a:endParaRPr lang="en-US" sz="1500" dirty="0"/>
          </a:p>
        </p:txBody>
      </p:sp>
      <p:sp>
        <p:nvSpPr>
          <p:cNvPr id="12" name="Shape 10"/>
          <p:cNvSpPr/>
          <p:nvPr/>
        </p:nvSpPr>
        <p:spPr>
          <a:xfrm>
            <a:off x="7360920" y="2011680"/>
            <a:ext cx="1783080" cy="685800"/>
          </a:xfrm>
          <a:prstGeom prst="roundRect">
            <a:avLst>
              <a:gd name="adj" fmla="val 13333"/>
            </a:avLst>
          </a:prstGeom>
          <a:solidFill>
            <a:srgbClr val="3E5C8A"/>
          </a:solidFill>
          <a:ln/>
        </p:spPr>
      </p:sp>
      <p:sp>
        <p:nvSpPr>
          <p:cNvPr id="13" name="Text 11"/>
          <p:cNvSpPr txBox="1"/>
          <p:nvPr/>
        </p:nvSpPr>
        <p:spPr>
          <a:xfrm>
            <a:off x="7360920" y="2011680"/>
            <a:ext cx="1783080" cy="6858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Microsoft</a:t>
            </a:r>
            <a:endParaRPr lang="en-US" sz="1500" dirty="0"/>
          </a:p>
        </p:txBody>
      </p:sp>
      <p:sp>
        <p:nvSpPr>
          <p:cNvPr id="14" name="Shape 12"/>
          <p:cNvSpPr/>
          <p:nvPr/>
        </p:nvSpPr>
        <p:spPr>
          <a:xfrm>
            <a:off x="9326880" y="2011680"/>
            <a:ext cx="1783080" cy="685800"/>
          </a:xfrm>
          <a:prstGeom prst="roundRect">
            <a:avLst>
              <a:gd name="adj" fmla="val 13333"/>
            </a:avLst>
          </a:prstGeom>
          <a:solidFill>
            <a:srgbClr val="3E5C8A"/>
          </a:solidFill>
          <a:ln/>
        </p:spPr>
      </p:sp>
      <p:sp>
        <p:nvSpPr>
          <p:cNvPr id="15" name="Text 13"/>
          <p:cNvSpPr txBox="1"/>
          <p:nvPr/>
        </p:nvSpPr>
        <p:spPr>
          <a:xfrm>
            <a:off x="9326880" y="2011680"/>
            <a:ext cx="1783080" cy="6858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Oracle</a:t>
            </a:r>
            <a:endParaRPr lang="en-US" sz="1500" dirty="0"/>
          </a:p>
        </p:txBody>
      </p:sp>
      <p:sp>
        <p:nvSpPr>
          <p:cNvPr id="16" name="Text 14"/>
          <p:cNvSpPr txBox="1"/>
          <p:nvPr/>
        </p:nvSpPr>
        <p:spPr>
          <a:xfrm>
            <a:off x="3429000" y="2834640"/>
            <a:ext cx="7772400" cy="685800"/>
          </a:xfrm>
          <a:prstGeom prst="rect">
            <a:avLst/>
          </a:prstGeom>
          <a:noFill/>
          <a:ln/>
        </p:spPr>
        <p:txBody>
          <a:bodyPr wrap="square" lIns="0" tIns="0" rIns="0" bIns="0" rtlCol="0" anchor="ctr"/>
          <a:lstStyle/>
          <a:p>
            <a:pPr indent="0" marL="0">
              <a:buNone/>
            </a:pPr>
            <a:r>
              <a:rPr lang="en-US" sz="1200" dirty="0">
                <a:solidFill>
                  <a:srgbClr val="44506B"/>
                </a:solidFill>
                <a:latin typeface="Calibri" pitchFamily="34" charset="0"/>
                <a:ea typeface="Calibri" pitchFamily="34" charset="-122"/>
                <a:cs typeface="Calibri" pitchFamily="34" charset="-120"/>
              </a:rPr>
              <a:t>Used for: co-sell into their accounts · funding and credits to activate use cases on their platform · platform credibility and certifications</a:t>
            </a:r>
            <a:endParaRPr lang="en-US" sz="1200" dirty="0"/>
          </a:p>
        </p:txBody>
      </p:sp>
      <p:sp>
        <p:nvSpPr>
          <p:cNvPr id="17" name="Shape 15"/>
          <p:cNvSpPr/>
          <p:nvPr/>
        </p:nvSpPr>
        <p:spPr>
          <a:xfrm>
            <a:off x="640080" y="3794760"/>
            <a:ext cx="10881360" cy="1874520"/>
          </a:xfrm>
          <a:prstGeom prst="roundRect">
            <a:avLst>
              <a:gd name="adj" fmla="val 5854"/>
            </a:avLst>
          </a:prstGeom>
          <a:solidFill>
            <a:srgbClr val="E4EBF7"/>
          </a:solidFill>
          <a:ln/>
        </p:spPr>
      </p:sp>
      <p:sp>
        <p:nvSpPr>
          <p:cNvPr id="18" name="Shape 16"/>
          <p:cNvSpPr/>
          <p:nvPr/>
        </p:nvSpPr>
        <p:spPr>
          <a:xfrm>
            <a:off x="640080" y="3794760"/>
            <a:ext cx="2514600" cy="1874520"/>
          </a:xfrm>
          <a:prstGeom prst="rect">
            <a:avLst/>
          </a:prstGeom>
          <a:solidFill>
            <a:srgbClr val="3E5C8A"/>
          </a:solidFill>
          <a:ln/>
        </p:spPr>
      </p:sp>
      <p:sp>
        <p:nvSpPr>
          <p:cNvPr id="19" name="Text 17"/>
          <p:cNvSpPr txBox="1"/>
          <p:nvPr/>
        </p:nvSpPr>
        <p:spPr>
          <a:xfrm>
            <a:off x="841248" y="3886200"/>
            <a:ext cx="2194560" cy="777240"/>
          </a:xfrm>
          <a:prstGeom prst="rect">
            <a:avLst/>
          </a:prstGeom>
          <a:noFill/>
          <a:ln/>
        </p:spPr>
        <p:txBody>
          <a:bodyPr wrap="square" lIns="0" tIns="0" rIns="0" bIns="0" rtlCol="0" anchor="ctr"/>
          <a:lstStyle/>
          <a:p>
            <a:pPr indent="0" marL="0">
              <a:lnSpc>
                <a:spcPts val="1700"/>
              </a:lnSpc>
              <a:buNone/>
            </a:pPr>
            <a:r>
              <a:rPr lang="en-US" sz="1450" b="1" dirty="0">
                <a:solidFill>
                  <a:srgbClr val="FFFFFF"/>
                </a:solidFill>
                <a:latin typeface="Calibri" pitchFamily="34" charset="0"/>
                <a:ea typeface="Calibri" pitchFamily="34" charset="-122"/>
                <a:cs typeface="Calibri" pitchFamily="34" charset="-120"/>
              </a:rPr>
              <a:t>Specialised</a:t>
            </a:r>
            <a:endParaRPr lang="en-US" sz="1450" dirty="0"/>
          </a:p>
          <a:p>
            <a:pPr indent="0" marL="0">
              <a:lnSpc>
                <a:spcPts val="1700"/>
              </a:lnSpc>
              <a:buNone/>
            </a:pPr>
            <a:r>
              <a:rPr lang="en-US" sz="1450" b="1" dirty="0">
                <a:solidFill>
                  <a:srgbClr val="FFFFFF"/>
                </a:solidFill>
                <a:latin typeface="Calibri" pitchFamily="34" charset="0"/>
                <a:ea typeface="Calibri" pitchFamily="34" charset="-122"/>
                <a:cs typeface="Calibri" pitchFamily="34" charset="-120"/>
              </a:rPr>
              <a:t>product vendors</a:t>
            </a:r>
            <a:endParaRPr lang="en-US" sz="1450" dirty="0"/>
          </a:p>
        </p:txBody>
      </p:sp>
      <p:sp>
        <p:nvSpPr>
          <p:cNvPr id="20" name="Text 18"/>
          <p:cNvSpPr txBox="1"/>
          <p:nvPr/>
        </p:nvSpPr>
        <p:spPr>
          <a:xfrm>
            <a:off x="841248" y="4754880"/>
            <a:ext cx="2194560" cy="54864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Relevant to specific offerings only</a:t>
            </a:r>
            <a:endParaRPr lang="en-US" sz="1100" dirty="0"/>
          </a:p>
        </p:txBody>
      </p:sp>
      <p:sp>
        <p:nvSpPr>
          <p:cNvPr id="21" name="Shape 19"/>
          <p:cNvSpPr/>
          <p:nvPr/>
        </p:nvSpPr>
        <p:spPr>
          <a:xfrm>
            <a:off x="3429000" y="3977640"/>
            <a:ext cx="3749040" cy="658368"/>
          </a:xfrm>
          <a:prstGeom prst="roundRect">
            <a:avLst>
              <a:gd name="adj" fmla="val 13889"/>
            </a:avLst>
          </a:prstGeom>
          <a:solidFill>
            <a:srgbClr val="FFFFFF"/>
          </a:solidFill>
          <a:ln/>
        </p:spPr>
      </p:sp>
      <p:sp>
        <p:nvSpPr>
          <p:cNvPr id="22" name="Text 20"/>
          <p:cNvSpPr txBox="1"/>
          <p:nvPr/>
        </p:nvSpPr>
        <p:spPr>
          <a:xfrm>
            <a:off x="3611880" y="3977640"/>
            <a:ext cx="1828800" cy="658368"/>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Core banking</a:t>
            </a:r>
            <a:endParaRPr lang="en-US" sz="1200" dirty="0"/>
          </a:p>
        </p:txBody>
      </p:sp>
      <p:sp>
        <p:nvSpPr>
          <p:cNvPr id="23" name="Text 21"/>
          <p:cNvSpPr txBox="1"/>
          <p:nvPr/>
        </p:nvSpPr>
        <p:spPr>
          <a:xfrm>
            <a:off x="5440680" y="3977640"/>
            <a:ext cx="1645920" cy="658368"/>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Temenos · Intellect</a:t>
            </a:r>
            <a:endParaRPr lang="en-US" sz="1150" dirty="0"/>
          </a:p>
        </p:txBody>
      </p:sp>
      <p:sp>
        <p:nvSpPr>
          <p:cNvPr id="24" name="Shape 22"/>
          <p:cNvSpPr/>
          <p:nvPr/>
        </p:nvSpPr>
        <p:spPr>
          <a:xfrm>
            <a:off x="7360920" y="3977640"/>
            <a:ext cx="3749040" cy="658368"/>
          </a:xfrm>
          <a:prstGeom prst="roundRect">
            <a:avLst>
              <a:gd name="adj" fmla="val 13889"/>
            </a:avLst>
          </a:prstGeom>
          <a:solidFill>
            <a:srgbClr val="FFFFFF"/>
          </a:solidFill>
          <a:ln/>
        </p:spPr>
      </p:sp>
      <p:sp>
        <p:nvSpPr>
          <p:cNvPr id="25" name="Text 23"/>
          <p:cNvSpPr txBox="1"/>
          <p:nvPr/>
        </p:nvSpPr>
        <p:spPr>
          <a:xfrm>
            <a:off x="7543800" y="3977640"/>
            <a:ext cx="1828800" cy="658368"/>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Data platforms</a:t>
            </a:r>
            <a:endParaRPr lang="en-US" sz="1200" dirty="0"/>
          </a:p>
        </p:txBody>
      </p:sp>
      <p:sp>
        <p:nvSpPr>
          <p:cNvPr id="26" name="Text 24"/>
          <p:cNvSpPr txBox="1"/>
          <p:nvPr/>
        </p:nvSpPr>
        <p:spPr>
          <a:xfrm>
            <a:off x="9372600" y="3977640"/>
            <a:ext cx="1645920" cy="658368"/>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Informatica · others</a:t>
            </a:r>
            <a:endParaRPr lang="en-US" sz="1150" dirty="0"/>
          </a:p>
        </p:txBody>
      </p:sp>
      <p:sp>
        <p:nvSpPr>
          <p:cNvPr id="27" name="Shape 25"/>
          <p:cNvSpPr/>
          <p:nvPr/>
        </p:nvSpPr>
        <p:spPr>
          <a:xfrm>
            <a:off x="3429000" y="4754880"/>
            <a:ext cx="3749040" cy="658368"/>
          </a:xfrm>
          <a:prstGeom prst="roundRect">
            <a:avLst>
              <a:gd name="adj" fmla="val 13889"/>
            </a:avLst>
          </a:prstGeom>
          <a:solidFill>
            <a:srgbClr val="FFFFFF"/>
          </a:solidFill>
          <a:ln/>
        </p:spPr>
      </p:sp>
      <p:sp>
        <p:nvSpPr>
          <p:cNvPr id="28" name="Text 26"/>
          <p:cNvSpPr txBox="1"/>
          <p:nvPr/>
        </p:nvSpPr>
        <p:spPr>
          <a:xfrm>
            <a:off x="3611880" y="4754880"/>
            <a:ext cx="1828800" cy="658368"/>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Origination</a:t>
            </a:r>
            <a:endParaRPr lang="en-US" sz="1200" dirty="0"/>
          </a:p>
        </p:txBody>
      </p:sp>
      <p:sp>
        <p:nvSpPr>
          <p:cNvPr id="29" name="Text 27"/>
          <p:cNvSpPr txBox="1"/>
          <p:nvPr/>
        </p:nvSpPr>
        <p:spPr>
          <a:xfrm>
            <a:off x="5440680" y="4754880"/>
            <a:ext cx="1645920" cy="658368"/>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to be defined</a:t>
            </a:r>
            <a:endParaRPr lang="en-US" sz="1150" dirty="0"/>
          </a:p>
        </p:txBody>
      </p:sp>
      <p:sp>
        <p:nvSpPr>
          <p:cNvPr id="30" name="Shape 28"/>
          <p:cNvSpPr/>
          <p:nvPr/>
        </p:nvSpPr>
        <p:spPr>
          <a:xfrm>
            <a:off x="7360920" y="4754880"/>
            <a:ext cx="3749040" cy="658368"/>
          </a:xfrm>
          <a:prstGeom prst="roundRect">
            <a:avLst>
              <a:gd name="adj" fmla="val 13889"/>
            </a:avLst>
          </a:prstGeom>
          <a:solidFill>
            <a:srgbClr val="FFFFFF"/>
          </a:solidFill>
          <a:ln/>
        </p:spPr>
      </p:sp>
      <p:sp>
        <p:nvSpPr>
          <p:cNvPr id="31" name="Text 29"/>
          <p:cNvSpPr txBox="1"/>
          <p:nvPr/>
        </p:nvSpPr>
        <p:spPr>
          <a:xfrm>
            <a:off x="7543800" y="4754880"/>
            <a:ext cx="1828800" cy="658368"/>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Insurance and fund core</a:t>
            </a:r>
            <a:endParaRPr lang="en-US" sz="1200" dirty="0"/>
          </a:p>
        </p:txBody>
      </p:sp>
      <p:sp>
        <p:nvSpPr>
          <p:cNvPr id="32" name="Text 30"/>
          <p:cNvSpPr txBox="1"/>
          <p:nvPr/>
        </p:nvSpPr>
        <p:spPr>
          <a:xfrm>
            <a:off x="9372600" y="4754880"/>
            <a:ext cx="1645920" cy="658368"/>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to be defined</a:t>
            </a:r>
            <a:endParaRPr lang="en-US" sz="1150" dirty="0"/>
          </a:p>
        </p:txBody>
      </p:sp>
      <p:sp>
        <p:nvSpPr>
          <p:cNvPr id="33" name="Shape 31"/>
          <p:cNvSpPr/>
          <p:nvPr/>
        </p:nvSpPr>
        <p:spPr>
          <a:xfrm>
            <a:off x="640080" y="5806440"/>
            <a:ext cx="10881360" cy="731520"/>
          </a:xfrm>
          <a:prstGeom prst="roundRect">
            <a:avLst>
              <a:gd name="adj" fmla="val 12500"/>
            </a:avLst>
          </a:prstGeom>
          <a:solidFill>
            <a:srgbClr val="1E2761"/>
          </a:solidFill>
          <a:ln/>
        </p:spPr>
      </p:sp>
      <p:sp>
        <p:nvSpPr>
          <p:cNvPr id="34" name="Text 32"/>
          <p:cNvSpPr txBox="1"/>
          <p:nvPr/>
        </p:nvSpPr>
        <p:spPr>
          <a:xfrm>
            <a:off x="914400" y="5806440"/>
            <a:ext cx="10332720" cy="73152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Per alliance the plan answers: what we leverage it for, the relationship type, which offerings and sectors it sits behind, which accounts it opens, and what it costs us back.</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Eminence and positioning</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how the market — outside and inside the firm — comes to know us for this.</a:t>
            </a:r>
            <a:endParaRPr lang="en-US" sz="1450" dirty="0"/>
          </a:p>
        </p:txBody>
      </p:sp>
      <p:sp>
        <p:nvSpPr>
          <p:cNvPr id="4" name="Shape 2"/>
          <p:cNvSpPr/>
          <p:nvPr/>
        </p:nvSpPr>
        <p:spPr>
          <a:xfrm>
            <a:off x="640080" y="1783080"/>
            <a:ext cx="2029968" cy="2148840"/>
          </a:xfrm>
          <a:prstGeom prst="roundRect">
            <a:avLst>
              <a:gd name="adj" fmla="val 5405"/>
            </a:avLst>
          </a:prstGeom>
          <a:solidFill>
            <a:srgbClr val="E4EBF7"/>
          </a:solidFill>
          <a:ln/>
        </p:spPr>
      </p:sp>
      <p:sp>
        <p:nvSpPr>
          <p:cNvPr id="5" name="Text 3"/>
          <p:cNvSpPr txBox="1"/>
          <p:nvPr/>
        </p:nvSpPr>
        <p:spPr>
          <a:xfrm>
            <a:off x="841248"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Published views</a:t>
            </a:r>
            <a:endParaRPr lang="en-US" sz="1400" dirty="0"/>
          </a:p>
        </p:txBody>
      </p:sp>
      <p:sp>
        <p:nvSpPr>
          <p:cNvPr id="6" name="Text 4"/>
          <p:cNvSpPr txBox="1"/>
          <p:nvPr/>
        </p:nvSpPr>
        <p:spPr>
          <a:xfrm>
            <a:off x="841248"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Points of view</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Articles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Benchmark reports</a:t>
            </a:r>
            <a:endParaRPr lang="en-US" sz="1100" dirty="0"/>
          </a:p>
        </p:txBody>
      </p:sp>
      <p:sp>
        <p:nvSpPr>
          <p:cNvPr id="7" name="Shape 5"/>
          <p:cNvSpPr/>
          <p:nvPr/>
        </p:nvSpPr>
        <p:spPr>
          <a:xfrm>
            <a:off x="2852928" y="1783080"/>
            <a:ext cx="2029968" cy="2148840"/>
          </a:xfrm>
          <a:prstGeom prst="roundRect">
            <a:avLst>
              <a:gd name="adj" fmla="val 5405"/>
            </a:avLst>
          </a:prstGeom>
          <a:solidFill>
            <a:srgbClr val="EDF2FA"/>
          </a:solidFill>
          <a:ln/>
        </p:spPr>
      </p:sp>
      <p:sp>
        <p:nvSpPr>
          <p:cNvPr id="8" name="Text 6"/>
          <p:cNvSpPr txBox="1"/>
          <p:nvPr/>
        </p:nvSpPr>
        <p:spPr>
          <a:xfrm>
            <a:off x="3054096"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Stages</a:t>
            </a:r>
            <a:endParaRPr lang="en-US" sz="1400" dirty="0"/>
          </a:p>
        </p:txBody>
      </p:sp>
      <p:sp>
        <p:nvSpPr>
          <p:cNvPr id="9" name="Text 7"/>
          <p:cNvSpPr txBox="1"/>
          <p:nvPr/>
        </p:nvSpPr>
        <p:spPr>
          <a:xfrm>
            <a:off x="3054096"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Industry conferences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Flagship FSI events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Panels and keynotes</a:t>
            </a:r>
            <a:endParaRPr lang="en-US" sz="1100" dirty="0"/>
          </a:p>
        </p:txBody>
      </p:sp>
      <p:sp>
        <p:nvSpPr>
          <p:cNvPr id="10" name="Shape 8"/>
          <p:cNvSpPr/>
          <p:nvPr/>
        </p:nvSpPr>
        <p:spPr>
          <a:xfrm>
            <a:off x="5065776" y="1783080"/>
            <a:ext cx="2029968" cy="2148840"/>
          </a:xfrm>
          <a:prstGeom prst="roundRect">
            <a:avLst>
              <a:gd name="adj" fmla="val 5405"/>
            </a:avLst>
          </a:prstGeom>
          <a:solidFill>
            <a:srgbClr val="E4EBF7"/>
          </a:solidFill>
          <a:ln/>
        </p:spPr>
      </p:sp>
      <p:sp>
        <p:nvSpPr>
          <p:cNvPr id="11" name="Text 9"/>
          <p:cNvSpPr txBox="1"/>
          <p:nvPr/>
        </p:nvSpPr>
        <p:spPr>
          <a:xfrm>
            <a:off x="5266944"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Client formats</a:t>
            </a:r>
            <a:endParaRPr lang="en-US" sz="1400" dirty="0"/>
          </a:p>
        </p:txBody>
      </p:sp>
      <p:sp>
        <p:nvSpPr>
          <p:cNvPr id="12" name="Text 10"/>
          <p:cNvSpPr txBox="1"/>
          <p:nvPr/>
        </p:nvSpPr>
        <p:spPr>
          <a:xfrm>
            <a:off x="5266944"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Executive workshops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Seminars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Roundtables</a:t>
            </a:r>
            <a:endParaRPr lang="en-US" sz="1100" dirty="0"/>
          </a:p>
        </p:txBody>
      </p:sp>
      <p:sp>
        <p:nvSpPr>
          <p:cNvPr id="13" name="Shape 11"/>
          <p:cNvSpPr/>
          <p:nvPr/>
        </p:nvSpPr>
        <p:spPr>
          <a:xfrm>
            <a:off x="7278624" y="1783080"/>
            <a:ext cx="2029968" cy="2148840"/>
          </a:xfrm>
          <a:prstGeom prst="roundRect">
            <a:avLst>
              <a:gd name="adj" fmla="val 5405"/>
            </a:avLst>
          </a:prstGeom>
          <a:solidFill>
            <a:srgbClr val="EDF2FA"/>
          </a:solidFill>
          <a:ln/>
        </p:spPr>
      </p:sp>
      <p:sp>
        <p:nvSpPr>
          <p:cNvPr id="14" name="Text 12"/>
          <p:cNvSpPr txBox="1"/>
          <p:nvPr/>
        </p:nvSpPr>
        <p:spPr>
          <a:xfrm>
            <a:off x="7479792"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Digital</a:t>
            </a:r>
            <a:endParaRPr lang="en-US" sz="1400" dirty="0"/>
          </a:p>
        </p:txBody>
      </p:sp>
      <p:sp>
        <p:nvSpPr>
          <p:cNvPr id="15" name="Text 13"/>
          <p:cNvSpPr txBox="1"/>
          <p:nvPr/>
        </p:nvSpPr>
        <p:spPr>
          <a:xfrm>
            <a:off x="7479792"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Podcasts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Webinars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Social presence</a:t>
            </a:r>
            <a:endParaRPr lang="en-US" sz="1100" dirty="0"/>
          </a:p>
        </p:txBody>
      </p:sp>
      <p:sp>
        <p:nvSpPr>
          <p:cNvPr id="16" name="Shape 14"/>
          <p:cNvSpPr/>
          <p:nvPr/>
        </p:nvSpPr>
        <p:spPr>
          <a:xfrm>
            <a:off x="9491472" y="1783080"/>
            <a:ext cx="2029968" cy="2148840"/>
          </a:xfrm>
          <a:prstGeom prst="roundRect">
            <a:avLst>
              <a:gd name="adj" fmla="val 5405"/>
            </a:avLst>
          </a:prstGeom>
          <a:solidFill>
            <a:srgbClr val="E4EBF7"/>
          </a:solidFill>
          <a:ln/>
        </p:spPr>
      </p:sp>
      <p:sp>
        <p:nvSpPr>
          <p:cNvPr id="17" name="Text 15"/>
          <p:cNvSpPr txBox="1"/>
          <p:nvPr/>
        </p:nvSpPr>
        <p:spPr>
          <a:xfrm>
            <a:off x="9692640"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Partner-led</a:t>
            </a:r>
            <a:endParaRPr lang="en-US" sz="1400" dirty="0"/>
          </a:p>
        </p:txBody>
      </p:sp>
      <p:sp>
        <p:nvSpPr>
          <p:cNvPr id="18" name="Text 16"/>
          <p:cNvSpPr txBox="1"/>
          <p:nvPr/>
        </p:nvSpPr>
        <p:spPr>
          <a:xfrm>
            <a:off x="9692640"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Joint content</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Alliance events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Co-branded assets</a:t>
            </a:r>
            <a:endParaRPr lang="en-US" sz="1100" dirty="0"/>
          </a:p>
        </p:txBody>
      </p:sp>
      <p:sp>
        <p:nvSpPr>
          <p:cNvPr id="19" name="Shape 17"/>
          <p:cNvSpPr/>
          <p:nvPr/>
        </p:nvSpPr>
        <p:spPr>
          <a:xfrm>
            <a:off x="640080" y="4114800"/>
            <a:ext cx="10881360" cy="1188720"/>
          </a:xfrm>
          <a:prstGeom prst="roundRect">
            <a:avLst>
              <a:gd name="adj" fmla="val 9231"/>
            </a:avLst>
          </a:prstGeom>
          <a:solidFill>
            <a:srgbClr val="EDF2FA"/>
          </a:solidFill>
          <a:ln/>
        </p:spPr>
      </p:sp>
      <p:sp>
        <p:nvSpPr>
          <p:cNvPr id="20" name="Shape 18"/>
          <p:cNvSpPr/>
          <p:nvPr/>
        </p:nvSpPr>
        <p:spPr>
          <a:xfrm>
            <a:off x="640080" y="4114800"/>
            <a:ext cx="2331720" cy="1188720"/>
          </a:xfrm>
          <a:prstGeom prst="rect">
            <a:avLst/>
          </a:prstGeom>
          <a:solidFill>
            <a:srgbClr val="3E5C8A"/>
          </a:solidFill>
          <a:ln/>
        </p:spPr>
      </p:sp>
      <p:sp>
        <p:nvSpPr>
          <p:cNvPr id="21" name="Text 19"/>
          <p:cNvSpPr txBox="1"/>
          <p:nvPr/>
        </p:nvSpPr>
        <p:spPr>
          <a:xfrm>
            <a:off x="841248" y="4114800"/>
            <a:ext cx="2011680" cy="1188720"/>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Internal</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eminence</a:t>
            </a:r>
            <a:endParaRPr lang="en-US" sz="1500" dirty="0"/>
          </a:p>
        </p:txBody>
      </p:sp>
      <p:sp>
        <p:nvSpPr>
          <p:cNvPr id="22" name="Text 20"/>
          <p:cNvSpPr txBox="1"/>
          <p:nvPr/>
        </p:nvSpPr>
        <p:spPr>
          <a:xfrm>
            <a:off x="3200400" y="4114800"/>
            <a:ext cx="8138160" cy="1188720"/>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The FS partners and directors in other portfolios are a market in their own right — they are in front of our clients every week. Catalogue briefings, enablement on the proposition one-pagers, deal clinics and internally circulated wins belong in the plan alongside the external channels.</a:t>
            </a:r>
            <a:endParaRPr lang="en-US" sz="1250" dirty="0"/>
          </a:p>
        </p:txBody>
      </p:sp>
      <p:sp>
        <p:nvSpPr>
          <p:cNvPr id="23" name="Shape 21"/>
          <p:cNvSpPr/>
          <p:nvPr/>
        </p:nvSpPr>
        <p:spPr>
          <a:xfrm>
            <a:off x="640080" y="5486400"/>
            <a:ext cx="10881360" cy="822960"/>
          </a:xfrm>
          <a:prstGeom prst="roundRect">
            <a:avLst>
              <a:gd name="adj" fmla="val 11111"/>
            </a:avLst>
          </a:prstGeom>
          <a:solidFill>
            <a:srgbClr val="1E2761"/>
          </a:solidFill>
          <a:ln/>
        </p:spPr>
      </p:sp>
      <p:sp>
        <p:nvSpPr>
          <p:cNvPr id="24" name="Text 22"/>
          <p:cNvSpPr txBox="1"/>
          <p:nvPr/>
        </p:nvSpPr>
        <p:spPr>
          <a:xfrm>
            <a:off x="914400" y="5486400"/>
            <a:ext cx="10332720" cy="82296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For each activity: internal or external, which channel, how often, who fronts it, which accounts or audiences it targets, and how we measure the return.</a:t>
            </a:r>
            <a:endParaRPr lang="en-US" sz="1300" dirty="0"/>
          </a:p>
        </p:txBody>
      </p:sp>
      <p:sp>
        <p:nvSpPr>
          <p:cNvPr id="25" name="Text 23"/>
          <p:cNvSpPr txBox="1"/>
          <p:nvPr/>
        </p:nvSpPr>
        <p:spPr>
          <a:xfrm>
            <a:off x="640080" y="6400800"/>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Channel mix and cadence to be defined in the cycle.</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961120" y="3108960"/>
            <a:ext cx="5120640" cy="5120640"/>
          </a:xfrm>
          <a:prstGeom prst="ellipse">
            <a:avLst/>
          </a:prstGeom>
          <a:solidFill>
            <a:srgbClr val="3E5C8A">
              <a:alpha val="45000"/>
            </a:srgbClr>
          </a:solidFill>
          <a:ln/>
        </p:spPr>
      </p:sp>
      <p:sp>
        <p:nvSpPr>
          <p:cNvPr id="3" name="Text 1"/>
          <p:cNvSpPr txBox="1"/>
          <p:nvPr/>
        </p:nvSpPr>
        <p:spPr>
          <a:xfrm>
            <a:off x="822960" y="1965960"/>
            <a:ext cx="4572000" cy="365760"/>
          </a:xfrm>
          <a:prstGeom prst="rect">
            <a:avLst/>
          </a:prstGeom>
          <a:noFill/>
          <a:ln/>
        </p:spPr>
        <p:txBody>
          <a:bodyPr wrap="square" lIns="0" tIns="0" rIns="0" bIns="0" rtlCol="0" anchor="ctr"/>
          <a:lstStyle/>
          <a:p>
            <a:pPr indent="0" marL="0">
              <a:buNone/>
            </a:pPr>
            <a:r>
              <a:rPr lang="en-US" sz="1300" b="1" spc="200" kern="0" dirty="0">
                <a:solidFill>
                  <a:srgbClr val="9AA7C4"/>
                </a:solidFill>
                <a:latin typeface="Calibri" pitchFamily="34" charset="0"/>
                <a:ea typeface="Calibri" pitchFamily="34" charset="-122"/>
                <a:cs typeface="Calibri" pitchFamily="34" charset="-120"/>
              </a:rPr>
              <a:t>PART FOUR</a:t>
            </a:r>
            <a:endParaRPr lang="en-US" sz="1300" dirty="0"/>
          </a:p>
        </p:txBody>
      </p:sp>
      <p:sp>
        <p:nvSpPr>
          <p:cNvPr id="4" name="Text 2"/>
          <p:cNvSpPr txBox="1"/>
          <p:nvPr/>
        </p:nvSpPr>
        <p:spPr>
          <a:xfrm>
            <a:off x="804672" y="2377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How we build it</a:t>
            </a:r>
            <a:endParaRPr lang="en-US" sz="3800" dirty="0"/>
          </a:p>
        </p:txBody>
      </p:sp>
      <p:sp>
        <p:nvSpPr>
          <p:cNvPr id="5" name="Text 3"/>
          <p:cNvSpPr txBox="1"/>
          <p:nvPr/>
        </p:nvSpPr>
        <p:spPr>
          <a:xfrm>
            <a:off x="850392" y="3337560"/>
            <a:ext cx="758952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The approach, the owners and the calendar.</a:t>
            </a:r>
            <a:endParaRPr lang="en-US" sz="1500" dirty="0"/>
          </a:p>
        </p:txBody>
      </p:sp>
      <p:sp>
        <p:nvSpPr>
          <p:cNvPr id="6" name="Text 4"/>
          <p:cNvSpPr txBox="1"/>
          <p:nvPr/>
        </p:nvSpPr>
        <p:spPr>
          <a:xfrm>
            <a:off x="850392" y="4023360"/>
            <a:ext cx="7589520" cy="164592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The six-step approach</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Divide, then converge</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Workstreams and who owns them</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The three-week journey</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How we run the cycle</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Who meets, and when</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What could derail this</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How we will get there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 six-step approach: five to decide, one to bring everyone with us.</a:t>
            </a:r>
            <a:endParaRPr lang="en-US" sz="1450" dirty="0"/>
          </a:p>
        </p:txBody>
      </p:sp>
      <p:sp>
        <p:nvSpPr>
          <p:cNvPr id="4" name="Shape 2"/>
          <p:cNvSpPr/>
          <p:nvPr/>
        </p:nvSpPr>
        <p:spPr>
          <a:xfrm>
            <a:off x="640080" y="1874520"/>
            <a:ext cx="1691640" cy="713232"/>
          </a:xfrm>
          <a:prstGeom prst="chevron">
            <a:avLst/>
          </a:prstGeom>
          <a:solidFill>
            <a:srgbClr val="1E2761"/>
          </a:solidFill>
          <a:ln/>
        </p:spPr>
      </p:sp>
      <p:sp>
        <p:nvSpPr>
          <p:cNvPr id="5" name="Text 3"/>
          <p:cNvSpPr txBox="1"/>
          <p:nvPr/>
        </p:nvSpPr>
        <p:spPr>
          <a:xfrm>
            <a:off x="786384" y="1874520"/>
            <a:ext cx="1453896"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Mobilise</a:t>
            </a:r>
            <a:endParaRPr lang="en-US" sz="1300" dirty="0"/>
          </a:p>
        </p:txBody>
      </p:sp>
      <p:sp>
        <p:nvSpPr>
          <p:cNvPr id="6" name="Shape 4"/>
          <p:cNvSpPr/>
          <p:nvPr/>
        </p:nvSpPr>
        <p:spPr>
          <a:xfrm>
            <a:off x="1312164" y="2788920"/>
            <a:ext cx="347472" cy="347472"/>
          </a:xfrm>
          <a:prstGeom prst="ellipse">
            <a:avLst/>
          </a:prstGeom>
          <a:solidFill>
            <a:srgbClr val="B8862B"/>
          </a:solidFill>
          <a:ln/>
        </p:spPr>
      </p:sp>
      <p:sp>
        <p:nvSpPr>
          <p:cNvPr id="7" name="Text 5"/>
          <p:cNvSpPr txBox="1"/>
          <p:nvPr/>
        </p:nvSpPr>
        <p:spPr>
          <a:xfrm>
            <a:off x="1312164"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txBox="1"/>
          <p:nvPr/>
        </p:nvSpPr>
        <p:spPr>
          <a:xfrm>
            <a:off x="640080" y="3337560"/>
            <a:ext cx="1783080" cy="1554480"/>
          </a:xfrm>
          <a:prstGeom prst="rect">
            <a:avLst/>
          </a:prstGeom>
          <a:noFill/>
          <a:ln/>
        </p:spPr>
        <p:txBody>
          <a:bodyPr wrap="square" lIns="0" tIns="0" rIns="0" bIns="0" rtlCol="0" anchor="ctr"/>
          <a:lstStyle/>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Choose the vision, then frame the ambition</a:t>
            </a:r>
            <a:endParaRPr lang="en-US" sz="1050" dirty="0"/>
          </a:p>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Confirm scope, principles and owners</a:t>
            </a:r>
            <a:endParaRPr lang="en-US" sz="1050" dirty="0"/>
          </a:p>
        </p:txBody>
      </p:sp>
      <p:sp>
        <p:nvSpPr>
          <p:cNvPr id="9" name="Text 7"/>
          <p:cNvSpPr txBox="1"/>
          <p:nvPr/>
        </p:nvSpPr>
        <p:spPr>
          <a:xfrm>
            <a:off x="640080" y="4983480"/>
            <a:ext cx="1691640" cy="320040"/>
          </a:xfrm>
          <a:prstGeom prst="rect">
            <a:avLst/>
          </a:prstGeom>
          <a:noFill/>
          <a:ln/>
        </p:spPr>
        <p:txBody>
          <a:bodyPr wrap="square" lIns="0" tIns="0" rIns="0" bIns="0" rtlCol="0" anchor="ctr"/>
          <a:lstStyle/>
          <a:p>
            <a:pPr algn="ctr" indent="0" marL="0">
              <a:buNone/>
            </a:pPr>
            <a:r>
              <a:rPr lang="en-US" sz="1050" b="1" dirty="0">
                <a:solidFill>
                  <a:srgbClr val="8792AB"/>
                </a:solidFill>
                <a:latin typeface="Calibri" pitchFamily="34" charset="0"/>
                <a:ea typeface="Calibri" pitchFamily="34" charset="-122"/>
                <a:cs typeface="Calibri" pitchFamily="34" charset="-120"/>
              </a:rPr>
              <a:t>Week 1</a:t>
            </a:r>
            <a:endParaRPr lang="en-US" sz="1050" dirty="0"/>
          </a:p>
        </p:txBody>
      </p:sp>
      <p:sp>
        <p:nvSpPr>
          <p:cNvPr id="10" name="Shape 8"/>
          <p:cNvSpPr/>
          <p:nvPr/>
        </p:nvSpPr>
        <p:spPr>
          <a:xfrm>
            <a:off x="2478024" y="1874520"/>
            <a:ext cx="1691640" cy="713232"/>
          </a:xfrm>
          <a:prstGeom prst="chevron">
            <a:avLst/>
          </a:prstGeom>
          <a:solidFill>
            <a:srgbClr val="3E5C8A"/>
          </a:solidFill>
          <a:ln/>
        </p:spPr>
      </p:sp>
      <p:sp>
        <p:nvSpPr>
          <p:cNvPr id="11" name="Text 9"/>
          <p:cNvSpPr txBox="1"/>
          <p:nvPr/>
        </p:nvSpPr>
        <p:spPr>
          <a:xfrm>
            <a:off x="2624328" y="1874520"/>
            <a:ext cx="1453896"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Baseline</a:t>
            </a:r>
            <a:endParaRPr lang="en-US" sz="1300" dirty="0"/>
          </a:p>
        </p:txBody>
      </p:sp>
      <p:sp>
        <p:nvSpPr>
          <p:cNvPr id="12" name="Shape 10"/>
          <p:cNvSpPr/>
          <p:nvPr/>
        </p:nvSpPr>
        <p:spPr>
          <a:xfrm>
            <a:off x="3150108" y="2788920"/>
            <a:ext cx="347472" cy="347472"/>
          </a:xfrm>
          <a:prstGeom prst="ellipse">
            <a:avLst/>
          </a:prstGeom>
          <a:solidFill>
            <a:srgbClr val="B8862B"/>
          </a:solidFill>
          <a:ln/>
        </p:spPr>
      </p:sp>
      <p:sp>
        <p:nvSpPr>
          <p:cNvPr id="13" name="Text 11"/>
          <p:cNvSpPr txBox="1"/>
          <p:nvPr/>
        </p:nvSpPr>
        <p:spPr>
          <a:xfrm>
            <a:off x="3150108"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4" name="Text 12"/>
          <p:cNvSpPr txBox="1"/>
          <p:nvPr/>
        </p:nvSpPr>
        <p:spPr>
          <a:xfrm>
            <a:off x="2478024" y="3337560"/>
            <a:ext cx="1783080" cy="1554480"/>
          </a:xfrm>
          <a:prstGeom prst="rect">
            <a:avLst/>
          </a:prstGeom>
          <a:noFill/>
          <a:ln/>
        </p:spPr>
        <p:txBody>
          <a:bodyPr wrap="square" lIns="0" tIns="0" rIns="0" bIns="0" rtlCol="0" anchor="ctr"/>
          <a:lstStyle/>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Credentials, pipeline and current wins</a:t>
            </a:r>
            <a:endParaRPr lang="en-US" sz="1050" dirty="0"/>
          </a:p>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Who we have today: dedicated and shared</a:t>
            </a:r>
            <a:endParaRPr lang="en-US" sz="1050" dirty="0"/>
          </a:p>
        </p:txBody>
      </p:sp>
      <p:sp>
        <p:nvSpPr>
          <p:cNvPr id="15" name="Text 13"/>
          <p:cNvSpPr txBox="1"/>
          <p:nvPr/>
        </p:nvSpPr>
        <p:spPr>
          <a:xfrm>
            <a:off x="2478024" y="4983480"/>
            <a:ext cx="1691640" cy="320040"/>
          </a:xfrm>
          <a:prstGeom prst="rect">
            <a:avLst/>
          </a:prstGeom>
          <a:noFill/>
          <a:ln/>
        </p:spPr>
        <p:txBody>
          <a:bodyPr wrap="square" lIns="0" tIns="0" rIns="0" bIns="0" rtlCol="0" anchor="ctr"/>
          <a:lstStyle/>
          <a:p>
            <a:pPr algn="ctr" indent="0" marL="0">
              <a:buNone/>
            </a:pPr>
            <a:r>
              <a:rPr lang="en-US" sz="1050" b="1" dirty="0">
                <a:solidFill>
                  <a:srgbClr val="8792AB"/>
                </a:solidFill>
                <a:latin typeface="Calibri" pitchFamily="34" charset="0"/>
                <a:ea typeface="Calibri" pitchFamily="34" charset="-122"/>
                <a:cs typeface="Calibri" pitchFamily="34" charset="-120"/>
              </a:rPr>
              <a:t>Week 1</a:t>
            </a:r>
            <a:endParaRPr lang="en-US" sz="1050" dirty="0"/>
          </a:p>
        </p:txBody>
      </p:sp>
      <p:sp>
        <p:nvSpPr>
          <p:cNvPr id="16" name="Shape 14"/>
          <p:cNvSpPr/>
          <p:nvPr/>
        </p:nvSpPr>
        <p:spPr>
          <a:xfrm>
            <a:off x="4315968" y="1874520"/>
            <a:ext cx="1691640" cy="713232"/>
          </a:xfrm>
          <a:prstGeom prst="chevron">
            <a:avLst/>
          </a:prstGeom>
          <a:solidFill>
            <a:srgbClr val="1E2761"/>
          </a:solidFill>
          <a:ln/>
        </p:spPr>
      </p:sp>
      <p:sp>
        <p:nvSpPr>
          <p:cNvPr id="17" name="Text 15"/>
          <p:cNvSpPr txBox="1"/>
          <p:nvPr/>
        </p:nvSpPr>
        <p:spPr>
          <a:xfrm>
            <a:off x="4462272" y="1874520"/>
            <a:ext cx="1453896"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Define</a:t>
            </a:r>
            <a:endParaRPr lang="en-US" sz="1300" dirty="0"/>
          </a:p>
        </p:txBody>
      </p:sp>
      <p:sp>
        <p:nvSpPr>
          <p:cNvPr id="18" name="Shape 16"/>
          <p:cNvSpPr/>
          <p:nvPr/>
        </p:nvSpPr>
        <p:spPr>
          <a:xfrm>
            <a:off x="4988052" y="2788920"/>
            <a:ext cx="347472" cy="347472"/>
          </a:xfrm>
          <a:prstGeom prst="ellipse">
            <a:avLst/>
          </a:prstGeom>
          <a:solidFill>
            <a:srgbClr val="B8862B"/>
          </a:solidFill>
          <a:ln/>
        </p:spPr>
      </p:sp>
      <p:sp>
        <p:nvSpPr>
          <p:cNvPr id="19" name="Text 17"/>
          <p:cNvSpPr txBox="1"/>
          <p:nvPr/>
        </p:nvSpPr>
        <p:spPr>
          <a:xfrm>
            <a:off x="4988052"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8"/>
          <p:cNvSpPr txBox="1"/>
          <p:nvPr/>
        </p:nvSpPr>
        <p:spPr>
          <a:xfrm>
            <a:off x="4315968" y="3337560"/>
            <a:ext cx="1783080" cy="1554480"/>
          </a:xfrm>
          <a:prstGeom prst="rect">
            <a:avLst/>
          </a:prstGeom>
          <a:noFill/>
          <a:ln/>
        </p:spPr>
        <p:txBody>
          <a:bodyPr wrap="square" lIns="0" tIns="0" rIns="0" bIns="0" rtlCol="0" anchor="ctr"/>
          <a:lstStyle/>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Offering views, then merged into one catalogue</a:t>
            </a:r>
            <a:endParaRPr lang="en-US" sz="1050" dirty="0"/>
          </a:p>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Markets, sectors and candidate accounts</a:t>
            </a:r>
            <a:endParaRPr lang="en-US" sz="1050" dirty="0"/>
          </a:p>
        </p:txBody>
      </p:sp>
      <p:sp>
        <p:nvSpPr>
          <p:cNvPr id="21" name="Text 19"/>
          <p:cNvSpPr txBox="1"/>
          <p:nvPr/>
        </p:nvSpPr>
        <p:spPr>
          <a:xfrm>
            <a:off x="4315968" y="4983480"/>
            <a:ext cx="1691640" cy="320040"/>
          </a:xfrm>
          <a:prstGeom prst="rect">
            <a:avLst/>
          </a:prstGeom>
          <a:noFill/>
          <a:ln/>
        </p:spPr>
        <p:txBody>
          <a:bodyPr wrap="square" lIns="0" tIns="0" rIns="0" bIns="0" rtlCol="0" anchor="ctr"/>
          <a:lstStyle/>
          <a:p>
            <a:pPr algn="ctr" indent="0" marL="0">
              <a:buNone/>
            </a:pPr>
            <a:r>
              <a:rPr lang="en-US" sz="1050" b="1" dirty="0">
                <a:solidFill>
                  <a:srgbClr val="8792AB"/>
                </a:solidFill>
                <a:latin typeface="Calibri" pitchFamily="34" charset="0"/>
                <a:ea typeface="Calibri" pitchFamily="34" charset="-122"/>
                <a:cs typeface="Calibri" pitchFamily="34" charset="-120"/>
              </a:rPr>
              <a:t>Weeks 1–2</a:t>
            </a:r>
            <a:endParaRPr lang="en-US" sz="1050" dirty="0"/>
          </a:p>
        </p:txBody>
      </p:sp>
      <p:sp>
        <p:nvSpPr>
          <p:cNvPr id="22" name="Shape 20"/>
          <p:cNvSpPr/>
          <p:nvPr/>
        </p:nvSpPr>
        <p:spPr>
          <a:xfrm>
            <a:off x="6153912" y="1874520"/>
            <a:ext cx="1691640" cy="713232"/>
          </a:xfrm>
          <a:prstGeom prst="chevron">
            <a:avLst/>
          </a:prstGeom>
          <a:solidFill>
            <a:srgbClr val="3E5C8A"/>
          </a:solidFill>
          <a:ln/>
        </p:spPr>
      </p:sp>
      <p:sp>
        <p:nvSpPr>
          <p:cNvPr id="23" name="Text 21"/>
          <p:cNvSpPr txBox="1"/>
          <p:nvPr/>
        </p:nvSpPr>
        <p:spPr>
          <a:xfrm>
            <a:off x="6300216" y="1874520"/>
            <a:ext cx="1453896"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Quantify</a:t>
            </a:r>
            <a:endParaRPr lang="en-US" sz="1300" dirty="0"/>
          </a:p>
        </p:txBody>
      </p:sp>
      <p:sp>
        <p:nvSpPr>
          <p:cNvPr id="24" name="Shape 22"/>
          <p:cNvSpPr/>
          <p:nvPr/>
        </p:nvSpPr>
        <p:spPr>
          <a:xfrm>
            <a:off x="6825996" y="2788920"/>
            <a:ext cx="347472" cy="347472"/>
          </a:xfrm>
          <a:prstGeom prst="ellipse">
            <a:avLst/>
          </a:prstGeom>
          <a:solidFill>
            <a:srgbClr val="B8862B"/>
          </a:solidFill>
          <a:ln/>
        </p:spPr>
      </p:sp>
      <p:sp>
        <p:nvSpPr>
          <p:cNvPr id="25" name="Text 23"/>
          <p:cNvSpPr txBox="1"/>
          <p:nvPr/>
        </p:nvSpPr>
        <p:spPr>
          <a:xfrm>
            <a:off x="6825996"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6" name="Text 24"/>
          <p:cNvSpPr txBox="1"/>
          <p:nvPr/>
        </p:nvSpPr>
        <p:spPr>
          <a:xfrm>
            <a:off x="6153912" y="3337560"/>
            <a:ext cx="1783080" cy="1554480"/>
          </a:xfrm>
          <a:prstGeom prst="rect">
            <a:avLst/>
          </a:prstGeom>
          <a:noFill/>
          <a:ln/>
        </p:spPr>
        <p:txBody>
          <a:bodyPr wrap="square" lIns="0" tIns="0" rIns="0" bIns="0" rtlCol="0" anchor="ctr"/>
          <a:lstStyle/>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Price bands, ADR and target margin</a:t>
            </a:r>
            <a:endParaRPr lang="en-US" sz="1050" dirty="0"/>
          </a:p>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Revenue per account, gross and net, against capacity</a:t>
            </a:r>
            <a:endParaRPr lang="en-US" sz="1050" dirty="0"/>
          </a:p>
        </p:txBody>
      </p:sp>
      <p:sp>
        <p:nvSpPr>
          <p:cNvPr id="27" name="Text 25"/>
          <p:cNvSpPr txBox="1"/>
          <p:nvPr/>
        </p:nvSpPr>
        <p:spPr>
          <a:xfrm>
            <a:off x="6153912" y="4983480"/>
            <a:ext cx="1691640" cy="320040"/>
          </a:xfrm>
          <a:prstGeom prst="rect">
            <a:avLst/>
          </a:prstGeom>
          <a:noFill/>
          <a:ln/>
        </p:spPr>
        <p:txBody>
          <a:bodyPr wrap="square" lIns="0" tIns="0" rIns="0" bIns="0" rtlCol="0" anchor="ctr"/>
          <a:lstStyle/>
          <a:p>
            <a:pPr algn="ctr" indent="0" marL="0">
              <a:buNone/>
            </a:pPr>
            <a:r>
              <a:rPr lang="en-US" sz="1050" b="1" dirty="0">
                <a:solidFill>
                  <a:srgbClr val="8792AB"/>
                </a:solidFill>
                <a:latin typeface="Calibri" pitchFamily="34" charset="0"/>
                <a:ea typeface="Calibri" pitchFamily="34" charset="-122"/>
                <a:cs typeface="Calibri" pitchFamily="34" charset="-120"/>
              </a:rPr>
              <a:t>Week 2</a:t>
            </a:r>
            <a:endParaRPr lang="en-US" sz="1050" dirty="0"/>
          </a:p>
        </p:txBody>
      </p:sp>
      <p:sp>
        <p:nvSpPr>
          <p:cNvPr id="28" name="Shape 26"/>
          <p:cNvSpPr/>
          <p:nvPr/>
        </p:nvSpPr>
        <p:spPr>
          <a:xfrm>
            <a:off x="7991856" y="1874520"/>
            <a:ext cx="1691640" cy="713232"/>
          </a:xfrm>
          <a:prstGeom prst="chevron">
            <a:avLst/>
          </a:prstGeom>
          <a:solidFill>
            <a:srgbClr val="1E2761"/>
          </a:solidFill>
          <a:ln/>
        </p:spPr>
      </p:sp>
      <p:sp>
        <p:nvSpPr>
          <p:cNvPr id="29" name="Text 27"/>
          <p:cNvSpPr txBox="1"/>
          <p:nvPr/>
        </p:nvSpPr>
        <p:spPr>
          <a:xfrm>
            <a:off x="8138160" y="1874520"/>
            <a:ext cx="1453896"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Commit</a:t>
            </a:r>
            <a:endParaRPr lang="en-US" sz="1300" dirty="0"/>
          </a:p>
        </p:txBody>
      </p:sp>
      <p:sp>
        <p:nvSpPr>
          <p:cNvPr id="30" name="Shape 28"/>
          <p:cNvSpPr/>
          <p:nvPr/>
        </p:nvSpPr>
        <p:spPr>
          <a:xfrm>
            <a:off x="8663940" y="2788920"/>
            <a:ext cx="347472" cy="347472"/>
          </a:xfrm>
          <a:prstGeom prst="ellipse">
            <a:avLst/>
          </a:prstGeom>
          <a:solidFill>
            <a:srgbClr val="B8862B"/>
          </a:solidFill>
          <a:ln/>
        </p:spPr>
      </p:sp>
      <p:sp>
        <p:nvSpPr>
          <p:cNvPr id="31" name="Text 29"/>
          <p:cNvSpPr txBox="1"/>
          <p:nvPr/>
        </p:nvSpPr>
        <p:spPr>
          <a:xfrm>
            <a:off x="8663940"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32" name="Text 30"/>
          <p:cNvSpPr txBox="1"/>
          <p:nvPr/>
        </p:nvSpPr>
        <p:spPr>
          <a:xfrm>
            <a:off x="7991856" y="3337560"/>
            <a:ext cx="1783080" cy="1554480"/>
          </a:xfrm>
          <a:prstGeom prst="rect">
            <a:avLst/>
          </a:prstGeom>
          <a:noFill/>
          <a:ln/>
        </p:spPr>
        <p:txBody>
          <a:bodyPr wrap="square" lIns="0" tIns="0" rIns="0" bIns="0" rtlCol="0" anchor="ctr"/>
          <a:lstStyle/>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Account ownership and coverage</a:t>
            </a:r>
            <a:endParaRPr lang="en-US" sz="1050" dirty="0"/>
          </a:p>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Team, eminence and activation plans signed off</a:t>
            </a:r>
            <a:endParaRPr lang="en-US" sz="1050" dirty="0"/>
          </a:p>
        </p:txBody>
      </p:sp>
      <p:sp>
        <p:nvSpPr>
          <p:cNvPr id="33" name="Text 31"/>
          <p:cNvSpPr txBox="1"/>
          <p:nvPr/>
        </p:nvSpPr>
        <p:spPr>
          <a:xfrm>
            <a:off x="7991856" y="4983480"/>
            <a:ext cx="1691640" cy="320040"/>
          </a:xfrm>
          <a:prstGeom prst="rect">
            <a:avLst/>
          </a:prstGeom>
          <a:noFill/>
          <a:ln/>
        </p:spPr>
        <p:txBody>
          <a:bodyPr wrap="square" lIns="0" tIns="0" rIns="0" bIns="0" rtlCol="0" anchor="ctr"/>
          <a:lstStyle/>
          <a:p>
            <a:pPr algn="ctr" indent="0" marL="0">
              <a:buNone/>
            </a:pPr>
            <a:r>
              <a:rPr lang="en-US" sz="1050" b="1" dirty="0">
                <a:solidFill>
                  <a:srgbClr val="8792AB"/>
                </a:solidFill>
                <a:latin typeface="Calibri" pitchFamily="34" charset="0"/>
                <a:ea typeface="Calibri" pitchFamily="34" charset="-122"/>
                <a:cs typeface="Calibri" pitchFamily="34" charset="-120"/>
              </a:rPr>
              <a:t>Week 3</a:t>
            </a:r>
            <a:endParaRPr lang="en-US" sz="1050" dirty="0"/>
          </a:p>
        </p:txBody>
      </p:sp>
      <p:sp>
        <p:nvSpPr>
          <p:cNvPr id="34" name="Shape 32"/>
          <p:cNvSpPr/>
          <p:nvPr/>
        </p:nvSpPr>
        <p:spPr>
          <a:xfrm>
            <a:off x="9829800" y="1874520"/>
            <a:ext cx="1691640" cy="713232"/>
          </a:xfrm>
          <a:prstGeom prst="chevron">
            <a:avLst/>
          </a:prstGeom>
          <a:solidFill>
            <a:srgbClr val="3E5C8A"/>
          </a:solidFill>
          <a:ln/>
        </p:spPr>
      </p:sp>
      <p:sp>
        <p:nvSpPr>
          <p:cNvPr id="35" name="Text 33"/>
          <p:cNvSpPr txBox="1"/>
          <p:nvPr/>
        </p:nvSpPr>
        <p:spPr>
          <a:xfrm>
            <a:off x="9976104" y="1874520"/>
            <a:ext cx="1453896"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Socialise</a:t>
            </a:r>
            <a:endParaRPr lang="en-US" sz="1300" dirty="0"/>
          </a:p>
        </p:txBody>
      </p:sp>
      <p:sp>
        <p:nvSpPr>
          <p:cNvPr id="36" name="Shape 34"/>
          <p:cNvSpPr/>
          <p:nvPr/>
        </p:nvSpPr>
        <p:spPr>
          <a:xfrm>
            <a:off x="10501884" y="2788920"/>
            <a:ext cx="347472" cy="347472"/>
          </a:xfrm>
          <a:prstGeom prst="ellipse">
            <a:avLst/>
          </a:prstGeom>
          <a:solidFill>
            <a:srgbClr val="B8862B"/>
          </a:solidFill>
          <a:ln/>
        </p:spPr>
      </p:sp>
      <p:sp>
        <p:nvSpPr>
          <p:cNvPr id="37" name="Text 35"/>
          <p:cNvSpPr txBox="1"/>
          <p:nvPr/>
        </p:nvSpPr>
        <p:spPr>
          <a:xfrm>
            <a:off x="10501884"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8" name="Text 36"/>
          <p:cNvSpPr txBox="1"/>
          <p:nvPr/>
        </p:nvSpPr>
        <p:spPr>
          <a:xfrm>
            <a:off x="9829800" y="3337560"/>
            <a:ext cx="1783080" cy="1554480"/>
          </a:xfrm>
          <a:prstGeom prst="rect">
            <a:avLst/>
          </a:prstGeom>
          <a:noFill/>
          <a:ln/>
        </p:spPr>
        <p:txBody>
          <a:bodyPr wrap="square" lIns="0" tIns="0" rIns="0" bIns="0" rtlCol="0" anchor="ctr"/>
          <a:lstStyle/>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Present to the wider FSI community</a:t>
            </a:r>
            <a:endParaRPr lang="en-US" sz="1050" dirty="0"/>
          </a:p>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Hand initiatives to their owners</a:t>
            </a:r>
            <a:endParaRPr lang="en-US" sz="1050" dirty="0"/>
          </a:p>
        </p:txBody>
      </p:sp>
      <p:sp>
        <p:nvSpPr>
          <p:cNvPr id="39" name="Text 37"/>
          <p:cNvSpPr txBox="1"/>
          <p:nvPr/>
        </p:nvSpPr>
        <p:spPr>
          <a:xfrm>
            <a:off x="9829800" y="4983480"/>
            <a:ext cx="1691640" cy="320040"/>
          </a:xfrm>
          <a:prstGeom prst="rect">
            <a:avLst/>
          </a:prstGeom>
          <a:noFill/>
          <a:ln/>
        </p:spPr>
        <p:txBody>
          <a:bodyPr wrap="square" lIns="0" tIns="0" rIns="0" bIns="0" rtlCol="0" anchor="ctr"/>
          <a:lstStyle/>
          <a:p>
            <a:pPr algn="ctr" indent="0" marL="0">
              <a:buNone/>
            </a:pPr>
            <a:r>
              <a:rPr lang="en-US" sz="1050" b="1" dirty="0">
                <a:solidFill>
                  <a:srgbClr val="8792AB"/>
                </a:solidFill>
                <a:latin typeface="Calibri" pitchFamily="34" charset="0"/>
                <a:ea typeface="Calibri" pitchFamily="34" charset="-122"/>
                <a:cs typeface="Calibri" pitchFamily="34" charset="-120"/>
              </a:rPr>
              <a:t>Week 3+</a:t>
            </a:r>
            <a:endParaRPr lang="en-US" sz="1050" dirty="0"/>
          </a:p>
        </p:txBody>
      </p:sp>
      <p:sp>
        <p:nvSpPr>
          <p:cNvPr id="40" name="Text 38"/>
          <p:cNvSpPr txBox="1"/>
          <p:nvPr/>
        </p:nvSpPr>
        <p:spPr>
          <a:xfrm>
            <a:off x="640080" y="5623560"/>
            <a:ext cx="10881360" cy="365760"/>
          </a:xfrm>
          <a:prstGeom prst="rect">
            <a:avLst/>
          </a:prstGeom>
          <a:noFill/>
          <a:ln/>
        </p:spPr>
        <p:txBody>
          <a:bodyPr wrap="square" lIns="0" tIns="0" rIns="0" bIns="0" rtlCol="0" anchor="ctr"/>
          <a:lstStyle/>
          <a:p>
            <a:pPr indent="0" marL="0">
              <a:buNone/>
            </a:pPr>
            <a:r>
              <a:rPr lang="en-US" sz="1350" i="1" dirty="0">
                <a:solidFill>
                  <a:srgbClr val="3E5C8A"/>
                </a:solidFill>
                <a:latin typeface="Calibri" pitchFamily="34" charset="0"/>
                <a:ea typeface="Calibri" pitchFamily="34" charset="-122"/>
                <a:cs typeface="Calibri" pitchFamily="34" charset="-120"/>
              </a:rPr>
              <a:t>Each step closes before the next opens. The last one is not optional — a strategy nobody has heard is not activated.</a:t>
            </a:r>
            <a:endParaRPr lang="en-US" sz="13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Divide, then converge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Each offering works its own view first — then we merge it into something integrated.</a:t>
            </a:r>
            <a:endParaRPr lang="en-US" sz="1450" dirty="0"/>
          </a:p>
        </p:txBody>
      </p:sp>
      <p:sp>
        <p:nvSpPr>
          <p:cNvPr id="4" name="Shape 2"/>
          <p:cNvSpPr/>
          <p:nvPr/>
        </p:nvSpPr>
        <p:spPr>
          <a:xfrm>
            <a:off x="640080" y="1920240"/>
            <a:ext cx="4114800" cy="868680"/>
          </a:xfrm>
          <a:prstGeom prst="roundRect">
            <a:avLst>
              <a:gd name="adj" fmla="val 10526"/>
            </a:avLst>
          </a:prstGeom>
          <a:solidFill>
            <a:srgbClr val="EDF2FA"/>
          </a:solidFill>
          <a:ln/>
        </p:spPr>
      </p:sp>
      <p:sp>
        <p:nvSpPr>
          <p:cNvPr id="5" name="Shape 3"/>
          <p:cNvSpPr/>
          <p:nvPr/>
        </p:nvSpPr>
        <p:spPr>
          <a:xfrm>
            <a:off x="640080" y="1920240"/>
            <a:ext cx="146304" cy="868680"/>
          </a:xfrm>
          <a:prstGeom prst="rect">
            <a:avLst/>
          </a:prstGeom>
          <a:solidFill>
            <a:srgbClr val="1E2761"/>
          </a:solidFill>
          <a:ln/>
        </p:spPr>
      </p:sp>
      <p:sp>
        <p:nvSpPr>
          <p:cNvPr id="6" name="Text 4"/>
          <p:cNvSpPr txBox="1"/>
          <p:nvPr/>
        </p:nvSpPr>
        <p:spPr>
          <a:xfrm>
            <a:off x="960120" y="1975104"/>
            <a:ext cx="301752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Industry Solutions</a:t>
            </a:r>
            <a:endParaRPr lang="en-US" sz="1300" dirty="0"/>
          </a:p>
        </p:txBody>
      </p:sp>
      <p:sp>
        <p:nvSpPr>
          <p:cNvPr id="7" name="Text 5"/>
          <p:cNvSpPr txBox="1"/>
          <p:nvPr/>
        </p:nvSpPr>
        <p:spPr>
          <a:xfrm>
            <a:off x="960120" y="2304288"/>
            <a:ext cx="3017520" cy="41148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Propositions, accounts and capability, seen from this offering</a:t>
            </a:r>
            <a:endParaRPr lang="en-US" sz="1050" dirty="0"/>
          </a:p>
        </p:txBody>
      </p:sp>
      <p:sp>
        <p:nvSpPr>
          <p:cNvPr id="8" name="Shape 6"/>
          <p:cNvSpPr/>
          <p:nvPr/>
        </p:nvSpPr>
        <p:spPr>
          <a:xfrm>
            <a:off x="4846320" y="2354580"/>
            <a:ext cx="1005840" cy="1028700"/>
          </a:xfrm>
          <a:prstGeom prst="line">
            <a:avLst/>
          </a:prstGeom>
          <a:noFill/>
          <a:ln w="15875">
            <a:solidFill>
              <a:srgbClr val="3E5C8A"/>
            </a:solidFill>
            <a:prstDash val="solid"/>
            <a:tailEnd type="triangle"/>
          </a:ln>
        </p:spPr>
      </p:sp>
      <p:sp>
        <p:nvSpPr>
          <p:cNvPr id="9" name="Shape 7"/>
          <p:cNvSpPr/>
          <p:nvPr/>
        </p:nvSpPr>
        <p:spPr>
          <a:xfrm>
            <a:off x="640080" y="2971800"/>
            <a:ext cx="4114800" cy="868680"/>
          </a:xfrm>
          <a:prstGeom prst="roundRect">
            <a:avLst>
              <a:gd name="adj" fmla="val 10526"/>
            </a:avLst>
          </a:prstGeom>
          <a:solidFill>
            <a:srgbClr val="EDF2FA"/>
          </a:solidFill>
          <a:ln/>
        </p:spPr>
      </p:sp>
      <p:sp>
        <p:nvSpPr>
          <p:cNvPr id="10" name="Shape 8"/>
          <p:cNvSpPr/>
          <p:nvPr/>
        </p:nvSpPr>
        <p:spPr>
          <a:xfrm>
            <a:off x="640080" y="2971800"/>
            <a:ext cx="146304" cy="868680"/>
          </a:xfrm>
          <a:prstGeom prst="rect">
            <a:avLst/>
          </a:prstGeom>
          <a:solidFill>
            <a:srgbClr val="3E5C8A"/>
          </a:solidFill>
          <a:ln/>
        </p:spPr>
      </p:sp>
      <p:sp>
        <p:nvSpPr>
          <p:cNvPr id="11" name="Text 9"/>
          <p:cNvSpPr txBox="1"/>
          <p:nvPr/>
        </p:nvSpPr>
        <p:spPr>
          <a:xfrm>
            <a:off x="960120" y="3026664"/>
            <a:ext cx="301752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AI and Data</a:t>
            </a:r>
            <a:endParaRPr lang="en-US" sz="1300" dirty="0"/>
          </a:p>
        </p:txBody>
      </p:sp>
      <p:sp>
        <p:nvSpPr>
          <p:cNvPr id="12" name="Text 10"/>
          <p:cNvSpPr txBox="1"/>
          <p:nvPr/>
        </p:nvSpPr>
        <p:spPr>
          <a:xfrm>
            <a:off x="960120" y="3355848"/>
            <a:ext cx="3017520" cy="41148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Propositions, accounts and capability, seen from this offering</a:t>
            </a:r>
            <a:endParaRPr lang="en-US" sz="1050" dirty="0"/>
          </a:p>
        </p:txBody>
      </p:sp>
      <p:sp>
        <p:nvSpPr>
          <p:cNvPr id="13" name="Shape 11"/>
          <p:cNvSpPr/>
          <p:nvPr/>
        </p:nvSpPr>
        <p:spPr>
          <a:xfrm flipV="1">
            <a:off x="4846320" y="3383280"/>
            <a:ext cx="1005840" cy="22860"/>
          </a:xfrm>
          <a:prstGeom prst="line">
            <a:avLst/>
          </a:prstGeom>
          <a:noFill/>
          <a:ln w="15875">
            <a:solidFill>
              <a:srgbClr val="3E5C8A"/>
            </a:solidFill>
            <a:prstDash val="solid"/>
            <a:tailEnd type="triangle"/>
          </a:ln>
        </p:spPr>
      </p:sp>
      <p:sp>
        <p:nvSpPr>
          <p:cNvPr id="14" name="Shape 12"/>
          <p:cNvSpPr/>
          <p:nvPr/>
        </p:nvSpPr>
        <p:spPr>
          <a:xfrm>
            <a:off x="640080" y="4023360"/>
            <a:ext cx="4114800" cy="868680"/>
          </a:xfrm>
          <a:prstGeom prst="roundRect">
            <a:avLst>
              <a:gd name="adj" fmla="val 10526"/>
            </a:avLst>
          </a:prstGeom>
          <a:solidFill>
            <a:srgbClr val="EDF2FA"/>
          </a:solidFill>
          <a:ln/>
        </p:spPr>
      </p:sp>
      <p:sp>
        <p:nvSpPr>
          <p:cNvPr id="15" name="Shape 13"/>
          <p:cNvSpPr/>
          <p:nvPr/>
        </p:nvSpPr>
        <p:spPr>
          <a:xfrm>
            <a:off x="640080" y="4023360"/>
            <a:ext cx="146304" cy="868680"/>
          </a:xfrm>
          <a:prstGeom prst="rect">
            <a:avLst/>
          </a:prstGeom>
          <a:solidFill>
            <a:srgbClr val="1E2761"/>
          </a:solidFill>
          <a:ln/>
        </p:spPr>
      </p:sp>
      <p:sp>
        <p:nvSpPr>
          <p:cNvPr id="16" name="Text 14"/>
          <p:cNvSpPr txBox="1"/>
          <p:nvPr/>
        </p:nvSpPr>
        <p:spPr>
          <a:xfrm>
            <a:off x="960120" y="4078224"/>
            <a:ext cx="301752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Engineering</a:t>
            </a:r>
            <a:endParaRPr lang="en-US" sz="1300" dirty="0"/>
          </a:p>
        </p:txBody>
      </p:sp>
      <p:sp>
        <p:nvSpPr>
          <p:cNvPr id="17" name="Text 15"/>
          <p:cNvSpPr txBox="1"/>
          <p:nvPr/>
        </p:nvSpPr>
        <p:spPr>
          <a:xfrm>
            <a:off x="960120" y="4407408"/>
            <a:ext cx="3017520" cy="41148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Propositions, accounts and capability, seen from this offering</a:t>
            </a:r>
            <a:endParaRPr lang="en-US" sz="1050" dirty="0"/>
          </a:p>
        </p:txBody>
      </p:sp>
      <p:sp>
        <p:nvSpPr>
          <p:cNvPr id="18" name="Shape 16"/>
          <p:cNvSpPr/>
          <p:nvPr/>
        </p:nvSpPr>
        <p:spPr>
          <a:xfrm flipV="1">
            <a:off x="4846320" y="3383280"/>
            <a:ext cx="1005840" cy="1074420"/>
          </a:xfrm>
          <a:prstGeom prst="line">
            <a:avLst/>
          </a:prstGeom>
          <a:noFill/>
          <a:ln w="15875">
            <a:solidFill>
              <a:srgbClr val="3E5C8A"/>
            </a:solidFill>
            <a:prstDash val="solid"/>
            <a:tailEnd type="triangle"/>
          </a:ln>
        </p:spPr>
      </p:sp>
      <p:sp>
        <p:nvSpPr>
          <p:cNvPr id="19" name="Shape 17"/>
          <p:cNvSpPr/>
          <p:nvPr/>
        </p:nvSpPr>
        <p:spPr>
          <a:xfrm>
            <a:off x="5897880" y="2651760"/>
            <a:ext cx="2468880" cy="1463040"/>
          </a:xfrm>
          <a:prstGeom prst="roundRect">
            <a:avLst>
              <a:gd name="adj" fmla="val 7500"/>
            </a:avLst>
          </a:prstGeom>
          <a:solidFill>
            <a:srgbClr val="1E2761"/>
          </a:solidFill>
          <a:ln/>
        </p:spPr>
      </p:sp>
      <p:sp>
        <p:nvSpPr>
          <p:cNvPr id="20" name="Text 18"/>
          <p:cNvSpPr txBox="1"/>
          <p:nvPr/>
        </p:nvSpPr>
        <p:spPr>
          <a:xfrm>
            <a:off x="5897880" y="2651760"/>
            <a:ext cx="2468880" cy="1463040"/>
          </a:xfrm>
          <a:prstGeom prst="rect">
            <a:avLst/>
          </a:prstGeom>
          <a:noFill/>
          <a:ln/>
        </p:spPr>
        <p:txBody>
          <a:bodyPr wrap="square" lIns="0" tIns="0" rIns="0" bIns="0" rtlCol="0" anchor="ctr"/>
          <a:lstStyle/>
          <a:p>
            <a:pPr algn="ctr" indent="0" marL="0">
              <a:lnSpc>
                <a:spcPts val="1800"/>
              </a:lnSpc>
              <a:buNone/>
            </a:pPr>
            <a:r>
              <a:rPr lang="en-US" sz="1500" b="1" dirty="0">
                <a:solidFill>
                  <a:srgbClr val="FFFFFF"/>
                </a:solidFill>
                <a:latin typeface="Calibri" pitchFamily="34" charset="0"/>
                <a:ea typeface="Calibri" pitchFamily="34" charset="-122"/>
                <a:cs typeface="Calibri" pitchFamily="34" charset="-120"/>
              </a:rPr>
              <a:t>Integration</a:t>
            </a:r>
            <a:endParaRPr lang="en-US" sz="1500" dirty="0"/>
          </a:p>
          <a:p>
            <a:pPr algn="ctr" indent="0" marL="0">
              <a:lnSpc>
                <a:spcPts val="1800"/>
              </a:lnSpc>
              <a:buNone/>
            </a:pPr>
            <a:r>
              <a:rPr lang="en-US" sz="1500" b="1" dirty="0">
                <a:solidFill>
                  <a:srgbClr val="FFFFFF"/>
                </a:solidFill>
                <a:latin typeface="Calibri" pitchFamily="34" charset="0"/>
                <a:ea typeface="Calibri" pitchFamily="34" charset="-122"/>
                <a:cs typeface="Calibri" pitchFamily="34" charset="-120"/>
              </a:rPr>
              <a:t>session</a:t>
            </a:r>
            <a:endParaRPr lang="en-US" sz="1500" dirty="0"/>
          </a:p>
        </p:txBody>
      </p:sp>
      <p:sp>
        <p:nvSpPr>
          <p:cNvPr id="21" name="Shape 19"/>
          <p:cNvSpPr/>
          <p:nvPr/>
        </p:nvSpPr>
        <p:spPr>
          <a:xfrm>
            <a:off x="8458200" y="3383280"/>
            <a:ext cx="640080" cy="0"/>
          </a:xfrm>
          <a:prstGeom prst="line">
            <a:avLst/>
          </a:prstGeom>
          <a:noFill/>
          <a:ln w="15875">
            <a:solidFill>
              <a:srgbClr val="3E5C8A"/>
            </a:solidFill>
            <a:prstDash val="solid"/>
            <a:tailEnd type="triangle"/>
          </a:ln>
        </p:spPr>
      </p:sp>
      <p:sp>
        <p:nvSpPr>
          <p:cNvPr id="22" name="Shape 20"/>
          <p:cNvSpPr/>
          <p:nvPr/>
        </p:nvSpPr>
        <p:spPr>
          <a:xfrm>
            <a:off x="9189720" y="2331720"/>
            <a:ext cx="2331720" cy="2103120"/>
          </a:xfrm>
          <a:prstGeom prst="roundRect">
            <a:avLst>
              <a:gd name="adj" fmla="val 5217"/>
            </a:avLst>
          </a:prstGeom>
          <a:solidFill>
            <a:srgbClr val="FFFFFF"/>
          </a:solidFill>
          <a:ln w="15875">
            <a:solidFill>
              <a:srgbClr val="1E2761"/>
            </a:solidFill>
            <a:prstDash val="solid"/>
          </a:ln>
        </p:spPr>
      </p:sp>
      <p:sp>
        <p:nvSpPr>
          <p:cNvPr id="23" name="Text 21"/>
          <p:cNvSpPr txBox="1"/>
          <p:nvPr/>
        </p:nvSpPr>
        <p:spPr>
          <a:xfrm>
            <a:off x="9372600" y="2468880"/>
            <a:ext cx="2011680" cy="274320"/>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What comes out</a:t>
            </a:r>
            <a:endParaRPr lang="en-US" sz="1200" dirty="0"/>
          </a:p>
        </p:txBody>
      </p:sp>
      <p:sp>
        <p:nvSpPr>
          <p:cNvPr id="24" name="Text 22"/>
          <p:cNvSpPr txBox="1"/>
          <p:nvPr/>
        </p:nvSpPr>
        <p:spPr>
          <a:xfrm>
            <a:off x="9372600" y="2834640"/>
            <a:ext cx="2011680" cy="1463040"/>
          </a:xfrm>
          <a:prstGeom prst="rect">
            <a:avLst/>
          </a:prstGeom>
          <a:noFill/>
          <a:ln/>
        </p:spPr>
        <p:txBody>
          <a:bodyPr wrap="square" lIns="0" tIns="0" rIns="0" bIns="0" rtlCol="0" anchor="ctr"/>
          <a:lstStyle/>
          <a:p>
            <a:pPr marL="342900" indent="-342900">
              <a:spcAft>
                <a:spcPts val="600"/>
              </a:spcAft>
              <a:buSzPct val="100000"/>
              <a:buChar char="•"/>
            </a:pPr>
            <a:r>
              <a:rPr lang="en-US" sz="1100" dirty="0">
                <a:solidFill>
                  <a:srgbClr val="44506B"/>
                </a:solidFill>
                <a:latin typeface="Calibri" pitchFamily="34" charset="0"/>
                <a:ea typeface="Calibri" pitchFamily="34" charset="-122"/>
                <a:cs typeface="Calibri" pitchFamily="34" charset="-120"/>
              </a:rPr>
              <a:t>Integrated propositions</a:t>
            </a:r>
            <a:endParaRPr lang="en-US" sz="1100" dirty="0"/>
          </a:p>
          <a:p>
            <a:pPr marL="342900" indent="-342900">
              <a:spcAft>
                <a:spcPts val="600"/>
              </a:spcAft>
              <a:buSzPct val="100000"/>
              <a:buChar char="•"/>
            </a:pPr>
            <a:r>
              <a:rPr lang="en-US" sz="1100" dirty="0">
                <a:solidFill>
                  <a:srgbClr val="44506B"/>
                </a:solidFill>
                <a:latin typeface="Calibri" pitchFamily="34" charset="0"/>
                <a:ea typeface="Calibri" pitchFamily="34" charset="-122"/>
                <a:cs typeface="Calibri" pitchFamily="34" charset="-120"/>
              </a:rPr>
              <a:t>Account-level plays</a:t>
            </a:r>
            <a:endParaRPr lang="en-US" sz="1100" dirty="0"/>
          </a:p>
          <a:p>
            <a:pPr marL="342900" indent="-342900">
              <a:spcAft>
                <a:spcPts val="600"/>
              </a:spcAft>
              <a:buSzPct val="100000"/>
              <a:buChar char="•"/>
            </a:pPr>
            <a:r>
              <a:rPr lang="en-US" sz="1100" dirty="0">
                <a:solidFill>
                  <a:srgbClr val="44506B"/>
                </a:solidFill>
                <a:latin typeface="Calibri" pitchFamily="34" charset="0"/>
                <a:ea typeface="Calibri" pitchFamily="34" charset="-122"/>
                <a:cs typeface="Calibri" pitchFamily="34" charset="-120"/>
              </a:rPr>
              <a:t>One catalogue, not three</a:t>
            </a:r>
            <a:endParaRPr lang="en-US" sz="1100" dirty="0"/>
          </a:p>
        </p:txBody>
      </p:sp>
      <p:sp>
        <p:nvSpPr>
          <p:cNvPr id="25" name="Shape 23"/>
          <p:cNvSpPr/>
          <p:nvPr/>
        </p:nvSpPr>
        <p:spPr>
          <a:xfrm>
            <a:off x="640080" y="5257800"/>
            <a:ext cx="10881360" cy="868680"/>
          </a:xfrm>
          <a:prstGeom prst="roundRect">
            <a:avLst>
              <a:gd name="adj" fmla="val 10526"/>
            </a:avLst>
          </a:prstGeom>
          <a:solidFill>
            <a:srgbClr val="EDF2FA"/>
          </a:solidFill>
          <a:ln/>
        </p:spPr>
      </p:sp>
      <p:sp>
        <p:nvSpPr>
          <p:cNvPr id="26" name="Text 24"/>
          <p:cNvSpPr txBox="1"/>
          <p:nvPr/>
        </p:nvSpPr>
        <p:spPr>
          <a:xfrm>
            <a:off x="914400" y="5257800"/>
            <a:ext cx="10332720" cy="868680"/>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The weekly rhythm: diverge early in the week, converge before it closes. Nothing carries into the next week un-merged, and the integration session is where abstraction and refactoring happen — not in the gate.</a:t>
            </a:r>
            <a:endParaRPr lang="en-US" sz="1250" dirty="0"/>
          </a:p>
        </p:txBody>
      </p:sp>
      <p:sp>
        <p:nvSpPr>
          <p:cNvPr id="27" name="Text 25"/>
          <p:cNvSpPr txBox="1"/>
          <p:nvPr/>
        </p:nvSpPr>
        <p:spPr>
          <a:xfrm>
            <a:off x="640080" y="6263640"/>
            <a:ext cx="10881360" cy="320040"/>
          </a:xfrm>
          <a:prstGeom prst="rect">
            <a:avLst/>
          </a:prstGeom>
          <a:noFill/>
          <a:ln/>
        </p:spPr>
        <p:txBody>
          <a:bodyPr wrap="square" lIns="0" tIns="0" rIns="0" bIns="0" rtlCol="0" anchor="ctr"/>
          <a:lstStyle/>
          <a:p>
            <a:pPr indent="0" marL="0">
              <a:buNone/>
            </a:pPr>
            <a:r>
              <a:rPr lang="en-US" sz="1150" i="1" dirty="0">
                <a:solidFill>
                  <a:srgbClr val="8792AB"/>
                </a:solidFill>
                <a:latin typeface="Calibri" pitchFamily="34" charset="0"/>
                <a:ea typeface="Calibri" pitchFamily="34" charset="-122"/>
                <a:cs typeface="Calibri" pitchFamily="34" charset="-120"/>
              </a:rPr>
              <a:t>Applies through Baseline, Define and Quantify — the three steps where the work is actually generated.</a:t>
            </a:r>
            <a:endParaRPr lang="en-US" sz="11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Five workstreams, one per pillar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Each pillar has one owner and a defined set of artefacts.</a:t>
            </a:r>
            <a:endParaRPr lang="en-US" sz="1450" dirty="0"/>
          </a:p>
        </p:txBody>
      </p:sp>
      <p:sp>
        <p:nvSpPr>
          <p:cNvPr id="4" name="Shape 2"/>
          <p:cNvSpPr/>
          <p:nvPr/>
        </p:nvSpPr>
        <p:spPr>
          <a:xfrm>
            <a:off x="640080" y="1874520"/>
            <a:ext cx="10881360" cy="749808"/>
          </a:xfrm>
          <a:prstGeom prst="roundRect">
            <a:avLst>
              <a:gd name="adj" fmla="val 12195"/>
            </a:avLst>
          </a:prstGeom>
          <a:solidFill>
            <a:srgbClr val="F2F6FC"/>
          </a:solidFill>
          <a:ln/>
        </p:spPr>
      </p:sp>
      <p:sp>
        <p:nvSpPr>
          <p:cNvPr id="5" name="Text 3"/>
          <p:cNvSpPr txBox="1"/>
          <p:nvPr/>
        </p:nvSpPr>
        <p:spPr>
          <a:xfrm>
            <a:off x="914400" y="191109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1 · Market and clients</a:t>
            </a:r>
            <a:endParaRPr lang="en-US" sz="1350" dirty="0"/>
          </a:p>
        </p:txBody>
      </p:sp>
      <p:sp>
        <p:nvSpPr>
          <p:cNvPr id="6" name="Text 4"/>
          <p:cNvSpPr txBox="1"/>
          <p:nvPr/>
        </p:nvSpPr>
        <p:spPr>
          <a:xfrm>
            <a:off x="914400" y="224028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Markets, sectors, tiering, named accounts, offerings and revenue per account, coverage</a:t>
            </a:r>
            <a:endParaRPr lang="en-US" sz="1050" dirty="0"/>
          </a:p>
        </p:txBody>
      </p:sp>
      <p:sp>
        <p:nvSpPr>
          <p:cNvPr id="7" name="Text 5"/>
          <p:cNvSpPr txBox="1"/>
          <p:nvPr/>
        </p:nvSpPr>
        <p:spPr>
          <a:xfrm>
            <a:off x="4846320" y="187452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Market prioritisation · target account list · account revenue plan · coverage map</a:t>
            </a:r>
            <a:endParaRPr lang="en-US" sz="1250" dirty="0"/>
          </a:p>
        </p:txBody>
      </p:sp>
      <p:sp>
        <p:nvSpPr>
          <p:cNvPr id="8" name="Shape 6"/>
          <p:cNvSpPr/>
          <p:nvPr/>
        </p:nvSpPr>
        <p:spPr>
          <a:xfrm>
            <a:off x="640080" y="2743200"/>
            <a:ext cx="10881360" cy="749808"/>
          </a:xfrm>
          <a:prstGeom prst="roundRect">
            <a:avLst>
              <a:gd name="adj" fmla="val 12195"/>
            </a:avLst>
          </a:prstGeom>
          <a:solidFill>
            <a:srgbClr val="EDF2FA"/>
          </a:solidFill>
          <a:ln/>
        </p:spPr>
      </p:sp>
      <p:sp>
        <p:nvSpPr>
          <p:cNvPr id="9" name="Text 7"/>
          <p:cNvSpPr txBox="1"/>
          <p:nvPr/>
        </p:nvSpPr>
        <p:spPr>
          <a:xfrm>
            <a:off x="914400" y="277977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2 · Propositions</a:t>
            </a:r>
            <a:endParaRPr lang="en-US" sz="1350" dirty="0"/>
          </a:p>
        </p:txBody>
      </p:sp>
      <p:sp>
        <p:nvSpPr>
          <p:cNvPr id="10" name="Text 8"/>
          <p:cNvSpPr txBox="1"/>
          <p:nvPr/>
        </p:nvSpPr>
        <p:spPr>
          <a:xfrm>
            <a:off x="914400" y="310896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What we sell: integrated propositions, use cases and permitted archetypes</a:t>
            </a:r>
            <a:endParaRPr lang="en-US" sz="1050" dirty="0"/>
          </a:p>
        </p:txBody>
      </p:sp>
      <p:sp>
        <p:nvSpPr>
          <p:cNvPr id="11" name="Text 9"/>
          <p:cNvSpPr txBox="1"/>
          <p:nvPr/>
        </p:nvSpPr>
        <p:spPr>
          <a:xfrm>
            <a:off x="4846320" y="274320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Proposition catalogue</a:t>
            </a:r>
            <a:endParaRPr lang="en-US" sz="1250" dirty="0"/>
          </a:p>
        </p:txBody>
      </p:sp>
      <p:sp>
        <p:nvSpPr>
          <p:cNvPr id="12" name="Shape 10"/>
          <p:cNvSpPr/>
          <p:nvPr/>
        </p:nvSpPr>
        <p:spPr>
          <a:xfrm>
            <a:off x="640080" y="3611880"/>
            <a:ext cx="10881360" cy="749808"/>
          </a:xfrm>
          <a:prstGeom prst="roundRect">
            <a:avLst>
              <a:gd name="adj" fmla="val 12195"/>
            </a:avLst>
          </a:prstGeom>
          <a:solidFill>
            <a:srgbClr val="F2F6FC"/>
          </a:solidFill>
          <a:ln/>
        </p:spPr>
      </p:sp>
      <p:sp>
        <p:nvSpPr>
          <p:cNvPr id="13" name="Text 11"/>
          <p:cNvSpPr txBox="1"/>
          <p:nvPr/>
        </p:nvSpPr>
        <p:spPr>
          <a:xfrm>
            <a:off x="914400" y="364845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3 · Delivery and economics</a:t>
            </a:r>
            <a:endParaRPr lang="en-US" sz="1350" dirty="0"/>
          </a:p>
        </p:txBody>
      </p:sp>
      <p:sp>
        <p:nvSpPr>
          <p:cNvPr id="14" name="Text 12"/>
          <p:cNvSpPr txBox="1"/>
          <p:nvPr/>
        </p:nvSpPr>
        <p:spPr>
          <a:xfrm>
            <a:off x="914400" y="397764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Delivery model and assets, construct, pricing, margin, team, skills and targets</a:t>
            </a:r>
            <a:endParaRPr lang="en-US" sz="1050" dirty="0"/>
          </a:p>
        </p:txBody>
      </p:sp>
      <p:sp>
        <p:nvSpPr>
          <p:cNvPr id="15" name="Text 13"/>
          <p:cNvSpPr txBox="1"/>
          <p:nvPr/>
        </p:nvSpPr>
        <p:spPr>
          <a:xfrm>
            <a:off x="4846320" y="361188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Pricing bands · offering economics · team model · revenue targets</a:t>
            </a:r>
            <a:endParaRPr lang="en-US" sz="1250" dirty="0"/>
          </a:p>
        </p:txBody>
      </p:sp>
      <p:sp>
        <p:nvSpPr>
          <p:cNvPr id="16" name="Shape 14"/>
          <p:cNvSpPr/>
          <p:nvPr/>
        </p:nvSpPr>
        <p:spPr>
          <a:xfrm>
            <a:off x="640080" y="4480560"/>
            <a:ext cx="10881360" cy="749808"/>
          </a:xfrm>
          <a:prstGeom prst="roundRect">
            <a:avLst>
              <a:gd name="adj" fmla="val 12195"/>
            </a:avLst>
          </a:prstGeom>
          <a:solidFill>
            <a:srgbClr val="EDF2FA"/>
          </a:solidFill>
          <a:ln/>
        </p:spPr>
      </p:sp>
      <p:sp>
        <p:nvSpPr>
          <p:cNvPr id="17" name="Text 15"/>
          <p:cNvSpPr txBox="1"/>
          <p:nvPr/>
        </p:nvSpPr>
        <p:spPr>
          <a:xfrm>
            <a:off x="914400" y="451713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4 · Route to market</a:t>
            </a:r>
            <a:endParaRPr lang="en-US" sz="1350" dirty="0"/>
          </a:p>
        </p:txBody>
      </p:sp>
      <p:sp>
        <p:nvSpPr>
          <p:cNvPr id="18" name="Text 16"/>
          <p:cNvSpPr txBox="1"/>
          <p:nvPr/>
        </p:nvSpPr>
        <p:spPr>
          <a:xfrm>
            <a:off x="914400" y="484632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Alliances, eminence and differentiation</a:t>
            </a:r>
            <a:endParaRPr lang="en-US" sz="1050" dirty="0"/>
          </a:p>
        </p:txBody>
      </p:sp>
      <p:sp>
        <p:nvSpPr>
          <p:cNvPr id="19" name="Text 17"/>
          <p:cNvSpPr txBox="1"/>
          <p:nvPr/>
        </p:nvSpPr>
        <p:spPr>
          <a:xfrm>
            <a:off x="4846320" y="448056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Alliance map · eminence calendar</a:t>
            </a:r>
            <a:endParaRPr lang="en-US" sz="1250" dirty="0"/>
          </a:p>
        </p:txBody>
      </p:sp>
      <p:sp>
        <p:nvSpPr>
          <p:cNvPr id="20" name="Shape 18"/>
          <p:cNvSpPr/>
          <p:nvPr/>
        </p:nvSpPr>
        <p:spPr>
          <a:xfrm>
            <a:off x="640080" y="5349240"/>
            <a:ext cx="10881360" cy="749808"/>
          </a:xfrm>
          <a:prstGeom prst="roundRect">
            <a:avLst>
              <a:gd name="adj" fmla="val 12195"/>
            </a:avLst>
          </a:prstGeom>
          <a:solidFill>
            <a:srgbClr val="F2F6FC"/>
          </a:solidFill>
          <a:ln/>
        </p:spPr>
      </p:sp>
      <p:sp>
        <p:nvSpPr>
          <p:cNvPr id="21" name="Text 19"/>
          <p:cNvSpPr txBox="1"/>
          <p:nvPr/>
        </p:nvSpPr>
        <p:spPr>
          <a:xfrm>
            <a:off x="914400" y="538581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5 · Operating discipline</a:t>
            </a:r>
            <a:endParaRPr lang="en-US" sz="1350" dirty="0"/>
          </a:p>
        </p:txBody>
      </p:sp>
      <p:sp>
        <p:nvSpPr>
          <p:cNvPr id="22" name="Text 20"/>
          <p:cNvSpPr txBox="1"/>
          <p:nvPr/>
        </p:nvSpPr>
        <p:spPr>
          <a:xfrm>
            <a:off x="914400" y="571500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Rhythm, measures and decision rights after sign-off</a:t>
            </a:r>
            <a:endParaRPr lang="en-US" sz="1050" dirty="0"/>
          </a:p>
        </p:txBody>
      </p:sp>
      <p:sp>
        <p:nvSpPr>
          <p:cNvPr id="23" name="Text 21"/>
          <p:cNvSpPr txBox="1"/>
          <p:nvPr/>
        </p:nvSpPr>
        <p:spPr>
          <a:xfrm>
            <a:off x="4846320" y="534924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Operating rhythm · KPI scorecard · review calendar</a:t>
            </a:r>
            <a:endParaRPr lang="en-US" sz="1250" dirty="0"/>
          </a:p>
        </p:txBody>
      </p:sp>
      <p:sp>
        <p:nvSpPr>
          <p:cNvPr id="24" name="Text 22"/>
          <p:cNvSpPr txBox="1"/>
          <p:nvPr/>
        </p:nvSpPr>
        <p:spPr>
          <a:xfrm>
            <a:off x="640080" y="6309360"/>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Level 1 is the pillar and its owner. Level 2 is the topic, and every topic ends in one artefact in the appendix.</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The three-week journey</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Three weeks, three gates, one decision.</a:t>
            </a:r>
            <a:endParaRPr lang="en-US" sz="1450" dirty="0"/>
          </a:p>
        </p:txBody>
      </p:sp>
      <p:sp>
        <p:nvSpPr>
          <p:cNvPr id="4" name="Shape 2"/>
          <p:cNvSpPr/>
          <p:nvPr/>
        </p:nvSpPr>
        <p:spPr>
          <a:xfrm>
            <a:off x="640080" y="1828800"/>
            <a:ext cx="3429000" cy="3840480"/>
          </a:xfrm>
          <a:prstGeom prst="roundRect">
            <a:avLst>
              <a:gd name="adj" fmla="val 3200"/>
            </a:avLst>
          </a:prstGeom>
          <a:solidFill>
            <a:srgbClr val="EDF2FA"/>
          </a:solidFill>
          <a:ln/>
        </p:spPr>
      </p:sp>
      <p:sp>
        <p:nvSpPr>
          <p:cNvPr id="5" name="Shape 3"/>
          <p:cNvSpPr/>
          <p:nvPr/>
        </p:nvSpPr>
        <p:spPr>
          <a:xfrm>
            <a:off x="640080" y="1828800"/>
            <a:ext cx="3429000" cy="685800"/>
          </a:xfrm>
          <a:prstGeom prst="rect">
            <a:avLst/>
          </a:prstGeom>
          <a:solidFill>
            <a:srgbClr val="1E2761"/>
          </a:solidFill>
          <a:ln/>
        </p:spPr>
      </p:sp>
      <p:sp>
        <p:nvSpPr>
          <p:cNvPr id="6" name="Text 4"/>
          <p:cNvSpPr txBox="1"/>
          <p:nvPr/>
        </p:nvSpPr>
        <p:spPr>
          <a:xfrm>
            <a:off x="914400"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1  ·  Frame</a:t>
            </a:r>
            <a:endParaRPr lang="en-US" sz="1800" dirty="0"/>
          </a:p>
        </p:txBody>
      </p:sp>
      <p:sp>
        <p:nvSpPr>
          <p:cNvPr id="7" name="Text 5"/>
          <p:cNvSpPr txBox="1"/>
          <p:nvPr/>
        </p:nvSpPr>
        <p:spPr>
          <a:xfrm>
            <a:off x="914400"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Agree the vision and the ambition</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Baseline current position and credentials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Prioritise markets and sectors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Build the account longlist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Draft the proposition catalogue</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Baseline the team we have today</a:t>
            </a:r>
            <a:endParaRPr lang="en-US" sz="1250" dirty="0"/>
          </a:p>
        </p:txBody>
      </p:sp>
      <p:sp>
        <p:nvSpPr>
          <p:cNvPr id="8" name="Text 6"/>
          <p:cNvSpPr txBox="1"/>
          <p:nvPr/>
        </p:nvSpPr>
        <p:spPr>
          <a:xfrm>
            <a:off x="914400"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agreed market and sector priorities</a:t>
            </a:r>
            <a:endParaRPr lang="en-US" sz="1200" dirty="0"/>
          </a:p>
        </p:txBody>
      </p:sp>
      <p:sp>
        <p:nvSpPr>
          <p:cNvPr id="9" name="Text 7"/>
          <p:cNvSpPr txBox="1"/>
          <p:nvPr/>
        </p:nvSpPr>
        <p:spPr>
          <a:xfrm>
            <a:off x="4096512" y="3474720"/>
            <a:ext cx="256032" cy="457200"/>
          </a:xfrm>
          <a:prstGeom prst="rect">
            <a:avLst/>
          </a:prstGeom>
          <a:noFill/>
          <a:ln/>
        </p:spPr>
        <p:txBody>
          <a:bodyPr wrap="square" lIns="0" tIns="0" rIns="0" bIns="0" rtlCol="0" anchor="ctr"/>
          <a:lstStyle/>
          <a:p>
            <a:pPr algn="ctr" indent="0" marL="0">
              <a:buNone/>
            </a:pPr>
            <a:r>
              <a:rPr lang="en-US" sz="2000" dirty="0">
                <a:solidFill>
                  <a:srgbClr val="8792AB"/>
                </a:solidFill>
                <a:latin typeface="Calibri" pitchFamily="34" charset="0"/>
                <a:ea typeface="Calibri" pitchFamily="34" charset="-122"/>
                <a:cs typeface="Calibri" pitchFamily="34" charset="-120"/>
              </a:rPr>
              <a:t>→</a:t>
            </a:r>
            <a:endParaRPr lang="en-US" sz="2000" dirty="0"/>
          </a:p>
        </p:txBody>
      </p:sp>
      <p:sp>
        <p:nvSpPr>
          <p:cNvPr id="10" name="Shape 8"/>
          <p:cNvSpPr/>
          <p:nvPr/>
        </p:nvSpPr>
        <p:spPr>
          <a:xfrm>
            <a:off x="4361688" y="1828800"/>
            <a:ext cx="3429000" cy="3840480"/>
          </a:xfrm>
          <a:prstGeom prst="roundRect">
            <a:avLst>
              <a:gd name="adj" fmla="val 3200"/>
            </a:avLst>
          </a:prstGeom>
          <a:solidFill>
            <a:srgbClr val="EDF2FA"/>
          </a:solidFill>
          <a:ln/>
        </p:spPr>
      </p:sp>
      <p:sp>
        <p:nvSpPr>
          <p:cNvPr id="11" name="Shape 9"/>
          <p:cNvSpPr/>
          <p:nvPr/>
        </p:nvSpPr>
        <p:spPr>
          <a:xfrm>
            <a:off x="4361688" y="1828800"/>
            <a:ext cx="3429000" cy="685800"/>
          </a:xfrm>
          <a:prstGeom prst="rect">
            <a:avLst/>
          </a:prstGeom>
          <a:solidFill>
            <a:srgbClr val="3E5C8A"/>
          </a:solidFill>
          <a:ln/>
        </p:spPr>
      </p:sp>
      <p:sp>
        <p:nvSpPr>
          <p:cNvPr id="12" name="Text 10"/>
          <p:cNvSpPr txBox="1"/>
          <p:nvPr/>
        </p:nvSpPr>
        <p:spPr>
          <a:xfrm>
            <a:off x="4636008"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2  ·  Define</a:t>
            </a:r>
            <a:endParaRPr lang="en-US" sz="1800" dirty="0"/>
          </a:p>
        </p:txBody>
      </p:sp>
      <p:sp>
        <p:nvSpPr>
          <p:cNvPr id="13" name="Text 11"/>
          <p:cNvSpPr txBox="1"/>
          <p:nvPr/>
        </p:nvSpPr>
        <p:spPr>
          <a:xfrm>
            <a:off x="4636008"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Converge the offering views into integrated propositions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Benchmark deal sizes and pricing</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delivery construct, ADR and margin</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Shortlist target accounts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Map alliances to offerings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Size the capacity each target implies</a:t>
            </a:r>
            <a:endParaRPr lang="en-US" sz="1250" dirty="0"/>
          </a:p>
        </p:txBody>
      </p:sp>
      <p:sp>
        <p:nvSpPr>
          <p:cNvPr id="14" name="Text 12"/>
          <p:cNvSpPr txBox="1"/>
          <p:nvPr/>
        </p:nvSpPr>
        <p:spPr>
          <a:xfrm>
            <a:off x="4636008"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agreed catalogue and shortlist</a:t>
            </a:r>
            <a:endParaRPr lang="en-US" sz="1200" dirty="0"/>
          </a:p>
        </p:txBody>
      </p:sp>
      <p:sp>
        <p:nvSpPr>
          <p:cNvPr id="15" name="Text 13"/>
          <p:cNvSpPr txBox="1"/>
          <p:nvPr/>
        </p:nvSpPr>
        <p:spPr>
          <a:xfrm>
            <a:off x="7818120" y="3474720"/>
            <a:ext cx="256032" cy="457200"/>
          </a:xfrm>
          <a:prstGeom prst="rect">
            <a:avLst/>
          </a:prstGeom>
          <a:noFill/>
          <a:ln/>
        </p:spPr>
        <p:txBody>
          <a:bodyPr wrap="square" lIns="0" tIns="0" rIns="0" bIns="0" rtlCol="0" anchor="ctr"/>
          <a:lstStyle/>
          <a:p>
            <a:pPr algn="ctr" indent="0" marL="0">
              <a:buNone/>
            </a:pPr>
            <a:r>
              <a:rPr lang="en-US" sz="2000" dirty="0">
                <a:solidFill>
                  <a:srgbClr val="8792AB"/>
                </a:solidFill>
                <a:latin typeface="Calibri" pitchFamily="34" charset="0"/>
                <a:ea typeface="Calibri" pitchFamily="34" charset="-122"/>
                <a:cs typeface="Calibri" pitchFamily="34" charset="-120"/>
              </a:rPr>
              <a:t>→</a:t>
            </a:r>
            <a:endParaRPr lang="en-US" sz="2000" dirty="0"/>
          </a:p>
        </p:txBody>
      </p:sp>
      <p:sp>
        <p:nvSpPr>
          <p:cNvPr id="16" name="Shape 14"/>
          <p:cNvSpPr/>
          <p:nvPr/>
        </p:nvSpPr>
        <p:spPr>
          <a:xfrm>
            <a:off x="8083296" y="1828800"/>
            <a:ext cx="3429000" cy="3840480"/>
          </a:xfrm>
          <a:prstGeom prst="roundRect">
            <a:avLst>
              <a:gd name="adj" fmla="val 3200"/>
            </a:avLst>
          </a:prstGeom>
          <a:solidFill>
            <a:srgbClr val="EDF2FA"/>
          </a:solidFill>
          <a:ln/>
        </p:spPr>
      </p:sp>
      <p:sp>
        <p:nvSpPr>
          <p:cNvPr id="17" name="Shape 15"/>
          <p:cNvSpPr/>
          <p:nvPr/>
        </p:nvSpPr>
        <p:spPr>
          <a:xfrm>
            <a:off x="8083296" y="1828800"/>
            <a:ext cx="3429000" cy="685800"/>
          </a:xfrm>
          <a:prstGeom prst="rect">
            <a:avLst/>
          </a:prstGeom>
          <a:solidFill>
            <a:srgbClr val="1E2761"/>
          </a:solidFill>
          <a:ln/>
        </p:spPr>
      </p:sp>
      <p:sp>
        <p:nvSpPr>
          <p:cNvPr id="18" name="Text 16"/>
          <p:cNvSpPr txBox="1"/>
          <p:nvPr/>
        </p:nvSpPr>
        <p:spPr>
          <a:xfrm>
            <a:off x="8357616"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3  ·  Commit</a:t>
            </a:r>
            <a:endParaRPr lang="en-US" sz="1800" dirty="0"/>
          </a:p>
        </p:txBody>
      </p:sp>
      <p:sp>
        <p:nvSpPr>
          <p:cNvPr id="19" name="Text 17"/>
          <p:cNvSpPr txBox="1"/>
          <p:nvPr/>
        </p:nvSpPr>
        <p:spPr>
          <a:xfrm>
            <a:off x="8357616"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revenue targets by account, offering and market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Assign an owner to every account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Agree the team model and recruitment plan</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the eminence calendar</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Sign off, then socialise to the FSI community</a:t>
            </a:r>
            <a:endParaRPr lang="en-US" sz="1250" dirty="0"/>
          </a:p>
        </p:txBody>
      </p:sp>
      <p:sp>
        <p:nvSpPr>
          <p:cNvPr id="20" name="Text 18"/>
          <p:cNvSpPr txBox="1"/>
          <p:nvPr/>
        </p:nvSpPr>
        <p:spPr>
          <a:xfrm>
            <a:off x="8357616"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strategy signed off</a:t>
            </a:r>
            <a:endParaRPr lang="en-US" sz="1200" dirty="0"/>
          </a:p>
        </p:txBody>
      </p:sp>
      <p:sp>
        <p:nvSpPr>
          <p:cNvPr id="21" name="Text 19"/>
          <p:cNvSpPr txBox="1"/>
          <p:nvPr/>
        </p:nvSpPr>
        <p:spPr>
          <a:xfrm>
            <a:off x="640080" y="5852160"/>
            <a:ext cx="10881360" cy="32004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Start date to be defined at kick-off. Socialisation follows sign-off, and the initiatives run on from there.</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2011680" y="4023360"/>
            <a:ext cx="5669280" cy="5669280"/>
          </a:xfrm>
          <a:prstGeom prst="ellipse">
            <a:avLst/>
          </a:prstGeom>
          <a:solidFill>
            <a:srgbClr val="3E5C8A">
              <a:alpha val="45000"/>
            </a:srgbClr>
          </a:solidFill>
          <a:ln/>
        </p:spPr>
      </p:sp>
      <p:sp>
        <p:nvSpPr>
          <p:cNvPr id="3" name="Text 1"/>
          <p:cNvSpPr txBox="1"/>
          <p:nvPr/>
        </p:nvSpPr>
        <p:spPr>
          <a:xfrm>
            <a:off x="731520" y="548640"/>
            <a:ext cx="10058400" cy="73152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How we run the cycle</a:t>
            </a:r>
            <a:endParaRPr lang="en-US" sz="3600" dirty="0"/>
          </a:p>
        </p:txBody>
      </p:sp>
      <p:sp>
        <p:nvSpPr>
          <p:cNvPr id="4" name="Text 2"/>
          <p:cNvSpPr txBox="1"/>
          <p:nvPr/>
        </p:nvSpPr>
        <p:spPr>
          <a:xfrm>
            <a:off x="731520" y="1298448"/>
            <a:ext cx="10058400" cy="411480"/>
          </a:xfrm>
          <a:prstGeom prst="rect">
            <a:avLst/>
          </a:prstGeom>
          <a:noFill/>
          <a:ln/>
        </p:spPr>
        <p:txBody>
          <a:bodyPr wrap="square" lIns="0" tIns="0" rIns="0" bIns="0" rtlCol="0" anchor="ctr"/>
          <a:lstStyle/>
          <a:p>
            <a:pPr indent="0" marL="0">
              <a:buNone/>
            </a:pPr>
            <a:r>
              <a:rPr lang="en-US" sz="1450" dirty="0">
                <a:solidFill>
                  <a:srgbClr val="CADCFC"/>
                </a:solidFill>
                <a:latin typeface="Calibri" pitchFamily="34" charset="0"/>
                <a:ea typeface="Calibri" pitchFamily="34" charset="-122"/>
                <a:cs typeface="Calibri" pitchFamily="34" charset="-120"/>
              </a:rPr>
              <a:t>Cadence, inputs and the decisions we are asking for.</a:t>
            </a:r>
            <a:endParaRPr lang="en-US" sz="1450" dirty="0"/>
          </a:p>
        </p:txBody>
      </p:sp>
      <p:sp>
        <p:nvSpPr>
          <p:cNvPr id="5" name="Shape 3"/>
          <p:cNvSpPr/>
          <p:nvPr/>
        </p:nvSpPr>
        <p:spPr>
          <a:xfrm>
            <a:off x="731520" y="1965960"/>
            <a:ext cx="384048" cy="384048"/>
          </a:xfrm>
          <a:prstGeom prst="ellipse">
            <a:avLst/>
          </a:prstGeom>
          <a:solidFill>
            <a:srgbClr val="3E5C8A"/>
          </a:solidFill>
          <a:ln/>
        </p:spPr>
      </p:sp>
      <p:sp>
        <p:nvSpPr>
          <p:cNvPr id="6" name="Text 4"/>
          <p:cNvSpPr txBox="1"/>
          <p:nvPr/>
        </p:nvSpPr>
        <p:spPr>
          <a:xfrm>
            <a:off x="73152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28016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Cadence</a:t>
            </a:r>
            <a:endParaRPr lang="en-US" sz="1900" dirty="0"/>
          </a:p>
        </p:txBody>
      </p:sp>
      <p:sp>
        <p:nvSpPr>
          <p:cNvPr id="8" name="Text 6"/>
          <p:cNvSpPr txBox="1"/>
          <p:nvPr/>
        </p:nvSpPr>
        <p:spPr>
          <a:xfrm>
            <a:off x="73152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Kick-off to confirm scope and principles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Weekly working session per workstream</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Checkpoint at the end of each week</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Sign-off session in week three</a:t>
            </a:r>
            <a:endParaRPr lang="en-US" sz="1300" dirty="0"/>
          </a:p>
        </p:txBody>
      </p:sp>
      <p:sp>
        <p:nvSpPr>
          <p:cNvPr id="9" name="Shape 7"/>
          <p:cNvSpPr/>
          <p:nvPr/>
        </p:nvSpPr>
        <p:spPr>
          <a:xfrm>
            <a:off x="4434840" y="1965960"/>
            <a:ext cx="384048" cy="384048"/>
          </a:xfrm>
          <a:prstGeom prst="ellipse">
            <a:avLst/>
          </a:prstGeom>
          <a:solidFill>
            <a:srgbClr val="3E5C8A"/>
          </a:solidFill>
          <a:ln/>
        </p:spPr>
      </p:sp>
      <p:sp>
        <p:nvSpPr>
          <p:cNvPr id="10" name="Text 8"/>
          <p:cNvSpPr txBox="1"/>
          <p:nvPr/>
        </p:nvSpPr>
        <p:spPr>
          <a:xfrm>
            <a:off x="443484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9"/>
          <p:cNvSpPr txBox="1"/>
          <p:nvPr/>
        </p:nvSpPr>
        <p:spPr>
          <a:xfrm>
            <a:off x="498348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Inputs we need</a:t>
            </a:r>
            <a:endParaRPr lang="en-US" sz="1900" dirty="0"/>
          </a:p>
        </p:txBody>
      </p:sp>
      <p:sp>
        <p:nvSpPr>
          <p:cNvPr id="12" name="Text 10"/>
          <p:cNvSpPr txBox="1"/>
          <p:nvPr/>
        </p:nvSpPr>
        <p:spPr>
          <a:xfrm>
            <a:off x="443484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The EAI&amp;D portfolio strategy and the FSI industry strategy</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Current pipeline and revenue by pillar</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Existing account relationships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Alliance and partnership status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Delivery capacity and skills view</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Historical deal values</a:t>
            </a:r>
            <a:endParaRPr lang="en-US" sz="1300" dirty="0"/>
          </a:p>
        </p:txBody>
      </p:sp>
      <p:sp>
        <p:nvSpPr>
          <p:cNvPr id="13" name="Shape 11"/>
          <p:cNvSpPr/>
          <p:nvPr/>
        </p:nvSpPr>
        <p:spPr>
          <a:xfrm>
            <a:off x="8138160" y="1965960"/>
            <a:ext cx="384048" cy="384048"/>
          </a:xfrm>
          <a:prstGeom prst="ellipse">
            <a:avLst/>
          </a:prstGeom>
          <a:solidFill>
            <a:srgbClr val="3E5C8A"/>
          </a:solidFill>
          <a:ln/>
        </p:spPr>
      </p:sp>
      <p:sp>
        <p:nvSpPr>
          <p:cNvPr id="14" name="Text 12"/>
          <p:cNvSpPr txBox="1"/>
          <p:nvPr/>
        </p:nvSpPr>
        <p:spPr>
          <a:xfrm>
            <a:off x="813816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3"/>
          <p:cNvSpPr txBox="1"/>
          <p:nvPr/>
        </p:nvSpPr>
        <p:spPr>
          <a:xfrm>
            <a:off x="868680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Decisions requested</a:t>
            </a:r>
            <a:endParaRPr lang="en-US" sz="1900" dirty="0"/>
          </a:p>
        </p:txBody>
      </p:sp>
      <p:sp>
        <p:nvSpPr>
          <p:cNvPr id="16" name="Text 14"/>
          <p:cNvSpPr txBox="1"/>
          <p:nvPr/>
        </p:nvSpPr>
        <p:spPr>
          <a:xfrm>
            <a:off x="813816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Alignment with both parent strategies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The vision, then the ambition in numbers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Target account list</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Revenue and margin targets by account</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Account ownership</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Alliance priorities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Investment and hiring asks</a:t>
            </a:r>
            <a:endParaRPr lang="en-US" sz="1300" dirty="0"/>
          </a:p>
        </p:txBody>
      </p:sp>
      <p:sp>
        <p:nvSpPr>
          <p:cNvPr id="17" name="Text 15"/>
          <p:cNvSpPr txBox="1"/>
          <p:nvPr/>
        </p:nvSpPr>
        <p:spPr>
          <a:xfrm>
            <a:off x="731520" y="5852160"/>
            <a:ext cx="6400800" cy="365760"/>
          </a:xfrm>
          <a:prstGeom prst="rect">
            <a:avLst/>
          </a:prstGeom>
          <a:noFill/>
          <a:ln/>
        </p:spPr>
        <p:txBody>
          <a:bodyPr wrap="square" lIns="0" tIns="0" rIns="0" bIns="0" rtlCol="0" anchor="ctr"/>
          <a:lstStyle/>
          <a:p>
            <a:pPr indent="0" marL="0">
              <a:buNone/>
            </a:pPr>
            <a:r>
              <a:rPr lang="en-US" sz="1200" i="1" dirty="0">
                <a:solidFill>
                  <a:srgbClr val="9AA7C4"/>
                </a:solidFill>
                <a:latin typeface="Calibri" pitchFamily="34" charset="0"/>
                <a:ea typeface="Calibri" pitchFamily="34" charset="-122"/>
                <a:cs typeface="Calibri" pitchFamily="34" charset="-120"/>
              </a:rPr>
              <a:t>Dates and participants beyond the core team are set at kick-off.</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Who meets, and when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Three levels of session across the sprint. Everything else is working time.</a:t>
            </a:r>
            <a:endParaRPr lang="en-US" sz="1450" dirty="0"/>
          </a:p>
        </p:txBody>
      </p:sp>
      <p:sp>
        <p:nvSpPr>
          <p:cNvPr id="4" name="Text 2"/>
          <p:cNvSpPr txBox="1"/>
          <p:nvPr/>
        </p:nvSpPr>
        <p:spPr>
          <a:xfrm>
            <a:off x="2743200" y="1783080"/>
            <a:ext cx="2103120" cy="365760"/>
          </a:xfrm>
          <a:prstGeom prst="rect">
            <a:avLst/>
          </a:prstGeom>
          <a:noFill/>
          <a:ln/>
        </p:spPr>
        <p:txBody>
          <a:bodyPr wrap="square" lIns="0" tIns="0" rIns="0" bIns="0" rtlCol="0" anchor="ctr"/>
          <a:lstStyle/>
          <a:p>
            <a:pPr algn="ctr" indent="0" marL="0">
              <a:buNone/>
            </a:pPr>
            <a:r>
              <a:rPr lang="en-US" sz="1250" b="1" dirty="0">
                <a:solidFill>
                  <a:srgbClr val="1E2761"/>
                </a:solidFill>
                <a:latin typeface="Calibri" pitchFamily="34" charset="0"/>
                <a:ea typeface="Calibri" pitchFamily="34" charset="-122"/>
                <a:cs typeface="Calibri" pitchFamily="34" charset="-120"/>
              </a:rPr>
              <a:t>Week 1</a:t>
            </a:r>
            <a:endParaRPr lang="en-US" sz="1250" dirty="0"/>
          </a:p>
        </p:txBody>
      </p:sp>
      <p:sp>
        <p:nvSpPr>
          <p:cNvPr id="5" name="Text 3"/>
          <p:cNvSpPr txBox="1"/>
          <p:nvPr/>
        </p:nvSpPr>
        <p:spPr>
          <a:xfrm>
            <a:off x="4956048" y="1783080"/>
            <a:ext cx="2103120" cy="365760"/>
          </a:xfrm>
          <a:prstGeom prst="rect">
            <a:avLst/>
          </a:prstGeom>
          <a:noFill/>
          <a:ln/>
        </p:spPr>
        <p:txBody>
          <a:bodyPr wrap="square" lIns="0" tIns="0" rIns="0" bIns="0" rtlCol="0" anchor="ctr"/>
          <a:lstStyle/>
          <a:p>
            <a:pPr algn="ctr" indent="0" marL="0">
              <a:buNone/>
            </a:pPr>
            <a:r>
              <a:rPr lang="en-US" sz="1250" b="1" dirty="0">
                <a:solidFill>
                  <a:srgbClr val="1E2761"/>
                </a:solidFill>
                <a:latin typeface="Calibri" pitchFamily="34" charset="0"/>
                <a:ea typeface="Calibri" pitchFamily="34" charset="-122"/>
                <a:cs typeface="Calibri" pitchFamily="34" charset="-120"/>
              </a:rPr>
              <a:t>Week 2</a:t>
            </a:r>
            <a:endParaRPr lang="en-US" sz="1250" dirty="0"/>
          </a:p>
        </p:txBody>
      </p:sp>
      <p:sp>
        <p:nvSpPr>
          <p:cNvPr id="6" name="Text 4"/>
          <p:cNvSpPr txBox="1"/>
          <p:nvPr/>
        </p:nvSpPr>
        <p:spPr>
          <a:xfrm>
            <a:off x="7168896" y="1783080"/>
            <a:ext cx="2103120" cy="365760"/>
          </a:xfrm>
          <a:prstGeom prst="rect">
            <a:avLst/>
          </a:prstGeom>
          <a:noFill/>
          <a:ln/>
        </p:spPr>
        <p:txBody>
          <a:bodyPr wrap="square" lIns="0" tIns="0" rIns="0" bIns="0" rtlCol="0" anchor="ctr"/>
          <a:lstStyle/>
          <a:p>
            <a:pPr algn="ctr" indent="0" marL="0">
              <a:buNone/>
            </a:pPr>
            <a:r>
              <a:rPr lang="en-US" sz="1250" b="1" dirty="0">
                <a:solidFill>
                  <a:srgbClr val="1E2761"/>
                </a:solidFill>
                <a:latin typeface="Calibri" pitchFamily="34" charset="0"/>
                <a:ea typeface="Calibri" pitchFamily="34" charset="-122"/>
                <a:cs typeface="Calibri" pitchFamily="34" charset="-120"/>
              </a:rPr>
              <a:t>Week 3</a:t>
            </a:r>
            <a:endParaRPr lang="en-US" sz="1250" dirty="0"/>
          </a:p>
        </p:txBody>
      </p:sp>
      <p:sp>
        <p:nvSpPr>
          <p:cNvPr id="7" name="Text 5"/>
          <p:cNvSpPr txBox="1"/>
          <p:nvPr/>
        </p:nvSpPr>
        <p:spPr>
          <a:xfrm>
            <a:off x="9381744" y="1783080"/>
            <a:ext cx="2103120" cy="365760"/>
          </a:xfrm>
          <a:prstGeom prst="rect">
            <a:avLst/>
          </a:prstGeom>
          <a:noFill/>
          <a:ln/>
        </p:spPr>
        <p:txBody>
          <a:bodyPr wrap="square" lIns="0" tIns="0" rIns="0" bIns="0" rtlCol="0" anchor="ctr"/>
          <a:lstStyle/>
          <a:p>
            <a:pPr algn="ctr" indent="0" marL="0">
              <a:buNone/>
            </a:pPr>
            <a:r>
              <a:rPr lang="en-US" sz="1250" b="1" dirty="0">
                <a:solidFill>
                  <a:srgbClr val="1E2761"/>
                </a:solidFill>
                <a:latin typeface="Calibri" pitchFamily="34" charset="0"/>
                <a:ea typeface="Calibri" pitchFamily="34" charset="-122"/>
                <a:cs typeface="Calibri" pitchFamily="34" charset="-120"/>
              </a:rPr>
              <a:t>After sign-off</a:t>
            </a:r>
            <a:endParaRPr lang="en-US" sz="1250" dirty="0"/>
          </a:p>
        </p:txBody>
      </p:sp>
      <p:sp>
        <p:nvSpPr>
          <p:cNvPr id="8" name="Shape 6"/>
          <p:cNvSpPr/>
          <p:nvPr/>
        </p:nvSpPr>
        <p:spPr>
          <a:xfrm>
            <a:off x="640080" y="2240280"/>
            <a:ext cx="1965960" cy="1280160"/>
          </a:xfrm>
          <a:prstGeom prst="roundRect">
            <a:avLst>
              <a:gd name="adj" fmla="val 7143"/>
            </a:avLst>
          </a:prstGeom>
          <a:solidFill>
            <a:srgbClr val="1E2761"/>
          </a:solidFill>
          <a:ln/>
        </p:spPr>
      </p:sp>
      <p:sp>
        <p:nvSpPr>
          <p:cNvPr id="9" name="Text 7"/>
          <p:cNvSpPr txBox="1"/>
          <p:nvPr/>
        </p:nvSpPr>
        <p:spPr>
          <a:xfrm>
            <a:off x="731520" y="2240280"/>
            <a:ext cx="1783080" cy="12801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Core team</a:t>
            </a:r>
            <a:endParaRPr lang="en-US" sz="1400" dirty="0"/>
          </a:p>
        </p:txBody>
      </p:sp>
      <p:sp>
        <p:nvSpPr>
          <p:cNvPr id="10" name="Shape 8"/>
          <p:cNvSpPr/>
          <p:nvPr/>
        </p:nvSpPr>
        <p:spPr>
          <a:xfrm>
            <a:off x="2743200" y="2240280"/>
            <a:ext cx="2103120" cy="1280160"/>
          </a:xfrm>
          <a:prstGeom prst="roundRect">
            <a:avLst>
              <a:gd name="adj" fmla="val 7143"/>
            </a:avLst>
          </a:prstGeom>
          <a:solidFill>
            <a:srgbClr val="F2F6FC"/>
          </a:solidFill>
          <a:ln/>
        </p:spPr>
      </p:sp>
      <p:sp>
        <p:nvSpPr>
          <p:cNvPr id="11" name="Text 9"/>
          <p:cNvSpPr txBox="1"/>
          <p:nvPr/>
        </p:nvSpPr>
        <p:spPr>
          <a:xfrm>
            <a:off x="2907792" y="2350008"/>
            <a:ext cx="1783080" cy="10972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Kick-off, half a day</a:t>
            </a:r>
            <a:endParaRPr lang="en-US" sz="950" dirty="0"/>
          </a:p>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Two working sessions</a:t>
            </a:r>
            <a:endParaRPr lang="en-US" sz="950" dirty="0"/>
          </a:p>
        </p:txBody>
      </p:sp>
      <p:sp>
        <p:nvSpPr>
          <p:cNvPr id="12" name="Shape 10"/>
          <p:cNvSpPr/>
          <p:nvPr/>
        </p:nvSpPr>
        <p:spPr>
          <a:xfrm>
            <a:off x="4956048" y="2240280"/>
            <a:ext cx="2103120" cy="1280160"/>
          </a:xfrm>
          <a:prstGeom prst="roundRect">
            <a:avLst>
              <a:gd name="adj" fmla="val 7143"/>
            </a:avLst>
          </a:prstGeom>
          <a:solidFill>
            <a:srgbClr val="EDF2FA"/>
          </a:solidFill>
          <a:ln/>
        </p:spPr>
      </p:sp>
      <p:sp>
        <p:nvSpPr>
          <p:cNvPr id="13" name="Text 11"/>
          <p:cNvSpPr txBox="1"/>
          <p:nvPr/>
        </p:nvSpPr>
        <p:spPr>
          <a:xfrm>
            <a:off x="5120640" y="2350008"/>
            <a:ext cx="1783080" cy="10972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Working session per workstream</a:t>
            </a:r>
            <a:endParaRPr lang="en-US" sz="950" dirty="0"/>
          </a:p>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Mid-week checkpoint</a:t>
            </a:r>
            <a:endParaRPr lang="en-US" sz="950" dirty="0"/>
          </a:p>
        </p:txBody>
      </p:sp>
      <p:sp>
        <p:nvSpPr>
          <p:cNvPr id="14" name="Shape 12"/>
          <p:cNvSpPr/>
          <p:nvPr/>
        </p:nvSpPr>
        <p:spPr>
          <a:xfrm>
            <a:off x="7168896" y="2240280"/>
            <a:ext cx="2103120" cy="1280160"/>
          </a:xfrm>
          <a:prstGeom prst="roundRect">
            <a:avLst>
              <a:gd name="adj" fmla="val 7143"/>
            </a:avLst>
          </a:prstGeom>
          <a:solidFill>
            <a:srgbClr val="F2F6FC"/>
          </a:solidFill>
          <a:ln/>
        </p:spPr>
      </p:sp>
      <p:sp>
        <p:nvSpPr>
          <p:cNvPr id="15" name="Text 13"/>
          <p:cNvSpPr txBox="1"/>
          <p:nvPr/>
        </p:nvSpPr>
        <p:spPr>
          <a:xfrm>
            <a:off x="7333488" y="2350008"/>
            <a:ext cx="1783080" cy="10972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Consolidation session</a:t>
            </a:r>
            <a:endParaRPr lang="en-US" sz="950" dirty="0"/>
          </a:p>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Dry run of the strategy on a page</a:t>
            </a:r>
            <a:endParaRPr lang="en-US" sz="950" dirty="0"/>
          </a:p>
        </p:txBody>
      </p:sp>
      <p:sp>
        <p:nvSpPr>
          <p:cNvPr id="16" name="Shape 14"/>
          <p:cNvSpPr/>
          <p:nvPr/>
        </p:nvSpPr>
        <p:spPr>
          <a:xfrm>
            <a:off x="9381744" y="2240280"/>
            <a:ext cx="2103120" cy="1280160"/>
          </a:xfrm>
          <a:prstGeom prst="roundRect">
            <a:avLst>
              <a:gd name="adj" fmla="val 7143"/>
            </a:avLst>
          </a:prstGeom>
          <a:solidFill>
            <a:srgbClr val="EDF2FA"/>
          </a:solidFill>
          <a:ln/>
        </p:spPr>
      </p:sp>
      <p:sp>
        <p:nvSpPr>
          <p:cNvPr id="17" name="Text 15"/>
          <p:cNvSpPr txBox="1"/>
          <p:nvPr/>
        </p:nvSpPr>
        <p:spPr>
          <a:xfrm>
            <a:off x="9546336" y="2350008"/>
            <a:ext cx="1783080" cy="10972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Hand over to initiative owners</a:t>
            </a:r>
            <a:endParaRPr lang="en-US" sz="950" dirty="0"/>
          </a:p>
        </p:txBody>
      </p:sp>
      <p:sp>
        <p:nvSpPr>
          <p:cNvPr id="18" name="Shape 16"/>
          <p:cNvSpPr/>
          <p:nvPr/>
        </p:nvSpPr>
        <p:spPr>
          <a:xfrm>
            <a:off x="640080" y="3657600"/>
            <a:ext cx="1965960" cy="1280160"/>
          </a:xfrm>
          <a:prstGeom prst="roundRect">
            <a:avLst>
              <a:gd name="adj" fmla="val 7143"/>
            </a:avLst>
          </a:prstGeom>
          <a:solidFill>
            <a:srgbClr val="3E5C8A"/>
          </a:solidFill>
          <a:ln/>
        </p:spPr>
      </p:sp>
      <p:sp>
        <p:nvSpPr>
          <p:cNvPr id="19" name="Text 17"/>
          <p:cNvSpPr txBox="1"/>
          <p:nvPr/>
        </p:nvSpPr>
        <p:spPr>
          <a:xfrm>
            <a:off x="731520" y="3657600"/>
            <a:ext cx="1783080" cy="12801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Offering level</a:t>
            </a:r>
            <a:endParaRPr lang="en-US" sz="1400" dirty="0"/>
          </a:p>
        </p:txBody>
      </p:sp>
      <p:sp>
        <p:nvSpPr>
          <p:cNvPr id="20" name="Shape 18"/>
          <p:cNvSpPr/>
          <p:nvPr/>
        </p:nvSpPr>
        <p:spPr>
          <a:xfrm>
            <a:off x="2743200" y="3657600"/>
            <a:ext cx="2103120" cy="1280160"/>
          </a:xfrm>
          <a:prstGeom prst="roundRect">
            <a:avLst>
              <a:gd name="adj" fmla="val 7143"/>
            </a:avLst>
          </a:prstGeom>
          <a:solidFill>
            <a:srgbClr val="EDF2FA"/>
          </a:solidFill>
          <a:ln/>
        </p:spPr>
      </p:sp>
      <p:sp>
        <p:nvSpPr>
          <p:cNvPr id="21" name="Text 19"/>
          <p:cNvSpPr txBox="1"/>
          <p:nvPr/>
        </p:nvSpPr>
        <p:spPr>
          <a:xfrm>
            <a:off x="2907792" y="3767328"/>
            <a:ext cx="1783080" cy="10972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Ideas session inside each offering</a:t>
            </a:r>
            <a:endParaRPr lang="en-US" sz="950" dirty="0"/>
          </a:p>
        </p:txBody>
      </p:sp>
      <p:sp>
        <p:nvSpPr>
          <p:cNvPr id="22" name="Shape 20"/>
          <p:cNvSpPr/>
          <p:nvPr/>
        </p:nvSpPr>
        <p:spPr>
          <a:xfrm>
            <a:off x="4956048" y="3657600"/>
            <a:ext cx="2103120" cy="1280160"/>
          </a:xfrm>
          <a:prstGeom prst="roundRect">
            <a:avLst>
              <a:gd name="adj" fmla="val 7143"/>
            </a:avLst>
          </a:prstGeom>
          <a:solidFill>
            <a:srgbClr val="F2F6FC"/>
          </a:solidFill>
          <a:ln/>
        </p:spPr>
      </p:sp>
      <p:sp>
        <p:nvSpPr>
          <p:cNvPr id="23" name="Text 21"/>
          <p:cNvSpPr txBox="1"/>
          <p:nvPr/>
        </p:nvSpPr>
        <p:spPr>
          <a:xfrm>
            <a:off x="5120640" y="3767328"/>
            <a:ext cx="1783080" cy="10972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Validation session on the emerging catalogue and accounts</a:t>
            </a:r>
            <a:endParaRPr lang="en-US" sz="950" dirty="0"/>
          </a:p>
        </p:txBody>
      </p:sp>
      <p:sp>
        <p:nvSpPr>
          <p:cNvPr id="24" name="Shape 22"/>
          <p:cNvSpPr/>
          <p:nvPr/>
        </p:nvSpPr>
        <p:spPr>
          <a:xfrm>
            <a:off x="7168896" y="3657600"/>
            <a:ext cx="2103120" cy="1280160"/>
          </a:xfrm>
          <a:prstGeom prst="roundRect">
            <a:avLst>
              <a:gd name="adj" fmla="val 7143"/>
            </a:avLst>
          </a:prstGeom>
          <a:solidFill>
            <a:srgbClr val="EDF2FA"/>
          </a:solidFill>
          <a:ln/>
        </p:spPr>
      </p:sp>
      <p:sp>
        <p:nvSpPr>
          <p:cNvPr id="25" name="Text 23"/>
          <p:cNvSpPr txBox="1"/>
          <p:nvPr/>
        </p:nvSpPr>
        <p:spPr>
          <a:xfrm>
            <a:off x="7333488" y="3767328"/>
            <a:ext cx="1783080" cy="10972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Read-out of the draft</a:t>
            </a:r>
            <a:endParaRPr lang="en-US" sz="950" dirty="0"/>
          </a:p>
        </p:txBody>
      </p:sp>
      <p:sp>
        <p:nvSpPr>
          <p:cNvPr id="26" name="Shape 24"/>
          <p:cNvSpPr/>
          <p:nvPr/>
        </p:nvSpPr>
        <p:spPr>
          <a:xfrm>
            <a:off x="9381744" y="3657600"/>
            <a:ext cx="2103120" cy="1280160"/>
          </a:xfrm>
          <a:prstGeom prst="roundRect">
            <a:avLst>
              <a:gd name="adj" fmla="val 7143"/>
            </a:avLst>
          </a:prstGeom>
          <a:solidFill>
            <a:srgbClr val="F2F6FC"/>
          </a:solidFill>
          <a:ln/>
        </p:spPr>
      </p:sp>
      <p:sp>
        <p:nvSpPr>
          <p:cNvPr id="27" name="Text 25"/>
          <p:cNvSpPr txBox="1"/>
          <p:nvPr/>
        </p:nvSpPr>
        <p:spPr>
          <a:xfrm>
            <a:off x="9546336" y="3767328"/>
            <a:ext cx="1783080" cy="10972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Socialisation session in each offering</a:t>
            </a:r>
            <a:endParaRPr lang="en-US" sz="950" dirty="0"/>
          </a:p>
        </p:txBody>
      </p:sp>
      <p:sp>
        <p:nvSpPr>
          <p:cNvPr id="28" name="Shape 26"/>
          <p:cNvSpPr/>
          <p:nvPr/>
        </p:nvSpPr>
        <p:spPr>
          <a:xfrm>
            <a:off x="640080" y="5074920"/>
            <a:ext cx="1965960" cy="1280160"/>
          </a:xfrm>
          <a:prstGeom prst="roundRect">
            <a:avLst>
              <a:gd name="adj" fmla="val 7143"/>
            </a:avLst>
          </a:prstGeom>
          <a:solidFill>
            <a:srgbClr val="1E2761"/>
          </a:solidFill>
          <a:ln/>
        </p:spPr>
      </p:sp>
      <p:sp>
        <p:nvSpPr>
          <p:cNvPr id="29" name="Text 27"/>
          <p:cNvSpPr txBox="1"/>
          <p:nvPr/>
        </p:nvSpPr>
        <p:spPr>
          <a:xfrm>
            <a:off x="731520" y="5074920"/>
            <a:ext cx="1783080" cy="12801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Leadership</a:t>
            </a:r>
            <a:endParaRPr lang="en-US" sz="1400" dirty="0"/>
          </a:p>
        </p:txBody>
      </p:sp>
      <p:sp>
        <p:nvSpPr>
          <p:cNvPr id="30" name="Shape 28"/>
          <p:cNvSpPr/>
          <p:nvPr/>
        </p:nvSpPr>
        <p:spPr>
          <a:xfrm>
            <a:off x="2743200" y="5074920"/>
            <a:ext cx="2103120" cy="1280160"/>
          </a:xfrm>
          <a:prstGeom prst="roundRect">
            <a:avLst>
              <a:gd name="adj" fmla="val 7143"/>
            </a:avLst>
          </a:prstGeom>
          <a:solidFill>
            <a:srgbClr val="F2F6FC"/>
          </a:solidFill>
          <a:ln/>
        </p:spPr>
      </p:sp>
      <p:sp>
        <p:nvSpPr>
          <p:cNvPr id="31" name="Text 29"/>
          <p:cNvSpPr txBox="1"/>
          <p:nvPr/>
        </p:nvSpPr>
        <p:spPr>
          <a:xfrm>
            <a:off x="2907792" y="5184648"/>
            <a:ext cx="1783080" cy="10972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Kick-off attendance</a:t>
            </a:r>
            <a:endParaRPr lang="en-US" sz="950" dirty="0"/>
          </a:p>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Gate 1: markets and sectors</a:t>
            </a:r>
            <a:endParaRPr lang="en-US" sz="950" dirty="0"/>
          </a:p>
        </p:txBody>
      </p:sp>
      <p:sp>
        <p:nvSpPr>
          <p:cNvPr id="32" name="Shape 30"/>
          <p:cNvSpPr/>
          <p:nvPr/>
        </p:nvSpPr>
        <p:spPr>
          <a:xfrm>
            <a:off x="4956048" y="5074920"/>
            <a:ext cx="2103120" cy="1280160"/>
          </a:xfrm>
          <a:prstGeom prst="roundRect">
            <a:avLst>
              <a:gd name="adj" fmla="val 7143"/>
            </a:avLst>
          </a:prstGeom>
          <a:solidFill>
            <a:srgbClr val="EDF2FA"/>
          </a:solidFill>
          <a:ln/>
        </p:spPr>
      </p:sp>
      <p:sp>
        <p:nvSpPr>
          <p:cNvPr id="33" name="Text 31"/>
          <p:cNvSpPr txBox="1"/>
          <p:nvPr/>
        </p:nvSpPr>
        <p:spPr>
          <a:xfrm>
            <a:off x="5120640" y="5184648"/>
            <a:ext cx="1783080" cy="10972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Gate 2: catalogue and shortlist</a:t>
            </a:r>
            <a:endParaRPr lang="en-US" sz="950" dirty="0"/>
          </a:p>
        </p:txBody>
      </p:sp>
      <p:sp>
        <p:nvSpPr>
          <p:cNvPr id="34" name="Shape 32"/>
          <p:cNvSpPr/>
          <p:nvPr/>
        </p:nvSpPr>
        <p:spPr>
          <a:xfrm>
            <a:off x="7168896" y="5074920"/>
            <a:ext cx="2103120" cy="1280160"/>
          </a:xfrm>
          <a:prstGeom prst="roundRect">
            <a:avLst>
              <a:gd name="adj" fmla="val 7143"/>
            </a:avLst>
          </a:prstGeom>
          <a:solidFill>
            <a:srgbClr val="F2F6FC"/>
          </a:solidFill>
          <a:ln/>
        </p:spPr>
      </p:sp>
      <p:sp>
        <p:nvSpPr>
          <p:cNvPr id="35" name="Text 33"/>
          <p:cNvSpPr txBox="1"/>
          <p:nvPr/>
        </p:nvSpPr>
        <p:spPr>
          <a:xfrm>
            <a:off x="7333488" y="5184648"/>
            <a:ext cx="1783080" cy="10972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Sign-off session</a:t>
            </a:r>
            <a:endParaRPr lang="en-US" sz="950" dirty="0"/>
          </a:p>
        </p:txBody>
      </p:sp>
      <p:sp>
        <p:nvSpPr>
          <p:cNvPr id="36" name="Shape 34"/>
          <p:cNvSpPr/>
          <p:nvPr/>
        </p:nvSpPr>
        <p:spPr>
          <a:xfrm>
            <a:off x="9381744" y="5074920"/>
            <a:ext cx="2103120" cy="1280160"/>
          </a:xfrm>
          <a:prstGeom prst="roundRect">
            <a:avLst>
              <a:gd name="adj" fmla="val 7143"/>
            </a:avLst>
          </a:prstGeom>
          <a:solidFill>
            <a:srgbClr val="EDF2FA"/>
          </a:solidFill>
          <a:ln/>
        </p:spPr>
      </p:sp>
      <p:sp>
        <p:nvSpPr>
          <p:cNvPr id="37" name="Text 35"/>
          <p:cNvSpPr txBox="1"/>
          <p:nvPr/>
        </p:nvSpPr>
        <p:spPr>
          <a:xfrm>
            <a:off x="9546336" y="5184648"/>
            <a:ext cx="1783080" cy="10972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Monthly review against the scorecard</a:t>
            </a:r>
            <a:endParaRPr lang="en-US" sz="950" dirty="0"/>
          </a:p>
        </p:txBody>
      </p:sp>
      <p:sp>
        <p:nvSpPr>
          <p:cNvPr id="38" name="Shape 36"/>
          <p:cNvSpPr/>
          <p:nvPr/>
        </p:nvSpPr>
        <p:spPr>
          <a:xfrm>
            <a:off x="640080" y="6400800"/>
            <a:ext cx="10881360" cy="0"/>
          </a:xfrm>
          <a:prstGeom prst="roundRect">
            <a:avLst/>
          </a:prstGeom>
          <a:solidFill>
            <a:srgbClr val="FFFFFF"/>
          </a:solidFill>
          <a:ln/>
        </p:spPr>
      </p:sp>
      <p:sp>
        <p:nvSpPr>
          <p:cNvPr id="39" name="Text 37"/>
          <p:cNvSpPr txBox="1"/>
          <p:nvPr/>
        </p:nvSpPr>
        <p:spPr>
          <a:xfrm>
            <a:off x="640080" y="6446520"/>
            <a:ext cx="10881360" cy="320040"/>
          </a:xfrm>
          <a:prstGeom prst="rect">
            <a:avLst/>
          </a:prstGeom>
          <a:noFill/>
          <a:ln/>
        </p:spPr>
        <p:txBody>
          <a:bodyPr wrap="square" lIns="0" tIns="0" rIns="0" bIns="0" rtlCol="0" anchor="ctr"/>
          <a:lstStyle/>
          <a:p>
            <a:pPr indent="0" marL="0">
              <a:buNone/>
            </a:pPr>
            <a:r>
              <a:rPr lang="en-US" sz="1150" i="1" dirty="0">
                <a:solidFill>
                  <a:srgbClr val="3E5C8A"/>
                </a:solidFill>
                <a:latin typeface="Calibri" pitchFamily="34" charset="0"/>
                <a:ea typeface="Calibri" pitchFamily="34" charset="-122"/>
                <a:cs typeface="Calibri" pitchFamily="34" charset="-120"/>
              </a:rPr>
              <a:t>Offering-level sessions are how the leads bring their partners and directors in — and are where socialisation starts, not ends.</a:t>
            </a:r>
            <a:endParaRPr lang="en-US" sz="11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could derail this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Named now, so they are managed rather than discovered.</a:t>
            </a:r>
            <a:endParaRPr lang="en-US" sz="1450" dirty="0"/>
          </a:p>
        </p:txBody>
      </p:sp>
      <p:sp>
        <p:nvSpPr>
          <p:cNvPr id="4" name="Shape 2"/>
          <p:cNvSpPr/>
          <p:nvPr/>
        </p:nvSpPr>
        <p:spPr>
          <a:xfrm>
            <a:off x="640080" y="1828800"/>
            <a:ext cx="3520440" cy="1783080"/>
          </a:xfrm>
          <a:prstGeom prst="roundRect">
            <a:avLst>
              <a:gd name="adj" fmla="val 6154"/>
            </a:avLst>
          </a:prstGeom>
          <a:solidFill>
            <a:srgbClr val="EDF2FA"/>
          </a:solidFill>
          <a:ln/>
        </p:spPr>
      </p:sp>
      <p:sp>
        <p:nvSpPr>
          <p:cNvPr id="5" name="Shape 3"/>
          <p:cNvSpPr/>
          <p:nvPr/>
        </p:nvSpPr>
        <p:spPr>
          <a:xfrm>
            <a:off x="896112" y="2048256"/>
            <a:ext cx="365760" cy="365760"/>
          </a:xfrm>
          <a:prstGeom prst="ellipse">
            <a:avLst/>
          </a:prstGeom>
          <a:solidFill>
            <a:srgbClr val="1E2761"/>
          </a:solidFill>
          <a:ln/>
        </p:spPr>
      </p:sp>
      <p:sp>
        <p:nvSpPr>
          <p:cNvPr id="6" name="Text 4"/>
          <p:cNvSpPr txBox="1"/>
          <p:nvPr/>
        </p:nvSpPr>
        <p:spPr>
          <a:xfrm>
            <a:off x="896112" y="204825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371600" y="2011680"/>
            <a:ext cx="2606040" cy="45720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Inputs arrive late</a:t>
            </a:r>
            <a:endParaRPr lang="en-US" sz="1300" dirty="0"/>
          </a:p>
        </p:txBody>
      </p:sp>
      <p:sp>
        <p:nvSpPr>
          <p:cNvPr id="8" name="Text 6"/>
          <p:cNvSpPr txBox="1"/>
          <p:nvPr/>
        </p:nvSpPr>
        <p:spPr>
          <a:xfrm>
            <a:off x="914400" y="2578608"/>
            <a:ext cx="2971800" cy="91440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Pipeline, revenue, capacity and deal history sit with several people. Chase in the first 48 hours or week one slips.</a:t>
            </a:r>
            <a:endParaRPr lang="en-US" sz="1050" dirty="0"/>
          </a:p>
        </p:txBody>
      </p:sp>
      <p:sp>
        <p:nvSpPr>
          <p:cNvPr id="9" name="Shape 7"/>
          <p:cNvSpPr/>
          <p:nvPr/>
        </p:nvSpPr>
        <p:spPr>
          <a:xfrm>
            <a:off x="4325112" y="1828800"/>
            <a:ext cx="3520440" cy="1783080"/>
          </a:xfrm>
          <a:prstGeom prst="roundRect">
            <a:avLst>
              <a:gd name="adj" fmla="val 6154"/>
            </a:avLst>
          </a:prstGeom>
          <a:solidFill>
            <a:srgbClr val="EDF2FA"/>
          </a:solidFill>
          <a:ln/>
        </p:spPr>
      </p:sp>
      <p:sp>
        <p:nvSpPr>
          <p:cNvPr id="10" name="Shape 8"/>
          <p:cNvSpPr/>
          <p:nvPr/>
        </p:nvSpPr>
        <p:spPr>
          <a:xfrm>
            <a:off x="4581144" y="2048256"/>
            <a:ext cx="365760" cy="365760"/>
          </a:xfrm>
          <a:prstGeom prst="ellipse">
            <a:avLst/>
          </a:prstGeom>
          <a:solidFill>
            <a:srgbClr val="3E5C8A"/>
          </a:solidFill>
          <a:ln/>
        </p:spPr>
      </p:sp>
      <p:sp>
        <p:nvSpPr>
          <p:cNvPr id="11" name="Text 9"/>
          <p:cNvSpPr txBox="1"/>
          <p:nvPr/>
        </p:nvSpPr>
        <p:spPr>
          <a:xfrm>
            <a:off x="4581144" y="204825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5056632" y="2011680"/>
            <a:ext cx="2606040" cy="45720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The parent strategies disagree</a:t>
            </a:r>
            <a:endParaRPr lang="en-US" sz="1300" dirty="0"/>
          </a:p>
        </p:txBody>
      </p:sp>
      <p:sp>
        <p:nvSpPr>
          <p:cNvPr id="13" name="Text 11"/>
          <p:cNvSpPr txBox="1"/>
          <p:nvPr/>
        </p:nvSpPr>
        <p:spPr>
          <a:xfrm>
            <a:off x="4599432" y="2578608"/>
            <a:ext cx="2971800" cy="91440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A different sector priority or an unsigned alliance is an escalation, not something this team settles quietly.</a:t>
            </a:r>
            <a:endParaRPr lang="en-US" sz="1050" dirty="0"/>
          </a:p>
        </p:txBody>
      </p:sp>
      <p:sp>
        <p:nvSpPr>
          <p:cNvPr id="14" name="Shape 12"/>
          <p:cNvSpPr/>
          <p:nvPr/>
        </p:nvSpPr>
        <p:spPr>
          <a:xfrm>
            <a:off x="8010144" y="1828800"/>
            <a:ext cx="3520440" cy="1783080"/>
          </a:xfrm>
          <a:prstGeom prst="roundRect">
            <a:avLst>
              <a:gd name="adj" fmla="val 6154"/>
            </a:avLst>
          </a:prstGeom>
          <a:solidFill>
            <a:srgbClr val="EDF2FA"/>
          </a:solidFill>
          <a:ln/>
        </p:spPr>
      </p:sp>
      <p:sp>
        <p:nvSpPr>
          <p:cNvPr id="15" name="Shape 13"/>
          <p:cNvSpPr/>
          <p:nvPr/>
        </p:nvSpPr>
        <p:spPr>
          <a:xfrm>
            <a:off x="8266176" y="2048256"/>
            <a:ext cx="365760" cy="365760"/>
          </a:xfrm>
          <a:prstGeom prst="ellipse">
            <a:avLst/>
          </a:prstGeom>
          <a:solidFill>
            <a:srgbClr val="1E2761"/>
          </a:solidFill>
          <a:ln/>
        </p:spPr>
      </p:sp>
      <p:sp>
        <p:nvSpPr>
          <p:cNvPr id="16" name="Text 14"/>
          <p:cNvSpPr txBox="1"/>
          <p:nvPr/>
        </p:nvSpPr>
        <p:spPr>
          <a:xfrm>
            <a:off x="8266176" y="204825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8741664" y="2011680"/>
            <a:ext cx="2606040" cy="45720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People are not available</a:t>
            </a:r>
            <a:endParaRPr lang="en-US" sz="1300" dirty="0"/>
          </a:p>
        </p:txBody>
      </p:sp>
      <p:sp>
        <p:nvSpPr>
          <p:cNvPr id="18" name="Text 16"/>
          <p:cNvSpPr txBox="1"/>
          <p:nvPr/>
        </p:nvSpPr>
        <p:spPr>
          <a:xfrm>
            <a:off x="8284464" y="2578608"/>
            <a:ext cx="2971800" cy="91440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The cycle needs the four leads in the room weekly. Partial attendance produces partial decisions.</a:t>
            </a:r>
            <a:endParaRPr lang="en-US" sz="1050" dirty="0"/>
          </a:p>
        </p:txBody>
      </p:sp>
      <p:sp>
        <p:nvSpPr>
          <p:cNvPr id="19" name="Shape 17"/>
          <p:cNvSpPr/>
          <p:nvPr/>
        </p:nvSpPr>
        <p:spPr>
          <a:xfrm>
            <a:off x="640080" y="3794760"/>
            <a:ext cx="3520440" cy="1783080"/>
          </a:xfrm>
          <a:prstGeom prst="roundRect">
            <a:avLst>
              <a:gd name="adj" fmla="val 6154"/>
            </a:avLst>
          </a:prstGeom>
          <a:solidFill>
            <a:srgbClr val="EDF2FA"/>
          </a:solidFill>
          <a:ln/>
        </p:spPr>
      </p:sp>
      <p:sp>
        <p:nvSpPr>
          <p:cNvPr id="20" name="Shape 18"/>
          <p:cNvSpPr/>
          <p:nvPr/>
        </p:nvSpPr>
        <p:spPr>
          <a:xfrm>
            <a:off x="896112" y="4014216"/>
            <a:ext cx="365760" cy="365760"/>
          </a:xfrm>
          <a:prstGeom prst="ellipse">
            <a:avLst/>
          </a:prstGeom>
          <a:solidFill>
            <a:srgbClr val="3E5C8A"/>
          </a:solidFill>
          <a:ln/>
        </p:spPr>
      </p:sp>
      <p:sp>
        <p:nvSpPr>
          <p:cNvPr id="21" name="Text 19"/>
          <p:cNvSpPr txBox="1"/>
          <p:nvPr/>
        </p:nvSpPr>
        <p:spPr>
          <a:xfrm>
            <a:off x="896112" y="401421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1371600" y="3977640"/>
            <a:ext cx="2606040" cy="45720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No platform alliance in funds or insurance</a:t>
            </a:r>
            <a:endParaRPr lang="en-US" sz="1300" dirty="0"/>
          </a:p>
        </p:txBody>
      </p:sp>
      <p:sp>
        <p:nvSpPr>
          <p:cNvPr id="23" name="Text 21"/>
          <p:cNvSpPr txBox="1"/>
          <p:nvPr/>
        </p:nvSpPr>
        <p:spPr>
          <a:xfrm>
            <a:off x="914400" y="4544568"/>
            <a:ext cx="2971800" cy="91440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Two of three sectors have no specialised vendor relationship. We can name it; we cannot close it in three weeks.</a:t>
            </a:r>
            <a:endParaRPr lang="en-US" sz="1050" dirty="0"/>
          </a:p>
        </p:txBody>
      </p:sp>
      <p:sp>
        <p:nvSpPr>
          <p:cNvPr id="24" name="Shape 22"/>
          <p:cNvSpPr/>
          <p:nvPr/>
        </p:nvSpPr>
        <p:spPr>
          <a:xfrm>
            <a:off x="4325112" y="3794760"/>
            <a:ext cx="3520440" cy="1783080"/>
          </a:xfrm>
          <a:prstGeom prst="roundRect">
            <a:avLst>
              <a:gd name="adj" fmla="val 6154"/>
            </a:avLst>
          </a:prstGeom>
          <a:solidFill>
            <a:srgbClr val="EDF2FA"/>
          </a:solidFill>
          <a:ln/>
        </p:spPr>
      </p:sp>
      <p:sp>
        <p:nvSpPr>
          <p:cNvPr id="25" name="Shape 23"/>
          <p:cNvSpPr/>
          <p:nvPr/>
        </p:nvSpPr>
        <p:spPr>
          <a:xfrm>
            <a:off x="4581144" y="4014216"/>
            <a:ext cx="365760" cy="365760"/>
          </a:xfrm>
          <a:prstGeom prst="ellipse">
            <a:avLst/>
          </a:prstGeom>
          <a:solidFill>
            <a:srgbClr val="1E2761"/>
          </a:solidFill>
          <a:ln/>
        </p:spPr>
      </p:sp>
      <p:sp>
        <p:nvSpPr>
          <p:cNvPr id="26" name="Text 24"/>
          <p:cNvSpPr txBox="1"/>
          <p:nvPr/>
        </p:nvSpPr>
        <p:spPr>
          <a:xfrm>
            <a:off x="4581144" y="401421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5056632" y="3977640"/>
            <a:ext cx="2606040" cy="45720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Evidence gaps surface late</a:t>
            </a:r>
            <a:endParaRPr lang="en-US" sz="1300" dirty="0"/>
          </a:p>
        </p:txBody>
      </p:sp>
      <p:sp>
        <p:nvSpPr>
          <p:cNvPr id="28" name="Text 26"/>
          <p:cNvSpPr txBox="1"/>
          <p:nvPr/>
        </p:nvSpPr>
        <p:spPr>
          <a:xfrm>
            <a:off x="4599432" y="4544568"/>
            <a:ext cx="2971800" cy="91440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Credentials we assume we hold may not exist per sector. Test in week one, then make it an initiative.</a:t>
            </a:r>
            <a:endParaRPr lang="en-US" sz="1050" dirty="0"/>
          </a:p>
        </p:txBody>
      </p:sp>
      <p:sp>
        <p:nvSpPr>
          <p:cNvPr id="29" name="Shape 27"/>
          <p:cNvSpPr/>
          <p:nvPr/>
        </p:nvSpPr>
        <p:spPr>
          <a:xfrm>
            <a:off x="8010144" y="3794760"/>
            <a:ext cx="3520440" cy="1783080"/>
          </a:xfrm>
          <a:prstGeom prst="roundRect">
            <a:avLst>
              <a:gd name="adj" fmla="val 6154"/>
            </a:avLst>
          </a:prstGeom>
          <a:solidFill>
            <a:srgbClr val="EDF2FA"/>
          </a:solidFill>
          <a:ln/>
        </p:spPr>
      </p:sp>
      <p:sp>
        <p:nvSpPr>
          <p:cNvPr id="30" name="Shape 28"/>
          <p:cNvSpPr/>
          <p:nvPr/>
        </p:nvSpPr>
        <p:spPr>
          <a:xfrm>
            <a:off x="8266176" y="4014216"/>
            <a:ext cx="365760" cy="365760"/>
          </a:xfrm>
          <a:prstGeom prst="ellipse">
            <a:avLst/>
          </a:prstGeom>
          <a:solidFill>
            <a:srgbClr val="3E5C8A"/>
          </a:solidFill>
          <a:ln/>
        </p:spPr>
      </p:sp>
      <p:sp>
        <p:nvSpPr>
          <p:cNvPr id="31" name="Text 29"/>
          <p:cNvSpPr txBox="1"/>
          <p:nvPr/>
        </p:nvSpPr>
        <p:spPr>
          <a:xfrm>
            <a:off x="8266176" y="401421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2" name="Text 30"/>
          <p:cNvSpPr txBox="1"/>
          <p:nvPr/>
        </p:nvSpPr>
        <p:spPr>
          <a:xfrm>
            <a:off x="8741664" y="3977640"/>
            <a:ext cx="2606040" cy="45720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The timebox slips</a:t>
            </a:r>
            <a:endParaRPr lang="en-US" sz="1300" dirty="0"/>
          </a:p>
        </p:txBody>
      </p:sp>
      <p:sp>
        <p:nvSpPr>
          <p:cNvPr id="33" name="Text 31"/>
          <p:cNvSpPr txBox="1"/>
          <p:nvPr/>
        </p:nvSpPr>
        <p:spPr>
          <a:xfrm>
            <a:off x="8284464" y="4544568"/>
            <a:ext cx="2971800" cy="91440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Three weeks holds only if gates are decisions. A gate deferred twice means the cycle has failed, not paused.</a:t>
            </a:r>
            <a:endParaRPr lang="en-US" sz="1050" dirty="0"/>
          </a:p>
        </p:txBody>
      </p:sp>
      <p:sp>
        <p:nvSpPr>
          <p:cNvPr id="34" name="Text 32"/>
          <p:cNvSpPr txBox="1"/>
          <p:nvPr/>
        </p:nvSpPr>
        <p:spPr>
          <a:xfrm>
            <a:off x="640080" y="5897880"/>
            <a:ext cx="10881360" cy="365760"/>
          </a:xfrm>
          <a:prstGeom prst="rect">
            <a:avLst/>
          </a:prstGeom>
          <a:noFill/>
          <a:ln/>
        </p:spPr>
        <p:txBody>
          <a:bodyPr wrap="square" lIns="0" tIns="0" rIns="0" bIns="0" rtlCol="0" anchor="ctr"/>
          <a:lstStyle/>
          <a:p>
            <a:pPr indent="0" marL="0">
              <a:buNone/>
            </a:pPr>
            <a:r>
              <a:rPr lang="en-US" sz="1250" i="1" dirty="0">
                <a:solidFill>
                  <a:srgbClr val="3E5C8A"/>
                </a:solidFill>
                <a:latin typeface="Calibri" pitchFamily="34" charset="0"/>
                <a:ea typeface="Calibri" pitchFamily="34" charset="-122"/>
                <a:cs typeface="Calibri" pitchFamily="34" charset="-120"/>
              </a:rPr>
              <a:t>Each has an owner from kick-off. Two of them — the alliance gap and the evidence gap — become initiatives rather than risks.</a:t>
            </a:r>
            <a:endParaRPr lang="en-US" sz="12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961120" y="3108960"/>
            <a:ext cx="5120640" cy="5120640"/>
          </a:xfrm>
          <a:prstGeom prst="ellipse">
            <a:avLst/>
          </a:prstGeom>
          <a:solidFill>
            <a:srgbClr val="3E5C8A">
              <a:alpha val="45000"/>
            </a:srgbClr>
          </a:solidFill>
          <a:ln/>
        </p:spPr>
      </p:sp>
      <p:sp>
        <p:nvSpPr>
          <p:cNvPr id="3" name="Text 1"/>
          <p:cNvSpPr txBox="1"/>
          <p:nvPr/>
        </p:nvSpPr>
        <p:spPr>
          <a:xfrm>
            <a:off x="822960" y="1965960"/>
            <a:ext cx="4572000" cy="365760"/>
          </a:xfrm>
          <a:prstGeom prst="rect">
            <a:avLst/>
          </a:prstGeom>
          <a:noFill/>
          <a:ln/>
        </p:spPr>
        <p:txBody>
          <a:bodyPr wrap="square" lIns="0" tIns="0" rIns="0" bIns="0" rtlCol="0" anchor="ctr"/>
          <a:lstStyle/>
          <a:p>
            <a:pPr indent="0" marL="0">
              <a:buNone/>
            </a:pPr>
            <a:r>
              <a:rPr lang="en-US" sz="1300" b="1" spc="200" kern="0" dirty="0">
                <a:solidFill>
                  <a:srgbClr val="9AA7C4"/>
                </a:solidFill>
                <a:latin typeface="Calibri" pitchFamily="34" charset="0"/>
                <a:ea typeface="Calibri" pitchFamily="34" charset="-122"/>
                <a:cs typeface="Calibri" pitchFamily="34" charset="-120"/>
              </a:rPr>
              <a:t>PART FIVE</a:t>
            </a:r>
            <a:endParaRPr lang="en-US" sz="1300" dirty="0"/>
          </a:p>
        </p:txBody>
      </p:sp>
      <p:sp>
        <p:nvSpPr>
          <p:cNvPr id="4" name="Text 2"/>
          <p:cNvSpPr txBox="1"/>
          <p:nvPr/>
        </p:nvSpPr>
        <p:spPr>
          <a:xfrm>
            <a:off x="804672" y="2377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What comes next</a:t>
            </a:r>
            <a:endParaRPr lang="en-US" sz="3800" dirty="0"/>
          </a:p>
        </p:txBody>
      </p:sp>
      <p:sp>
        <p:nvSpPr>
          <p:cNvPr id="5" name="Text 3"/>
          <p:cNvSpPr txBox="1"/>
          <p:nvPr/>
        </p:nvSpPr>
        <p:spPr>
          <a:xfrm>
            <a:off x="850392" y="3337560"/>
            <a:ext cx="758952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Keeping the strategy alive once it is agreed.</a:t>
            </a:r>
            <a:endParaRPr lang="en-US" sz="1500" dirty="0"/>
          </a:p>
        </p:txBody>
      </p:sp>
      <p:sp>
        <p:nvSpPr>
          <p:cNvPr id="6" name="Text 4"/>
          <p:cNvSpPr txBox="1"/>
          <p:nvPr/>
        </p:nvSpPr>
        <p:spPr>
          <a:xfrm>
            <a:off x="850392" y="4023360"/>
            <a:ext cx="7589520" cy="164592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Initiatives that outlive the cycle</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Governing the execution: rhythm, scorecard and decision rights</a:t>
            </a:r>
            <a:endParaRPr lang="en-US" sz="12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Initiatives that outlive the cycle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Three weeks sets the direction. Some of the work then runs for months — named, owned and tracked.</a:t>
            </a:r>
            <a:endParaRPr lang="en-US" sz="1450" dirty="0"/>
          </a:p>
        </p:txBody>
      </p:sp>
      <p:sp>
        <p:nvSpPr>
          <p:cNvPr id="4" name="Shape 2"/>
          <p:cNvSpPr/>
          <p:nvPr/>
        </p:nvSpPr>
        <p:spPr>
          <a:xfrm>
            <a:off x="640080" y="1828800"/>
            <a:ext cx="3520440" cy="1600200"/>
          </a:xfrm>
          <a:prstGeom prst="roundRect">
            <a:avLst>
              <a:gd name="adj" fmla="val 6857"/>
            </a:avLst>
          </a:prstGeom>
          <a:solidFill>
            <a:srgbClr val="E4EBF7"/>
          </a:solidFill>
          <a:ln/>
        </p:spPr>
      </p:sp>
      <p:sp>
        <p:nvSpPr>
          <p:cNvPr id="5" name="Text 3"/>
          <p:cNvSpPr txBox="1"/>
          <p:nvPr/>
        </p:nvSpPr>
        <p:spPr>
          <a:xfrm>
            <a:off x="896112" y="1993392"/>
            <a:ext cx="3017520" cy="256032"/>
          </a:xfrm>
          <a:prstGeom prst="rect">
            <a:avLst/>
          </a:prstGeom>
          <a:noFill/>
          <a:ln/>
        </p:spPr>
        <p:txBody>
          <a:bodyPr wrap="square" lIns="0" tIns="0" rIns="0" bIns="0" rtlCol="0" anchor="ctr"/>
          <a:lstStyle/>
          <a:p>
            <a:pPr indent="0" marL="0">
              <a:buNone/>
            </a:pPr>
            <a:r>
              <a:rPr lang="en-US" sz="900" b="1" spc="100" kern="0" dirty="0">
                <a:solidFill>
                  <a:srgbClr val="3E5C8A"/>
                </a:solidFill>
                <a:latin typeface="Calibri" pitchFamily="34" charset="0"/>
                <a:ea typeface="Calibri" pitchFamily="34" charset="-122"/>
                <a:cs typeface="Calibri" pitchFamily="34" charset="-120"/>
              </a:rPr>
              <a:t>PROPOSITIONS</a:t>
            </a:r>
            <a:endParaRPr lang="en-US" sz="900" dirty="0"/>
          </a:p>
        </p:txBody>
      </p:sp>
      <p:sp>
        <p:nvSpPr>
          <p:cNvPr id="6" name="Text 4"/>
          <p:cNvSpPr txBox="1"/>
          <p:nvPr/>
        </p:nvSpPr>
        <p:spPr>
          <a:xfrm>
            <a:off x="896112" y="2286000"/>
            <a:ext cx="301752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Proposal and orals quality</a:t>
            </a:r>
            <a:endParaRPr lang="en-US" sz="1400" dirty="0"/>
          </a:p>
        </p:txBody>
      </p:sp>
      <p:sp>
        <p:nvSpPr>
          <p:cNvPr id="7" name="Text 5"/>
          <p:cNvSpPr txBox="1"/>
          <p:nvPr/>
        </p:nvSpPr>
        <p:spPr>
          <a:xfrm>
            <a:off x="896112" y="2697480"/>
            <a:ext cx="3017520" cy="658368"/>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Reusable proposal foundations and demo-led orals, so pursuits are fast, polished and differentiated</a:t>
            </a:r>
            <a:endParaRPr lang="en-US" sz="1050" dirty="0"/>
          </a:p>
        </p:txBody>
      </p:sp>
      <p:sp>
        <p:nvSpPr>
          <p:cNvPr id="8" name="Shape 6"/>
          <p:cNvSpPr/>
          <p:nvPr/>
        </p:nvSpPr>
        <p:spPr>
          <a:xfrm>
            <a:off x="4325112" y="1828800"/>
            <a:ext cx="3520440" cy="1600200"/>
          </a:xfrm>
          <a:prstGeom prst="roundRect">
            <a:avLst>
              <a:gd name="adj" fmla="val 6857"/>
            </a:avLst>
          </a:prstGeom>
          <a:solidFill>
            <a:srgbClr val="EDF2FA"/>
          </a:solidFill>
          <a:ln/>
        </p:spPr>
      </p:sp>
      <p:sp>
        <p:nvSpPr>
          <p:cNvPr id="9" name="Text 7"/>
          <p:cNvSpPr txBox="1"/>
          <p:nvPr/>
        </p:nvSpPr>
        <p:spPr>
          <a:xfrm>
            <a:off x="4581144" y="1993392"/>
            <a:ext cx="3017520" cy="256032"/>
          </a:xfrm>
          <a:prstGeom prst="rect">
            <a:avLst/>
          </a:prstGeom>
          <a:noFill/>
          <a:ln/>
        </p:spPr>
        <p:txBody>
          <a:bodyPr wrap="square" lIns="0" tIns="0" rIns="0" bIns="0" rtlCol="0" anchor="ctr"/>
          <a:lstStyle/>
          <a:p>
            <a:pPr indent="0" marL="0">
              <a:buNone/>
            </a:pPr>
            <a:r>
              <a:rPr lang="en-US" sz="900" b="1" spc="100" kern="0" dirty="0">
                <a:solidFill>
                  <a:srgbClr val="3E5C8A"/>
                </a:solidFill>
                <a:latin typeface="Calibri" pitchFamily="34" charset="0"/>
                <a:ea typeface="Calibri" pitchFamily="34" charset="-122"/>
                <a:cs typeface="Calibri" pitchFamily="34" charset="-120"/>
              </a:rPr>
              <a:t>DELIVERY</a:t>
            </a:r>
            <a:endParaRPr lang="en-US" sz="900" dirty="0"/>
          </a:p>
        </p:txBody>
      </p:sp>
      <p:sp>
        <p:nvSpPr>
          <p:cNvPr id="10" name="Text 8"/>
          <p:cNvSpPr txBox="1"/>
          <p:nvPr/>
        </p:nvSpPr>
        <p:spPr>
          <a:xfrm>
            <a:off x="4581144" y="2286000"/>
            <a:ext cx="301752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Assets and accelerators</a:t>
            </a:r>
            <a:endParaRPr lang="en-US" sz="1400" dirty="0"/>
          </a:p>
        </p:txBody>
      </p:sp>
      <p:sp>
        <p:nvSpPr>
          <p:cNvPr id="11" name="Text 9"/>
          <p:cNvSpPr txBox="1"/>
          <p:nvPr/>
        </p:nvSpPr>
        <p:spPr>
          <a:xfrm>
            <a:off x="4581144" y="2697480"/>
            <a:ext cx="3017520" cy="658368"/>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Build the reusable delivery IP behind the propositions we commit to</a:t>
            </a:r>
            <a:endParaRPr lang="en-US" sz="1050" dirty="0"/>
          </a:p>
        </p:txBody>
      </p:sp>
      <p:sp>
        <p:nvSpPr>
          <p:cNvPr id="12" name="Shape 10"/>
          <p:cNvSpPr/>
          <p:nvPr/>
        </p:nvSpPr>
        <p:spPr>
          <a:xfrm>
            <a:off x="8010144" y="1828800"/>
            <a:ext cx="3520440" cy="1600200"/>
          </a:xfrm>
          <a:prstGeom prst="roundRect">
            <a:avLst>
              <a:gd name="adj" fmla="val 6857"/>
            </a:avLst>
          </a:prstGeom>
          <a:solidFill>
            <a:srgbClr val="EDF2FA"/>
          </a:solidFill>
          <a:ln/>
        </p:spPr>
      </p:sp>
      <p:sp>
        <p:nvSpPr>
          <p:cNvPr id="13" name="Text 11"/>
          <p:cNvSpPr txBox="1"/>
          <p:nvPr/>
        </p:nvSpPr>
        <p:spPr>
          <a:xfrm>
            <a:off x="8266176" y="1993392"/>
            <a:ext cx="3017520" cy="256032"/>
          </a:xfrm>
          <a:prstGeom prst="rect">
            <a:avLst/>
          </a:prstGeom>
          <a:noFill/>
          <a:ln/>
        </p:spPr>
        <p:txBody>
          <a:bodyPr wrap="square" lIns="0" tIns="0" rIns="0" bIns="0" rtlCol="0" anchor="ctr"/>
          <a:lstStyle/>
          <a:p>
            <a:pPr indent="0" marL="0">
              <a:buNone/>
            </a:pPr>
            <a:r>
              <a:rPr lang="en-US" sz="900" b="1" spc="100" kern="0" dirty="0">
                <a:solidFill>
                  <a:srgbClr val="3E5C8A"/>
                </a:solidFill>
                <a:latin typeface="Calibri" pitchFamily="34" charset="0"/>
                <a:ea typeface="Calibri" pitchFamily="34" charset="-122"/>
                <a:cs typeface="Calibri" pitchFamily="34" charset="-120"/>
              </a:rPr>
              <a:t>DELIVERY</a:t>
            </a:r>
            <a:endParaRPr lang="en-US" sz="900" dirty="0"/>
          </a:p>
        </p:txBody>
      </p:sp>
      <p:sp>
        <p:nvSpPr>
          <p:cNvPr id="14" name="Text 12"/>
          <p:cNvSpPr txBox="1"/>
          <p:nvPr/>
        </p:nvSpPr>
        <p:spPr>
          <a:xfrm>
            <a:off x="8266176" y="2286000"/>
            <a:ext cx="301752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Capability and certification</a:t>
            </a:r>
            <a:endParaRPr lang="en-US" sz="1400" dirty="0"/>
          </a:p>
        </p:txBody>
      </p:sp>
      <p:sp>
        <p:nvSpPr>
          <p:cNvPr id="15" name="Text 13"/>
          <p:cNvSpPr txBox="1"/>
          <p:nvPr/>
        </p:nvSpPr>
        <p:spPr>
          <a:xfrm>
            <a:off x="8266176" y="2697480"/>
            <a:ext cx="3017520" cy="658368"/>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Close the domain, platform and alliance certification gaps by level</a:t>
            </a:r>
            <a:endParaRPr lang="en-US" sz="1050" dirty="0"/>
          </a:p>
        </p:txBody>
      </p:sp>
      <p:sp>
        <p:nvSpPr>
          <p:cNvPr id="16" name="Shape 14"/>
          <p:cNvSpPr/>
          <p:nvPr/>
        </p:nvSpPr>
        <p:spPr>
          <a:xfrm>
            <a:off x="640080" y="3611880"/>
            <a:ext cx="3520440" cy="1600200"/>
          </a:xfrm>
          <a:prstGeom prst="roundRect">
            <a:avLst>
              <a:gd name="adj" fmla="val 6857"/>
            </a:avLst>
          </a:prstGeom>
          <a:solidFill>
            <a:srgbClr val="EDF2FA"/>
          </a:solidFill>
          <a:ln/>
        </p:spPr>
      </p:sp>
      <p:sp>
        <p:nvSpPr>
          <p:cNvPr id="17" name="Text 15"/>
          <p:cNvSpPr txBox="1"/>
          <p:nvPr/>
        </p:nvSpPr>
        <p:spPr>
          <a:xfrm>
            <a:off x="896112" y="3776472"/>
            <a:ext cx="3017520" cy="256032"/>
          </a:xfrm>
          <a:prstGeom prst="rect">
            <a:avLst/>
          </a:prstGeom>
          <a:noFill/>
          <a:ln/>
        </p:spPr>
        <p:txBody>
          <a:bodyPr wrap="square" lIns="0" tIns="0" rIns="0" bIns="0" rtlCol="0" anchor="ctr"/>
          <a:lstStyle/>
          <a:p>
            <a:pPr indent="0" marL="0">
              <a:buNone/>
            </a:pPr>
            <a:r>
              <a:rPr lang="en-US" sz="900" b="1" spc="100" kern="0" dirty="0">
                <a:solidFill>
                  <a:srgbClr val="3E5C8A"/>
                </a:solidFill>
                <a:latin typeface="Calibri" pitchFamily="34" charset="0"/>
                <a:ea typeface="Calibri" pitchFamily="34" charset="-122"/>
                <a:cs typeface="Calibri" pitchFamily="34" charset="-120"/>
              </a:rPr>
              <a:t>ROUTE TO MARKET</a:t>
            </a:r>
            <a:endParaRPr lang="en-US" sz="900" dirty="0"/>
          </a:p>
        </p:txBody>
      </p:sp>
      <p:sp>
        <p:nvSpPr>
          <p:cNvPr id="18" name="Text 16"/>
          <p:cNvSpPr txBox="1"/>
          <p:nvPr/>
        </p:nvSpPr>
        <p:spPr>
          <a:xfrm>
            <a:off x="896112" y="4069080"/>
            <a:ext cx="301752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Alliance activation</a:t>
            </a:r>
            <a:endParaRPr lang="en-US" sz="1400" dirty="0"/>
          </a:p>
        </p:txBody>
      </p:sp>
      <p:sp>
        <p:nvSpPr>
          <p:cNvPr id="19" name="Text 17"/>
          <p:cNvSpPr txBox="1"/>
          <p:nvPr/>
        </p:nvSpPr>
        <p:spPr>
          <a:xfrm>
            <a:off x="896112" y="4480560"/>
            <a:ext cx="3017520" cy="658368"/>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Answer the funds and insurance platform gap; activate co-sell and funding</a:t>
            </a:r>
            <a:endParaRPr lang="en-US" sz="1050" dirty="0"/>
          </a:p>
        </p:txBody>
      </p:sp>
      <p:sp>
        <p:nvSpPr>
          <p:cNvPr id="20" name="Shape 18"/>
          <p:cNvSpPr/>
          <p:nvPr/>
        </p:nvSpPr>
        <p:spPr>
          <a:xfrm>
            <a:off x="4325112" y="3611880"/>
            <a:ext cx="3520440" cy="1600200"/>
          </a:xfrm>
          <a:prstGeom prst="roundRect">
            <a:avLst>
              <a:gd name="adj" fmla="val 6857"/>
            </a:avLst>
          </a:prstGeom>
          <a:solidFill>
            <a:srgbClr val="EDF2FA"/>
          </a:solidFill>
          <a:ln/>
        </p:spPr>
      </p:sp>
      <p:sp>
        <p:nvSpPr>
          <p:cNvPr id="21" name="Text 19"/>
          <p:cNvSpPr txBox="1"/>
          <p:nvPr/>
        </p:nvSpPr>
        <p:spPr>
          <a:xfrm>
            <a:off x="4581144" y="3776472"/>
            <a:ext cx="3017520" cy="256032"/>
          </a:xfrm>
          <a:prstGeom prst="rect">
            <a:avLst/>
          </a:prstGeom>
          <a:noFill/>
          <a:ln/>
        </p:spPr>
        <p:txBody>
          <a:bodyPr wrap="square" lIns="0" tIns="0" rIns="0" bIns="0" rtlCol="0" anchor="ctr"/>
          <a:lstStyle/>
          <a:p>
            <a:pPr indent="0" marL="0">
              <a:buNone/>
            </a:pPr>
            <a:r>
              <a:rPr lang="en-US" sz="900" b="1" spc="100" kern="0" dirty="0">
                <a:solidFill>
                  <a:srgbClr val="3E5C8A"/>
                </a:solidFill>
                <a:latin typeface="Calibri" pitchFamily="34" charset="0"/>
                <a:ea typeface="Calibri" pitchFamily="34" charset="-122"/>
                <a:cs typeface="Calibri" pitchFamily="34" charset="-120"/>
              </a:rPr>
              <a:t>ROUTE TO MARKET</a:t>
            </a:r>
            <a:endParaRPr lang="en-US" sz="900" dirty="0"/>
          </a:p>
        </p:txBody>
      </p:sp>
      <p:sp>
        <p:nvSpPr>
          <p:cNvPr id="22" name="Text 20"/>
          <p:cNvSpPr txBox="1"/>
          <p:nvPr/>
        </p:nvSpPr>
        <p:spPr>
          <a:xfrm>
            <a:off x="4581144" y="4069080"/>
            <a:ext cx="301752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Eminence programme</a:t>
            </a:r>
            <a:endParaRPr lang="en-US" sz="1400" dirty="0"/>
          </a:p>
        </p:txBody>
      </p:sp>
      <p:sp>
        <p:nvSpPr>
          <p:cNvPr id="23" name="Text 21"/>
          <p:cNvSpPr txBox="1"/>
          <p:nvPr/>
        </p:nvSpPr>
        <p:spPr>
          <a:xfrm>
            <a:off x="4581144" y="4480560"/>
            <a:ext cx="3017520" cy="658368"/>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Stand up the calendar, internal and external, against the target accounts</a:t>
            </a:r>
            <a:endParaRPr lang="en-US" sz="1050" dirty="0"/>
          </a:p>
        </p:txBody>
      </p:sp>
      <p:sp>
        <p:nvSpPr>
          <p:cNvPr id="24" name="Shape 22"/>
          <p:cNvSpPr/>
          <p:nvPr/>
        </p:nvSpPr>
        <p:spPr>
          <a:xfrm>
            <a:off x="8010144" y="3611880"/>
            <a:ext cx="3520440" cy="1600200"/>
          </a:xfrm>
          <a:prstGeom prst="roundRect">
            <a:avLst>
              <a:gd name="adj" fmla="val 6857"/>
            </a:avLst>
          </a:prstGeom>
          <a:solidFill>
            <a:srgbClr val="EDF2FA"/>
          </a:solidFill>
          <a:ln/>
        </p:spPr>
      </p:sp>
      <p:sp>
        <p:nvSpPr>
          <p:cNvPr id="25" name="Text 23"/>
          <p:cNvSpPr txBox="1"/>
          <p:nvPr/>
        </p:nvSpPr>
        <p:spPr>
          <a:xfrm>
            <a:off x="8266176" y="3776472"/>
            <a:ext cx="3017520" cy="256032"/>
          </a:xfrm>
          <a:prstGeom prst="rect">
            <a:avLst/>
          </a:prstGeom>
          <a:noFill/>
          <a:ln/>
        </p:spPr>
        <p:txBody>
          <a:bodyPr wrap="square" lIns="0" tIns="0" rIns="0" bIns="0" rtlCol="0" anchor="ctr"/>
          <a:lstStyle/>
          <a:p>
            <a:pPr indent="0" marL="0">
              <a:buNone/>
            </a:pPr>
            <a:r>
              <a:rPr lang="en-US" sz="900" b="1" spc="100" kern="0" dirty="0">
                <a:solidFill>
                  <a:srgbClr val="3E5C8A"/>
                </a:solidFill>
                <a:latin typeface="Calibri" pitchFamily="34" charset="0"/>
                <a:ea typeface="Calibri" pitchFamily="34" charset="-122"/>
                <a:cs typeface="Calibri" pitchFamily="34" charset="-120"/>
              </a:rPr>
              <a:t>MARKET AND CLIENTS</a:t>
            </a:r>
            <a:endParaRPr lang="en-US" sz="900" dirty="0"/>
          </a:p>
        </p:txBody>
      </p:sp>
      <p:sp>
        <p:nvSpPr>
          <p:cNvPr id="26" name="Text 24"/>
          <p:cNvSpPr txBox="1"/>
          <p:nvPr/>
        </p:nvSpPr>
        <p:spPr>
          <a:xfrm>
            <a:off x="8266176" y="4069080"/>
            <a:ext cx="301752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Account activation</a:t>
            </a:r>
            <a:endParaRPr lang="en-US" sz="1400" dirty="0"/>
          </a:p>
        </p:txBody>
      </p:sp>
      <p:sp>
        <p:nvSpPr>
          <p:cNvPr id="27" name="Text 25"/>
          <p:cNvSpPr txBox="1"/>
          <p:nvPr/>
        </p:nvSpPr>
        <p:spPr>
          <a:xfrm>
            <a:off x="8266176" y="4480560"/>
            <a:ext cx="3017520" cy="658368"/>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Turn the tier one list into live pursuits inside the existing account plans</a:t>
            </a:r>
            <a:endParaRPr lang="en-US" sz="1050" dirty="0"/>
          </a:p>
        </p:txBody>
      </p:sp>
      <p:sp>
        <p:nvSpPr>
          <p:cNvPr id="28" name="Shape 26"/>
          <p:cNvSpPr/>
          <p:nvPr/>
        </p:nvSpPr>
        <p:spPr>
          <a:xfrm>
            <a:off x="640080" y="5440680"/>
            <a:ext cx="10881360" cy="777240"/>
          </a:xfrm>
          <a:prstGeom prst="roundRect">
            <a:avLst>
              <a:gd name="adj" fmla="val 11765"/>
            </a:avLst>
          </a:prstGeom>
          <a:solidFill>
            <a:srgbClr val="1E2761"/>
          </a:solidFill>
          <a:ln/>
        </p:spPr>
      </p:sp>
      <p:sp>
        <p:nvSpPr>
          <p:cNvPr id="29" name="Text 27"/>
          <p:cNvSpPr txBox="1"/>
          <p:nvPr/>
        </p:nvSpPr>
        <p:spPr>
          <a:xfrm>
            <a:off x="914400" y="5440680"/>
            <a:ext cx="10332720" cy="77724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Every initiative carries a pillar, an owner, an outcome and a date — and is reviewed in the monthly rhythm alongside the numbers.</a:t>
            </a:r>
            <a:endParaRPr lang="en-US" sz="1250" dirty="0"/>
          </a:p>
        </p:txBody>
      </p:sp>
      <p:sp>
        <p:nvSpPr>
          <p:cNvPr id="30" name="Text 28"/>
          <p:cNvSpPr txBox="1"/>
          <p:nvPr/>
        </p:nvSpPr>
        <p:spPr>
          <a:xfrm>
            <a:off x="640080" y="6309360"/>
            <a:ext cx="731520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Illustrative — the register is built in week three and tracked from there.</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Governing the execution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discipline · what happens after sign-off, so the strategy does not drift.</a:t>
            </a:r>
            <a:endParaRPr lang="en-US" sz="1450" dirty="0"/>
          </a:p>
        </p:txBody>
      </p:sp>
      <p:sp>
        <p:nvSpPr>
          <p:cNvPr id="4" name="Shape 2"/>
          <p:cNvSpPr/>
          <p:nvPr/>
        </p:nvSpPr>
        <p:spPr>
          <a:xfrm>
            <a:off x="640080" y="1828800"/>
            <a:ext cx="3429000" cy="2286000"/>
          </a:xfrm>
          <a:prstGeom prst="roundRect">
            <a:avLst>
              <a:gd name="adj" fmla="val 4800"/>
            </a:avLst>
          </a:prstGeom>
          <a:solidFill>
            <a:srgbClr val="EDF2FA"/>
          </a:solidFill>
          <a:ln/>
        </p:spPr>
      </p:sp>
      <p:sp>
        <p:nvSpPr>
          <p:cNvPr id="5" name="Shape 3"/>
          <p:cNvSpPr/>
          <p:nvPr/>
        </p:nvSpPr>
        <p:spPr>
          <a:xfrm>
            <a:off x="640080" y="1828800"/>
            <a:ext cx="3429000" cy="621792"/>
          </a:xfrm>
          <a:prstGeom prst="rect">
            <a:avLst/>
          </a:prstGeom>
          <a:solidFill>
            <a:srgbClr val="1E2761"/>
          </a:solidFill>
          <a:ln/>
        </p:spPr>
      </p:sp>
      <p:sp>
        <p:nvSpPr>
          <p:cNvPr id="6" name="Text 4"/>
          <p:cNvSpPr txBox="1"/>
          <p:nvPr/>
        </p:nvSpPr>
        <p:spPr>
          <a:xfrm>
            <a:off x="914400" y="1828800"/>
            <a:ext cx="2880360" cy="62179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Weekly</a:t>
            </a:r>
            <a:endParaRPr lang="en-US" sz="1700" dirty="0"/>
          </a:p>
        </p:txBody>
      </p:sp>
      <p:sp>
        <p:nvSpPr>
          <p:cNvPr id="7" name="Text 5"/>
          <p:cNvSpPr txBox="1"/>
          <p:nvPr/>
        </p:nvSpPr>
        <p:spPr>
          <a:xfrm>
            <a:off x="914400" y="2651760"/>
            <a:ext cx="2880360" cy="13716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Pursuit review: live deals, blockers, next actions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Owned by the account owners</a:t>
            </a:r>
            <a:endParaRPr lang="en-US" sz="1250" dirty="0"/>
          </a:p>
        </p:txBody>
      </p:sp>
      <p:sp>
        <p:nvSpPr>
          <p:cNvPr id="8" name="Shape 6"/>
          <p:cNvSpPr/>
          <p:nvPr/>
        </p:nvSpPr>
        <p:spPr>
          <a:xfrm>
            <a:off x="4361688" y="1828800"/>
            <a:ext cx="3429000" cy="2286000"/>
          </a:xfrm>
          <a:prstGeom prst="roundRect">
            <a:avLst>
              <a:gd name="adj" fmla="val 4800"/>
            </a:avLst>
          </a:prstGeom>
          <a:solidFill>
            <a:srgbClr val="EDF2FA"/>
          </a:solidFill>
          <a:ln/>
        </p:spPr>
      </p:sp>
      <p:sp>
        <p:nvSpPr>
          <p:cNvPr id="9" name="Shape 7"/>
          <p:cNvSpPr/>
          <p:nvPr/>
        </p:nvSpPr>
        <p:spPr>
          <a:xfrm>
            <a:off x="4361688" y="1828800"/>
            <a:ext cx="3429000" cy="621792"/>
          </a:xfrm>
          <a:prstGeom prst="rect">
            <a:avLst/>
          </a:prstGeom>
          <a:solidFill>
            <a:srgbClr val="3E5C8A"/>
          </a:solidFill>
          <a:ln/>
        </p:spPr>
      </p:sp>
      <p:sp>
        <p:nvSpPr>
          <p:cNvPr id="10" name="Text 8"/>
          <p:cNvSpPr txBox="1"/>
          <p:nvPr/>
        </p:nvSpPr>
        <p:spPr>
          <a:xfrm>
            <a:off x="4636008" y="1828800"/>
            <a:ext cx="2880360" cy="62179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Monthly</a:t>
            </a:r>
            <a:endParaRPr lang="en-US" sz="1700" dirty="0"/>
          </a:p>
        </p:txBody>
      </p:sp>
      <p:sp>
        <p:nvSpPr>
          <p:cNvPr id="11" name="Text 9"/>
          <p:cNvSpPr txBox="1"/>
          <p:nvPr/>
        </p:nvSpPr>
        <p:spPr>
          <a:xfrm>
            <a:off x="4636008" y="2651760"/>
            <a:ext cx="2880360" cy="13716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Pipeline and coverage against target by market and offering</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Initiative register and talent actions tracked to date</a:t>
            </a:r>
            <a:endParaRPr lang="en-US" sz="1250" dirty="0"/>
          </a:p>
        </p:txBody>
      </p:sp>
      <p:sp>
        <p:nvSpPr>
          <p:cNvPr id="12" name="Shape 10"/>
          <p:cNvSpPr/>
          <p:nvPr/>
        </p:nvSpPr>
        <p:spPr>
          <a:xfrm>
            <a:off x="8083296" y="1828800"/>
            <a:ext cx="3429000" cy="2286000"/>
          </a:xfrm>
          <a:prstGeom prst="roundRect">
            <a:avLst>
              <a:gd name="adj" fmla="val 4800"/>
            </a:avLst>
          </a:prstGeom>
          <a:solidFill>
            <a:srgbClr val="EDF2FA"/>
          </a:solidFill>
          <a:ln/>
        </p:spPr>
      </p:sp>
      <p:sp>
        <p:nvSpPr>
          <p:cNvPr id="13" name="Shape 11"/>
          <p:cNvSpPr/>
          <p:nvPr/>
        </p:nvSpPr>
        <p:spPr>
          <a:xfrm>
            <a:off x="8083296" y="1828800"/>
            <a:ext cx="3429000" cy="621792"/>
          </a:xfrm>
          <a:prstGeom prst="rect">
            <a:avLst/>
          </a:prstGeom>
          <a:solidFill>
            <a:srgbClr val="1E2761"/>
          </a:solidFill>
          <a:ln/>
        </p:spPr>
      </p:sp>
      <p:sp>
        <p:nvSpPr>
          <p:cNvPr id="14" name="Text 12"/>
          <p:cNvSpPr txBox="1"/>
          <p:nvPr/>
        </p:nvSpPr>
        <p:spPr>
          <a:xfrm>
            <a:off x="8357616" y="1828800"/>
            <a:ext cx="2880360" cy="62179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Quarterly</a:t>
            </a:r>
            <a:endParaRPr lang="en-US" sz="1700" dirty="0"/>
          </a:p>
        </p:txBody>
      </p:sp>
      <p:sp>
        <p:nvSpPr>
          <p:cNvPr id="15" name="Text 13"/>
          <p:cNvSpPr txBox="1"/>
          <p:nvPr/>
        </p:nvSpPr>
        <p:spPr>
          <a:xfrm>
            <a:off x="8357616" y="2651760"/>
            <a:ext cx="2880360" cy="13716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Strategy review: are the choices still right?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Reset targets, accounts and eminence calendar</a:t>
            </a:r>
            <a:endParaRPr lang="en-US" sz="1250" dirty="0"/>
          </a:p>
        </p:txBody>
      </p:sp>
      <p:sp>
        <p:nvSpPr>
          <p:cNvPr id="16" name="Text 14"/>
          <p:cNvSpPr txBox="1"/>
          <p:nvPr/>
        </p:nvSpPr>
        <p:spPr>
          <a:xfrm>
            <a:off x="640080" y="4343400"/>
            <a:ext cx="1088136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The scorecard behind the rhythm</a:t>
            </a:r>
            <a:endParaRPr lang="en-US" sz="1500" dirty="0"/>
          </a:p>
        </p:txBody>
      </p:sp>
      <p:sp>
        <p:nvSpPr>
          <p:cNvPr id="17" name="Shape 15"/>
          <p:cNvSpPr/>
          <p:nvPr/>
        </p:nvSpPr>
        <p:spPr>
          <a:xfrm>
            <a:off x="640080" y="4754880"/>
            <a:ext cx="3429000" cy="548640"/>
          </a:xfrm>
          <a:prstGeom prst="roundRect">
            <a:avLst>
              <a:gd name="adj" fmla="val 13333"/>
            </a:avLst>
          </a:prstGeom>
          <a:solidFill>
            <a:srgbClr val="F2F6FC"/>
          </a:solidFill>
          <a:ln/>
        </p:spPr>
      </p:sp>
      <p:sp>
        <p:nvSpPr>
          <p:cNvPr id="18" name="Text 16"/>
          <p:cNvSpPr txBox="1"/>
          <p:nvPr/>
        </p:nvSpPr>
        <p:spPr>
          <a:xfrm>
            <a:off x="804672" y="4754880"/>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Commercial</a:t>
            </a:r>
            <a:endParaRPr lang="en-US" sz="1150" dirty="0"/>
          </a:p>
        </p:txBody>
      </p:sp>
      <p:sp>
        <p:nvSpPr>
          <p:cNvPr id="19" name="Text 17"/>
          <p:cNvSpPr txBox="1"/>
          <p:nvPr/>
        </p:nvSpPr>
        <p:spPr>
          <a:xfrm>
            <a:off x="2057400" y="4754880"/>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Pipeline, wins, revenue against target</a:t>
            </a:r>
            <a:endParaRPr lang="en-US" sz="1050" dirty="0"/>
          </a:p>
        </p:txBody>
      </p:sp>
      <p:sp>
        <p:nvSpPr>
          <p:cNvPr id="20" name="Shape 18"/>
          <p:cNvSpPr/>
          <p:nvPr/>
        </p:nvSpPr>
        <p:spPr>
          <a:xfrm>
            <a:off x="4361688" y="4754880"/>
            <a:ext cx="3429000" cy="548640"/>
          </a:xfrm>
          <a:prstGeom prst="roundRect">
            <a:avLst>
              <a:gd name="adj" fmla="val 13333"/>
            </a:avLst>
          </a:prstGeom>
          <a:solidFill>
            <a:srgbClr val="F2F6FC"/>
          </a:solidFill>
          <a:ln/>
        </p:spPr>
      </p:sp>
      <p:sp>
        <p:nvSpPr>
          <p:cNvPr id="21" name="Text 19"/>
          <p:cNvSpPr txBox="1"/>
          <p:nvPr/>
        </p:nvSpPr>
        <p:spPr>
          <a:xfrm>
            <a:off x="4526280" y="4754880"/>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Mix</a:t>
            </a:r>
            <a:endParaRPr lang="en-US" sz="1150" dirty="0"/>
          </a:p>
        </p:txBody>
      </p:sp>
      <p:sp>
        <p:nvSpPr>
          <p:cNvPr id="22" name="Text 20"/>
          <p:cNvSpPr txBox="1"/>
          <p:nvPr/>
        </p:nvSpPr>
        <p:spPr>
          <a:xfrm>
            <a:off x="5779008" y="4754880"/>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Share of revenue from integrated propositions</a:t>
            </a:r>
            <a:endParaRPr lang="en-US" sz="1050" dirty="0"/>
          </a:p>
        </p:txBody>
      </p:sp>
      <p:sp>
        <p:nvSpPr>
          <p:cNvPr id="23" name="Shape 21"/>
          <p:cNvSpPr/>
          <p:nvPr/>
        </p:nvSpPr>
        <p:spPr>
          <a:xfrm>
            <a:off x="8083296" y="4754880"/>
            <a:ext cx="3429000" cy="548640"/>
          </a:xfrm>
          <a:prstGeom prst="roundRect">
            <a:avLst>
              <a:gd name="adj" fmla="val 13333"/>
            </a:avLst>
          </a:prstGeom>
          <a:solidFill>
            <a:srgbClr val="F2F6FC"/>
          </a:solidFill>
          <a:ln/>
        </p:spPr>
      </p:sp>
      <p:sp>
        <p:nvSpPr>
          <p:cNvPr id="24" name="Text 22"/>
          <p:cNvSpPr txBox="1"/>
          <p:nvPr/>
        </p:nvSpPr>
        <p:spPr>
          <a:xfrm>
            <a:off x="8247888" y="4754880"/>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Coverage</a:t>
            </a:r>
            <a:endParaRPr lang="en-US" sz="1150" dirty="0"/>
          </a:p>
        </p:txBody>
      </p:sp>
      <p:sp>
        <p:nvSpPr>
          <p:cNvPr id="25" name="Text 23"/>
          <p:cNvSpPr txBox="1"/>
          <p:nvPr/>
        </p:nvSpPr>
        <p:spPr>
          <a:xfrm>
            <a:off x="9500616" y="4754880"/>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Target accounts with an active owner and contact</a:t>
            </a:r>
            <a:endParaRPr lang="en-US" sz="1050" dirty="0"/>
          </a:p>
        </p:txBody>
      </p:sp>
      <p:sp>
        <p:nvSpPr>
          <p:cNvPr id="26" name="Shape 24"/>
          <p:cNvSpPr/>
          <p:nvPr/>
        </p:nvSpPr>
        <p:spPr>
          <a:xfrm>
            <a:off x="640080" y="5413248"/>
            <a:ext cx="3429000" cy="548640"/>
          </a:xfrm>
          <a:prstGeom prst="roundRect">
            <a:avLst>
              <a:gd name="adj" fmla="val 13333"/>
            </a:avLst>
          </a:prstGeom>
          <a:solidFill>
            <a:srgbClr val="F2F6FC"/>
          </a:solidFill>
          <a:ln/>
        </p:spPr>
      </p:sp>
      <p:sp>
        <p:nvSpPr>
          <p:cNvPr id="27" name="Text 25"/>
          <p:cNvSpPr txBox="1"/>
          <p:nvPr/>
        </p:nvSpPr>
        <p:spPr>
          <a:xfrm>
            <a:off x="804672" y="5413248"/>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Capacity</a:t>
            </a:r>
            <a:endParaRPr lang="en-US" sz="1150" dirty="0"/>
          </a:p>
        </p:txBody>
      </p:sp>
      <p:sp>
        <p:nvSpPr>
          <p:cNvPr id="28" name="Text 26"/>
          <p:cNvSpPr txBox="1"/>
          <p:nvPr/>
        </p:nvSpPr>
        <p:spPr>
          <a:xfrm>
            <a:off x="2057400" y="5413248"/>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Recruitment against plan, utilisation</a:t>
            </a:r>
            <a:endParaRPr lang="en-US" sz="1050" dirty="0"/>
          </a:p>
        </p:txBody>
      </p:sp>
      <p:sp>
        <p:nvSpPr>
          <p:cNvPr id="29" name="Shape 27"/>
          <p:cNvSpPr/>
          <p:nvPr/>
        </p:nvSpPr>
        <p:spPr>
          <a:xfrm>
            <a:off x="4361688" y="5413248"/>
            <a:ext cx="3429000" cy="548640"/>
          </a:xfrm>
          <a:prstGeom prst="roundRect">
            <a:avLst>
              <a:gd name="adj" fmla="val 13333"/>
            </a:avLst>
          </a:prstGeom>
          <a:solidFill>
            <a:srgbClr val="F2F6FC"/>
          </a:solidFill>
          <a:ln/>
        </p:spPr>
      </p:sp>
      <p:sp>
        <p:nvSpPr>
          <p:cNvPr id="30" name="Text 28"/>
          <p:cNvSpPr txBox="1"/>
          <p:nvPr/>
        </p:nvSpPr>
        <p:spPr>
          <a:xfrm>
            <a:off x="4526280" y="5413248"/>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Alliances</a:t>
            </a:r>
            <a:endParaRPr lang="en-US" sz="1150" dirty="0"/>
          </a:p>
        </p:txBody>
      </p:sp>
      <p:sp>
        <p:nvSpPr>
          <p:cNvPr id="31" name="Text 29"/>
          <p:cNvSpPr txBox="1"/>
          <p:nvPr/>
        </p:nvSpPr>
        <p:spPr>
          <a:xfrm>
            <a:off x="5779008" y="5413248"/>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Partner-sourced pipeline and joint pursuits</a:t>
            </a:r>
            <a:endParaRPr lang="en-US" sz="1050" dirty="0"/>
          </a:p>
        </p:txBody>
      </p:sp>
      <p:sp>
        <p:nvSpPr>
          <p:cNvPr id="32" name="Shape 30"/>
          <p:cNvSpPr/>
          <p:nvPr/>
        </p:nvSpPr>
        <p:spPr>
          <a:xfrm>
            <a:off x="8083296" y="5413248"/>
            <a:ext cx="3429000" cy="548640"/>
          </a:xfrm>
          <a:prstGeom prst="roundRect">
            <a:avLst>
              <a:gd name="adj" fmla="val 13333"/>
            </a:avLst>
          </a:prstGeom>
          <a:solidFill>
            <a:srgbClr val="F2F6FC"/>
          </a:solidFill>
          <a:ln/>
        </p:spPr>
      </p:sp>
      <p:sp>
        <p:nvSpPr>
          <p:cNvPr id="33" name="Text 31"/>
          <p:cNvSpPr txBox="1"/>
          <p:nvPr/>
        </p:nvSpPr>
        <p:spPr>
          <a:xfrm>
            <a:off x="8247888" y="5413248"/>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Initiatives</a:t>
            </a:r>
            <a:endParaRPr lang="en-US" sz="1150" dirty="0"/>
          </a:p>
        </p:txBody>
      </p:sp>
      <p:sp>
        <p:nvSpPr>
          <p:cNvPr id="34" name="Text 32"/>
          <p:cNvSpPr txBox="1"/>
          <p:nvPr/>
        </p:nvSpPr>
        <p:spPr>
          <a:xfrm>
            <a:off x="9500616" y="5413248"/>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Milestones hit against the register</a:t>
            </a:r>
            <a:endParaRPr lang="en-US" sz="1050" dirty="0"/>
          </a:p>
        </p:txBody>
      </p:sp>
      <p:sp>
        <p:nvSpPr>
          <p:cNvPr id="35" name="Text 33"/>
          <p:cNvSpPr txBox="1"/>
          <p:nvPr/>
        </p:nvSpPr>
        <p:spPr>
          <a:xfrm>
            <a:off x="640080" y="6172200"/>
            <a:ext cx="10881360" cy="320040"/>
          </a:xfrm>
          <a:prstGeom prst="rect">
            <a:avLst/>
          </a:prstGeom>
          <a:noFill/>
          <a:ln/>
        </p:spPr>
        <p:txBody>
          <a:bodyPr wrap="square" lIns="0" tIns="0" rIns="0" bIns="0" rtlCol="0" anchor="ctr"/>
          <a:lstStyle/>
          <a:p>
            <a:pPr indent="0" marL="0">
              <a:buNone/>
            </a:pPr>
            <a:r>
              <a:rPr lang="en-US" sz="1150" i="1" dirty="0">
                <a:solidFill>
                  <a:srgbClr val="8792AB"/>
                </a:solidFill>
                <a:latin typeface="Calibri" pitchFamily="34" charset="0"/>
                <a:ea typeface="Calibri" pitchFamily="34" charset="-122"/>
                <a:cs typeface="Calibri" pitchFamily="34" charset="-120"/>
              </a:rPr>
              <a:t>Decision rights, chair and escalation route to be set at sign-off.</a:t>
            </a:r>
            <a:endParaRPr lang="en-US" sz="11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961120" y="3108960"/>
            <a:ext cx="5120640" cy="5120640"/>
          </a:xfrm>
          <a:prstGeom prst="ellipse">
            <a:avLst/>
          </a:prstGeom>
          <a:solidFill>
            <a:srgbClr val="3E5C8A">
              <a:alpha val="45000"/>
            </a:srgbClr>
          </a:solidFill>
          <a:ln/>
        </p:spPr>
      </p:sp>
      <p:sp>
        <p:nvSpPr>
          <p:cNvPr id="3" name="Text 1"/>
          <p:cNvSpPr txBox="1"/>
          <p:nvPr/>
        </p:nvSpPr>
        <p:spPr>
          <a:xfrm>
            <a:off x="822960" y="1965960"/>
            <a:ext cx="4572000" cy="365760"/>
          </a:xfrm>
          <a:prstGeom prst="rect">
            <a:avLst/>
          </a:prstGeom>
          <a:noFill/>
          <a:ln/>
        </p:spPr>
        <p:txBody>
          <a:bodyPr wrap="square" lIns="0" tIns="0" rIns="0" bIns="0" rtlCol="0" anchor="ctr"/>
          <a:lstStyle/>
          <a:p>
            <a:pPr indent="0" marL="0">
              <a:buNone/>
            </a:pPr>
            <a:r>
              <a:rPr lang="en-US" sz="1300" b="1" spc="200" kern="0" dirty="0">
                <a:solidFill>
                  <a:srgbClr val="9AA7C4"/>
                </a:solidFill>
                <a:latin typeface="Calibri" pitchFamily="34" charset="0"/>
                <a:ea typeface="Calibri" pitchFamily="34" charset="-122"/>
                <a:cs typeface="Calibri" pitchFamily="34" charset="-120"/>
              </a:rPr>
              <a:t>PART SIX</a:t>
            </a:r>
            <a:endParaRPr lang="en-US" sz="1300" dirty="0"/>
          </a:p>
        </p:txBody>
      </p:sp>
      <p:sp>
        <p:nvSpPr>
          <p:cNvPr id="4" name="Text 2"/>
          <p:cNvSpPr txBox="1"/>
          <p:nvPr/>
        </p:nvSpPr>
        <p:spPr>
          <a:xfrm>
            <a:off x="804672" y="2377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Strategy inputs</a:t>
            </a:r>
            <a:endParaRPr lang="en-US" sz="3800" dirty="0"/>
          </a:p>
        </p:txBody>
      </p:sp>
      <p:sp>
        <p:nvSpPr>
          <p:cNvPr id="5" name="Text 3"/>
          <p:cNvSpPr txBox="1"/>
          <p:nvPr/>
        </p:nvSpPr>
        <p:spPr>
          <a:xfrm>
            <a:off x="850392" y="3337560"/>
            <a:ext cx="758952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Where we stand today — the starting position the cycle works from.</a:t>
            </a:r>
            <a:endParaRPr lang="en-US" sz="1500" dirty="0"/>
          </a:p>
        </p:txBody>
      </p:sp>
      <p:sp>
        <p:nvSpPr>
          <p:cNvPr id="6" name="Text 4"/>
          <p:cNvSpPr txBox="1"/>
          <p:nvPr/>
        </p:nvSpPr>
        <p:spPr>
          <a:xfrm>
            <a:off x="850392" y="4023360"/>
            <a:ext cx="7589520" cy="164592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Current propositions, offering by offering</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The FSI industry priority account list</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Current FY financial targets, and our share</a:t>
            </a:r>
            <a:endParaRPr lang="en-US" sz="12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we sell today</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Inputs · current market propositions by offering, as they stand before the cycle.</a:t>
            </a:r>
            <a:endParaRPr lang="en-US" sz="1450" dirty="0"/>
          </a:p>
        </p:txBody>
      </p:sp>
      <p:sp>
        <p:nvSpPr>
          <p:cNvPr id="4" name="Shape 2"/>
          <p:cNvSpPr/>
          <p:nvPr/>
        </p:nvSpPr>
        <p:spPr>
          <a:xfrm>
            <a:off x="640080" y="1828800"/>
            <a:ext cx="3520440" cy="4069080"/>
          </a:xfrm>
          <a:prstGeom prst="roundRect">
            <a:avLst>
              <a:gd name="adj" fmla="val 3117"/>
            </a:avLst>
          </a:prstGeom>
          <a:solidFill>
            <a:srgbClr val="FFFFFF"/>
          </a:solidFill>
          <a:ln w="12700">
            <a:solidFill>
              <a:srgbClr val="C9D4E6"/>
            </a:solidFill>
            <a:prstDash val="solid"/>
          </a:ln>
        </p:spPr>
      </p:sp>
      <p:sp>
        <p:nvSpPr>
          <p:cNvPr id="5" name="Shape 3"/>
          <p:cNvSpPr/>
          <p:nvPr/>
        </p:nvSpPr>
        <p:spPr>
          <a:xfrm>
            <a:off x="640080" y="1828800"/>
            <a:ext cx="3520440" cy="548640"/>
          </a:xfrm>
          <a:prstGeom prst="rect">
            <a:avLst/>
          </a:prstGeom>
          <a:solidFill>
            <a:srgbClr val="1E2761"/>
          </a:solidFill>
          <a:ln/>
        </p:spPr>
      </p:sp>
      <p:sp>
        <p:nvSpPr>
          <p:cNvPr id="6" name="Text 4"/>
          <p:cNvSpPr txBox="1"/>
          <p:nvPr/>
        </p:nvSpPr>
        <p:spPr>
          <a:xfrm>
            <a:off x="868680" y="1828800"/>
            <a:ext cx="3063240" cy="5486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Industry Solutions</a:t>
            </a:r>
            <a:endParaRPr lang="en-US" sz="1400" dirty="0"/>
          </a:p>
        </p:txBody>
      </p:sp>
      <p:sp>
        <p:nvSpPr>
          <p:cNvPr id="7" name="Shape 5"/>
          <p:cNvSpPr/>
          <p:nvPr/>
        </p:nvSpPr>
        <p:spPr>
          <a:xfrm>
            <a:off x="914400" y="2788920"/>
            <a:ext cx="2971800" cy="0"/>
          </a:xfrm>
          <a:prstGeom prst="line">
            <a:avLst/>
          </a:prstGeom>
          <a:noFill/>
          <a:ln w="12700">
            <a:solidFill>
              <a:srgbClr val="E1E8F2"/>
            </a:solidFill>
            <a:prstDash val="solid"/>
          </a:ln>
        </p:spPr>
      </p:sp>
      <p:sp>
        <p:nvSpPr>
          <p:cNvPr id="8" name="Shape 6"/>
          <p:cNvSpPr/>
          <p:nvPr/>
        </p:nvSpPr>
        <p:spPr>
          <a:xfrm>
            <a:off x="914400" y="3291840"/>
            <a:ext cx="2971800" cy="0"/>
          </a:xfrm>
          <a:prstGeom prst="line">
            <a:avLst/>
          </a:prstGeom>
          <a:noFill/>
          <a:ln w="12700">
            <a:solidFill>
              <a:srgbClr val="E1E8F2"/>
            </a:solidFill>
            <a:prstDash val="solid"/>
          </a:ln>
        </p:spPr>
      </p:sp>
      <p:sp>
        <p:nvSpPr>
          <p:cNvPr id="9" name="Shape 7"/>
          <p:cNvSpPr/>
          <p:nvPr/>
        </p:nvSpPr>
        <p:spPr>
          <a:xfrm>
            <a:off x="914400" y="3794760"/>
            <a:ext cx="2971800" cy="0"/>
          </a:xfrm>
          <a:prstGeom prst="line">
            <a:avLst/>
          </a:prstGeom>
          <a:noFill/>
          <a:ln w="12700">
            <a:solidFill>
              <a:srgbClr val="E1E8F2"/>
            </a:solidFill>
            <a:prstDash val="solid"/>
          </a:ln>
        </p:spPr>
      </p:sp>
      <p:sp>
        <p:nvSpPr>
          <p:cNvPr id="10" name="Shape 8"/>
          <p:cNvSpPr/>
          <p:nvPr/>
        </p:nvSpPr>
        <p:spPr>
          <a:xfrm>
            <a:off x="914400" y="4297680"/>
            <a:ext cx="2971800" cy="0"/>
          </a:xfrm>
          <a:prstGeom prst="line">
            <a:avLst/>
          </a:prstGeom>
          <a:noFill/>
          <a:ln w="12700">
            <a:solidFill>
              <a:srgbClr val="E1E8F2"/>
            </a:solidFill>
            <a:prstDash val="solid"/>
          </a:ln>
        </p:spPr>
      </p:sp>
      <p:sp>
        <p:nvSpPr>
          <p:cNvPr id="11" name="Shape 9"/>
          <p:cNvSpPr/>
          <p:nvPr/>
        </p:nvSpPr>
        <p:spPr>
          <a:xfrm>
            <a:off x="914400" y="4800600"/>
            <a:ext cx="2971800" cy="0"/>
          </a:xfrm>
          <a:prstGeom prst="line">
            <a:avLst/>
          </a:prstGeom>
          <a:noFill/>
          <a:ln w="12700">
            <a:solidFill>
              <a:srgbClr val="E1E8F2"/>
            </a:solidFill>
            <a:prstDash val="solid"/>
          </a:ln>
        </p:spPr>
      </p:sp>
      <p:sp>
        <p:nvSpPr>
          <p:cNvPr id="12" name="Shape 10"/>
          <p:cNvSpPr/>
          <p:nvPr/>
        </p:nvSpPr>
        <p:spPr>
          <a:xfrm>
            <a:off x="914400" y="5303520"/>
            <a:ext cx="2971800" cy="0"/>
          </a:xfrm>
          <a:prstGeom prst="line">
            <a:avLst/>
          </a:prstGeom>
          <a:noFill/>
          <a:ln w="12700">
            <a:solidFill>
              <a:srgbClr val="E1E8F2"/>
            </a:solidFill>
            <a:prstDash val="solid"/>
          </a:ln>
        </p:spPr>
      </p:sp>
      <p:sp>
        <p:nvSpPr>
          <p:cNvPr id="13" name="Shape 11"/>
          <p:cNvSpPr/>
          <p:nvPr/>
        </p:nvSpPr>
        <p:spPr>
          <a:xfrm>
            <a:off x="4325112" y="1828800"/>
            <a:ext cx="3520440" cy="4069080"/>
          </a:xfrm>
          <a:prstGeom prst="roundRect">
            <a:avLst>
              <a:gd name="adj" fmla="val 3117"/>
            </a:avLst>
          </a:prstGeom>
          <a:solidFill>
            <a:srgbClr val="FFFFFF"/>
          </a:solidFill>
          <a:ln w="12700">
            <a:solidFill>
              <a:srgbClr val="C9D4E6"/>
            </a:solidFill>
            <a:prstDash val="solid"/>
          </a:ln>
        </p:spPr>
      </p:sp>
      <p:sp>
        <p:nvSpPr>
          <p:cNvPr id="14" name="Shape 12"/>
          <p:cNvSpPr/>
          <p:nvPr/>
        </p:nvSpPr>
        <p:spPr>
          <a:xfrm>
            <a:off x="4325112" y="1828800"/>
            <a:ext cx="3520440" cy="548640"/>
          </a:xfrm>
          <a:prstGeom prst="rect">
            <a:avLst/>
          </a:prstGeom>
          <a:solidFill>
            <a:srgbClr val="3E5C8A"/>
          </a:solidFill>
          <a:ln/>
        </p:spPr>
      </p:sp>
      <p:sp>
        <p:nvSpPr>
          <p:cNvPr id="15" name="Text 13"/>
          <p:cNvSpPr txBox="1"/>
          <p:nvPr/>
        </p:nvSpPr>
        <p:spPr>
          <a:xfrm>
            <a:off x="4553712" y="1828800"/>
            <a:ext cx="3063240" cy="5486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AI and Data</a:t>
            </a:r>
            <a:endParaRPr lang="en-US" sz="1400" dirty="0"/>
          </a:p>
        </p:txBody>
      </p:sp>
      <p:sp>
        <p:nvSpPr>
          <p:cNvPr id="16" name="Shape 14"/>
          <p:cNvSpPr/>
          <p:nvPr/>
        </p:nvSpPr>
        <p:spPr>
          <a:xfrm>
            <a:off x="4599432" y="2788920"/>
            <a:ext cx="2971800" cy="0"/>
          </a:xfrm>
          <a:prstGeom prst="line">
            <a:avLst/>
          </a:prstGeom>
          <a:noFill/>
          <a:ln w="12700">
            <a:solidFill>
              <a:srgbClr val="E1E8F2"/>
            </a:solidFill>
            <a:prstDash val="solid"/>
          </a:ln>
        </p:spPr>
      </p:sp>
      <p:sp>
        <p:nvSpPr>
          <p:cNvPr id="17" name="Shape 15"/>
          <p:cNvSpPr/>
          <p:nvPr/>
        </p:nvSpPr>
        <p:spPr>
          <a:xfrm>
            <a:off x="4599432" y="3291840"/>
            <a:ext cx="2971800" cy="0"/>
          </a:xfrm>
          <a:prstGeom prst="line">
            <a:avLst/>
          </a:prstGeom>
          <a:noFill/>
          <a:ln w="12700">
            <a:solidFill>
              <a:srgbClr val="E1E8F2"/>
            </a:solidFill>
            <a:prstDash val="solid"/>
          </a:ln>
        </p:spPr>
      </p:sp>
      <p:sp>
        <p:nvSpPr>
          <p:cNvPr id="18" name="Shape 16"/>
          <p:cNvSpPr/>
          <p:nvPr/>
        </p:nvSpPr>
        <p:spPr>
          <a:xfrm>
            <a:off x="4599432" y="3794760"/>
            <a:ext cx="2971800" cy="0"/>
          </a:xfrm>
          <a:prstGeom prst="line">
            <a:avLst/>
          </a:prstGeom>
          <a:noFill/>
          <a:ln w="12700">
            <a:solidFill>
              <a:srgbClr val="E1E8F2"/>
            </a:solidFill>
            <a:prstDash val="solid"/>
          </a:ln>
        </p:spPr>
      </p:sp>
      <p:sp>
        <p:nvSpPr>
          <p:cNvPr id="19" name="Shape 17"/>
          <p:cNvSpPr/>
          <p:nvPr/>
        </p:nvSpPr>
        <p:spPr>
          <a:xfrm>
            <a:off x="4599432" y="4297680"/>
            <a:ext cx="2971800" cy="0"/>
          </a:xfrm>
          <a:prstGeom prst="line">
            <a:avLst/>
          </a:prstGeom>
          <a:noFill/>
          <a:ln w="12700">
            <a:solidFill>
              <a:srgbClr val="E1E8F2"/>
            </a:solidFill>
            <a:prstDash val="solid"/>
          </a:ln>
        </p:spPr>
      </p:sp>
      <p:sp>
        <p:nvSpPr>
          <p:cNvPr id="20" name="Shape 18"/>
          <p:cNvSpPr/>
          <p:nvPr/>
        </p:nvSpPr>
        <p:spPr>
          <a:xfrm>
            <a:off x="4599432" y="4800600"/>
            <a:ext cx="2971800" cy="0"/>
          </a:xfrm>
          <a:prstGeom prst="line">
            <a:avLst/>
          </a:prstGeom>
          <a:noFill/>
          <a:ln w="12700">
            <a:solidFill>
              <a:srgbClr val="E1E8F2"/>
            </a:solidFill>
            <a:prstDash val="solid"/>
          </a:ln>
        </p:spPr>
      </p:sp>
      <p:sp>
        <p:nvSpPr>
          <p:cNvPr id="21" name="Shape 19"/>
          <p:cNvSpPr/>
          <p:nvPr/>
        </p:nvSpPr>
        <p:spPr>
          <a:xfrm>
            <a:off x="4599432" y="5303520"/>
            <a:ext cx="2971800" cy="0"/>
          </a:xfrm>
          <a:prstGeom prst="line">
            <a:avLst/>
          </a:prstGeom>
          <a:noFill/>
          <a:ln w="12700">
            <a:solidFill>
              <a:srgbClr val="E1E8F2"/>
            </a:solidFill>
            <a:prstDash val="solid"/>
          </a:ln>
        </p:spPr>
      </p:sp>
      <p:sp>
        <p:nvSpPr>
          <p:cNvPr id="22" name="Shape 20"/>
          <p:cNvSpPr/>
          <p:nvPr/>
        </p:nvSpPr>
        <p:spPr>
          <a:xfrm>
            <a:off x="8010144" y="1828800"/>
            <a:ext cx="3520440" cy="4069080"/>
          </a:xfrm>
          <a:prstGeom prst="roundRect">
            <a:avLst>
              <a:gd name="adj" fmla="val 3117"/>
            </a:avLst>
          </a:prstGeom>
          <a:solidFill>
            <a:srgbClr val="FFFFFF"/>
          </a:solidFill>
          <a:ln w="12700">
            <a:solidFill>
              <a:srgbClr val="C9D4E6"/>
            </a:solidFill>
            <a:prstDash val="solid"/>
          </a:ln>
        </p:spPr>
      </p:sp>
      <p:sp>
        <p:nvSpPr>
          <p:cNvPr id="23" name="Shape 21"/>
          <p:cNvSpPr/>
          <p:nvPr/>
        </p:nvSpPr>
        <p:spPr>
          <a:xfrm>
            <a:off x="8010144" y="1828800"/>
            <a:ext cx="3520440" cy="548640"/>
          </a:xfrm>
          <a:prstGeom prst="rect">
            <a:avLst/>
          </a:prstGeom>
          <a:solidFill>
            <a:srgbClr val="1E2761"/>
          </a:solidFill>
          <a:ln/>
        </p:spPr>
      </p:sp>
      <p:sp>
        <p:nvSpPr>
          <p:cNvPr id="24" name="Text 22"/>
          <p:cNvSpPr txBox="1"/>
          <p:nvPr/>
        </p:nvSpPr>
        <p:spPr>
          <a:xfrm>
            <a:off x="8238744" y="1828800"/>
            <a:ext cx="3063240" cy="5486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Engineering</a:t>
            </a:r>
            <a:endParaRPr lang="en-US" sz="1400" dirty="0"/>
          </a:p>
        </p:txBody>
      </p:sp>
      <p:sp>
        <p:nvSpPr>
          <p:cNvPr id="25" name="Shape 23"/>
          <p:cNvSpPr/>
          <p:nvPr/>
        </p:nvSpPr>
        <p:spPr>
          <a:xfrm>
            <a:off x="8284464" y="2788920"/>
            <a:ext cx="2971800" cy="0"/>
          </a:xfrm>
          <a:prstGeom prst="line">
            <a:avLst/>
          </a:prstGeom>
          <a:noFill/>
          <a:ln w="12700">
            <a:solidFill>
              <a:srgbClr val="E1E8F2"/>
            </a:solidFill>
            <a:prstDash val="solid"/>
          </a:ln>
        </p:spPr>
      </p:sp>
      <p:sp>
        <p:nvSpPr>
          <p:cNvPr id="26" name="Shape 24"/>
          <p:cNvSpPr/>
          <p:nvPr/>
        </p:nvSpPr>
        <p:spPr>
          <a:xfrm>
            <a:off x="8284464" y="3291840"/>
            <a:ext cx="2971800" cy="0"/>
          </a:xfrm>
          <a:prstGeom prst="line">
            <a:avLst/>
          </a:prstGeom>
          <a:noFill/>
          <a:ln w="12700">
            <a:solidFill>
              <a:srgbClr val="E1E8F2"/>
            </a:solidFill>
            <a:prstDash val="solid"/>
          </a:ln>
        </p:spPr>
      </p:sp>
      <p:sp>
        <p:nvSpPr>
          <p:cNvPr id="27" name="Shape 25"/>
          <p:cNvSpPr/>
          <p:nvPr/>
        </p:nvSpPr>
        <p:spPr>
          <a:xfrm>
            <a:off x="8284464" y="3794760"/>
            <a:ext cx="2971800" cy="0"/>
          </a:xfrm>
          <a:prstGeom prst="line">
            <a:avLst/>
          </a:prstGeom>
          <a:noFill/>
          <a:ln w="12700">
            <a:solidFill>
              <a:srgbClr val="E1E8F2"/>
            </a:solidFill>
            <a:prstDash val="solid"/>
          </a:ln>
        </p:spPr>
      </p:sp>
      <p:sp>
        <p:nvSpPr>
          <p:cNvPr id="28" name="Shape 26"/>
          <p:cNvSpPr/>
          <p:nvPr/>
        </p:nvSpPr>
        <p:spPr>
          <a:xfrm>
            <a:off x="8284464" y="4297680"/>
            <a:ext cx="2971800" cy="0"/>
          </a:xfrm>
          <a:prstGeom prst="line">
            <a:avLst/>
          </a:prstGeom>
          <a:noFill/>
          <a:ln w="12700">
            <a:solidFill>
              <a:srgbClr val="E1E8F2"/>
            </a:solidFill>
            <a:prstDash val="solid"/>
          </a:ln>
        </p:spPr>
      </p:sp>
      <p:sp>
        <p:nvSpPr>
          <p:cNvPr id="29" name="Shape 27"/>
          <p:cNvSpPr/>
          <p:nvPr/>
        </p:nvSpPr>
        <p:spPr>
          <a:xfrm>
            <a:off x="8284464" y="4800600"/>
            <a:ext cx="2971800" cy="0"/>
          </a:xfrm>
          <a:prstGeom prst="line">
            <a:avLst/>
          </a:prstGeom>
          <a:noFill/>
          <a:ln w="12700">
            <a:solidFill>
              <a:srgbClr val="E1E8F2"/>
            </a:solidFill>
            <a:prstDash val="solid"/>
          </a:ln>
        </p:spPr>
      </p:sp>
      <p:sp>
        <p:nvSpPr>
          <p:cNvPr id="30" name="Shape 28"/>
          <p:cNvSpPr/>
          <p:nvPr/>
        </p:nvSpPr>
        <p:spPr>
          <a:xfrm>
            <a:off x="8284464" y="5303520"/>
            <a:ext cx="2971800" cy="0"/>
          </a:xfrm>
          <a:prstGeom prst="line">
            <a:avLst/>
          </a:prstGeom>
          <a:noFill/>
          <a:ln w="12700">
            <a:solidFill>
              <a:srgbClr val="E1E8F2"/>
            </a:solidFill>
            <a:prstDash val="solid"/>
          </a:ln>
        </p:spPr>
      </p:sp>
      <p:sp>
        <p:nvSpPr>
          <p:cNvPr id="31" name="Text 29"/>
          <p:cNvSpPr txBox="1"/>
          <p:nvPr/>
        </p:nvSpPr>
        <p:spPr>
          <a:xfrm>
            <a:off x="640080" y="6035040"/>
            <a:ext cx="10881360" cy="365760"/>
          </a:xfrm>
          <a:prstGeom prst="rect">
            <a:avLst/>
          </a:prstGeom>
          <a:noFill/>
          <a:ln/>
        </p:spPr>
        <p:txBody>
          <a:bodyPr wrap="square" lIns="0" tIns="0" rIns="0" bIns="0" rtlCol="0" anchor="ctr"/>
          <a:lstStyle/>
          <a:p>
            <a:pPr indent="0" marL="0">
              <a:buNone/>
            </a:pPr>
            <a:r>
              <a:rPr lang="en-US" sz="1200" i="1" dirty="0">
                <a:solidFill>
                  <a:srgbClr val="3E5C8A"/>
                </a:solidFill>
                <a:latin typeface="Calibri" pitchFamily="34" charset="0"/>
                <a:ea typeface="Calibri" pitchFamily="34" charset="-122"/>
                <a:cs typeface="Calibri" pitchFamily="34" charset="-120"/>
              </a:rPr>
              <a:t>One line per proposition we take to market today. Mark which are integrated and which sit inside a single offering.</a:t>
            </a:r>
            <a:endParaRPr lang="en-US" sz="12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The priority account list</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Strategy inputs · the FSI industry priority account list as it stands today.</a:t>
            </a:r>
            <a:endParaRPr lang="en-US" sz="145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03120"/>
                <a:gridCol w="1280160"/>
                <a:gridCol w="1188720"/>
                <a:gridCol w="1828800"/>
                <a:gridCol w="2926080"/>
                <a:gridCol w="15544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Sector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Relationship 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we do there today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Status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a:t>
            </a:r>
            <a:endParaRPr lang="en-US" sz="1150" dirty="0"/>
          </a:p>
        </p:txBody>
      </p:sp>
      <p:sp>
        <p:nvSpPr>
          <p:cNvPr id="7" name="Text 4"/>
          <p:cNvSpPr txBox="1"/>
          <p:nvPr/>
        </p:nvSpPr>
        <p:spPr>
          <a:xfrm>
            <a:off x="285292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Sector</a:t>
            </a:r>
            <a:endParaRPr lang="en-US" sz="1150" dirty="0"/>
          </a:p>
        </p:txBody>
      </p:sp>
      <p:sp>
        <p:nvSpPr>
          <p:cNvPr id="8" name="Text 5"/>
          <p:cNvSpPr txBox="1"/>
          <p:nvPr/>
        </p:nvSpPr>
        <p:spPr>
          <a:xfrm>
            <a:off x="413308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9" name="Text 6"/>
          <p:cNvSpPr txBox="1"/>
          <p:nvPr/>
        </p:nvSpPr>
        <p:spPr>
          <a:xfrm>
            <a:off x="532180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Relationship owner</a:t>
            </a:r>
            <a:endParaRPr lang="en-US" sz="1150" dirty="0"/>
          </a:p>
        </p:txBody>
      </p:sp>
      <p:sp>
        <p:nvSpPr>
          <p:cNvPr id="10" name="Text 7"/>
          <p:cNvSpPr txBox="1"/>
          <p:nvPr/>
        </p:nvSpPr>
        <p:spPr>
          <a:xfrm>
            <a:off x="7150608" y="1965960"/>
            <a:ext cx="27432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we do there today</a:t>
            </a:r>
            <a:endParaRPr lang="en-US" sz="1150" dirty="0"/>
          </a:p>
        </p:txBody>
      </p:sp>
      <p:sp>
        <p:nvSpPr>
          <p:cNvPr id="11" name="Text 8"/>
          <p:cNvSpPr txBox="1"/>
          <p:nvPr/>
        </p:nvSpPr>
        <p:spPr>
          <a:xfrm>
            <a:off x="1007668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Status</a:t>
            </a:r>
            <a:endParaRPr lang="en-US" sz="1150" dirty="0"/>
          </a:p>
        </p:txBody>
      </p:sp>
      <p:sp>
        <p:nvSpPr>
          <p:cNvPr id="12" name="Text 9"/>
          <p:cNvSpPr txBox="1"/>
          <p:nvPr/>
        </p:nvSpPr>
        <p:spPr>
          <a:xfrm>
            <a:off x="640080" y="636422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Today’s position, not the target list — the target list is an output of the cycle, and this is an input to it.</a:t>
            </a:r>
            <a:endParaRPr lang="en-US" sz="1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This year’s numbers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Strategy inputs · current FY financial targets for FSI, and how much of that sits with us.</a:t>
            </a:r>
            <a:endParaRPr lang="en-US" sz="1450" dirty="0"/>
          </a:p>
        </p:txBody>
      </p:sp>
      <p:sp>
        <p:nvSpPr>
          <p:cNvPr id="4" name="Shape 2"/>
          <p:cNvSpPr/>
          <p:nvPr/>
        </p:nvSpPr>
        <p:spPr>
          <a:xfrm>
            <a:off x="640080" y="1828800"/>
            <a:ext cx="10881360" cy="457200"/>
          </a:xfrm>
          <a:prstGeom prst="rect">
            <a:avLst/>
          </a:prstGeom>
          <a:solidFill>
            <a:srgbClr val="1E2761"/>
          </a:solidFill>
          <a:ln/>
        </p:spPr>
      </p:sp>
      <p:sp>
        <p:nvSpPr>
          <p:cNvPr id="5" name="Text 3"/>
          <p:cNvSpPr txBox="1"/>
          <p:nvPr/>
        </p:nvSpPr>
        <p:spPr>
          <a:xfrm>
            <a:off x="822960" y="1828800"/>
            <a:ext cx="2834640" cy="45720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Measure</a:t>
            </a:r>
            <a:endParaRPr lang="en-US" sz="1200" dirty="0"/>
          </a:p>
        </p:txBody>
      </p:sp>
      <p:sp>
        <p:nvSpPr>
          <p:cNvPr id="6" name="Text 4"/>
          <p:cNvSpPr txBox="1"/>
          <p:nvPr/>
        </p:nvSpPr>
        <p:spPr>
          <a:xfrm>
            <a:off x="4023360" y="1828800"/>
            <a:ext cx="2468880" cy="45720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FSI total, current FY</a:t>
            </a:r>
            <a:endParaRPr lang="en-US" sz="1200" dirty="0"/>
          </a:p>
        </p:txBody>
      </p:sp>
      <p:sp>
        <p:nvSpPr>
          <p:cNvPr id="7" name="Text 5"/>
          <p:cNvSpPr txBox="1"/>
          <p:nvPr/>
        </p:nvSpPr>
        <p:spPr>
          <a:xfrm>
            <a:off x="6858000" y="1828800"/>
            <a:ext cx="2103120" cy="45720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EAI&amp;D share</a:t>
            </a:r>
            <a:endParaRPr lang="en-US" sz="1200" dirty="0"/>
          </a:p>
        </p:txBody>
      </p:sp>
      <p:sp>
        <p:nvSpPr>
          <p:cNvPr id="8" name="Text 6"/>
          <p:cNvSpPr txBox="1"/>
          <p:nvPr/>
        </p:nvSpPr>
        <p:spPr>
          <a:xfrm>
            <a:off x="9326880" y="1828800"/>
            <a:ext cx="2103120" cy="45720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Our share of it</a:t>
            </a:r>
            <a:endParaRPr lang="en-US" sz="1200" dirty="0"/>
          </a:p>
        </p:txBody>
      </p:sp>
      <p:sp>
        <p:nvSpPr>
          <p:cNvPr id="9" name="Shape 7"/>
          <p:cNvSpPr/>
          <p:nvPr/>
        </p:nvSpPr>
        <p:spPr>
          <a:xfrm>
            <a:off x="640080" y="2286000"/>
            <a:ext cx="10881360" cy="658368"/>
          </a:xfrm>
          <a:prstGeom prst="rect">
            <a:avLst/>
          </a:prstGeom>
          <a:solidFill>
            <a:srgbClr val="F7FAFD"/>
          </a:solidFill>
          <a:ln/>
        </p:spPr>
      </p:sp>
      <p:sp>
        <p:nvSpPr>
          <p:cNvPr id="10" name="Text 8"/>
          <p:cNvSpPr txBox="1"/>
          <p:nvPr/>
        </p:nvSpPr>
        <p:spPr>
          <a:xfrm>
            <a:off x="822960" y="2286000"/>
            <a:ext cx="2834640" cy="658368"/>
          </a:xfrm>
          <a:prstGeom prst="rect">
            <a:avLst/>
          </a:prstGeom>
          <a:noFill/>
          <a:ln/>
        </p:spPr>
        <p:txBody>
          <a:bodyPr wrap="square" lIns="0" tIns="0" rIns="0" bIns="0" rtlCol="0" anchor="ctr"/>
          <a:lstStyle/>
          <a:p>
            <a:pPr indent="0" marL="0">
              <a:buNone/>
            </a:pPr>
            <a:r>
              <a:rPr lang="en-US" sz="1250" dirty="0">
                <a:solidFill>
                  <a:srgbClr val="16203A"/>
                </a:solidFill>
                <a:latin typeface="Calibri" pitchFamily="34" charset="0"/>
                <a:ea typeface="Calibri" pitchFamily="34" charset="-122"/>
                <a:cs typeface="Calibri" pitchFamily="34" charset="-120"/>
              </a:rPr>
              <a:t>Revenue</a:t>
            </a:r>
            <a:endParaRPr lang="en-US" sz="1250" dirty="0"/>
          </a:p>
        </p:txBody>
      </p:sp>
      <p:sp>
        <p:nvSpPr>
          <p:cNvPr id="11" name="Shape 9"/>
          <p:cNvSpPr/>
          <p:nvPr/>
        </p:nvSpPr>
        <p:spPr>
          <a:xfrm>
            <a:off x="4023360" y="2724912"/>
            <a:ext cx="2286000" cy="0"/>
          </a:xfrm>
          <a:prstGeom prst="line">
            <a:avLst/>
          </a:prstGeom>
          <a:noFill/>
          <a:ln w="12700">
            <a:solidFill>
              <a:srgbClr val="C9D4E6"/>
            </a:solidFill>
            <a:prstDash val="solid"/>
          </a:ln>
        </p:spPr>
      </p:sp>
      <p:sp>
        <p:nvSpPr>
          <p:cNvPr id="12" name="Shape 10"/>
          <p:cNvSpPr/>
          <p:nvPr/>
        </p:nvSpPr>
        <p:spPr>
          <a:xfrm>
            <a:off x="6858000" y="2724912"/>
            <a:ext cx="1920240" cy="0"/>
          </a:xfrm>
          <a:prstGeom prst="line">
            <a:avLst/>
          </a:prstGeom>
          <a:noFill/>
          <a:ln w="12700">
            <a:solidFill>
              <a:srgbClr val="C9D4E6"/>
            </a:solidFill>
            <a:prstDash val="solid"/>
          </a:ln>
        </p:spPr>
      </p:sp>
      <p:sp>
        <p:nvSpPr>
          <p:cNvPr id="13" name="Shape 11"/>
          <p:cNvSpPr/>
          <p:nvPr/>
        </p:nvSpPr>
        <p:spPr>
          <a:xfrm>
            <a:off x="9326880" y="2724912"/>
            <a:ext cx="1920240" cy="0"/>
          </a:xfrm>
          <a:prstGeom prst="line">
            <a:avLst/>
          </a:prstGeom>
          <a:noFill/>
          <a:ln w="12700">
            <a:solidFill>
              <a:srgbClr val="C9D4E6"/>
            </a:solidFill>
            <a:prstDash val="solid"/>
          </a:ln>
        </p:spPr>
      </p:sp>
      <p:sp>
        <p:nvSpPr>
          <p:cNvPr id="14" name="Shape 12"/>
          <p:cNvSpPr/>
          <p:nvPr/>
        </p:nvSpPr>
        <p:spPr>
          <a:xfrm>
            <a:off x="640080" y="2944368"/>
            <a:ext cx="10881360" cy="658368"/>
          </a:xfrm>
          <a:prstGeom prst="rect">
            <a:avLst/>
          </a:prstGeom>
          <a:solidFill>
            <a:srgbClr val="EDF2FA"/>
          </a:solidFill>
          <a:ln/>
        </p:spPr>
      </p:sp>
      <p:sp>
        <p:nvSpPr>
          <p:cNvPr id="15" name="Text 13"/>
          <p:cNvSpPr txBox="1"/>
          <p:nvPr/>
        </p:nvSpPr>
        <p:spPr>
          <a:xfrm>
            <a:off x="822960" y="2944368"/>
            <a:ext cx="2834640" cy="658368"/>
          </a:xfrm>
          <a:prstGeom prst="rect">
            <a:avLst/>
          </a:prstGeom>
          <a:noFill/>
          <a:ln/>
        </p:spPr>
        <p:txBody>
          <a:bodyPr wrap="square" lIns="0" tIns="0" rIns="0" bIns="0" rtlCol="0" anchor="ctr"/>
          <a:lstStyle/>
          <a:p>
            <a:pPr indent="0" marL="0">
              <a:buNone/>
            </a:pPr>
            <a:r>
              <a:rPr lang="en-US" sz="1250" dirty="0">
                <a:solidFill>
                  <a:srgbClr val="16203A"/>
                </a:solidFill>
                <a:latin typeface="Calibri" pitchFamily="34" charset="0"/>
                <a:ea typeface="Calibri" pitchFamily="34" charset="-122"/>
                <a:cs typeface="Calibri" pitchFamily="34" charset="-120"/>
              </a:rPr>
              <a:t>Sales and bookings</a:t>
            </a:r>
            <a:endParaRPr lang="en-US" sz="1250" dirty="0"/>
          </a:p>
        </p:txBody>
      </p:sp>
      <p:sp>
        <p:nvSpPr>
          <p:cNvPr id="16" name="Shape 14"/>
          <p:cNvSpPr/>
          <p:nvPr/>
        </p:nvSpPr>
        <p:spPr>
          <a:xfrm>
            <a:off x="4023360" y="3383280"/>
            <a:ext cx="2286000" cy="0"/>
          </a:xfrm>
          <a:prstGeom prst="line">
            <a:avLst/>
          </a:prstGeom>
          <a:noFill/>
          <a:ln w="12700">
            <a:solidFill>
              <a:srgbClr val="C9D4E6"/>
            </a:solidFill>
            <a:prstDash val="solid"/>
          </a:ln>
        </p:spPr>
      </p:sp>
      <p:sp>
        <p:nvSpPr>
          <p:cNvPr id="17" name="Shape 15"/>
          <p:cNvSpPr/>
          <p:nvPr/>
        </p:nvSpPr>
        <p:spPr>
          <a:xfrm>
            <a:off x="6858000" y="3383280"/>
            <a:ext cx="1920240" cy="0"/>
          </a:xfrm>
          <a:prstGeom prst="line">
            <a:avLst/>
          </a:prstGeom>
          <a:noFill/>
          <a:ln w="12700">
            <a:solidFill>
              <a:srgbClr val="C9D4E6"/>
            </a:solidFill>
            <a:prstDash val="solid"/>
          </a:ln>
        </p:spPr>
      </p:sp>
      <p:sp>
        <p:nvSpPr>
          <p:cNvPr id="18" name="Shape 16"/>
          <p:cNvSpPr/>
          <p:nvPr/>
        </p:nvSpPr>
        <p:spPr>
          <a:xfrm>
            <a:off x="9326880" y="3383280"/>
            <a:ext cx="1920240" cy="0"/>
          </a:xfrm>
          <a:prstGeom prst="line">
            <a:avLst/>
          </a:prstGeom>
          <a:noFill/>
          <a:ln w="12700">
            <a:solidFill>
              <a:srgbClr val="C9D4E6"/>
            </a:solidFill>
            <a:prstDash val="solid"/>
          </a:ln>
        </p:spPr>
      </p:sp>
      <p:sp>
        <p:nvSpPr>
          <p:cNvPr id="19" name="Shape 17"/>
          <p:cNvSpPr/>
          <p:nvPr/>
        </p:nvSpPr>
        <p:spPr>
          <a:xfrm>
            <a:off x="640080" y="3602736"/>
            <a:ext cx="10881360" cy="658368"/>
          </a:xfrm>
          <a:prstGeom prst="rect">
            <a:avLst/>
          </a:prstGeom>
          <a:solidFill>
            <a:srgbClr val="F7FAFD"/>
          </a:solidFill>
          <a:ln/>
        </p:spPr>
      </p:sp>
      <p:sp>
        <p:nvSpPr>
          <p:cNvPr id="20" name="Text 18"/>
          <p:cNvSpPr txBox="1"/>
          <p:nvPr/>
        </p:nvSpPr>
        <p:spPr>
          <a:xfrm>
            <a:off x="822960" y="3602736"/>
            <a:ext cx="2834640" cy="658368"/>
          </a:xfrm>
          <a:prstGeom prst="rect">
            <a:avLst/>
          </a:prstGeom>
          <a:noFill/>
          <a:ln/>
        </p:spPr>
        <p:txBody>
          <a:bodyPr wrap="square" lIns="0" tIns="0" rIns="0" bIns="0" rtlCol="0" anchor="ctr"/>
          <a:lstStyle/>
          <a:p>
            <a:pPr indent="0" marL="0">
              <a:buNone/>
            </a:pPr>
            <a:r>
              <a:rPr lang="en-US" sz="1250" dirty="0">
                <a:solidFill>
                  <a:srgbClr val="16203A"/>
                </a:solidFill>
                <a:latin typeface="Calibri" pitchFamily="34" charset="0"/>
                <a:ea typeface="Calibri" pitchFamily="34" charset="-122"/>
                <a:cs typeface="Calibri" pitchFamily="34" charset="-120"/>
              </a:rPr>
              <a:t>Pipeline</a:t>
            </a:r>
            <a:endParaRPr lang="en-US" sz="1250" dirty="0"/>
          </a:p>
        </p:txBody>
      </p:sp>
      <p:sp>
        <p:nvSpPr>
          <p:cNvPr id="21" name="Shape 19"/>
          <p:cNvSpPr/>
          <p:nvPr/>
        </p:nvSpPr>
        <p:spPr>
          <a:xfrm>
            <a:off x="4023360" y="4041648"/>
            <a:ext cx="2286000" cy="0"/>
          </a:xfrm>
          <a:prstGeom prst="line">
            <a:avLst/>
          </a:prstGeom>
          <a:noFill/>
          <a:ln w="12700">
            <a:solidFill>
              <a:srgbClr val="C9D4E6"/>
            </a:solidFill>
            <a:prstDash val="solid"/>
          </a:ln>
        </p:spPr>
      </p:sp>
      <p:sp>
        <p:nvSpPr>
          <p:cNvPr id="22" name="Shape 20"/>
          <p:cNvSpPr/>
          <p:nvPr/>
        </p:nvSpPr>
        <p:spPr>
          <a:xfrm>
            <a:off x="6858000" y="4041648"/>
            <a:ext cx="1920240" cy="0"/>
          </a:xfrm>
          <a:prstGeom prst="line">
            <a:avLst/>
          </a:prstGeom>
          <a:noFill/>
          <a:ln w="12700">
            <a:solidFill>
              <a:srgbClr val="C9D4E6"/>
            </a:solidFill>
            <a:prstDash val="solid"/>
          </a:ln>
        </p:spPr>
      </p:sp>
      <p:sp>
        <p:nvSpPr>
          <p:cNvPr id="23" name="Shape 21"/>
          <p:cNvSpPr/>
          <p:nvPr/>
        </p:nvSpPr>
        <p:spPr>
          <a:xfrm>
            <a:off x="9326880" y="4041648"/>
            <a:ext cx="1920240" cy="0"/>
          </a:xfrm>
          <a:prstGeom prst="line">
            <a:avLst/>
          </a:prstGeom>
          <a:noFill/>
          <a:ln w="12700">
            <a:solidFill>
              <a:srgbClr val="C9D4E6"/>
            </a:solidFill>
            <a:prstDash val="solid"/>
          </a:ln>
        </p:spPr>
      </p:sp>
      <p:sp>
        <p:nvSpPr>
          <p:cNvPr id="24" name="Shape 22"/>
          <p:cNvSpPr/>
          <p:nvPr/>
        </p:nvSpPr>
        <p:spPr>
          <a:xfrm>
            <a:off x="640080" y="4261104"/>
            <a:ext cx="10881360" cy="658368"/>
          </a:xfrm>
          <a:prstGeom prst="rect">
            <a:avLst/>
          </a:prstGeom>
          <a:solidFill>
            <a:srgbClr val="EDF2FA"/>
          </a:solidFill>
          <a:ln/>
        </p:spPr>
      </p:sp>
      <p:sp>
        <p:nvSpPr>
          <p:cNvPr id="25" name="Text 23"/>
          <p:cNvSpPr txBox="1"/>
          <p:nvPr/>
        </p:nvSpPr>
        <p:spPr>
          <a:xfrm>
            <a:off x="822960" y="4261104"/>
            <a:ext cx="2834640" cy="658368"/>
          </a:xfrm>
          <a:prstGeom prst="rect">
            <a:avLst/>
          </a:prstGeom>
          <a:noFill/>
          <a:ln/>
        </p:spPr>
        <p:txBody>
          <a:bodyPr wrap="square" lIns="0" tIns="0" rIns="0" bIns="0" rtlCol="0" anchor="ctr"/>
          <a:lstStyle/>
          <a:p>
            <a:pPr indent="0" marL="0">
              <a:buNone/>
            </a:pPr>
            <a:r>
              <a:rPr lang="en-US" sz="1250" dirty="0">
                <a:solidFill>
                  <a:srgbClr val="16203A"/>
                </a:solidFill>
                <a:latin typeface="Calibri" pitchFamily="34" charset="0"/>
                <a:ea typeface="Calibri" pitchFamily="34" charset="-122"/>
                <a:cs typeface="Calibri" pitchFamily="34" charset="-120"/>
              </a:rPr>
              <a:t>Headcount deployed</a:t>
            </a:r>
            <a:endParaRPr lang="en-US" sz="1250" dirty="0"/>
          </a:p>
        </p:txBody>
      </p:sp>
      <p:sp>
        <p:nvSpPr>
          <p:cNvPr id="26" name="Shape 24"/>
          <p:cNvSpPr/>
          <p:nvPr/>
        </p:nvSpPr>
        <p:spPr>
          <a:xfrm>
            <a:off x="4023360" y="4700016"/>
            <a:ext cx="2286000" cy="0"/>
          </a:xfrm>
          <a:prstGeom prst="line">
            <a:avLst/>
          </a:prstGeom>
          <a:noFill/>
          <a:ln w="12700">
            <a:solidFill>
              <a:srgbClr val="C9D4E6"/>
            </a:solidFill>
            <a:prstDash val="solid"/>
          </a:ln>
        </p:spPr>
      </p:sp>
      <p:sp>
        <p:nvSpPr>
          <p:cNvPr id="27" name="Shape 25"/>
          <p:cNvSpPr/>
          <p:nvPr/>
        </p:nvSpPr>
        <p:spPr>
          <a:xfrm>
            <a:off x="6858000" y="4700016"/>
            <a:ext cx="1920240" cy="0"/>
          </a:xfrm>
          <a:prstGeom prst="line">
            <a:avLst/>
          </a:prstGeom>
          <a:noFill/>
          <a:ln w="12700">
            <a:solidFill>
              <a:srgbClr val="C9D4E6"/>
            </a:solidFill>
            <a:prstDash val="solid"/>
          </a:ln>
        </p:spPr>
      </p:sp>
      <p:sp>
        <p:nvSpPr>
          <p:cNvPr id="28" name="Shape 26"/>
          <p:cNvSpPr/>
          <p:nvPr/>
        </p:nvSpPr>
        <p:spPr>
          <a:xfrm>
            <a:off x="9326880" y="4700016"/>
            <a:ext cx="1920240" cy="0"/>
          </a:xfrm>
          <a:prstGeom prst="line">
            <a:avLst/>
          </a:prstGeom>
          <a:noFill/>
          <a:ln w="12700">
            <a:solidFill>
              <a:srgbClr val="C9D4E6"/>
            </a:solidFill>
            <a:prstDash val="solid"/>
          </a:ln>
        </p:spPr>
      </p:sp>
      <p:sp>
        <p:nvSpPr>
          <p:cNvPr id="29" name="Shape 27"/>
          <p:cNvSpPr/>
          <p:nvPr/>
        </p:nvSpPr>
        <p:spPr>
          <a:xfrm>
            <a:off x="640080" y="5120640"/>
            <a:ext cx="10881360" cy="822960"/>
          </a:xfrm>
          <a:prstGeom prst="roundRect">
            <a:avLst>
              <a:gd name="adj" fmla="val 11111"/>
            </a:avLst>
          </a:prstGeom>
          <a:solidFill>
            <a:srgbClr val="1E2761"/>
          </a:solidFill>
          <a:ln/>
        </p:spPr>
      </p:sp>
      <p:sp>
        <p:nvSpPr>
          <p:cNvPr id="30" name="Text 28"/>
          <p:cNvSpPr txBox="1"/>
          <p:nvPr/>
        </p:nvSpPr>
        <p:spPr>
          <a:xfrm>
            <a:off x="914400" y="5120640"/>
            <a:ext cx="10332720" cy="82296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The ambition we set has to reconcile to these: a number that ignores this year’s plan is an aspiration, and a number that only repeats it is not a strategy.</a:t>
            </a:r>
            <a:endParaRPr lang="en-US" sz="1250" dirty="0"/>
          </a:p>
        </p:txBody>
      </p:sp>
      <p:sp>
        <p:nvSpPr>
          <p:cNvPr id="31" name="Text 29"/>
          <p:cNvSpPr txBox="1"/>
          <p:nvPr/>
        </p:nvSpPr>
        <p:spPr>
          <a:xfrm>
            <a:off x="640080" y="6035040"/>
            <a:ext cx="10881360" cy="320040"/>
          </a:xfrm>
          <a:prstGeom prst="rect">
            <a:avLst/>
          </a:prstGeom>
          <a:noFill/>
          <a:ln/>
        </p:spPr>
        <p:txBody>
          <a:bodyPr wrap="square" lIns="0" tIns="0" rIns="0" bIns="0" rtlCol="0" anchor="ctr"/>
          <a:lstStyle/>
          <a:p>
            <a:pPr indent="0" marL="0">
              <a:buNone/>
            </a:pPr>
            <a:r>
              <a:rPr lang="en-US" sz="1150" i="1" dirty="0">
                <a:solidFill>
                  <a:srgbClr val="8792AB"/>
                </a:solidFill>
                <a:latin typeface="Calibri" pitchFamily="34" charset="0"/>
                <a:ea typeface="Calibri" pitchFamily="34" charset="-122"/>
                <a:cs typeface="Calibri" pitchFamily="34" charset="-120"/>
              </a:rPr>
              <a:t>Split by sector and market where the plan already does. Source from finance, not from memory.</a:t>
            </a:r>
            <a:endParaRPr lang="en-US" sz="11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778240" y="3291840"/>
            <a:ext cx="4754880" cy="4754880"/>
          </a:xfrm>
          <a:prstGeom prst="ellipse">
            <a:avLst/>
          </a:prstGeom>
          <a:solidFill>
            <a:srgbClr val="3E5C8A">
              <a:alpha val="50000"/>
            </a:srgbClr>
          </a:solidFill>
          <a:ln/>
        </p:spPr>
      </p:sp>
      <p:sp>
        <p:nvSpPr>
          <p:cNvPr id="3" name="Text 1"/>
          <p:cNvSpPr txBox="1"/>
          <p:nvPr/>
        </p:nvSpPr>
        <p:spPr>
          <a:xfrm>
            <a:off x="822960" y="2377440"/>
            <a:ext cx="7315200" cy="82296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Appendix</a:t>
            </a:r>
            <a:endParaRPr lang="en-US" sz="4400" dirty="0"/>
          </a:p>
        </p:txBody>
      </p:sp>
      <p:sp>
        <p:nvSpPr>
          <p:cNvPr id="4" name="Text 2"/>
          <p:cNvSpPr txBox="1"/>
          <p:nvPr/>
        </p:nvSpPr>
        <p:spPr>
          <a:xfrm>
            <a:off x="868680" y="3291840"/>
            <a:ext cx="7772400" cy="457200"/>
          </a:xfrm>
          <a:prstGeom prst="rect">
            <a:avLst/>
          </a:prstGeom>
          <a:noFill/>
          <a:ln/>
        </p:spPr>
        <p:txBody>
          <a:bodyPr wrap="square" lIns="0" tIns="0" rIns="0" bIns="0" rtlCol="0" anchor="ctr"/>
          <a:lstStyle/>
          <a:p>
            <a:pPr indent="0" marL="0">
              <a:buNone/>
            </a:pPr>
            <a:r>
              <a:rPr lang="en-US" sz="1700" dirty="0">
                <a:solidFill>
                  <a:srgbClr val="CADCFC"/>
                </a:solidFill>
                <a:latin typeface="Calibri" pitchFamily="34" charset="0"/>
                <a:ea typeface="Calibri" pitchFamily="34" charset="-122"/>
                <a:cs typeface="Calibri" pitchFamily="34" charset="-120"/>
              </a:rPr>
              <a:t>The strategy template — a placeholder for every answer the cycle produces</a:t>
            </a:r>
            <a:endParaRPr lang="en-US" sz="1700" dirty="0"/>
          </a:p>
        </p:txBody>
      </p:sp>
      <p:sp>
        <p:nvSpPr>
          <p:cNvPr id="5" name="Text 3"/>
          <p:cNvSpPr txBox="1"/>
          <p:nvPr/>
        </p:nvSpPr>
        <p:spPr>
          <a:xfrm>
            <a:off x="868680" y="3886200"/>
            <a:ext cx="7772400" cy="548640"/>
          </a:xfrm>
          <a:prstGeom prst="rect">
            <a:avLst/>
          </a:prstGeom>
          <a:noFill/>
          <a:ln/>
        </p:spPr>
        <p:txBody>
          <a:bodyPr wrap="square" lIns="0" tIns="0" rIns="0" bIns="0" rtlCol="0" anchor="ctr"/>
          <a:lstStyle/>
          <a:p>
            <a:pPr indent="0" marL="0">
              <a:buNone/>
            </a:pPr>
            <a:r>
              <a:rPr lang="en-US" sz="1350" i="1" dirty="0">
                <a:solidFill>
                  <a:srgbClr val="9AA7C4"/>
                </a:solidFill>
                <a:latin typeface="Calibri" pitchFamily="34" charset="0"/>
                <a:ea typeface="Calibri" pitchFamily="34" charset="-122"/>
                <a:cs typeface="Calibri" pitchFamily="34" charset="-120"/>
              </a:rPr>
              <a:t>These are the working formats. They are filled during the three weeks and become the strategy record.</a:t>
            </a:r>
            <a:endParaRPr lang="en-US" sz="13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the strategy on a page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completed strategy on one sheet. Filled at sign-off, from the artefacts that follow.</a:t>
            </a:r>
            <a:endParaRPr lang="en-US" sz="1450" dirty="0"/>
          </a:p>
        </p:txBody>
      </p:sp>
      <p:sp>
        <p:nvSpPr>
          <p:cNvPr id="4" name="Shape 2"/>
          <p:cNvSpPr/>
          <p:nvPr/>
        </p:nvSpPr>
        <p:spPr>
          <a:xfrm>
            <a:off x="640080" y="1783080"/>
            <a:ext cx="5303520" cy="777240"/>
          </a:xfrm>
          <a:prstGeom prst="roundRect">
            <a:avLst>
              <a:gd name="adj" fmla="val 11765"/>
            </a:avLst>
          </a:prstGeom>
          <a:solidFill>
            <a:srgbClr val="FFFFFF"/>
          </a:solidFill>
          <a:ln w="15875">
            <a:solidFill>
              <a:srgbClr val="1E2761"/>
            </a:solidFill>
            <a:prstDash val="solid"/>
          </a:ln>
        </p:spPr>
      </p:sp>
      <p:sp>
        <p:nvSpPr>
          <p:cNvPr id="5" name="Text 3"/>
          <p:cNvSpPr txBox="1"/>
          <p:nvPr/>
        </p:nvSpPr>
        <p:spPr>
          <a:xfrm>
            <a:off x="896112" y="1783080"/>
            <a:ext cx="1463040" cy="777240"/>
          </a:xfrm>
          <a:prstGeom prst="rect">
            <a:avLst/>
          </a:prstGeom>
          <a:noFill/>
          <a:ln/>
        </p:spPr>
        <p:txBody>
          <a:bodyPr wrap="square" lIns="0" tIns="0" rIns="0" bIns="0" rtlCol="0" anchor="ctr"/>
          <a:lstStyle/>
          <a:p>
            <a:pPr indent="0" marL="0">
              <a:buNone/>
            </a:pPr>
            <a:r>
              <a:rPr lang="en-US" sz="1150" b="1" spc="140" kern="0" dirty="0">
                <a:solidFill>
                  <a:srgbClr val="1E2761"/>
                </a:solidFill>
                <a:latin typeface="Calibri" pitchFamily="34" charset="0"/>
                <a:ea typeface="Calibri" pitchFamily="34" charset="-122"/>
                <a:cs typeface="Calibri" pitchFamily="34" charset="-120"/>
              </a:rPr>
              <a:t>VISION</a:t>
            </a:r>
            <a:endParaRPr lang="en-US" sz="1150" dirty="0"/>
          </a:p>
        </p:txBody>
      </p:sp>
      <p:sp>
        <p:nvSpPr>
          <p:cNvPr id="6" name="Shape 4"/>
          <p:cNvSpPr/>
          <p:nvPr/>
        </p:nvSpPr>
        <p:spPr>
          <a:xfrm>
            <a:off x="2468880" y="2304288"/>
            <a:ext cx="3200400" cy="0"/>
          </a:xfrm>
          <a:prstGeom prst="line">
            <a:avLst/>
          </a:prstGeom>
          <a:noFill/>
          <a:ln w="12700">
            <a:solidFill>
              <a:srgbClr val="C9D4E6"/>
            </a:solidFill>
            <a:prstDash val="solid"/>
          </a:ln>
        </p:spPr>
      </p:sp>
      <p:sp>
        <p:nvSpPr>
          <p:cNvPr id="7" name="Shape 5"/>
          <p:cNvSpPr/>
          <p:nvPr/>
        </p:nvSpPr>
        <p:spPr>
          <a:xfrm>
            <a:off x="6217920" y="1783080"/>
            <a:ext cx="5303520" cy="777240"/>
          </a:xfrm>
          <a:prstGeom prst="roundRect">
            <a:avLst>
              <a:gd name="adj" fmla="val 11765"/>
            </a:avLst>
          </a:prstGeom>
          <a:solidFill>
            <a:srgbClr val="FFFFFF"/>
          </a:solidFill>
          <a:ln w="15875">
            <a:solidFill>
              <a:srgbClr val="1E2761"/>
            </a:solidFill>
            <a:prstDash val="solid"/>
          </a:ln>
        </p:spPr>
      </p:sp>
      <p:sp>
        <p:nvSpPr>
          <p:cNvPr id="8" name="Text 6"/>
          <p:cNvSpPr txBox="1"/>
          <p:nvPr/>
        </p:nvSpPr>
        <p:spPr>
          <a:xfrm>
            <a:off x="6473952" y="1783080"/>
            <a:ext cx="1463040" cy="777240"/>
          </a:xfrm>
          <a:prstGeom prst="rect">
            <a:avLst/>
          </a:prstGeom>
          <a:noFill/>
          <a:ln/>
        </p:spPr>
        <p:txBody>
          <a:bodyPr wrap="square" lIns="0" tIns="0" rIns="0" bIns="0" rtlCol="0" anchor="ctr"/>
          <a:lstStyle/>
          <a:p>
            <a:pPr indent="0" marL="0">
              <a:buNone/>
            </a:pPr>
            <a:r>
              <a:rPr lang="en-US" sz="1150" b="1" spc="140" kern="0" dirty="0">
                <a:solidFill>
                  <a:srgbClr val="1E2761"/>
                </a:solidFill>
                <a:latin typeface="Calibri" pitchFamily="34" charset="0"/>
                <a:ea typeface="Calibri" pitchFamily="34" charset="-122"/>
                <a:cs typeface="Calibri" pitchFamily="34" charset="-120"/>
              </a:rPr>
              <a:t>AMBITION</a:t>
            </a:r>
            <a:endParaRPr lang="en-US" sz="1150" dirty="0"/>
          </a:p>
        </p:txBody>
      </p:sp>
      <p:sp>
        <p:nvSpPr>
          <p:cNvPr id="9" name="Shape 7"/>
          <p:cNvSpPr/>
          <p:nvPr/>
        </p:nvSpPr>
        <p:spPr>
          <a:xfrm>
            <a:off x="8046720" y="2304288"/>
            <a:ext cx="3200400" cy="0"/>
          </a:xfrm>
          <a:prstGeom prst="line">
            <a:avLst/>
          </a:prstGeom>
          <a:noFill/>
          <a:ln w="12700">
            <a:solidFill>
              <a:srgbClr val="C9D4E6"/>
            </a:solidFill>
            <a:prstDash val="solid"/>
          </a:ln>
        </p:spPr>
      </p:sp>
      <p:sp>
        <p:nvSpPr>
          <p:cNvPr id="10" name="Shape 8"/>
          <p:cNvSpPr/>
          <p:nvPr/>
        </p:nvSpPr>
        <p:spPr>
          <a:xfrm>
            <a:off x="640080" y="2743200"/>
            <a:ext cx="2596896" cy="2423160"/>
          </a:xfrm>
          <a:prstGeom prst="roundRect">
            <a:avLst>
              <a:gd name="adj" fmla="val 3774"/>
            </a:avLst>
          </a:prstGeom>
          <a:solidFill>
            <a:srgbClr val="FFFFFF"/>
          </a:solidFill>
          <a:ln w="12700">
            <a:solidFill>
              <a:srgbClr val="C9D4E6"/>
            </a:solidFill>
            <a:prstDash val="solid"/>
          </a:ln>
        </p:spPr>
      </p:sp>
      <p:sp>
        <p:nvSpPr>
          <p:cNvPr id="11" name="Shape 9"/>
          <p:cNvSpPr/>
          <p:nvPr/>
        </p:nvSpPr>
        <p:spPr>
          <a:xfrm>
            <a:off x="640080" y="2743200"/>
            <a:ext cx="2596896" cy="502920"/>
          </a:xfrm>
          <a:prstGeom prst="rect">
            <a:avLst/>
          </a:prstGeom>
          <a:solidFill>
            <a:srgbClr val="1E2761"/>
          </a:solidFill>
          <a:ln/>
        </p:spPr>
      </p:sp>
      <p:sp>
        <p:nvSpPr>
          <p:cNvPr id="12" name="Text 10"/>
          <p:cNvSpPr txBox="1"/>
          <p:nvPr/>
        </p:nvSpPr>
        <p:spPr>
          <a:xfrm>
            <a:off x="786384" y="274320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 and clients</a:t>
            </a:r>
            <a:endParaRPr lang="en-US" sz="1150" dirty="0"/>
          </a:p>
        </p:txBody>
      </p:sp>
      <p:sp>
        <p:nvSpPr>
          <p:cNvPr id="13" name="Text 11"/>
          <p:cNvSpPr txBox="1"/>
          <p:nvPr/>
        </p:nvSpPr>
        <p:spPr>
          <a:xfrm>
            <a:off x="841248" y="347472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Markets and sectors</a:t>
            </a:r>
            <a:endParaRPr lang="en-US" sz="1050" dirty="0"/>
          </a:p>
        </p:txBody>
      </p:sp>
      <p:sp>
        <p:nvSpPr>
          <p:cNvPr id="14" name="Shape 12"/>
          <p:cNvSpPr/>
          <p:nvPr/>
        </p:nvSpPr>
        <p:spPr>
          <a:xfrm>
            <a:off x="841248" y="3794760"/>
            <a:ext cx="2194560" cy="0"/>
          </a:xfrm>
          <a:prstGeom prst="line">
            <a:avLst/>
          </a:prstGeom>
          <a:noFill/>
          <a:ln w="12700">
            <a:solidFill>
              <a:srgbClr val="E1E8F2"/>
            </a:solidFill>
            <a:prstDash val="solid"/>
          </a:ln>
        </p:spPr>
      </p:sp>
      <p:sp>
        <p:nvSpPr>
          <p:cNvPr id="15" name="Text 13"/>
          <p:cNvSpPr txBox="1"/>
          <p:nvPr/>
        </p:nvSpPr>
        <p:spPr>
          <a:xfrm>
            <a:off x="841248" y="404164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Top accounts and offerings</a:t>
            </a:r>
            <a:endParaRPr lang="en-US" sz="1050" dirty="0"/>
          </a:p>
        </p:txBody>
      </p:sp>
      <p:sp>
        <p:nvSpPr>
          <p:cNvPr id="16" name="Shape 14"/>
          <p:cNvSpPr/>
          <p:nvPr/>
        </p:nvSpPr>
        <p:spPr>
          <a:xfrm>
            <a:off x="841248" y="4361688"/>
            <a:ext cx="2194560" cy="0"/>
          </a:xfrm>
          <a:prstGeom prst="line">
            <a:avLst/>
          </a:prstGeom>
          <a:noFill/>
          <a:ln w="12700">
            <a:solidFill>
              <a:srgbClr val="E1E8F2"/>
            </a:solidFill>
            <a:prstDash val="solid"/>
          </a:ln>
        </p:spPr>
      </p:sp>
      <p:sp>
        <p:nvSpPr>
          <p:cNvPr id="17" name="Text 15"/>
          <p:cNvSpPr txBox="1"/>
          <p:nvPr/>
        </p:nvSpPr>
        <p:spPr>
          <a:xfrm>
            <a:off x="841248" y="4608576"/>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Revenue: gross / net</a:t>
            </a:r>
            <a:endParaRPr lang="en-US" sz="1050" dirty="0"/>
          </a:p>
        </p:txBody>
      </p:sp>
      <p:sp>
        <p:nvSpPr>
          <p:cNvPr id="18" name="Shape 16"/>
          <p:cNvSpPr/>
          <p:nvPr/>
        </p:nvSpPr>
        <p:spPr>
          <a:xfrm>
            <a:off x="841248" y="4928616"/>
            <a:ext cx="2194560" cy="0"/>
          </a:xfrm>
          <a:prstGeom prst="line">
            <a:avLst/>
          </a:prstGeom>
          <a:noFill/>
          <a:ln w="12700">
            <a:solidFill>
              <a:srgbClr val="E1E8F2"/>
            </a:solidFill>
            <a:prstDash val="solid"/>
          </a:ln>
        </p:spPr>
      </p:sp>
      <p:sp>
        <p:nvSpPr>
          <p:cNvPr id="19" name="Shape 17"/>
          <p:cNvSpPr/>
          <p:nvPr/>
        </p:nvSpPr>
        <p:spPr>
          <a:xfrm>
            <a:off x="3401568" y="2743200"/>
            <a:ext cx="2596896" cy="2423160"/>
          </a:xfrm>
          <a:prstGeom prst="roundRect">
            <a:avLst>
              <a:gd name="adj" fmla="val 3774"/>
            </a:avLst>
          </a:prstGeom>
          <a:solidFill>
            <a:srgbClr val="FFFFFF"/>
          </a:solidFill>
          <a:ln w="12700">
            <a:solidFill>
              <a:srgbClr val="C9D4E6"/>
            </a:solidFill>
            <a:prstDash val="solid"/>
          </a:ln>
        </p:spPr>
      </p:sp>
      <p:sp>
        <p:nvSpPr>
          <p:cNvPr id="20" name="Shape 18"/>
          <p:cNvSpPr/>
          <p:nvPr/>
        </p:nvSpPr>
        <p:spPr>
          <a:xfrm>
            <a:off x="3401568" y="2743200"/>
            <a:ext cx="2596896" cy="502920"/>
          </a:xfrm>
          <a:prstGeom prst="rect">
            <a:avLst/>
          </a:prstGeom>
          <a:solidFill>
            <a:srgbClr val="3E5C8A"/>
          </a:solidFill>
          <a:ln/>
        </p:spPr>
      </p:sp>
      <p:sp>
        <p:nvSpPr>
          <p:cNvPr id="21" name="Text 19"/>
          <p:cNvSpPr txBox="1"/>
          <p:nvPr/>
        </p:nvSpPr>
        <p:spPr>
          <a:xfrm>
            <a:off x="3547872" y="274320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Propositions</a:t>
            </a:r>
            <a:endParaRPr lang="en-US" sz="1150" dirty="0"/>
          </a:p>
        </p:txBody>
      </p:sp>
      <p:sp>
        <p:nvSpPr>
          <p:cNvPr id="22" name="Text 20"/>
          <p:cNvSpPr txBox="1"/>
          <p:nvPr/>
        </p:nvSpPr>
        <p:spPr>
          <a:xfrm>
            <a:off x="3602736" y="347472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Integrated</a:t>
            </a:r>
            <a:endParaRPr lang="en-US" sz="1050" dirty="0"/>
          </a:p>
        </p:txBody>
      </p:sp>
      <p:sp>
        <p:nvSpPr>
          <p:cNvPr id="23" name="Shape 21"/>
          <p:cNvSpPr/>
          <p:nvPr/>
        </p:nvSpPr>
        <p:spPr>
          <a:xfrm>
            <a:off x="3602736" y="3794760"/>
            <a:ext cx="2194560" cy="0"/>
          </a:xfrm>
          <a:prstGeom prst="line">
            <a:avLst/>
          </a:prstGeom>
          <a:noFill/>
          <a:ln w="12700">
            <a:solidFill>
              <a:srgbClr val="E1E8F2"/>
            </a:solidFill>
            <a:prstDash val="solid"/>
          </a:ln>
        </p:spPr>
      </p:sp>
      <p:sp>
        <p:nvSpPr>
          <p:cNvPr id="24" name="Text 22"/>
          <p:cNvSpPr txBox="1"/>
          <p:nvPr/>
        </p:nvSpPr>
        <p:spPr>
          <a:xfrm>
            <a:off x="3602736" y="404164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Use cases</a:t>
            </a:r>
            <a:endParaRPr lang="en-US" sz="1050" dirty="0"/>
          </a:p>
        </p:txBody>
      </p:sp>
      <p:sp>
        <p:nvSpPr>
          <p:cNvPr id="25" name="Shape 23"/>
          <p:cNvSpPr/>
          <p:nvPr/>
        </p:nvSpPr>
        <p:spPr>
          <a:xfrm>
            <a:off x="3602736" y="4361688"/>
            <a:ext cx="2194560" cy="0"/>
          </a:xfrm>
          <a:prstGeom prst="line">
            <a:avLst/>
          </a:prstGeom>
          <a:noFill/>
          <a:ln w="12700">
            <a:solidFill>
              <a:srgbClr val="E1E8F2"/>
            </a:solidFill>
            <a:prstDash val="solid"/>
          </a:ln>
        </p:spPr>
      </p:sp>
      <p:sp>
        <p:nvSpPr>
          <p:cNvPr id="26" name="Text 24"/>
          <p:cNvSpPr txBox="1"/>
          <p:nvPr/>
        </p:nvSpPr>
        <p:spPr>
          <a:xfrm>
            <a:off x="3602736" y="4608576"/>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Archetypes</a:t>
            </a:r>
            <a:endParaRPr lang="en-US" sz="1050" dirty="0"/>
          </a:p>
        </p:txBody>
      </p:sp>
      <p:sp>
        <p:nvSpPr>
          <p:cNvPr id="27" name="Shape 25"/>
          <p:cNvSpPr/>
          <p:nvPr/>
        </p:nvSpPr>
        <p:spPr>
          <a:xfrm>
            <a:off x="3602736" y="4928616"/>
            <a:ext cx="2194560" cy="0"/>
          </a:xfrm>
          <a:prstGeom prst="line">
            <a:avLst/>
          </a:prstGeom>
          <a:noFill/>
          <a:ln w="12700">
            <a:solidFill>
              <a:srgbClr val="E1E8F2"/>
            </a:solidFill>
            <a:prstDash val="solid"/>
          </a:ln>
        </p:spPr>
      </p:sp>
      <p:sp>
        <p:nvSpPr>
          <p:cNvPr id="28" name="Shape 26"/>
          <p:cNvSpPr/>
          <p:nvPr/>
        </p:nvSpPr>
        <p:spPr>
          <a:xfrm>
            <a:off x="6163056" y="2743200"/>
            <a:ext cx="2596896" cy="2423160"/>
          </a:xfrm>
          <a:prstGeom prst="roundRect">
            <a:avLst>
              <a:gd name="adj" fmla="val 3774"/>
            </a:avLst>
          </a:prstGeom>
          <a:solidFill>
            <a:srgbClr val="FFFFFF"/>
          </a:solidFill>
          <a:ln w="12700">
            <a:solidFill>
              <a:srgbClr val="C9D4E6"/>
            </a:solidFill>
            <a:prstDash val="solid"/>
          </a:ln>
        </p:spPr>
      </p:sp>
      <p:sp>
        <p:nvSpPr>
          <p:cNvPr id="29" name="Shape 27"/>
          <p:cNvSpPr/>
          <p:nvPr/>
        </p:nvSpPr>
        <p:spPr>
          <a:xfrm>
            <a:off x="6163056" y="2743200"/>
            <a:ext cx="2596896" cy="502920"/>
          </a:xfrm>
          <a:prstGeom prst="rect">
            <a:avLst/>
          </a:prstGeom>
          <a:solidFill>
            <a:srgbClr val="1E2761"/>
          </a:solidFill>
          <a:ln/>
        </p:spPr>
      </p:sp>
      <p:sp>
        <p:nvSpPr>
          <p:cNvPr id="30" name="Text 28"/>
          <p:cNvSpPr txBox="1"/>
          <p:nvPr/>
        </p:nvSpPr>
        <p:spPr>
          <a:xfrm>
            <a:off x="6309360" y="274320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Delivery and economics</a:t>
            </a:r>
            <a:endParaRPr lang="en-US" sz="1150" dirty="0"/>
          </a:p>
        </p:txBody>
      </p:sp>
      <p:sp>
        <p:nvSpPr>
          <p:cNvPr id="31" name="Text 29"/>
          <p:cNvSpPr txBox="1"/>
          <p:nvPr/>
        </p:nvSpPr>
        <p:spPr>
          <a:xfrm>
            <a:off x="6364224" y="347472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Construct and ADR</a:t>
            </a:r>
            <a:endParaRPr lang="en-US" sz="1050" dirty="0"/>
          </a:p>
        </p:txBody>
      </p:sp>
      <p:sp>
        <p:nvSpPr>
          <p:cNvPr id="32" name="Shape 30"/>
          <p:cNvSpPr/>
          <p:nvPr/>
        </p:nvSpPr>
        <p:spPr>
          <a:xfrm>
            <a:off x="6364224" y="3794760"/>
            <a:ext cx="2194560" cy="0"/>
          </a:xfrm>
          <a:prstGeom prst="line">
            <a:avLst/>
          </a:prstGeom>
          <a:noFill/>
          <a:ln w="12700">
            <a:solidFill>
              <a:srgbClr val="E1E8F2"/>
            </a:solidFill>
            <a:prstDash val="solid"/>
          </a:ln>
        </p:spPr>
      </p:sp>
      <p:sp>
        <p:nvSpPr>
          <p:cNvPr id="33" name="Text 31"/>
          <p:cNvSpPr txBox="1"/>
          <p:nvPr/>
        </p:nvSpPr>
        <p:spPr>
          <a:xfrm>
            <a:off x="6364224" y="404164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Margin</a:t>
            </a:r>
            <a:endParaRPr lang="en-US" sz="1050" dirty="0"/>
          </a:p>
        </p:txBody>
      </p:sp>
      <p:sp>
        <p:nvSpPr>
          <p:cNvPr id="34" name="Shape 32"/>
          <p:cNvSpPr/>
          <p:nvPr/>
        </p:nvSpPr>
        <p:spPr>
          <a:xfrm>
            <a:off x="6364224" y="4361688"/>
            <a:ext cx="2194560" cy="0"/>
          </a:xfrm>
          <a:prstGeom prst="line">
            <a:avLst/>
          </a:prstGeom>
          <a:noFill/>
          <a:ln w="12700">
            <a:solidFill>
              <a:srgbClr val="E1E8F2"/>
            </a:solidFill>
            <a:prstDash val="solid"/>
          </a:ln>
        </p:spPr>
      </p:sp>
      <p:sp>
        <p:nvSpPr>
          <p:cNvPr id="35" name="Text 33"/>
          <p:cNvSpPr txBox="1"/>
          <p:nvPr/>
        </p:nvSpPr>
        <p:spPr>
          <a:xfrm>
            <a:off x="6364224" y="4608576"/>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Team and gap</a:t>
            </a:r>
            <a:endParaRPr lang="en-US" sz="1050" dirty="0"/>
          </a:p>
        </p:txBody>
      </p:sp>
      <p:sp>
        <p:nvSpPr>
          <p:cNvPr id="36" name="Shape 34"/>
          <p:cNvSpPr/>
          <p:nvPr/>
        </p:nvSpPr>
        <p:spPr>
          <a:xfrm>
            <a:off x="6364224" y="4928616"/>
            <a:ext cx="2194560" cy="0"/>
          </a:xfrm>
          <a:prstGeom prst="line">
            <a:avLst/>
          </a:prstGeom>
          <a:noFill/>
          <a:ln w="12700">
            <a:solidFill>
              <a:srgbClr val="E1E8F2"/>
            </a:solidFill>
            <a:prstDash val="solid"/>
          </a:ln>
        </p:spPr>
      </p:sp>
      <p:sp>
        <p:nvSpPr>
          <p:cNvPr id="37" name="Shape 35"/>
          <p:cNvSpPr/>
          <p:nvPr/>
        </p:nvSpPr>
        <p:spPr>
          <a:xfrm>
            <a:off x="8924544" y="2743200"/>
            <a:ext cx="2596896" cy="2423160"/>
          </a:xfrm>
          <a:prstGeom prst="roundRect">
            <a:avLst>
              <a:gd name="adj" fmla="val 3774"/>
            </a:avLst>
          </a:prstGeom>
          <a:solidFill>
            <a:srgbClr val="FFFFFF"/>
          </a:solidFill>
          <a:ln w="12700">
            <a:solidFill>
              <a:srgbClr val="C9D4E6"/>
            </a:solidFill>
            <a:prstDash val="solid"/>
          </a:ln>
        </p:spPr>
      </p:sp>
      <p:sp>
        <p:nvSpPr>
          <p:cNvPr id="38" name="Shape 36"/>
          <p:cNvSpPr/>
          <p:nvPr/>
        </p:nvSpPr>
        <p:spPr>
          <a:xfrm>
            <a:off x="8924544" y="2743200"/>
            <a:ext cx="2596896" cy="502920"/>
          </a:xfrm>
          <a:prstGeom prst="rect">
            <a:avLst/>
          </a:prstGeom>
          <a:solidFill>
            <a:srgbClr val="3E5C8A"/>
          </a:solidFill>
          <a:ln/>
        </p:spPr>
      </p:sp>
      <p:sp>
        <p:nvSpPr>
          <p:cNvPr id="39" name="Text 37"/>
          <p:cNvSpPr txBox="1"/>
          <p:nvPr/>
        </p:nvSpPr>
        <p:spPr>
          <a:xfrm>
            <a:off x="9070848" y="274320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Route to market</a:t>
            </a:r>
            <a:endParaRPr lang="en-US" sz="1150" dirty="0"/>
          </a:p>
        </p:txBody>
      </p:sp>
      <p:sp>
        <p:nvSpPr>
          <p:cNvPr id="40" name="Text 38"/>
          <p:cNvSpPr txBox="1"/>
          <p:nvPr/>
        </p:nvSpPr>
        <p:spPr>
          <a:xfrm>
            <a:off x="9125712" y="347472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Alliances</a:t>
            </a:r>
            <a:endParaRPr lang="en-US" sz="1050" dirty="0"/>
          </a:p>
        </p:txBody>
      </p:sp>
      <p:sp>
        <p:nvSpPr>
          <p:cNvPr id="41" name="Shape 39"/>
          <p:cNvSpPr/>
          <p:nvPr/>
        </p:nvSpPr>
        <p:spPr>
          <a:xfrm>
            <a:off x="9125712" y="3794760"/>
            <a:ext cx="2194560" cy="0"/>
          </a:xfrm>
          <a:prstGeom prst="line">
            <a:avLst/>
          </a:prstGeom>
          <a:noFill/>
          <a:ln w="12700">
            <a:solidFill>
              <a:srgbClr val="E1E8F2"/>
            </a:solidFill>
            <a:prstDash val="solid"/>
          </a:ln>
        </p:spPr>
      </p:sp>
      <p:sp>
        <p:nvSpPr>
          <p:cNvPr id="42" name="Text 40"/>
          <p:cNvSpPr txBox="1"/>
          <p:nvPr/>
        </p:nvSpPr>
        <p:spPr>
          <a:xfrm>
            <a:off x="9125712" y="404164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Eminence</a:t>
            </a:r>
            <a:endParaRPr lang="en-US" sz="1050" dirty="0"/>
          </a:p>
        </p:txBody>
      </p:sp>
      <p:sp>
        <p:nvSpPr>
          <p:cNvPr id="43" name="Shape 41"/>
          <p:cNvSpPr/>
          <p:nvPr/>
        </p:nvSpPr>
        <p:spPr>
          <a:xfrm>
            <a:off x="9125712" y="4361688"/>
            <a:ext cx="2194560" cy="0"/>
          </a:xfrm>
          <a:prstGeom prst="line">
            <a:avLst/>
          </a:prstGeom>
          <a:noFill/>
          <a:ln w="12700">
            <a:solidFill>
              <a:srgbClr val="E1E8F2"/>
            </a:solidFill>
            <a:prstDash val="solid"/>
          </a:ln>
        </p:spPr>
      </p:sp>
      <p:sp>
        <p:nvSpPr>
          <p:cNvPr id="44" name="Text 42"/>
          <p:cNvSpPr txBox="1"/>
          <p:nvPr/>
        </p:nvSpPr>
        <p:spPr>
          <a:xfrm>
            <a:off x="9125712" y="4608576"/>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Differentiation</a:t>
            </a:r>
            <a:endParaRPr lang="en-US" sz="1050" dirty="0"/>
          </a:p>
        </p:txBody>
      </p:sp>
      <p:sp>
        <p:nvSpPr>
          <p:cNvPr id="45" name="Shape 43"/>
          <p:cNvSpPr/>
          <p:nvPr/>
        </p:nvSpPr>
        <p:spPr>
          <a:xfrm>
            <a:off x="9125712" y="4928616"/>
            <a:ext cx="2194560" cy="0"/>
          </a:xfrm>
          <a:prstGeom prst="line">
            <a:avLst/>
          </a:prstGeom>
          <a:noFill/>
          <a:ln w="12700">
            <a:solidFill>
              <a:srgbClr val="E1E8F2"/>
            </a:solidFill>
            <a:prstDash val="solid"/>
          </a:ln>
        </p:spPr>
      </p:sp>
      <p:sp>
        <p:nvSpPr>
          <p:cNvPr id="46" name="Shape 44"/>
          <p:cNvSpPr/>
          <p:nvPr/>
        </p:nvSpPr>
        <p:spPr>
          <a:xfrm>
            <a:off x="640080" y="5376672"/>
            <a:ext cx="10881360" cy="530352"/>
          </a:xfrm>
          <a:prstGeom prst="roundRect">
            <a:avLst>
              <a:gd name="adj" fmla="val 17241"/>
            </a:avLst>
          </a:prstGeom>
          <a:solidFill>
            <a:srgbClr val="FFFFFF"/>
          </a:solidFill>
          <a:ln w="15875">
            <a:solidFill>
              <a:srgbClr val="1E2761"/>
            </a:solidFill>
            <a:prstDash val="solid"/>
          </a:ln>
        </p:spPr>
      </p:sp>
      <p:sp>
        <p:nvSpPr>
          <p:cNvPr id="47" name="Text 45"/>
          <p:cNvSpPr txBox="1"/>
          <p:nvPr/>
        </p:nvSpPr>
        <p:spPr>
          <a:xfrm>
            <a:off x="914400" y="5376672"/>
            <a:ext cx="1920240" cy="530352"/>
          </a:xfrm>
          <a:prstGeom prst="rect">
            <a:avLst/>
          </a:prstGeom>
          <a:noFill/>
          <a:ln/>
        </p:spPr>
        <p:txBody>
          <a:bodyPr wrap="square" lIns="0" tIns="0" rIns="0" bIns="0" rtlCol="0" anchor="ctr"/>
          <a:lstStyle/>
          <a:p>
            <a:pPr indent="0" marL="0">
              <a:buNone/>
            </a:pPr>
            <a:r>
              <a:rPr lang="en-US" sz="1150" b="1" spc="140" kern="0" dirty="0">
                <a:solidFill>
                  <a:srgbClr val="1E2761"/>
                </a:solidFill>
                <a:latin typeface="Calibri" pitchFamily="34" charset="0"/>
                <a:ea typeface="Calibri" pitchFamily="34" charset="-122"/>
                <a:cs typeface="Calibri" pitchFamily="34" charset="-120"/>
              </a:rPr>
              <a:t>INITIATIVES</a:t>
            </a:r>
            <a:endParaRPr lang="en-US" sz="1150" dirty="0"/>
          </a:p>
        </p:txBody>
      </p:sp>
      <p:sp>
        <p:nvSpPr>
          <p:cNvPr id="48" name="Shape 46"/>
          <p:cNvSpPr/>
          <p:nvPr/>
        </p:nvSpPr>
        <p:spPr>
          <a:xfrm>
            <a:off x="2926080" y="5742432"/>
            <a:ext cx="8321040" cy="0"/>
          </a:xfrm>
          <a:prstGeom prst="line">
            <a:avLst/>
          </a:prstGeom>
          <a:noFill/>
          <a:ln w="12700">
            <a:solidFill>
              <a:srgbClr val="C9D4E6"/>
            </a:solidFill>
            <a:prstDash val="solid"/>
          </a:ln>
        </p:spPr>
      </p:sp>
      <p:sp>
        <p:nvSpPr>
          <p:cNvPr id="49" name="Shape 47"/>
          <p:cNvSpPr/>
          <p:nvPr/>
        </p:nvSpPr>
        <p:spPr>
          <a:xfrm>
            <a:off x="640080" y="5998464"/>
            <a:ext cx="10881360" cy="530352"/>
          </a:xfrm>
          <a:prstGeom prst="roundRect">
            <a:avLst>
              <a:gd name="adj" fmla="val 17241"/>
            </a:avLst>
          </a:prstGeom>
          <a:solidFill>
            <a:srgbClr val="FFFFFF"/>
          </a:solidFill>
          <a:ln w="15875">
            <a:solidFill>
              <a:srgbClr val="1E2761"/>
            </a:solidFill>
            <a:prstDash val="solid"/>
          </a:ln>
        </p:spPr>
      </p:sp>
      <p:sp>
        <p:nvSpPr>
          <p:cNvPr id="50" name="Text 48"/>
          <p:cNvSpPr txBox="1"/>
          <p:nvPr/>
        </p:nvSpPr>
        <p:spPr>
          <a:xfrm>
            <a:off x="914400" y="5998464"/>
            <a:ext cx="1920240" cy="530352"/>
          </a:xfrm>
          <a:prstGeom prst="rect">
            <a:avLst/>
          </a:prstGeom>
          <a:noFill/>
          <a:ln/>
        </p:spPr>
        <p:txBody>
          <a:bodyPr wrap="square" lIns="0" tIns="0" rIns="0" bIns="0" rtlCol="0" anchor="ctr"/>
          <a:lstStyle/>
          <a:p>
            <a:pPr indent="0" marL="0">
              <a:buNone/>
            </a:pPr>
            <a:r>
              <a:rPr lang="en-US" sz="1150" b="1" spc="140" kern="0" dirty="0">
                <a:solidFill>
                  <a:srgbClr val="1E2761"/>
                </a:solidFill>
                <a:latin typeface="Calibri" pitchFamily="34" charset="0"/>
                <a:ea typeface="Calibri" pitchFamily="34" charset="-122"/>
                <a:cs typeface="Calibri" pitchFamily="34" charset="-120"/>
              </a:rPr>
              <a:t>DISCIPLINE</a:t>
            </a:r>
            <a:endParaRPr lang="en-US" sz="1150" dirty="0"/>
          </a:p>
        </p:txBody>
      </p:sp>
      <p:sp>
        <p:nvSpPr>
          <p:cNvPr id="51" name="Shape 49"/>
          <p:cNvSpPr/>
          <p:nvPr/>
        </p:nvSpPr>
        <p:spPr>
          <a:xfrm>
            <a:off x="2926080" y="6364224"/>
            <a:ext cx="8321040" cy="0"/>
          </a:xfrm>
          <a:prstGeom prst="line">
            <a:avLst/>
          </a:prstGeom>
          <a:noFill/>
          <a:ln w="12700">
            <a:solidFill>
              <a:srgbClr val="C9D4E6"/>
            </a:solidFill>
            <a:prstDash val="solid"/>
          </a:ln>
        </p:spPr>
      </p:sp>
      <p:sp>
        <p:nvSpPr>
          <p:cNvPr id="52" name="Text 50"/>
          <p:cNvSpPr txBox="1"/>
          <p:nvPr/>
        </p:nvSpPr>
        <p:spPr>
          <a:xfrm>
            <a:off x="640080" y="6601968"/>
            <a:ext cx="10881360" cy="256032"/>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One sheet, one version, dated — aligned to the portfolio and industry strategies. Everything behind it is in the templates that follow.</a:t>
            </a:r>
            <a:endParaRPr lang="en-US" sz="11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proposition one-pager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One sheet per proposition in the catalogue. Every dimension on a single page.</a:t>
            </a:r>
            <a:endParaRPr lang="en-US" sz="1450" dirty="0"/>
          </a:p>
        </p:txBody>
      </p:sp>
      <p:sp>
        <p:nvSpPr>
          <p:cNvPr id="4" name="Shape 2"/>
          <p:cNvSpPr/>
          <p:nvPr/>
        </p:nvSpPr>
        <p:spPr>
          <a:xfrm>
            <a:off x="640080" y="1783080"/>
            <a:ext cx="10881360" cy="658368"/>
          </a:xfrm>
          <a:prstGeom prst="roundRect">
            <a:avLst>
              <a:gd name="adj" fmla="val 13889"/>
            </a:avLst>
          </a:prstGeom>
          <a:solidFill>
            <a:srgbClr val="1E2761"/>
          </a:solidFill>
          <a:ln/>
        </p:spPr>
      </p:sp>
      <p:sp>
        <p:nvSpPr>
          <p:cNvPr id="5" name="Text 3"/>
          <p:cNvSpPr txBox="1"/>
          <p:nvPr/>
        </p:nvSpPr>
        <p:spPr>
          <a:xfrm>
            <a:off x="914400" y="1783080"/>
            <a:ext cx="1920240" cy="658368"/>
          </a:xfrm>
          <a:prstGeom prst="rect">
            <a:avLst/>
          </a:prstGeom>
          <a:noFill/>
          <a:ln/>
        </p:spPr>
        <p:txBody>
          <a:bodyPr wrap="square" lIns="0" tIns="0" rIns="0" bIns="0" rtlCol="0" anchor="ctr"/>
          <a:lstStyle/>
          <a:p>
            <a:pPr indent="0" marL="0">
              <a:buNone/>
            </a:pPr>
            <a:r>
              <a:rPr lang="en-US" sz="1150" b="1" spc="150" kern="0" dirty="0">
                <a:solidFill>
                  <a:srgbClr val="CADCFC"/>
                </a:solidFill>
                <a:latin typeface="Calibri" pitchFamily="34" charset="0"/>
                <a:ea typeface="Calibri" pitchFamily="34" charset="-122"/>
                <a:cs typeface="Calibri" pitchFamily="34" charset="-120"/>
              </a:rPr>
              <a:t>PROPOSITION</a:t>
            </a:r>
            <a:endParaRPr lang="en-US" sz="1150" dirty="0"/>
          </a:p>
        </p:txBody>
      </p:sp>
      <p:sp>
        <p:nvSpPr>
          <p:cNvPr id="6" name="Shape 4"/>
          <p:cNvSpPr/>
          <p:nvPr/>
        </p:nvSpPr>
        <p:spPr>
          <a:xfrm>
            <a:off x="2926080" y="2212848"/>
            <a:ext cx="4937760" cy="0"/>
          </a:xfrm>
          <a:prstGeom prst="line">
            <a:avLst/>
          </a:prstGeom>
          <a:noFill/>
          <a:ln w="12700">
            <a:solidFill>
              <a:srgbClr val="5C6E96"/>
            </a:solidFill>
            <a:prstDash val="solid"/>
          </a:ln>
        </p:spPr>
      </p:sp>
      <p:sp>
        <p:nvSpPr>
          <p:cNvPr id="7" name="Text 5"/>
          <p:cNvSpPr txBox="1"/>
          <p:nvPr/>
        </p:nvSpPr>
        <p:spPr>
          <a:xfrm>
            <a:off x="8138160" y="1783080"/>
            <a:ext cx="2194560" cy="658368"/>
          </a:xfrm>
          <a:prstGeom prst="rect">
            <a:avLst/>
          </a:prstGeom>
          <a:noFill/>
          <a:ln/>
        </p:spPr>
        <p:txBody>
          <a:bodyPr wrap="square" lIns="0" tIns="0" rIns="0" bIns="0" rtlCol="0" anchor="ctr"/>
          <a:lstStyle/>
          <a:p>
            <a:pPr indent="0" marL="0">
              <a:buNone/>
            </a:pPr>
            <a:r>
              <a:rPr lang="en-US" sz="950" b="1" spc="100" kern="0" dirty="0">
                <a:solidFill>
                  <a:srgbClr val="9AA7C4"/>
                </a:solidFill>
                <a:latin typeface="Calibri" pitchFamily="34" charset="0"/>
                <a:ea typeface="Calibri" pitchFamily="34" charset="-122"/>
                <a:cs typeface="Calibri" pitchFamily="34" charset="-120"/>
              </a:rPr>
              <a:t>LEAD OFFERING</a:t>
            </a:r>
            <a:endParaRPr lang="en-US" sz="950" dirty="0"/>
          </a:p>
        </p:txBody>
      </p:sp>
      <p:sp>
        <p:nvSpPr>
          <p:cNvPr id="8" name="Shape 6"/>
          <p:cNvSpPr/>
          <p:nvPr/>
        </p:nvSpPr>
        <p:spPr>
          <a:xfrm>
            <a:off x="10332720" y="2212848"/>
            <a:ext cx="1005840" cy="0"/>
          </a:xfrm>
          <a:prstGeom prst="line">
            <a:avLst/>
          </a:prstGeom>
          <a:noFill/>
          <a:ln w="12700">
            <a:solidFill>
              <a:srgbClr val="5C6E96"/>
            </a:solidFill>
            <a:prstDash val="solid"/>
          </a:ln>
        </p:spPr>
      </p:sp>
      <p:sp>
        <p:nvSpPr>
          <p:cNvPr id="9" name="Shape 7"/>
          <p:cNvSpPr/>
          <p:nvPr/>
        </p:nvSpPr>
        <p:spPr>
          <a:xfrm>
            <a:off x="640080" y="2606040"/>
            <a:ext cx="3520440" cy="1143000"/>
          </a:xfrm>
          <a:prstGeom prst="roundRect">
            <a:avLst>
              <a:gd name="adj" fmla="val 8000"/>
            </a:avLst>
          </a:prstGeom>
          <a:solidFill>
            <a:srgbClr val="FFFFFF"/>
          </a:solidFill>
          <a:ln w="12700">
            <a:solidFill>
              <a:srgbClr val="C9D4E6"/>
            </a:solidFill>
            <a:prstDash val="solid"/>
          </a:ln>
        </p:spPr>
      </p:sp>
      <p:sp>
        <p:nvSpPr>
          <p:cNvPr id="10" name="Text 8"/>
          <p:cNvSpPr txBox="1"/>
          <p:nvPr/>
        </p:nvSpPr>
        <p:spPr>
          <a:xfrm>
            <a:off x="822960" y="267919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What it is, and the use cases we lead with</a:t>
            </a:r>
            <a:endParaRPr lang="en-US" sz="1050" dirty="0"/>
          </a:p>
        </p:txBody>
      </p:sp>
      <p:sp>
        <p:nvSpPr>
          <p:cNvPr id="11" name="Shape 9"/>
          <p:cNvSpPr/>
          <p:nvPr/>
        </p:nvSpPr>
        <p:spPr>
          <a:xfrm>
            <a:off x="822960" y="3264408"/>
            <a:ext cx="3154680" cy="0"/>
          </a:xfrm>
          <a:prstGeom prst="line">
            <a:avLst/>
          </a:prstGeom>
          <a:noFill/>
          <a:ln w="12700">
            <a:solidFill>
              <a:srgbClr val="E1E8F2"/>
            </a:solidFill>
            <a:prstDash val="solid"/>
          </a:ln>
        </p:spPr>
      </p:sp>
      <p:sp>
        <p:nvSpPr>
          <p:cNvPr id="12" name="Shape 10"/>
          <p:cNvSpPr/>
          <p:nvPr/>
        </p:nvSpPr>
        <p:spPr>
          <a:xfrm>
            <a:off x="822960" y="3557016"/>
            <a:ext cx="3154680" cy="0"/>
          </a:xfrm>
          <a:prstGeom prst="line">
            <a:avLst/>
          </a:prstGeom>
          <a:noFill/>
          <a:ln w="12700">
            <a:solidFill>
              <a:srgbClr val="E1E8F2"/>
            </a:solidFill>
            <a:prstDash val="solid"/>
          </a:ln>
        </p:spPr>
      </p:sp>
      <p:sp>
        <p:nvSpPr>
          <p:cNvPr id="13" name="Shape 11"/>
          <p:cNvSpPr/>
          <p:nvPr/>
        </p:nvSpPr>
        <p:spPr>
          <a:xfrm>
            <a:off x="4325112" y="2606040"/>
            <a:ext cx="3520440" cy="1143000"/>
          </a:xfrm>
          <a:prstGeom prst="roundRect">
            <a:avLst>
              <a:gd name="adj" fmla="val 8000"/>
            </a:avLst>
          </a:prstGeom>
          <a:solidFill>
            <a:srgbClr val="FFFFFF"/>
          </a:solidFill>
          <a:ln w="12700">
            <a:solidFill>
              <a:srgbClr val="C9D4E6"/>
            </a:solidFill>
            <a:prstDash val="solid"/>
          </a:ln>
        </p:spPr>
      </p:sp>
      <p:sp>
        <p:nvSpPr>
          <p:cNvPr id="14" name="Text 12"/>
          <p:cNvSpPr txBox="1"/>
          <p:nvPr/>
        </p:nvSpPr>
        <p:spPr>
          <a:xfrm>
            <a:off x="4507992" y="267919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Sectors it serves, and the buyer in each</a:t>
            </a:r>
            <a:endParaRPr lang="en-US" sz="1050" dirty="0"/>
          </a:p>
        </p:txBody>
      </p:sp>
      <p:sp>
        <p:nvSpPr>
          <p:cNvPr id="15" name="Shape 13"/>
          <p:cNvSpPr/>
          <p:nvPr/>
        </p:nvSpPr>
        <p:spPr>
          <a:xfrm>
            <a:off x="4507992" y="3264408"/>
            <a:ext cx="3154680" cy="0"/>
          </a:xfrm>
          <a:prstGeom prst="line">
            <a:avLst/>
          </a:prstGeom>
          <a:noFill/>
          <a:ln w="12700">
            <a:solidFill>
              <a:srgbClr val="E1E8F2"/>
            </a:solidFill>
            <a:prstDash val="solid"/>
          </a:ln>
        </p:spPr>
      </p:sp>
      <p:sp>
        <p:nvSpPr>
          <p:cNvPr id="16" name="Shape 14"/>
          <p:cNvSpPr/>
          <p:nvPr/>
        </p:nvSpPr>
        <p:spPr>
          <a:xfrm>
            <a:off x="4507992" y="3557016"/>
            <a:ext cx="3154680" cy="0"/>
          </a:xfrm>
          <a:prstGeom prst="line">
            <a:avLst/>
          </a:prstGeom>
          <a:noFill/>
          <a:ln w="12700">
            <a:solidFill>
              <a:srgbClr val="E1E8F2"/>
            </a:solidFill>
            <a:prstDash val="solid"/>
          </a:ln>
        </p:spPr>
      </p:sp>
      <p:sp>
        <p:nvSpPr>
          <p:cNvPr id="17" name="Shape 15"/>
          <p:cNvSpPr/>
          <p:nvPr/>
        </p:nvSpPr>
        <p:spPr>
          <a:xfrm>
            <a:off x="8010144" y="2606040"/>
            <a:ext cx="3520440" cy="1143000"/>
          </a:xfrm>
          <a:prstGeom prst="roundRect">
            <a:avLst>
              <a:gd name="adj" fmla="val 8000"/>
            </a:avLst>
          </a:prstGeom>
          <a:solidFill>
            <a:srgbClr val="FFFFFF"/>
          </a:solidFill>
          <a:ln w="12700">
            <a:solidFill>
              <a:srgbClr val="C9D4E6"/>
            </a:solidFill>
            <a:prstDash val="solid"/>
          </a:ln>
        </p:spPr>
      </p:sp>
      <p:sp>
        <p:nvSpPr>
          <p:cNvPr id="18" name="Text 16"/>
          <p:cNvSpPr txBox="1"/>
          <p:nvPr/>
        </p:nvSpPr>
        <p:spPr>
          <a:xfrm>
            <a:off x="8193024" y="267919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Archetypes and permitted variants</a:t>
            </a:r>
            <a:endParaRPr lang="en-US" sz="1050" dirty="0"/>
          </a:p>
        </p:txBody>
      </p:sp>
      <p:sp>
        <p:nvSpPr>
          <p:cNvPr id="19" name="Shape 17"/>
          <p:cNvSpPr/>
          <p:nvPr/>
        </p:nvSpPr>
        <p:spPr>
          <a:xfrm>
            <a:off x="8193024" y="3264408"/>
            <a:ext cx="3154680" cy="0"/>
          </a:xfrm>
          <a:prstGeom prst="line">
            <a:avLst/>
          </a:prstGeom>
          <a:noFill/>
          <a:ln w="12700">
            <a:solidFill>
              <a:srgbClr val="E1E8F2"/>
            </a:solidFill>
            <a:prstDash val="solid"/>
          </a:ln>
        </p:spPr>
      </p:sp>
      <p:sp>
        <p:nvSpPr>
          <p:cNvPr id="20" name="Shape 18"/>
          <p:cNvSpPr/>
          <p:nvPr/>
        </p:nvSpPr>
        <p:spPr>
          <a:xfrm>
            <a:off x="8193024" y="3557016"/>
            <a:ext cx="3154680" cy="0"/>
          </a:xfrm>
          <a:prstGeom prst="line">
            <a:avLst/>
          </a:prstGeom>
          <a:noFill/>
          <a:ln w="12700">
            <a:solidFill>
              <a:srgbClr val="E1E8F2"/>
            </a:solidFill>
            <a:prstDash val="solid"/>
          </a:ln>
        </p:spPr>
      </p:sp>
      <p:sp>
        <p:nvSpPr>
          <p:cNvPr id="21" name="Shape 19"/>
          <p:cNvSpPr/>
          <p:nvPr/>
        </p:nvSpPr>
        <p:spPr>
          <a:xfrm>
            <a:off x="640080" y="3886200"/>
            <a:ext cx="3520440" cy="1143000"/>
          </a:xfrm>
          <a:prstGeom prst="roundRect">
            <a:avLst>
              <a:gd name="adj" fmla="val 8000"/>
            </a:avLst>
          </a:prstGeom>
          <a:solidFill>
            <a:srgbClr val="FFFFFF"/>
          </a:solidFill>
          <a:ln w="12700">
            <a:solidFill>
              <a:srgbClr val="C9D4E6"/>
            </a:solidFill>
            <a:prstDash val="solid"/>
          </a:ln>
        </p:spPr>
      </p:sp>
      <p:sp>
        <p:nvSpPr>
          <p:cNvPr id="22" name="Text 20"/>
          <p:cNvSpPr txBox="1"/>
          <p:nvPr/>
        </p:nvSpPr>
        <p:spPr>
          <a:xfrm>
            <a:off x="822960" y="395935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Target markets and accounts</a:t>
            </a:r>
            <a:endParaRPr lang="en-US" sz="1050" dirty="0"/>
          </a:p>
        </p:txBody>
      </p:sp>
      <p:sp>
        <p:nvSpPr>
          <p:cNvPr id="23" name="Shape 21"/>
          <p:cNvSpPr/>
          <p:nvPr/>
        </p:nvSpPr>
        <p:spPr>
          <a:xfrm>
            <a:off x="822960" y="4544568"/>
            <a:ext cx="3154680" cy="0"/>
          </a:xfrm>
          <a:prstGeom prst="line">
            <a:avLst/>
          </a:prstGeom>
          <a:noFill/>
          <a:ln w="12700">
            <a:solidFill>
              <a:srgbClr val="E1E8F2"/>
            </a:solidFill>
            <a:prstDash val="solid"/>
          </a:ln>
        </p:spPr>
      </p:sp>
      <p:sp>
        <p:nvSpPr>
          <p:cNvPr id="24" name="Shape 22"/>
          <p:cNvSpPr/>
          <p:nvPr/>
        </p:nvSpPr>
        <p:spPr>
          <a:xfrm>
            <a:off x="822960" y="4837176"/>
            <a:ext cx="3154680" cy="0"/>
          </a:xfrm>
          <a:prstGeom prst="line">
            <a:avLst/>
          </a:prstGeom>
          <a:noFill/>
          <a:ln w="12700">
            <a:solidFill>
              <a:srgbClr val="E1E8F2"/>
            </a:solidFill>
            <a:prstDash val="solid"/>
          </a:ln>
        </p:spPr>
      </p:sp>
      <p:sp>
        <p:nvSpPr>
          <p:cNvPr id="25" name="Shape 23"/>
          <p:cNvSpPr/>
          <p:nvPr/>
        </p:nvSpPr>
        <p:spPr>
          <a:xfrm>
            <a:off x="4325112" y="3886200"/>
            <a:ext cx="3520440" cy="1143000"/>
          </a:xfrm>
          <a:prstGeom prst="roundRect">
            <a:avLst>
              <a:gd name="adj" fmla="val 8000"/>
            </a:avLst>
          </a:prstGeom>
          <a:solidFill>
            <a:srgbClr val="FFFFFF"/>
          </a:solidFill>
          <a:ln w="12700">
            <a:solidFill>
              <a:srgbClr val="C9D4E6"/>
            </a:solidFill>
            <a:prstDash val="solid"/>
          </a:ln>
        </p:spPr>
      </p:sp>
      <p:sp>
        <p:nvSpPr>
          <p:cNvPr id="26" name="Text 24"/>
          <p:cNvSpPr txBox="1"/>
          <p:nvPr/>
        </p:nvSpPr>
        <p:spPr>
          <a:xfrm>
            <a:off x="4507992" y="395935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Deal size and price band</a:t>
            </a:r>
            <a:endParaRPr lang="en-US" sz="1050" dirty="0"/>
          </a:p>
        </p:txBody>
      </p:sp>
      <p:sp>
        <p:nvSpPr>
          <p:cNvPr id="27" name="Shape 25"/>
          <p:cNvSpPr/>
          <p:nvPr/>
        </p:nvSpPr>
        <p:spPr>
          <a:xfrm>
            <a:off x="4507992" y="4544568"/>
            <a:ext cx="3154680" cy="0"/>
          </a:xfrm>
          <a:prstGeom prst="line">
            <a:avLst/>
          </a:prstGeom>
          <a:noFill/>
          <a:ln w="12700">
            <a:solidFill>
              <a:srgbClr val="E1E8F2"/>
            </a:solidFill>
            <a:prstDash val="solid"/>
          </a:ln>
        </p:spPr>
      </p:sp>
      <p:sp>
        <p:nvSpPr>
          <p:cNvPr id="28" name="Shape 26"/>
          <p:cNvSpPr/>
          <p:nvPr/>
        </p:nvSpPr>
        <p:spPr>
          <a:xfrm>
            <a:off x="4507992" y="4837176"/>
            <a:ext cx="3154680" cy="0"/>
          </a:xfrm>
          <a:prstGeom prst="line">
            <a:avLst/>
          </a:prstGeom>
          <a:noFill/>
          <a:ln w="12700">
            <a:solidFill>
              <a:srgbClr val="E1E8F2"/>
            </a:solidFill>
            <a:prstDash val="solid"/>
          </a:ln>
        </p:spPr>
      </p:sp>
      <p:sp>
        <p:nvSpPr>
          <p:cNvPr id="29" name="Shape 27"/>
          <p:cNvSpPr/>
          <p:nvPr/>
        </p:nvSpPr>
        <p:spPr>
          <a:xfrm>
            <a:off x="8010144" y="3886200"/>
            <a:ext cx="3520440" cy="1143000"/>
          </a:xfrm>
          <a:prstGeom prst="roundRect">
            <a:avLst>
              <a:gd name="adj" fmla="val 8000"/>
            </a:avLst>
          </a:prstGeom>
          <a:solidFill>
            <a:srgbClr val="FFFFFF"/>
          </a:solidFill>
          <a:ln w="12700">
            <a:solidFill>
              <a:srgbClr val="C9D4E6"/>
            </a:solidFill>
            <a:prstDash val="solid"/>
          </a:ln>
        </p:spPr>
      </p:sp>
      <p:sp>
        <p:nvSpPr>
          <p:cNvPr id="30" name="Text 28"/>
          <p:cNvSpPr txBox="1"/>
          <p:nvPr/>
        </p:nvSpPr>
        <p:spPr>
          <a:xfrm>
            <a:off x="8193024" y="395935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Delivery construct, accelerators, ADR and margin</a:t>
            </a:r>
            <a:endParaRPr lang="en-US" sz="1050" dirty="0"/>
          </a:p>
        </p:txBody>
      </p:sp>
      <p:sp>
        <p:nvSpPr>
          <p:cNvPr id="31" name="Shape 29"/>
          <p:cNvSpPr/>
          <p:nvPr/>
        </p:nvSpPr>
        <p:spPr>
          <a:xfrm>
            <a:off x="8193024" y="4544568"/>
            <a:ext cx="3154680" cy="0"/>
          </a:xfrm>
          <a:prstGeom prst="line">
            <a:avLst/>
          </a:prstGeom>
          <a:noFill/>
          <a:ln w="12700">
            <a:solidFill>
              <a:srgbClr val="E1E8F2"/>
            </a:solidFill>
            <a:prstDash val="solid"/>
          </a:ln>
        </p:spPr>
      </p:sp>
      <p:sp>
        <p:nvSpPr>
          <p:cNvPr id="32" name="Shape 30"/>
          <p:cNvSpPr/>
          <p:nvPr/>
        </p:nvSpPr>
        <p:spPr>
          <a:xfrm>
            <a:off x="8193024" y="4837176"/>
            <a:ext cx="3154680" cy="0"/>
          </a:xfrm>
          <a:prstGeom prst="line">
            <a:avLst/>
          </a:prstGeom>
          <a:noFill/>
          <a:ln w="12700">
            <a:solidFill>
              <a:srgbClr val="E1E8F2"/>
            </a:solidFill>
            <a:prstDash val="solid"/>
          </a:ln>
        </p:spPr>
      </p:sp>
      <p:sp>
        <p:nvSpPr>
          <p:cNvPr id="33" name="Shape 31"/>
          <p:cNvSpPr/>
          <p:nvPr/>
        </p:nvSpPr>
        <p:spPr>
          <a:xfrm>
            <a:off x="640080" y="5166360"/>
            <a:ext cx="3520440" cy="1143000"/>
          </a:xfrm>
          <a:prstGeom prst="roundRect">
            <a:avLst>
              <a:gd name="adj" fmla="val 8000"/>
            </a:avLst>
          </a:prstGeom>
          <a:solidFill>
            <a:srgbClr val="FFFFFF"/>
          </a:solidFill>
          <a:ln w="12700">
            <a:solidFill>
              <a:srgbClr val="C9D4E6"/>
            </a:solidFill>
            <a:prstDash val="solid"/>
          </a:ln>
        </p:spPr>
      </p:sp>
      <p:sp>
        <p:nvSpPr>
          <p:cNvPr id="34" name="Text 32"/>
          <p:cNvSpPr txBox="1"/>
          <p:nvPr/>
        </p:nvSpPr>
        <p:spPr>
          <a:xfrm>
            <a:off x="822960" y="523951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AI and innovation embedded in it</a:t>
            </a:r>
            <a:endParaRPr lang="en-US" sz="1050" dirty="0"/>
          </a:p>
        </p:txBody>
      </p:sp>
      <p:sp>
        <p:nvSpPr>
          <p:cNvPr id="35" name="Shape 33"/>
          <p:cNvSpPr/>
          <p:nvPr/>
        </p:nvSpPr>
        <p:spPr>
          <a:xfrm>
            <a:off x="822960" y="5824728"/>
            <a:ext cx="3154680" cy="0"/>
          </a:xfrm>
          <a:prstGeom prst="line">
            <a:avLst/>
          </a:prstGeom>
          <a:noFill/>
          <a:ln w="12700">
            <a:solidFill>
              <a:srgbClr val="E1E8F2"/>
            </a:solidFill>
            <a:prstDash val="solid"/>
          </a:ln>
        </p:spPr>
      </p:sp>
      <p:sp>
        <p:nvSpPr>
          <p:cNvPr id="36" name="Shape 34"/>
          <p:cNvSpPr/>
          <p:nvPr/>
        </p:nvSpPr>
        <p:spPr>
          <a:xfrm>
            <a:off x="822960" y="6117336"/>
            <a:ext cx="3154680" cy="0"/>
          </a:xfrm>
          <a:prstGeom prst="line">
            <a:avLst/>
          </a:prstGeom>
          <a:noFill/>
          <a:ln w="12700">
            <a:solidFill>
              <a:srgbClr val="E1E8F2"/>
            </a:solidFill>
            <a:prstDash val="solid"/>
          </a:ln>
        </p:spPr>
      </p:sp>
      <p:sp>
        <p:nvSpPr>
          <p:cNvPr id="37" name="Shape 35"/>
          <p:cNvSpPr/>
          <p:nvPr/>
        </p:nvSpPr>
        <p:spPr>
          <a:xfrm>
            <a:off x="4325112" y="5166360"/>
            <a:ext cx="3520440" cy="1143000"/>
          </a:xfrm>
          <a:prstGeom prst="roundRect">
            <a:avLst>
              <a:gd name="adj" fmla="val 8000"/>
            </a:avLst>
          </a:prstGeom>
          <a:solidFill>
            <a:srgbClr val="FFFFFF"/>
          </a:solidFill>
          <a:ln w="12700">
            <a:solidFill>
              <a:srgbClr val="C9D4E6"/>
            </a:solidFill>
            <a:prstDash val="solid"/>
          </a:ln>
        </p:spPr>
      </p:sp>
      <p:sp>
        <p:nvSpPr>
          <p:cNvPr id="38" name="Text 36"/>
          <p:cNvSpPr txBox="1"/>
          <p:nvPr/>
        </p:nvSpPr>
        <p:spPr>
          <a:xfrm>
            <a:off x="4507992" y="523951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Alliance behind it, and what they bring</a:t>
            </a:r>
            <a:endParaRPr lang="en-US" sz="1050" dirty="0"/>
          </a:p>
        </p:txBody>
      </p:sp>
      <p:sp>
        <p:nvSpPr>
          <p:cNvPr id="39" name="Shape 37"/>
          <p:cNvSpPr/>
          <p:nvPr/>
        </p:nvSpPr>
        <p:spPr>
          <a:xfrm>
            <a:off x="4507992" y="5824728"/>
            <a:ext cx="3154680" cy="0"/>
          </a:xfrm>
          <a:prstGeom prst="line">
            <a:avLst/>
          </a:prstGeom>
          <a:noFill/>
          <a:ln w="12700">
            <a:solidFill>
              <a:srgbClr val="E1E8F2"/>
            </a:solidFill>
            <a:prstDash val="solid"/>
          </a:ln>
        </p:spPr>
      </p:sp>
      <p:sp>
        <p:nvSpPr>
          <p:cNvPr id="40" name="Shape 38"/>
          <p:cNvSpPr/>
          <p:nvPr/>
        </p:nvSpPr>
        <p:spPr>
          <a:xfrm>
            <a:off x="4507992" y="6117336"/>
            <a:ext cx="3154680" cy="0"/>
          </a:xfrm>
          <a:prstGeom prst="line">
            <a:avLst/>
          </a:prstGeom>
          <a:noFill/>
          <a:ln w="12700">
            <a:solidFill>
              <a:srgbClr val="E1E8F2"/>
            </a:solidFill>
            <a:prstDash val="solid"/>
          </a:ln>
        </p:spPr>
      </p:sp>
      <p:sp>
        <p:nvSpPr>
          <p:cNvPr id="41" name="Shape 39"/>
          <p:cNvSpPr/>
          <p:nvPr/>
        </p:nvSpPr>
        <p:spPr>
          <a:xfrm>
            <a:off x="8010144" y="5166360"/>
            <a:ext cx="3520440" cy="1143000"/>
          </a:xfrm>
          <a:prstGeom prst="roundRect">
            <a:avLst>
              <a:gd name="adj" fmla="val 8000"/>
            </a:avLst>
          </a:prstGeom>
          <a:solidFill>
            <a:srgbClr val="FFFFFF"/>
          </a:solidFill>
          <a:ln w="12700">
            <a:solidFill>
              <a:srgbClr val="C9D4E6"/>
            </a:solidFill>
            <a:prstDash val="solid"/>
          </a:ln>
        </p:spPr>
      </p:sp>
      <p:sp>
        <p:nvSpPr>
          <p:cNvPr id="42" name="Text 40"/>
          <p:cNvSpPr txBox="1"/>
          <p:nvPr/>
        </p:nvSpPr>
        <p:spPr>
          <a:xfrm>
            <a:off x="8193024" y="523951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Credentials, eminence hooks and key roles</a:t>
            </a:r>
            <a:endParaRPr lang="en-US" sz="1050" dirty="0"/>
          </a:p>
        </p:txBody>
      </p:sp>
      <p:sp>
        <p:nvSpPr>
          <p:cNvPr id="43" name="Shape 41"/>
          <p:cNvSpPr/>
          <p:nvPr/>
        </p:nvSpPr>
        <p:spPr>
          <a:xfrm>
            <a:off x="8193024" y="5824728"/>
            <a:ext cx="3154680" cy="0"/>
          </a:xfrm>
          <a:prstGeom prst="line">
            <a:avLst/>
          </a:prstGeom>
          <a:noFill/>
          <a:ln w="12700">
            <a:solidFill>
              <a:srgbClr val="E1E8F2"/>
            </a:solidFill>
            <a:prstDash val="solid"/>
          </a:ln>
        </p:spPr>
      </p:sp>
      <p:sp>
        <p:nvSpPr>
          <p:cNvPr id="44" name="Shape 42"/>
          <p:cNvSpPr/>
          <p:nvPr/>
        </p:nvSpPr>
        <p:spPr>
          <a:xfrm>
            <a:off x="8193024" y="6117336"/>
            <a:ext cx="3154680" cy="0"/>
          </a:xfrm>
          <a:prstGeom prst="line">
            <a:avLst/>
          </a:prstGeom>
          <a:noFill/>
          <a:ln w="12700">
            <a:solidFill>
              <a:srgbClr val="E1E8F2"/>
            </a:solidFill>
            <a:prstDash val="solid"/>
          </a:ln>
        </p:spPr>
      </p:sp>
      <p:sp>
        <p:nvSpPr>
          <p:cNvPr id="45" name="Text 43"/>
          <p:cNvSpPr txBox="1"/>
          <p:nvPr/>
        </p:nvSpPr>
        <p:spPr>
          <a:xfrm>
            <a:off x="640080" y="6400800"/>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One page per proposition. If a box cannot be filled, the proposition is not ready for the catalogue.</a:t>
            </a:r>
            <a:endParaRPr lang="en-US" sz="11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market prioritisation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Market and clients · one row per market.</a:t>
            </a:r>
            <a:endParaRPr lang="en-US" sz="145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94560"/>
                <a:gridCol w="3200400"/>
                <a:gridCol w="3291840"/>
                <a:gridCol w="1097280"/>
                <a:gridCol w="10972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Sectors and segments in focus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Why this 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Tier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7" name="Text 4"/>
          <p:cNvSpPr txBox="1"/>
          <p:nvPr/>
        </p:nvSpPr>
        <p:spPr>
          <a:xfrm>
            <a:off x="2944368" y="1965960"/>
            <a:ext cx="3017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Sectors and segments in focus</a:t>
            </a:r>
            <a:endParaRPr lang="en-US" sz="1150" dirty="0"/>
          </a:p>
        </p:txBody>
      </p:sp>
      <p:sp>
        <p:nvSpPr>
          <p:cNvPr id="8" name="Text 5"/>
          <p:cNvSpPr txBox="1"/>
          <p:nvPr/>
        </p:nvSpPr>
        <p:spPr>
          <a:xfrm>
            <a:off x="6144768" y="1965960"/>
            <a:ext cx="31089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Why this market</a:t>
            </a:r>
            <a:endParaRPr lang="en-US" sz="1150" dirty="0"/>
          </a:p>
        </p:txBody>
      </p:sp>
      <p:sp>
        <p:nvSpPr>
          <p:cNvPr id="9" name="Text 6"/>
          <p:cNvSpPr txBox="1"/>
          <p:nvPr/>
        </p:nvSpPr>
        <p:spPr>
          <a:xfrm>
            <a:off x="943660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p>
        </p:txBody>
      </p:sp>
      <p:sp>
        <p:nvSpPr>
          <p:cNvPr id="10" name="Text 7"/>
          <p:cNvSpPr txBox="1"/>
          <p:nvPr/>
        </p:nvSpPr>
        <p:spPr>
          <a:xfrm>
            <a:off x="1053388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Tier one or tier two, per sector where they differ. Rationale should stand on evidence, not familiarity.</a:t>
            </a:r>
            <a:endParaRPr lang="en-US" sz="12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target accounts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our view inside the single firm account plan — one row per named account.</a:t>
            </a:r>
            <a:endParaRPr lang="en-US" sz="145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920240"/>
                <a:gridCol w="1188720"/>
                <a:gridCol w="1097280"/>
                <a:gridCol w="731520"/>
                <a:gridCol w="2560320"/>
                <a:gridCol w="1188720"/>
                <a:gridCol w="1188720"/>
                <a:gridCol w="100584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Sector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Tier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Propositions we lead with</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Alliance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Stage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a:t>
            </a:r>
            <a:endParaRPr lang="en-US" sz="1150" dirty="0"/>
          </a:p>
        </p:txBody>
      </p:sp>
      <p:sp>
        <p:nvSpPr>
          <p:cNvPr id="7" name="Text 4"/>
          <p:cNvSpPr txBox="1"/>
          <p:nvPr/>
        </p:nvSpPr>
        <p:spPr>
          <a:xfrm>
            <a:off x="267004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Sector</a:t>
            </a:r>
            <a:endParaRPr lang="en-US" sz="1150" dirty="0"/>
          </a:p>
        </p:txBody>
      </p:sp>
      <p:sp>
        <p:nvSpPr>
          <p:cNvPr id="8" name="Text 5"/>
          <p:cNvSpPr txBox="1"/>
          <p:nvPr/>
        </p:nvSpPr>
        <p:spPr>
          <a:xfrm>
            <a:off x="385876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9" name="Text 6"/>
          <p:cNvSpPr txBox="1"/>
          <p:nvPr/>
        </p:nvSpPr>
        <p:spPr>
          <a:xfrm>
            <a:off x="4956048" y="1965960"/>
            <a:ext cx="5486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p>
        </p:txBody>
      </p:sp>
      <p:sp>
        <p:nvSpPr>
          <p:cNvPr id="10" name="Text 7"/>
          <p:cNvSpPr txBox="1"/>
          <p:nvPr/>
        </p:nvSpPr>
        <p:spPr>
          <a:xfrm>
            <a:off x="5687568" y="1965960"/>
            <a:ext cx="23774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Propositions we lead with</a:t>
            </a:r>
            <a:endParaRPr lang="en-US" sz="1150" dirty="0"/>
          </a:p>
        </p:txBody>
      </p:sp>
      <p:sp>
        <p:nvSpPr>
          <p:cNvPr id="11" name="Text 8"/>
          <p:cNvSpPr txBox="1"/>
          <p:nvPr/>
        </p:nvSpPr>
        <p:spPr>
          <a:xfrm>
            <a:off x="824788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Alliance</a:t>
            </a:r>
            <a:endParaRPr lang="en-US" sz="1150" dirty="0"/>
          </a:p>
        </p:txBody>
      </p:sp>
      <p:sp>
        <p:nvSpPr>
          <p:cNvPr id="12" name="Text 9"/>
          <p:cNvSpPr txBox="1"/>
          <p:nvPr/>
        </p:nvSpPr>
        <p:spPr>
          <a:xfrm>
            <a:off x="943660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3" name="Text 10"/>
          <p:cNvSpPr txBox="1"/>
          <p:nvPr/>
        </p:nvSpPr>
        <p:spPr>
          <a:xfrm>
            <a:off x="10625328" y="1965960"/>
            <a:ext cx="8229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Stage</a:t>
            </a:r>
            <a:endParaRPr lang="en-US" sz="1150" dirty="0"/>
          </a:p>
        </p:txBody>
      </p:sp>
      <p:sp>
        <p:nvSpPr>
          <p:cNvPr id="14" name="Text 11"/>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One plan per account, owned by the firm. This is the EAI&amp;D layer inside it, not a second plan.</a:t>
            </a:r>
            <a:endParaRPr lang="en-US" sz="12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account revenue plan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the EAI&amp;D ambition inside each account plan — one row per account and offering.</a:t>
            </a:r>
            <a:endParaRPr lang="en-US" sz="145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286000"/>
                <a:gridCol w="2743200"/>
                <a:gridCol w="1371600"/>
                <a:gridCol w="1554480"/>
                <a:gridCol w="1554480"/>
                <a:gridCol w="13716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 targeted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Timeframe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Gross revenue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Net revenue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Confidence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031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a:t>
            </a:r>
            <a:endParaRPr lang="en-US" sz="1150" dirty="0"/>
          </a:p>
        </p:txBody>
      </p:sp>
      <p:sp>
        <p:nvSpPr>
          <p:cNvPr id="7" name="Text 4"/>
          <p:cNvSpPr txBox="1"/>
          <p:nvPr/>
        </p:nvSpPr>
        <p:spPr>
          <a:xfrm>
            <a:off x="3035808" y="1965960"/>
            <a:ext cx="25603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 targeted</a:t>
            </a:r>
            <a:endParaRPr lang="en-US" sz="1150" dirty="0"/>
          </a:p>
        </p:txBody>
      </p:sp>
      <p:sp>
        <p:nvSpPr>
          <p:cNvPr id="8" name="Text 5"/>
          <p:cNvSpPr txBox="1"/>
          <p:nvPr/>
        </p:nvSpPr>
        <p:spPr>
          <a:xfrm>
            <a:off x="577900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Timeframe</a:t>
            </a:r>
            <a:endParaRPr lang="en-US" sz="1150" dirty="0"/>
          </a:p>
        </p:txBody>
      </p:sp>
      <p:sp>
        <p:nvSpPr>
          <p:cNvPr id="9" name="Text 6"/>
          <p:cNvSpPr txBox="1"/>
          <p:nvPr/>
        </p:nvSpPr>
        <p:spPr>
          <a:xfrm>
            <a:off x="715060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Gross revenue</a:t>
            </a:r>
            <a:endParaRPr lang="en-US" sz="1150" dirty="0"/>
          </a:p>
        </p:txBody>
      </p:sp>
      <p:sp>
        <p:nvSpPr>
          <p:cNvPr id="10" name="Text 7"/>
          <p:cNvSpPr txBox="1"/>
          <p:nvPr/>
        </p:nvSpPr>
        <p:spPr>
          <a:xfrm>
            <a:off x="870508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Net revenue</a:t>
            </a:r>
            <a:endParaRPr lang="en-US" sz="1150" dirty="0"/>
          </a:p>
        </p:txBody>
      </p:sp>
      <p:sp>
        <p:nvSpPr>
          <p:cNvPr id="11" name="Text 8"/>
          <p:cNvSpPr txBox="1"/>
          <p:nvPr/>
        </p:nvSpPr>
        <p:spPr>
          <a:xfrm>
            <a:off x="1025956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Confidence</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Gross and net on every line. The account total and the market total must reconcile to the portfolio target.</a:t>
            </a:r>
            <a:endParaRPr lang="en-US" sz="12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coverage and ownership</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who carries EAI&amp;D inside each account team — one row per priority account.</a:t>
            </a:r>
            <a:endParaRPr lang="en-US" sz="145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651760"/>
                <a:gridCol w="2194560"/>
                <a:gridCol w="2103120"/>
                <a:gridCol w="2103120"/>
                <a:gridCol w="18288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Partner 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Alliance lead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Delivery lead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Contact cadence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4688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a:t>
            </a:r>
            <a:endParaRPr lang="en-US" sz="1150" dirty="0"/>
          </a:p>
        </p:txBody>
      </p:sp>
      <p:sp>
        <p:nvSpPr>
          <p:cNvPr id="7" name="Text 4"/>
          <p:cNvSpPr txBox="1"/>
          <p:nvPr/>
        </p:nvSpPr>
        <p:spPr>
          <a:xfrm>
            <a:off x="340156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Partner owner</a:t>
            </a:r>
            <a:endParaRPr lang="en-US" sz="1150" dirty="0"/>
          </a:p>
        </p:txBody>
      </p:sp>
      <p:sp>
        <p:nvSpPr>
          <p:cNvPr id="8" name="Text 5"/>
          <p:cNvSpPr txBox="1"/>
          <p:nvPr/>
        </p:nvSpPr>
        <p:spPr>
          <a:xfrm>
            <a:off x="559612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Alliance lead</a:t>
            </a:r>
            <a:endParaRPr lang="en-US" sz="1150" dirty="0"/>
          </a:p>
        </p:txBody>
      </p:sp>
      <p:sp>
        <p:nvSpPr>
          <p:cNvPr id="9" name="Text 6"/>
          <p:cNvSpPr txBox="1"/>
          <p:nvPr/>
        </p:nvSpPr>
        <p:spPr>
          <a:xfrm>
            <a:off x="769924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Delivery lead</a:t>
            </a:r>
            <a:endParaRPr lang="en-US" sz="1150" dirty="0"/>
          </a:p>
        </p:txBody>
      </p:sp>
      <p:sp>
        <p:nvSpPr>
          <p:cNvPr id="10" name="Text 7"/>
          <p:cNvSpPr txBox="1"/>
          <p:nvPr/>
        </p:nvSpPr>
        <p:spPr>
          <a:xfrm>
            <a:off x="980236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Contact cadence</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Our owner sits inside the existing account team; the account relationship stays with its account leader.</a:t>
            </a:r>
            <a:endParaRPr lang="en-US" sz="12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proposition catalogue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2 · Propositions · one row per proposition.</a:t>
            </a:r>
            <a:endParaRPr lang="en-US" sz="145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1920240"/>
                <a:gridCol w="2011680"/>
                <a:gridCol w="2194560"/>
                <a:gridCol w="237744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Sectors it serves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Offerings involved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Buyer per sector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Archetypes permitted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a:t>
            </a:r>
            <a:endParaRPr lang="en-US" sz="1150" dirty="0"/>
          </a:p>
        </p:txBody>
      </p:sp>
      <p:sp>
        <p:nvSpPr>
          <p:cNvPr id="7" name="Text 4"/>
          <p:cNvSpPr txBox="1"/>
          <p:nvPr/>
        </p:nvSpPr>
        <p:spPr>
          <a:xfrm>
            <a:off x="312724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Sectors it serves</a:t>
            </a:r>
            <a:endParaRPr lang="en-US" sz="1150" dirty="0"/>
          </a:p>
        </p:txBody>
      </p:sp>
      <p:sp>
        <p:nvSpPr>
          <p:cNvPr id="8" name="Text 5"/>
          <p:cNvSpPr txBox="1"/>
          <p:nvPr/>
        </p:nvSpPr>
        <p:spPr>
          <a:xfrm>
            <a:off x="5047488" y="1965960"/>
            <a:ext cx="18288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Offerings involved</a:t>
            </a:r>
            <a:endParaRPr lang="en-US" sz="1150" dirty="0"/>
          </a:p>
        </p:txBody>
      </p:sp>
      <p:sp>
        <p:nvSpPr>
          <p:cNvPr id="9" name="Text 6"/>
          <p:cNvSpPr txBox="1"/>
          <p:nvPr/>
        </p:nvSpPr>
        <p:spPr>
          <a:xfrm>
            <a:off x="705916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Buyer per sector</a:t>
            </a:r>
            <a:endParaRPr lang="en-US" sz="1150" dirty="0"/>
          </a:p>
        </p:txBody>
      </p:sp>
      <p:sp>
        <p:nvSpPr>
          <p:cNvPr id="10" name="Text 7"/>
          <p:cNvSpPr txBox="1"/>
          <p:nvPr/>
        </p:nvSpPr>
        <p:spPr>
          <a:xfrm>
            <a:off x="925372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Archetypes permitted</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Integrated propositions first. A single-pillar offer is recorded as a variant, not as its own row.</a:t>
            </a:r>
            <a:endParaRPr lang="en-US" sz="12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sizing and pricing</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proposition.</a:t>
            </a:r>
            <a:endParaRPr lang="en-US" sz="145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2926080"/>
                <a:gridCol w="1828800"/>
                <a:gridCol w="1920240"/>
                <a:gridCol w="18288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drives scope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Typical deal size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 price band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Notes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a:t>
            </a:r>
            <a:endParaRPr lang="en-US" sz="1150" dirty="0"/>
          </a:p>
        </p:txBody>
      </p:sp>
      <p:sp>
        <p:nvSpPr>
          <p:cNvPr id="7" name="Text 4"/>
          <p:cNvSpPr txBox="1"/>
          <p:nvPr/>
        </p:nvSpPr>
        <p:spPr>
          <a:xfrm>
            <a:off x="3127248" y="1965960"/>
            <a:ext cx="27432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drives scope</a:t>
            </a:r>
            <a:endParaRPr lang="en-US" sz="1150" dirty="0"/>
          </a:p>
        </p:txBody>
      </p:sp>
      <p:sp>
        <p:nvSpPr>
          <p:cNvPr id="8" name="Text 5"/>
          <p:cNvSpPr txBox="1"/>
          <p:nvPr/>
        </p:nvSpPr>
        <p:spPr>
          <a:xfrm>
            <a:off x="605332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Typical deal size</a:t>
            </a:r>
            <a:endParaRPr lang="en-US" sz="1150" dirty="0"/>
          </a:p>
        </p:txBody>
      </p:sp>
      <p:sp>
        <p:nvSpPr>
          <p:cNvPr id="9" name="Text 6"/>
          <p:cNvSpPr txBox="1"/>
          <p:nvPr/>
        </p:nvSpPr>
        <p:spPr>
          <a:xfrm>
            <a:off x="788212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 price band</a:t>
            </a:r>
            <a:endParaRPr lang="en-US" sz="1150" dirty="0"/>
          </a:p>
        </p:txBody>
      </p:sp>
      <p:sp>
        <p:nvSpPr>
          <p:cNvPr id="10" name="Text 7"/>
          <p:cNvSpPr txBox="1"/>
          <p:nvPr/>
        </p:nvSpPr>
        <p:spPr>
          <a:xfrm>
            <a:off x="980236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Notes</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Bands, not point prices. Name the drivers that move the number.</a:t>
            </a:r>
            <a:endParaRPr lang="en-US" sz="12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proposition economics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proposition.</a:t>
            </a:r>
            <a:endParaRPr lang="en-US" sz="145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920240"/>
                <a:gridCol w="2103120"/>
                <a:gridCol w="1554480"/>
                <a:gridCol w="914400"/>
                <a:gridCol w="1005840"/>
                <a:gridCol w="914400"/>
                <a:gridCol w="1371600"/>
                <a:gridCol w="10972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Assets and accelerators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Price basis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On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Near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Blended ADR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 GM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a:t>
            </a:r>
            <a:endParaRPr lang="en-US" sz="1150" dirty="0"/>
          </a:p>
        </p:txBody>
      </p:sp>
      <p:sp>
        <p:nvSpPr>
          <p:cNvPr id="7" name="Text 4"/>
          <p:cNvSpPr txBox="1"/>
          <p:nvPr/>
        </p:nvSpPr>
        <p:spPr>
          <a:xfrm>
            <a:off x="267004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Assets and accelerators</a:t>
            </a:r>
            <a:endParaRPr lang="en-US" sz="1150" dirty="0"/>
          </a:p>
        </p:txBody>
      </p:sp>
      <p:sp>
        <p:nvSpPr>
          <p:cNvPr id="8" name="Text 5"/>
          <p:cNvSpPr txBox="1"/>
          <p:nvPr/>
        </p:nvSpPr>
        <p:spPr>
          <a:xfrm>
            <a:off x="477316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Price basis</a:t>
            </a:r>
            <a:endParaRPr lang="en-US" sz="1150" dirty="0"/>
          </a:p>
        </p:txBody>
      </p:sp>
      <p:sp>
        <p:nvSpPr>
          <p:cNvPr id="9" name="Text 6"/>
          <p:cNvSpPr txBox="1"/>
          <p:nvPr/>
        </p:nvSpPr>
        <p:spPr>
          <a:xfrm>
            <a:off x="6327648" y="1965960"/>
            <a:ext cx="731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On %</a:t>
            </a:r>
            <a:endParaRPr lang="en-US" sz="1150" dirty="0"/>
          </a:p>
        </p:txBody>
      </p:sp>
      <p:sp>
        <p:nvSpPr>
          <p:cNvPr id="10" name="Text 7"/>
          <p:cNvSpPr txBox="1"/>
          <p:nvPr/>
        </p:nvSpPr>
        <p:spPr>
          <a:xfrm>
            <a:off x="7242048" y="1965960"/>
            <a:ext cx="8229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Near %</a:t>
            </a:r>
            <a:endParaRPr lang="en-US" sz="1150" dirty="0"/>
          </a:p>
        </p:txBody>
      </p:sp>
      <p:sp>
        <p:nvSpPr>
          <p:cNvPr id="11" name="Text 8"/>
          <p:cNvSpPr txBox="1"/>
          <p:nvPr/>
        </p:nvSpPr>
        <p:spPr>
          <a:xfrm>
            <a:off x="8247888" y="1965960"/>
            <a:ext cx="731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 %</a:t>
            </a:r>
            <a:endParaRPr lang="en-US" sz="1150" dirty="0"/>
          </a:p>
        </p:txBody>
      </p:sp>
      <p:sp>
        <p:nvSpPr>
          <p:cNvPr id="12" name="Text 9"/>
          <p:cNvSpPr txBox="1"/>
          <p:nvPr/>
        </p:nvSpPr>
        <p:spPr>
          <a:xfrm>
            <a:off x="916228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Blended ADR</a:t>
            </a:r>
            <a:endParaRPr lang="en-US" sz="1150" dirty="0"/>
          </a:p>
        </p:txBody>
      </p:sp>
      <p:sp>
        <p:nvSpPr>
          <p:cNvPr id="13" name="Text 10"/>
          <p:cNvSpPr txBox="1"/>
          <p:nvPr/>
        </p:nvSpPr>
        <p:spPr>
          <a:xfrm>
            <a:off x="1053388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 GM</a:t>
            </a:r>
            <a:endParaRPr lang="en-US" sz="1150" dirty="0"/>
          </a:p>
        </p:txBody>
      </p:sp>
      <p:sp>
        <p:nvSpPr>
          <p:cNvPr id="14" name="Text 11"/>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Assets are what make the construct hold: reuse raises margin at the same price and shortens time to value.</a:t>
            </a:r>
            <a:endParaRPr lang="en-US" sz="12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revenue targets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market.</a:t>
            </a:r>
            <a:endParaRPr lang="en-US" sz="145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737360"/>
                <a:gridCol w="1463040"/>
                <a:gridCol w="1828800"/>
                <a:gridCol w="1554480"/>
                <a:gridCol w="1920240"/>
                <a:gridCol w="1280160"/>
                <a:gridCol w="10972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Sector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Industry Solutions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AI and Data</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Engineering</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Integrated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5544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7" name="Text 4"/>
          <p:cNvSpPr txBox="1"/>
          <p:nvPr/>
        </p:nvSpPr>
        <p:spPr>
          <a:xfrm>
            <a:off x="248716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Sector</a:t>
            </a:r>
            <a:endParaRPr lang="en-US" sz="1150" dirty="0"/>
          </a:p>
        </p:txBody>
      </p:sp>
      <p:sp>
        <p:nvSpPr>
          <p:cNvPr id="8" name="Text 5"/>
          <p:cNvSpPr txBox="1"/>
          <p:nvPr/>
        </p:nvSpPr>
        <p:spPr>
          <a:xfrm>
            <a:off x="395020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Industry Solutions</a:t>
            </a:r>
            <a:endParaRPr lang="en-US" sz="1150" dirty="0"/>
          </a:p>
        </p:txBody>
      </p:sp>
      <p:sp>
        <p:nvSpPr>
          <p:cNvPr id="9" name="Text 6"/>
          <p:cNvSpPr txBox="1"/>
          <p:nvPr/>
        </p:nvSpPr>
        <p:spPr>
          <a:xfrm>
            <a:off x="577900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AI and Data</a:t>
            </a:r>
            <a:endParaRPr lang="en-US" sz="1150" dirty="0"/>
          </a:p>
        </p:txBody>
      </p:sp>
      <p:sp>
        <p:nvSpPr>
          <p:cNvPr id="10" name="Text 7"/>
          <p:cNvSpPr txBox="1"/>
          <p:nvPr/>
        </p:nvSpPr>
        <p:spPr>
          <a:xfrm>
            <a:off x="733348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Engineering</a:t>
            </a:r>
            <a:endParaRPr lang="en-US" sz="1150" dirty="0"/>
          </a:p>
        </p:txBody>
      </p:sp>
      <p:sp>
        <p:nvSpPr>
          <p:cNvPr id="11" name="Text 8"/>
          <p:cNvSpPr txBox="1"/>
          <p:nvPr/>
        </p:nvSpPr>
        <p:spPr>
          <a:xfrm>
            <a:off x="925372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Integrated</a:t>
            </a:r>
            <a:endParaRPr lang="en-US" sz="1150" dirty="0"/>
          </a:p>
        </p:txBody>
      </p:sp>
      <p:sp>
        <p:nvSpPr>
          <p:cNvPr id="12" name="Text 9"/>
          <p:cNvSpPr txBox="1"/>
          <p:nvPr/>
        </p:nvSpPr>
        <p:spPr>
          <a:xfrm>
            <a:off x="1053388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Total</a:t>
            </a:r>
            <a:endParaRPr lang="en-US" sz="1150" dirty="0"/>
          </a:p>
        </p:txBody>
      </p:sp>
      <p:sp>
        <p:nvSpPr>
          <p:cNvPr id="13" name="Text 10"/>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One row per market and sector. Reconciles to the account revenue plan and to capacity.</a:t>
            </a:r>
            <a:endParaRPr lang="en-US" sz="12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team and talent</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role and level.</a:t>
            </a:r>
            <a:endParaRPr lang="en-US" sz="145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1828800"/>
                <a:gridCol w="1828800"/>
                <a:gridCol w="1280160"/>
                <a:gridCol w="1920240"/>
                <a:gridCol w="164592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Role and level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Dedicated today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Shared available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Gap</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Build, borrow or buy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By when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Role and level</a:t>
            </a:r>
            <a:endParaRPr lang="en-US" sz="1150" dirty="0"/>
          </a:p>
        </p:txBody>
      </p:sp>
      <p:sp>
        <p:nvSpPr>
          <p:cNvPr id="7" name="Text 4"/>
          <p:cNvSpPr txBox="1"/>
          <p:nvPr/>
        </p:nvSpPr>
        <p:spPr>
          <a:xfrm>
            <a:off x="312724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Dedicated today</a:t>
            </a:r>
            <a:endParaRPr lang="en-US" sz="1150" dirty="0"/>
          </a:p>
        </p:txBody>
      </p:sp>
      <p:sp>
        <p:nvSpPr>
          <p:cNvPr id="8" name="Text 5"/>
          <p:cNvSpPr txBox="1"/>
          <p:nvPr/>
        </p:nvSpPr>
        <p:spPr>
          <a:xfrm>
            <a:off x="495604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Shared available</a:t>
            </a:r>
            <a:endParaRPr lang="en-US" sz="1150" dirty="0"/>
          </a:p>
        </p:txBody>
      </p:sp>
      <p:sp>
        <p:nvSpPr>
          <p:cNvPr id="9" name="Text 6"/>
          <p:cNvSpPr txBox="1"/>
          <p:nvPr/>
        </p:nvSpPr>
        <p:spPr>
          <a:xfrm>
            <a:off x="678484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Gap</a:t>
            </a:r>
            <a:endParaRPr lang="en-US" sz="1150" dirty="0"/>
          </a:p>
        </p:txBody>
      </p:sp>
      <p:sp>
        <p:nvSpPr>
          <p:cNvPr id="10" name="Text 7"/>
          <p:cNvSpPr txBox="1"/>
          <p:nvPr/>
        </p:nvSpPr>
        <p:spPr>
          <a:xfrm>
            <a:off x="806500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Build, borrow or buy</a:t>
            </a:r>
            <a:endParaRPr lang="en-US" sz="1150" dirty="0"/>
          </a:p>
        </p:txBody>
      </p:sp>
      <p:sp>
        <p:nvSpPr>
          <p:cNvPr id="11" name="Text 8"/>
          <p:cNvSpPr txBox="1"/>
          <p:nvPr/>
        </p:nvSpPr>
        <p:spPr>
          <a:xfrm>
            <a:off x="9985248" y="1965960"/>
            <a:ext cx="14630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By when</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Dedicated means FSI-exclusive. Shared means time we can genuinely count on, not headcount that exists.</a:t>
            </a:r>
            <a:endParaRPr lang="en-US" sz="12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capability and enablement plan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capability.</a:t>
            </a:r>
            <a:endParaRPr lang="en-US" sz="145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286000"/>
                <a:gridCol w="2194560"/>
                <a:gridCol w="1737360"/>
                <a:gridCol w="914400"/>
                <a:gridCol w="914400"/>
                <a:gridCol w="1463040"/>
                <a:gridCol w="13716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Capability or skill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it supports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Who needs it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Now</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Route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By when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031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Capability or skill</a:t>
            </a:r>
            <a:endParaRPr lang="en-US" sz="1150" dirty="0"/>
          </a:p>
        </p:txBody>
      </p:sp>
      <p:sp>
        <p:nvSpPr>
          <p:cNvPr id="7" name="Text 4"/>
          <p:cNvSpPr txBox="1"/>
          <p:nvPr/>
        </p:nvSpPr>
        <p:spPr>
          <a:xfrm>
            <a:off x="30358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it supports</a:t>
            </a:r>
            <a:endParaRPr lang="en-US" sz="1150" dirty="0"/>
          </a:p>
        </p:txBody>
      </p:sp>
      <p:sp>
        <p:nvSpPr>
          <p:cNvPr id="8" name="Text 5"/>
          <p:cNvSpPr txBox="1"/>
          <p:nvPr/>
        </p:nvSpPr>
        <p:spPr>
          <a:xfrm>
            <a:off x="5230368" y="1965960"/>
            <a:ext cx="15544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Who needs it</a:t>
            </a:r>
            <a:endParaRPr lang="en-US" sz="1150" dirty="0"/>
          </a:p>
        </p:txBody>
      </p:sp>
      <p:sp>
        <p:nvSpPr>
          <p:cNvPr id="9" name="Text 6"/>
          <p:cNvSpPr txBox="1"/>
          <p:nvPr/>
        </p:nvSpPr>
        <p:spPr>
          <a:xfrm>
            <a:off x="6967728" y="1965960"/>
            <a:ext cx="731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Now</a:t>
            </a:r>
            <a:endParaRPr lang="en-US" sz="1150" dirty="0"/>
          </a:p>
        </p:txBody>
      </p:sp>
      <p:sp>
        <p:nvSpPr>
          <p:cNvPr id="10" name="Text 7"/>
          <p:cNvSpPr txBox="1"/>
          <p:nvPr/>
        </p:nvSpPr>
        <p:spPr>
          <a:xfrm>
            <a:off x="7882128" y="1965960"/>
            <a:ext cx="731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a:t>
            </a:r>
            <a:endParaRPr lang="en-US" sz="1150" dirty="0"/>
          </a:p>
        </p:txBody>
      </p:sp>
      <p:sp>
        <p:nvSpPr>
          <p:cNvPr id="11" name="Text 8"/>
          <p:cNvSpPr txBox="1"/>
          <p:nvPr/>
        </p:nvSpPr>
        <p:spPr>
          <a:xfrm>
            <a:off x="879652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Route</a:t>
            </a:r>
            <a:endParaRPr lang="en-US" sz="1150" dirty="0"/>
          </a:p>
        </p:txBody>
      </p:sp>
      <p:sp>
        <p:nvSpPr>
          <p:cNvPr id="12" name="Text 9"/>
          <p:cNvSpPr txBox="1"/>
          <p:nvPr/>
        </p:nvSpPr>
        <p:spPr>
          <a:xfrm>
            <a:off x="1025956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By when</a:t>
            </a:r>
            <a:endParaRPr lang="en-US" sz="1150" dirty="0"/>
          </a:p>
        </p:txBody>
      </p:sp>
      <p:sp>
        <p:nvSpPr>
          <p:cNvPr id="13" name="Text 10"/>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Route: internal training, industry certification, alliance accreditation, or hire. Every row ends in a date.</a:t>
            </a:r>
            <a:endParaRPr lang="en-US" sz="12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alliance map</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Route to market · one row per alliance.</a:t>
            </a:r>
            <a:endParaRPr lang="en-US" sz="145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554480"/>
                <a:gridCol w="1371600"/>
                <a:gridCol w="1463040"/>
                <a:gridCol w="2834640"/>
                <a:gridCol w="1920240"/>
                <a:gridCol w="173736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Alliance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Type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Role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Propositions and sectors it sits behind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Accounts it opens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we owe them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Alliance</a:t>
            </a:r>
            <a:endParaRPr lang="en-US" sz="1150" dirty="0"/>
          </a:p>
        </p:txBody>
      </p:sp>
      <p:sp>
        <p:nvSpPr>
          <p:cNvPr id="7" name="Text 4"/>
          <p:cNvSpPr txBox="1"/>
          <p:nvPr/>
        </p:nvSpPr>
        <p:spPr>
          <a:xfrm>
            <a:off x="230428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Type</a:t>
            </a:r>
            <a:endParaRPr lang="en-US" sz="1150" dirty="0"/>
          </a:p>
        </p:txBody>
      </p:sp>
      <p:sp>
        <p:nvSpPr>
          <p:cNvPr id="8" name="Text 5"/>
          <p:cNvSpPr txBox="1"/>
          <p:nvPr/>
        </p:nvSpPr>
        <p:spPr>
          <a:xfrm>
            <a:off x="367588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Role</a:t>
            </a:r>
            <a:endParaRPr lang="en-US" sz="1150" dirty="0"/>
          </a:p>
        </p:txBody>
      </p:sp>
      <p:sp>
        <p:nvSpPr>
          <p:cNvPr id="9" name="Text 6"/>
          <p:cNvSpPr txBox="1"/>
          <p:nvPr/>
        </p:nvSpPr>
        <p:spPr>
          <a:xfrm>
            <a:off x="5138928" y="1965960"/>
            <a:ext cx="26517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Propositions and sectors it sits behind</a:t>
            </a:r>
            <a:endParaRPr lang="en-US" sz="1150" dirty="0"/>
          </a:p>
        </p:txBody>
      </p:sp>
      <p:sp>
        <p:nvSpPr>
          <p:cNvPr id="10" name="Text 7"/>
          <p:cNvSpPr txBox="1"/>
          <p:nvPr/>
        </p:nvSpPr>
        <p:spPr>
          <a:xfrm>
            <a:off x="797356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Accounts it opens</a:t>
            </a:r>
            <a:endParaRPr lang="en-US" sz="1150" dirty="0"/>
          </a:p>
        </p:txBody>
      </p:sp>
      <p:sp>
        <p:nvSpPr>
          <p:cNvPr id="11" name="Text 8"/>
          <p:cNvSpPr txBox="1"/>
          <p:nvPr/>
        </p:nvSpPr>
        <p:spPr>
          <a:xfrm>
            <a:off x="9893808" y="1965960"/>
            <a:ext cx="15544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we owe them</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Type: broad technology alliance, or specialised product vendor. Role: co-sell, resell, delivery or referral.</a:t>
            </a:r>
            <a:endParaRPr lang="en-US" sz="12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eminence calendar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Route to market · one row per planned activity.</a:t>
            </a:r>
            <a:endParaRPr lang="en-US" sz="145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03120"/>
                <a:gridCol w="1280160"/>
                <a:gridCol w="1554480"/>
                <a:gridCol w="2377440"/>
                <a:gridCol w="1280160"/>
                <a:gridCol w="1097280"/>
                <a:gridCol w="118872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Activity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Audience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Channel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 accounts or audience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Date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Measure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Activity</a:t>
            </a:r>
            <a:endParaRPr lang="en-US" sz="1150" dirty="0"/>
          </a:p>
        </p:txBody>
      </p:sp>
      <p:sp>
        <p:nvSpPr>
          <p:cNvPr id="7" name="Text 4"/>
          <p:cNvSpPr txBox="1"/>
          <p:nvPr/>
        </p:nvSpPr>
        <p:spPr>
          <a:xfrm>
            <a:off x="285292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Audience</a:t>
            </a:r>
            <a:endParaRPr lang="en-US" sz="1150" dirty="0"/>
          </a:p>
        </p:txBody>
      </p:sp>
      <p:sp>
        <p:nvSpPr>
          <p:cNvPr id="8" name="Text 5"/>
          <p:cNvSpPr txBox="1"/>
          <p:nvPr/>
        </p:nvSpPr>
        <p:spPr>
          <a:xfrm>
            <a:off x="413308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Channel</a:t>
            </a:r>
            <a:endParaRPr lang="en-US" sz="1150" dirty="0"/>
          </a:p>
        </p:txBody>
      </p:sp>
      <p:sp>
        <p:nvSpPr>
          <p:cNvPr id="9" name="Text 6"/>
          <p:cNvSpPr txBox="1"/>
          <p:nvPr/>
        </p:nvSpPr>
        <p:spPr>
          <a:xfrm>
            <a:off x="568756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 accounts or audience</a:t>
            </a:r>
            <a:endParaRPr lang="en-US" sz="1150" dirty="0"/>
          </a:p>
        </p:txBody>
      </p:sp>
      <p:sp>
        <p:nvSpPr>
          <p:cNvPr id="10" name="Text 7"/>
          <p:cNvSpPr txBox="1"/>
          <p:nvPr/>
        </p:nvSpPr>
        <p:spPr>
          <a:xfrm>
            <a:off x="806500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1" name="Text 8"/>
          <p:cNvSpPr txBox="1"/>
          <p:nvPr/>
        </p:nvSpPr>
        <p:spPr>
          <a:xfrm>
            <a:off x="934516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Date</a:t>
            </a:r>
            <a:endParaRPr lang="en-US" sz="1150" dirty="0"/>
          </a:p>
        </p:txBody>
      </p:sp>
      <p:sp>
        <p:nvSpPr>
          <p:cNvPr id="12" name="Text 9"/>
          <p:cNvSpPr txBox="1"/>
          <p:nvPr/>
        </p:nvSpPr>
        <p:spPr>
          <a:xfrm>
            <a:off x="1044244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Measure</a:t>
            </a:r>
            <a:endParaRPr lang="en-US" sz="1150" dirty="0"/>
          </a:p>
        </p:txBody>
      </p:sp>
      <p:sp>
        <p:nvSpPr>
          <p:cNvPr id="13" name="Text 10"/>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Audience: external client market, or internal — FS partners and directors in other portfolios.</a:t>
            </a:r>
            <a:endParaRPr lang="en-US" sz="12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differentiation and proof</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Route to market · one row per claim we make.</a:t>
            </a:r>
            <a:endParaRPr lang="en-US" sz="145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94560"/>
                <a:gridCol w="1371600"/>
                <a:gridCol w="2194560"/>
                <a:gridCol w="2011680"/>
                <a:gridCol w="1920240"/>
                <a:gridCol w="118872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The claim we make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Who it beats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Why it holds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Proof we have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Proof to build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The claim we make</a:t>
            </a:r>
            <a:endParaRPr lang="en-US" sz="1150" dirty="0"/>
          </a:p>
        </p:txBody>
      </p:sp>
      <p:sp>
        <p:nvSpPr>
          <p:cNvPr id="7" name="Text 4"/>
          <p:cNvSpPr txBox="1"/>
          <p:nvPr/>
        </p:nvSpPr>
        <p:spPr>
          <a:xfrm>
            <a:off x="294436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Who it beats</a:t>
            </a:r>
            <a:endParaRPr lang="en-US" sz="1150" dirty="0"/>
          </a:p>
        </p:txBody>
      </p:sp>
      <p:sp>
        <p:nvSpPr>
          <p:cNvPr id="8" name="Text 5"/>
          <p:cNvSpPr txBox="1"/>
          <p:nvPr/>
        </p:nvSpPr>
        <p:spPr>
          <a:xfrm>
            <a:off x="431596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Why it holds</a:t>
            </a:r>
            <a:endParaRPr lang="en-US" sz="1150" dirty="0"/>
          </a:p>
        </p:txBody>
      </p:sp>
      <p:sp>
        <p:nvSpPr>
          <p:cNvPr id="9" name="Text 6"/>
          <p:cNvSpPr txBox="1"/>
          <p:nvPr/>
        </p:nvSpPr>
        <p:spPr>
          <a:xfrm>
            <a:off x="6510528" y="1965960"/>
            <a:ext cx="18288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Proof we have</a:t>
            </a:r>
            <a:endParaRPr lang="en-US" sz="1150" dirty="0"/>
          </a:p>
        </p:txBody>
      </p:sp>
      <p:sp>
        <p:nvSpPr>
          <p:cNvPr id="10" name="Text 7"/>
          <p:cNvSpPr txBox="1"/>
          <p:nvPr/>
        </p:nvSpPr>
        <p:spPr>
          <a:xfrm>
            <a:off x="852220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Proof to build</a:t>
            </a:r>
            <a:endParaRPr lang="en-US" sz="1150" dirty="0"/>
          </a:p>
        </p:txBody>
      </p:sp>
      <p:sp>
        <p:nvSpPr>
          <p:cNvPr id="11" name="Text 8"/>
          <p:cNvSpPr txBox="1"/>
          <p:nvPr/>
        </p:nvSpPr>
        <p:spPr>
          <a:xfrm>
            <a:off x="1044244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A claim with no proof is a boast. Anything in the last column becomes an initiative.</a:t>
            </a:r>
            <a:endParaRPr lang="en-US" sz="12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operating rhythm</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discipline · one row per forum.</a:t>
            </a:r>
            <a:endParaRPr lang="en-US" sz="145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920240"/>
                <a:gridCol w="2377440"/>
                <a:gridCol w="1280160"/>
                <a:gridCol w="1280160"/>
                <a:gridCol w="2468880"/>
                <a:gridCol w="15544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Forum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Purpose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Frequency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Chair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Decisions it can take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Escalates to</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Forum</a:t>
            </a:r>
            <a:endParaRPr lang="en-US" sz="1150" dirty="0"/>
          </a:p>
        </p:txBody>
      </p:sp>
      <p:sp>
        <p:nvSpPr>
          <p:cNvPr id="7" name="Text 4"/>
          <p:cNvSpPr txBox="1"/>
          <p:nvPr/>
        </p:nvSpPr>
        <p:spPr>
          <a:xfrm>
            <a:off x="267004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Purpose</a:t>
            </a:r>
            <a:endParaRPr lang="en-US" sz="1150" dirty="0"/>
          </a:p>
        </p:txBody>
      </p:sp>
      <p:sp>
        <p:nvSpPr>
          <p:cNvPr id="8" name="Text 5"/>
          <p:cNvSpPr txBox="1"/>
          <p:nvPr/>
        </p:nvSpPr>
        <p:spPr>
          <a:xfrm>
            <a:off x="504748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Frequency</a:t>
            </a:r>
            <a:endParaRPr lang="en-US" sz="1150" dirty="0"/>
          </a:p>
        </p:txBody>
      </p:sp>
      <p:sp>
        <p:nvSpPr>
          <p:cNvPr id="9" name="Text 6"/>
          <p:cNvSpPr txBox="1"/>
          <p:nvPr/>
        </p:nvSpPr>
        <p:spPr>
          <a:xfrm>
            <a:off x="632764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Chair</a:t>
            </a:r>
            <a:endParaRPr lang="en-US" sz="1150" dirty="0"/>
          </a:p>
        </p:txBody>
      </p:sp>
      <p:sp>
        <p:nvSpPr>
          <p:cNvPr id="10" name="Text 7"/>
          <p:cNvSpPr txBox="1"/>
          <p:nvPr/>
        </p:nvSpPr>
        <p:spPr>
          <a:xfrm>
            <a:off x="7607808" y="1965960"/>
            <a:ext cx="22860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Decisions it can take</a:t>
            </a:r>
            <a:endParaRPr lang="en-US" sz="1150" dirty="0"/>
          </a:p>
        </p:txBody>
      </p:sp>
      <p:sp>
        <p:nvSpPr>
          <p:cNvPr id="11" name="Text 8"/>
          <p:cNvSpPr txBox="1"/>
          <p:nvPr/>
        </p:nvSpPr>
        <p:spPr>
          <a:xfrm>
            <a:off x="1007668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Escalates to</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A forum that cannot decide anything is a status meeting. Name what each one can settle without escalation.</a:t>
            </a:r>
            <a:endParaRPr lang="en-US" sz="12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initiative register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Across the pillars · one row per initiative that runs past the cycle.</a:t>
            </a:r>
            <a:endParaRPr lang="en-US" sz="145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286000"/>
                <a:gridCol w="1554480"/>
                <a:gridCol w="2743200"/>
                <a:gridCol w="1371600"/>
                <a:gridCol w="1645920"/>
                <a:gridCol w="128016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Initiative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Pillar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Outcome it delivers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Next milestone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By when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031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Initiative</a:t>
            </a:r>
            <a:endParaRPr lang="en-US" sz="1150" dirty="0"/>
          </a:p>
        </p:txBody>
      </p:sp>
      <p:sp>
        <p:nvSpPr>
          <p:cNvPr id="7" name="Text 4"/>
          <p:cNvSpPr txBox="1"/>
          <p:nvPr/>
        </p:nvSpPr>
        <p:spPr>
          <a:xfrm>
            <a:off x="303580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Pillar</a:t>
            </a:r>
            <a:endParaRPr lang="en-US" sz="1150" dirty="0"/>
          </a:p>
        </p:txBody>
      </p:sp>
      <p:sp>
        <p:nvSpPr>
          <p:cNvPr id="8" name="Text 5"/>
          <p:cNvSpPr txBox="1"/>
          <p:nvPr/>
        </p:nvSpPr>
        <p:spPr>
          <a:xfrm>
            <a:off x="4590288" y="1965960"/>
            <a:ext cx="25603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Outcome it delivers</a:t>
            </a:r>
            <a:endParaRPr lang="en-US" sz="1150" dirty="0"/>
          </a:p>
        </p:txBody>
      </p:sp>
      <p:sp>
        <p:nvSpPr>
          <p:cNvPr id="9" name="Text 6"/>
          <p:cNvSpPr txBox="1"/>
          <p:nvPr/>
        </p:nvSpPr>
        <p:spPr>
          <a:xfrm>
            <a:off x="733348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0" name="Text 7"/>
          <p:cNvSpPr txBox="1"/>
          <p:nvPr/>
        </p:nvSpPr>
        <p:spPr>
          <a:xfrm>
            <a:off x="8705088" y="1965960"/>
            <a:ext cx="14630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Next milestone</a:t>
            </a:r>
            <a:endParaRPr lang="en-US" sz="1150" dirty="0"/>
          </a:p>
        </p:txBody>
      </p:sp>
      <p:sp>
        <p:nvSpPr>
          <p:cNvPr id="11" name="Text 8"/>
          <p:cNvSpPr txBox="1"/>
          <p:nvPr/>
        </p:nvSpPr>
        <p:spPr>
          <a:xfrm>
            <a:off x="1035100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By when</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Reviewed monthly alongside the numbers. An initiative without an owner and a date is a wish.</a:t>
            </a:r>
            <a:endParaRPr lang="en-US" sz="12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execution scorecard</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discipline · one row per measure.</a:t>
            </a:r>
            <a:endParaRPr lang="en-US" sz="145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94560"/>
                <a:gridCol w="2926080"/>
                <a:gridCol w="1463040"/>
                <a:gridCol w="1371600"/>
                <a:gridCol w="1463040"/>
                <a:gridCol w="146304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Measure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it tells us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Frequency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Forum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Measure</a:t>
            </a:r>
            <a:endParaRPr lang="en-US" sz="1150" dirty="0"/>
          </a:p>
        </p:txBody>
      </p:sp>
      <p:sp>
        <p:nvSpPr>
          <p:cNvPr id="7" name="Text 4"/>
          <p:cNvSpPr txBox="1"/>
          <p:nvPr/>
        </p:nvSpPr>
        <p:spPr>
          <a:xfrm>
            <a:off x="2944368" y="1965960"/>
            <a:ext cx="27432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it tells us</a:t>
            </a:r>
            <a:endParaRPr lang="en-US" sz="1150" dirty="0"/>
          </a:p>
        </p:txBody>
      </p:sp>
      <p:sp>
        <p:nvSpPr>
          <p:cNvPr id="8" name="Text 5"/>
          <p:cNvSpPr txBox="1"/>
          <p:nvPr/>
        </p:nvSpPr>
        <p:spPr>
          <a:xfrm>
            <a:off x="587044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a:t>
            </a:r>
            <a:endParaRPr lang="en-US" sz="1150" dirty="0"/>
          </a:p>
        </p:txBody>
      </p:sp>
      <p:sp>
        <p:nvSpPr>
          <p:cNvPr id="9" name="Text 6"/>
          <p:cNvSpPr txBox="1"/>
          <p:nvPr/>
        </p:nvSpPr>
        <p:spPr>
          <a:xfrm>
            <a:off x="733348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Frequency</a:t>
            </a:r>
            <a:endParaRPr lang="en-US" sz="1150" dirty="0"/>
          </a:p>
        </p:txBody>
      </p:sp>
      <p:sp>
        <p:nvSpPr>
          <p:cNvPr id="10" name="Text 7"/>
          <p:cNvSpPr txBox="1"/>
          <p:nvPr/>
        </p:nvSpPr>
        <p:spPr>
          <a:xfrm>
            <a:off x="870508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1" name="Text 8"/>
          <p:cNvSpPr txBox="1"/>
          <p:nvPr/>
        </p:nvSpPr>
        <p:spPr>
          <a:xfrm>
            <a:off x="1016812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Forum</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Every measure has an owner and a forum. A measure nobody presents is a measure nobody acts on.</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EAI&amp;D — FSI Strategy Development Plan</dc:title>
  <dc:subject>PptxGenJS Presentation</dc:subject>
  <dc:creator>Engineering, AI and Data</dc:creator>
  <cp:lastModifiedBy>Engineering, AI and Data</cp:lastModifiedBy>
  <cp:revision>1</cp:revision>
  <dcterms:created xsi:type="dcterms:W3CDTF">2026-09-30T10:34:22Z</dcterms:created>
  <dcterms:modified xsi:type="dcterms:W3CDTF">2026-09-30T10:34:22Z</dcterms:modified>
</cp:coreProperties>
</file>