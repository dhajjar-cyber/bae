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EAI&amp;D: Engineering, AI and Data. It is a consulting portfolio — think technology advisory and delivery. We design, advise on and implement end-to-end technology transformation for the financial services industry. FSI here means three sectors, in priority order: banking first, then funds (sovereign wealth funds, national and development funds, fund and investment management), then insurance.
Three pillars:
1. Industry Solutions — core-led transformation: core modernisation and core platform packages, whatever the sector calls its core (core banking, policy administration and claims in insurance, portfolio, fund accounting and investment platforms in funds). Also full systems-integration capability: we can take the SI role and own the end-to-end setup, including design governance, functional governance, delivery management and individual stream management, to stand up a greenfield institution or modernise an incumbent.
2. Data and AI — enterprise AI, core AI, AI use-case activation, and standard data work: data platforms, warehouses, ETL, reporting, across all three sectors.
3. Engineering and Cloud — cloud advisory and implementation, plus custom engineered solutions: integration management, microservices, API gateways, and bespoke core engineering. Less common around the core; likeliest in investments, wealth and fund operations.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strategy has two parents, and both matter.
The EAI&amp;D portfolio strategy is the capability axis: it serves several industries and already sets our vision and direction, the delivery model and quality bars, the alliance framework and partner tiers, the talent model, and the financial targets cascaded to us. We confirm those rather than reinvent them.
The FSI industry strategy is the industry axis: the firm already has one, and it comes with its own account list and tiering, account leadership and partner-to-account mappings, governance forums and cadence, an eminence programme, and client relationship plans already running. That is not ours to duplicate.
What is genuinely ours sits at the intersection: how EAI&amp;D propositions land in those accounts, the economics of delivering them, sector platform alliances, FSI capability and certification, and our own revenue targets by account and offering.
The practical rule, and the one most likely to be broken: no parallel machinery. We do not build a second account plan next to the industry one, a second set of forums, or a separate eminence calendar. Our account view attaches to the existing account plan, our reviews sit inside the existing forums where they exist, and our eminence rides the industry programme, adding EAI&amp;D content rather than competing for the same audience.
Two things to confirm at kick-off: who owns the account relationship where the industry strategy has already named an account leader, and which forum our operating rhythm plugs into rather than replaces. Where the two parent strategies disagree — different sector priority, an alliance one supports and the other does not — that is an escalation, not something for this team to resolve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two minutes at kick-off. Most of the circular discussion in strategy work is two people using one word for different things.
The distinction that matters most: an offering is an internal unit — how the portfolio is organised and where people sit. A proposition is what we take to market. Clients do not buy offerings; they buy propositions. So the catalogue is a list of propositions, and each one records which offerings it draws on.
From that, integrated and focused fall out naturally. A proposition that needs two or more offerings is integrated — a greenfield digital bank setup needs all three. A proposition that genuinely sits inside one is focused — a cloud migration strategy never leaves Engineering. Integrated is the default; focused is permitted and sold as a way in.
Two more worth holding: sector is not market — banking, funds and insurance are sectors, retail or corporate are segments within them, while Saudi, the UAE and Qatar are markets, and both carry a tier. And account plan means the firm’s single plan per client; what we produce attaches to it rather than competing with it.
Pillar is used only for the structure of this strategy, so it should never be heard as a synonym for offering.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the frame: this is a financial services strategy, not a banking strategy. Three sectors, in this priority order.
1. Banking — the priority sector, and where most of the existing capability and credentials sit.
2. Funds — sovereign wealth funds, national and development funds, and fund or investment management. Often a small number of very large institutions rather than a market of many, which changes how coverage and pursuit work: fewer accounts, longer cycles, far higher stakes per relationship.
3. Insurance — life, general, takaful, health, brokers and reinsurance. Different core platforms, different regulators, different buyers.
They are not interchangeable. The core platform, the regulator, the buyer and the language all change between them, which is exactly why the domain-specific principle is stated per sector rather than per industry: a core banking reference does not win a policy administration programme.
Practical consequence for the cycle: sector is a column in the market prioritisation, the account list, the proposition catalogue and the revenue targets. Where we are thin — and funds and insurance are where we are thin — the strategy has to say whether we build, borrow, hire or partner into them, and the alliance map has to answer the platform question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Agreeing the drivers before the words stops the discussion turning into a wordsmithing exercise, and stops later revisions quietly trading one theme away for another.
Two of them carry most of the weight and deserve to be explained in the room.
Complexity, handled: our real competition is not another integrated pitch. It is the institution doing it internally, and the lower-cost integrator quoting half the price. Neither can absorb a multi-stream, regulated, interconnected programme. We say that through words like landed, on time, cannot afford to get wrong — never by claiming we carry or underwrite the risk, which starts a procurement and legal conversation the vision should not start.
AI at the core, not on the badge: AI-native is oversubscribed and clients have heard it from everyone. Leading with it makes us sound like the crowd; putting it late and proving it makes it credible. It shows up twice in practice — in what we build for the client, and in how we deliver, through assets, accelerators and AI-assisted engineering.
The remaining four are straightforward but non-negotiable: end-to-end accountability including alliances, acceleration, both halves of the institution, and all three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candidate: "Complexity, compressed." Two alternates kept for the discussion.
Six themes every candidate has to carry, held deliberately so revisions do not trade one away for another:
1. Integrated and end to end — one accountable team, alliances counted as part of what we bring.
2. Complexity handled reliably — implied through words like landed, on time, cannot afford to get wrong. Never stated as carrying or underwriting risk: that is a procurement and legal conversation we do not want the vision to start.
3. Acceleration — time to market and time to value, because a platform that is not live is cost carried or revenue missed.
4. Both halves of the institution — what it takes to market, and how it runs inside. The second half is where enterprise AI, workplace tooling and intelligent operations sit.
5. AI present but never the headline. AI-native is oversubscribed; the credibility comes from AI at the core of what we build and how we deliver, stated once and late.
6. All three sectors — banks, funds and insurers.
Why "compressed" rather than "sooner" or "faster": it reads as engineering rather than marketing, and it carries the complexity claim and the speed claim in the same word.
What the vision obliges elsewhere in the strategy: the catalogue must show the internal-facing propositions, not only client-facing platforms, or the second half of the claim is unsupported; the delivery model must show the assets, accelerators and AI-assisted delivery that make compression real; and the differentiation argument — why an internal team or a lower-cost integrator cannot do this — belongs in how we win, with evidence, rather than in the vision itself.
Whichever is chosen, the ambition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is specialised enough that generic technology credentials do not travel, and the three sectors do not transfer to each other either. A banking client expects us to know core banking, payments and regulatory reporting; a fund expects portfolio, fund accounting, valuations and investor reporting; an insurer expects policy administration, claims, underwriting and actuarial. Credibility is per sector, not per industry.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Archetypes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Tiering applies twice — to geographies and to accounts — and independently of sector. A tier one account can sit in a tier two market, and occasionally the reverse.
Tier one is where the energy goes: deliberate coverage with people physically present working the relationships, named individual targets each with an owner, individual gross and net revenue targets, and the eminence and investment concentrated there. The scorecard is read against tier one.
Tier two is deliberately lighter. Accounts and markets are handled as clusters or groups rather than one by one, pursuit is reactive rather than campaigned, and coverage is a named watcher rather than an accountable owner. It exists for two reasons: to keep us present in what is emerging, and to stop us over-concentrating everything in a handful of names.
Two things the cycle must define rather than leave to instinct: what promotes a tier two account or market to tier one — a real signal, not enthusiasm — and what minimum tier two coverage actually means, so it is not simply a list nobody reads.
Watch the balance. If almost everything lands in tier one, nothing is prioritised. If tier one is too narrow, the plan is fragile to one or two decisions going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principle made concrete, and the examples are the clearest way to settle the argument.
A greenfield digital bank setup pulls from every practice: the core platform and functional design from Industry Solutions, the data foundation and intelligence from AI and Data, the integration layer, cloud and channels from Engineering. Nobody sells that as three engagements.
A cloud migration strategy will never span beyond Engineering, and pretending otherwise to satisfy a principle makes us look like we are padding. It is a legitimate focused offering.
So the rule has two halves. Integrated is the default: the catalogue is built as cross-practice propositions, and that is what we lead with. Focused offerings stay in the catalogue where the work genuinely does not span, and they are sold as an entry point into a larger relationship rather than as the whole of it.
Two practical consequences for the cycle. First, every proposition in the catalogue records which practices it involves, which is why the catalogue template has that column. Second, a focused offering should carry a named follow-on: what it typically opens next. A focused sale with no onward path is just a small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and by sector. A core banking modernisation with heavy onshore functional and governance presence looks nothing like a fund platform implementation, an insurance policy-administration migration, or an AI use-case activation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
Acceleration sits inside the delivery model, not beside it. If we position on time to market — and the client problem is real, since every month a platform is not live is cost carried or revenue missed — then the delivery model has to show how we go faster than a standard build: reusable assets and accelerators, reference architectures and pre-configured builds, templated stream setup and governance, alliance-provided integrations and platform accelerators, and AI applied to our own delivery (code, test, migration, documentation) rather than only to what we build for the client.
It also changes the economics, which is why it belongs here. Reuse raises margin at the same price, and it makes fixed-price and outcome-based pricing viable where time and materials was the only safe basis. The offering economics template records the assets behind each offering for exactly that reason: an offering with no asset behind it is a bespoke build, and bespoke is both slower and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split into two categories that behave differently, and the plan should treat them differently.
Broad technology alliances — the hyperscalers and platform players: Google, AWS, Microsoft and Oracle. They are relevant to every proposition in the catalogue, so they are a portfolio-level relationship rather than an offering-level one. Three things we take from them: co-sell into their own account relationships, funding and credits to activate use cases on their platforms (a real commercial lever, not a nicety — it can fund the first proof of value), and the certifications and platform credibility clients increasingly ask for.
Specialised product vendors — relevant only where the offering matches. Core banking and origination platforms (Temenos and Intellect today), specialised data vendors such as Informatica, and, as the sector priorities imply, the insurance core and fund platform vendors where we currently hold nothing. These are offering-level and sector-level relationships, so the map must show which propositions each sits behind rather than treating them as general alliances.
The gap to close in the cycle: our specialised alliances are banking-weighted. Funds and insurance are priority two and three with no platform partner named, which is a decision the strategy has to make rather than defer.
Two links to the rest of the strategy: the alliance map must reconcile with the account coverage map (an alliance that opens an account should appear against that account), and with the capacity plan, because certifications and accredited people are a real training and hiring cost. Funding available from the broad alliances should also appear in the commercial view — it changes what a first engagement can be priced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modernisation and migration varies by sector and by segment — retail, corporate or SME in banking; life versus general in insurance; fund accounting versus front-office in funds — and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sectors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archetypes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cycle produces decisions, but several of them imply work that cannot finish in three weeks. Naming those as initiatives, with an owner and a date, is what stops the strategy becoming a document that describes an intention nobody is building.
The flagship one is proposal and orals quality, and it is worth stating plainly because it is a live complaint about our own work rather than a theoretical gap.
What good looks like on proposals: a reusable foundation rather than a blank page every time — a modular content library of proposition descriptions, credentials, CVs and case studies kept current; storyline patterns that carry a narrative rather than a list of capabilities; differentiation proof points that answer why us and not an internal team or a cheaper integrator; and a way to bring the whole firm into the answer rather than only our portfolio. The outcome is speed and polish at the same time: assembled, not written.
What good looks like on orals: show, do not tell. Demos of the assets and accelerators, showcases of comparable work, a walk through what the first ninety days actually look like — not a deck read aloud. Rehearsed, with the people who will deliver in the room.
The other initiatives fall out of the pillars: assets and accelerators behind the committed propositions; capability and certification gaps closed by level; alliance activation, especially the funds and insurance platform gap; the eminence calendar stood up; and the tier one account list turned into live pursuits inside the existing account plans.
Mechanics: the register is built in week three as part of the activation plan, each initiative carries pillar, owner, outcome, milestone and date, and it is reviewed monthly alongside the numbers. Initiatives without an owner and a date are wishes.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sectors,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archetypes,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One account, one plan. The firm runs a single account plan per client and it is not ours to duplicate: this table is the EAI&amp;D view that attaches to it. What is genuinely ours to decide is which offerings we prioritise in each account, what we target from them, and who from our side carries it — all of which lands inside the existing plan rather than beside it.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platform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the EAI&amp;D partner accountable for our content in the account, and the alliance or vendor partner we go to market with there. Neither displaces the account leader named in the firm's account plan — where one exists, our owner works inside that account team, and the strategy should say so explicitly to avoid a second chain of accountability forming.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and it differs by sector: COO, CIO or head of retail banking in a bank; COO or head of investment operations in a fund; chief underwriting or claims officer in an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modernisation and migration the drivers include sector and segment (retail, corporate or SME in banking; life or general in insurance; fund accounting or front-office in funds),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platform programme, a data platform build and an AI activation — and again between sectors.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
Skills and enablement is the part most easily left implicit, so it is called out here. Four distinct needs, and they are not the same thing:
- Capability mapping: which skills the catalogue actually requires, offering by offering. Start from the propositions, not from the org chart.
- Offering enablement: the portfolio trained on the catalogue itself, using the proposition one-pagers. This is what makes the integrated market team principle real — a partner who cannot describe the catalogue cannot recognise the signal or position the first level.
- Domain training and industry certification: financial services specific, and specific by sector. Banking, funds and insurance each have their own qualifications, regulatory context and language, and this is what backs the domain-specific principle. Where we are thin in funds and insurance, training is one of the routes in, alongside hiring.
- Alliance and platform certification: the hyperscalers and product vendors require accredited people, and certification levels often gate partner status, funding and co-sell eligibility. It is a cost with a commercial return attached, so it belongs in the plan rather than in someone's development objectives.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the catalogue and the people. Work from the propositions backwards: each one names the capabilities it needs, and this is where they are counted and closed.
Four kinds of row, and they should not be blurred together:
- Offering enablement — the portfolio trained on the catalogue itself, so any partner or director can recognise the signal and position the first level before pulling in a specialist.
- Domain capability — financial services knowledge by sector. Banking, funds and insurance carry different qualifications, regulators and vocabulary, and this is what makes the domain-specific claim true rather than asserted.
- Technical and platform capability — the skills the delivery construct assumes, including the assets and accelerators.
- Certification — alliance and vendor accreditations. These gate partner tier, funding and co-sell eligibility, so they carry a commercial return, not just a development benefit.
Who needs it should say how many and at what level, not simply the practice name. A capability held by one person is a dependency, not a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platform alliances, both weighted to banking. The cycle should decide what we do about funds and insurance platforms, where we currently hold no specialised alliance.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work that outlives the three weeks is recorded and tracked.
The register is built in week three as part of the activation plan, not invented later. Each row states what changes when it is done, in terms someone could verify — not "improve proposal quality" but "a current, modular proposal library covering the committed propositions, used in the next three pursuits".
Expect initiatives in every pillar: account activation turning the tier one list into live pursuits; assets and accelerators behind the committed propositions; capability and certification gaps closed by level; alliance activation, particularly the funds and insurance platform gap; the eminence calendar; and proposal and orals quality.
On that last one, the standard to aim at: proposals assembled from reusable foundations rather than written from scratch, carrying a storyline and explicit differentiation, and able to bring the whole firm into the answer. Orals that show rather than tell — demos, showcases, a walk through the first ninety days, rehearsed, with the delivery people present.
Keep the register short. Six to eight live initiatives is a portfolio; twenty is a backlog nobody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EAI&amp;D  ·  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pack runs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Five parts, in the order the strategy actually gets built.</a:t>
            </a:r>
            <a:endParaRPr lang="en-US" sz="1450" dirty="0"/>
          </a:p>
        </p:txBody>
      </p:sp>
      <p:sp>
        <p:nvSpPr>
          <p:cNvPr id="4" name="Shape 2"/>
          <p:cNvSpPr/>
          <p:nvPr/>
        </p:nvSpPr>
        <p:spPr>
          <a:xfrm>
            <a:off x="640080" y="1783080"/>
            <a:ext cx="10881360" cy="777240"/>
          </a:xfrm>
          <a:prstGeom prst="roundRect">
            <a:avLst>
              <a:gd name="adj" fmla="val 11765"/>
            </a:avLst>
          </a:prstGeom>
          <a:solidFill>
            <a:srgbClr val="F2F6FC"/>
          </a:solidFill>
          <a:ln/>
        </p:spPr>
      </p:sp>
      <p:sp>
        <p:nvSpPr>
          <p:cNvPr id="5" name="Shape 3"/>
          <p:cNvSpPr/>
          <p:nvPr/>
        </p:nvSpPr>
        <p:spPr>
          <a:xfrm>
            <a:off x="640080" y="1783080"/>
            <a:ext cx="1737360" cy="777240"/>
          </a:xfrm>
          <a:prstGeom prst="rect">
            <a:avLst/>
          </a:prstGeom>
          <a:solidFill>
            <a:srgbClr val="1E2761"/>
          </a:solidFill>
          <a:ln/>
        </p:spPr>
      </p:sp>
      <p:sp>
        <p:nvSpPr>
          <p:cNvPr id="6" name="Text 4"/>
          <p:cNvSpPr txBox="1"/>
          <p:nvPr/>
        </p:nvSpPr>
        <p:spPr>
          <a:xfrm>
            <a:off x="640080" y="1783080"/>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ONE</a:t>
            </a:r>
            <a:endParaRPr lang="en-US" sz="1150" dirty="0"/>
          </a:p>
        </p:txBody>
      </p:sp>
      <p:sp>
        <p:nvSpPr>
          <p:cNvPr id="7" name="Text 5"/>
          <p:cNvSpPr txBox="1"/>
          <p:nvPr/>
        </p:nvSpPr>
        <p:spPr>
          <a:xfrm>
            <a:off x="2606040" y="1874520"/>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frame</a:t>
            </a:r>
            <a:endParaRPr lang="en-US" sz="1550" dirty="0"/>
          </a:p>
        </p:txBody>
      </p:sp>
      <p:sp>
        <p:nvSpPr>
          <p:cNvPr id="8" name="Text 6"/>
          <p:cNvSpPr txBox="1"/>
          <p:nvPr/>
        </p:nvSpPr>
        <p:spPr>
          <a:xfrm>
            <a:off x="2606040" y="2194560"/>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What this document is · how this fits · the words we use · the industry we mean</a:t>
            </a:r>
            <a:endParaRPr lang="en-US" sz="1100" dirty="0"/>
          </a:p>
        </p:txBody>
      </p:sp>
      <p:sp>
        <p:nvSpPr>
          <p:cNvPr id="9" name="Text 7"/>
          <p:cNvSpPr txBox="1"/>
          <p:nvPr/>
        </p:nvSpPr>
        <p:spPr>
          <a:xfrm>
            <a:off x="10149840" y="1783080"/>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4 slides</a:t>
            </a:r>
            <a:endParaRPr lang="en-US" sz="1100" dirty="0"/>
          </a:p>
        </p:txBody>
      </p:sp>
      <p:sp>
        <p:nvSpPr>
          <p:cNvPr id="10" name="Shape 8"/>
          <p:cNvSpPr/>
          <p:nvPr/>
        </p:nvSpPr>
        <p:spPr>
          <a:xfrm>
            <a:off x="640080" y="2679192"/>
            <a:ext cx="10881360" cy="777240"/>
          </a:xfrm>
          <a:prstGeom prst="roundRect">
            <a:avLst>
              <a:gd name="adj" fmla="val 11765"/>
            </a:avLst>
          </a:prstGeom>
          <a:solidFill>
            <a:srgbClr val="EDF2FA"/>
          </a:solidFill>
          <a:ln/>
        </p:spPr>
      </p:sp>
      <p:sp>
        <p:nvSpPr>
          <p:cNvPr id="11" name="Shape 9"/>
          <p:cNvSpPr/>
          <p:nvPr/>
        </p:nvSpPr>
        <p:spPr>
          <a:xfrm>
            <a:off x="640080" y="2679192"/>
            <a:ext cx="1737360" cy="777240"/>
          </a:xfrm>
          <a:prstGeom prst="rect">
            <a:avLst/>
          </a:prstGeom>
          <a:solidFill>
            <a:srgbClr val="3E5C8A"/>
          </a:solidFill>
          <a:ln/>
        </p:spPr>
      </p:sp>
      <p:sp>
        <p:nvSpPr>
          <p:cNvPr id="12" name="Text 10"/>
          <p:cNvSpPr txBox="1"/>
          <p:nvPr/>
        </p:nvSpPr>
        <p:spPr>
          <a:xfrm>
            <a:off x="640080" y="2679192"/>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TWO</a:t>
            </a:r>
            <a:endParaRPr lang="en-US" sz="1150" dirty="0"/>
          </a:p>
        </p:txBody>
      </p:sp>
      <p:sp>
        <p:nvSpPr>
          <p:cNvPr id="13" name="Text 11"/>
          <p:cNvSpPr txBox="1"/>
          <p:nvPr/>
        </p:nvSpPr>
        <p:spPr>
          <a:xfrm>
            <a:off x="2606040" y="2770632"/>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destination</a:t>
            </a:r>
            <a:endParaRPr lang="en-US" sz="1550" dirty="0"/>
          </a:p>
        </p:txBody>
      </p:sp>
      <p:sp>
        <p:nvSpPr>
          <p:cNvPr id="14" name="Text 12"/>
          <p:cNvSpPr txBox="1"/>
          <p:nvPr/>
        </p:nvSpPr>
        <p:spPr>
          <a:xfrm>
            <a:off x="2606040" y="3090672"/>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Vision drivers · candidate statements · principles</a:t>
            </a:r>
            <a:endParaRPr lang="en-US" sz="1100" dirty="0"/>
          </a:p>
        </p:txBody>
      </p:sp>
      <p:sp>
        <p:nvSpPr>
          <p:cNvPr id="15" name="Text 13"/>
          <p:cNvSpPr txBox="1"/>
          <p:nvPr/>
        </p:nvSpPr>
        <p:spPr>
          <a:xfrm>
            <a:off x="10149840" y="2679192"/>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6" name="Shape 14"/>
          <p:cNvSpPr/>
          <p:nvPr/>
        </p:nvSpPr>
        <p:spPr>
          <a:xfrm>
            <a:off x="640080" y="3575304"/>
            <a:ext cx="10881360" cy="777240"/>
          </a:xfrm>
          <a:prstGeom prst="roundRect">
            <a:avLst>
              <a:gd name="adj" fmla="val 11765"/>
            </a:avLst>
          </a:prstGeom>
          <a:solidFill>
            <a:srgbClr val="F2F6FC"/>
          </a:solidFill>
          <a:ln/>
        </p:spPr>
      </p:sp>
      <p:sp>
        <p:nvSpPr>
          <p:cNvPr id="17" name="Shape 15"/>
          <p:cNvSpPr/>
          <p:nvPr/>
        </p:nvSpPr>
        <p:spPr>
          <a:xfrm>
            <a:off x="640080" y="3575304"/>
            <a:ext cx="1737360" cy="777240"/>
          </a:xfrm>
          <a:prstGeom prst="rect">
            <a:avLst/>
          </a:prstGeom>
          <a:solidFill>
            <a:srgbClr val="1E2761"/>
          </a:solidFill>
          <a:ln/>
        </p:spPr>
      </p:sp>
      <p:sp>
        <p:nvSpPr>
          <p:cNvPr id="18" name="Text 16"/>
          <p:cNvSpPr txBox="1"/>
          <p:nvPr/>
        </p:nvSpPr>
        <p:spPr>
          <a:xfrm>
            <a:off x="640080" y="3575304"/>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THREE</a:t>
            </a:r>
            <a:endParaRPr lang="en-US" sz="1150" dirty="0"/>
          </a:p>
        </p:txBody>
      </p:sp>
      <p:sp>
        <p:nvSpPr>
          <p:cNvPr id="19" name="Text 17"/>
          <p:cNvSpPr txBox="1"/>
          <p:nvPr/>
        </p:nvSpPr>
        <p:spPr>
          <a:xfrm>
            <a:off x="2606040" y="3666744"/>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What the strategy must cover</a:t>
            </a:r>
            <a:endParaRPr lang="en-US" sz="1550" dirty="0"/>
          </a:p>
        </p:txBody>
      </p:sp>
      <p:sp>
        <p:nvSpPr>
          <p:cNvPr id="20" name="Text 18"/>
          <p:cNvSpPr txBox="1"/>
          <p:nvPr/>
        </p:nvSpPr>
        <p:spPr>
          <a:xfrm>
            <a:off x="2606040" y="3986784"/>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architecture · markets and tiers · the catalogue · delivery, economics and people · alliances and eminence</a:t>
            </a:r>
            <a:endParaRPr lang="en-US" sz="1100" dirty="0"/>
          </a:p>
        </p:txBody>
      </p:sp>
      <p:sp>
        <p:nvSpPr>
          <p:cNvPr id="21" name="Text 19"/>
          <p:cNvSpPr txBox="1"/>
          <p:nvPr/>
        </p:nvSpPr>
        <p:spPr>
          <a:xfrm>
            <a:off x="10149840" y="3575304"/>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7 slides</a:t>
            </a:r>
            <a:endParaRPr lang="en-US" sz="1100" dirty="0"/>
          </a:p>
        </p:txBody>
      </p:sp>
      <p:sp>
        <p:nvSpPr>
          <p:cNvPr id="22" name="Shape 20"/>
          <p:cNvSpPr/>
          <p:nvPr/>
        </p:nvSpPr>
        <p:spPr>
          <a:xfrm>
            <a:off x="640080" y="4471416"/>
            <a:ext cx="10881360" cy="777240"/>
          </a:xfrm>
          <a:prstGeom prst="roundRect">
            <a:avLst>
              <a:gd name="adj" fmla="val 11765"/>
            </a:avLst>
          </a:prstGeom>
          <a:solidFill>
            <a:srgbClr val="EDF2FA"/>
          </a:solidFill>
          <a:ln/>
        </p:spPr>
      </p:sp>
      <p:sp>
        <p:nvSpPr>
          <p:cNvPr id="23" name="Shape 21"/>
          <p:cNvSpPr/>
          <p:nvPr/>
        </p:nvSpPr>
        <p:spPr>
          <a:xfrm>
            <a:off x="640080" y="4471416"/>
            <a:ext cx="1737360" cy="777240"/>
          </a:xfrm>
          <a:prstGeom prst="rect">
            <a:avLst/>
          </a:prstGeom>
          <a:solidFill>
            <a:srgbClr val="3E5C8A"/>
          </a:solidFill>
          <a:ln/>
        </p:spPr>
      </p:sp>
      <p:sp>
        <p:nvSpPr>
          <p:cNvPr id="24" name="Text 22"/>
          <p:cNvSpPr txBox="1"/>
          <p:nvPr/>
        </p:nvSpPr>
        <p:spPr>
          <a:xfrm>
            <a:off x="640080" y="4471416"/>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FOUR</a:t>
            </a:r>
            <a:endParaRPr lang="en-US" sz="1150" dirty="0"/>
          </a:p>
        </p:txBody>
      </p:sp>
      <p:sp>
        <p:nvSpPr>
          <p:cNvPr id="25" name="Text 23"/>
          <p:cNvSpPr txBox="1"/>
          <p:nvPr/>
        </p:nvSpPr>
        <p:spPr>
          <a:xfrm>
            <a:off x="2606040" y="4562856"/>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How we build it</a:t>
            </a:r>
            <a:endParaRPr lang="en-US" sz="1550" dirty="0"/>
          </a:p>
        </p:txBody>
      </p:sp>
      <p:sp>
        <p:nvSpPr>
          <p:cNvPr id="26" name="Text 24"/>
          <p:cNvSpPr txBox="1"/>
          <p:nvPr/>
        </p:nvSpPr>
        <p:spPr>
          <a:xfrm>
            <a:off x="2606040" y="4882896"/>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approach · workstreams and owners · initiatives · the three-week journey · how we run the cycle</a:t>
            </a:r>
            <a:endParaRPr lang="en-US" sz="1100" dirty="0"/>
          </a:p>
        </p:txBody>
      </p:sp>
      <p:sp>
        <p:nvSpPr>
          <p:cNvPr id="27" name="Text 25"/>
          <p:cNvSpPr txBox="1"/>
          <p:nvPr/>
        </p:nvSpPr>
        <p:spPr>
          <a:xfrm>
            <a:off x="10149840" y="4471416"/>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6 slides</a:t>
            </a:r>
            <a:endParaRPr lang="en-US" sz="1100" dirty="0"/>
          </a:p>
        </p:txBody>
      </p:sp>
      <p:sp>
        <p:nvSpPr>
          <p:cNvPr id="28" name="Shape 26"/>
          <p:cNvSpPr/>
          <p:nvPr/>
        </p:nvSpPr>
        <p:spPr>
          <a:xfrm>
            <a:off x="640080" y="5367528"/>
            <a:ext cx="10881360" cy="777240"/>
          </a:xfrm>
          <a:prstGeom prst="roundRect">
            <a:avLst>
              <a:gd name="adj" fmla="val 11765"/>
            </a:avLst>
          </a:prstGeom>
          <a:solidFill>
            <a:srgbClr val="F2F6FC"/>
          </a:solidFill>
          <a:ln/>
        </p:spPr>
      </p:sp>
      <p:sp>
        <p:nvSpPr>
          <p:cNvPr id="29" name="Shape 27"/>
          <p:cNvSpPr/>
          <p:nvPr/>
        </p:nvSpPr>
        <p:spPr>
          <a:xfrm>
            <a:off x="640080" y="5367528"/>
            <a:ext cx="1737360" cy="777240"/>
          </a:xfrm>
          <a:prstGeom prst="rect">
            <a:avLst/>
          </a:prstGeom>
          <a:solidFill>
            <a:srgbClr val="1E2761"/>
          </a:solidFill>
          <a:ln/>
        </p:spPr>
      </p:sp>
      <p:sp>
        <p:nvSpPr>
          <p:cNvPr id="30" name="Text 28"/>
          <p:cNvSpPr txBox="1"/>
          <p:nvPr/>
        </p:nvSpPr>
        <p:spPr>
          <a:xfrm>
            <a:off x="640080" y="5367528"/>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FIVE</a:t>
            </a:r>
            <a:endParaRPr lang="en-US" sz="1150" dirty="0"/>
          </a:p>
        </p:txBody>
      </p:sp>
      <p:sp>
        <p:nvSpPr>
          <p:cNvPr id="31" name="Text 29"/>
          <p:cNvSpPr txBox="1"/>
          <p:nvPr/>
        </p:nvSpPr>
        <p:spPr>
          <a:xfrm>
            <a:off x="2606040" y="5458968"/>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After sign-off</a:t>
            </a:r>
            <a:endParaRPr lang="en-US" sz="1550" dirty="0"/>
          </a:p>
        </p:txBody>
      </p:sp>
      <p:sp>
        <p:nvSpPr>
          <p:cNvPr id="32" name="Text 30"/>
          <p:cNvSpPr txBox="1"/>
          <p:nvPr/>
        </p:nvSpPr>
        <p:spPr>
          <a:xfrm>
            <a:off x="2606040" y="5779008"/>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Governing the execution</a:t>
            </a:r>
            <a:endParaRPr lang="en-US" sz="1100" dirty="0"/>
          </a:p>
        </p:txBody>
      </p:sp>
      <p:sp>
        <p:nvSpPr>
          <p:cNvPr id="33" name="Text 31"/>
          <p:cNvSpPr txBox="1"/>
          <p:nvPr/>
        </p:nvSpPr>
        <p:spPr>
          <a:xfrm>
            <a:off x="10149840" y="5367528"/>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1 slide</a:t>
            </a:r>
            <a:endParaRPr lang="en-US" sz="1100" dirty="0"/>
          </a:p>
        </p:txBody>
      </p:sp>
      <p:sp>
        <p:nvSpPr>
          <p:cNvPr id="34" name="Text 3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ONE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frame</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What this document is, and the industry it is for.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this document is — method, not conclusion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industry we mean: banking, funds and insurance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fits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We sit where two strategies meet — and we plug into them rather than run beside them.</a:t>
            </a:r>
            <a:endParaRPr lang="en-US" sz="1450" dirty="0"/>
          </a:p>
        </p:txBody>
      </p:sp>
      <p:sp>
        <p:nvSpPr>
          <p:cNvPr id="4" name="Shape 2"/>
          <p:cNvSpPr/>
          <p:nvPr/>
        </p:nvSpPr>
        <p:spPr>
          <a:xfrm>
            <a:off x="640080" y="1737360"/>
            <a:ext cx="5303520" cy="868680"/>
          </a:xfrm>
          <a:prstGeom prst="roundRect">
            <a:avLst>
              <a:gd name="adj" fmla="val 10526"/>
            </a:avLst>
          </a:prstGeom>
          <a:solidFill>
            <a:srgbClr val="1E2761"/>
          </a:solidFill>
          <a:ln/>
        </p:spPr>
      </p:sp>
      <p:sp>
        <p:nvSpPr>
          <p:cNvPr id="5" name="Text 3"/>
          <p:cNvSpPr txBox="1"/>
          <p:nvPr/>
        </p:nvSpPr>
        <p:spPr>
          <a:xfrm>
            <a:off x="91440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EAI&amp;D portfolio strategy</a:t>
            </a:r>
            <a:endParaRPr lang="en-US" sz="1500" dirty="0"/>
          </a:p>
        </p:txBody>
      </p:sp>
      <p:sp>
        <p:nvSpPr>
          <p:cNvPr id="6" name="Text 4"/>
          <p:cNvSpPr txBox="1"/>
          <p:nvPr/>
        </p:nvSpPr>
        <p:spPr>
          <a:xfrm>
            <a:off x="91440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Engineering, AI and Data — across every industry we serve</a:t>
            </a:r>
            <a:endParaRPr lang="en-US" sz="1150" dirty="0"/>
          </a:p>
        </p:txBody>
      </p:sp>
      <p:sp>
        <p:nvSpPr>
          <p:cNvPr id="7" name="Shape 5"/>
          <p:cNvSpPr/>
          <p:nvPr/>
        </p:nvSpPr>
        <p:spPr>
          <a:xfrm>
            <a:off x="6217920" y="1737360"/>
            <a:ext cx="5303520" cy="868680"/>
          </a:xfrm>
          <a:prstGeom prst="roundRect">
            <a:avLst>
              <a:gd name="adj" fmla="val 10526"/>
            </a:avLst>
          </a:prstGeom>
          <a:solidFill>
            <a:srgbClr val="3E5C8A"/>
          </a:solidFill>
          <a:ln/>
        </p:spPr>
      </p:sp>
      <p:sp>
        <p:nvSpPr>
          <p:cNvPr id="8" name="Text 6"/>
          <p:cNvSpPr txBox="1"/>
          <p:nvPr/>
        </p:nvSpPr>
        <p:spPr>
          <a:xfrm>
            <a:off x="649224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FSI industry strategy</a:t>
            </a:r>
            <a:endParaRPr lang="en-US" sz="1500" dirty="0"/>
          </a:p>
        </p:txBody>
      </p:sp>
      <p:sp>
        <p:nvSpPr>
          <p:cNvPr id="9" name="Text 7"/>
          <p:cNvSpPr txBox="1"/>
          <p:nvPr/>
        </p:nvSpPr>
        <p:spPr>
          <a:xfrm>
            <a:off x="649224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Financial services — across the whole firm</a:t>
            </a:r>
            <a:endParaRPr lang="en-US" sz="1150" dirty="0"/>
          </a:p>
        </p:txBody>
      </p:sp>
      <p:sp>
        <p:nvSpPr>
          <p:cNvPr id="10" name="Shape 8"/>
          <p:cNvSpPr/>
          <p:nvPr/>
        </p:nvSpPr>
        <p:spPr>
          <a:xfrm>
            <a:off x="3291840" y="2651760"/>
            <a:ext cx="1463040" cy="320040"/>
          </a:xfrm>
          <a:prstGeom prst="line">
            <a:avLst/>
          </a:prstGeom>
          <a:noFill/>
          <a:ln w="19050">
            <a:solidFill>
              <a:srgbClr val="3E5C8A"/>
            </a:solidFill>
            <a:prstDash val="solid"/>
            <a:tailEnd type="triangle"/>
          </a:ln>
        </p:spPr>
      </p:sp>
      <p:sp>
        <p:nvSpPr>
          <p:cNvPr id="11" name="Shape 9"/>
          <p:cNvSpPr/>
          <p:nvPr/>
        </p:nvSpPr>
        <p:spPr>
          <a:xfrm flipH="1">
            <a:off x="7406640" y="2651760"/>
            <a:ext cx="1463040" cy="320040"/>
          </a:xfrm>
          <a:prstGeom prst="line">
            <a:avLst/>
          </a:prstGeom>
          <a:noFill/>
          <a:ln w="19050">
            <a:solidFill>
              <a:srgbClr val="3E5C8A"/>
            </a:solidFill>
            <a:prstDash val="solid"/>
            <a:tailEnd type="triangle"/>
          </a:ln>
        </p:spPr>
      </p:sp>
      <p:sp>
        <p:nvSpPr>
          <p:cNvPr id="12" name="Shape 10"/>
          <p:cNvSpPr/>
          <p:nvPr/>
        </p:nvSpPr>
        <p:spPr>
          <a:xfrm>
            <a:off x="3657600" y="2971800"/>
            <a:ext cx="4846320" cy="658368"/>
          </a:xfrm>
          <a:prstGeom prst="roundRect">
            <a:avLst>
              <a:gd name="adj" fmla="val 13889"/>
            </a:avLst>
          </a:prstGeom>
          <a:solidFill>
            <a:srgbClr val="E4EBF7"/>
          </a:solidFill>
          <a:ln w="15875">
            <a:solidFill>
              <a:srgbClr val="1E2761"/>
            </a:solidFill>
            <a:prstDash val="solid"/>
          </a:ln>
        </p:spPr>
      </p:sp>
      <p:sp>
        <p:nvSpPr>
          <p:cNvPr id="13" name="Text 11"/>
          <p:cNvSpPr txBox="1"/>
          <p:nvPr/>
        </p:nvSpPr>
        <p:spPr>
          <a:xfrm>
            <a:off x="3657600" y="2971800"/>
            <a:ext cx="4846320" cy="658368"/>
          </a:xfrm>
          <a:prstGeom prst="rect">
            <a:avLst/>
          </a:prstGeom>
          <a:noFill/>
          <a:ln/>
        </p:spPr>
        <p:txBody>
          <a:bodyPr wrap="square" lIns="0" tIns="0" rIns="0" bIns="0" rtlCol="0" anchor="ctr"/>
          <a:lstStyle/>
          <a:p>
            <a:pPr algn="ctr" indent="0" marL="0">
              <a:buNone/>
            </a:pPr>
            <a:r>
              <a:rPr lang="en-US" sz="1350" b="1" dirty="0">
                <a:solidFill>
                  <a:srgbClr val="1E2761"/>
                </a:solidFill>
                <a:latin typeface="Calibri" pitchFamily="34" charset="0"/>
                <a:ea typeface="Calibri" pitchFamily="34" charset="-122"/>
                <a:cs typeface="Calibri" pitchFamily="34" charset="-120"/>
              </a:rPr>
              <a:t>EAI&amp;D in financial services — this strategy</a:t>
            </a:r>
            <a:endParaRPr lang="en-US" sz="1350" dirty="0"/>
          </a:p>
        </p:txBody>
      </p:sp>
      <p:sp>
        <p:nvSpPr>
          <p:cNvPr id="14" name="Shape 12"/>
          <p:cNvSpPr/>
          <p:nvPr/>
        </p:nvSpPr>
        <p:spPr>
          <a:xfrm>
            <a:off x="6080760" y="3630168"/>
            <a:ext cx="0" cy="256032"/>
          </a:xfrm>
          <a:prstGeom prst="line">
            <a:avLst/>
          </a:prstGeom>
          <a:noFill/>
          <a:ln w="19050">
            <a:solidFill>
              <a:srgbClr val="3E5C8A"/>
            </a:solidFill>
            <a:prstDash val="solid"/>
            <a:tailEnd type="triangle"/>
          </a:ln>
        </p:spPr>
      </p:sp>
      <p:sp>
        <p:nvSpPr>
          <p:cNvPr id="15" name="Shape 13"/>
          <p:cNvSpPr/>
          <p:nvPr/>
        </p:nvSpPr>
        <p:spPr>
          <a:xfrm>
            <a:off x="640080" y="3931920"/>
            <a:ext cx="3520440" cy="1920240"/>
          </a:xfrm>
          <a:prstGeom prst="roundRect">
            <a:avLst>
              <a:gd name="adj" fmla="val 5714"/>
            </a:avLst>
          </a:prstGeom>
          <a:solidFill>
            <a:srgbClr val="EDF2FA"/>
          </a:solidFill>
          <a:ln/>
        </p:spPr>
      </p:sp>
      <p:sp>
        <p:nvSpPr>
          <p:cNvPr id="16" name="Shape 14"/>
          <p:cNvSpPr/>
          <p:nvPr/>
        </p:nvSpPr>
        <p:spPr>
          <a:xfrm>
            <a:off x="640080" y="3931920"/>
            <a:ext cx="3520440" cy="475488"/>
          </a:xfrm>
          <a:prstGeom prst="rect">
            <a:avLst/>
          </a:prstGeom>
          <a:solidFill>
            <a:srgbClr val="1E2761"/>
          </a:solidFill>
          <a:ln/>
        </p:spPr>
      </p:sp>
      <p:sp>
        <p:nvSpPr>
          <p:cNvPr id="17" name="Text 15"/>
          <p:cNvSpPr txBox="1"/>
          <p:nvPr/>
        </p:nvSpPr>
        <p:spPr>
          <a:xfrm>
            <a:off x="868680"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portfolio</a:t>
            </a:r>
            <a:endParaRPr lang="en-US" sz="1300" dirty="0"/>
          </a:p>
        </p:txBody>
      </p:sp>
      <p:sp>
        <p:nvSpPr>
          <p:cNvPr id="18" name="Text 16"/>
          <p:cNvSpPr txBox="1"/>
          <p:nvPr/>
        </p:nvSpPr>
        <p:spPr>
          <a:xfrm>
            <a:off x="868680"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Vision and direction of travel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Delivery model and quality bars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Alliance framework and partner tiers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Talent and career model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Cascaded financial targets</a:t>
            </a:r>
            <a:endParaRPr lang="en-US" sz="1000" dirty="0"/>
          </a:p>
        </p:txBody>
      </p:sp>
      <p:sp>
        <p:nvSpPr>
          <p:cNvPr id="19" name="Shape 17"/>
          <p:cNvSpPr/>
          <p:nvPr/>
        </p:nvSpPr>
        <p:spPr>
          <a:xfrm>
            <a:off x="4325112" y="3931920"/>
            <a:ext cx="3520440" cy="1920240"/>
          </a:xfrm>
          <a:prstGeom prst="roundRect">
            <a:avLst>
              <a:gd name="adj" fmla="val 5714"/>
            </a:avLst>
          </a:prstGeom>
          <a:solidFill>
            <a:srgbClr val="EDF2FA"/>
          </a:solidFill>
          <a:ln/>
        </p:spPr>
      </p:sp>
      <p:sp>
        <p:nvSpPr>
          <p:cNvPr id="20" name="Shape 18"/>
          <p:cNvSpPr/>
          <p:nvPr/>
        </p:nvSpPr>
        <p:spPr>
          <a:xfrm>
            <a:off x="4325112" y="3931920"/>
            <a:ext cx="3520440" cy="475488"/>
          </a:xfrm>
          <a:prstGeom prst="rect">
            <a:avLst/>
          </a:prstGeom>
          <a:solidFill>
            <a:srgbClr val="3E5C8A"/>
          </a:solidFill>
          <a:ln/>
        </p:spPr>
      </p:sp>
      <p:sp>
        <p:nvSpPr>
          <p:cNvPr id="21" name="Text 19"/>
          <p:cNvSpPr txBox="1"/>
          <p:nvPr/>
        </p:nvSpPr>
        <p:spPr>
          <a:xfrm>
            <a:off x="4553712"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industry</a:t>
            </a:r>
            <a:endParaRPr lang="en-US" sz="1300" dirty="0"/>
          </a:p>
        </p:txBody>
      </p:sp>
      <p:sp>
        <p:nvSpPr>
          <p:cNvPr id="22" name="Text 20"/>
          <p:cNvSpPr txBox="1"/>
          <p:nvPr/>
        </p:nvSpPr>
        <p:spPr>
          <a:xfrm>
            <a:off x="4553712"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firm’s FSI account list and tiering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Account leadership and partner mappings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Industry governance forums and cadence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industry eminence programme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Client relationship plans already in flight</a:t>
            </a:r>
            <a:endParaRPr lang="en-US" sz="1000" dirty="0"/>
          </a:p>
        </p:txBody>
      </p:sp>
      <p:sp>
        <p:nvSpPr>
          <p:cNvPr id="23" name="Shape 21"/>
          <p:cNvSpPr/>
          <p:nvPr/>
        </p:nvSpPr>
        <p:spPr>
          <a:xfrm>
            <a:off x="8010144" y="3931920"/>
            <a:ext cx="3520440" cy="1920240"/>
          </a:xfrm>
          <a:prstGeom prst="roundRect">
            <a:avLst>
              <a:gd name="adj" fmla="val 5714"/>
            </a:avLst>
          </a:prstGeom>
          <a:solidFill>
            <a:srgbClr val="EDF2FA"/>
          </a:solidFill>
          <a:ln/>
        </p:spPr>
      </p:sp>
      <p:sp>
        <p:nvSpPr>
          <p:cNvPr id="24" name="Shape 22"/>
          <p:cNvSpPr/>
          <p:nvPr/>
        </p:nvSpPr>
        <p:spPr>
          <a:xfrm>
            <a:off x="8010144" y="3931920"/>
            <a:ext cx="3520440" cy="475488"/>
          </a:xfrm>
          <a:prstGeom prst="rect">
            <a:avLst/>
          </a:prstGeom>
          <a:solidFill>
            <a:srgbClr val="1E2761"/>
          </a:solidFill>
          <a:ln/>
        </p:spPr>
      </p:sp>
      <p:sp>
        <p:nvSpPr>
          <p:cNvPr id="25" name="Text 23"/>
          <p:cNvSpPr txBox="1"/>
          <p:nvPr/>
        </p:nvSpPr>
        <p:spPr>
          <a:xfrm>
            <a:off x="8238744"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Ours to set</a:t>
            </a:r>
            <a:endParaRPr lang="en-US" sz="1300" dirty="0"/>
          </a:p>
        </p:txBody>
      </p:sp>
      <p:sp>
        <p:nvSpPr>
          <p:cNvPr id="26" name="Text 24"/>
          <p:cNvSpPr txBox="1"/>
          <p:nvPr/>
        </p:nvSpPr>
        <p:spPr>
          <a:xfrm>
            <a:off x="8238744"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How our propositions land in those accounts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Offering economics: construct, ADR, margin</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Sector platform alliances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FSI capability, certification and hiring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Our revenue targets by account and offering</a:t>
            </a:r>
            <a:endParaRPr lang="en-US" sz="1000" dirty="0"/>
          </a:p>
        </p:txBody>
      </p:sp>
      <p:sp>
        <p:nvSpPr>
          <p:cNvPr id="27" name="Shape 25"/>
          <p:cNvSpPr/>
          <p:nvPr/>
        </p:nvSpPr>
        <p:spPr>
          <a:xfrm>
            <a:off x="640080" y="5989320"/>
            <a:ext cx="10881360" cy="685800"/>
          </a:xfrm>
          <a:prstGeom prst="roundRect">
            <a:avLst>
              <a:gd name="adj" fmla="val 13333"/>
            </a:avLst>
          </a:prstGeom>
          <a:solidFill>
            <a:srgbClr val="1E2761"/>
          </a:solidFill>
          <a:ln/>
        </p:spPr>
      </p:sp>
      <p:sp>
        <p:nvSpPr>
          <p:cNvPr id="28" name="Text 26"/>
          <p:cNvSpPr txBox="1"/>
          <p:nvPr/>
        </p:nvSpPr>
        <p:spPr>
          <a:xfrm>
            <a:off x="914400" y="5989320"/>
            <a:ext cx="10332720" cy="6858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No parallel machinery: we use the existing account plans, forums and eminence programme, and add the EAI&amp;D layer inside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words we use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Agreed before anything else, because half the arguments are vocabulary.</a:t>
            </a:r>
            <a:endParaRPr lang="en-US" sz="1450" dirty="0"/>
          </a:p>
        </p:txBody>
      </p:sp>
      <p:sp>
        <p:nvSpPr>
          <p:cNvPr id="4" name="Shape 2"/>
          <p:cNvSpPr/>
          <p:nvPr/>
        </p:nvSpPr>
        <p:spPr>
          <a:xfrm>
            <a:off x="640080" y="1783080"/>
            <a:ext cx="3520440" cy="932688"/>
          </a:xfrm>
          <a:prstGeom prst="roundRect">
            <a:avLst>
              <a:gd name="adj" fmla="val 9804"/>
            </a:avLst>
          </a:prstGeom>
          <a:solidFill>
            <a:srgbClr val="F2F6FC"/>
          </a:solidFill>
          <a:ln/>
        </p:spPr>
      </p:sp>
      <p:sp>
        <p:nvSpPr>
          <p:cNvPr id="5" name="Text 3"/>
          <p:cNvSpPr txBox="1"/>
          <p:nvPr/>
        </p:nvSpPr>
        <p:spPr>
          <a:xfrm>
            <a:off x="896112" y="1874520"/>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Portfolio</a:t>
            </a:r>
            <a:endParaRPr lang="en-US" sz="1400" dirty="0"/>
          </a:p>
        </p:txBody>
      </p:sp>
      <p:sp>
        <p:nvSpPr>
          <p:cNvPr id="6" name="Text 4"/>
          <p:cNvSpPr txBox="1"/>
          <p:nvPr/>
        </p:nvSpPr>
        <p:spPr>
          <a:xfrm>
            <a:off x="896112" y="2167128"/>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EAI&amp;D — Engineering, AI and Data. One portfolio, several industries.</a:t>
            </a:r>
            <a:endParaRPr lang="en-US" sz="1000" dirty="0"/>
          </a:p>
        </p:txBody>
      </p:sp>
      <p:sp>
        <p:nvSpPr>
          <p:cNvPr id="7" name="Shape 5"/>
          <p:cNvSpPr/>
          <p:nvPr/>
        </p:nvSpPr>
        <p:spPr>
          <a:xfrm>
            <a:off x="4325112" y="1783080"/>
            <a:ext cx="3520440" cy="932688"/>
          </a:xfrm>
          <a:prstGeom prst="roundRect">
            <a:avLst>
              <a:gd name="adj" fmla="val 9804"/>
            </a:avLst>
          </a:prstGeom>
          <a:solidFill>
            <a:srgbClr val="EDF2FA"/>
          </a:solidFill>
          <a:ln/>
        </p:spPr>
      </p:sp>
      <p:sp>
        <p:nvSpPr>
          <p:cNvPr id="8" name="Text 6"/>
          <p:cNvSpPr txBox="1"/>
          <p:nvPr/>
        </p:nvSpPr>
        <p:spPr>
          <a:xfrm>
            <a:off x="4581144" y="1874520"/>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Offering</a:t>
            </a:r>
            <a:endParaRPr lang="en-US" sz="1400" dirty="0"/>
          </a:p>
        </p:txBody>
      </p:sp>
      <p:sp>
        <p:nvSpPr>
          <p:cNvPr id="9" name="Text 7"/>
          <p:cNvSpPr txBox="1"/>
          <p:nvPr/>
        </p:nvSpPr>
        <p:spPr>
          <a:xfrm>
            <a:off x="4581144" y="2167128"/>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An internal capability unit of the portfolio: Industry Solutions, AI and Data, Engineering.</a:t>
            </a:r>
            <a:endParaRPr lang="en-US" sz="1000" dirty="0"/>
          </a:p>
        </p:txBody>
      </p:sp>
      <p:sp>
        <p:nvSpPr>
          <p:cNvPr id="10" name="Shape 8"/>
          <p:cNvSpPr/>
          <p:nvPr/>
        </p:nvSpPr>
        <p:spPr>
          <a:xfrm>
            <a:off x="8010144" y="1783080"/>
            <a:ext cx="3520440" cy="932688"/>
          </a:xfrm>
          <a:prstGeom prst="roundRect">
            <a:avLst>
              <a:gd name="adj" fmla="val 9804"/>
            </a:avLst>
          </a:prstGeom>
          <a:solidFill>
            <a:srgbClr val="F2F6FC"/>
          </a:solidFill>
          <a:ln/>
        </p:spPr>
      </p:sp>
      <p:sp>
        <p:nvSpPr>
          <p:cNvPr id="11" name="Text 9"/>
          <p:cNvSpPr txBox="1"/>
          <p:nvPr/>
        </p:nvSpPr>
        <p:spPr>
          <a:xfrm>
            <a:off x="8266176" y="1874520"/>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Proposition</a:t>
            </a:r>
            <a:endParaRPr lang="en-US" sz="1400" dirty="0"/>
          </a:p>
        </p:txBody>
      </p:sp>
      <p:sp>
        <p:nvSpPr>
          <p:cNvPr id="12" name="Text 10"/>
          <p:cNvSpPr txBox="1"/>
          <p:nvPr/>
        </p:nvSpPr>
        <p:spPr>
          <a:xfrm>
            <a:off x="8266176" y="2167128"/>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What we take to market. Integrated when it spans two or more offerings, focused when it sits within one.</a:t>
            </a:r>
            <a:endParaRPr lang="en-US" sz="1000" dirty="0"/>
          </a:p>
        </p:txBody>
      </p:sp>
      <p:sp>
        <p:nvSpPr>
          <p:cNvPr id="13" name="Shape 11"/>
          <p:cNvSpPr/>
          <p:nvPr/>
        </p:nvSpPr>
        <p:spPr>
          <a:xfrm>
            <a:off x="640080" y="2843784"/>
            <a:ext cx="3520440" cy="932688"/>
          </a:xfrm>
          <a:prstGeom prst="roundRect">
            <a:avLst>
              <a:gd name="adj" fmla="val 9804"/>
            </a:avLst>
          </a:prstGeom>
          <a:solidFill>
            <a:srgbClr val="EDF2FA"/>
          </a:solidFill>
          <a:ln/>
        </p:spPr>
      </p:sp>
      <p:sp>
        <p:nvSpPr>
          <p:cNvPr id="14" name="Text 12"/>
          <p:cNvSpPr txBox="1"/>
          <p:nvPr/>
        </p:nvSpPr>
        <p:spPr>
          <a:xfrm>
            <a:off x="896112" y="2935224"/>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Archetype</a:t>
            </a:r>
            <a:endParaRPr lang="en-US" sz="1400" dirty="0"/>
          </a:p>
        </p:txBody>
      </p:sp>
      <p:sp>
        <p:nvSpPr>
          <p:cNvPr id="15" name="Text 13"/>
          <p:cNvSpPr txBox="1"/>
          <p:nvPr/>
        </p:nvSpPr>
        <p:spPr>
          <a:xfrm>
            <a:off x="896112" y="3227832"/>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A recognised shape a proposition takes — by scope, sector or delivery model. Each carries its own economics.</a:t>
            </a:r>
            <a:endParaRPr lang="en-US" sz="1000" dirty="0"/>
          </a:p>
        </p:txBody>
      </p:sp>
      <p:sp>
        <p:nvSpPr>
          <p:cNvPr id="16" name="Shape 14"/>
          <p:cNvSpPr/>
          <p:nvPr/>
        </p:nvSpPr>
        <p:spPr>
          <a:xfrm>
            <a:off x="4325112" y="2843784"/>
            <a:ext cx="3520440" cy="932688"/>
          </a:xfrm>
          <a:prstGeom prst="roundRect">
            <a:avLst>
              <a:gd name="adj" fmla="val 9804"/>
            </a:avLst>
          </a:prstGeom>
          <a:solidFill>
            <a:srgbClr val="F2F6FC"/>
          </a:solidFill>
          <a:ln/>
        </p:spPr>
      </p:sp>
      <p:sp>
        <p:nvSpPr>
          <p:cNvPr id="17" name="Text 15"/>
          <p:cNvSpPr txBox="1"/>
          <p:nvPr/>
        </p:nvSpPr>
        <p:spPr>
          <a:xfrm>
            <a:off x="4581144" y="2935224"/>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Use case</a:t>
            </a:r>
            <a:endParaRPr lang="en-US" sz="1400" dirty="0"/>
          </a:p>
        </p:txBody>
      </p:sp>
      <p:sp>
        <p:nvSpPr>
          <p:cNvPr id="18" name="Text 16"/>
          <p:cNvSpPr txBox="1"/>
          <p:nvPr/>
        </p:nvSpPr>
        <p:spPr>
          <a:xfrm>
            <a:off x="4581144" y="3227832"/>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The specific client problem a proposition is sold against.</a:t>
            </a:r>
            <a:endParaRPr lang="en-US" sz="1000" dirty="0"/>
          </a:p>
        </p:txBody>
      </p:sp>
      <p:sp>
        <p:nvSpPr>
          <p:cNvPr id="19" name="Shape 17"/>
          <p:cNvSpPr/>
          <p:nvPr/>
        </p:nvSpPr>
        <p:spPr>
          <a:xfrm>
            <a:off x="8010144" y="2843784"/>
            <a:ext cx="3520440" cy="932688"/>
          </a:xfrm>
          <a:prstGeom prst="roundRect">
            <a:avLst>
              <a:gd name="adj" fmla="val 9804"/>
            </a:avLst>
          </a:prstGeom>
          <a:solidFill>
            <a:srgbClr val="EDF2FA"/>
          </a:solidFill>
          <a:ln/>
        </p:spPr>
      </p:sp>
      <p:sp>
        <p:nvSpPr>
          <p:cNvPr id="20" name="Text 18"/>
          <p:cNvSpPr txBox="1"/>
          <p:nvPr/>
        </p:nvSpPr>
        <p:spPr>
          <a:xfrm>
            <a:off x="8266176" y="2935224"/>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Sector</a:t>
            </a:r>
            <a:endParaRPr lang="en-US" sz="1400" dirty="0"/>
          </a:p>
        </p:txBody>
      </p:sp>
      <p:sp>
        <p:nvSpPr>
          <p:cNvPr id="21" name="Text 19"/>
          <p:cNvSpPr txBox="1"/>
          <p:nvPr/>
        </p:nvSpPr>
        <p:spPr>
          <a:xfrm>
            <a:off x="8266176" y="3227832"/>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Banking, funds or insurance. Not a market, and not interchangeable.</a:t>
            </a:r>
            <a:endParaRPr lang="en-US" sz="1000" dirty="0"/>
          </a:p>
        </p:txBody>
      </p:sp>
      <p:sp>
        <p:nvSpPr>
          <p:cNvPr id="22" name="Shape 20"/>
          <p:cNvSpPr/>
          <p:nvPr/>
        </p:nvSpPr>
        <p:spPr>
          <a:xfrm>
            <a:off x="640080" y="3904488"/>
            <a:ext cx="3520440" cy="932688"/>
          </a:xfrm>
          <a:prstGeom prst="roundRect">
            <a:avLst>
              <a:gd name="adj" fmla="val 9804"/>
            </a:avLst>
          </a:prstGeom>
          <a:solidFill>
            <a:srgbClr val="F2F6FC"/>
          </a:solidFill>
          <a:ln/>
        </p:spPr>
      </p:sp>
      <p:sp>
        <p:nvSpPr>
          <p:cNvPr id="23" name="Text 21"/>
          <p:cNvSpPr txBox="1"/>
          <p:nvPr/>
        </p:nvSpPr>
        <p:spPr>
          <a:xfrm>
            <a:off x="896112" y="3995928"/>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Segment</a:t>
            </a:r>
            <a:endParaRPr lang="en-US" sz="1400" dirty="0"/>
          </a:p>
        </p:txBody>
      </p:sp>
      <p:sp>
        <p:nvSpPr>
          <p:cNvPr id="24" name="Text 22"/>
          <p:cNvSpPr txBox="1"/>
          <p:nvPr/>
        </p:nvSpPr>
        <p:spPr>
          <a:xfrm>
            <a:off x="896112" y="4288536"/>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A slice within a sector — retail, corporate, SME, life, general, and so on.</a:t>
            </a:r>
            <a:endParaRPr lang="en-US" sz="1000" dirty="0"/>
          </a:p>
        </p:txBody>
      </p:sp>
      <p:sp>
        <p:nvSpPr>
          <p:cNvPr id="25" name="Shape 23"/>
          <p:cNvSpPr/>
          <p:nvPr/>
        </p:nvSpPr>
        <p:spPr>
          <a:xfrm>
            <a:off x="4325112" y="3904488"/>
            <a:ext cx="3520440" cy="932688"/>
          </a:xfrm>
          <a:prstGeom prst="roundRect">
            <a:avLst>
              <a:gd name="adj" fmla="val 9804"/>
            </a:avLst>
          </a:prstGeom>
          <a:solidFill>
            <a:srgbClr val="EDF2FA"/>
          </a:solidFill>
          <a:ln/>
        </p:spPr>
      </p:sp>
      <p:sp>
        <p:nvSpPr>
          <p:cNvPr id="26" name="Text 24"/>
          <p:cNvSpPr txBox="1"/>
          <p:nvPr/>
        </p:nvSpPr>
        <p:spPr>
          <a:xfrm>
            <a:off x="4581144" y="3995928"/>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Market</a:t>
            </a:r>
            <a:endParaRPr lang="en-US" sz="1400" dirty="0"/>
          </a:p>
        </p:txBody>
      </p:sp>
      <p:sp>
        <p:nvSpPr>
          <p:cNvPr id="27" name="Text 25"/>
          <p:cNvSpPr txBox="1"/>
          <p:nvPr/>
        </p:nvSpPr>
        <p:spPr>
          <a:xfrm>
            <a:off x="4581144" y="4288536"/>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A country we sell into, each tiered one or two.</a:t>
            </a:r>
            <a:endParaRPr lang="en-US" sz="1000" dirty="0"/>
          </a:p>
        </p:txBody>
      </p:sp>
      <p:sp>
        <p:nvSpPr>
          <p:cNvPr id="28" name="Shape 26"/>
          <p:cNvSpPr/>
          <p:nvPr/>
        </p:nvSpPr>
        <p:spPr>
          <a:xfrm>
            <a:off x="8010144" y="3904488"/>
            <a:ext cx="3520440" cy="932688"/>
          </a:xfrm>
          <a:prstGeom prst="roundRect">
            <a:avLst>
              <a:gd name="adj" fmla="val 9804"/>
            </a:avLst>
          </a:prstGeom>
          <a:solidFill>
            <a:srgbClr val="F2F6FC"/>
          </a:solidFill>
          <a:ln/>
        </p:spPr>
      </p:sp>
      <p:sp>
        <p:nvSpPr>
          <p:cNvPr id="29" name="Text 27"/>
          <p:cNvSpPr txBox="1"/>
          <p:nvPr/>
        </p:nvSpPr>
        <p:spPr>
          <a:xfrm>
            <a:off x="8266176" y="3995928"/>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Account plan</a:t>
            </a:r>
            <a:endParaRPr lang="en-US" sz="1400" dirty="0"/>
          </a:p>
        </p:txBody>
      </p:sp>
      <p:sp>
        <p:nvSpPr>
          <p:cNvPr id="30" name="Text 28"/>
          <p:cNvSpPr txBox="1"/>
          <p:nvPr/>
        </p:nvSpPr>
        <p:spPr>
          <a:xfrm>
            <a:off x="8266176" y="4288536"/>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The firm’s single plan per client. Our content is a layer inside it, never a second plan.</a:t>
            </a:r>
            <a:endParaRPr lang="en-US" sz="1000" dirty="0"/>
          </a:p>
        </p:txBody>
      </p:sp>
      <p:sp>
        <p:nvSpPr>
          <p:cNvPr id="31" name="Shape 29"/>
          <p:cNvSpPr/>
          <p:nvPr/>
        </p:nvSpPr>
        <p:spPr>
          <a:xfrm>
            <a:off x="640080" y="4965192"/>
            <a:ext cx="3520440" cy="932688"/>
          </a:xfrm>
          <a:prstGeom prst="roundRect">
            <a:avLst>
              <a:gd name="adj" fmla="val 9804"/>
            </a:avLst>
          </a:prstGeom>
          <a:solidFill>
            <a:srgbClr val="EDF2FA"/>
          </a:solidFill>
          <a:ln/>
        </p:spPr>
      </p:sp>
      <p:sp>
        <p:nvSpPr>
          <p:cNvPr id="32" name="Text 30"/>
          <p:cNvSpPr txBox="1"/>
          <p:nvPr/>
        </p:nvSpPr>
        <p:spPr>
          <a:xfrm>
            <a:off x="896112" y="5056632"/>
            <a:ext cx="301752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Pillar</a:t>
            </a:r>
            <a:endParaRPr lang="en-US" sz="1400" dirty="0"/>
          </a:p>
        </p:txBody>
      </p:sp>
      <p:sp>
        <p:nvSpPr>
          <p:cNvPr id="33" name="Text 31"/>
          <p:cNvSpPr txBox="1"/>
          <p:nvPr/>
        </p:nvSpPr>
        <p:spPr>
          <a:xfrm>
            <a:off x="896112" y="5349240"/>
            <a:ext cx="3017520" cy="512064"/>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A section of this strategy — never a synonym for offering.</a:t>
            </a:r>
            <a:endParaRPr lang="en-US" sz="1000" dirty="0"/>
          </a:p>
        </p:txBody>
      </p:sp>
      <p:sp>
        <p:nvSpPr>
          <p:cNvPr id="34" name="Shape 32"/>
          <p:cNvSpPr/>
          <p:nvPr/>
        </p:nvSpPr>
        <p:spPr>
          <a:xfrm>
            <a:off x="640080" y="6126480"/>
            <a:ext cx="10881360" cy="566928"/>
          </a:xfrm>
          <a:prstGeom prst="roundRect">
            <a:avLst>
              <a:gd name="adj" fmla="val 16129"/>
            </a:avLst>
          </a:prstGeom>
          <a:solidFill>
            <a:srgbClr val="1E2761"/>
          </a:solidFill>
          <a:ln/>
        </p:spPr>
      </p:sp>
      <p:sp>
        <p:nvSpPr>
          <p:cNvPr id="35" name="Text 33"/>
          <p:cNvSpPr txBox="1"/>
          <p:nvPr/>
        </p:nvSpPr>
        <p:spPr>
          <a:xfrm>
            <a:off x="914400" y="6126480"/>
            <a:ext cx="10332720" cy="566928"/>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Offerings are how we are organised. Propositions are what the client buys. The catalogue is made of propositions, not offerings.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industry we mean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Financial services is three sectors, and they are not interchangeable.</a:t>
            </a:r>
            <a:endParaRPr lang="en-US" sz="1450" dirty="0"/>
          </a:p>
        </p:txBody>
      </p:sp>
      <p:sp>
        <p:nvSpPr>
          <p:cNvPr id="4" name="Shape 2"/>
          <p:cNvSpPr/>
          <p:nvPr/>
        </p:nvSpPr>
        <p:spPr>
          <a:xfrm>
            <a:off x="640080" y="1828800"/>
            <a:ext cx="3520440" cy="3200400"/>
          </a:xfrm>
          <a:prstGeom prst="roundRect">
            <a:avLst>
              <a:gd name="adj" fmla="val 3429"/>
            </a:avLst>
          </a:prstGeom>
          <a:solidFill>
            <a:srgbClr val="EDF2FA"/>
          </a:solidFill>
          <a:ln/>
        </p:spPr>
      </p:sp>
      <p:sp>
        <p:nvSpPr>
          <p:cNvPr id="5" name="Shape 3"/>
          <p:cNvSpPr/>
          <p:nvPr/>
        </p:nvSpPr>
        <p:spPr>
          <a:xfrm>
            <a:off x="640080" y="1828800"/>
            <a:ext cx="3520440" cy="868680"/>
          </a:xfrm>
          <a:prstGeom prst="rect">
            <a:avLst/>
          </a:prstGeom>
          <a:solidFill>
            <a:srgbClr val="1E2761"/>
          </a:solidFill>
          <a:ln/>
        </p:spPr>
      </p:sp>
      <p:sp>
        <p:nvSpPr>
          <p:cNvPr id="6" name="Text 4"/>
          <p:cNvSpPr txBox="1"/>
          <p:nvPr/>
        </p:nvSpPr>
        <p:spPr>
          <a:xfrm>
            <a:off x="914400"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Banking</a:t>
            </a:r>
            <a:endParaRPr lang="en-US" sz="1900" dirty="0"/>
          </a:p>
        </p:txBody>
      </p:sp>
      <p:sp>
        <p:nvSpPr>
          <p:cNvPr id="7" name="Text 5"/>
          <p:cNvSpPr txBox="1"/>
          <p:nvPr/>
        </p:nvSpPr>
        <p:spPr>
          <a:xfrm>
            <a:off x="914400"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Priority sector</a:t>
            </a:r>
            <a:endParaRPr lang="en-US" sz="1150" dirty="0"/>
          </a:p>
        </p:txBody>
      </p:sp>
      <p:sp>
        <p:nvSpPr>
          <p:cNvPr id="8" name="Text 6"/>
          <p:cNvSpPr txBox="1"/>
          <p:nvPr/>
        </p:nvSpPr>
        <p:spPr>
          <a:xfrm>
            <a:off x="3383280"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9" name="Text 7"/>
          <p:cNvSpPr txBox="1"/>
          <p:nvPr/>
        </p:nvSpPr>
        <p:spPr>
          <a:xfrm>
            <a:off x="914400"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Retail, corporate and SME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Islamic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Payments and cards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Greenfield and challenger banks</a:t>
            </a:r>
            <a:endParaRPr lang="en-US" sz="1200" dirty="0"/>
          </a:p>
        </p:txBody>
      </p:sp>
      <p:sp>
        <p:nvSpPr>
          <p:cNvPr id="10" name="Shape 8"/>
          <p:cNvSpPr/>
          <p:nvPr/>
        </p:nvSpPr>
        <p:spPr>
          <a:xfrm>
            <a:off x="4325112" y="1828800"/>
            <a:ext cx="3520440" cy="3200400"/>
          </a:xfrm>
          <a:prstGeom prst="roundRect">
            <a:avLst>
              <a:gd name="adj" fmla="val 3429"/>
            </a:avLst>
          </a:prstGeom>
          <a:solidFill>
            <a:srgbClr val="EDF2FA"/>
          </a:solidFill>
          <a:ln/>
        </p:spPr>
      </p:sp>
      <p:sp>
        <p:nvSpPr>
          <p:cNvPr id="11" name="Shape 9"/>
          <p:cNvSpPr/>
          <p:nvPr/>
        </p:nvSpPr>
        <p:spPr>
          <a:xfrm>
            <a:off x="4325112" y="1828800"/>
            <a:ext cx="3520440" cy="868680"/>
          </a:xfrm>
          <a:prstGeom prst="rect">
            <a:avLst/>
          </a:prstGeom>
          <a:solidFill>
            <a:srgbClr val="3E5C8A"/>
          </a:solidFill>
          <a:ln/>
        </p:spPr>
      </p:sp>
      <p:sp>
        <p:nvSpPr>
          <p:cNvPr id="12" name="Text 10"/>
          <p:cNvSpPr txBox="1"/>
          <p:nvPr/>
        </p:nvSpPr>
        <p:spPr>
          <a:xfrm>
            <a:off x="4599432"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Funds</a:t>
            </a:r>
            <a:endParaRPr lang="en-US" sz="1900" dirty="0"/>
          </a:p>
        </p:txBody>
      </p:sp>
      <p:sp>
        <p:nvSpPr>
          <p:cNvPr id="13" name="Text 11"/>
          <p:cNvSpPr txBox="1"/>
          <p:nvPr/>
        </p:nvSpPr>
        <p:spPr>
          <a:xfrm>
            <a:off x="4599432"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Second priority</a:t>
            </a:r>
            <a:endParaRPr lang="en-US" sz="1150" dirty="0"/>
          </a:p>
        </p:txBody>
      </p:sp>
      <p:sp>
        <p:nvSpPr>
          <p:cNvPr id="14" name="Text 12"/>
          <p:cNvSpPr txBox="1"/>
          <p:nvPr/>
        </p:nvSpPr>
        <p:spPr>
          <a:xfrm>
            <a:off x="7068312"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txBox="1"/>
          <p:nvPr/>
        </p:nvSpPr>
        <p:spPr>
          <a:xfrm>
            <a:off x="4599432"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Sovereign wealth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National and development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Fund and investment management</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Investment operations and custody</a:t>
            </a:r>
            <a:endParaRPr lang="en-US" sz="1200" dirty="0"/>
          </a:p>
        </p:txBody>
      </p:sp>
      <p:sp>
        <p:nvSpPr>
          <p:cNvPr id="16" name="Shape 14"/>
          <p:cNvSpPr/>
          <p:nvPr/>
        </p:nvSpPr>
        <p:spPr>
          <a:xfrm>
            <a:off x="8010144" y="1828800"/>
            <a:ext cx="3520440" cy="3200400"/>
          </a:xfrm>
          <a:prstGeom prst="roundRect">
            <a:avLst>
              <a:gd name="adj" fmla="val 3429"/>
            </a:avLst>
          </a:prstGeom>
          <a:solidFill>
            <a:srgbClr val="EDF2FA"/>
          </a:solidFill>
          <a:ln/>
        </p:spPr>
      </p:sp>
      <p:sp>
        <p:nvSpPr>
          <p:cNvPr id="17" name="Shape 15"/>
          <p:cNvSpPr/>
          <p:nvPr/>
        </p:nvSpPr>
        <p:spPr>
          <a:xfrm>
            <a:off x="8010144" y="1828800"/>
            <a:ext cx="3520440" cy="868680"/>
          </a:xfrm>
          <a:prstGeom prst="rect">
            <a:avLst/>
          </a:prstGeom>
          <a:solidFill>
            <a:srgbClr val="1E2761"/>
          </a:solidFill>
          <a:ln/>
        </p:spPr>
      </p:sp>
      <p:sp>
        <p:nvSpPr>
          <p:cNvPr id="18" name="Text 16"/>
          <p:cNvSpPr txBox="1"/>
          <p:nvPr/>
        </p:nvSpPr>
        <p:spPr>
          <a:xfrm>
            <a:off x="8284464"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Insurance</a:t>
            </a:r>
            <a:endParaRPr lang="en-US" sz="1900" dirty="0"/>
          </a:p>
        </p:txBody>
      </p:sp>
      <p:sp>
        <p:nvSpPr>
          <p:cNvPr id="19" name="Text 17"/>
          <p:cNvSpPr txBox="1"/>
          <p:nvPr/>
        </p:nvSpPr>
        <p:spPr>
          <a:xfrm>
            <a:off x="8284464"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Third priority</a:t>
            </a:r>
            <a:endParaRPr lang="en-US" sz="1150" dirty="0"/>
          </a:p>
        </p:txBody>
      </p:sp>
      <p:sp>
        <p:nvSpPr>
          <p:cNvPr id="20" name="Text 18"/>
          <p:cNvSpPr txBox="1"/>
          <p:nvPr/>
        </p:nvSpPr>
        <p:spPr>
          <a:xfrm>
            <a:off x="10753344"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1" name="Text 19"/>
          <p:cNvSpPr txBox="1"/>
          <p:nvPr/>
        </p:nvSpPr>
        <p:spPr>
          <a:xfrm>
            <a:off x="8284464"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Life and general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Takaful</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Health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Brokers and reinsurance</a:t>
            </a:r>
            <a:endParaRPr lang="en-US" sz="1200" dirty="0"/>
          </a:p>
        </p:txBody>
      </p:sp>
      <p:sp>
        <p:nvSpPr>
          <p:cNvPr id="22" name="Shape 20"/>
          <p:cNvSpPr/>
          <p:nvPr/>
        </p:nvSpPr>
        <p:spPr>
          <a:xfrm>
            <a:off x="640080" y="5212080"/>
            <a:ext cx="10881360" cy="914400"/>
          </a:xfrm>
          <a:prstGeom prst="roundRect">
            <a:avLst>
              <a:gd name="adj" fmla="val 10000"/>
            </a:avLst>
          </a:prstGeom>
          <a:solidFill>
            <a:srgbClr val="1E2761"/>
          </a:solidFill>
          <a:ln/>
        </p:spPr>
      </p:sp>
      <p:sp>
        <p:nvSpPr>
          <p:cNvPr id="23" name="Text 21"/>
          <p:cNvSpPr txBox="1"/>
          <p:nvPr/>
        </p:nvSpPr>
        <p:spPr>
          <a:xfrm>
            <a:off x="914400" y="5212080"/>
            <a:ext cx="10332720" cy="9144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Sector is a dimension throughout: every proposition says which sectors it serves, every account carries its sector, and targets are set by market and sector, not for FSI as a whole.</a:t>
            </a:r>
            <a:endParaRPr lang="en-US" sz="1300" dirty="0"/>
          </a:p>
        </p:txBody>
      </p:sp>
      <p:sp>
        <p:nvSpPr>
          <p:cNvPr id="24" name="Text 22"/>
          <p:cNvSpPr txBox="1"/>
          <p:nvPr/>
        </p:nvSpPr>
        <p:spPr>
          <a:xfrm>
            <a:off x="640080" y="621792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Segments within each sector are indicative; the cycle confirms which we actually pursue.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TWO</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destination</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are going, and the rules we hold going in.</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the vision has to earn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Three candidate statements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Principles we hold going in</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vision has to earn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drivers, agreed before the words. Every candidate is tested against them.</a:t>
            </a:r>
            <a:endParaRPr lang="en-US" sz="1450" dirty="0"/>
          </a:p>
        </p:txBody>
      </p:sp>
      <p:sp>
        <p:nvSpPr>
          <p:cNvPr id="4" name="Shape 2"/>
          <p:cNvSpPr/>
          <p:nvPr/>
        </p:nvSpPr>
        <p:spPr>
          <a:xfrm>
            <a:off x="640080" y="1874520"/>
            <a:ext cx="3520440" cy="1783080"/>
          </a:xfrm>
          <a:prstGeom prst="roundRect">
            <a:avLst>
              <a:gd name="adj" fmla="val 6154"/>
            </a:avLst>
          </a:prstGeom>
          <a:solidFill>
            <a:srgbClr val="E4EBF7"/>
          </a:solidFill>
          <a:ln/>
        </p:spPr>
      </p:sp>
      <p:sp>
        <p:nvSpPr>
          <p:cNvPr id="5" name="Shape 3"/>
          <p:cNvSpPr/>
          <p:nvPr/>
        </p:nvSpPr>
        <p:spPr>
          <a:xfrm>
            <a:off x="896112" y="2112264"/>
            <a:ext cx="384048" cy="384048"/>
          </a:xfrm>
          <a:prstGeom prst="ellipse">
            <a:avLst/>
          </a:prstGeom>
          <a:solidFill>
            <a:srgbClr val="1E2761"/>
          </a:solidFill>
          <a:ln/>
        </p:spPr>
      </p:sp>
      <p:sp>
        <p:nvSpPr>
          <p:cNvPr id="6" name="Text 4"/>
          <p:cNvSpPr txBox="1"/>
          <p:nvPr/>
        </p:nvSpPr>
        <p:spPr>
          <a:xfrm>
            <a:off x="896112"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No seams</a:t>
            </a:r>
            <a:endParaRPr lang="en-US" sz="1500" dirty="0"/>
          </a:p>
        </p:txBody>
      </p:sp>
      <p:sp>
        <p:nvSpPr>
          <p:cNvPr id="8" name="Text 6"/>
          <p:cNvSpPr txBox="1"/>
          <p:nvPr/>
        </p:nvSpPr>
        <p:spPr>
          <a:xfrm>
            <a:off x="914400"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One accountable team across every stream, with our alliances counted as part of what we bring — not a separate arrangement.</a:t>
            </a:r>
            <a:endParaRPr lang="en-US" sz="1150" dirty="0"/>
          </a:p>
        </p:txBody>
      </p:sp>
      <p:sp>
        <p:nvSpPr>
          <p:cNvPr id="9" name="Shape 7"/>
          <p:cNvSpPr/>
          <p:nvPr/>
        </p:nvSpPr>
        <p:spPr>
          <a:xfrm>
            <a:off x="4325112" y="1874520"/>
            <a:ext cx="3520440" cy="1783080"/>
          </a:xfrm>
          <a:prstGeom prst="roundRect">
            <a:avLst>
              <a:gd name="adj" fmla="val 6154"/>
            </a:avLst>
          </a:prstGeom>
          <a:solidFill>
            <a:srgbClr val="EDF2FA"/>
          </a:solidFill>
          <a:ln/>
        </p:spPr>
      </p:sp>
      <p:sp>
        <p:nvSpPr>
          <p:cNvPr id="10" name="Shape 8"/>
          <p:cNvSpPr/>
          <p:nvPr/>
        </p:nvSpPr>
        <p:spPr>
          <a:xfrm>
            <a:off x="4581144" y="2112264"/>
            <a:ext cx="384048" cy="384048"/>
          </a:xfrm>
          <a:prstGeom prst="ellipse">
            <a:avLst/>
          </a:prstGeom>
          <a:solidFill>
            <a:srgbClr val="3E5C8A"/>
          </a:solidFill>
          <a:ln/>
        </p:spPr>
      </p:sp>
      <p:sp>
        <p:nvSpPr>
          <p:cNvPr id="11" name="Text 9"/>
          <p:cNvSpPr txBox="1"/>
          <p:nvPr/>
        </p:nvSpPr>
        <p:spPr>
          <a:xfrm>
            <a:off x="4581144"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102352"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Where others stall</a:t>
            </a:r>
            <a:endParaRPr lang="en-US" sz="1500" dirty="0"/>
          </a:p>
        </p:txBody>
      </p:sp>
      <p:sp>
        <p:nvSpPr>
          <p:cNvPr id="13" name="Text 11"/>
          <p:cNvSpPr txBox="1"/>
          <p:nvPr/>
        </p:nvSpPr>
        <p:spPr>
          <a:xfrm>
            <a:off x="4599432"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programmes that go sideways in other hands. Said through language, never as carrying or underwriting risk.</a:t>
            </a:r>
            <a:endParaRPr lang="en-US" sz="1150" dirty="0"/>
          </a:p>
        </p:txBody>
      </p:sp>
      <p:sp>
        <p:nvSpPr>
          <p:cNvPr id="14" name="Shape 12"/>
          <p:cNvSpPr/>
          <p:nvPr/>
        </p:nvSpPr>
        <p:spPr>
          <a:xfrm>
            <a:off x="8010144" y="1874520"/>
            <a:ext cx="3520440" cy="1783080"/>
          </a:xfrm>
          <a:prstGeom prst="roundRect">
            <a:avLst>
              <a:gd name="adj" fmla="val 6154"/>
            </a:avLst>
          </a:prstGeom>
          <a:solidFill>
            <a:srgbClr val="E4EBF7"/>
          </a:solidFill>
          <a:ln/>
        </p:spPr>
      </p:sp>
      <p:sp>
        <p:nvSpPr>
          <p:cNvPr id="15" name="Shape 13"/>
          <p:cNvSpPr/>
          <p:nvPr/>
        </p:nvSpPr>
        <p:spPr>
          <a:xfrm>
            <a:off x="8266176" y="2112264"/>
            <a:ext cx="384048" cy="384048"/>
          </a:xfrm>
          <a:prstGeom prst="ellipse">
            <a:avLst/>
          </a:prstGeom>
          <a:solidFill>
            <a:srgbClr val="1E2761"/>
          </a:solidFill>
          <a:ln/>
        </p:spPr>
      </p:sp>
      <p:sp>
        <p:nvSpPr>
          <p:cNvPr id="16" name="Text 14"/>
          <p:cNvSpPr txBox="1"/>
          <p:nvPr/>
        </p:nvSpPr>
        <p:spPr>
          <a:xfrm>
            <a:off x="8266176"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87384"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Speed that holds</a:t>
            </a:r>
            <a:endParaRPr lang="en-US" sz="1500" dirty="0"/>
          </a:p>
        </p:txBody>
      </p:sp>
      <p:sp>
        <p:nvSpPr>
          <p:cNvPr id="18" name="Text 16"/>
          <p:cNvSpPr txBox="1"/>
          <p:nvPr/>
        </p:nvSpPr>
        <p:spPr>
          <a:xfrm>
            <a:off x="8284464"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month a platform is not live is cost carried or revenue missed — but fast only counts if it survives production.</a:t>
            </a:r>
            <a:endParaRPr lang="en-US" sz="1150" dirty="0"/>
          </a:p>
        </p:txBody>
      </p:sp>
      <p:sp>
        <p:nvSpPr>
          <p:cNvPr id="19" name="Shape 17"/>
          <p:cNvSpPr/>
          <p:nvPr/>
        </p:nvSpPr>
        <p:spPr>
          <a:xfrm>
            <a:off x="640080" y="3840480"/>
            <a:ext cx="3520440" cy="1783080"/>
          </a:xfrm>
          <a:prstGeom prst="roundRect">
            <a:avLst>
              <a:gd name="adj" fmla="val 6154"/>
            </a:avLst>
          </a:prstGeom>
          <a:solidFill>
            <a:srgbClr val="EDF2FA"/>
          </a:solidFill>
          <a:ln/>
        </p:spPr>
      </p:sp>
      <p:sp>
        <p:nvSpPr>
          <p:cNvPr id="20" name="Shape 18"/>
          <p:cNvSpPr/>
          <p:nvPr/>
        </p:nvSpPr>
        <p:spPr>
          <a:xfrm>
            <a:off x="896112" y="4078224"/>
            <a:ext cx="384048" cy="384048"/>
          </a:xfrm>
          <a:prstGeom prst="ellipse">
            <a:avLst/>
          </a:prstGeom>
          <a:solidFill>
            <a:srgbClr val="3E5C8A"/>
          </a:solidFill>
          <a:ln/>
        </p:spPr>
      </p:sp>
      <p:sp>
        <p:nvSpPr>
          <p:cNvPr id="21" name="Text 19"/>
          <p:cNvSpPr txBox="1"/>
          <p:nvPr/>
        </p:nvSpPr>
        <p:spPr>
          <a:xfrm>
            <a:off x="896112"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417320"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Outside and in</a:t>
            </a:r>
            <a:endParaRPr lang="en-US" sz="1500" dirty="0"/>
          </a:p>
        </p:txBody>
      </p:sp>
      <p:sp>
        <p:nvSpPr>
          <p:cNvPr id="23" name="Text 21"/>
          <p:cNvSpPr txBox="1"/>
          <p:nvPr/>
        </p:nvSpPr>
        <p:spPr>
          <a:xfrm>
            <a:off x="914400"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institution takes to market, and how it runs inside — smarter operations and better tools for its people.</a:t>
            </a:r>
            <a:endParaRPr lang="en-US" sz="1150" dirty="0"/>
          </a:p>
        </p:txBody>
      </p:sp>
      <p:sp>
        <p:nvSpPr>
          <p:cNvPr id="24" name="Shape 22"/>
          <p:cNvSpPr/>
          <p:nvPr/>
        </p:nvSpPr>
        <p:spPr>
          <a:xfrm>
            <a:off x="4325112" y="3840480"/>
            <a:ext cx="3520440" cy="1783080"/>
          </a:xfrm>
          <a:prstGeom prst="roundRect">
            <a:avLst>
              <a:gd name="adj" fmla="val 6154"/>
            </a:avLst>
          </a:prstGeom>
          <a:solidFill>
            <a:srgbClr val="E4EBF7"/>
          </a:solidFill>
          <a:ln/>
        </p:spPr>
      </p:sp>
      <p:sp>
        <p:nvSpPr>
          <p:cNvPr id="25" name="Shape 23"/>
          <p:cNvSpPr/>
          <p:nvPr/>
        </p:nvSpPr>
        <p:spPr>
          <a:xfrm>
            <a:off x="4581144" y="4078224"/>
            <a:ext cx="384048" cy="384048"/>
          </a:xfrm>
          <a:prstGeom prst="ellipse">
            <a:avLst/>
          </a:prstGeom>
          <a:solidFill>
            <a:srgbClr val="1E2761"/>
          </a:solidFill>
          <a:ln/>
        </p:spPr>
      </p:sp>
      <p:sp>
        <p:nvSpPr>
          <p:cNvPr id="26" name="Text 24"/>
          <p:cNvSpPr txBox="1"/>
          <p:nvPr/>
        </p:nvSpPr>
        <p:spPr>
          <a:xfrm>
            <a:off x="4581144"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102352"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AI in the engine, not on the badge</a:t>
            </a:r>
            <a:endParaRPr lang="en-US" sz="1500" dirty="0"/>
          </a:p>
        </p:txBody>
      </p:sp>
      <p:sp>
        <p:nvSpPr>
          <p:cNvPr id="28" name="Text 26"/>
          <p:cNvSpPr txBox="1"/>
          <p:nvPr/>
        </p:nvSpPr>
        <p:spPr>
          <a:xfrm>
            <a:off x="4599432"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 what we build and how we deliver. AI-native is oversubscribed; the credibility is in the proof, not the claim.</a:t>
            </a:r>
            <a:endParaRPr lang="en-US" sz="1150" dirty="0"/>
          </a:p>
        </p:txBody>
      </p:sp>
      <p:sp>
        <p:nvSpPr>
          <p:cNvPr id="29" name="Shape 27"/>
          <p:cNvSpPr/>
          <p:nvPr/>
        </p:nvSpPr>
        <p:spPr>
          <a:xfrm>
            <a:off x="8010144" y="3840480"/>
            <a:ext cx="3520440" cy="1783080"/>
          </a:xfrm>
          <a:prstGeom prst="roundRect">
            <a:avLst>
              <a:gd name="adj" fmla="val 6154"/>
            </a:avLst>
          </a:prstGeom>
          <a:solidFill>
            <a:srgbClr val="EDF2FA"/>
          </a:solidFill>
          <a:ln/>
        </p:spPr>
      </p:sp>
      <p:sp>
        <p:nvSpPr>
          <p:cNvPr id="30" name="Shape 28"/>
          <p:cNvSpPr/>
          <p:nvPr/>
        </p:nvSpPr>
        <p:spPr>
          <a:xfrm>
            <a:off x="8266176" y="4078224"/>
            <a:ext cx="384048" cy="384048"/>
          </a:xfrm>
          <a:prstGeom prst="ellipse">
            <a:avLst/>
          </a:prstGeom>
          <a:solidFill>
            <a:srgbClr val="3E5C8A"/>
          </a:solidFill>
          <a:ln/>
        </p:spPr>
      </p:sp>
      <p:sp>
        <p:nvSpPr>
          <p:cNvPr id="31" name="Text 29"/>
          <p:cNvSpPr txBox="1"/>
          <p:nvPr/>
        </p:nvSpPr>
        <p:spPr>
          <a:xfrm>
            <a:off x="8266176"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87384"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All three, or it does not count</a:t>
            </a:r>
            <a:endParaRPr lang="en-US" sz="1500" dirty="0"/>
          </a:p>
        </p:txBody>
      </p:sp>
      <p:sp>
        <p:nvSpPr>
          <p:cNvPr id="33" name="Text 31"/>
          <p:cNvSpPr txBox="1"/>
          <p:nvPr/>
        </p:nvSpPr>
        <p:spPr>
          <a:xfrm>
            <a:off x="8284464"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Banking, funds and insurance. A statement that only works for banks is a banking strategy, not ours.</a:t>
            </a:r>
            <a:endParaRPr lang="en-US" sz="11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A statement that drops one of these is not a shorter vision — it is a different one.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Three candidate statements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All three carry the six drivers. They differ in register and in what the headline claims.</a:t>
            </a:r>
            <a:endParaRPr lang="en-US" sz="1450" dirty="0"/>
          </a:p>
        </p:txBody>
      </p:sp>
      <p:sp>
        <p:nvSpPr>
          <p:cNvPr id="4" name="Shape 2"/>
          <p:cNvSpPr/>
          <p:nvPr/>
        </p:nvSpPr>
        <p:spPr>
          <a:xfrm>
            <a:off x="640080" y="1828800"/>
            <a:ext cx="3520440" cy="3611880"/>
          </a:xfrm>
          <a:prstGeom prst="roundRect">
            <a:avLst>
              <a:gd name="adj" fmla="val 3117"/>
            </a:avLst>
          </a:prstGeom>
          <a:solidFill>
            <a:srgbClr val="E4EBF7"/>
          </a:solidFill>
          <a:ln/>
        </p:spPr>
      </p:sp>
      <p:sp>
        <p:nvSpPr>
          <p:cNvPr id="5" name="Shape 3"/>
          <p:cNvSpPr/>
          <p:nvPr/>
        </p:nvSpPr>
        <p:spPr>
          <a:xfrm>
            <a:off x="914400" y="2057400"/>
            <a:ext cx="420624" cy="420624"/>
          </a:xfrm>
          <a:prstGeom prst="ellipse">
            <a:avLst/>
          </a:prstGeom>
          <a:solidFill>
            <a:srgbClr val="1E2761"/>
          </a:solidFill>
          <a:ln/>
        </p:spPr>
      </p:sp>
      <p:sp>
        <p:nvSpPr>
          <p:cNvPr id="6" name="Text 4"/>
          <p:cNvSpPr txBox="1"/>
          <p:nvPr/>
        </p:nvSpPr>
        <p:spPr>
          <a:xfrm>
            <a:off x="914400"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Complexity, compressed</a:t>
            </a:r>
            <a:endParaRPr lang="en-US" sz="1550" dirty="0"/>
          </a:p>
        </p:txBody>
      </p:sp>
      <p:sp>
        <p:nvSpPr>
          <p:cNvPr id="8" name="Text 6"/>
          <p:cNvSpPr txBox="1"/>
          <p:nvPr/>
        </p:nvSpPr>
        <p:spPr>
          <a:xfrm>
            <a:off x="914400"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take on the change financial institutions cannot afford to get wrong — modern platforms for their customers, intelligence and better tools for their people — brought end to end by one accountable team, with the assets and partnerships that compress the path.”</a:t>
            </a:r>
            <a:endParaRPr lang="en-US" sz="1150" dirty="0"/>
          </a:p>
        </p:txBody>
      </p:sp>
      <p:sp>
        <p:nvSpPr>
          <p:cNvPr id="9" name="Text 7"/>
          <p:cNvSpPr txBox="1"/>
          <p:nvPr/>
        </p:nvSpPr>
        <p:spPr>
          <a:xfrm>
            <a:off x="914400"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Lead candidate.</a:t>
            </a:r>
            <a:endParaRPr lang="en-US" sz="1150" dirty="0"/>
          </a:p>
        </p:txBody>
      </p:sp>
      <p:sp>
        <p:nvSpPr>
          <p:cNvPr id="10" name="Text 8"/>
          <p:cNvSpPr txBox="1"/>
          <p:nvPr/>
        </p:nvSpPr>
        <p:spPr>
          <a:xfrm>
            <a:off x="914400"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Hard programmes and acceleration, in two words.</a:t>
            </a:r>
            <a:endParaRPr lang="en-US" sz="1050" dirty="0"/>
          </a:p>
        </p:txBody>
      </p:sp>
      <p:sp>
        <p:nvSpPr>
          <p:cNvPr id="11" name="Shape 9"/>
          <p:cNvSpPr/>
          <p:nvPr/>
        </p:nvSpPr>
        <p:spPr>
          <a:xfrm>
            <a:off x="4325112" y="1828800"/>
            <a:ext cx="3520440" cy="3611880"/>
          </a:xfrm>
          <a:prstGeom prst="roundRect">
            <a:avLst>
              <a:gd name="adj" fmla="val 3117"/>
            </a:avLst>
          </a:prstGeom>
          <a:solidFill>
            <a:srgbClr val="EDF2FA"/>
          </a:solidFill>
          <a:ln/>
        </p:spPr>
      </p:sp>
      <p:sp>
        <p:nvSpPr>
          <p:cNvPr id="12" name="Shape 10"/>
          <p:cNvSpPr/>
          <p:nvPr/>
        </p:nvSpPr>
        <p:spPr>
          <a:xfrm>
            <a:off x="4599432" y="2057400"/>
            <a:ext cx="420624" cy="420624"/>
          </a:xfrm>
          <a:prstGeom prst="ellipse">
            <a:avLst/>
          </a:prstGeom>
          <a:solidFill>
            <a:srgbClr val="3E5C8A"/>
          </a:solidFill>
          <a:ln/>
        </p:spPr>
      </p:sp>
      <p:sp>
        <p:nvSpPr>
          <p:cNvPr id="13" name="Text 11"/>
          <p:cNvSpPr txBox="1"/>
          <p:nvPr/>
        </p:nvSpPr>
        <p:spPr>
          <a:xfrm>
            <a:off x="4599432"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 change, delivered at pace</a:t>
            </a:r>
            <a:endParaRPr lang="en-US" sz="1550" dirty="0"/>
          </a:p>
        </p:txBody>
      </p:sp>
      <p:sp>
        <p:nvSpPr>
          <p:cNvPr id="15" name="Text 13"/>
          <p:cNvSpPr txBox="1"/>
          <p:nvPr/>
        </p:nvSpPr>
        <p:spPr>
          <a:xfrm>
            <a:off x="4599432"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“For the region’s banks, funds and insurers we turn the hardest change into working outcomes — platforms live for their customers, intelligence at work inside — one team across every stream, with the assets and alliances that shorten the path.”</a:t>
            </a:r>
            <a:endParaRPr lang="en-US" sz="1150" dirty="0"/>
          </a:p>
        </p:txBody>
      </p:sp>
      <p:sp>
        <p:nvSpPr>
          <p:cNvPr id="16" name="Text 14"/>
          <p:cNvSpPr txBox="1"/>
          <p:nvPr/>
        </p:nvSpPr>
        <p:spPr>
          <a:xfrm>
            <a:off x="4599432"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17" name="Text 15"/>
          <p:cNvSpPr txBox="1"/>
          <p:nvPr/>
        </p:nvSpPr>
        <p:spPr>
          <a:xfrm>
            <a:off x="4599432"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Most literal; names the sectors explicitly.</a:t>
            </a:r>
            <a:endParaRPr lang="en-US" sz="1050" dirty="0"/>
          </a:p>
        </p:txBody>
      </p:sp>
      <p:sp>
        <p:nvSpPr>
          <p:cNvPr id="18" name="Shape 16"/>
          <p:cNvSpPr/>
          <p:nvPr/>
        </p:nvSpPr>
        <p:spPr>
          <a:xfrm>
            <a:off x="8010144" y="1828800"/>
            <a:ext cx="3520440" cy="3611880"/>
          </a:xfrm>
          <a:prstGeom prst="roundRect">
            <a:avLst>
              <a:gd name="adj" fmla="val 3117"/>
            </a:avLst>
          </a:prstGeom>
          <a:solidFill>
            <a:srgbClr val="E4EBF7"/>
          </a:solidFill>
          <a:ln/>
        </p:spPr>
      </p:sp>
      <p:sp>
        <p:nvSpPr>
          <p:cNvPr id="19" name="Shape 17"/>
          <p:cNvSpPr/>
          <p:nvPr/>
        </p:nvSpPr>
        <p:spPr>
          <a:xfrm>
            <a:off x="8284464" y="2057400"/>
            <a:ext cx="420624" cy="420624"/>
          </a:xfrm>
          <a:prstGeom prst="ellipse">
            <a:avLst/>
          </a:prstGeom>
          <a:solidFill>
            <a:srgbClr val="1E2761"/>
          </a:solidFill>
          <a:ln/>
        </p:spPr>
      </p:sp>
      <p:sp>
        <p:nvSpPr>
          <p:cNvPr id="20" name="Text 18"/>
          <p:cNvSpPr txBox="1"/>
          <p:nvPr/>
        </p:nvSpPr>
        <p:spPr>
          <a:xfrm>
            <a:off x="8284464"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hard things, on time</a:t>
            </a:r>
            <a:endParaRPr lang="en-US" sz="1550" dirty="0"/>
          </a:p>
        </p:txBody>
      </p:sp>
      <p:sp>
        <p:nvSpPr>
          <p:cNvPr id="22" name="Text 20"/>
          <p:cNvSpPr txBox="1"/>
          <p:nvPr/>
        </p:nvSpPr>
        <p:spPr>
          <a:xfrm>
            <a:off x="8284464"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are the partner for the change that cannot slip — what they take to market and how they run inside — every stream under one accountable team, with proven assets behind it.”</a:t>
            </a:r>
            <a:endParaRPr lang="en-US" sz="1150" dirty="0"/>
          </a:p>
        </p:txBody>
      </p:sp>
      <p:sp>
        <p:nvSpPr>
          <p:cNvPr id="23" name="Text 21"/>
          <p:cNvSpPr txBox="1"/>
          <p:nvPr/>
        </p:nvSpPr>
        <p:spPr>
          <a:xfrm>
            <a:off x="8284464"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24" name="Text 22"/>
          <p:cNvSpPr txBox="1"/>
          <p:nvPr/>
        </p:nvSpPr>
        <p:spPr>
          <a:xfrm>
            <a:off x="8284464"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Understated; argues against the alternatives, not for us.</a:t>
            </a:r>
            <a:endParaRPr lang="en-US" sz="1050" dirty="0"/>
          </a:p>
        </p:txBody>
      </p:sp>
      <p:sp>
        <p:nvSpPr>
          <p:cNvPr id="25" name="Shape 23"/>
          <p:cNvSpPr/>
          <p:nvPr/>
        </p:nvSpPr>
        <p:spPr>
          <a:xfrm>
            <a:off x="640080" y="5577840"/>
            <a:ext cx="10881360" cy="822960"/>
          </a:xfrm>
          <a:prstGeom prst="roundRect">
            <a:avLst>
              <a:gd name="adj" fmla="val 11111"/>
            </a:avLst>
          </a:prstGeom>
          <a:solidFill>
            <a:srgbClr val="1E2761"/>
          </a:solidFill>
          <a:ln/>
        </p:spPr>
      </p:sp>
      <p:sp>
        <p:nvSpPr>
          <p:cNvPr id="26" name="Text 24"/>
          <p:cNvSpPr txBox="1"/>
          <p:nvPr/>
        </p:nvSpPr>
        <p:spPr>
          <a:xfrm>
            <a:off x="914400" y="55778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test: does the headline alone already exclude an internal team and a lower-cost integrator — and could a competitor lift it word for word?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783080"/>
            <a:ext cx="3520440" cy="1298448"/>
          </a:xfrm>
          <a:prstGeom prst="roundRect">
            <a:avLst>
              <a:gd name="adj" fmla="val 7042"/>
            </a:avLst>
          </a:prstGeom>
          <a:solidFill>
            <a:srgbClr val="EDF2FA"/>
          </a:solidFill>
          <a:ln/>
        </p:spPr>
      </p:sp>
      <p:sp>
        <p:nvSpPr>
          <p:cNvPr id="5" name="Shape 3"/>
          <p:cNvSpPr/>
          <p:nvPr/>
        </p:nvSpPr>
        <p:spPr>
          <a:xfrm>
            <a:off x="868680" y="1965960"/>
            <a:ext cx="347472" cy="347472"/>
          </a:xfrm>
          <a:prstGeom prst="ellipse">
            <a:avLst/>
          </a:prstGeom>
          <a:solidFill>
            <a:srgbClr val="1E2761"/>
          </a:solidFill>
          <a:ln/>
        </p:spPr>
      </p:sp>
      <p:sp>
        <p:nvSpPr>
          <p:cNvPr id="6" name="Text 4"/>
          <p:cNvSpPr txBox="1"/>
          <p:nvPr/>
        </p:nvSpPr>
        <p:spPr>
          <a:xfrm>
            <a:off x="868680"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53312"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Integrated, not siloed</a:t>
            </a:r>
            <a:endParaRPr lang="en-US" sz="1350" dirty="0"/>
          </a:p>
        </p:txBody>
      </p:sp>
      <p:sp>
        <p:nvSpPr>
          <p:cNvPr id="8" name="Text 6"/>
          <p:cNvSpPr txBox="1"/>
          <p:nvPr/>
        </p:nvSpPr>
        <p:spPr>
          <a:xfrm>
            <a:off x="896112"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000" dirty="0"/>
          </a:p>
        </p:txBody>
      </p:sp>
      <p:sp>
        <p:nvSpPr>
          <p:cNvPr id="9" name="Shape 7"/>
          <p:cNvSpPr/>
          <p:nvPr/>
        </p:nvSpPr>
        <p:spPr>
          <a:xfrm>
            <a:off x="4325112" y="1783080"/>
            <a:ext cx="3520440" cy="1298448"/>
          </a:xfrm>
          <a:prstGeom prst="roundRect">
            <a:avLst>
              <a:gd name="adj" fmla="val 7042"/>
            </a:avLst>
          </a:prstGeom>
          <a:solidFill>
            <a:srgbClr val="EDF2FA"/>
          </a:solidFill>
          <a:ln/>
        </p:spPr>
      </p:sp>
      <p:sp>
        <p:nvSpPr>
          <p:cNvPr id="10" name="Shape 8"/>
          <p:cNvSpPr/>
          <p:nvPr/>
        </p:nvSpPr>
        <p:spPr>
          <a:xfrm>
            <a:off x="4553712" y="1965960"/>
            <a:ext cx="347472" cy="347472"/>
          </a:xfrm>
          <a:prstGeom prst="ellipse">
            <a:avLst/>
          </a:prstGeom>
          <a:solidFill>
            <a:srgbClr val="3E5C8A"/>
          </a:solidFill>
          <a:ln/>
        </p:spPr>
      </p:sp>
      <p:sp>
        <p:nvSpPr>
          <p:cNvPr id="11" name="Text 9"/>
          <p:cNvSpPr txBox="1"/>
          <p:nvPr/>
        </p:nvSpPr>
        <p:spPr>
          <a:xfrm>
            <a:off x="4553712"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038344"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Named accounts, not averages</a:t>
            </a:r>
            <a:endParaRPr lang="en-US" sz="1350" dirty="0"/>
          </a:p>
        </p:txBody>
      </p:sp>
      <p:sp>
        <p:nvSpPr>
          <p:cNvPr id="13" name="Text 11"/>
          <p:cNvSpPr txBox="1"/>
          <p:nvPr/>
        </p:nvSpPr>
        <p:spPr>
          <a:xfrm>
            <a:off x="4581144"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000" dirty="0"/>
          </a:p>
        </p:txBody>
      </p:sp>
      <p:sp>
        <p:nvSpPr>
          <p:cNvPr id="14" name="Shape 12"/>
          <p:cNvSpPr/>
          <p:nvPr/>
        </p:nvSpPr>
        <p:spPr>
          <a:xfrm>
            <a:off x="8010144" y="1783080"/>
            <a:ext cx="3520440" cy="1298448"/>
          </a:xfrm>
          <a:prstGeom prst="roundRect">
            <a:avLst>
              <a:gd name="adj" fmla="val 7042"/>
            </a:avLst>
          </a:prstGeom>
          <a:solidFill>
            <a:srgbClr val="EDF2FA"/>
          </a:solidFill>
          <a:ln/>
        </p:spPr>
      </p:sp>
      <p:sp>
        <p:nvSpPr>
          <p:cNvPr id="15" name="Shape 13"/>
          <p:cNvSpPr/>
          <p:nvPr/>
        </p:nvSpPr>
        <p:spPr>
          <a:xfrm>
            <a:off x="8238744" y="1965960"/>
            <a:ext cx="347472" cy="347472"/>
          </a:xfrm>
          <a:prstGeom prst="ellipse">
            <a:avLst/>
          </a:prstGeom>
          <a:solidFill>
            <a:srgbClr val="1E2761"/>
          </a:solidFill>
          <a:ln/>
        </p:spPr>
      </p:sp>
      <p:sp>
        <p:nvSpPr>
          <p:cNvPr id="16" name="Text 14"/>
          <p:cNvSpPr txBox="1"/>
          <p:nvPr/>
        </p:nvSpPr>
        <p:spPr>
          <a:xfrm>
            <a:off x="8238744" y="19659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23376" y="192938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Sized and priced</a:t>
            </a:r>
            <a:endParaRPr lang="en-US" sz="1350" dirty="0"/>
          </a:p>
        </p:txBody>
      </p:sp>
      <p:sp>
        <p:nvSpPr>
          <p:cNvPr id="18" name="Text 16"/>
          <p:cNvSpPr txBox="1"/>
          <p:nvPr/>
        </p:nvSpPr>
        <p:spPr>
          <a:xfrm>
            <a:off x="8266176" y="231343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000" dirty="0"/>
          </a:p>
        </p:txBody>
      </p:sp>
      <p:sp>
        <p:nvSpPr>
          <p:cNvPr id="19" name="Shape 17"/>
          <p:cNvSpPr/>
          <p:nvPr/>
        </p:nvSpPr>
        <p:spPr>
          <a:xfrm>
            <a:off x="640080" y="3246120"/>
            <a:ext cx="3520440" cy="1298448"/>
          </a:xfrm>
          <a:prstGeom prst="roundRect">
            <a:avLst>
              <a:gd name="adj" fmla="val 7042"/>
            </a:avLst>
          </a:prstGeom>
          <a:solidFill>
            <a:srgbClr val="EDF2FA"/>
          </a:solidFill>
          <a:ln/>
        </p:spPr>
      </p:sp>
      <p:sp>
        <p:nvSpPr>
          <p:cNvPr id="20" name="Shape 18"/>
          <p:cNvSpPr/>
          <p:nvPr/>
        </p:nvSpPr>
        <p:spPr>
          <a:xfrm>
            <a:off x="868680" y="3429000"/>
            <a:ext cx="347472" cy="347472"/>
          </a:xfrm>
          <a:prstGeom prst="ellipse">
            <a:avLst/>
          </a:prstGeom>
          <a:solidFill>
            <a:srgbClr val="3E5C8A"/>
          </a:solidFill>
          <a:ln/>
        </p:spPr>
      </p:sp>
      <p:sp>
        <p:nvSpPr>
          <p:cNvPr id="21" name="Text 19"/>
          <p:cNvSpPr txBox="1"/>
          <p:nvPr/>
        </p:nvSpPr>
        <p:spPr>
          <a:xfrm>
            <a:off x="868680"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353312"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Covered by a partner</a:t>
            </a:r>
            <a:endParaRPr lang="en-US" sz="1350" dirty="0"/>
          </a:p>
        </p:txBody>
      </p:sp>
      <p:sp>
        <p:nvSpPr>
          <p:cNvPr id="23" name="Text 21"/>
          <p:cNvSpPr txBox="1"/>
          <p:nvPr/>
        </p:nvSpPr>
        <p:spPr>
          <a:xfrm>
            <a:off x="896112"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000" dirty="0"/>
          </a:p>
        </p:txBody>
      </p:sp>
      <p:sp>
        <p:nvSpPr>
          <p:cNvPr id="24" name="Shape 22"/>
          <p:cNvSpPr/>
          <p:nvPr/>
        </p:nvSpPr>
        <p:spPr>
          <a:xfrm>
            <a:off x="4325112" y="3246120"/>
            <a:ext cx="3520440" cy="1298448"/>
          </a:xfrm>
          <a:prstGeom prst="roundRect">
            <a:avLst>
              <a:gd name="adj" fmla="val 7042"/>
            </a:avLst>
          </a:prstGeom>
          <a:solidFill>
            <a:srgbClr val="EDF2FA"/>
          </a:solidFill>
          <a:ln/>
        </p:spPr>
      </p:sp>
      <p:sp>
        <p:nvSpPr>
          <p:cNvPr id="25" name="Shape 23"/>
          <p:cNvSpPr/>
          <p:nvPr/>
        </p:nvSpPr>
        <p:spPr>
          <a:xfrm>
            <a:off x="4553712" y="3429000"/>
            <a:ext cx="347472" cy="347472"/>
          </a:xfrm>
          <a:prstGeom prst="ellipse">
            <a:avLst/>
          </a:prstGeom>
          <a:solidFill>
            <a:srgbClr val="1E2761"/>
          </a:solidFill>
          <a:ln/>
        </p:spPr>
      </p:sp>
      <p:sp>
        <p:nvSpPr>
          <p:cNvPr id="26" name="Text 24"/>
          <p:cNvSpPr txBox="1"/>
          <p:nvPr/>
        </p:nvSpPr>
        <p:spPr>
          <a:xfrm>
            <a:off x="4553712"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038344"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Deliverable by design</a:t>
            </a:r>
            <a:endParaRPr lang="en-US" sz="1350" dirty="0"/>
          </a:p>
        </p:txBody>
      </p:sp>
      <p:sp>
        <p:nvSpPr>
          <p:cNvPr id="28" name="Text 26"/>
          <p:cNvSpPr txBox="1"/>
          <p:nvPr/>
        </p:nvSpPr>
        <p:spPr>
          <a:xfrm>
            <a:off x="4581144"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000" dirty="0"/>
          </a:p>
        </p:txBody>
      </p:sp>
      <p:sp>
        <p:nvSpPr>
          <p:cNvPr id="29" name="Shape 27"/>
          <p:cNvSpPr/>
          <p:nvPr/>
        </p:nvSpPr>
        <p:spPr>
          <a:xfrm>
            <a:off x="8010144" y="3246120"/>
            <a:ext cx="3520440" cy="1298448"/>
          </a:xfrm>
          <a:prstGeom prst="roundRect">
            <a:avLst>
              <a:gd name="adj" fmla="val 7042"/>
            </a:avLst>
          </a:prstGeom>
          <a:solidFill>
            <a:srgbClr val="EDF2FA"/>
          </a:solidFill>
          <a:ln/>
        </p:spPr>
      </p:sp>
      <p:sp>
        <p:nvSpPr>
          <p:cNvPr id="30" name="Shape 28"/>
          <p:cNvSpPr/>
          <p:nvPr/>
        </p:nvSpPr>
        <p:spPr>
          <a:xfrm>
            <a:off x="8238744" y="3429000"/>
            <a:ext cx="347472" cy="347472"/>
          </a:xfrm>
          <a:prstGeom prst="ellipse">
            <a:avLst/>
          </a:prstGeom>
          <a:solidFill>
            <a:srgbClr val="3E5C8A"/>
          </a:solidFill>
          <a:ln/>
        </p:spPr>
      </p:sp>
      <p:sp>
        <p:nvSpPr>
          <p:cNvPr id="31" name="Text 29"/>
          <p:cNvSpPr txBox="1"/>
          <p:nvPr/>
        </p:nvSpPr>
        <p:spPr>
          <a:xfrm>
            <a:off x="8238744" y="34290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23376" y="339242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Domain-specific, not agnostic</a:t>
            </a:r>
            <a:endParaRPr lang="en-US" sz="1350" dirty="0"/>
          </a:p>
        </p:txBody>
      </p:sp>
      <p:sp>
        <p:nvSpPr>
          <p:cNvPr id="33" name="Text 31"/>
          <p:cNvSpPr txBox="1"/>
          <p:nvPr/>
        </p:nvSpPr>
        <p:spPr>
          <a:xfrm>
            <a:off x="8266176" y="377647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Each FSI sector is specialised and clients expect it: propositions, credentials and CVs speak that sector’s language.</a:t>
            </a:r>
            <a:endParaRPr lang="en-US" sz="1000" dirty="0"/>
          </a:p>
        </p:txBody>
      </p:sp>
      <p:sp>
        <p:nvSpPr>
          <p:cNvPr id="34" name="Shape 32"/>
          <p:cNvSpPr/>
          <p:nvPr/>
        </p:nvSpPr>
        <p:spPr>
          <a:xfrm>
            <a:off x="640080" y="4709160"/>
            <a:ext cx="3520440" cy="1298448"/>
          </a:xfrm>
          <a:prstGeom prst="roundRect">
            <a:avLst>
              <a:gd name="adj" fmla="val 7042"/>
            </a:avLst>
          </a:prstGeom>
          <a:solidFill>
            <a:srgbClr val="EDF2FA"/>
          </a:solidFill>
          <a:ln/>
        </p:spPr>
      </p:sp>
      <p:sp>
        <p:nvSpPr>
          <p:cNvPr id="35" name="Shape 33"/>
          <p:cNvSpPr/>
          <p:nvPr/>
        </p:nvSpPr>
        <p:spPr>
          <a:xfrm>
            <a:off x="868680" y="4892040"/>
            <a:ext cx="347472" cy="347472"/>
          </a:xfrm>
          <a:prstGeom prst="ellipse">
            <a:avLst/>
          </a:prstGeom>
          <a:solidFill>
            <a:srgbClr val="1E2761"/>
          </a:solidFill>
          <a:ln/>
        </p:spPr>
      </p:sp>
      <p:sp>
        <p:nvSpPr>
          <p:cNvPr id="36" name="Text 34"/>
          <p:cNvSpPr txBox="1"/>
          <p:nvPr/>
        </p:nvSpPr>
        <p:spPr>
          <a:xfrm>
            <a:off x="868680"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353312"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AI and innovation embedded</a:t>
            </a:r>
            <a:endParaRPr lang="en-US" sz="1350" dirty="0"/>
          </a:p>
        </p:txBody>
      </p:sp>
      <p:sp>
        <p:nvSpPr>
          <p:cNvPr id="38" name="Text 36"/>
          <p:cNvSpPr txBox="1"/>
          <p:nvPr/>
        </p:nvSpPr>
        <p:spPr>
          <a:xfrm>
            <a:off x="896112"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000" dirty="0"/>
          </a:p>
        </p:txBody>
      </p:sp>
      <p:sp>
        <p:nvSpPr>
          <p:cNvPr id="39" name="Shape 37"/>
          <p:cNvSpPr/>
          <p:nvPr/>
        </p:nvSpPr>
        <p:spPr>
          <a:xfrm>
            <a:off x="4325112" y="4709160"/>
            <a:ext cx="3520440" cy="1298448"/>
          </a:xfrm>
          <a:prstGeom prst="roundRect">
            <a:avLst>
              <a:gd name="adj" fmla="val 7042"/>
            </a:avLst>
          </a:prstGeom>
          <a:solidFill>
            <a:srgbClr val="EDF2FA"/>
          </a:solidFill>
          <a:ln/>
        </p:spPr>
      </p:sp>
      <p:sp>
        <p:nvSpPr>
          <p:cNvPr id="40" name="Shape 38"/>
          <p:cNvSpPr/>
          <p:nvPr/>
        </p:nvSpPr>
        <p:spPr>
          <a:xfrm>
            <a:off x="4553712" y="4892040"/>
            <a:ext cx="347472" cy="347472"/>
          </a:xfrm>
          <a:prstGeom prst="ellipse">
            <a:avLst/>
          </a:prstGeom>
          <a:solidFill>
            <a:srgbClr val="3E5C8A"/>
          </a:solidFill>
          <a:ln/>
        </p:spPr>
      </p:sp>
      <p:sp>
        <p:nvSpPr>
          <p:cNvPr id="41" name="Text 39"/>
          <p:cNvSpPr txBox="1"/>
          <p:nvPr/>
        </p:nvSpPr>
        <p:spPr>
          <a:xfrm>
            <a:off x="4553712"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5038344"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One integrated market team</a:t>
            </a:r>
            <a:endParaRPr lang="en-US" sz="1350" dirty="0"/>
          </a:p>
        </p:txBody>
      </p:sp>
      <p:sp>
        <p:nvSpPr>
          <p:cNvPr id="43" name="Text 41"/>
          <p:cNvSpPr txBox="1"/>
          <p:nvPr/>
        </p:nvSpPr>
        <p:spPr>
          <a:xfrm>
            <a:off x="4581144"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000" dirty="0"/>
          </a:p>
        </p:txBody>
      </p:sp>
      <p:sp>
        <p:nvSpPr>
          <p:cNvPr id="44" name="Shape 42"/>
          <p:cNvSpPr/>
          <p:nvPr/>
        </p:nvSpPr>
        <p:spPr>
          <a:xfrm>
            <a:off x="8010144" y="4709160"/>
            <a:ext cx="3520440" cy="1298448"/>
          </a:xfrm>
          <a:prstGeom prst="roundRect">
            <a:avLst>
              <a:gd name="adj" fmla="val 7042"/>
            </a:avLst>
          </a:prstGeom>
          <a:solidFill>
            <a:srgbClr val="EDF2FA"/>
          </a:solidFill>
          <a:ln/>
        </p:spPr>
      </p:sp>
      <p:sp>
        <p:nvSpPr>
          <p:cNvPr id="45" name="Shape 43"/>
          <p:cNvSpPr/>
          <p:nvPr/>
        </p:nvSpPr>
        <p:spPr>
          <a:xfrm>
            <a:off x="8238744" y="4892040"/>
            <a:ext cx="347472" cy="347472"/>
          </a:xfrm>
          <a:prstGeom prst="ellipse">
            <a:avLst/>
          </a:prstGeom>
          <a:solidFill>
            <a:srgbClr val="1E2761"/>
          </a:solidFill>
          <a:ln/>
        </p:spPr>
      </p:sp>
      <p:sp>
        <p:nvSpPr>
          <p:cNvPr id="46" name="Text 44"/>
          <p:cNvSpPr txBox="1"/>
          <p:nvPr/>
        </p:nvSpPr>
        <p:spPr>
          <a:xfrm>
            <a:off x="8238744" y="48920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8723376" y="4855464"/>
            <a:ext cx="265176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Show, don’t tell</a:t>
            </a:r>
            <a:endParaRPr lang="en-US" sz="1350" dirty="0"/>
          </a:p>
        </p:txBody>
      </p:sp>
      <p:sp>
        <p:nvSpPr>
          <p:cNvPr id="48" name="Text 46"/>
          <p:cNvSpPr txBox="1"/>
          <p:nvPr/>
        </p:nvSpPr>
        <p:spPr>
          <a:xfrm>
            <a:off x="8266176" y="5239512"/>
            <a:ext cx="3017520" cy="685800"/>
          </a:xfrm>
          <a:prstGeom prst="rect">
            <a:avLst/>
          </a:prstGeom>
          <a:noFill/>
          <a:ln/>
        </p:spPr>
        <p:txBody>
          <a:bodyPr wrap="square" lIns="0" tIns="0" rIns="0" bIns="0" rtlCol="0" anchor="ctr"/>
          <a:lstStyle/>
          <a:p>
            <a:pPr indent="0" marL="0">
              <a:buNone/>
            </a:pPr>
            <a:r>
              <a:rPr lang="en-US" sz="1000" dirty="0">
                <a:solidFill>
                  <a:srgbClr val="44506B"/>
                </a:solidFill>
                <a:latin typeface="Calibri" pitchFamily="34" charset="0"/>
                <a:ea typeface="Calibri" pitchFamily="34" charset="-122"/>
                <a:cs typeface="Calibri" pitchFamily="34" charset="-120"/>
              </a:rPr>
              <a:t>Pursuits are won with demos, showcases and a story — and proposals are assembled from reusable foundations, not written from scratch.</a:t>
            </a:r>
            <a:endParaRPr lang="en-US" sz="1000" dirty="0"/>
          </a:p>
        </p:txBody>
      </p:sp>
      <p:sp>
        <p:nvSpPr>
          <p:cNvPr id="49" name="Text 47"/>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THREE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the strategy must cover</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architecture, then a closer look at each pillar.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ambition, four pillars and the discipline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Markets, tiers and accounts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Delivery, economics and people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Alliances and eminence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strategy must cover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FSI sectors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Tier one and tier two</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and revenue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Propositions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Archetypes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assets and accelerators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Construct, 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skills, certification and capacity</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Tier one and tier two</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where the energy goes, and where we stay present without over-investing.</a:t>
            </a:r>
            <a:endParaRPr lang="en-US" sz="1450" dirty="0"/>
          </a:p>
        </p:txBody>
      </p:sp>
      <p:sp>
        <p:nvSpPr>
          <p:cNvPr id="4" name="Shape 2"/>
          <p:cNvSpPr/>
          <p:nvPr/>
        </p:nvSpPr>
        <p:spPr>
          <a:xfrm>
            <a:off x="640080" y="1828800"/>
            <a:ext cx="5303520" cy="3291840"/>
          </a:xfrm>
          <a:prstGeom prst="roundRect">
            <a:avLst>
              <a:gd name="adj" fmla="val 3333"/>
            </a:avLst>
          </a:prstGeom>
          <a:solidFill>
            <a:srgbClr val="EDF2FA"/>
          </a:solidFill>
          <a:ln/>
        </p:spPr>
      </p:sp>
      <p:sp>
        <p:nvSpPr>
          <p:cNvPr id="5" name="Shape 3"/>
          <p:cNvSpPr/>
          <p:nvPr/>
        </p:nvSpPr>
        <p:spPr>
          <a:xfrm>
            <a:off x="640080" y="1828800"/>
            <a:ext cx="5303520" cy="868680"/>
          </a:xfrm>
          <a:prstGeom prst="rect">
            <a:avLst/>
          </a:prstGeom>
          <a:solidFill>
            <a:srgbClr val="1E2761"/>
          </a:solidFill>
          <a:ln/>
        </p:spPr>
      </p:sp>
      <p:sp>
        <p:nvSpPr>
          <p:cNvPr id="6" name="Text 4"/>
          <p:cNvSpPr txBox="1"/>
          <p:nvPr/>
        </p:nvSpPr>
        <p:spPr>
          <a:xfrm>
            <a:off x="91440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one</a:t>
            </a:r>
            <a:endParaRPr lang="en-US" sz="2000" dirty="0"/>
          </a:p>
        </p:txBody>
      </p:sp>
      <p:sp>
        <p:nvSpPr>
          <p:cNvPr id="7" name="Text 5"/>
          <p:cNvSpPr txBox="1"/>
          <p:nvPr/>
        </p:nvSpPr>
        <p:spPr>
          <a:xfrm>
            <a:off x="91440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Priority geographies and named accounts</a:t>
            </a:r>
            <a:endParaRPr lang="en-US" sz="1200" dirty="0"/>
          </a:p>
        </p:txBody>
      </p:sp>
      <p:sp>
        <p:nvSpPr>
          <p:cNvPr id="8" name="Text 6"/>
          <p:cNvSpPr txBox="1"/>
          <p:nvPr/>
        </p:nvSpPr>
        <p:spPr>
          <a:xfrm>
            <a:off x="91440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Active, deliberate coverage — people walking the corridors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Named individual account targets, each with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Individual revenue targets, gross and net</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Where the metrics, the eminence and the investment concentrate</a:t>
            </a:r>
            <a:endParaRPr lang="en-US" sz="1250" dirty="0"/>
          </a:p>
        </p:txBody>
      </p:sp>
      <p:sp>
        <p:nvSpPr>
          <p:cNvPr id="9" name="Shape 7"/>
          <p:cNvSpPr/>
          <p:nvPr/>
        </p:nvSpPr>
        <p:spPr>
          <a:xfrm>
            <a:off x="6217920" y="1828800"/>
            <a:ext cx="5303520" cy="3291840"/>
          </a:xfrm>
          <a:prstGeom prst="roundRect">
            <a:avLst>
              <a:gd name="adj" fmla="val 3333"/>
            </a:avLst>
          </a:prstGeom>
          <a:solidFill>
            <a:srgbClr val="EDF2FA"/>
          </a:solidFill>
          <a:ln/>
        </p:spPr>
      </p:sp>
      <p:sp>
        <p:nvSpPr>
          <p:cNvPr id="10" name="Shape 8"/>
          <p:cNvSpPr/>
          <p:nvPr/>
        </p:nvSpPr>
        <p:spPr>
          <a:xfrm>
            <a:off x="6217920" y="1828800"/>
            <a:ext cx="5303520" cy="868680"/>
          </a:xfrm>
          <a:prstGeom prst="rect">
            <a:avLst/>
          </a:prstGeom>
          <a:solidFill>
            <a:srgbClr val="3E5C8A"/>
          </a:solidFill>
          <a:ln/>
        </p:spPr>
      </p:sp>
      <p:sp>
        <p:nvSpPr>
          <p:cNvPr id="11" name="Text 9"/>
          <p:cNvSpPr txBox="1"/>
          <p:nvPr/>
        </p:nvSpPr>
        <p:spPr>
          <a:xfrm>
            <a:off x="649224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two</a:t>
            </a:r>
            <a:endParaRPr lang="en-US" sz="2000" dirty="0"/>
          </a:p>
        </p:txBody>
      </p:sp>
      <p:sp>
        <p:nvSpPr>
          <p:cNvPr id="12" name="Text 10"/>
          <p:cNvSpPr txBox="1"/>
          <p:nvPr/>
        </p:nvSpPr>
        <p:spPr>
          <a:xfrm>
            <a:off x="649224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Emerging and reactive</a:t>
            </a:r>
            <a:endParaRPr lang="en-US" sz="1200" dirty="0"/>
          </a:p>
        </p:txBody>
      </p:sp>
      <p:sp>
        <p:nvSpPr>
          <p:cNvPr id="13" name="Text 11"/>
          <p:cNvSpPr txBox="1"/>
          <p:nvPr/>
        </p:nvSpPr>
        <p:spPr>
          <a:xfrm>
            <a:off x="649224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Managed as clusters and groups, not one by one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Reactive pursuit: we respond, we do not camp there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Light coverage — a named watcher rather than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Promoted to tier one when the signal justifies it</a:t>
            </a:r>
            <a:endParaRPr lang="en-US" sz="1250" dirty="0"/>
          </a:p>
        </p:txBody>
      </p:sp>
      <p:sp>
        <p:nvSpPr>
          <p:cNvPr id="14" name="Shape 12"/>
          <p:cNvSpPr/>
          <p:nvPr/>
        </p:nvSpPr>
        <p:spPr>
          <a:xfrm>
            <a:off x="640080" y="5303520"/>
            <a:ext cx="10881360" cy="868680"/>
          </a:xfrm>
          <a:prstGeom prst="roundRect">
            <a:avLst>
              <a:gd name="adj" fmla="val 10526"/>
            </a:avLst>
          </a:prstGeom>
          <a:solidFill>
            <a:srgbClr val="1E2761"/>
          </a:solidFill>
          <a:ln/>
        </p:spPr>
      </p:sp>
      <p:sp>
        <p:nvSpPr>
          <p:cNvPr id="15" name="Text 13"/>
          <p:cNvSpPr txBox="1"/>
          <p:nvPr/>
        </p:nvSpPr>
        <p:spPr>
          <a:xfrm>
            <a:off x="914400" y="5303520"/>
            <a:ext cx="10332720" cy="8686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Tiering applies to geographies and to accounts, across all three sectors. Tier two keeps us present in what is emerging without diluting tier one.</a:t>
            </a:r>
            <a:endParaRPr lang="en-US" sz="1300" dirty="0"/>
          </a:p>
        </p:txBody>
      </p:sp>
      <p:sp>
        <p:nvSpPr>
          <p:cNvPr id="16" name="Text 14"/>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Tiering is our prioritisation inside the firm’s single account plan, not a separate account list.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Integrated by default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most propositions span the offerings; some genuinely do not, and that is allowed.</a:t>
            </a:r>
            <a:endParaRPr lang="en-US" sz="1450" dirty="0"/>
          </a:p>
        </p:txBody>
      </p:sp>
      <p:sp>
        <p:nvSpPr>
          <p:cNvPr id="4" name="Text 2"/>
          <p:cNvSpPr txBox="1"/>
          <p:nvPr/>
        </p:nvSpPr>
        <p:spPr>
          <a:xfrm>
            <a:off x="594360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Industry Solutions</a:t>
            </a:r>
            <a:endParaRPr lang="en-US" sz="1150" dirty="0"/>
          </a:p>
        </p:txBody>
      </p:sp>
      <p:sp>
        <p:nvSpPr>
          <p:cNvPr id="5" name="Text 3"/>
          <p:cNvSpPr txBox="1"/>
          <p:nvPr/>
        </p:nvSpPr>
        <p:spPr>
          <a:xfrm>
            <a:off x="781812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AI and Data</a:t>
            </a:r>
            <a:endParaRPr lang="en-US" sz="1150" dirty="0"/>
          </a:p>
        </p:txBody>
      </p:sp>
      <p:sp>
        <p:nvSpPr>
          <p:cNvPr id="6" name="Text 4"/>
          <p:cNvSpPr txBox="1"/>
          <p:nvPr/>
        </p:nvSpPr>
        <p:spPr>
          <a:xfrm>
            <a:off x="969264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Engineering</a:t>
            </a:r>
            <a:endParaRPr lang="en-US" sz="1150" dirty="0"/>
          </a:p>
        </p:txBody>
      </p:sp>
      <p:sp>
        <p:nvSpPr>
          <p:cNvPr id="7" name="Shape 5"/>
          <p:cNvSpPr/>
          <p:nvPr/>
        </p:nvSpPr>
        <p:spPr>
          <a:xfrm>
            <a:off x="640080" y="2377440"/>
            <a:ext cx="10881360" cy="566928"/>
          </a:xfrm>
          <a:prstGeom prst="roundRect">
            <a:avLst>
              <a:gd name="adj" fmla="val 12903"/>
            </a:avLst>
          </a:prstGeom>
          <a:solidFill>
            <a:srgbClr val="F2F6FC"/>
          </a:solidFill>
          <a:ln/>
        </p:spPr>
      </p:sp>
      <p:sp>
        <p:nvSpPr>
          <p:cNvPr id="8" name="Text 6"/>
          <p:cNvSpPr txBox="1"/>
          <p:nvPr/>
        </p:nvSpPr>
        <p:spPr>
          <a:xfrm>
            <a:off x="914400" y="2377440"/>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Greenfield digital bank setup</a:t>
            </a:r>
            <a:endParaRPr lang="en-US" sz="1250" dirty="0"/>
          </a:p>
        </p:txBody>
      </p:sp>
      <p:sp>
        <p:nvSpPr>
          <p:cNvPr id="9" name="Text 7"/>
          <p:cNvSpPr txBox="1"/>
          <p:nvPr/>
        </p:nvSpPr>
        <p:spPr>
          <a:xfrm>
            <a:off x="4937760" y="2377440"/>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0" name="Shape 8"/>
          <p:cNvSpPr/>
          <p:nvPr/>
        </p:nvSpPr>
        <p:spPr>
          <a:xfrm>
            <a:off x="6693408" y="2523744"/>
            <a:ext cx="274320" cy="274320"/>
          </a:xfrm>
          <a:prstGeom prst="ellipse">
            <a:avLst/>
          </a:prstGeom>
          <a:solidFill>
            <a:srgbClr val="1E2761"/>
          </a:solidFill>
          <a:ln w="15875">
            <a:solidFill>
              <a:srgbClr val="1E2761"/>
            </a:solidFill>
            <a:prstDash val="solid"/>
          </a:ln>
        </p:spPr>
      </p:sp>
      <p:sp>
        <p:nvSpPr>
          <p:cNvPr id="11" name="Shape 9"/>
          <p:cNvSpPr/>
          <p:nvPr/>
        </p:nvSpPr>
        <p:spPr>
          <a:xfrm>
            <a:off x="8567928" y="2523744"/>
            <a:ext cx="274320" cy="274320"/>
          </a:xfrm>
          <a:prstGeom prst="ellipse">
            <a:avLst/>
          </a:prstGeom>
          <a:solidFill>
            <a:srgbClr val="1E2761"/>
          </a:solidFill>
          <a:ln w="15875">
            <a:solidFill>
              <a:srgbClr val="1E2761"/>
            </a:solidFill>
            <a:prstDash val="solid"/>
          </a:ln>
        </p:spPr>
      </p:sp>
      <p:sp>
        <p:nvSpPr>
          <p:cNvPr id="12" name="Shape 10"/>
          <p:cNvSpPr/>
          <p:nvPr/>
        </p:nvSpPr>
        <p:spPr>
          <a:xfrm>
            <a:off x="10442448" y="2523744"/>
            <a:ext cx="274320" cy="274320"/>
          </a:xfrm>
          <a:prstGeom prst="ellipse">
            <a:avLst/>
          </a:prstGeom>
          <a:solidFill>
            <a:srgbClr val="1E2761"/>
          </a:solidFill>
          <a:ln w="15875">
            <a:solidFill>
              <a:srgbClr val="1E2761"/>
            </a:solidFill>
            <a:prstDash val="solid"/>
          </a:ln>
        </p:spPr>
      </p:sp>
      <p:sp>
        <p:nvSpPr>
          <p:cNvPr id="13" name="Shape 11"/>
          <p:cNvSpPr/>
          <p:nvPr/>
        </p:nvSpPr>
        <p:spPr>
          <a:xfrm>
            <a:off x="640080" y="3035808"/>
            <a:ext cx="10881360" cy="566928"/>
          </a:xfrm>
          <a:prstGeom prst="roundRect">
            <a:avLst>
              <a:gd name="adj" fmla="val 12903"/>
            </a:avLst>
          </a:prstGeom>
          <a:solidFill>
            <a:srgbClr val="EDF2FA"/>
          </a:solidFill>
          <a:ln/>
        </p:spPr>
      </p:sp>
      <p:sp>
        <p:nvSpPr>
          <p:cNvPr id="14" name="Text 12"/>
          <p:cNvSpPr txBox="1"/>
          <p:nvPr/>
        </p:nvSpPr>
        <p:spPr>
          <a:xfrm>
            <a:off x="914400" y="3035808"/>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Core modernisation and migration</a:t>
            </a:r>
            <a:endParaRPr lang="en-US" sz="1250" dirty="0"/>
          </a:p>
        </p:txBody>
      </p:sp>
      <p:sp>
        <p:nvSpPr>
          <p:cNvPr id="15" name="Text 13"/>
          <p:cNvSpPr txBox="1"/>
          <p:nvPr/>
        </p:nvSpPr>
        <p:spPr>
          <a:xfrm>
            <a:off x="4937760" y="3035808"/>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6" name="Shape 14"/>
          <p:cNvSpPr/>
          <p:nvPr/>
        </p:nvSpPr>
        <p:spPr>
          <a:xfrm>
            <a:off x="6693408" y="3182112"/>
            <a:ext cx="274320" cy="274320"/>
          </a:xfrm>
          <a:prstGeom prst="ellipse">
            <a:avLst/>
          </a:prstGeom>
          <a:solidFill>
            <a:srgbClr val="1E2761"/>
          </a:solidFill>
          <a:ln w="15875">
            <a:solidFill>
              <a:srgbClr val="1E2761"/>
            </a:solidFill>
            <a:prstDash val="solid"/>
          </a:ln>
        </p:spPr>
      </p:sp>
      <p:sp>
        <p:nvSpPr>
          <p:cNvPr id="17" name="Shape 15"/>
          <p:cNvSpPr/>
          <p:nvPr/>
        </p:nvSpPr>
        <p:spPr>
          <a:xfrm>
            <a:off x="8567928" y="3182112"/>
            <a:ext cx="274320" cy="274320"/>
          </a:xfrm>
          <a:prstGeom prst="ellipse">
            <a:avLst/>
          </a:prstGeom>
          <a:solidFill>
            <a:srgbClr val="1E2761"/>
          </a:solidFill>
          <a:ln w="15875">
            <a:solidFill>
              <a:srgbClr val="1E2761"/>
            </a:solidFill>
            <a:prstDash val="solid"/>
          </a:ln>
        </p:spPr>
      </p:sp>
      <p:sp>
        <p:nvSpPr>
          <p:cNvPr id="18" name="Shape 16"/>
          <p:cNvSpPr/>
          <p:nvPr/>
        </p:nvSpPr>
        <p:spPr>
          <a:xfrm>
            <a:off x="10442448" y="3182112"/>
            <a:ext cx="274320" cy="274320"/>
          </a:xfrm>
          <a:prstGeom prst="ellipse">
            <a:avLst/>
          </a:prstGeom>
          <a:solidFill>
            <a:srgbClr val="1E2761"/>
          </a:solidFill>
          <a:ln w="15875">
            <a:solidFill>
              <a:srgbClr val="1E2761"/>
            </a:solidFill>
            <a:prstDash val="solid"/>
          </a:ln>
        </p:spPr>
      </p:sp>
      <p:sp>
        <p:nvSpPr>
          <p:cNvPr id="19" name="Shape 17"/>
          <p:cNvSpPr/>
          <p:nvPr/>
        </p:nvSpPr>
        <p:spPr>
          <a:xfrm>
            <a:off x="640080" y="3694176"/>
            <a:ext cx="10881360" cy="566928"/>
          </a:xfrm>
          <a:prstGeom prst="roundRect">
            <a:avLst>
              <a:gd name="adj" fmla="val 12903"/>
            </a:avLst>
          </a:prstGeom>
          <a:solidFill>
            <a:srgbClr val="F2F6FC"/>
          </a:solidFill>
          <a:ln/>
        </p:spPr>
      </p:sp>
      <p:sp>
        <p:nvSpPr>
          <p:cNvPr id="20" name="Text 18"/>
          <p:cNvSpPr txBox="1"/>
          <p:nvPr/>
        </p:nvSpPr>
        <p:spPr>
          <a:xfrm>
            <a:off x="914400" y="3694176"/>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Intelligent operations for claims</a:t>
            </a:r>
            <a:endParaRPr lang="en-US" sz="1250" dirty="0"/>
          </a:p>
        </p:txBody>
      </p:sp>
      <p:sp>
        <p:nvSpPr>
          <p:cNvPr id="21" name="Text 19"/>
          <p:cNvSpPr txBox="1"/>
          <p:nvPr/>
        </p:nvSpPr>
        <p:spPr>
          <a:xfrm>
            <a:off x="4937760" y="3694176"/>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2" name="Shape 20"/>
          <p:cNvSpPr/>
          <p:nvPr/>
        </p:nvSpPr>
        <p:spPr>
          <a:xfrm>
            <a:off x="6693408" y="3840480"/>
            <a:ext cx="274320" cy="274320"/>
          </a:xfrm>
          <a:prstGeom prst="ellipse">
            <a:avLst/>
          </a:prstGeom>
          <a:solidFill>
            <a:srgbClr val="1E2761"/>
          </a:solidFill>
          <a:ln w="15875">
            <a:solidFill>
              <a:srgbClr val="1E2761"/>
            </a:solidFill>
            <a:prstDash val="solid"/>
          </a:ln>
        </p:spPr>
      </p:sp>
      <p:sp>
        <p:nvSpPr>
          <p:cNvPr id="23" name="Shape 21"/>
          <p:cNvSpPr/>
          <p:nvPr/>
        </p:nvSpPr>
        <p:spPr>
          <a:xfrm>
            <a:off x="8567928" y="3840480"/>
            <a:ext cx="274320" cy="274320"/>
          </a:xfrm>
          <a:prstGeom prst="ellipse">
            <a:avLst/>
          </a:prstGeom>
          <a:solidFill>
            <a:srgbClr val="1E2761"/>
          </a:solidFill>
          <a:ln w="15875">
            <a:solidFill>
              <a:srgbClr val="1E2761"/>
            </a:solidFill>
            <a:prstDash val="solid"/>
          </a:ln>
        </p:spPr>
      </p:sp>
      <p:sp>
        <p:nvSpPr>
          <p:cNvPr id="24" name="Shape 22"/>
          <p:cNvSpPr/>
          <p:nvPr/>
        </p:nvSpPr>
        <p:spPr>
          <a:xfrm>
            <a:off x="10442448" y="3840480"/>
            <a:ext cx="274320" cy="274320"/>
          </a:xfrm>
          <a:prstGeom prst="ellipse">
            <a:avLst/>
          </a:prstGeom>
          <a:solidFill>
            <a:srgbClr val="FFFFFF"/>
          </a:solidFill>
          <a:ln w="15875">
            <a:solidFill>
              <a:srgbClr val="C9D4E6"/>
            </a:solidFill>
            <a:prstDash val="solid"/>
          </a:ln>
        </p:spPr>
      </p:sp>
      <p:sp>
        <p:nvSpPr>
          <p:cNvPr id="25" name="Shape 23"/>
          <p:cNvSpPr/>
          <p:nvPr/>
        </p:nvSpPr>
        <p:spPr>
          <a:xfrm>
            <a:off x="640080" y="4352544"/>
            <a:ext cx="10881360" cy="566928"/>
          </a:xfrm>
          <a:prstGeom prst="roundRect">
            <a:avLst>
              <a:gd name="adj" fmla="val 12903"/>
            </a:avLst>
          </a:prstGeom>
          <a:solidFill>
            <a:srgbClr val="EDF2FA"/>
          </a:solidFill>
          <a:ln/>
        </p:spPr>
      </p:sp>
      <p:sp>
        <p:nvSpPr>
          <p:cNvPr id="26" name="Text 24"/>
          <p:cNvSpPr txBox="1"/>
          <p:nvPr/>
        </p:nvSpPr>
        <p:spPr>
          <a:xfrm>
            <a:off x="914400" y="4352544"/>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Enterprise AI activation</a:t>
            </a:r>
            <a:endParaRPr lang="en-US" sz="1250" dirty="0"/>
          </a:p>
        </p:txBody>
      </p:sp>
      <p:sp>
        <p:nvSpPr>
          <p:cNvPr id="27" name="Text 25"/>
          <p:cNvSpPr txBox="1"/>
          <p:nvPr/>
        </p:nvSpPr>
        <p:spPr>
          <a:xfrm>
            <a:off x="4937760" y="4352544"/>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8" name="Shape 26"/>
          <p:cNvSpPr/>
          <p:nvPr/>
        </p:nvSpPr>
        <p:spPr>
          <a:xfrm>
            <a:off x="6693408" y="4498848"/>
            <a:ext cx="274320" cy="274320"/>
          </a:xfrm>
          <a:prstGeom prst="ellipse">
            <a:avLst/>
          </a:prstGeom>
          <a:solidFill>
            <a:srgbClr val="FFFFFF"/>
          </a:solidFill>
          <a:ln w="15875">
            <a:solidFill>
              <a:srgbClr val="C9D4E6"/>
            </a:solidFill>
            <a:prstDash val="solid"/>
          </a:ln>
        </p:spPr>
      </p:sp>
      <p:sp>
        <p:nvSpPr>
          <p:cNvPr id="29" name="Shape 27"/>
          <p:cNvSpPr/>
          <p:nvPr/>
        </p:nvSpPr>
        <p:spPr>
          <a:xfrm>
            <a:off x="8567928" y="4498848"/>
            <a:ext cx="274320" cy="274320"/>
          </a:xfrm>
          <a:prstGeom prst="ellipse">
            <a:avLst/>
          </a:prstGeom>
          <a:solidFill>
            <a:srgbClr val="1E2761"/>
          </a:solidFill>
          <a:ln w="15875">
            <a:solidFill>
              <a:srgbClr val="1E2761"/>
            </a:solidFill>
            <a:prstDash val="solid"/>
          </a:ln>
        </p:spPr>
      </p:sp>
      <p:sp>
        <p:nvSpPr>
          <p:cNvPr id="30" name="Shape 28"/>
          <p:cNvSpPr/>
          <p:nvPr/>
        </p:nvSpPr>
        <p:spPr>
          <a:xfrm>
            <a:off x="10442448" y="4498848"/>
            <a:ext cx="274320" cy="274320"/>
          </a:xfrm>
          <a:prstGeom prst="ellipse">
            <a:avLst/>
          </a:prstGeom>
          <a:solidFill>
            <a:srgbClr val="1E2761"/>
          </a:solidFill>
          <a:ln w="15875">
            <a:solidFill>
              <a:srgbClr val="1E2761"/>
            </a:solidFill>
            <a:prstDash val="solid"/>
          </a:ln>
        </p:spPr>
      </p:sp>
      <p:sp>
        <p:nvSpPr>
          <p:cNvPr id="31" name="Shape 29"/>
          <p:cNvSpPr/>
          <p:nvPr/>
        </p:nvSpPr>
        <p:spPr>
          <a:xfrm>
            <a:off x="640080" y="5010912"/>
            <a:ext cx="10881360" cy="566928"/>
          </a:xfrm>
          <a:prstGeom prst="roundRect">
            <a:avLst>
              <a:gd name="adj" fmla="val 12903"/>
            </a:avLst>
          </a:prstGeom>
          <a:solidFill>
            <a:srgbClr val="F2F6FC"/>
          </a:solidFill>
          <a:ln/>
        </p:spPr>
      </p:sp>
      <p:sp>
        <p:nvSpPr>
          <p:cNvPr id="32" name="Text 30"/>
          <p:cNvSpPr txBox="1"/>
          <p:nvPr/>
        </p:nvSpPr>
        <p:spPr>
          <a:xfrm>
            <a:off x="914400" y="5010912"/>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Cloud migration strategy</a:t>
            </a:r>
            <a:endParaRPr lang="en-US" sz="1250" dirty="0"/>
          </a:p>
        </p:txBody>
      </p:sp>
      <p:sp>
        <p:nvSpPr>
          <p:cNvPr id="33" name="Text 31"/>
          <p:cNvSpPr txBox="1"/>
          <p:nvPr/>
        </p:nvSpPr>
        <p:spPr>
          <a:xfrm>
            <a:off x="4937760" y="5010912"/>
            <a:ext cx="1005840" cy="566928"/>
          </a:xfrm>
          <a:prstGeom prst="rect">
            <a:avLst/>
          </a:prstGeom>
          <a:noFill/>
          <a:ln/>
        </p:spPr>
        <p:txBody>
          <a:bodyPr wrap="square" lIns="0" tIns="0" rIns="0" bIns="0" rtlCol="0" anchor="ctr"/>
          <a:lstStyle/>
          <a:p>
            <a:pPr indent="0" marL="0">
              <a:buNone/>
            </a:pPr>
            <a:r>
              <a:rPr lang="en-US" sz="1050" b="1" dirty="0">
                <a:solidFill>
                  <a:srgbClr val="B8862B"/>
                </a:solidFill>
                <a:latin typeface="Calibri" pitchFamily="34" charset="0"/>
                <a:ea typeface="Calibri" pitchFamily="34" charset="-122"/>
                <a:cs typeface="Calibri" pitchFamily="34" charset="-120"/>
              </a:rPr>
              <a:t>Focused</a:t>
            </a:r>
            <a:endParaRPr lang="en-US" sz="1050" dirty="0"/>
          </a:p>
        </p:txBody>
      </p:sp>
      <p:sp>
        <p:nvSpPr>
          <p:cNvPr id="34" name="Shape 32"/>
          <p:cNvSpPr/>
          <p:nvPr/>
        </p:nvSpPr>
        <p:spPr>
          <a:xfrm>
            <a:off x="6693408" y="5157216"/>
            <a:ext cx="274320" cy="274320"/>
          </a:xfrm>
          <a:prstGeom prst="ellipse">
            <a:avLst/>
          </a:prstGeom>
          <a:solidFill>
            <a:srgbClr val="FFFFFF"/>
          </a:solidFill>
          <a:ln w="15875">
            <a:solidFill>
              <a:srgbClr val="C9D4E6"/>
            </a:solidFill>
            <a:prstDash val="solid"/>
          </a:ln>
        </p:spPr>
      </p:sp>
      <p:sp>
        <p:nvSpPr>
          <p:cNvPr id="35" name="Shape 33"/>
          <p:cNvSpPr/>
          <p:nvPr/>
        </p:nvSpPr>
        <p:spPr>
          <a:xfrm>
            <a:off x="8567928" y="5157216"/>
            <a:ext cx="274320" cy="274320"/>
          </a:xfrm>
          <a:prstGeom prst="ellipse">
            <a:avLst/>
          </a:prstGeom>
          <a:solidFill>
            <a:srgbClr val="FFFFFF"/>
          </a:solidFill>
          <a:ln w="15875">
            <a:solidFill>
              <a:srgbClr val="C9D4E6"/>
            </a:solidFill>
            <a:prstDash val="solid"/>
          </a:ln>
        </p:spPr>
      </p:sp>
      <p:sp>
        <p:nvSpPr>
          <p:cNvPr id="36" name="Shape 34"/>
          <p:cNvSpPr/>
          <p:nvPr/>
        </p:nvSpPr>
        <p:spPr>
          <a:xfrm>
            <a:off x="10442448" y="5157216"/>
            <a:ext cx="274320" cy="274320"/>
          </a:xfrm>
          <a:prstGeom prst="ellipse">
            <a:avLst/>
          </a:prstGeom>
          <a:solidFill>
            <a:srgbClr val="1E2761"/>
          </a:solidFill>
          <a:ln w="15875">
            <a:solidFill>
              <a:srgbClr val="1E2761"/>
            </a:solidFill>
            <a:prstDash val="solid"/>
          </a:ln>
        </p:spPr>
      </p:sp>
      <p:sp>
        <p:nvSpPr>
          <p:cNvPr id="37" name="Shape 35"/>
          <p:cNvSpPr/>
          <p:nvPr/>
        </p:nvSpPr>
        <p:spPr>
          <a:xfrm>
            <a:off x="640080" y="5760720"/>
            <a:ext cx="10881360" cy="777240"/>
          </a:xfrm>
          <a:prstGeom prst="roundRect">
            <a:avLst>
              <a:gd name="adj" fmla="val 11765"/>
            </a:avLst>
          </a:prstGeom>
          <a:solidFill>
            <a:srgbClr val="1E2761"/>
          </a:solidFill>
          <a:ln/>
        </p:spPr>
      </p:sp>
      <p:sp>
        <p:nvSpPr>
          <p:cNvPr id="38" name="Text 36"/>
          <p:cNvSpPr txBox="1"/>
          <p:nvPr/>
        </p:nvSpPr>
        <p:spPr>
          <a:xfrm>
            <a:off x="914400" y="576072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rule: integrated is the default and the catalogue is built that way. A focused offering is permitted where the work genuinely does not span — and it is sold as a way in, not as the destination.</a:t>
            </a:r>
            <a:endParaRPr lang="en-US" sz="1250" dirty="0"/>
          </a:p>
        </p:txBody>
      </p:sp>
      <p:sp>
        <p:nvSpPr>
          <p:cNvPr id="39" name="Text 37"/>
          <p:cNvSpPr txBox="1"/>
          <p:nvPr/>
        </p:nvSpPr>
        <p:spPr>
          <a:xfrm>
            <a:off x="640080" y="6583680"/>
            <a:ext cx="5486400" cy="274320"/>
          </a:xfrm>
          <a:prstGeom prst="rect">
            <a:avLst/>
          </a:prstGeom>
          <a:noFill/>
          <a:ln/>
        </p:spPr>
        <p:txBody>
          <a:bodyPr wrap="square" lIns="0" tIns="0" rIns="0" bIns="0" rtlCol="0" anchor="ctr"/>
          <a:lstStyle/>
          <a:p>
            <a:pPr indent="0" marL="0">
              <a:buNone/>
            </a:pPr>
            <a:r>
              <a:rPr lang="en-US" sz="1050" i="1" dirty="0">
                <a:solidFill>
                  <a:srgbClr val="8792AB"/>
                </a:solidFill>
                <a:latin typeface="Calibri" pitchFamily="34" charset="0"/>
                <a:ea typeface="Calibri" pitchFamily="34" charset="-122"/>
                <a:cs typeface="Calibri" pitchFamily="34" charset="-120"/>
              </a:rPr>
              <a:t>Illustrative only — the catalogue itself is built in the cycle.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shore mix, and the assets and accelerators behind it</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and per sector: a core banking programme, a fund platform build and an AI activation carry different constructs, rates and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Industrialised delivery is how acceleration gets paid for: reuse raises margin at the same price, and shortens time to value.</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skills and enablement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and the capability behind the capacity.</a:t>
            </a:r>
            <a:endParaRPr lang="en-US" sz="1450" dirty="0"/>
          </a:p>
        </p:txBody>
      </p:sp>
      <p:sp>
        <p:nvSpPr>
          <p:cNvPr id="4" name="Shape 2"/>
          <p:cNvSpPr/>
          <p:nvPr/>
        </p:nvSpPr>
        <p:spPr>
          <a:xfrm>
            <a:off x="640080" y="1828800"/>
            <a:ext cx="2596896" cy="3520440"/>
          </a:xfrm>
          <a:prstGeom prst="roundRect">
            <a:avLst>
              <a:gd name="adj" fmla="val 4225"/>
            </a:avLst>
          </a:prstGeom>
          <a:solidFill>
            <a:srgbClr val="EDF2FA"/>
          </a:solidFill>
          <a:ln/>
        </p:spPr>
      </p:sp>
      <p:sp>
        <p:nvSpPr>
          <p:cNvPr id="5" name="Shape 3"/>
          <p:cNvSpPr/>
          <p:nvPr/>
        </p:nvSpPr>
        <p:spPr>
          <a:xfrm>
            <a:off x="640080" y="1828800"/>
            <a:ext cx="2596896" cy="713232"/>
          </a:xfrm>
          <a:prstGeom prst="rect">
            <a:avLst/>
          </a:prstGeom>
          <a:solidFill>
            <a:srgbClr val="1E2761"/>
          </a:solidFill>
          <a:ln/>
        </p:spPr>
      </p:sp>
      <p:sp>
        <p:nvSpPr>
          <p:cNvPr id="6" name="Text 4"/>
          <p:cNvSpPr txBox="1"/>
          <p:nvPr/>
        </p:nvSpPr>
        <p:spPr>
          <a:xfrm>
            <a:off x="841248"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dedicated team</a:t>
            </a:r>
            <a:endParaRPr lang="en-US" sz="1400" dirty="0"/>
          </a:p>
        </p:txBody>
      </p:sp>
      <p:sp>
        <p:nvSpPr>
          <p:cNvPr id="7" name="Text 5"/>
          <p:cNvSpPr txBox="1"/>
          <p:nvPr/>
        </p:nvSpPr>
        <p:spPr>
          <a:xfrm>
            <a:off x="841248"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Who works on FSI exclusively, across the three offerings?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roles and levels do they hold?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is realistically deliverable with them alone?</a:t>
            </a:r>
            <a:endParaRPr lang="en-US" sz="1100" dirty="0"/>
          </a:p>
        </p:txBody>
      </p:sp>
      <p:sp>
        <p:nvSpPr>
          <p:cNvPr id="8" name="Shape 6"/>
          <p:cNvSpPr/>
          <p:nvPr/>
        </p:nvSpPr>
        <p:spPr>
          <a:xfrm>
            <a:off x="3401568" y="1828800"/>
            <a:ext cx="2596896" cy="3520440"/>
          </a:xfrm>
          <a:prstGeom prst="roundRect">
            <a:avLst>
              <a:gd name="adj" fmla="val 4225"/>
            </a:avLst>
          </a:prstGeom>
          <a:solidFill>
            <a:srgbClr val="EDF2FA"/>
          </a:solidFill>
          <a:ln/>
        </p:spPr>
      </p:sp>
      <p:sp>
        <p:nvSpPr>
          <p:cNvPr id="9" name="Shape 7"/>
          <p:cNvSpPr/>
          <p:nvPr/>
        </p:nvSpPr>
        <p:spPr>
          <a:xfrm>
            <a:off x="3401568" y="1828800"/>
            <a:ext cx="2596896" cy="713232"/>
          </a:xfrm>
          <a:prstGeom prst="rect">
            <a:avLst/>
          </a:prstGeom>
          <a:solidFill>
            <a:srgbClr val="3E5C8A"/>
          </a:solidFill>
          <a:ln/>
        </p:spPr>
      </p:sp>
      <p:sp>
        <p:nvSpPr>
          <p:cNvPr id="10" name="Text 8"/>
          <p:cNvSpPr txBox="1"/>
          <p:nvPr/>
        </p:nvSpPr>
        <p:spPr>
          <a:xfrm>
            <a:off x="3602736"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Shared capacity</a:t>
            </a:r>
            <a:endParaRPr lang="en-US" sz="1400" dirty="0"/>
          </a:p>
        </p:txBody>
      </p:sp>
      <p:sp>
        <p:nvSpPr>
          <p:cNvPr id="11" name="Text 9"/>
          <p:cNvSpPr txBox="1"/>
          <p:nvPr/>
        </p:nvSpPr>
        <p:spPr>
          <a:xfrm>
            <a:off x="3602736"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resources are shared with other portfolios?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much of their time can we count on?</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skills do we borrow rather than own?</a:t>
            </a:r>
            <a:endParaRPr lang="en-US" sz="1100" dirty="0"/>
          </a:p>
        </p:txBody>
      </p:sp>
      <p:sp>
        <p:nvSpPr>
          <p:cNvPr id="12" name="Shape 10"/>
          <p:cNvSpPr/>
          <p:nvPr/>
        </p:nvSpPr>
        <p:spPr>
          <a:xfrm>
            <a:off x="6163056" y="1828800"/>
            <a:ext cx="2596896" cy="3520440"/>
          </a:xfrm>
          <a:prstGeom prst="roundRect">
            <a:avLst>
              <a:gd name="adj" fmla="val 4225"/>
            </a:avLst>
          </a:prstGeom>
          <a:solidFill>
            <a:srgbClr val="EDF2FA"/>
          </a:solidFill>
          <a:ln/>
        </p:spPr>
      </p:sp>
      <p:sp>
        <p:nvSpPr>
          <p:cNvPr id="13" name="Shape 11"/>
          <p:cNvSpPr/>
          <p:nvPr/>
        </p:nvSpPr>
        <p:spPr>
          <a:xfrm>
            <a:off x="6163056" y="1828800"/>
            <a:ext cx="2596896" cy="713232"/>
          </a:xfrm>
          <a:prstGeom prst="rect">
            <a:avLst/>
          </a:prstGeom>
          <a:solidFill>
            <a:srgbClr val="1E2761"/>
          </a:solidFill>
          <a:ln/>
        </p:spPr>
      </p:sp>
      <p:sp>
        <p:nvSpPr>
          <p:cNvPr id="14" name="Text 12"/>
          <p:cNvSpPr txBox="1"/>
          <p:nvPr/>
        </p:nvSpPr>
        <p:spPr>
          <a:xfrm>
            <a:off x="6364224"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Skills and enablement</a:t>
            </a:r>
            <a:endParaRPr lang="en-US" sz="1400" dirty="0"/>
          </a:p>
        </p:txBody>
      </p:sp>
      <p:sp>
        <p:nvSpPr>
          <p:cNvPr id="15" name="Text 13"/>
          <p:cNvSpPr txBox="1"/>
          <p:nvPr/>
        </p:nvSpPr>
        <p:spPr>
          <a:xfrm>
            <a:off x="6364224"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capabilities does the catalogue actually require?</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domain training and FSI certification is needed?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alliance and platform certification must we hold?</a:t>
            </a:r>
            <a:endParaRPr lang="en-US" sz="1100" dirty="0"/>
          </a:p>
        </p:txBody>
      </p:sp>
      <p:sp>
        <p:nvSpPr>
          <p:cNvPr id="16" name="Shape 14"/>
          <p:cNvSpPr/>
          <p:nvPr/>
        </p:nvSpPr>
        <p:spPr>
          <a:xfrm>
            <a:off x="8924544" y="1828800"/>
            <a:ext cx="2596896" cy="3520440"/>
          </a:xfrm>
          <a:prstGeom prst="roundRect">
            <a:avLst>
              <a:gd name="adj" fmla="val 4225"/>
            </a:avLst>
          </a:prstGeom>
          <a:solidFill>
            <a:srgbClr val="EDF2FA"/>
          </a:solidFill>
          <a:ln/>
        </p:spPr>
      </p:sp>
      <p:sp>
        <p:nvSpPr>
          <p:cNvPr id="17" name="Shape 15"/>
          <p:cNvSpPr/>
          <p:nvPr/>
        </p:nvSpPr>
        <p:spPr>
          <a:xfrm>
            <a:off x="8924544" y="1828800"/>
            <a:ext cx="2596896" cy="713232"/>
          </a:xfrm>
          <a:prstGeom prst="rect">
            <a:avLst/>
          </a:prstGeom>
          <a:solidFill>
            <a:srgbClr val="3E5C8A"/>
          </a:solidFill>
          <a:ln/>
        </p:spPr>
      </p:sp>
      <p:sp>
        <p:nvSpPr>
          <p:cNvPr id="18" name="Text 16"/>
          <p:cNvSpPr txBox="1"/>
          <p:nvPr/>
        </p:nvSpPr>
        <p:spPr>
          <a:xfrm>
            <a:off x="9125712"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gap to close</a:t>
            </a:r>
            <a:endParaRPr lang="en-US" sz="1400" dirty="0"/>
          </a:p>
        </p:txBody>
      </p:sp>
      <p:sp>
        <p:nvSpPr>
          <p:cNvPr id="19" name="Text 17"/>
          <p:cNvSpPr txBox="1"/>
          <p:nvPr/>
        </p:nvSpPr>
        <p:spPr>
          <a:xfrm>
            <a:off x="9125712"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Build, borrow or buy for each gap?</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By when, to support the targets we set?</a:t>
            </a:r>
            <a:endParaRPr lang="en-US" sz="1100" dirty="0"/>
          </a:p>
        </p:txBody>
      </p:sp>
      <p:sp>
        <p:nvSpPr>
          <p:cNvPr id="20" name="Shape 18"/>
          <p:cNvSpPr/>
          <p:nvPr/>
        </p:nvSpPr>
        <p:spPr>
          <a:xfrm>
            <a:off x="3566160" y="5532120"/>
            <a:ext cx="5029200" cy="301752"/>
          </a:xfrm>
          <a:prstGeom prst="roundRect">
            <a:avLst>
              <a:gd name="adj" fmla="val 48485"/>
            </a:avLst>
          </a:prstGeom>
          <a:solidFill>
            <a:srgbClr val="FFFFFF"/>
          </a:solidFill>
          <a:ln w="12700">
            <a:solidFill>
              <a:srgbClr val="B8862B"/>
            </a:solidFill>
            <a:prstDash val="solid"/>
          </a:ln>
        </p:spPr>
      </p:sp>
      <p:sp>
        <p:nvSpPr>
          <p:cNvPr id="21" name="Text 19"/>
          <p:cNvSpPr txBox="1"/>
          <p:nvPr/>
        </p:nvSpPr>
        <p:spPr>
          <a:xfrm>
            <a:off x="3566160" y="553212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22" name="Text 20"/>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Targets we cannot staff are not targets — and staff without the domain credential cannot sell the work.</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two categories, used for different things.</a:t>
            </a:r>
            <a:endParaRPr lang="en-US" sz="1450" dirty="0"/>
          </a:p>
        </p:txBody>
      </p:sp>
      <p:sp>
        <p:nvSpPr>
          <p:cNvPr id="4" name="Shape 2"/>
          <p:cNvSpPr/>
          <p:nvPr/>
        </p:nvSpPr>
        <p:spPr>
          <a:xfrm>
            <a:off x="640080" y="1783080"/>
            <a:ext cx="10881360" cy="1874520"/>
          </a:xfrm>
          <a:prstGeom prst="roundRect">
            <a:avLst>
              <a:gd name="adj" fmla="val 5854"/>
            </a:avLst>
          </a:prstGeom>
          <a:solidFill>
            <a:srgbClr val="EDF2FA"/>
          </a:solidFill>
          <a:ln/>
        </p:spPr>
      </p:sp>
      <p:sp>
        <p:nvSpPr>
          <p:cNvPr id="5" name="Shape 3"/>
          <p:cNvSpPr/>
          <p:nvPr/>
        </p:nvSpPr>
        <p:spPr>
          <a:xfrm>
            <a:off x="640080" y="1783080"/>
            <a:ext cx="2514600" cy="1874520"/>
          </a:xfrm>
          <a:prstGeom prst="rect">
            <a:avLst/>
          </a:prstGeom>
          <a:solidFill>
            <a:srgbClr val="1E2761"/>
          </a:solidFill>
          <a:ln/>
        </p:spPr>
      </p:sp>
      <p:sp>
        <p:nvSpPr>
          <p:cNvPr id="6" name="Text 4"/>
          <p:cNvSpPr txBox="1"/>
          <p:nvPr/>
        </p:nvSpPr>
        <p:spPr>
          <a:xfrm>
            <a:off x="841248" y="187452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Broad technology</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alliances</a:t>
            </a:r>
            <a:endParaRPr lang="en-US" sz="1450" dirty="0"/>
          </a:p>
        </p:txBody>
      </p:sp>
      <p:sp>
        <p:nvSpPr>
          <p:cNvPr id="7" name="Text 5"/>
          <p:cNvSpPr txBox="1"/>
          <p:nvPr/>
        </p:nvSpPr>
        <p:spPr>
          <a:xfrm>
            <a:off x="841248" y="274320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every proposition</a:t>
            </a:r>
            <a:endParaRPr lang="en-US" sz="1100" dirty="0"/>
          </a:p>
        </p:txBody>
      </p:sp>
      <p:sp>
        <p:nvSpPr>
          <p:cNvPr id="8" name="Shape 6"/>
          <p:cNvSpPr/>
          <p:nvPr/>
        </p:nvSpPr>
        <p:spPr>
          <a:xfrm>
            <a:off x="3429000" y="2011680"/>
            <a:ext cx="1783080" cy="685800"/>
          </a:xfrm>
          <a:prstGeom prst="roundRect">
            <a:avLst>
              <a:gd name="adj" fmla="val 13333"/>
            </a:avLst>
          </a:prstGeom>
          <a:solidFill>
            <a:srgbClr val="3E5C8A"/>
          </a:solidFill>
          <a:ln/>
        </p:spPr>
      </p:sp>
      <p:sp>
        <p:nvSpPr>
          <p:cNvPr id="9" name="Text 7"/>
          <p:cNvSpPr txBox="1"/>
          <p:nvPr/>
        </p:nvSpPr>
        <p:spPr>
          <a:xfrm>
            <a:off x="342900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Google</a:t>
            </a:r>
            <a:endParaRPr lang="en-US" sz="1500" dirty="0"/>
          </a:p>
        </p:txBody>
      </p:sp>
      <p:sp>
        <p:nvSpPr>
          <p:cNvPr id="10" name="Shape 8"/>
          <p:cNvSpPr/>
          <p:nvPr/>
        </p:nvSpPr>
        <p:spPr>
          <a:xfrm>
            <a:off x="5394960" y="2011680"/>
            <a:ext cx="1783080" cy="685800"/>
          </a:xfrm>
          <a:prstGeom prst="roundRect">
            <a:avLst>
              <a:gd name="adj" fmla="val 13333"/>
            </a:avLst>
          </a:prstGeom>
          <a:solidFill>
            <a:srgbClr val="3E5C8A"/>
          </a:solidFill>
          <a:ln/>
        </p:spPr>
      </p:sp>
      <p:sp>
        <p:nvSpPr>
          <p:cNvPr id="11" name="Text 9"/>
          <p:cNvSpPr txBox="1"/>
          <p:nvPr/>
        </p:nvSpPr>
        <p:spPr>
          <a:xfrm>
            <a:off x="539496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AWS</a:t>
            </a:r>
            <a:endParaRPr lang="en-US" sz="1500" dirty="0"/>
          </a:p>
        </p:txBody>
      </p:sp>
      <p:sp>
        <p:nvSpPr>
          <p:cNvPr id="12" name="Shape 10"/>
          <p:cNvSpPr/>
          <p:nvPr/>
        </p:nvSpPr>
        <p:spPr>
          <a:xfrm>
            <a:off x="7360920" y="2011680"/>
            <a:ext cx="1783080" cy="685800"/>
          </a:xfrm>
          <a:prstGeom prst="roundRect">
            <a:avLst>
              <a:gd name="adj" fmla="val 13333"/>
            </a:avLst>
          </a:prstGeom>
          <a:solidFill>
            <a:srgbClr val="3E5C8A"/>
          </a:solidFill>
          <a:ln/>
        </p:spPr>
      </p:sp>
      <p:sp>
        <p:nvSpPr>
          <p:cNvPr id="13" name="Text 11"/>
          <p:cNvSpPr txBox="1"/>
          <p:nvPr/>
        </p:nvSpPr>
        <p:spPr>
          <a:xfrm>
            <a:off x="736092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Microsoft</a:t>
            </a:r>
            <a:endParaRPr lang="en-US" sz="1500" dirty="0"/>
          </a:p>
        </p:txBody>
      </p:sp>
      <p:sp>
        <p:nvSpPr>
          <p:cNvPr id="14" name="Shape 12"/>
          <p:cNvSpPr/>
          <p:nvPr/>
        </p:nvSpPr>
        <p:spPr>
          <a:xfrm>
            <a:off x="9326880" y="2011680"/>
            <a:ext cx="1783080" cy="685800"/>
          </a:xfrm>
          <a:prstGeom prst="roundRect">
            <a:avLst>
              <a:gd name="adj" fmla="val 13333"/>
            </a:avLst>
          </a:prstGeom>
          <a:solidFill>
            <a:srgbClr val="3E5C8A"/>
          </a:solidFill>
          <a:ln/>
        </p:spPr>
      </p:sp>
      <p:sp>
        <p:nvSpPr>
          <p:cNvPr id="15" name="Text 13"/>
          <p:cNvSpPr txBox="1"/>
          <p:nvPr/>
        </p:nvSpPr>
        <p:spPr>
          <a:xfrm>
            <a:off x="932688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Oracle</a:t>
            </a:r>
            <a:endParaRPr lang="en-US" sz="1500" dirty="0"/>
          </a:p>
        </p:txBody>
      </p:sp>
      <p:sp>
        <p:nvSpPr>
          <p:cNvPr id="16" name="Text 14"/>
          <p:cNvSpPr txBox="1"/>
          <p:nvPr/>
        </p:nvSpPr>
        <p:spPr>
          <a:xfrm>
            <a:off x="3429000" y="2834640"/>
            <a:ext cx="7772400" cy="68580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Used for: co-sell into their accounts · funding and credits to activate use cases on their platform · platform credibility and certifications</a:t>
            </a:r>
            <a:endParaRPr lang="en-US" sz="1200" dirty="0"/>
          </a:p>
        </p:txBody>
      </p:sp>
      <p:sp>
        <p:nvSpPr>
          <p:cNvPr id="17" name="Shape 15"/>
          <p:cNvSpPr/>
          <p:nvPr/>
        </p:nvSpPr>
        <p:spPr>
          <a:xfrm>
            <a:off x="640080" y="3794760"/>
            <a:ext cx="10881360" cy="1874520"/>
          </a:xfrm>
          <a:prstGeom prst="roundRect">
            <a:avLst>
              <a:gd name="adj" fmla="val 5854"/>
            </a:avLst>
          </a:prstGeom>
          <a:solidFill>
            <a:srgbClr val="E4EBF7"/>
          </a:solidFill>
          <a:ln/>
        </p:spPr>
      </p:sp>
      <p:sp>
        <p:nvSpPr>
          <p:cNvPr id="18" name="Shape 16"/>
          <p:cNvSpPr/>
          <p:nvPr/>
        </p:nvSpPr>
        <p:spPr>
          <a:xfrm>
            <a:off x="640080" y="3794760"/>
            <a:ext cx="2514600" cy="1874520"/>
          </a:xfrm>
          <a:prstGeom prst="rect">
            <a:avLst/>
          </a:prstGeom>
          <a:solidFill>
            <a:srgbClr val="3E5C8A"/>
          </a:solidFill>
          <a:ln/>
        </p:spPr>
      </p:sp>
      <p:sp>
        <p:nvSpPr>
          <p:cNvPr id="19" name="Text 17"/>
          <p:cNvSpPr txBox="1"/>
          <p:nvPr/>
        </p:nvSpPr>
        <p:spPr>
          <a:xfrm>
            <a:off x="841248" y="388620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Specialised</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product vendors</a:t>
            </a:r>
            <a:endParaRPr lang="en-US" sz="1450" dirty="0"/>
          </a:p>
        </p:txBody>
      </p:sp>
      <p:sp>
        <p:nvSpPr>
          <p:cNvPr id="20" name="Text 18"/>
          <p:cNvSpPr txBox="1"/>
          <p:nvPr/>
        </p:nvSpPr>
        <p:spPr>
          <a:xfrm>
            <a:off x="841248" y="475488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specific offerings only</a:t>
            </a:r>
            <a:endParaRPr lang="en-US" sz="1100" dirty="0"/>
          </a:p>
        </p:txBody>
      </p:sp>
      <p:sp>
        <p:nvSpPr>
          <p:cNvPr id="21" name="Shape 19"/>
          <p:cNvSpPr/>
          <p:nvPr/>
        </p:nvSpPr>
        <p:spPr>
          <a:xfrm>
            <a:off x="3429000" y="3977640"/>
            <a:ext cx="3749040" cy="658368"/>
          </a:xfrm>
          <a:prstGeom prst="roundRect">
            <a:avLst>
              <a:gd name="adj" fmla="val 13889"/>
            </a:avLst>
          </a:prstGeom>
          <a:solidFill>
            <a:srgbClr val="FFFFFF"/>
          </a:solidFill>
          <a:ln/>
        </p:spPr>
      </p:sp>
      <p:sp>
        <p:nvSpPr>
          <p:cNvPr id="22" name="Text 20"/>
          <p:cNvSpPr txBox="1"/>
          <p:nvPr/>
        </p:nvSpPr>
        <p:spPr>
          <a:xfrm>
            <a:off x="361188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Core banking</a:t>
            </a:r>
            <a:endParaRPr lang="en-US" sz="1200" dirty="0"/>
          </a:p>
        </p:txBody>
      </p:sp>
      <p:sp>
        <p:nvSpPr>
          <p:cNvPr id="23" name="Text 21"/>
          <p:cNvSpPr txBox="1"/>
          <p:nvPr/>
        </p:nvSpPr>
        <p:spPr>
          <a:xfrm>
            <a:off x="544068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Temenos · Intellect</a:t>
            </a:r>
            <a:endParaRPr lang="en-US" sz="1150" dirty="0"/>
          </a:p>
        </p:txBody>
      </p:sp>
      <p:sp>
        <p:nvSpPr>
          <p:cNvPr id="24" name="Shape 22"/>
          <p:cNvSpPr/>
          <p:nvPr/>
        </p:nvSpPr>
        <p:spPr>
          <a:xfrm>
            <a:off x="7360920" y="3977640"/>
            <a:ext cx="3749040" cy="658368"/>
          </a:xfrm>
          <a:prstGeom prst="roundRect">
            <a:avLst>
              <a:gd name="adj" fmla="val 13889"/>
            </a:avLst>
          </a:prstGeom>
          <a:solidFill>
            <a:srgbClr val="FFFFFF"/>
          </a:solidFill>
          <a:ln/>
        </p:spPr>
      </p:sp>
      <p:sp>
        <p:nvSpPr>
          <p:cNvPr id="25" name="Text 23"/>
          <p:cNvSpPr txBox="1"/>
          <p:nvPr/>
        </p:nvSpPr>
        <p:spPr>
          <a:xfrm>
            <a:off x="754380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Data platforms</a:t>
            </a:r>
            <a:endParaRPr lang="en-US" sz="1200" dirty="0"/>
          </a:p>
        </p:txBody>
      </p:sp>
      <p:sp>
        <p:nvSpPr>
          <p:cNvPr id="26" name="Text 24"/>
          <p:cNvSpPr txBox="1"/>
          <p:nvPr/>
        </p:nvSpPr>
        <p:spPr>
          <a:xfrm>
            <a:off x="937260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Informatica · others</a:t>
            </a:r>
            <a:endParaRPr lang="en-US" sz="1150" dirty="0"/>
          </a:p>
        </p:txBody>
      </p:sp>
      <p:sp>
        <p:nvSpPr>
          <p:cNvPr id="27" name="Shape 25"/>
          <p:cNvSpPr/>
          <p:nvPr/>
        </p:nvSpPr>
        <p:spPr>
          <a:xfrm>
            <a:off x="3429000" y="4754880"/>
            <a:ext cx="3749040" cy="658368"/>
          </a:xfrm>
          <a:prstGeom prst="roundRect">
            <a:avLst>
              <a:gd name="adj" fmla="val 13889"/>
            </a:avLst>
          </a:prstGeom>
          <a:solidFill>
            <a:srgbClr val="FFFFFF"/>
          </a:solidFill>
          <a:ln/>
        </p:spPr>
      </p:sp>
      <p:sp>
        <p:nvSpPr>
          <p:cNvPr id="28" name="Text 26"/>
          <p:cNvSpPr txBox="1"/>
          <p:nvPr/>
        </p:nvSpPr>
        <p:spPr>
          <a:xfrm>
            <a:off x="361188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Origination</a:t>
            </a:r>
            <a:endParaRPr lang="en-US" sz="1200" dirty="0"/>
          </a:p>
        </p:txBody>
      </p:sp>
      <p:sp>
        <p:nvSpPr>
          <p:cNvPr id="29" name="Text 27"/>
          <p:cNvSpPr txBox="1"/>
          <p:nvPr/>
        </p:nvSpPr>
        <p:spPr>
          <a:xfrm>
            <a:off x="544068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0" name="Shape 28"/>
          <p:cNvSpPr/>
          <p:nvPr/>
        </p:nvSpPr>
        <p:spPr>
          <a:xfrm>
            <a:off x="7360920" y="4754880"/>
            <a:ext cx="3749040" cy="658368"/>
          </a:xfrm>
          <a:prstGeom prst="roundRect">
            <a:avLst>
              <a:gd name="adj" fmla="val 13889"/>
            </a:avLst>
          </a:prstGeom>
          <a:solidFill>
            <a:srgbClr val="FFFFFF"/>
          </a:solidFill>
          <a:ln/>
        </p:spPr>
      </p:sp>
      <p:sp>
        <p:nvSpPr>
          <p:cNvPr id="31" name="Text 29"/>
          <p:cNvSpPr txBox="1"/>
          <p:nvPr/>
        </p:nvSpPr>
        <p:spPr>
          <a:xfrm>
            <a:off x="754380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Insurance and fund core</a:t>
            </a:r>
            <a:endParaRPr lang="en-US" sz="1200" dirty="0"/>
          </a:p>
        </p:txBody>
      </p:sp>
      <p:sp>
        <p:nvSpPr>
          <p:cNvPr id="32" name="Text 30"/>
          <p:cNvSpPr txBox="1"/>
          <p:nvPr/>
        </p:nvSpPr>
        <p:spPr>
          <a:xfrm>
            <a:off x="937260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3" name="Shape 31"/>
          <p:cNvSpPr/>
          <p:nvPr/>
        </p:nvSpPr>
        <p:spPr>
          <a:xfrm>
            <a:off x="640080" y="5806440"/>
            <a:ext cx="10881360" cy="731520"/>
          </a:xfrm>
          <a:prstGeom prst="roundRect">
            <a:avLst>
              <a:gd name="adj" fmla="val 12500"/>
            </a:avLst>
          </a:prstGeom>
          <a:solidFill>
            <a:srgbClr val="1E2761"/>
          </a:solidFill>
          <a:ln/>
        </p:spPr>
      </p:sp>
      <p:sp>
        <p:nvSpPr>
          <p:cNvPr id="34" name="Text 32"/>
          <p:cNvSpPr txBox="1"/>
          <p:nvPr/>
        </p:nvSpPr>
        <p:spPr>
          <a:xfrm>
            <a:off x="914400" y="5806440"/>
            <a:ext cx="10332720" cy="73152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Per alliance the plan answers: what we leverage it for, the relationship type, which offerings and sectors it sits behind, which accounts it opens, and what it costs us back.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FOUR</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we build it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approach, the owners and the calendar.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five-step approach</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Workstreams and who owns them</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three-week journey</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How we run the cycle</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Choose the vision, then frame the ambition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sectors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Price bands, ADR and target margin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per account, gross and net, against capacity</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sectors, tiering,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Propositions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archetypes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assets, construct, pricing, margin, team, skills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and core platforms across banking, funds and insurance,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Text 25"/>
          <p:cNvSpPr txBox="1"/>
          <p:nvPr/>
        </p:nvSpPr>
        <p:spPr>
          <a:xfrm>
            <a:off x="640080" y="53035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Pillar ownership across the five workstreams is assigned from this group at kick-off; every artefact carries one name.</a:t>
            </a:r>
            <a:endParaRPr lang="en-US" sz="1300" dirty="0"/>
          </a:p>
        </p:txBody>
      </p:sp>
      <p:sp>
        <p:nvSpPr>
          <p:cNvPr id="28" name="Text 26"/>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00" dirty="0">
                <a:solidFill>
                  <a:srgbClr val="8792AB"/>
                </a:solidFill>
                <a:latin typeface="Calibri" pitchFamily="34" charset="0"/>
                <a:ea typeface="Calibri" pitchFamily="34" charset="-122"/>
                <a:cs typeface="Calibri" pitchFamily="34" charset="-120"/>
              </a:rPr>
              <a:t>Wider contributors — account partners, alliance leads, resourcing and finance — are pulled in per workstream rather than sitting on the core team.</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Initiatives that outlive the cycle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sets the direction. Some of the work then runs for months — named, owned and tracked.</a:t>
            </a:r>
            <a:endParaRPr lang="en-US" sz="1450" dirty="0"/>
          </a:p>
        </p:txBody>
      </p:sp>
      <p:sp>
        <p:nvSpPr>
          <p:cNvPr id="4" name="Shape 2"/>
          <p:cNvSpPr/>
          <p:nvPr/>
        </p:nvSpPr>
        <p:spPr>
          <a:xfrm>
            <a:off x="640080" y="1828800"/>
            <a:ext cx="3520440" cy="1600200"/>
          </a:xfrm>
          <a:prstGeom prst="roundRect">
            <a:avLst>
              <a:gd name="adj" fmla="val 6857"/>
            </a:avLst>
          </a:prstGeom>
          <a:solidFill>
            <a:srgbClr val="E4EBF7"/>
          </a:solidFill>
          <a:ln/>
        </p:spPr>
      </p:sp>
      <p:sp>
        <p:nvSpPr>
          <p:cNvPr id="5" name="Text 3"/>
          <p:cNvSpPr txBox="1"/>
          <p:nvPr/>
        </p:nvSpPr>
        <p:spPr>
          <a:xfrm>
            <a:off x="896112"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PROPOSITIONS</a:t>
            </a:r>
            <a:endParaRPr lang="en-US" sz="900" dirty="0"/>
          </a:p>
        </p:txBody>
      </p:sp>
      <p:sp>
        <p:nvSpPr>
          <p:cNvPr id="6" name="Text 4"/>
          <p:cNvSpPr txBox="1"/>
          <p:nvPr/>
        </p:nvSpPr>
        <p:spPr>
          <a:xfrm>
            <a:off x="896112"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Proposal and orals quality</a:t>
            </a:r>
            <a:endParaRPr lang="en-US" sz="1400" dirty="0"/>
          </a:p>
        </p:txBody>
      </p:sp>
      <p:sp>
        <p:nvSpPr>
          <p:cNvPr id="7" name="Text 5"/>
          <p:cNvSpPr txBox="1"/>
          <p:nvPr/>
        </p:nvSpPr>
        <p:spPr>
          <a:xfrm>
            <a:off x="896112"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Reusable proposal foundations and demo-led orals, so pursuits are fast, polished and differentiated</a:t>
            </a:r>
            <a:endParaRPr lang="en-US" sz="1050" dirty="0"/>
          </a:p>
        </p:txBody>
      </p:sp>
      <p:sp>
        <p:nvSpPr>
          <p:cNvPr id="8" name="Shape 6"/>
          <p:cNvSpPr/>
          <p:nvPr/>
        </p:nvSpPr>
        <p:spPr>
          <a:xfrm>
            <a:off x="4325112" y="1828800"/>
            <a:ext cx="3520440" cy="1600200"/>
          </a:xfrm>
          <a:prstGeom prst="roundRect">
            <a:avLst>
              <a:gd name="adj" fmla="val 6857"/>
            </a:avLst>
          </a:prstGeom>
          <a:solidFill>
            <a:srgbClr val="EDF2FA"/>
          </a:solidFill>
          <a:ln/>
        </p:spPr>
      </p:sp>
      <p:sp>
        <p:nvSpPr>
          <p:cNvPr id="9" name="Text 7"/>
          <p:cNvSpPr txBox="1"/>
          <p:nvPr/>
        </p:nvSpPr>
        <p:spPr>
          <a:xfrm>
            <a:off x="4581144"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0" name="Text 8"/>
          <p:cNvSpPr txBox="1"/>
          <p:nvPr/>
        </p:nvSpPr>
        <p:spPr>
          <a:xfrm>
            <a:off x="4581144"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Assets and accelerators</a:t>
            </a:r>
            <a:endParaRPr lang="en-US" sz="1400" dirty="0"/>
          </a:p>
        </p:txBody>
      </p:sp>
      <p:sp>
        <p:nvSpPr>
          <p:cNvPr id="11" name="Text 9"/>
          <p:cNvSpPr txBox="1"/>
          <p:nvPr/>
        </p:nvSpPr>
        <p:spPr>
          <a:xfrm>
            <a:off x="4581144"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Build the reusable delivery IP behind the propositions we commit to</a:t>
            </a:r>
            <a:endParaRPr lang="en-US" sz="1050" dirty="0"/>
          </a:p>
        </p:txBody>
      </p:sp>
      <p:sp>
        <p:nvSpPr>
          <p:cNvPr id="12" name="Shape 10"/>
          <p:cNvSpPr/>
          <p:nvPr/>
        </p:nvSpPr>
        <p:spPr>
          <a:xfrm>
            <a:off x="8010144" y="1828800"/>
            <a:ext cx="3520440" cy="1600200"/>
          </a:xfrm>
          <a:prstGeom prst="roundRect">
            <a:avLst>
              <a:gd name="adj" fmla="val 6857"/>
            </a:avLst>
          </a:prstGeom>
          <a:solidFill>
            <a:srgbClr val="EDF2FA"/>
          </a:solidFill>
          <a:ln/>
        </p:spPr>
      </p:sp>
      <p:sp>
        <p:nvSpPr>
          <p:cNvPr id="13" name="Text 11"/>
          <p:cNvSpPr txBox="1"/>
          <p:nvPr/>
        </p:nvSpPr>
        <p:spPr>
          <a:xfrm>
            <a:off x="8266176" y="199339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DELIVERY</a:t>
            </a:r>
            <a:endParaRPr lang="en-US" sz="900" dirty="0"/>
          </a:p>
        </p:txBody>
      </p:sp>
      <p:sp>
        <p:nvSpPr>
          <p:cNvPr id="14" name="Text 12"/>
          <p:cNvSpPr txBox="1"/>
          <p:nvPr/>
        </p:nvSpPr>
        <p:spPr>
          <a:xfrm>
            <a:off x="8266176" y="228600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Capability and certification</a:t>
            </a:r>
            <a:endParaRPr lang="en-US" sz="1400" dirty="0"/>
          </a:p>
        </p:txBody>
      </p:sp>
      <p:sp>
        <p:nvSpPr>
          <p:cNvPr id="15" name="Text 13"/>
          <p:cNvSpPr txBox="1"/>
          <p:nvPr/>
        </p:nvSpPr>
        <p:spPr>
          <a:xfrm>
            <a:off x="8266176" y="269748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Close the domain, platform and alliance certification gaps by level</a:t>
            </a:r>
            <a:endParaRPr lang="en-US" sz="1050" dirty="0"/>
          </a:p>
        </p:txBody>
      </p:sp>
      <p:sp>
        <p:nvSpPr>
          <p:cNvPr id="16" name="Shape 14"/>
          <p:cNvSpPr/>
          <p:nvPr/>
        </p:nvSpPr>
        <p:spPr>
          <a:xfrm>
            <a:off x="640080" y="3611880"/>
            <a:ext cx="3520440" cy="1600200"/>
          </a:xfrm>
          <a:prstGeom prst="roundRect">
            <a:avLst>
              <a:gd name="adj" fmla="val 6857"/>
            </a:avLst>
          </a:prstGeom>
          <a:solidFill>
            <a:srgbClr val="EDF2FA"/>
          </a:solidFill>
          <a:ln/>
        </p:spPr>
      </p:sp>
      <p:sp>
        <p:nvSpPr>
          <p:cNvPr id="17" name="Text 15"/>
          <p:cNvSpPr txBox="1"/>
          <p:nvPr/>
        </p:nvSpPr>
        <p:spPr>
          <a:xfrm>
            <a:off x="896112"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18" name="Text 16"/>
          <p:cNvSpPr txBox="1"/>
          <p:nvPr/>
        </p:nvSpPr>
        <p:spPr>
          <a:xfrm>
            <a:off x="896112"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Alliance activation</a:t>
            </a:r>
            <a:endParaRPr lang="en-US" sz="1400" dirty="0"/>
          </a:p>
        </p:txBody>
      </p:sp>
      <p:sp>
        <p:nvSpPr>
          <p:cNvPr id="19" name="Text 17"/>
          <p:cNvSpPr txBox="1"/>
          <p:nvPr/>
        </p:nvSpPr>
        <p:spPr>
          <a:xfrm>
            <a:off x="896112"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Answer the funds and insurance platform gap; activate co-sell and funding</a:t>
            </a:r>
            <a:endParaRPr lang="en-US" sz="1050" dirty="0"/>
          </a:p>
        </p:txBody>
      </p:sp>
      <p:sp>
        <p:nvSpPr>
          <p:cNvPr id="20" name="Shape 18"/>
          <p:cNvSpPr/>
          <p:nvPr/>
        </p:nvSpPr>
        <p:spPr>
          <a:xfrm>
            <a:off x="4325112" y="3611880"/>
            <a:ext cx="3520440" cy="1600200"/>
          </a:xfrm>
          <a:prstGeom prst="roundRect">
            <a:avLst>
              <a:gd name="adj" fmla="val 6857"/>
            </a:avLst>
          </a:prstGeom>
          <a:solidFill>
            <a:srgbClr val="EDF2FA"/>
          </a:solidFill>
          <a:ln/>
        </p:spPr>
      </p:sp>
      <p:sp>
        <p:nvSpPr>
          <p:cNvPr id="21" name="Text 19"/>
          <p:cNvSpPr txBox="1"/>
          <p:nvPr/>
        </p:nvSpPr>
        <p:spPr>
          <a:xfrm>
            <a:off x="4581144"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ROUTE TO MARKET</a:t>
            </a:r>
            <a:endParaRPr lang="en-US" sz="900" dirty="0"/>
          </a:p>
        </p:txBody>
      </p:sp>
      <p:sp>
        <p:nvSpPr>
          <p:cNvPr id="22" name="Text 20"/>
          <p:cNvSpPr txBox="1"/>
          <p:nvPr/>
        </p:nvSpPr>
        <p:spPr>
          <a:xfrm>
            <a:off x="4581144"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Eminence programme</a:t>
            </a:r>
            <a:endParaRPr lang="en-US" sz="1400" dirty="0"/>
          </a:p>
        </p:txBody>
      </p:sp>
      <p:sp>
        <p:nvSpPr>
          <p:cNvPr id="23" name="Text 21"/>
          <p:cNvSpPr txBox="1"/>
          <p:nvPr/>
        </p:nvSpPr>
        <p:spPr>
          <a:xfrm>
            <a:off x="4581144"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Stand up the calendar, internal and external, against the target accounts</a:t>
            </a:r>
            <a:endParaRPr lang="en-US" sz="1050" dirty="0"/>
          </a:p>
        </p:txBody>
      </p:sp>
      <p:sp>
        <p:nvSpPr>
          <p:cNvPr id="24" name="Shape 22"/>
          <p:cNvSpPr/>
          <p:nvPr/>
        </p:nvSpPr>
        <p:spPr>
          <a:xfrm>
            <a:off x="8010144" y="3611880"/>
            <a:ext cx="3520440" cy="1600200"/>
          </a:xfrm>
          <a:prstGeom prst="roundRect">
            <a:avLst>
              <a:gd name="adj" fmla="val 6857"/>
            </a:avLst>
          </a:prstGeom>
          <a:solidFill>
            <a:srgbClr val="EDF2FA"/>
          </a:solidFill>
          <a:ln/>
        </p:spPr>
      </p:sp>
      <p:sp>
        <p:nvSpPr>
          <p:cNvPr id="25" name="Text 23"/>
          <p:cNvSpPr txBox="1"/>
          <p:nvPr/>
        </p:nvSpPr>
        <p:spPr>
          <a:xfrm>
            <a:off x="8266176" y="3776472"/>
            <a:ext cx="3017520" cy="256032"/>
          </a:xfrm>
          <a:prstGeom prst="rect">
            <a:avLst/>
          </a:prstGeom>
          <a:noFill/>
          <a:ln/>
        </p:spPr>
        <p:txBody>
          <a:bodyPr wrap="square" lIns="0" tIns="0" rIns="0" bIns="0" rtlCol="0" anchor="ctr"/>
          <a:lstStyle/>
          <a:p>
            <a:pPr indent="0" marL="0">
              <a:buNone/>
            </a:pPr>
            <a:r>
              <a:rPr lang="en-US" sz="900" b="1" spc="100" kern="0" dirty="0">
                <a:solidFill>
                  <a:srgbClr val="3E5C8A"/>
                </a:solidFill>
                <a:latin typeface="Calibri" pitchFamily="34" charset="0"/>
                <a:ea typeface="Calibri" pitchFamily="34" charset="-122"/>
                <a:cs typeface="Calibri" pitchFamily="34" charset="-120"/>
              </a:rPr>
              <a:t>MARKET AND CLIENTS</a:t>
            </a:r>
            <a:endParaRPr lang="en-US" sz="900" dirty="0"/>
          </a:p>
        </p:txBody>
      </p:sp>
      <p:sp>
        <p:nvSpPr>
          <p:cNvPr id="26" name="Text 24"/>
          <p:cNvSpPr txBox="1"/>
          <p:nvPr/>
        </p:nvSpPr>
        <p:spPr>
          <a:xfrm>
            <a:off x="8266176" y="4069080"/>
            <a:ext cx="301752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Account activation</a:t>
            </a:r>
            <a:endParaRPr lang="en-US" sz="1400" dirty="0"/>
          </a:p>
        </p:txBody>
      </p:sp>
      <p:sp>
        <p:nvSpPr>
          <p:cNvPr id="27" name="Text 25"/>
          <p:cNvSpPr txBox="1"/>
          <p:nvPr/>
        </p:nvSpPr>
        <p:spPr>
          <a:xfrm>
            <a:off x="8266176" y="4480560"/>
            <a:ext cx="3017520" cy="658368"/>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Turn the tier one list into live pursuits inside the existing account plans</a:t>
            </a:r>
            <a:endParaRPr lang="en-US" sz="1050" dirty="0"/>
          </a:p>
        </p:txBody>
      </p:sp>
      <p:sp>
        <p:nvSpPr>
          <p:cNvPr id="28" name="Shape 26"/>
          <p:cNvSpPr/>
          <p:nvPr/>
        </p:nvSpPr>
        <p:spPr>
          <a:xfrm>
            <a:off x="640080" y="5440680"/>
            <a:ext cx="10881360" cy="777240"/>
          </a:xfrm>
          <a:prstGeom prst="roundRect">
            <a:avLst>
              <a:gd name="adj" fmla="val 11765"/>
            </a:avLst>
          </a:prstGeom>
          <a:solidFill>
            <a:srgbClr val="1E2761"/>
          </a:solidFill>
          <a:ln/>
        </p:spPr>
      </p:sp>
      <p:sp>
        <p:nvSpPr>
          <p:cNvPr id="29" name="Text 27"/>
          <p:cNvSpPr txBox="1"/>
          <p:nvPr/>
        </p:nvSpPr>
        <p:spPr>
          <a:xfrm>
            <a:off x="914400" y="544068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Every initiative carries a pillar, an owner, an outcome and a date — and is reviewed in the monthly rhythm alongside the numbers.</a:t>
            </a:r>
            <a:endParaRPr lang="en-US" sz="1250" dirty="0"/>
          </a:p>
        </p:txBody>
      </p:sp>
      <p:sp>
        <p:nvSpPr>
          <p:cNvPr id="30" name="Text 28"/>
          <p:cNvSpPr txBox="1"/>
          <p:nvPr/>
        </p:nvSpPr>
        <p:spPr>
          <a:xfrm>
            <a:off x="640080" y="6309360"/>
            <a:ext cx="731520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Illustrative — the register is built in week three and tracked from there.</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sectors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sector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EAI&amp;D portfolio strategy and the FSI industry strategy</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Alignment with both parent strategies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FIVE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After sign-off</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Keeping the strategy alive once it is agreed.</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Governing the execution: rhythm, scorecard and decision rights</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Initiative register and talent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Milestones hit against the register</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828800"/>
            <a:ext cx="10881360" cy="822960"/>
          </a:xfrm>
          <a:prstGeom prst="roundRect">
            <a:avLst>
              <a:gd name="adj" fmla="val 11111"/>
            </a:avLst>
          </a:prstGeom>
          <a:solidFill>
            <a:srgbClr val="FFFFFF"/>
          </a:solidFill>
          <a:ln w="15875">
            <a:solidFill>
              <a:srgbClr val="1E2761"/>
            </a:solidFill>
            <a:prstDash val="solid"/>
          </a:ln>
        </p:spPr>
      </p:sp>
      <p:sp>
        <p:nvSpPr>
          <p:cNvPr id="5" name="Text 3"/>
          <p:cNvSpPr txBox="1"/>
          <p:nvPr/>
        </p:nvSpPr>
        <p:spPr>
          <a:xfrm>
            <a:off x="914400" y="1828800"/>
            <a:ext cx="1828800" cy="82296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AMBITION</a:t>
            </a:r>
            <a:endParaRPr lang="en-US" sz="1200" dirty="0"/>
          </a:p>
        </p:txBody>
      </p:sp>
      <p:sp>
        <p:nvSpPr>
          <p:cNvPr id="6" name="Shape 4"/>
          <p:cNvSpPr/>
          <p:nvPr/>
        </p:nvSpPr>
        <p:spPr>
          <a:xfrm>
            <a:off x="2926080" y="2395728"/>
            <a:ext cx="8321040" cy="0"/>
          </a:xfrm>
          <a:prstGeom prst="line">
            <a:avLst/>
          </a:prstGeom>
          <a:noFill/>
          <a:ln w="12700">
            <a:solidFill>
              <a:srgbClr val="C9D4E6"/>
            </a:solidFill>
            <a:prstDash val="solid"/>
          </a:ln>
        </p:spPr>
      </p:sp>
      <p:sp>
        <p:nvSpPr>
          <p:cNvPr id="7" name="Shape 5"/>
          <p:cNvSpPr/>
          <p:nvPr/>
        </p:nvSpPr>
        <p:spPr>
          <a:xfrm>
            <a:off x="640080" y="2834640"/>
            <a:ext cx="2596896" cy="2377440"/>
          </a:xfrm>
          <a:prstGeom prst="roundRect">
            <a:avLst>
              <a:gd name="adj" fmla="val 3846"/>
            </a:avLst>
          </a:prstGeom>
          <a:solidFill>
            <a:srgbClr val="FFFFFF"/>
          </a:solidFill>
          <a:ln w="12700">
            <a:solidFill>
              <a:srgbClr val="C9D4E6"/>
            </a:solidFill>
            <a:prstDash val="solid"/>
          </a:ln>
        </p:spPr>
      </p:sp>
      <p:sp>
        <p:nvSpPr>
          <p:cNvPr id="8" name="Shape 6"/>
          <p:cNvSpPr/>
          <p:nvPr/>
        </p:nvSpPr>
        <p:spPr>
          <a:xfrm>
            <a:off x="640080" y="2834640"/>
            <a:ext cx="2596896" cy="502920"/>
          </a:xfrm>
          <a:prstGeom prst="rect">
            <a:avLst/>
          </a:prstGeom>
          <a:solidFill>
            <a:srgbClr val="1E2761"/>
          </a:solidFill>
          <a:ln/>
        </p:spPr>
      </p:sp>
      <p:sp>
        <p:nvSpPr>
          <p:cNvPr id="9" name="Text 7"/>
          <p:cNvSpPr txBox="1"/>
          <p:nvPr/>
        </p:nvSpPr>
        <p:spPr>
          <a:xfrm>
            <a:off x="786384"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0" name="Text 8"/>
          <p:cNvSpPr txBox="1"/>
          <p:nvPr/>
        </p:nvSpPr>
        <p:spPr>
          <a:xfrm>
            <a:off x="841248"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sectors</a:t>
            </a:r>
            <a:endParaRPr lang="en-US" sz="1050" dirty="0"/>
          </a:p>
        </p:txBody>
      </p:sp>
      <p:sp>
        <p:nvSpPr>
          <p:cNvPr id="11" name="Shape 9"/>
          <p:cNvSpPr/>
          <p:nvPr/>
        </p:nvSpPr>
        <p:spPr>
          <a:xfrm>
            <a:off x="841248" y="3867912"/>
            <a:ext cx="2194560" cy="0"/>
          </a:xfrm>
          <a:prstGeom prst="line">
            <a:avLst/>
          </a:prstGeom>
          <a:noFill/>
          <a:ln w="12700">
            <a:solidFill>
              <a:srgbClr val="E1E8F2"/>
            </a:solidFill>
            <a:prstDash val="solid"/>
          </a:ln>
        </p:spPr>
      </p:sp>
      <p:sp>
        <p:nvSpPr>
          <p:cNvPr id="12" name="Text 10"/>
          <p:cNvSpPr txBox="1"/>
          <p:nvPr/>
        </p:nvSpPr>
        <p:spPr>
          <a:xfrm>
            <a:off x="841248"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3" name="Shape 11"/>
          <p:cNvSpPr/>
          <p:nvPr/>
        </p:nvSpPr>
        <p:spPr>
          <a:xfrm>
            <a:off x="841248" y="4434840"/>
            <a:ext cx="2194560" cy="0"/>
          </a:xfrm>
          <a:prstGeom prst="line">
            <a:avLst/>
          </a:prstGeom>
          <a:noFill/>
          <a:ln w="12700">
            <a:solidFill>
              <a:srgbClr val="E1E8F2"/>
            </a:solidFill>
            <a:prstDash val="solid"/>
          </a:ln>
        </p:spPr>
      </p:sp>
      <p:sp>
        <p:nvSpPr>
          <p:cNvPr id="14" name="Text 12"/>
          <p:cNvSpPr txBox="1"/>
          <p:nvPr/>
        </p:nvSpPr>
        <p:spPr>
          <a:xfrm>
            <a:off x="841248"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5" name="Shape 13"/>
          <p:cNvSpPr/>
          <p:nvPr/>
        </p:nvSpPr>
        <p:spPr>
          <a:xfrm>
            <a:off x="841248" y="5001768"/>
            <a:ext cx="2194560" cy="0"/>
          </a:xfrm>
          <a:prstGeom prst="line">
            <a:avLst/>
          </a:prstGeom>
          <a:noFill/>
          <a:ln w="12700">
            <a:solidFill>
              <a:srgbClr val="E1E8F2"/>
            </a:solidFill>
            <a:prstDash val="solid"/>
          </a:ln>
        </p:spPr>
      </p:sp>
      <p:sp>
        <p:nvSpPr>
          <p:cNvPr id="16" name="Shape 14"/>
          <p:cNvSpPr/>
          <p:nvPr/>
        </p:nvSpPr>
        <p:spPr>
          <a:xfrm>
            <a:off x="3401568" y="2834640"/>
            <a:ext cx="2596896" cy="2377440"/>
          </a:xfrm>
          <a:prstGeom prst="roundRect">
            <a:avLst>
              <a:gd name="adj" fmla="val 3846"/>
            </a:avLst>
          </a:prstGeom>
          <a:solidFill>
            <a:srgbClr val="FFFFFF"/>
          </a:solidFill>
          <a:ln w="12700">
            <a:solidFill>
              <a:srgbClr val="C9D4E6"/>
            </a:solidFill>
            <a:prstDash val="solid"/>
          </a:ln>
        </p:spPr>
      </p:sp>
      <p:sp>
        <p:nvSpPr>
          <p:cNvPr id="17" name="Shape 15"/>
          <p:cNvSpPr/>
          <p:nvPr/>
        </p:nvSpPr>
        <p:spPr>
          <a:xfrm>
            <a:off x="3401568" y="2834640"/>
            <a:ext cx="2596896" cy="502920"/>
          </a:xfrm>
          <a:prstGeom prst="rect">
            <a:avLst/>
          </a:prstGeom>
          <a:solidFill>
            <a:srgbClr val="3E5C8A"/>
          </a:solidFill>
          <a:ln/>
        </p:spPr>
      </p:sp>
      <p:sp>
        <p:nvSpPr>
          <p:cNvPr id="18" name="Text 16"/>
          <p:cNvSpPr txBox="1"/>
          <p:nvPr/>
        </p:nvSpPr>
        <p:spPr>
          <a:xfrm>
            <a:off x="3547872"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a:t>
            </a:r>
            <a:endParaRPr lang="en-US" sz="1150" dirty="0"/>
          </a:p>
        </p:txBody>
      </p:sp>
      <p:sp>
        <p:nvSpPr>
          <p:cNvPr id="19" name="Text 17"/>
          <p:cNvSpPr txBox="1"/>
          <p:nvPr/>
        </p:nvSpPr>
        <p:spPr>
          <a:xfrm>
            <a:off x="3602736"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Integrated</a:t>
            </a:r>
            <a:endParaRPr lang="en-US" sz="1050" dirty="0"/>
          </a:p>
        </p:txBody>
      </p:sp>
      <p:sp>
        <p:nvSpPr>
          <p:cNvPr id="20" name="Shape 18"/>
          <p:cNvSpPr/>
          <p:nvPr/>
        </p:nvSpPr>
        <p:spPr>
          <a:xfrm>
            <a:off x="3602736" y="3867912"/>
            <a:ext cx="2194560" cy="0"/>
          </a:xfrm>
          <a:prstGeom prst="line">
            <a:avLst/>
          </a:prstGeom>
          <a:noFill/>
          <a:ln w="12700">
            <a:solidFill>
              <a:srgbClr val="E1E8F2"/>
            </a:solidFill>
            <a:prstDash val="solid"/>
          </a:ln>
        </p:spPr>
      </p:sp>
      <p:sp>
        <p:nvSpPr>
          <p:cNvPr id="21" name="Text 19"/>
          <p:cNvSpPr txBox="1"/>
          <p:nvPr/>
        </p:nvSpPr>
        <p:spPr>
          <a:xfrm>
            <a:off x="3602736"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2" name="Shape 20"/>
          <p:cNvSpPr/>
          <p:nvPr/>
        </p:nvSpPr>
        <p:spPr>
          <a:xfrm>
            <a:off x="3602736" y="4434840"/>
            <a:ext cx="2194560" cy="0"/>
          </a:xfrm>
          <a:prstGeom prst="line">
            <a:avLst/>
          </a:prstGeom>
          <a:noFill/>
          <a:ln w="12700">
            <a:solidFill>
              <a:srgbClr val="E1E8F2"/>
            </a:solidFill>
            <a:prstDash val="solid"/>
          </a:ln>
        </p:spPr>
      </p:sp>
      <p:sp>
        <p:nvSpPr>
          <p:cNvPr id="23" name="Text 21"/>
          <p:cNvSpPr txBox="1"/>
          <p:nvPr/>
        </p:nvSpPr>
        <p:spPr>
          <a:xfrm>
            <a:off x="3602736"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Archetypes</a:t>
            </a:r>
            <a:endParaRPr lang="en-US" sz="1050" dirty="0"/>
          </a:p>
        </p:txBody>
      </p:sp>
      <p:sp>
        <p:nvSpPr>
          <p:cNvPr id="24" name="Shape 22"/>
          <p:cNvSpPr/>
          <p:nvPr/>
        </p:nvSpPr>
        <p:spPr>
          <a:xfrm>
            <a:off x="3602736" y="5001768"/>
            <a:ext cx="2194560" cy="0"/>
          </a:xfrm>
          <a:prstGeom prst="line">
            <a:avLst/>
          </a:prstGeom>
          <a:noFill/>
          <a:ln w="12700">
            <a:solidFill>
              <a:srgbClr val="E1E8F2"/>
            </a:solidFill>
            <a:prstDash val="solid"/>
          </a:ln>
        </p:spPr>
      </p:sp>
      <p:sp>
        <p:nvSpPr>
          <p:cNvPr id="25" name="Shape 23"/>
          <p:cNvSpPr/>
          <p:nvPr/>
        </p:nvSpPr>
        <p:spPr>
          <a:xfrm>
            <a:off x="6163056" y="2834640"/>
            <a:ext cx="2596896" cy="2377440"/>
          </a:xfrm>
          <a:prstGeom prst="roundRect">
            <a:avLst>
              <a:gd name="adj" fmla="val 3846"/>
            </a:avLst>
          </a:prstGeom>
          <a:solidFill>
            <a:srgbClr val="FFFFFF"/>
          </a:solidFill>
          <a:ln w="12700">
            <a:solidFill>
              <a:srgbClr val="C9D4E6"/>
            </a:solidFill>
            <a:prstDash val="solid"/>
          </a:ln>
        </p:spPr>
      </p:sp>
      <p:sp>
        <p:nvSpPr>
          <p:cNvPr id="26" name="Shape 24"/>
          <p:cNvSpPr/>
          <p:nvPr/>
        </p:nvSpPr>
        <p:spPr>
          <a:xfrm>
            <a:off x="6163056" y="2834640"/>
            <a:ext cx="2596896" cy="502920"/>
          </a:xfrm>
          <a:prstGeom prst="rect">
            <a:avLst/>
          </a:prstGeom>
          <a:solidFill>
            <a:srgbClr val="1E2761"/>
          </a:solidFill>
          <a:ln/>
        </p:spPr>
      </p:sp>
      <p:sp>
        <p:nvSpPr>
          <p:cNvPr id="27" name="Text 25"/>
          <p:cNvSpPr txBox="1"/>
          <p:nvPr/>
        </p:nvSpPr>
        <p:spPr>
          <a:xfrm>
            <a:off x="6309360"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28" name="Text 26"/>
          <p:cNvSpPr txBox="1"/>
          <p:nvPr/>
        </p:nvSpPr>
        <p:spPr>
          <a:xfrm>
            <a:off x="6364224"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29" name="Shape 27"/>
          <p:cNvSpPr/>
          <p:nvPr/>
        </p:nvSpPr>
        <p:spPr>
          <a:xfrm>
            <a:off x="6364224" y="3867912"/>
            <a:ext cx="2194560" cy="0"/>
          </a:xfrm>
          <a:prstGeom prst="line">
            <a:avLst/>
          </a:prstGeom>
          <a:noFill/>
          <a:ln w="12700">
            <a:solidFill>
              <a:srgbClr val="E1E8F2"/>
            </a:solidFill>
            <a:prstDash val="solid"/>
          </a:ln>
        </p:spPr>
      </p:sp>
      <p:sp>
        <p:nvSpPr>
          <p:cNvPr id="30" name="Text 28"/>
          <p:cNvSpPr txBox="1"/>
          <p:nvPr/>
        </p:nvSpPr>
        <p:spPr>
          <a:xfrm>
            <a:off x="6364224"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1" name="Shape 29"/>
          <p:cNvSpPr/>
          <p:nvPr/>
        </p:nvSpPr>
        <p:spPr>
          <a:xfrm>
            <a:off x="6364224" y="4434840"/>
            <a:ext cx="2194560" cy="0"/>
          </a:xfrm>
          <a:prstGeom prst="line">
            <a:avLst/>
          </a:prstGeom>
          <a:noFill/>
          <a:ln w="12700">
            <a:solidFill>
              <a:srgbClr val="E1E8F2"/>
            </a:solidFill>
            <a:prstDash val="solid"/>
          </a:ln>
        </p:spPr>
      </p:sp>
      <p:sp>
        <p:nvSpPr>
          <p:cNvPr id="32" name="Text 30"/>
          <p:cNvSpPr txBox="1"/>
          <p:nvPr/>
        </p:nvSpPr>
        <p:spPr>
          <a:xfrm>
            <a:off x="6364224"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3" name="Shape 31"/>
          <p:cNvSpPr/>
          <p:nvPr/>
        </p:nvSpPr>
        <p:spPr>
          <a:xfrm>
            <a:off x="6364224" y="5001768"/>
            <a:ext cx="2194560" cy="0"/>
          </a:xfrm>
          <a:prstGeom prst="line">
            <a:avLst/>
          </a:prstGeom>
          <a:noFill/>
          <a:ln w="12700">
            <a:solidFill>
              <a:srgbClr val="E1E8F2"/>
            </a:solidFill>
            <a:prstDash val="solid"/>
          </a:ln>
        </p:spPr>
      </p:sp>
      <p:sp>
        <p:nvSpPr>
          <p:cNvPr id="34" name="Shape 32"/>
          <p:cNvSpPr/>
          <p:nvPr/>
        </p:nvSpPr>
        <p:spPr>
          <a:xfrm>
            <a:off x="8924544" y="2834640"/>
            <a:ext cx="2596896" cy="2377440"/>
          </a:xfrm>
          <a:prstGeom prst="roundRect">
            <a:avLst>
              <a:gd name="adj" fmla="val 3846"/>
            </a:avLst>
          </a:prstGeom>
          <a:solidFill>
            <a:srgbClr val="FFFFFF"/>
          </a:solidFill>
          <a:ln w="12700">
            <a:solidFill>
              <a:srgbClr val="C9D4E6"/>
            </a:solidFill>
            <a:prstDash val="solid"/>
          </a:ln>
        </p:spPr>
      </p:sp>
      <p:sp>
        <p:nvSpPr>
          <p:cNvPr id="35" name="Shape 33"/>
          <p:cNvSpPr/>
          <p:nvPr/>
        </p:nvSpPr>
        <p:spPr>
          <a:xfrm>
            <a:off x="8924544" y="2834640"/>
            <a:ext cx="2596896" cy="502920"/>
          </a:xfrm>
          <a:prstGeom prst="rect">
            <a:avLst/>
          </a:prstGeom>
          <a:solidFill>
            <a:srgbClr val="3E5C8A"/>
          </a:solidFill>
          <a:ln/>
        </p:spPr>
      </p:sp>
      <p:sp>
        <p:nvSpPr>
          <p:cNvPr id="36" name="Text 34"/>
          <p:cNvSpPr txBox="1"/>
          <p:nvPr/>
        </p:nvSpPr>
        <p:spPr>
          <a:xfrm>
            <a:off x="9070848"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37" name="Text 35"/>
          <p:cNvSpPr txBox="1"/>
          <p:nvPr/>
        </p:nvSpPr>
        <p:spPr>
          <a:xfrm>
            <a:off x="9125712"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38" name="Shape 36"/>
          <p:cNvSpPr/>
          <p:nvPr/>
        </p:nvSpPr>
        <p:spPr>
          <a:xfrm>
            <a:off x="9125712" y="3867912"/>
            <a:ext cx="2194560" cy="0"/>
          </a:xfrm>
          <a:prstGeom prst="line">
            <a:avLst/>
          </a:prstGeom>
          <a:noFill/>
          <a:ln w="12700">
            <a:solidFill>
              <a:srgbClr val="E1E8F2"/>
            </a:solidFill>
            <a:prstDash val="solid"/>
          </a:ln>
        </p:spPr>
      </p:sp>
      <p:sp>
        <p:nvSpPr>
          <p:cNvPr id="39" name="Text 37"/>
          <p:cNvSpPr txBox="1"/>
          <p:nvPr/>
        </p:nvSpPr>
        <p:spPr>
          <a:xfrm>
            <a:off x="9125712"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0" name="Shape 38"/>
          <p:cNvSpPr/>
          <p:nvPr/>
        </p:nvSpPr>
        <p:spPr>
          <a:xfrm>
            <a:off x="9125712" y="4434840"/>
            <a:ext cx="2194560" cy="0"/>
          </a:xfrm>
          <a:prstGeom prst="line">
            <a:avLst/>
          </a:prstGeom>
          <a:noFill/>
          <a:ln w="12700">
            <a:solidFill>
              <a:srgbClr val="E1E8F2"/>
            </a:solidFill>
            <a:prstDash val="solid"/>
          </a:ln>
        </p:spPr>
      </p:sp>
      <p:sp>
        <p:nvSpPr>
          <p:cNvPr id="41" name="Text 39"/>
          <p:cNvSpPr txBox="1"/>
          <p:nvPr/>
        </p:nvSpPr>
        <p:spPr>
          <a:xfrm>
            <a:off x="9125712"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2" name="Shape 40"/>
          <p:cNvSpPr/>
          <p:nvPr/>
        </p:nvSpPr>
        <p:spPr>
          <a:xfrm>
            <a:off x="9125712" y="5001768"/>
            <a:ext cx="2194560" cy="0"/>
          </a:xfrm>
          <a:prstGeom prst="line">
            <a:avLst/>
          </a:prstGeom>
          <a:noFill/>
          <a:ln w="12700">
            <a:solidFill>
              <a:srgbClr val="E1E8F2"/>
            </a:solidFill>
            <a:prstDash val="solid"/>
          </a:ln>
        </p:spPr>
      </p:sp>
      <p:sp>
        <p:nvSpPr>
          <p:cNvPr id="43" name="Shape 41"/>
          <p:cNvSpPr/>
          <p:nvPr/>
        </p:nvSpPr>
        <p:spPr>
          <a:xfrm>
            <a:off x="640080" y="5376672"/>
            <a:ext cx="10881360" cy="530352"/>
          </a:xfrm>
          <a:prstGeom prst="roundRect">
            <a:avLst>
              <a:gd name="adj" fmla="val 17241"/>
            </a:avLst>
          </a:prstGeom>
          <a:solidFill>
            <a:srgbClr val="FFFFFF"/>
          </a:solidFill>
          <a:ln w="15875">
            <a:solidFill>
              <a:srgbClr val="1E2761"/>
            </a:solidFill>
            <a:prstDash val="solid"/>
          </a:ln>
        </p:spPr>
      </p:sp>
      <p:sp>
        <p:nvSpPr>
          <p:cNvPr id="44" name="Text 42"/>
          <p:cNvSpPr txBox="1"/>
          <p:nvPr/>
        </p:nvSpPr>
        <p:spPr>
          <a:xfrm>
            <a:off x="914400" y="5376672"/>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INITIATIVES</a:t>
            </a:r>
            <a:endParaRPr lang="en-US" sz="1150" dirty="0"/>
          </a:p>
        </p:txBody>
      </p:sp>
      <p:sp>
        <p:nvSpPr>
          <p:cNvPr id="45" name="Shape 43"/>
          <p:cNvSpPr/>
          <p:nvPr/>
        </p:nvSpPr>
        <p:spPr>
          <a:xfrm>
            <a:off x="2926080" y="5742432"/>
            <a:ext cx="8321040" cy="0"/>
          </a:xfrm>
          <a:prstGeom prst="line">
            <a:avLst/>
          </a:prstGeom>
          <a:noFill/>
          <a:ln w="12700">
            <a:solidFill>
              <a:srgbClr val="C9D4E6"/>
            </a:solidFill>
            <a:prstDash val="solid"/>
          </a:ln>
        </p:spPr>
      </p:sp>
      <p:sp>
        <p:nvSpPr>
          <p:cNvPr id="46" name="Shape 44"/>
          <p:cNvSpPr/>
          <p:nvPr/>
        </p:nvSpPr>
        <p:spPr>
          <a:xfrm>
            <a:off x="640080" y="5998464"/>
            <a:ext cx="10881360" cy="530352"/>
          </a:xfrm>
          <a:prstGeom prst="roundRect">
            <a:avLst>
              <a:gd name="adj" fmla="val 17241"/>
            </a:avLst>
          </a:prstGeom>
          <a:solidFill>
            <a:srgbClr val="FFFFFF"/>
          </a:solidFill>
          <a:ln w="15875">
            <a:solidFill>
              <a:srgbClr val="1E2761"/>
            </a:solidFill>
            <a:prstDash val="solid"/>
          </a:ln>
        </p:spPr>
      </p:sp>
      <p:sp>
        <p:nvSpPr>
          <p:cNvPr id="47" name="Text 45"/>
          <p:cNvSpPr txBox="1"/>
          <p:nvPr/>
        </p:nvSpPr>
        <p:spPr>
          <a:xfrm>
            <a:off x="914400" y="5998464"/>
            <a:ext cx="1920240" cy="530352"/>
          </a:xfrm>
          <a:prstGeom prst="rect">
            <a:avLst/>
          </a:prstGeom>
          <a:noFill/>
          <a:ln/>
        </p:spPr>
        <p:txBody>
          <a:bodyPr wrap="square" lIns="0" tIns="0" rIns="0" bIns="0" rtlCol="0" anchor="ctr"/>
          <a:lstStyle/>
          <a:p>
            <a:pPr indent="0" marL="0">
              <a:buNone/>
            </a:pPr>
            <a:r>
              <a:rPr lang="en-US" sz="1150" b="1" spc="140" kern="0" dirty="0">
                <a:solidFill>
                  <a:srgbClr val="1E2761"/>
                </a:solidFill>
                <a:latin typeface="Calibri" pitchFamily="34" charset="0"/>
                <a:ea typeface="Calibri" pitchFamily="34" charset="-122"/>
                <a:cs typeface="Calibri" pitchFamily="34" charset="-120"/>
              </a:rPr>
              <a:t>DISCIPLINE</a:t>
            </a:r>
            <a:endParaRPr lang="en-US" sz="1150" dirty="0"/>
          </a:p>
        </p:txBody>
      </p:sp>
      <p:sp>
        <p:nvSpPr>
          <p:cNvPr id="48" name="Shape 46"/>
          <p:cNvSpPr/>
          <p:nvPr/>
        </p:nvSpPr>
        <p:spPr>
          <a:xfrm>
            <a:off x="2926080" y="6364224"/>
            <a:ext cx="8321040" cy="0"/>
          </a:xfrm>
          <a:prstGeom prst="line">
            <a:avLst/>
          </a:prstGeom>
          <a:noFill/>
          <a:ln w="12700">
            <a:solidFill>
              <a:srgbClr val="C9D4E6"/>
            </a:solidFill>
            <a:prstDash val="solid"/>
          </a:ln>
        </p:spPr>
      </p:sp>
      <p:sp>
        <p:nvSpPr>
          <p:cNvPr id="49" name="Text 47"/>
          <p:cNvSpPr txBox="1"/>
          <p:nvPr/>
        </p:nvSpPr>
        <p:spPr>
          <a:xfrm>
            <a:off x="640080" y="6601968"/>
            <a:ext cx="10881360" cy="256032"/>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Everything behind it lives in the artefacts that follow.</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OFFERING</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Sectors it serves, and the buyer in each</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Archetypes and permitted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accelerators, ADR and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and 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and 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Tier one or tier two, per sector where they differ. Rationale should stand on evidence, not familiarity.</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our view inside the single firm account plan — one row per named account.</a:t>
            </a:r>
            <a:endParaRPr lang="en-US" sz="14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1188720"/>
                <a:gridCol w="1097280"/>
                <a:gridCol w="731520"/>
                <a:gridCol w="2560320"/>
                <a:gridCol w="1188720"/>
                <a:gridCol w="1188720"/>
                <a:gridCol w="10058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we lead with</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6700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8587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4956048" y="1965960"/>
            <a:ext cx="5486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568756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we lead with</a:t>
            </a:r>
            <a:endParaRPr lang="en-US" sz="1150" dirty="0"/>
          </a:p>
        </p:txBody>
      </p:sp>
      <p:sp>
        <p:nvSpPr>
          <p:cNvPr id="11" name="Text 8"/>
          <p:cNvSpPr txBox="1"/>
          <p:nvPr/>
        </p:nvSpPr>
        <p:spPr>
          <a:xfrm>
            <a:off x="82478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2" name="Text 9"/>
          <p:cNvSpPr txBox="1"/>
          <p:nvPr/>
        </p:nvSpPr>
        <p:spPr>
          <a:xfrm>
            <a:off x="94366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3" name="Text 10"/>
          <p:cNvSpPr txBox="1"/>
          <p:nvPr/>
        </p:nvSpPr>
        <p:spPr>
          <a:xfrm>
            <a:off x="1062532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plan per account, owned by the firm. This is the EAI&amp;D layer inside it, not a second plan.</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the EAI&amp;D ambition inside each account plan — one row per account and offering.</a:t>
            </a:r>
            <a:endParaRPr lang="en-US" sz="14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who carries EAI&amp;D inside each account team — one row per priority account.</a:t>
            </a:r>
            <a:endParaRPr lang="en-US" sz="14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Our owner sits inside the existing account team; the account relationship stays with its account leader.</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Propositions · one row per proposition.</a:t>
            </a:r>
            <a:endParaRPr lang="en-US" sz="14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920240"/>
                <a:gridCol w="2011680"/>
                <a:gridCol w="2194560"/>
                <a:gridCol w="23774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Sectors it serves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 per 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Archetypes permitted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Sectors it serves</a:t>
            </a:r>
            <a:endParaRPr lang="en-US" sz="1150" dirty="0"/>
          </a:p>
        </p:txBody>
      </p:sp>
      <p:sp>
        <p:nvSpPr>
          <p:cNvPr id="8" name="Text 5"/>
          <p:cNvSpPr txBox="1"/>
          <p:nvPr/>
        </p:nvSpPr>
        <p:spPr>
          <a:xfrm>
            <a:off x="504748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involved</a:t>
            </a:r>
            <a:endParaRPr lang="en-US" sz="1150" dirty="0"/>
          </a:p>
        </p:txBody>
      </p:sp>
      <p:sp>
        <p:nvSpPr>
          <p:cNvPr id="9" name="Text 6"/>
          <p:cNvSpPr txBox="1"/>
          <p:nvPr/>
        </p:nvSpPr>
        <p:spPr>
          <a:xfrm>
            <a:off x="70591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 per sector</a:t>
            </a:r>
            <a:endParaRPr lang="en-US" sz="1150" dirty="0"/>
          </a:p>
        </p:txBody>
      </p:sp>
      <p:sp>
        <p:nvSpPr>
          <p:cNvPr id="10" name="Text 7"/>
          <p:cNvSpPr txBox="1"/>
          <p:nvPr/>
        </p:nvSpPr>
        <p:spPr>
          <a:xfrm>
            <a:off x="925372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Archetypes permitted</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103120"/>
                <a:gridCol w="1554480"/>
                <a:gridCol w="914400"/>
                <a:gridCol w="1005840"/>
                <a:gridCol w="914400"/>
                <a:gridCol w="137160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Assets and accelerators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26700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Assets and accelerators</a:t>
            </a:r>
            <a:endParaRPr lang="en-US" sz="1150" dirty="0"/>
          </a:p>
        </p:txBody>
      </p:sp>
      <p:sp>
        <p:nvSpPr>
          <p:cNvPr id="8" name="Text 5"/>
          <p:cNvSpPr txBox="1"/>
          <p:nvPr/>
        </p:nvSpPr>
        <p:spPr>
          <a:xfrm>
            <a:off x="477316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9" name="Text 6"/>
          <p:cNvSpPr txBox="1"/>
          <p:nvPr/>
        </p:nvSpPr>
        <p:spPr>
          <a:xfrm>
            <a:off x="632764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 %</a:t>
            </a:r>
            <a:endParaRPr lang="en-US" sz="1150" dirty="0"/>
          </a:p>
        </p:txBody>
      </p:sp>
      <p:sp>
        <p:nvSpPr>
          <p:cNvPr id="10" name="Text 7"/>
          <p:cNvSpPr txBox="1"/>
          <p:nvPr/>
        </p:nvSpPr>
        <p:spPr>
          <a:xfrm>
            <a:off x="724204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 %</a:t>
            </a:r>
            <a:endParaRPr lang="en-US" sz="1150" dirty="0"/>
          </a:p>
        </p:txBody>
      </p:sp>
      <p:sp>
        <p:nvSpPr>
          <p:cNvPr id="11" name="Text 8"/>
          <p:cNvSpPr txBox="1"/>
          <p:nvPr/>
        </p:nvSpPr>
        <p:spPr>
          <a:xfrm>
            <a:off x="824788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 %</a:t>
            </a:r>
            <a:endParaRPr lang="en-US" sz="1150" dirty="0"/>
          </a:p>
        </p:txBody>
      </p:sp>
      <p:sp>
        <p:nvSpPr>
          <p:cNvPr id="12" name="Text 9"/>
          <p:cNvSpPr txBox="1"/>
          <p:nvPr/>
        </p:nvSpPr>
        <p:spPr>
          <a:xfrm>
            <a:off x="9162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3" name="Text 10"/>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Assets are what make the construct hold: reuse raises margin at the same price and shortens time to value.</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737360"/>
                <a:gridCol w="1463040"/>
                <a:gridCol w="1828800"/>
                <a:gridCol w="1554480"/>
                <a:gridCol w="1920240"/>
                <a:gridCol w="128016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AI and Data</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4871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Sector</a:t>
            </a:r>
            <a:endParaRPr lang="en-US" sz="1150" dirty="0"/>
          </a:p>
        </p:txBody>
      </p:sp>
      <p:sp>
        <p:nvSpPr>
          <p:cNvPr id="8" name="Text 5"/>
          <p:cNvSpPr txBox="1"/>
          <p:nvPr/>
        </p:nvSpPr>
        <p:spPr>
          <a:xfrm>
            <a:off x="39502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9" name="Text 6"/>
          <p:cNvSpPr txBox="1"/>
          <p:nvPr/>
        </p:nvSpPr>
        <p:spPr>
          <a:xfrm>
            <a:off x="57790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AI and Data</a:t>
            </a:r>
            <a:endParaRPr lang="en-US" sz="1150" dirty="0"/>
          </a:p>
        </p:txBody>
      </p:sp>
      <p:sp>
        <p:nvSpPr>
          <p:cNvPr id="10" name="Text 7"/>
          <p:cNvSpPr txBox="1"/>
          <p:nvPr/>
        </p:nvSpPr>
        <p:spPr>
          <a:xfrm>
            <a:off x="733348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a:t>
            </a:r>
            <a:endParaRPr lang="en-US" sz="1150" dirty="0"/>
          </a:p>
        </p:txBody>
      </p:sp>
      <p:sp>
        <p:nvSpPr>
          <p:cNvPr id="11" name="Text 8"/>
          <p:cNvSpPr txBox="1"/>
          <p:nvPr/>
        </p:nvSpPr>
        <p:spPr>
          <a:xfrm>
            <a:off x="92537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2" name="Text 9"/>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row per market and sector. Reconciles to the account revenue plan and to capacity.</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capability and enablement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capability.</a:t>
            </a:r>
            <a:endParaRPr lang="en-US" sz="14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194560"/>
                <a:gridCol w="1737360"/>
                <a:gridCol w="914400"/>
                <a:gridCol w="914400"/>
                <a:gridCol w="146304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Capability or skill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supports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needs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Route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Capability or skill</a:t>
            </a:r>
            <a:endParaRPr lang="en-US" sz="1150" dirty="0"/>
          </a:p>
        </p:txBody>
      </p:sp>
      <p:sp>
        <p:nvSpPr>
          <p:cNvPr id="7" name="Text 4"/>
          <p:cNvSpPr txBox="1"/>
          <p:nvPr/>
        </p:nvSpPr>
        <p:spPr>
          <a:xfrm>
            <a:off x="3035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supports</a:t>
            </a:r>
            <a:endParaRPr lang="en-US" sz="1150" dirty="0"/>
          </a:p>
        </p:txBody>
      </p:sp>
      <p:sp>
        <p:nvSpPr>
          <p:cNvPr id="8" name="Text 5"/>
          <p:cNvSpPr txBox="1"/>
          <p:nvPr/>
        </p:nvSpPr>
        <p:spPr>
          <a:xfrm>
            <a:off x="523036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needs it</a:t>
            </a:r>
            <a:endParaRPr lang="en-US" sz="1150" dirty="0"/>
          </a:p>
        </p:txBody>
      </p:sp>
      <p:sp>
        <p:nvSpPr>
          <p:cNvPr id="9" name="Text 6"/>
          <p:cNvSpPr txBox="1"/>
          <p:nvPr/>
        </p:nvSpPr>
        <p:spPr>
          <a:xfrm>
            <a:off x="69677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Now</a:t>
            </a:r>
            <a:endParaRPr lang="en-US" sz="1150" dirty="0"/>
          </a:p>
        </p:txBody>
      </p:sp>
      <p:sp>
        <p:nvSpPr>
          <p:cNvPr id="10" name="Text 7"/>
          <p:cNvSpPr txBox="1"/>
          <p:nvPr/>
        </p:nvSpPr>
        <p:spPr>
          <a:xfrm>
            <a:off x="78821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11" name="Text 8"/>
          <p:cNvSpPr txBox="1"/>
          <p:nvPr/>
        </p:nvSpPr>
        <p:spPr>
          <a:xfrm>
            <a:off x="87965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p>
        </p:txBody>
      </p:sp>
      <p:sp>
        <p:nvSpPr>
          <p:cNvPr id="12" name="Text 9"/>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Route: internal training, industry certification, alliance accreditation, or hire. Every row ends in a date.</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554480"/>
                <a:gridCol w="1371600"/>
                <a:gridCol w="1463040"/>
                <a:gridCol w="2834640"/>
                <a:gridCol w="1920240"/>
                <a:gridCol w="17373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and sectors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04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Type</a:t>
            </a:r>
            <a:endParaRPr lang="en-US" sz="1150" dirty="0"/>
          </a:p>
        </p:txBody>
      </p:sp>
      <p:sp>
        <p:nvSpPr>
          <p:cNvPr id="8" name="Text 5"/>
          <p:cNvSpPr txBox="1"/>
          <p:nvPr/>
        </p:nvSpPr>
        <p:spPr>
          <a:xfrm>
            <a:off x="36758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9" name="Text 6"/>
          <p:cNvSpPr txBox="1"/>
          <p:nvPr/>
        </p:nvSpPr>
        <p:spPr>
          <a:xfrm>
            <a:off x="5138928" y="1965960"/>
            <a:ext cx="26517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and sectors it sits behind</a:t>
            </a:r>
            <a:endParaRPr lang="en-US" sz="1150" dirty="0"/>
          </a:p>
        </p:txBody>
      </p:sp>
      <p:sp>
        <p:nvSpPr>
          <p:cNvPr id="10" name="Text 7"/>
          <p:cNvSpPr txBox="1"/>
          <p:nvPr/>
        </p:nvSpPr>
        <p:spPr>
          <a:xfrm>
            <a:off x="79735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9893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Type: broad technology alliance, or specialised product vendor. Role: co-sell, resell, delivery or referral.</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initiative register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Across the pillars · one row per initiative that runs past the cycle.</a:t>
            </a:r>
            <a:endParaRPr lang="en-US" sz="14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1554480"/>
                <a:gridCol w="2743200"/>
                <a:gridCol w="1371600"/>
                <a:gridCol w="1645920"/>
                <a:gridCol w="12801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Pillar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Outcome it delivers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Next milestone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Initiative</a:t>
            </a:r>
            <a:endParaRPr lang="en-US" sz="1150" dirty="0"/>
          </a:p>
        </p:txBody>
      </p:sp>
      <p:sp>
        <p:nvSpPr>
          <p:cNvPr id="7" name="Text 4"/>
          <p:cNvSpPr txBox="1"/>
          <p:nvPr/>
        </p:nvSpPr>
        <p:spPr>
          <a:xfrm>
            <a:off x="3035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p>
        </p:txBody>
      </p:sp>
      <p:sp>
        <p:nvSpPr>
          <p:cNvPr id="8" name="Text 5"/>
          <p:cNvSpPr txBox="1"/>
          <p:nvPr/>
        </p:nvSpPr>
        <p:spPr>
          <a:xfrm>
            <a:off x="459028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Outcome it delivers</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0" name="Text 7"/>
          <p:cNvSpPr txBox="1"/>
          <p:nvPr/>
        </p:nvSpPr>
        <p:spPr>
          <a:xfrm>
            <a:off x="870508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Next milestone</a:t>
            </a:r>
            <a:endParaRPr lang="en-US" sz="1150" dirty="0"/>
          </a:p>
        </p:txBody>
      </p:sp>
      <p:sp>
        <p:nvSpPr>
          <p:cNvPr id="11" name="Text 8"/>
          <p:cNvSpPr txBox="1"/>
          <p:nvPr/>
        </p:nvSpPr>
        <p:spPr>
          <a:xfrm>
            <a:off x="10351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Reviewed monthly alongside the numbers. An initiative without an owner and a date is a wish.</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EAI&amp;D — FSI Strategy Development Plan</dc:title>
  <dc:subject>PptxGenJS Presentation</dc:subject>
  <dc:creator>Engineering, AI and Data</dc:creator>
  <cp:lastModifiedBy>Engineering, AI and Data</cp:lastModifiedBy>
  <cp:revision>1</cp:revision>
  <dcterms:created xsi:type="dcterms:W3CDTF">2026-09-28T15:40:29Z</dcterms:created>
  <dcterms:modified xsi:type="dcterms:W3CDTF">2026-09-28T15:40:29Z</dcterms:modified>
</cp:coreProperties>
</file>